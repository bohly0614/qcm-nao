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q+2WwIJEUiJiqik0RT/eO1wcO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2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28.png"/><Relationship Id="rId8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1676400"/>
            <a:ext cx="9144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Évaluation de la réponse thérapeutique dans le cancer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220" y="-2286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900">
                <a:solidFill>
                  <a:srgbClr val="000000"/>
                </a:solidFill>
              </a:rPr>
              <a:t>Critères d'évaluation de la réponse thérapeutique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066800"/>
            <a:ext cx="81534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Afin d'optimiser le résultat thérapeutique, il est essentiel d'évaluer la réponse au traitement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Les critères utilisés pour évaluer la réponse sont: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Subjective - liée à la qualité de vie des patients (QdV)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Diminution de la douleur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Augmentation de l'appétit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Soulagement de symptômes spécifiques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Objective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d'imagerie (RECIST)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biochimiques (marqueurs tumoraux, autres tests de laboratoire)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cliniques (évolution des critères neurologiques, ascite, etc.)</a:t>
            </a:r>
            <a:endParaRPr b="0" i="0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2819400" y="117693"/>
            <a:ext cx="44958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esponse </a:t>
            </a:r>
            <a:endParaRPr b="0" i="0" sz="5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riteria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umors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0" y="3810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5714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 sz="1300"/>
              <a:t>esponse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E</a:t>
            </a:r>
            <a:r>
              <a:rPr lang="en-US" sz="1300"/>
              <a:t>valuation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sz="1300"/>
              <a:t>riteria</a:t>
            </a:r>
            <a:r>
              <a:rPr lang="en-US"/>
              <a:t>   </a:t>
            </a: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 sz="1200"/>
              <a:t>n</a:t>
            </a:r>
            <a:r>
              <a:rPr lang="en-US"/>
              <a:t>      </a:t>
            </a:r>
            <a:r>
              <a:rPr lang="en-US">
                <a:solidFill>
                  <a:srgbClr val="FF0000"/>
                </a:solidFill>
              </a:rPr>
              <a:t>S</a:t>
            </a:r>
            <a:r>
              <a:rPr lang="en-US" sz="1200"/>
              <a:t>olid</a:t>
            </a:r>
            <a:r>
              <a:rPr lang="en-US"/>
              <a:t>    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 sz="1200"/>
              <a:t>umours</a:t>
            </a:r>
            <a:br>
              <a:rPr lang="en-US" sz="1200"/>
            </a:br>
            <a:r>
              <a:rPr lang="en-US" sz="3500"/>
              <a:t>Critères d'évaluation de la réponse dans les tumeurs solides</a:t>
            </a:r>
            <a:endParaRPr sz="3500"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533400" y="2514600"/>
            <a:ext cx="84582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Le critère utilisé pour évaluer la réponse au traitement de la maladie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Il y a trois composants: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Lésions cibles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Lésions non cibles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Nouvelles lésions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Lésions cibles</a:t>
            </a:r>
            <a:endParaRPr b="1" i="0" sz="3500">
              <a:solidFill>
                <a:srgbClr val="000000"/>
              </a:solidFill>
            </a:endParaRPr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57200" y="2438400"/>
            <a:ext cx="822960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Jusqu'à </a:t>
            </a:r>
            <a:r>
              <a:rPr b="1" lang="en-US" sz="1800">
                <a:solidFill>
                  <a:srgbClr val="000000"/>
                </a:solidFill>
              </a:rPr>
              <a:t>2</a:t>
            </a:r>
            <a:r>
              <a:rPr lang="en-US" sz="1800">
                <a:solidFill>
                  <a:srgbClr val="000000"/>
                </a:solidFill>
              </a:rPr>
              <a:t> lésions par organe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Jusqu'à </a:t>
            </a:r>
            <a:r>
              <a:rPr b="1" lang="en-US" sz="1800">
                <a:solidFill>
                  <a:srgbClr val="000000"/>
                </a:solidFill>
              </a:rPr>
              <a:t>5</a:t>
            </a:r>
            <a:r>
              <a:rPr lang="en-US" sz="1800">
                <a:solidFill>
                  <a:srgbClr val="000000"/>
                </a:solidFill>
              </a:rPr>
              <a:t>  lésions au total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Lésions non nodulaires</a:t>
            </a:r>
            <a:r>
              <a:rPr lang="en-US" sz="1800">
                <a:solidFill>
                  <a:srgbClr val="000000"/>
                </a:solidFill>
              </a:rPr>
              <a:t> (grand axe &gt; 10 mm)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Ganglions lymphatiques</a:t>
            </a:r>
            <a:r>
              <a:rPr lang="en-US" sz="1800">
                <a:solidFill>
                  <a:srgbClr val="000000"/>
                </a:solidFill>
              </a:rPr>
              <a:t> (petit axe &gt; 15 mm)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Lésions osseuses</a:t>
            </a:r>
            <a:r>
              <a:rPr lang="en-US" sz="1800">
                <a:solidFill>
                  <a:srgbClr val="000000"/>
                </a:solidFill>
              </a:rPr>
              <a:t> avec une composante lithique et une masse de tissus mous mesurable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0" y="4572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Exemple de lésions cibles non nodulaires</a:t>
            </a:r>
            <a:endParaRPr b="1" sz="3500">
              <a:solidFill>
                <a:srgbClr val="FF0000"/>
              </a:solidFill>
            </a:endParaRPr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457200" y="2362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Mesuré axialement dans le grand axe.</a:t>
            </a:r>
            <a:endParaRPr sz="2000"/>
          </a:p>
        </p:txBody>
      </p:sp>
      <p:pic>
        <p:nvPicPr>
          <p:cNvPr descr="C:\Users\medic-ct\Desktop\1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3124200"/>
            <a:ext cx="444817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24200"/>
            <a:ext cx="3441462" cy="297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0" y="6096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br>
              <a:rPr b="1" lang="en-US" sz="3200"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latin typeface="Arial"/>
                <a:ea typeface="Arial"/>
                <a:cs typeface="Arial"/>
                <a:sym typeface="Arial"/>
              </a:rPr>
            </a:br>
            <a:r>
              <a:rPr b="1" lang="en-US" sz="3500">
                <a:solidFill>
                  <a:srgbClr val="000000"/>
                </a:solidFill>
              </a:rPr>
              <a:t>Exemple </a:t>
            </a:r>
            <a:br>
              <a:rPr b="1" lang="en-US" sz="3500">
                <a:solidFill>
                  <a:srgbClr val="000000"/>
                </a:solidFill>
              </a:rPr>
            </a:br>
            <a:r>
              <a:rPr b="1" lang="en-US" sz="3500">
                <a:solidFill>
                  <a:srgbClr val="000000"/>
                </a:solidFill>
              </a:rPr>
              <a:t>Les caractéristiques des ganglions lymphatiques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solidFill>
                  <a:srgbClr val="FF0000"/>
                </a:solidFill>
              </a:rPr>
            </a:b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0" y="1752600"/>
            <a:ext cx="9144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&gt; 15 mm - lésions cibles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10-15 mm - lésions non cibles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&lt;10 mm - normal</a:t>
            </a:r>
            <a:endParaRPr/>
          </a:p>
          <a:p>
            <a:pPr indent="0" lvl="0" marL="0" rtl="0" algn="ctr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edic-ct\Desktop\1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29000"/>
            <a:ext cx="3379558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medic-ct\Desktop\1.png"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3429000"/>
            <a:ext cx="3276600" cy="3087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0" y="3048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Lésions non cibles</a:t>
            </a:r>
            <a:endParaRPr b="1" sz="3500"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304800" y="1600200"/>
            <a:ext cx="8153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Toutes les autres lésions doivent être identifiées comme des lésions non cibles et doivent également être enregistrées depuis le début (ligne de base).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exemples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ascite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pleurésie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métastases osseuses et lésions leptoméningées</a:t>
            </a:r>
            <a:endParaRPr sz="1800"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lymphangite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petites lésions (&lt;10 mm)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lésions préalablement irradiées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Aucune mesure de ces lésions n'est requise, mais la présence ou l'absence de chacune doit être notée lors de la surveillance.</a:t>
            </a:r>
            <a:endParaRPr/>
          </a:p>
          <a:p>
            <a:pPr indent="-2286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0" y="5334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de lésions non cibles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edic-ct\Desktop\1.png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895600"/>
            <a:ext cx="3733800" cy="27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895600"/>
            <a:ext cx="3699785" cy="27161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1524000" y="57912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Nodule 9 mm 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5486400" y="5791200"/>
            <a:ext cx="2514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Nodules entre 10 et 15 mm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0" y="4572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 sz="3900">
                <a:solidFill>
                  <a:srgbClr val="000000"/>
                </a:solidFill>
              </a:rPr>
              <a:t>Méthodes d'évaluation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36226" y="5906058"/>
            <a:ext cx="93006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-US" sz="2100">
                <a:solidFill>
                  <a:srgbClr val="000000"/>
                </a:solidFill>
              </a:rPr>
              <a:t>Il est important d'utiliser la même méthode d'imagerie pour un suivi correct des lésions!</a:t>
            </a:r>
            <a:endParaRPr/>
          </a:p>
          <a:p>
            <a:pPr indent="0" lvl="0" marL="0" rtl="0" algn="ctr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28800"/>
            <a:ext cx="7078063" cy="400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0" y="4572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Suivi des blessures</a:t>
            </a:r>
            <a:endParaRPr b="1" sz="3500"/>
          </a:p>
        </p:txBody>
      </p:sp>
      <p:sp>
        <p:nvSpPr>
          <p:cNvPr id="157" name="Google Shape;157;p11"/>
          <p:cNvSpPr txBox="1"/>
          <p:nvPr>
            <p:ph idx="1" type="body"/>
          </p:nvPr>
        </p:nvSpPr>
        <p:spPr>
          <a:xfrm>
            <a:off x="0" y="1905000"/>
            <a:ext cx="91440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Rassemblez les mesures des lésions cibles dès le début (ligne de base) ainsi que dans le suivi pour obtenir </a:t>
            </a:r>
            <a:r>
              <a:rPr b="1" lang="en-US" sz="1800"/>
              <a:t>la somme des plus grands diamètres (SPD).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Calculez le% avec lequel changer la SPD depuis le début (ligne de base) ou depuis le nadir.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Il détermine la réponse à la thérapie.</a:t>
            </a:r>
            <a:endParaRPr b="1" sz="1800"/>
          </a:p>
        </p:txBody>
      </p:sp>
      <p:pic>
        <p:nvPicPr>
          <p:cNvPr descr="C:\Users\Alina Istrate\Desktop\Untitled.png" id="158" name="Google Shape;1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114800"/>
            <a:ext cx="49720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0" y="304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Réponse complète (CR)</a:t>
            </a:r>
            <a:br>
              <a:rPr b="1" lang="en-US" sz="3500">
                <a:solidFill>
                  <a:srgbClr val="000000"/>
                </a:solidFill>
              </a:rPr>
            </a:br>
            <a:endParaRPr b="1" sz="3500"/>
          </a:p>
        </p:txBody>
      </p:sp>
      <p:sp>
        <p:nvSpPr>
          <p:cNvPr id="164" name="Google Shape;164;p12"/>
          <p:cNvSpPr txBox="1"/>
          <p:nvPr>
            <p:ph idx="1" type="body"/>
          </p:nvPr>
        </p:nvSpPr>
        <p:spPr>
          <a:xfrm>
            <a:off x="2133600" y="5791200"/>
            <a:ext cx="5105400" cy="90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La somme des diamètres les plus longs = 0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133600"/>
            <a:ext cx="6444726" cy="353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Exemple de réponse complète (CR)</a:t>
            </a:r>
            <a:br>
              <a:rPr b="1" lang="en-US" sz="3500">
                <a:solidFill>
                  <a:srgbClr val="000000"/>
                </a:solidFill>
              </a:rPr>
            </a:br>
            <a:endParaRPr sz="3500"/>
          </a:p>
        </p:txBody>
      </p:sp>
      <p:pic>
        <p:nvPicPr>
          <p:cNvPr id="171" name="Google Shape;17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142" r="0" t="0"/>
          <a:stretch/>
        </p:blipFill>
        <p:spPr>
          <a:xfrm>
            <a:off x="381000" y="2667000"/>
            <a:ext cx="385185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2667000"/>
            <a:ext cx="3725991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/>
          <p:nvPr/>
        </p:nvSpPr>
        <p:spPr>
          <a:xfrm>
            <a:off x="4343400" y="3886200"/>
            <a:ext cx="5334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990600" y="5867400"/>
            <a:ext cx="259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4876800" y="5867399"/>
            <a:ext cx="380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Suivre (Follow-up)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0" y="304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Réponse partielle (RP)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981200"/>
            <a:ext cx="6339008" cy="3853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0" y="381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réponse partielle (PR)</a:t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1628" t="0"/>
          <a:stretch/>
        </p:blipFill>
        <p:spPr>
          <a:xfrm>
            <a:off x="1905000" y="1828800"/>
            <a:ext cx="2895600" cy="20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1828800"/>
            <a:ext cx="3018817" cy="20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1" y="4114800"/>
            <a:ext cx="2895600" cy="2042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4114801"/>
            <a:ext cx="3048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76400" y="6324600"/>
            <a:ext cx="6776936" cy="37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79948" y="2559279"/>
            <a:ext cx="1752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SOD = 10 cm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152400" y="4800600"/>
            <a:ext cx="1600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Suivre (Follow-up)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SOD = 6 cm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048000" y="3886200"/>
            <a:ext cx="685800" cy="15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6324600" y="3886200"/>
            <a:ext cx="685800" cy="15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0" y="3810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900"/>
              <a:t>Maladie progressive (MP)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0" y="6019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Par rapport à la plus petite somme des diamètres les plus longs ( SOD ), jamais mesuré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057400"/>
            <a:ext cx="5796314" cy="358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progressive (MP)</a:t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981200"/>
            <a:ext cx="86868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/>
          <p:nvPr/>
        </p:nvSpPr>
        <p:spPr>
          <a:xfrm>
            <a:off x="4191000" y="2286000"/>
            <a:ext cx="838200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33400" y="3400197"/>
            <a:ext cx="1676400" cy="185760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471" y="2819400"/>
            <a:ext cx="1700213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/>
          <p:nvPr/>
        </p:nvSpPr>
        <p:spPr>
          <a:xfrm>
            <a:off x="1181100" y="6444734"/>
            <a:ext cx="6781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Certaines maladies évolutives -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Nouvelles métastases hépatiques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2668563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/>
          <p:nvPr/>
        </p:nvSpPr>
        <p:spPr>
          <a:xfrm>
            <a:off x="3962400" y="3124200"/>
            <a:ext cx="6858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133600"/>
            <a:ext cx="2791792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Exemple de maladie progressive (MP)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7391400" y="5715000"/>
            <a:ext cx="16954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Nouvelle blessure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447800" y="46482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4343400" y="3657600"/>
            <a:ext cx="4572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14600"/>
            <a:ext cx="401951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2514600"/>
            <a:ext cx="403859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457200" y="5562600"/>
            <a:ext cx="243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0" y="56388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˃ 20% ↑ en SPD</a:t>
            </a:r>
            <a:endParaRPr/>
          </a:p>
        </p:txBody>
      </p:sp>
      <p:sp>
        <p:nvSpPr>
          <p:cNvPr id="234" name="Google Shape;234;p19"/>
          <p:cNvSpPr txBox="1"/>
          <p:nvPr>
            <p:ph type="title"/>
          </p:nvPr>
        </p:nvSpPr>
        <p:spPr>
          <a:xfrm>
            <a:off x="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progressive (MP)</a:t>
            </a:r>
            <a:br>
              <a:rPr b="1" lang="en-US" sz="3500"/>
            </a:b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Maladie stable (SD)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890" y="1413519"/>
            <a:ext cx="6708220" cy="394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457200" y="5357218"/>
            <a:ext cx="8229600" cy="1122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Rétrécissement de la tumeur insuffisant pour quantifier une 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réponse partielle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,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mais pas d'augmentation suffisante pour le placer dans la 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maladie progressive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0" y="1524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stable (SD)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9" y="2819400"/>
            <a:ext cx="2903371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2819400"/>
            <a:ext cx="29718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199" y="2819401"/>
            <a:ext cx="287323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3124200" y="5562600"/>
            <a:ext cx="2971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Suivi (Follow up 1)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88 mm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33400" y="5562600"/>
            <a:ext cx="1981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75 mm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487886" y="5562600"/>
            <a:ext cx="2667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Suivi (Follow up 2)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65 mm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2514600" y="2209800"/>
            <a:ext cx="1219200" cy="457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562600" y="2209800"/>
            <a:ext cx="1219200" cy="457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-16239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Avantages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685800" y="2362200"/>
            <a:ext cx="800100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 standard dans les essais cliniques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Facile et rapide à reproduire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Propagation généralement valide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Limitation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457200" y="2209800"/>
            <a:ext cx="8229600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Il doit être soigneusement analysé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L'apparition de nouvelles lésions - PROGRESSION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en-US" sz="1800"/>
              <a:t>Maladie progressive (MP</a:t>
            </a:r>
            <a:r>
              <a:rPr lang="en-US" sz="1800"/>
              <a:t> ) = changement de traitement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en-US" sz="1800"/>
              <a:t>La maladie stable (DS)</a:t>
            </a:r>
            <a:r>
              <a:rPr lang="en-US" sz="1800"/>
              <a:t> n'est pas considérée comme une véritable activité antitumorale</a:t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title"/>
          </p:nvPr>
        </p:nvSpPr>
        <p:spPr>
          <a:xfrm>
            <a:off x="-8744" y="5334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Pseudoprogression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 txBox="1"/>
          <p:nvPr>
            <p:ph idx="1" type="body"/>
          </p:nvPr>
        </p:nvSpPr>
        <p:spPr>
          <a:xfrm>
            <a:off x="457200" y="2438400"/>
            <a:ext cx="8001000" cy="4136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Un type particulier de réponse thérapeutique a été identifié chez les patients traités par immunothérapie.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Il est normalement considéré comme un échec thérapeutique si une augmentation de la tumeur est constatée après le traitement mais dans certains cas une augmentation de la tumeur a été observée suivie de sa régression chez les patients traités par immunothérapie</a:t>
            </a:r>
            <a:r>
              <a:rPr lang="en-US" sz="2400"/>
              <a:t>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lina Istrate\Desktop\Untitled.png"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57400"/>
            <a:ext cx="7967824" cy="4570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>
            <p:ph type="title"/>
          </p:nvPr>
        </p:nvSpPr>
        <p:spPr>
          <a:xfrm>
            <a:off x="0" y="609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Pseudoprogression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447800"/>
            <a:ext cx="2646805" cy="234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064" y="4184702"/>
            <a:ext cx="2667001" cy="225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660" y="1422400"/>
            <a:ext cx="2614191" cy="2392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62" y="4184702"/>
            <a:ext cx="2633637" cy="2206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0277" y="1422401"/>
            <a:ext cx="2567588" cy="242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2971800" y="51054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4222750"/>
            <a:ext cx="2527066" cy="2223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/>
          <p:nvPr/>
        </p:nvSpPr>
        <p:spPr>
          <a:xfrm>
            <a:off x="914400" y="6476227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5/11/2012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4038600" y="6400800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5/02/2013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7162800" y="6474672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5/03/2013</a:t>
            </a:r>
            <a:endParaRPr/>
          </a:p>
        </p:txBody>
      </p:sp>
      <p:pic>
        <p:nvPicPr>
          <p:cNvPr id="295" name="Google Shape;29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60747" y="1638300"/>
            <a:ext cx="598017" cy="66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0600" y="1524000"/>
            <a:ext cx="598017" cy="66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72400" y="1524000"/>
            <a:ext cx="571321" cy="5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74856" y="4495801"/>
            <a:ext cx="550027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335442"/>
            <a:ext cx="731644" cy="80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43800" y="4419600"/>
            <a:ext cx="581223" cy="6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/>
          <p:nvPr/>
        </p:nvSpPr>
        <p:spPr>
          <a:xfrm>
            <a:off x="2971800" y="25146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019800" y="51054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019800" y="25146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b="1" lang="en-US" sz="3900">
                <a:solidFill>
                  <a:srgbClr val="000000"/>
                </a:solidFill>
              </a:rPr>
              <a:t>Exemple de mélanome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Dépistage des cancers</a:t>
            </a:r>
            <a:endParaRPr/>
          </a:p>
        </p:txBody>
      </p:sp>
      <p:pic>
        <p:nvPicPr>
          <p:cNvPr id="310" name="Google Shape;31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3457"/>
            <a:ext cx="8229600" cy="271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Les principaux biais</a:t>
            </a:r>
            <a:endParaRPr/>
          </a:p>
        </p:txBody>
      </p:sp>
      <p:pic>
        <p:nvPicPr>
          <p:cNvPr id="316" name="Google Shape;31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32209"/>
            <a:ext cx="8229600" cy="2461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Biais</a:t>
            </a:r>
            <a:endParaRPr/>
          </a:p>
        </p:txBody>
      </p:sp>
      <p:pic>
        <p:nvPicPr>
          <p:cNvPr id="322" name="Google Shape;32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152" y="450080"/>
            <a:ext cx="5239200" cy="6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Cancers dépistés</a:t>
            </a:r>
            <a:endParaRPr/>
          </a:p>
        </p:txBody>
      </p:sp>
      <p:sp>
        <p:nvSpPr>
          <p:cNvPr id="328" name="Google Shape;328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</a:t>
            </a:r>
            <a:r>
              <a:rPr b="1" lang="en-US"/>
              <a:t>sein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Mammographie + exam. clinique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50-74 ans tous les 2 ans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(150 a 300 décès par cancer du sein sont évités pour 100 000 femmes participant)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côlon-rectum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Recherche de sang occulte dans les selles (si positive 🡪 coloscopie totale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50-74 ans tous les 2 ans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Test immunologique&gt; Hémoccult II</a:t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col utérin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25 - 29 ans</a:t>
            </a:r>
            <a:endParaRPr/>
          </a:p>
          <a:p>
            <a:pPr indent="-228600" lvl="2" marL="1143000" rtl="0" algn="l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 FCU tous les 3 ans aprés 2 FCU normaux à un an d’intervalle.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30-65 ans</a:t>
            </a:r>
            <a:endParaRPr/>
          </a:p>
          <a:p>
            <a:pPr indent="-228600" lvl="2" marL="1143000" rtl="0" algn="l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 test HPV-HR est réalisé 3 ans après le dernier examen cytologique dont le résultat est normal. Un nouveau test est refait tous les 5 ans, jusqu’à l’âge de 65 ans, dès lors que le résultat du test est négatif.</a:t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de prostate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poumon</a:t>
            </a:r>
            <a:endParaRPr/>
          </a:p>
        </p:txBody>
      </p:sp>
      <p:pic>
        <p:nvPicPr>
          <p:cNvPr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001535"/>
            <a:ext cx="7772400" cy="1723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2019-09-18T14:36:27Z</dcterms:created>
  <dc:creator>Alina Istrate</dc:creator>
</cp:coreProperties>
</file>