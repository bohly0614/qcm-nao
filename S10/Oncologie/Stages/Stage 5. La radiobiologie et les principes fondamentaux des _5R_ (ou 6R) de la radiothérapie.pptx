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Lst>
  <p:sldSz cy="5143500" cx="9144000"/>
  <p:notesSz cx="6858000" cy="9144000"/>
  <p:embeddedFontLst>
    <p:embeddedFont>
      <p:font typeface="Roboto"/>
      <p:regular r:id="rId62"/>
      <p:bold r:id="rId63"/>
      <p:italic r:id="rId64"/>
      <p:boldItalic r:id="rId6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Roboto-regular.fntdata"/><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font" Target="fonts/Roboto-italic.fntdata"/><Relationship Id="rId63" Type="http://schemas.openxmlformats.org/officeDocument/2006/relationships/font" Target="fonts/Roboto-bold.fntdata"/><Relationship Id="rId22" Type="http://schemas.openxmlformats.org/officeDocument/2006/relationships/slide" Target="slides/slide17.xml"/><Relationship Id="rId21" Type="http://schemas.openxmlformats.org/officeDocument/2006/relationships/slide" Target="slides/slide16.xml"/><Relationship Id="rId65" Type="http://schemas.openxmlformats.org/officeDocument/2006/relationships/font" Target="fonts/Roboto-boldItalic.fntdata"/><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 name="Google Shape;8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 name="Google Shape;8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 name="Google Shape;10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 name="Google Shape;10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 name="Google Shape;11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 name="Google Shape;11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2" name="Google Shape;14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2" name="Google Shape;152;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9" name="Google Shape;169;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 name="Google Shape;175;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7" name="Google Shape;187;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7" name="Google Shape;207;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2" name="Google Shape;212;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8" name="Google Shape;218;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5" name="Google Shape;225;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2" name="Google Shape;232;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8" name="Google Shape;238;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5" name="Google Shape;245;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1" name="Google Shape;251;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7" name="Google Shape;257;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3" name="Google Shape;263;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9" name="Google Shape;269;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4" name="Google Shape;274;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1" name="Google Shape;281;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7" name="Google Shape;287;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3" name="Google Shape;293;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9" name="Google Shape;299;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5" name="Google Shape;305;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0" name="Google Shape;310;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7" name="Google Shape;317;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2" name="Google Shape;322;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7" name="Google Shape;327;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3" name="Google Shape;333;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8" name="Google Shape;338;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5" name="Google Shape;345;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0" name="Google Shape;350;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6" name="Google Shape;356;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3" name="Google Shape;363;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9" name="Google Shape;369;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5" name="Google Shape;375;p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1" name="Google Shape;381;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8" name="Google Shape;388;p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5" name="Google Shape;395;p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1" name="Google Shape;401;p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7" name="Google Shape;407;p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2" name="Google Shape;412;p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2"/>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2"/>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2"/>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2"/>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 name="Google Shape;16;p2"/>
          <p:cNvSpPr txBox="1"/>
          <p:nvPr>
            <p:ph type="title"/>
          </p:nvPr>
        </p:nvSpPr>
        <p:spPr>
          <a:xfrm>
            <a:off x="490250" y="526350"/>
            <a:ext cx="56187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p:txBody>
      </p:sp>
      <p:sp>
        <p:nvSpPr>
          <p:cNvPr id="17" name="Google Shape;17;p2"/>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grpSp>
        <p:nvGrpSpPr>
          <p:cNvPr id="19" name="Google Shape;19;p3"/>
          <p:cNvGrpSpPr/>
          <p:nvPr/>
        </p:nvGrpSpPr>
        <p:grpSpPr>
          <a:xfrm>
            <a:off x="0" y="3903669"/>
            <a:ext cx="9144000" cy="1239925"/>
            <a:chOff x="0" y="3903669"/>
            <a:chExt cx="9144000" cy="1239925"/>
          </a:xfrm>
        </p:grpSpPr>
        <p:sp>
          <p:nvSpPr>
            <p:cNvPr id="20" name="Google Shape;20;p3"/>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3"/>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3"/>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3"/>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3"/>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5" name="Google Shape;25;p3"/>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6" name="Google Shape;26;p3"/>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7" name="Google Shape;27;p3"/>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28" name="Shape 28"/>
        <p:cNvGrpSpPr/>
        <p:nvPr/>
      </p:nvGrpSpPr>
      <p:grpSpPr>
        <a:xfrm>
          <a:off x="0" y="0"/>
          <a:ext cx="0" cy="0"/>
          <a:chOff x="0" y="0"/>
          <a:chExt cx="0" cy="0"/>
        </a:xfrm>
      </p:grpSpPr>
      <p:grpSp>
        <p:nvGrpSpPr>
          <p:cNvPr id="29" name="Google Shape;29;p4"/>
          <p:cNvGrpSpPr/>
          <p:nvPr/>
        </p:nvGrpSpPr>
        <p:grpSpPr>
          <a:xfrm>
            <a:off x="6098378" y="5"/>
            <a:ext cx="3045625" cy="2030570"/>
            <a:chOff x="6098378" y="5"/>
            <a:chExt cx="3045625" cy="2030570"/>
          </a:xfrm>
        </p:grpSpPr>
        <p:sp>
          <p:nvSpPr>
            <p:cNvPr id="30" name="Google Shape;30;p4"/>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4"/>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4"/>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4"/>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4"/>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5" name="Google Shape;35;p4"/>
          <p:cNvSpPr txBox="1"/>
          <p:nvPr>
            <p:ph type="ctrTitle"/>
          </p:nvPr>
        </p:nvSpPr>
        <p:spPr>
          <a:xfrm>
            <a:off x="598100" y="1775222"/>
            <a:ext cx="8222100" cy="8388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36" name="Google Shape;36;p4"/>
          <p:cNvSpPr txBox="1"/>
          <p:nvPr>
            <p:ph idx="1" type="subTitle"/>
          </p:nvPr>
        </p:nvSpPr>
        <p:spPr>
          <a:xfrm>
            <a:off x="598088" y="2715913"/>
            <a:ext cx="8222100" cy="432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2100"/>
              <a:buNone/>
              <a:defRPr sz="2100">
                <a:solidFill>
                  <a:schemeClr val="lt1"/>
                </a:solidFill>
              </a:defRPr>
            </a:lvl1pPr>
            <a:lvl2pPr lvl="1" algn="l">
              <a:lnSpc>
                <a:spcPct val="100000"/>
              </a:lnSpc>
              <a:spcBef>
                <a:spcPts val="0"/>
              </a:spcBef>
              <a:spcAft>
                <a:spcPts val="0"/>
              </a:spcAft>
              <a:buClr>
                <a:schemeClr val="lt1"/>
              </a:buClr>
              <a:buSzPts val="2100"/>
              <a:buNone/>
              <a:defRPr sz="2100">
                <a:solidFill>
                  <a:schemeClr val="lt1"/>
                </a:solidFill>
              </a:defRPr>
            </a:lvl2pPr>
            <a:lvl3pPr lvl="2" algn="l">
              <a:lnSpc>
                <a:spcPct val="100000"/>
              </a:lnSpc>
              <a:spcBef>
                <a:spcPts val="0"/>
              </a:spcBef>
              <a:spcAft>
                <a:spcPts val="0"/>
              </a:spcAft>
              <a:buClr>
                <a:schemeClr val="lt1"/>
              </a:buClr>
              <a:buSzPts val="2100"/>
              <a:buNone/>
              <a:defRPr sz="2100">
                <a:solidFill>
                  <a:schemeClr val="lt1"/>
                </a:solidFill>
              </a:defRPr>
            </a:lvl3pPr>
            <a:lvl4pPr lvl="3" algn="l">
              <a:lnSpc>
                <a:spcPct val="100000"/>
              </a:lnSpc>
              <a:spcBef>
                <a:spcPts val="0"/>
              </a:spcBef>
              <a:spcAft>
                <a:spcPts val="0"/>
              </a:spcAft>
              <a:buClr>
                <a:schemeClr val="lt1"/>
              </a:buClr>
              <a:buSzPts val="2100"/>
              <a:buNone/>
              <a:defRPr sz="2100">
                <a:solidFill>
                  <a:schemeClr val="lt1"/>
                </a:solidFill>
              </a:defRPr>
            </a:lvl4pPr>
            <a:lvl5pPr lvl="4" algn="l">
              <a:lnSpc>
                <a:spcPct val="100000"/>
              </a:lnSpc>
              <a:spcBef>
                <a:spcPts val="0"/>
              </a:spcBef>
              <a:spcAft>
                <a:spcPts val="0"/>
              </a:spcAft>
              <a:buClr>
                <a:schemeClr val="lt1"/>
              </a:buClr>
              <a:buSzPts val="2100"/>
              <a:buNone/>
              <a:defRPr sz="2100">
                <a:solidFill>
                  <a:schemeClr val="lt1"/>
                </a:solidFill>
              </a:defRPr>
            </a:lvl5pPr>
            <a:lvl6pPr lvl="5" algn="l">
              <a:lnSpc>
                <a:spcPct val="100000"/>
              </a:lnSpc>
              <a:spcBef>
                <a:spcPts val="0"/>
              </a:spcBef>
              <a:spcAft>
                <a:spcPts val="0"/>
              </a:spcAft>
              <a:buClr>
                <a:schemeClr val="lt1"/>
              </a:buClr>
              <a:buSzPts val="2100"/>
              <a:buNone/>
              <a:defRPr sz="2100">
                <a:solidFill>
                  <a:schemeClr val="lt1"/>
                </a:solidFill>
              </a:defRPr>
            </a:lvl6pPr>
            <a:lvl7pPr lvl="6" algn="l">
              <a:lnSpc>
                <a:spcPct val="100000"/>
              </a:lnSpc>
              <a:spcBef>
                <a:spcPts val="0"/>
              </a:spcBef>
              <a:spcAft>
                <a:spcPts val="0"/>
              </a:spcAft>
              <a:buClr>
                <a:schemeClr val="lt1"/>
              </a:buClr>
              <a:buSzPts val="2100"/>
              <a:buNone/>
              <a:defRPr sz="2100">
                <a:solidFill>
                  <a:schemeClr val="lt1"/>
                </a:solidFill>
              </a:defRPr>
            </a:lvl7pPr>
            <a:lvl8pPr lvl="7" algn="l">
              <a:lnSpc>
                <a:spcPct val="100000"/>
              </a:lnSpc>
              <a:spcBef>
                <a:spcPts val="0"/>
              </a:spcBef>
              <a:spcAft>
                <a:spcPts val="0"/>
              </a:spcAft>
              <a:buClr>
                <a:schemeClr val="lt1"/>
              </a:buClr>
              <a:buSzPts val="2100"/>
              <a:buNone/>
              <a:defRPr sz="2100">
                <a:solidFill>
                  <a:schemeClr val="lt1"/>
                </a:solidFill>
              </a:defRPr>
            </a:lvl8pPr>
            <a:lvl9pPr lvl="8" algn="l">
              <a:lnSpc>
                <a:spcPct val="100000"/>
              </a:lnSpc>
              <a:spcBef>
                <a:spcPts val="0"/>
              </a:spcBef>
              <a:spcAft>
                <a:spcPts val="0"/>
              </a:spcAft>
              <a:buClr>
                <a:schemeClr val="lt1"/>
              </a:buClr>
              <a:buSzPts val="2100"/>
              <a:buNone/>
              <a:defRPr sz="2100">
                <a:solidFill>
                  <a:schemeClr val="lt1"/>
                </a:solidFill>
              </a:defRPr>
            </a:lvl9pPr>
          </a:lstStyle>
          <a:p/>
        </p:txBody>
      </p:sp>
      <p:sp>
        <p:nvSpPr>
          <p:cNvPr id="37" name="Google Shape;37;p4"/>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38" name="Shape 38"/>
        <p:cNvGrpSpPr/>
        <p:nvPr/>
      </p:nvGrpSpPr>
      <p:grpSpPr>
        <a:xfrm>
          <a:off x="0" y="0"/>
          <a:ext cx="0" cy="0"/>
          <a:chOff x="0" y="0"/>
          <a:chExt cx="0" cy="0"/>
        </a:xfrm>
      </p:grpSpPr>
      <p:grpSp>
        <p:nvGrpSpPr>
          <p:cNvPr id="39" name="Google Shape;39;p5"/>
          <p:cNvGrpSpPr/>
          <p:nvPr/>
        </p:nvGrpSpPr>
        <p:grpSpPr>
          <a:xfrm>
            <a:off x="6098378" y="5"/>
            <a:ext cx="3045625" cy="2030570"/>
            <a:chOff x="6098378" y="5"/>
            <a:chExt cx="3045625" cy="2030570"/>
          </a:xfrm>
        </p:grpSpPr>
        <p:sp>
          <p:nvSpPr>
            <p:cNvPr id="40" name="Google Shape;40;p5"/>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5"/>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5"/>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5"/>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5"/>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5" name="Google Shape;45;p5"/>
          <p:cNvSpPr txBox="1"/>
          <p:nvPr>
            <p:ph type="title"/>
          </p:nvPr>
        </p:nvSpPr>
        <p:spPr>
          <a:xfrm>
            <a:off x="598100" y="2152347"/>
            <a:ext cx="8222100" cy="838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46" name="Google Shape;46;p5"/>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7" name="Shape 47"/>
        <p:cNvGrpSpPr/>
        <p:nvPr/>
      </p:nvGrpSpPr>
      <p:grpSpPr>
        <a:xfrm>
          <a:off x="0" y="0"/>
          <a:ext cx="0" cy="0"/>
          <a:chOff x="0" y="0"/>
          <a:chExt cx="0" cy="0"/>
        </a:xfrm>
      </p:grpSpPr>
      <p:sp>
        <p:nvSpPr>
          <p:cNvPr id="48" name="Google Shape;48;p6"/>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49" name="Google Shape;49;p6"/>
          <p:cNvSpPr txBox="1"/>
          <p:nvPr>
            <p:ph idx="1" type="body"/>
          </p:nvPr>
        </p:nvSpPr>
        <p:spPr>
          <a:xfrm>
            <a:off x="311700" y="1229975"/>
            <a:ext cx="3999900" cy="33390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0" name="Google Shape;50;p6"/>
          <p:cNvSpPr txBox="1"/>
          <p:nvPr>
            <p:ph idx="2" type="body"/>
          </p:nvPr>
        </p:nvSpPr>
        <p:spPr>
          <a:xfrm>
            <a:off x="4832400" y="1229975"/>
            <a:ext cx="3999900" cy="33390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1" name="Google Shape;51;p6"/>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2" name="Shape 52"/>
        <p:cNvGrpSpPr/>
        <p:nvPr/>
      </p:nvGrpSpPr>
      <p:grpSpPr>
        <a:xfrm>
          <a:off x="0" y="0"/>
          <a:ext cx="0" cy="0"/>
          <a:chOff x="0" y="0"/>
          <a:chExt cx="0" cy="0"/>
        </a:xfrm>
      </p:grpSpPr>
      <p:sp>
        <p:nvSpPr>
          <p:cNvPr id="53" name="Google Shape;53;p7"/>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54" name="Google Shape;54;p7"/>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5" name="Shape 55"/>
        <p:cNvGrpSpPr/>
        <p:nvPr/>
      </p:nvGrpSpPr>
      <p:grpSpPr>
        <a:xfrm>
          <a:off x="0" y="0"/>
          <a:ext cx="0" cy="0"/>
          <a:chOff x="0" y="0"/>
          <a:chExt cx="0" cy="0"/>
        </a:xfrm>
      </p:grpSpPr>
      <p:sp>
        <p:nvSpPr>
          <p:cNvPr id="56" name="Google Shape;56;p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57" name="Google Shape;57;p8"/>
          <p:cNvSpPr txBox="1"/>
          <p:nvPr>
            <p:ph idx="1" type="body"/>
          </p:nvPr>
        </p:nvSpPr>
        <p:spPr>
          <a:xfrm>
            <a:off x="311700" y="1465804"/>
            <a:ext cx="2808000" cy="31032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8" name="Google Shape;58;p8"/>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61" name="Google Shape;6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9"/>
          <p:cNvSpPr txBox="1"/>
          <p:nvPr>
            <p:ph type="title"/>
          </p:nvPr>
        </p:nvSpPr>
        <p:spPr>
          <a:xfrm>
            <a:off x="265500" y="1151100"/>
            <a:ext cx="4045200" cy="1564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63" name="Google Shape;63;p9"/>
          <p:cNvSpPr txBox="1"/>
          <p:nvPr>
            <p:ph idx="1" type="subTitle"/>
          </p:nvPr>
        </p:nvSpPr>
        <p:spPr>
          <a:xfrm>
            <a:off x="265500" y="2769001"/>
            <a:ext cx="4045200" cy="12693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9"/>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65" name="Google Shape;65;p9"/>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txBox="1"/>
          <p:nvPr>
            <p:ph idx="1" type="body"/>
          </p:nvPr>
        </p:nvSpPr>
        <p:spPr>
          <a:xfrm>
            <a:off x="319500" y="423057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68" name="Google Shape;68;p10"/>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6" name="Google Shape;76;p11"/>
          <p:cNvSpPr txBox="1"/>
          <p:nvPr>
            <p:ph hasCustomPrompt="1" type="title"/>
          </p:nvPr>
        </p:nvSpPr>
        <p:spPr>
          <a:xfrm>
            <a:off x="311700" y="1256050"/>
            <a:ext cx="8520600" cy="20307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lt1"/>
              </a:buClr>
              <a:buSzPts val="12000"/>
              <a:buNone/>
              <a:defRPr sz="12000">
                <a:solidFill>
                  <a:schemeClr val="lt1"/>
                </a:solidFill>
              </a:defRPr>
            </a:lvl1pPr>
            <a:lvl2pPr lvl="1" algn="ctr">
              <a:lnSpc>
                <a:spcPct val="100000"/>
              </a:lnSpc>
              <a:spcBef>
                <a:spcPts val="0"/>
              </a:spcBef>
              <a:spcAft>
                <a:spcPts val="0"/>
              </a:spcAft>
              <a:buClr>
                <a:schemeClr val="lt1"/>
              </a:buClr>
              <a:buSzPts val="12000"/>
              <a:buNone/>
              <a:defRPr sz="12000">
                <a:solidFill>
                  <a:schemeClr val="lt1"/>
                </a:solidFill>
              </a:defRPr>
            </a:lvl2pPr>
            <a:lvl3pPr lvl="2" algn="ctr">
              <a:lnSpc>
                <a:spcPct val="100000"/>
              </a:lnSpc>
              <a:spcBef>
                <a:spcPts val="0"/>
              </a:spcBef>
              <a:spcAft>
                <a:spcPts val="0"/>
              </a:spcAft>
              <a:buClr>
                <a:schemeClr val="lt1"/>
              </a:buClr>
              <a:buSzPts val="12000"/>
              <a:buNone/>
              <a:defRPr sz="12000">
                <a:solidFill>
                  <a:schemeClr val="lt1"/>
                </a:solidFill>
              </a:defRPr>
            </a:lvl3pPr>
            <a:lvl4pPr lvl="3" algn="ctr">
              <a:lnSpc>
                <a:spcPct val="100000"/>
              </a:lnSpc>
              <a:spcBef>
                <a:spcPts val="0"/>
              </a:spcBef>
              <a:spcAft>
                <a:spcPts val="0"/>
              </a:spcAft>
              <a:buClr>
                <a:schemeClr val="lt1"/>
              </a:buClr>
              <a:buSzPts val="12000"/>
              <a:buNone/>
              <a:defRPr sz="12000">
                <a:solidFill>
                  <a:schemeClr val="lt1"/>
                </a:solidFill>
              </a:defRPr>
            </a:lvl4pPr>
            <a:lvl5pPr lvl="4" algn="ctr">
              <a:lnSpc>
                <a:spcPct val="100000"/>
              </a:lnSpc>
              <a:spcBef>
                <a:spcPts val="0"/>
              </a:spcBef>
              <a:spcAft>
                <a:spcPts val="0"/>
              </a:spcAft>
              <a:buClr>
                <a:schemeClr val="lt1"/>
              </a:buClr>
              <a:buSzPts val="12000"/>
              <a:buNone/>
              <a:defRPr sz="12000">
                <a:solidFill>
                  <a:schemeClr val="lt1"/>
                </a:solidFill>
              </a:defRPr>
            </a:lvl5pPr>
            <a:lvl6pPr lvl="5" algn="ctr">
              <a:lnSpc>
                <a:spcPct val="100000"/>
              </a:lnSpc>
              <a:spcBef>
                <a:spcPts val="0"/>
              </a:spcBef>
              <a:spcAft>
                <a:spcPts val="0"/>
              </a:spcAft>
              <a:buClr>
                <a:schemeClr val="lt1"/>
              </a:buClr>
              <a:buSzPts val="12000"/>
              <a:buNone/>
              <a:defRPr sz="12000">
                <a:solidFill>
                  <a:schemeClr val="lt1"/>
                </a:solidFill>
              </a:defRPr>
            </a:lvl6pPr>
            <a:lvl7pPr lvl="6" algn="ctr">
              <a:lnSpc>
                <a:spcPct val="100000"/>
              </a:lnSpc>
              <a:spcBef>
                <a:spcPts val="0"/>
              </a:spcBef>
              <a:spcAft>
                <a:spcPts val="0"/>
              </a:spcAft>
              <a:buClr>
                <a:schemeClr val="lt1"/>
              </a:buClr>
              <a:buSzPts val="12000"/>
              <a:buNone/>
              <a:defRPr sz="12000">
                <a:solidFill>
                  <a:schemeClr val="lt1"/>
                </a:solidFill>
              </a:defRPr>
            </a:lvl7pPr>
            <a:lvl8pPr lvl="7" algn="ctr">
              <a:lnSpc>
                <a:spcPct val="100000"/>
              </a:lnSpc>
              <a:spcBef>
                <a:spcPts val="0"/>
              </a:spcBef>
              <a:spcAft>
                <a:spcPts val="0"/>
              </a:spcAft>
              <a:buClr>
                <a:schemeClr val="lt1"/>
              </a:buClr>
              <a:buSzPts val="12000"/>
              <a:buNone/>
              <a:defRPr sz="12000">
                <a:solidFill>
                  <a:schemeClr val="lt1"/>
                </a:solidFill>
              </a:defRPr>
            </a:lvl8pPr>
            <a:lvl9pPr lvl="8" algn="ctr">
              <a:lnSpc>
                <a:spcPct val="100000"/>
              </a:lnSpc>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p:nvPr>
            <p:ph idx="1" type="body"/>
          </p:nvPr>
        </p:nvSpPr>
        <p:spPr>
          <a:xfrm>
            <a:off x="311700" y="3369225"/>
            <a:ext cx="8520600" cy="12819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Clr>
                <a:schemeClr val="lt1"/>
              </a:buClr>
              <a:buSzPts val="1800"/>
              <a:buChar char="●"/>
              <a:defRPr>
                <a:solidFill>
                  <a:schemeClr val="lt1"/>
                </a:solidFill>
              </a:defRPr>
            </a:lvl1pPr>
            <a:lvl2pPr indent="-317500" lvl="1" marL="914400" algn="ctr">
              <a:lnSpc>
                <a:spcPct val="115000"/>
              </a:lnSpc>
              <a:spcBef>
                <a:spcPts val="0"/>
              </a:spcBef>
              <a:spcAft>
                <a:spcPts val="0"/>
              </a:spcAft>
              <a:buClr>
                <a:schemeClr val="lt1"/>
              </a:buClr>
              <a:buSzPts val="1400"/>
              <a:buChar char="○"/>
              <a:defRPr>
                <a:solidFill>
                  <a:schemeClr val="lt1"/>
                </a:solidFill>
              </a:defRPr>
            </a:lvl2pPr>
            <a:lvl3pPr indent="-317500" lvl="2" marL="1371600" algn="ctr">
              <a:lnSpc>
                <a:spcPct val="115000"/>
              </a:lnSpc>
              <a:spcBef>
                <a:spcPts val="0"/>
              </a:spcBef>
              <a:spcAft>
                <a:spcPts val="0"/>
              </a:spcAft>
              <a:buClr>
                <a:schemeClr val="lt1"/>
              </a:buClr>
              <a:buSzPts val="1400"/>
              <a:buChar char="■"/>
              <a:defRPr>
                <a:solidFill>
                  <a:schemeClr val="lt1"/>
                </a:solidFill>
              </a:defRPr>
            </a:lvl3pPr>
            <a:lvl4pPr indent="-317500" lvl="3" marL="1828800" algn="ctr">
              <a:lnSpc>
                <a:spcPct val="115000"/>
              </a:lnSpc>
              <a:spcBef>
                <a:spcPts val="0"/>
              </a:spcBef>
              <a:spcAft>
                <a:spcPts val="0"/>
              </a:spcAft>
              <a:buClr>
                <a:schemeClr val="lt1"/>
              </a:buClr>
              <a:buSzPts val="1400"/>
              <a:buChar char="●"/>
              <a:defRPr>
                <a:solidFill>
                  <a:schemeClr val="lt1"/>
                </a:solidFill>
              </a:defRPr>
            </a:lvl4pPr>
            <a:lvl5pPr indent="-317500" lvl="4" marL="2286000" algn="ctr">
              <a:lnSpc>
                <a:spcPct val="115000"/>
              </a:lnSpc>
              <a:spcBef>
                <a:spcPts val="0"/>
              </a:spcBef>
              <a:spcAft>
                <a:spcPts val="0"/>
              </a:spcAft>
              <a:buClr>
                <a:schemeClr val="lt1"/>
              </a:buClr>
              <a:buSzPts val="1400"/>
              <a:buChar char="○"/>
              <a:defRPr>
                <a:solidFill>
                  <a:schemeClr val="lt1"/>
                </a:solidFill>
              </a:defRPr>
            </a:lvl5pPr>
            <a:lvl6pPr indent="-317500" lvl="5" marL="2743200" algn="ctr">
              <a:lnSpc>
                <a:spcPct val="115000"/>
              </a:lnSpc>
              <a:spcBef>
                <a:spcPts val="0"/>
              </a:spcBef>
              <a:spcAft>
                <a:spcPts val="0"/>
              </a:spcAft>
              <a:buClr>
                <a:schemeClr val="lt1"/>
              </a:buClr>
              <a:buSzPts val="1400"/>
              <a:buChar char="■"/>
              <a:defRPr>
                <a:solidFill>
                  <a:schemeClr val="lt1"/>
                </a:solidFill>
              </a:defRPr>
            </a:lvl6pPr>
            <a:lvl7pPr indent="-317500" lvl="6" marL="3200400" algn="ctr">
              <a:lnSpc>
                <a:spcPct val="115000"/>
              </a:lnSpc>
              <a:spcBef>
                <a:spcPts val="0"/>
              </a:spcBef>
              <a:spcAft>
                <a:spcPts val="0"/>
              </a:spcAft>
              <a:buClr>
                <a:schemeClr val="lt1"/>
              </a:buClr>
              <a:buSzPts val="1400"/>
              <a:buChar char="●"/>
              <a:defRPr>
                <a:solidFill>
                  <a:schemeClr val="lt1"/>
                </a:solidFill>
              </a:defRPr>
            </a:lvl7pPr>
            <a:lvl8pPr indent="-317500" lvl="7" marL="3657600" algn="ctr">
              <a:lnSpc>
                <a:spcPct val="115000"/>
              </a:lnSpc>
              <a:spcBef>
                <a:spcPts val="0"/>
              </a:spcBef>
              <a:spcAft>
                <a:spcPts val="0"/>
              </a:spcAft>
              <a:buClr>
                <a:schemeClr val="lt1"/>
              </a:buClr>
              <a:buSzPts val="1400"/>
              <a:buChar char="○"/>
              <a:defRPr>
                <a:solidFill>
                  <a:schemeClr val="lt1"/>
                </a:solidFill>
              </a:defRPr>
            </a:lvl8pPr>
            <a:lvl9pPr indent="-317500" lvl="8" marL="4114800" algn="ctr">
              <a:lnSpc>
                <a:spcPct val="115000"/>
              </a:lnSpc>
              <a:spcBef>
                <a:spcPts val="0"/>
              </a:spcBef>
              <a:spcAft>
                <a:spcPts val="0"/>
              </a:spcAft>
              <a:buClr>
                <a:schemeClr val="lt1"/>
              </a:buClr>
              <a:buSzPts val="1400"/>
              <a:buChar char="■"/>
              <a:defRPr>
                <a:solidFill>
                  <a:schemeClr val="lt1"/>
                </a:solidFill>
              </a:defRPr>
            </a:lvl9pPr>
          </a:lstStyle>
          <a:p/>
        </p:txBody>
      </p:sp>
      <p:sp>
        <p:nvSpPr>
          <p:cNvPr id="78" name="Google Shape;78;p1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1pPr>
            <a:lvl2pPr lvl="1"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2pPr>
            <a:lvl3pPr lvl="2"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3pPr>
            <a:lvl4pPr lvl="3"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4pPr>
            <a:lvl5pPr lvl="4"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5pPr>
            <a:lvl6pPr lvl="5"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6pPr>
            <a:lvl7pPr lvl="6"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7pPr>
            <a:lvl8pPr lvl="7"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8pPr>
            <a:lvl9pPr lvl="8"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1pPr>
            <a:lvl2pPr indent="-317500" lvl="1" marL="9144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2pPr>
            <a:lvl3pPr indent="-317500" lvl="2" marL="13716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3pPr>
            <a:lvl4pPr indent="-317500" lvl="3" marL="18288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4pPr>
            <a:lvl5pPr indent="-317500" lvl="4" marL="22860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5pPr>
            <a:lvl6pPr indent="-317500" lvl="5" marL="27432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6pPr>
            <a:lvl7pPr indent="-317500" lvl="6" marL="32004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7pPr>
            <a:lvl8pPr indent="-317500" lvl="7" marL="36576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8pPr>
            <a:lvl9pPr indent="-317500" lvl="8" marL="41148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ro"/>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jpg"/><Relationship Id="rId4" Type="http://schemas.openxmlformats.org/officeDocument/2006/relationships/image" Target="../media/image2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5.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5.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jpg"/><Relationship Id="rId4" Type="http://schemas.openxmlformats.org/officeDocument/2006/relationships/image" Target="../media/image7.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9.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8.jpg"/><Relationship Id="rId4" Type="http://schemas.openxmlformats.org/officeDocument/2006/relationships/image" Target="../media/image12.jpg"/><Relationship Id="rId5" Type="http://schemas.openxmlformats.org/officeDocument/2006/relationships/image" Target="../media/image8.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5.jpg"/><Relationship Id="rId4" Type="http://schemas.openxmlformats.org/officeDocument/2006/relationships/image" Target="../media/image16.jpg"/><Relationship Id="rId5" Type="http://schemas.openxmlformats.org/officeDocument/2006/relationships/image" Target="../media/image1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7.jpg"/><Relationship Id="rId4" Type="http://schemas.openxmlformats.org/officeDocument/2006/relationships/image" Target="../media/image28.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9.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3.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0.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3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40.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26.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42.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36.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2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3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37.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3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27.jpg"/><Relationship Id="rId4" Type="http://schemas.openxmlformats.org/officeDocument/2006/relationships/image" Target="../media/image39.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32.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4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34.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38.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txBox="1"/>
          <p:nvPr>
            <p:ph type="title"/>
          </p:nvPr>
        </p:nvSpPr>
        <p:spPr>
          <a:xfrm>
            <a:off x="490250" y="526350"/>
            <a:ext cx="5618700" cy="40908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4800"/>
              <a:buNone/>
            </a:pPr>
            <a:r>
              <a:rPr lang="ro" sz="2400">
                <a:latin typeface="Arial"/>
                <a:ea typeface="Arial"/>
                <a:cs typeface="Arial"/>
                <a:sym typeface="Arial"/>
              </a:rPr>
              <a:t>📚 </a:t>
            </a:r>
            <a:r>
              <a:rPr b="1" lang="ro" sz="2400">
                <a:latin typeface="Arial"/>
                <a:ea typeface="Arial"/>
                <a:cs typeface="Arial"/>
                <a:sym typeface="Arial"/>
              </a:rPr>
              <a:t>La radiobiologie et les principes fondamentaux des "5R" (ou 6R) de la radiothérapie</a:t>
            </a:r>
            <a:endParaRPr b="1" sz="2400">
              <a:latin typeface="Arial"/>
              <a:ea typeface="Arial"/>
              <a:cs typeface="Arial"/>
              <a:sym typeface="Arial"/>
            </a:endParaRPr>
          </a:p>
          <a:p>
            <a:pPr indent="0" lvl="0" marL="0" rtl="0" algn="ctr">
              <a:lnSpc>
                <a:spcPct val="100000"/>
              </a:lnSpc>
              <a:spcBef>
                <a:spcPts val="0"/>
              </a:spcBef>
              <a:spcAft>
                <a:spcPts val="0"/>
              </a:spcAft>
              <a:buSzPts val="4800"/>
              <a:buNone/>
            </a:pPr>
            <a:r>
              <a:t/>
            </a:r>
            <a:endParaRPr b="1" sz="2400">
              <a:latin typeface="Arial"/>
              <a:ea typeface="Arial"/>
              <a:cs typeface="Arial"/>
              <a:sym typeface="Arial"/>
            </a:endParaRPr>
          </a:p>
          <a:p>
            <a:pPr indent="0" lvl="0" marL="0" rtl="0" algn="ctr">
              <a:lnSpc>
                <a:spcPct val="100000"/>
              </a:lnSpc>
              <a:spcBef>
                <a:spcPts val="0"/>
              </a:spcBef>
              <a:spcAft>
                <a:spcPts val="0"/>
              </a:spcAft>
              <a:buSzPts val="4800"/>
              <a:buNone/>
            </a:pPr>
            <a:r>
              <a:t/>
            </a:r>
            <a:endParaRPr b="1" sz="2400">
              <a:latin typeface="Arial"/>
              <a:ea typeface="Arial"/>
              <a:cs typeface="Arial"/>
              <a:sym typeface="Arial"/>
            </a:endParaRPr>
          </a:p>
          <a:p>
            <a:pPr indent="0" lvl="0" marL="0" rtl="0" algn="ctr">
              <a:lnSpc>
                <a:spcPct val="100000"/>
              </a:lnSpc>
              <a:spcBef>
                <a:spcPts val="0"/>
              </a:spcBef>
              <a:spcAft>
                <a:spcPts val="0"/>
              </a:spcAft>
              <a:buSzPts val="4800"/>
              <a:buNone/>
            </a:pPr>
            <a:r>
              <a:rPr b="1" lang="ro" sz="1700">
                <a:latin typeface="Arial"/>
                <a:ea typeface="Arial"/>
                <a:cs typeface="Arial"/>
                <a:sym typeface="Arial"/>
              </a:rPr>
              <a:t>Dr. Ana Dulan</a:t>
            </a:r>
            <a:endParaRPr b="1" sz="1700">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4"/>
          <p:cNvSpPr txBox="1"/>
          <p:nvPr>
            <p:ph type="title"/>
          </p:nvPr>
        </p:nvSpPr>
        <p:spPr>
          <a:xfrm>
            <a:off x="224950" y="410000"/>
            <a:ext cx="8520600" cy="6078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ro" sz="1500">
                <a:solidFill>
                  <a:srgbClr val="000000"/>
                </a:solidFill>
                <a:latin typeface="Arial"/>
                <a:ea typeface="Arial"/>
                <a:cs typeface="Arial"/>
                <a:sym typeface="Arial"/>
              </a:rPr>
              <a:t>📚 </a:t>
            </a:r>
            <a:r>
              <a:rPr b="1" lang="ro" sz="1500">
                <a:solidFill>
                  <a:srgbClr val="000000"/>
                </a:solidFill>
                <a:latin typeface="Arial"/>
                <a:ea typeface="Arial"/>
                <a:cs typeface="Arial"/>
                <a:sym typeface="Arial"/>
              </a:rPr>
              <a:t>Effets des rayonnements ionisants sur l’ADN : Effet direct et effet indirect</a:t>
            </a:r>
            <a:endParaRPr sz="3400"/>
          </a:p>
        </p:txBody>
      </p:sp>
      <p:sp>
        <p:nvSpPr>
          <p:cNvPr id="91" name="Google Shape;91;p14"/>
          <p:cNvSpPr txBox="1"/>
          <p:nvPr>
            <p:ph idx="1" type="body"/>
          </p:nvPr>
        </p:nvSpPr>
        <p:spPr>
          <a:xfrm>
            <a:off x="311700" y="1229875"/>
            <a:ext cx="5858700" cy="3339000"/>
          </a:xfrm>
          <a:prstGeom prst="rect">
            <a:avLst/>
          </a:prstGeom>
          <a:noFill/>
          <a:ln>
            <a:noFill/>
          </a:ln>
        </p:spPr>
        <p:txBody>
          <a:bodyPr anchorCtr="0" anchor="t" bIns="91425" lIns="91425" spcFirstLastPara="1" rIns="91425" wrap="square" tIns="91425">
            <a:normAutofit lnSpcReduction="20000"/>
          </a:bodyPr>
          <a:lstStyle/>
          <a:p>
            <a:pPr indent="0" lvl="0" marL="0" rtl="0" algn="just">
              <a:lnSpc>
                <a:spcPct val="115000"/>
              </a:lnSpc>
              <a:spcBef>
                <a:spcPts val="0"/>
              </a:spcBef>
              <a:spcAft>
                <a:spcPts val="0"/>
              </a:spcAft>
              <a:buSzPts val="1800"/>
              <a:buNone/>
            </a:pPr>
            <a:r>
              <a:rPr lang="ro" sz="1500">
                <a:solidFill>
                  <a:srgbClr val="000000"/>
                </a:solidFill>
                <a:latin typeface="Arial"/>
                <a:ea typeface="Arial"/>
                <a:cs typeface="Arial"/>
                <a:sym typeface="Arial"/>
              </a:rPr>
              <a:t>La </a:t>
            </a:r>
            <a:r>
              <a:rPr b="1" lang="ro" sz="1500">
                <a:solidFill>
                  <a:srgbClr val="000000"/>
                </a:solidFill>
                <a:latin typeface="Arial"/>
                <a:ea typeface="Arial"/>
                <a:cs typeface="Arial"/>
                <a:sym typeface="Arial"/>
              </a:rPr>
              <a:t>radiobiologie</a:t>
            </a:r>
            <a:r>
              <a:rPr lang="ro" sz="1500">
                <a:solidFill>
                  <a:srgbClr val="000000"/>
                </a:solidFill>
                <a:latin typeface="Arial"/>
                <a:ea typeface="Arial"/>
                <a:cs typeface="Arial"/>
                <a:sym typeface="Arial"/>
              </a:rPr>
              <a:t> est la science qui étudie les </a:t>
            </a:r>
            <a:r>
              <a:rPr b="1" lang="ro" sz="1500">
                <a:solidFill>
                  <a:srgbClr val="000000"/>
                </a:solidFill>
                <a:latin typeface="Arial"/>
                <a:ea typeface="Arial"/>
                <a:cs typeface="Arial"/>
                <a:sym typeface="Arial"/>
              </a:rPr>
              <a:t>effets biologiques des rayonnements ionisants</a:t>
            </a:r>
            <a:r>
              <a:rPr lang="ro" sz="1500">
                <a:solidFill>
                  <a:srgbClr val="000000"/>
                </a:solidFill>
                <a:latin typeface="Arial"/>
                <a:ea typeface="Arial"/>
                <a:cs typeface="Arial"/>
                <a:sym typeface="Arial"/>
              </a:rPr>
              <a:t> sur les cellules, les tissus et les organismes. </a:t>
            </a:r>
            <a:endParaRPr sz="1500">
              <a:solidFill>
                <a:srgbClr val="000000"/>
              </a:solidFill>
              <a:latin typeface="Arial"/>
              <a:ea typeface="Arial"/>
              <a:cs typeface="Arial"/>
              <a:sym typeface="Arial"/>
            </a:endParaRPr>
          </a:p>
          <a:p>
            <a:pPr indent="0" lvl="0" marL="0" rtl="0" algn="just">
              <a:lnSpc>
                <a:spcPct val="115000"/>
              </a:lnSpc>
              <a:spcBef>
                <a:spcPts val="1200"/>
              </a:spcBef>
              <a:spcAft>
                <a:spcPts val="0"/>
              </a:spcAft>
              <a:buSzPts val="1800"/>
              <a:buNone/>
            </a:pPr>
            <a:r>
              <a:rPr lang="ro" sz="1500">
                <a:solidFill>
                  <a:srgbClr val="000000"/>
                </a:solidFill>
                <a:latin typeface="Arial"/>
                <a:ea typeface="Arial"/>
                <a:cs typeface="Arial"/>
                <a:sym typeface="Arial"/>
              </a:rPr>
              <a:t>Lorsque les </a:t>
            </a:r>
            <a:r>
              <a:rPr b="1" lang="ro" sz="1500">
                <a:solidFill>
                  <a:srgbClr val="000000"/>
                </a:solidFill>
                <a:latin typeface="Arial"/>
                <a:ea typeface="Arial"/>
                <a:cs typeface="Arial"/>
                <a:sym typeface="Arial"/>
              </a:rPr>
              <a:t>rayonnements ionisants</a:t>
            </a:r>
            <a:r>
              <a:rPr lang="ro" sz="1500">
                <a:solidFill>
                  <a:srgbClr val="000000"/>
                </a:solidFill>
                <a:latin typeface="Arial"/>
                <a:ea typeface="Arial"/>
                <a:cs typeface="Arial"/>
                <a:sym typeface="Arial"/>
              </a:rPr>
              <a:t> (comme ceux utilisés en </a:t>
            </a:r>
            <a:r>
              <a:rPr b="1" lang="ro" sz="1500">
                <a:solidFill>
                  <a:srgbClr val="000000"/>
                </a:solidFill>
                <a:latin typeface="Arial"/>
                <a:ea typeface="Arial"/>
                <a:cs typeface="Arial"/>
                <a:sym typeface="Arial"/>
              </a:rPr>
              <a:t>radiothérapie</a:t>
            </a:r>
            <a:r>
              <a:rPr lang="ro" sz="1500">
                <a:solidFill>
                  <a:srgbClr val="000000"/>
                </a:solidFill>
                <a:latin typeface="Arial"/>
                <a:ea typeface="Arial"/>
                <a:cs typeface="Arial"/>
                <a:sym typeface="Arial"/>
              </a:rPr>
              <a:t>) interagissent avec les cellules, ils provoquent des dommages cellulaires, en particulier au niveau de l’</a:t>
            </a:r>
            <a:r>
              <a:rPr b="1" lang="ro" sz="1500">
                <a:solidFill>
                  <a:srgbClr val="000000"/>
                </a:solidFill>
                <a:latin typeface="Arial"/>
                <a:ea typeface="Arial"/>
                <a:cs typeface="Arial"/>
                <a:sym typeface="Arial"/>
              </a:rPr>
              <a:t>ADN</a:t>
            </a:r>
            <a:r>
              <a:rPr lang="ro" sz="1500">
                <a:solidFill>
                  <a:srgbClr val="000000"/>
                </a:solidFill>
                <a:latin typeface="Arial"/>
                <a:ea typeface="Arial"/>
                <a:cs typeface="Arial"/>
                <a:sym typeface="Arial"/>
              </a:rPr>
              <a:t>. Ces lésions peuvent entraîner l’arrêt de la prolifération, la mort cellulaire (apoptose) ou des mutations.</a:t>
            </a:r>
            <a:endParaRPr sz="1500">
              <a:solidFill>
                <a:srgbClr val="000000"/>
              </a:solidFill>
              <a:latin typeface="Arial"/>
              <a:ea typeface="Arial"/>
              <a:cs typeface="Arial"/>
              <a:sym typeface="Arial"/>
            </a:endParaRPr>
          </a:p>
          <a:p>
            <a:pPr indent="0" lvl="0" marL="0" rtl="0" algn="just">
              <a:lnSpc>
                <a:spcPct val="115000"/>
              </a:lnSpc>
              <a:spcBef>
                <a:spcPts val="1200"/>
              </a:spcBef>
              <a:spcAft>
                <a:spcPts val="0"/>
              </a:spcAft>
              <a:buSzPts val="1800"/>
              <a:buNone/>
            </a:pPr>
            <a:r>
              <a:rPr lang="ro" sz="1500">
                <a:solidFill>
                  <a:srgbClr val="000000"/>
                </a:solidFill>
                <a:latin typeface="Arial"/>
                <a:ea typeface="Arial"/>
                <a:cs typeface="Arial"/>
                <a:sym typeface="Arial"/>
              </a:rPr>
              <a:t>Il existe </a:t>
            </a:r>
            <a:r>
              <a:rPr b="1" lang="ro" sz="1500">
                <a:solidFill>
                  <a:srgbClr val="000000"/>
                </a:solidFill>
                <a:latin typeface="Arial"/>
                <a:ea typeface="Arial"/>
                <a:cs typeface="Arial"/>
                <a:sym typeface="Arial"/>
              </a:rPr>
              <a:t>deux mécanismes principaux</a:t>
            </a:r>
            <a:r>
              <a:rPr lang="ro" sz="1500">
                <a:solidFill>
                  <a:srgbClr val="000000"/>
                </a:solidFill>
                <a:latin typeface="Arial"/>
                <a:ea typeface="Arial"/>
                <a:cs typeface="Arial"/>
                <a:sym typeface="Arial"/>
              </a:rPr>
              <a:t> par lesquels les rayonnements endommagent l’ADN : </a:t>
            </a:r>
            <a:r>
              <a:rPr b="1" lang="ro" sz="1500">
                <a:solidFill>
                  <a:srgbClr val="000000"/>
                </a:solidFill>
                <a:latin typeface="Arial"/>
                <a:ea typeface="Arial"/>
                <a:cs typeface="Arial"/>
                <a:sym typeface="Arial"/>
              </a:rPr>
              <a:t>l’effet direct</a:t>
            </a:r>
            <a:r>
              <a:rPr lang="ro" sz="1500">
                <a:solidFill>
                  <a:srgbClr val="000000"/>
                </a:solidFill>
                <a:latin typeface="Arial"/>
                <a:ea typeface="Arial"/>
                <a:cs typeface="Arial"/>
                <a:sym typeface="Arial"/>
              </a:rPr>
              <a:t> et </a:t>
            </a:r>
            <a:r>
              <a:rPr b="1" lang="ro" sz="1500">
                <a:solidFill>
                  <a:srgbClr val="000000"/>
                </a:solidFill>
                <a:latin typeface="Arial"/>
                <a:ea typeface="Arial"/>
                <a:cs typeface="Arial"/>
                <a:sym typeface="Arial"/>
              </a:rPr>
              <a:t>l’effet indirect</a:t>
            </a:r>
            <a:r>
              <a:rPr lang="ro" sz="1500">
                <a:solidFill>
                  <a:srgbClr val="000000"/>
                </a:solidFill>
                <a:latin typeface="Arial"/>
                <a:ea typeface="Arial"/>
                <a:cs typeface="Arial"/>
                <a:sym typeface="Arial"/>
              </a:rPr>
              <a:t>.</a:t>
            </a:r>
            <a:endParaRPr sz="1500">
              <a:solidFill>
                <a:srgbClr val="000000"/>
              </a:solidFill>
              <a:latin typeface="Arial"/>
              <a:ea typeface="Arial"/>
              <a:cs typeface="Arial"/>
              <a:sym typeface="Arial"/>
            </a:endParaRPr>
          </a:p>
          <a:p>
            <a:pPr indent="0" lvl="0" marL="0" rtl="0" algn="just">
              <a:lnSpc>
                <a:spcPct val="115000"/>
              </a:lnSpc>
              <a:spcBef>
                <a:spcPts val="1200"/>
              </a:spcBef>
              <a:spcAft>
                <a:spcPts val="1200"/>
              </a:spcAft>
              <a:buSzPts val="1800"/>
              <a:buNone/>
            </a:pPr>
            <a:r>
              <a:t/>
            </a:r>
            <a:endParaRPr sz="1500">
              <a:solidFill>
                <a:srgbClr val="000000"/>
              </a:solidFill>
              <a:latin typeface="Arial"/>
              <a:ea typeface="Arial"/>
              <a:cs typeface="Arial"/>
              <a:sym typeface="Arial"/>
            </a:endParaRPr>
          </a:p>
        </p:txBody>
      </p:sp>
      <p:pic>
        <p:nvPicPr>
          <p:cNvPr id="92" name="Google Shape;92;p14" title="llustration-des-effets-direct-et-indirect-des-rayonnements-sur-les-cellules.png"/>
          <p:cNvPicPr preferRelativeResize="0"/>
          <p:nvPr/>
        </p:nvPicPr>
        <p:blipFill rotWithShape="1">
          <a:blip r:embed="rId3">
            <a:alphaModFix/>
          </a:blip>
          <a:srcRect b="0" l="0" r="0" t="0"/>
          <a:stretch/>
        </p:blipFill>
        <p:spPr>
          <a:xfrm>
            <a:off x="6219975" y="904500"/>
            <a:ext cx="2823051" cy="27754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5"/>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400"/>
              </a:spcBef>
              <a:spcAft>
                <a:spcPts val="400"/>
              </a:spcAft>
              <a:buSzPts val="3000"/>
              <a:buNone/>
            </a:pPr>
            <a:r>
              <a:rPr b="1" lang="ro" sz="2100">
                <a:solidFill>
                  <a:srgbClr val="000000"/>
                </a:solidFill>
                <a:latin typeface="Arial"/>
                <a:ea typeface="Arial"/>
                <a:cs typeface="Arial"/>
                <a:sym typeface="Arial"/>
              </a:rPr>
              <a:t>⚡️ 1. L'effet direct :</a:t>
            </a:r>
            <a:endParaRPr sz="3800"/>
          </a:p>
        </p:txBody>
      </p:sp>
      <p:sp>
        <p:nvSpPr>
          <p:cNvPr id="98" name="Google Shape;98;p15"/>
          <p:cNvSpPr txBox="1"/>
          <p:nvPr>
            <p:ph idx="1" type="body"/>
          </p:nvPr>
        </p:nvSpPr>
        <p:spPr>
          <a:xfrm>
            <a:off x="311700" y="817750"/>
            <a:ext cx="8520600" cy="37512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1400"/>
              </a:spcBef>
              <a:spcAft>
                <a:spcPts val="0"/>
              </a:spcAft>
              <a:buSzPts val="852"/>
              <a:buNone/>
            </a:pPr>
            <a:r>
              <a:t/>
            </a:r>
            <a:endParaRPr b="1" sz="1207">
              <a:solidFill>
                <a:srgbClr val="000000"/>
              </a:solidFill>
              <a:latin typeface="Arial"/>
              <a:ea typeface="Arial"/>
              <a:cs typeface="Arial"/>
              <a:sym typeface="Arial"/>
            </a:endParaRPr>
          </a:p>
          <a:p>
            <a:pPr indent="-295433" lvl="0" marL="457200" rtl="0" algn="l">
              <a:lnSpc>
                <a:spcPct val="95000"/>
              </a:lnSpc>
              <a:spcBef>
                <a:spcPts val="1200"/>
              </a:spcBef>
              <a:spcAft>
                <a:spcPts val="0"/>
              </a:spcAft>
              <a:buClr>
                <a:srgbClr val="000000"/>
              </a:buClr>
              <a:buSzPts val="1053"/>
              <a:buFont typeface="Arial"/>
              <a:buChar char="●"/>
            </a:pPr>
            <a:r>
              <a:rPr b="1" lang="ro" sz="1052">
                <a:solidFill>
                  <a:srgbClr val="000000"/>
                </a:solidFill>
                <a:latin typeface="Arial"/>
                <a:ea typeface="Arial"/>
                <a:cs typeface="Arial"/>
                <a:sym typeface="Arial"/>
              </a:rPr>
              <a:t>Définition :</a:t>
            </a:r>
            <a:br>
              <a:rPr b="1" lang="ro" sz="1052">
                <a:solidFill>
                  <a:srgbClr val="000000"/>
                </a:solidFill>
                <a:latin typeface="Arial"/>
                <a:ea typeface="Arial"/>
                <a:cs typeface="Arial"/>
                <a:sym typeface="Arial"/>
              </a:rPr>
            </a:br>
            <a:r>
              <a:rPr lang="ro" sz="1052">
                <a:solidFill>
                  <a:srgbClr val="000000"/>
                </a:solidFill>
                <a:latin typeface="Arial"/>
                <a:ea typeface="Arial"/>
                <a:cs typeface="Arial"/>
                <a:sym typeface="Arial"/>
              </a:rPr>
              <a:t>L’effet direct survient lorsque le rayonnement ionisant </a:t>
            </a:r>
            <a:r>
              <a:rPr b="1" lang="ro" sz="1052">
                <a:solidFill>
                  <a:srgbClr val="000000"/>
                </a:solidFill>
                <a:latin typeface="Arial"/>
                <a:ea typeface="Arial"/>
                <a:cs typeface="Arial"/>
                <a:sym typeface="Arial"/>
              </a:rPr>
              <a:t>frappe directement</a:t>
            </a:r>
            <a:r>
              <a:rPr lang="ro" sz="1052">
                <a:solidFill>
                  <a:srgbClr val="000000"/>
                </a:solidFill>
                <a:latin typeface="Arial"/>
                <a:ea typeface="Arial"/>
                <a:cs typeface="Arial"/>
                <a:sym typeface="Arial"/>
              </a:rPr>
              <a:t> la molécule d’ADN, provoquant des </a:t>
            </a:r>
            <a:r>
              <a:rPr b="1" lang="ro" sz="1052">
                <a:solidFill>
                  <a:srgbClr val="000000"/>
                </a:solidFill>
                <a:latin typeface="Arial"/>
                <a:ea typeface="Arial"/>
                <a:cs typeface="Arial"/>
                <a:sym typeface="Arial"/>
              </a:rPr>
              <a:t>cassures</a:t>
            </a:r>
            <a:r>
              <a:rPr lang="ro" sz="1052">
                <a:solidFill>
                  <a:srgbClr val="000000"/>
                </a:solidFill>
                <a:latin typeface="Arial"/>
                <a:ea typeface="Arial"/>
                <a:cs typeface="Arial"/>
                <a:sym typeface="Arial"/>
              </a:rPr>
              <a:t> dans les brins d’ADN.</a:t>
            </a:r>
            <a:endParaRPr sz="1052">
              <a:solidFill>
                <a:srgbClr val="000000"/>
              </a:solidFill>
              <a:latin typeface="Arial"/>
              <a:ea typeface="Arial"/>
              <a:cs typeface="Arial"/>
              <a:sym typeface="Arial"/>
            </a:endParaRPr>
          </a:p>
          <a:p>
            <a:pPr indent="-295433" lvl="0" marL="457200" rtl="0" algn="l">
              <a:lnSpc>
                <a:spcPct val="95000"/>
              </a:lnSpc>
              <a:spcBef>
                <a:spcPts val="0"/>
              </a:spcBef>
              <a:spcAft>
                <a:spcPts val="0"/>
              </a:spcAft>
              <a:buClr>
                <a:srgbClr val="000000"/>
              </a:buClr>
              <a:buSzPts val="1053"/>
              <a:buFont typeface="Arial"/>
              <a:buChar char="●"/>
            </a:pPr>
            <a:r>
              <a:rPr b="1" lang="ro" sz="1052">
                <a:solidFill>
                  <a:srgbClr val="000000"/>
                </a:solidFill>
                <a:latin typeface="Arial"/>
                <a:ea typeface="Arial"/>
                <a:cs typeface="Arial"/>
                <a:sym typeface="Arial"/>
              </a:rPr>
              <a:t>Mécanisme :</a:t>
            </a:r>
            <a:br>
              <a:rPr b="1" lang="ro" sz="1052">
                <a:solidFill>
                  <a:srgbClr val="000000"/>
                </a:solidFill>
                <a:latin typeface="Arial"/>
                <a:ea typeface="Arial"/>
                <a:cs typeface="Arial"/>
                <a:sym typeface="Arial"/>
              </a:rPr>
            </a:br>
            <a:r>
              <a:rPr lang="ro" sz="1052">
                <a:solidFill>
                  <a:srgbClr val="000000"/>
                </a:solidFill>
                <a:latin typeface="Arial"/>
                <a:ea typeface="Arial"/>
                <a:cs typeface="Arial"/>
                <a:sym typeface="Arial"/>
              </a:rPr>
              <a:t>Les rayonnements (photons, électrons, protons, etc.) transfèrent leur </a:t>
            </a:r>
            <a:r>
              <a:rPr b="1" lang="ro" sz="1052">
                <a:solidFill>
                  <a:srgbClr val="000000"/>
                </a:solidFill>
                <a:latin typeface="Arial"/>
                <a:ea typeface="Arial"/>
                <a:cs typeface="Arial"/>
                <a:sym typeface="Arial"/>
              </a:rPr>
              <a:t>énergie</a:t>
            </a:r>
            <a:r>
              <a:rPr lang="ro" sz="1052">
                <a:solidFill>
                  <a:srgbClr val="000000"/>
                </a:solidFill>
                <a:latin typeface="Arial"/>
                <a:ea typeface="Arial"/>
                <a:cs typeface="Arial"/>
                <a:sym typeface="Arial"/>
              </a:rPr>
              <a:t> directement aux atomes constituant l’ADN (principalement le carbone, l’oxygène, l’azote et l’hydrogène). Ce dépôt d’énergie provoque :</a:t>
            </a:r>
            <a:endParaRPr sz="1052">
              <a:solidFill>
                <a:srgbClr val="000000"/>
              </a:solidFill>
              <a:latin typeface="Arial"/>
              <a:ea typeface="Arial"/>
              <a:cs typeface="Arial"/>
              <a:sym typeface="Arial"/>
            </a:endParaRPr>
          </a:p>
          <a:p>
            <a:pPr indent="-295433" lvl="1" marL="914400" rtl="0" algn="l">
              <a:lnSpc>
                <a:spcPct val="95000"/>
              </a:lnSpc>
              <a:spcBef>
                <a:spcPts val="0"/>
              </a:spcBef>
              <a:spcAft>
                <a:spcPts val="0"/>
              </a:spcAft>
              <a:buClr>
                <a:srgbClr val="000000"/>
              </a:buClr>
              <a:buSzPts val="1053"/>
              <a:buFont typeface="Arial"/>
              <a:buChar char="○"/>
            </a:pPr>
            <a:r>
              <a:rPr lang="ro" sz="1052">
                <a:solidFill>
                  <a:srgbClr val="000000"/>
                </a:solidFill>
                <a:latin typeface="Arial"/>
                <a:ea typeface="Arial"/>
                <a:cs typeface="Arial"/>
                <a:sym typeface="Arial"/>
              </a:rPr>
              <a:t>Des </a:t>
            </a:r>
            <a:r>
              <a:rPr b="1" lang="ro" sz="1052">
                <a:solidFill>
                  <a:srgbClr val="000000"/>
                </a:solidFill>
                <a:latin typeface="Arial"/>
                <a:ea typeface="Arial"/>
                <a:cs typeface="Arial"/>
                <a:sym typeface="Arial"/>
              </a:rPr>
              <a:t>cassures simple brin</a:t>
            </a:r>
            <a:r>
              <a:rPr lang="ro" sz="1052">
                <a:solidFill>
                  <a:srgbClr val="000000"/>
                </a:solidFill>
                <a:latin typeface="Arial"/>
                <a:ea typeface="Arial"/>
                <a:cs typeface="Arial"/>
                <a:sym typeface="Arial"/>
              </a:rPr>
              <a:t> (SSB – Single-Strand Break).</a:t>
            </a:r>
            <a:endParaRPr sz="1052">
              <a:solidFill>
                <a:srgbClr val="000000"/>
              </a:solidFill>
              <a:latin typeface="Arial"/>
              <a:ea typeface="Arial"/>
              <a:cs typeface="Arial"/>
              <a:sym typeface="Arial"/>
            </a:endParaRPr>
          </a:p>
          <a:p>
            <a:pPr indent="-295433" lvl="1" marL="914400" rtl="0" algn="l">
              <a:lnSpc>
                <a:spcPct val="95000"/>
              </a:lnSpc>
              <a:spcBef>
                <a:spcPts val="0"/>
              </a:spcBef>
              <a:spcAft>
                <a:spcPts val="0"/>
              </a:spcAft>
              <a:buClr>
                <a:srgbClr val="000000"/>
              </a:buClr>
              <a:buSzPts val="1053"/>
              <a:buFont typeface="Arial"/>
              <a:buChar char="○"/>
            </a:pPr>
            <a:r>
              <a:rPr lang="ro" sz="1052">
                <a:solidFill>
                  <a:srgbClr val="000000"/>
                </a:solidFill>
                <a:latin typeface="Arial"/>
                <a:ea typeface="Arial"/>
                <a:cs typeface="Arial"/>
                <a:sym typeface="Arial"/>
              </a:rPr>
              <a:t>Des </a:t>
            </a:r>
            <a:r>
              <a:rPr b="1" lang="ro" sz="1052">
                <a:solidFill>
                  <a:srgbClr val="000000"/>
                </a:solidFill>
                <a:latin typeface="Arial"/>
                <a:ea typeface="Arial"/>
                <a:cs typeface="Arial"/>
                <a:sym typeface="Arial"/>
              </a:rPr>
              <a:t>cassures double brin</a:t>
            </a:r>
            <a:r>
              <a:rPr lang="ro" sz="1052">
                <a:solidFill>
                  <a:srgbClr val="000000"/>
                </a:solidFill>
                <a:latin typeface="Arial"/>
                <a:ea typeface="Arial"/>
                <a:cs typeface="Arial"/>
                <a:sym typeface="Arial"/>
              </a:rPr>
              <a:t> (DSB – Double-Strand Break), plus graves et plus difficiles à réparer.</a:t>
            </a:r>
            <a:endParaRPr sz="1052">
              <a:solidFill>
                <a:srgbClr val="000000"/>
              </a:solidFill>
              <a:latin typeface="Arial"/>
              <a:ea typeface="Arial"/>
              <a:cs typeface="Arial"/>
              <a:sym typeface="Arial"/>
            </a:endParaRPr>
          </a:p>
          <a:p>
            <a:pPr indent="-295433" lvl="1" marL="914400" rtl="0" algn="l">
              <a:lnSpc>
                <a:spcPct val="95000"/>
              </a:lnSpc>
              <a:spcBef>
                <a:spcPts val="0"/>
              </a:spcBef>
              <a:spcAft>
                <a:spcPts val="0"/>
              </a:spcAft>
              <a:buClr>
                <a:srgbClr val="000000"/>
              </a:buClr>
              <a:buSzPts val="1053"/>
              <a:buFont typeface="Arial"/>
              <a:buChar char="○"/>
            </a:pPr>
            <a:r>
              <a:rPr lang="ro" sz="1052">
                <a:solidFill>
                  <a:srgbClr val="000000"/>
                </a:solidFill>
                <a:latin typeface="Arial"/>
                <a:ea typeface="Arial"/>
                <a:cs typeface="Arial"/>
                <a:sym typeface="Arial"/>
              </a:rPr>
              <a:t>Des </a:t>
            </a:r>
            <a:r>
              <a:rPr b="1" lang="ro" sz="1052">
                <a:solidFill>
                  <a:srgbClr val="000000"/>
                </a:solidFill>
                <a:latin typeface="Arial"/>
                <a:ea typeface="Arial"/>
                <a:cs typeface="Arial"/>
                <a:sym typeface="Arial"/>
              </a:rPr>
              <a:t>modifications chimiques</a:t>
            </a:r>
            <a:r>
              <a:rPr lang="ro" sz="1052">
                <a:solidFill>
                  <a:srgbClr val="000000"/>
                </a:solidFill>
                <a:latin typeface="Arial"/>
                <a:ea typeface="Arial"/>
                <a:cs typeface="Arial"/>
                <a:sym typeface="Arial"/>
              </a:rPr>
              <a:t> (bases endommagées, pontages ADN-protéines).</a:t>
            </a:r>
            <a:endParaRPr sz="1052">
              <a:solidFill>
                <a:srgbClr val="000000"/>
              </a:solidFill>
              <a:latin typeface="Arial"/>
              <a:ea typeface="Arial"/>
              <a:cs typeface="Arial"/>
              <a:sym typeface="Arial"/>
            </a:endParaRPr>
          </a:p>
          <a:p>
            <a:pPr indent="-295433" lvl="0" marL="457200" rtl="0" algn="l">
              <a:lnSpc>
                <a:spcPct val="95000"/>
              </a:lnSpc>
              <a:spcBef>
                <a:spcPts val="0"/>
              </a:spcBef>
              <a:spcAft>
                <a:spcPts val="0"/>
              </a:spcAft>
              <a:buClr>
                <a:srgbClr val="000000"/>
              </a:buClr>
              <a:buSzPts val="1053"/>
              <a:buFont typeface="Arial"/>
              <a:buChar char="●"/>
            </a:pPr>
            <a:r>
              <a:rPr b="1" lang="ro" sz="1052">
                <a:solidFill>
                  <a:srgbClr val="000000"/>
                </a:solidFill>
                <a:latin typeface="Arial"/>
                <a:ea typeface="Arial"/>
                <a:cs typeface="Arial"/>
                <a:sym typeface="Arial"/>
              </a:rPr>
              <a:t>Conséquences biologiques :</a:t>
            </a:r>
            <a:br>
              <a:rPr b="1" lang="ro" sz="1052">
                <a:solidFill>
                  <a:srgbClr val="000000"/>
                </a:solidFill>
                <a:latin typeface="Arial"/>
                <a:ea typeface="Arial"/>
                <a:cs typeface="Arial"/>
                <a:sym typeface="Arial"/>
              </a:rPr>
            </a:br>
            <a:r>
              <a:rPr lang="ro" sz="1052">
                <a:solidFill>
                  <a:srgbClr val="000000"/>
                </a:solidFill>
                <a:latin typeface="Arial"/>
                <a:ea typeface="Arial"/>
                <a:cs typeface="Arial"/>
                <a:sym typeface="Arial"/>
              </a:rPr>
              <a:t>Si les lésions ne sont pas réparées correctement, cela peut entraîner :</a:t>
            </a:r>
            <a:endParaRPr sz="1052">
              <a:solidFill>
                <a:srgbClr val="000000"/>
              </a:solidFill>
              <a:latin typeface="Arial"/>
              <a:ea typeface="Arial"/>
              <a:cs typeface="Arial"/>
              <a:sym typeface="Arial"/>
            </a:endParaRPr>
          </a:p>
          <a:p>
            <a:pPr indent="-295433" lvl="1" marL="914400" rtl="0" algn="l">
              <a:lnSpc>
                <a:spcPct val="95000"/>
              </a:lnSpc>
              <a:spcBef>
                <a:spcPts val="0"/>
              </a:spcBef>
              <a:spcAft>
                <a:spcPts val="0"/>
              </a:spcAft>
              <a:buClr>
                <a:srgbClr val="000000"/>
              </a:buClr>
              <a:buSzPts val="1053"/>
              <a:buFont typeface="Arial"/>
              <a:buChar char="○"/>
            </a:pPr>
            <a:r>
              <a:rPr b="1" lang="ro" sz="1052">
                <a:solidFill>
                  <a:srgbClr val="000000"/>
                </a:solidFill>
                <a:latin typeface="Arial"/>
                <a:ea typeface="Arial"/>
                <a:cs typeface="Arial"/>
                <a:sym typeface="Arial"/>
              </a:rPr>
              <a:t>Mutations</a:t>
            </a:r>
            <a:r>
              <a:rPr lang="ro" sz="1052">
                <a:solidFill>
                  <a:srgbClr val="000000"/>
                </a:solidFill>
                <a:latin typeface="Arial"/>
                <a:ea typeface="Arial"/>
                <a:cs typeface="Arial"/>
                <a:sym typeface="Arial"/>
              </a:rPr>
              <a:t> (erreurs dans la réparation).</a:t>
            </a:r>
            <a:endParaRPr sz="1052">
              <a:solidFill>
                <a:srgbClr val="000000"/>
              </a:solidFill>
              <a:latin typeface="Arial"/>
              <a:ea typeface="Arial"/>
              <a:cs typeface="Arial"/>
              <a:sym typeface="Arial"/>
            </a:endParaRPr>
          </a:p>
          <a:p>
            <a:pPr indent="-295433" lvl="1" marL="914400" rtl="0" algn="l">
              <a:lnSpc>
                <a:spcPct val="95000"/>
              </a:lnSpc>
              <a:spcBef>
                <a:spcPts val="0"/>
              </a:spcBef>
              <a:spcAft>
                <a:spcPts val="0"/>
              </a:spcAft>
              <a:buClr>
                <a:srgbClr val="000000"/>
              </a:buClr>
              <a:buSzPts val="1053"/>
              <a:buFont typeface="Arial"/>
              <a:buChar char="○"/>
            </a:pPr>
            <a:r>
              <a:rPr b="1" lang="ro" sz="1052">
                <a:solidFill>
                  <a:srgbClr val="000000"/>
                </a:solidFill>
                <a:latin typeface="Arial"/>
                <a:ea typeface="Arial"/>
                <a:cs typeface="Arial"/>
                <a:sym typeface="Arial"/>
              </a:rPr>
              <a:t>Arrêt du cycle cellulaire</a:t>
            </a:r>
            <a:r>
              <a:rPr lang="ro" sz="1052">
                <a:solidFill>
                  <a:srgbClr val="000000"/>
                </a:solidFill>
                <a:latin typeface="Arial"/>
                <a:ea typeface="Arial"/>
                <a:cs typeface="Arial"/>
                <a:sym typeface="Arial"/>
              </a:rPr>
              <a:t> (blocage de la division).</a:t>
            </a:r>
            <a:endParaRPr sz="1052">
              <a:solidFill>
                <a:srgbClr val="000000"/>
              </a:solidFill>
              <a:latin typeface="Arial"/>
              <a:ea typeface="Arial"/>
              <a:cs typeface="Arial"/>
              <a:sym typeface="Arial"/>
            </a:endParaRPr>
          </a:p>
          <a:p>
            <a:pPr indent="-295433" lvl="1" marL="914400" rtl="0" algn="l">
              <a:lnSpc>
                <a:spcPct val="95000"/>
              </a:lnSpc>
              <a:spcBef>
                <a:spcPts val="0"/>
              </a:spcBef>
              <a:spcAft>
                <a:spcPts val="0"/>
              </a:spcAft>
              <a:buClr>
                <a:srgbClr val="000000"/>
              </a:buClr>
              <a:buSzPts val="1053"/>
              <a:buFont typeface="Arial"/>
              <a:buChar char="○"/>
            </a:pPr>
            <a:r>
              <a:rPr b="1" lang="ro" sz="1052">
                <a:solidFill>
                  <a:srgbClr val="000000"/>
                </a:solidFill>
                <a:latin typeface="Arial"/>
                <a:ea typeface="Arial"/>
                <a:cs typeface="Arial"/>
                <a:sym typeface="Arial"/>
              </a:rPr>
              <a:t>Mort cellulaire</a:t>
            </a:r>
            <a:r>
              <a:rPr lang="ro" sz="1052">
                <a:solidFill>
                  <a:srgbClr val="000000"/>
                </a:solidFill>
                <a:latin typeface="Arial"/>
                <a:ea typeface="Arial"/>
                <a:cs typeface="Arial"/>
                <a:sym typeface="Arial"/>
              </a:rPr>
              <a:t> (par apoptose ou nécrose).</a:t>
            </a:r>
            <a:endParaRPr sz="1052">
              <a:solidFill>
                <a:srgbClr val="000000"/>
              </a:solidFill>
              <a:latin typeface="Arial"/>
              <a:ea typeface="Arial"/>
              <a:cs typeface="Arial"/>
              <a:sym typeface="Arial"/>
            </a:endParaRPr>
          </a:p>
          <a:p>
            <a:pPr indent="0" lvl="0" marL="0" rtl="0" algn="l">
              <a:lnSpc>
                <a:spcPct val="95000"/>
              </a:lnSpc>
              <a:spcBef>
                <a:spcPts val="1200"/>
              </a:spcBef>
              <a:spcAft>
                <a:spcPts val="0"/>
              </a:spcAft>
              <a:buSzPts val="852"/>
              <a:buNone/>
            </a:pPr>
            <a:r>
              <a:rPr lang="ro" sz="1052">
                <a:solidFill>
                  <a:srgbClr val="000000"/>
                </a:solidFill>
                <a:latin typeface="Arial"/>
                <a:ea typeface="Arial"/>
                <a:cs typeface="Arial"/>
                <a:sym typeface="Arial"/>
              </a:rPr>
              <a:t>✅ </a:t>
            </a:r>
            <a:r>
              <a:rPr b="1" lang="ro" sz="1052">
                <a:solidFill>
                  <a:srgbClr val="000000"/>
                </a:solidFill>
                <a:latin typeface="Arial"/>
                <a:ea typeface="Arial"/>
                <a:cs typeface="Arial"/>
                <a:sym typeface="Arial"/>
              </a:rPr>
              <a:t>Particularité :</a:t>
            </a:r>
            <a:endParaRPr b="1" sz="1052">
              <a:solidFill>
                <a:srgbClr val="000000"/>
              </a:solidFill>
              <a:latin typeface="Arial"/>
              <a:ea typeface="Arial"/>
              <a:cs typeface="Arial"/>
              <a:sym typeface="Arial"/>
            </a:endParaRPr>
          </a:p>
          <a:p>
            <a:pPr indent="-295433" lvl="0" marL="457200" rtl="0" algn="l">
              <a:lnSpc>
                <a:spcPct val="95000"/>
              </a:lnSpc>
              <a:spcBef>
                <a:spcPts val="1200"/>
              </a:spcBef>
              <a:spcAft>
                <a:spcPts val="0"/>
              </a:spcAft>
              <a:buClr>
                <a:srgbClr val="000000"/>
              </a:buClr>
              <a:buSzPts val="1053"/>
              <a:buFont typeface="Arial"/>
              <a:buChar char="●"/>
            </a:pPr>
            <a:r>
              <a:rPr lang="ro" sz="1052">
                <a:solidFill>
                  <a:srgbClr val="000000"/>
                </a:solidFill>
                <a:latin typeface="Arial"/>
                <a:ea typeface="Arial"/>
                <a:cs typeface="Arial"/>
                <a:sym typeface="Arial"/>
              </a:rPr>
              <a:t>L’effet direct est </a:t>
            </a:r>
            <a:r>
              <a:rPr b="1" lang="ro" sz="1052">
                <a:solidFill>
                  <a:srgbClr val="000000"/>
                </a:solidFill>
                <a:latin typeface="Arial"/>
                <a:ea typeface="Arial"/>
                <a:cs typeface="Arial"/>
                <a:sym typeface="Arial"/>
              </a:rPr>
              <a:t>minoritaire</a:t>
            </a:r>
            <a:r>
              <a:rPr lang="ro" sz="1052">
                <a:solidFill>
                  <a:srgbClr val="000000"/>
                </a:solidFill>
                <a:latin typeface="Arial"/>
                <a:ea typeface="Arial"/>
                <a:cs typeface="Arial"/>
                <a:sym typeface="Arial"/>
              </a:rPr>
              <a:t> chez les mammifères (environ </a:t>
            </a:r>
            <a:r>
              <a:rPr b="1" lang="ro" sz="1052">
                <a:solidFill>
                  <a:srgbClr val="000000"/>
                </a:solidFill>
                <a:latin typeface="Arial"/>
                <a:ea typeface="Arial"/>
                <a:cs typeface="Arial"/>
                <a:sym typeface="Arial"/>
              </a:rPr>
              <a:t>30 %</a:t>
            </a:r>
            <a:r>
              <a:rPr lang="ro" sz="1052">
                <a:solidFill>
                  <a:srgbClr val="000000"/>
                </a:solidFill>
                <a:latin typeface="Arial"/>
                <a:ea typeface="Arial"/>
                <a:cs typeface="Arial"/>
                <a:sym typeface="Arial"/>
              </a:rPr>
              <a:t> des lésions).</a:t>
            </a:r>
            <a:endParaRPr sz="1052">
              <a:solidFill>
                <a:srgbClr val="000000"/>
              </a:solidFill>
              <a:latin typeface="Arial"/>
              <a:ea typeface="Arial"/>
              <a:cs typeface="Arial"/>
              <a:sym typeface="Arial"/>
            </a:endParaRPr>
          </a:p>
          <a:p>
            <a:pPr indent="-295433" lvl="0" marL="457200" rtl="0" algn="l">
              <a:lnSpc>
                <a:spcPct val="95000"/>
              </a:lnSpc>
              <a:spcBef>
                <a:spcPts val="0"/>
              </a:spcBef>
              <a:spcAft>
                <a:spcPts val="0"/>
              </a:spcAft>
              <a:buClr>
                <a:srgbClr val="000000"/>
              </a:buClr>
              <a:buSzPts val="1053"/>
              <a:buFont typeface="Arial"/>
              <a:buChar char="●"/>
            </a:pPr>
            <a:r>
              <a:rPr lang="ro" sz="1052">
                <a:solidFill>
                  <a:srgbClr val="000000"/>
                </a:solidFill>
                <a:latin typeface="Arial"/>
                <a:ea typeface="Arial"/>
                <a:cs typeface="Arial"/>
                <a:sym typeface="Arial"/>
              </a:rPr>
              <a:t>Plus fréquent avec des </a:t>
            </a:r>
            <a:r>
              <a:rPr b="1" lang="ro" sz="1052">
                <a:solidFill>
                  <a:srgbClr val="000000"/>
                </a:solidFill>
                <a:latin typeface="Arial"/>
                <a:ea typeface="Arial"/>
                <a:cs typeface="Arial"/>
                <a:sym typeface="Arial"/>
              </a:rPr>
              <a:t>rayonnements denses</a:t>
            </a:r>
            <a:r>
              <a:rPr lang="ro" sz="1052">
                <a:solidFill>
                  <a:srgbClr val="000000"/>
                </a:solidFill>
                <a:latin typeface="Arial"/>
                <a:ea typeface="Arial"/>
                <a:cs typeface="Arial"/>
                <a:sym typeface="Arial"/>
              </a:rPr>
              <a:t> (ex : particules alpha, protons).</a:t>
            </a:r>
            <a:endParaRPr sz="1052">
              <a:solidFill>
                <a:srgbClr val="000000"/>
              </a:solidFill>
              <a:latin typeface="Arial"/>
              <a:ea typeface="Arial"/>
              <a:cs typeface="Arial"/>
              <a:sym typeface="Arial"/>
            </a:endParaRPr>
          </a:p>
          <a:p>
            <a:pPr indent="0" lvl="0" marL="0" rtl="0" algn="l">
              <a:lnSpc>
                <a:spcPct val="95000"/>
              </a:lnSpc>
              <a:spcBef>
                <a:spcPts val="1200"/>
              </a:spcBef>
              <a:spcAft>
                <a:spcPts val="1200"/>
              </a:spcAft>
              <a:buSzPts val="852"/>
              <a:buNone/>
            </a:pPr>
            <a:r>
              <a:t/>
            </a:r>
            <a:endParaRPr sz="1595"/>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6"/>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ro" sz="1900">
                <a:solidFill>
                  <a:srgbClr val="000000"/>
                </a:solidFill>
                <a:latin typeface="Arial"/>
                <a:ea typeface="Arial"/>
                <a:cs typeface="Arial"/>
                <a:sym typeface="Arial"/>
              </a:rPr>
              <a:t>💧 </a:t>
            </a:r>
            <a:r>
              <a:rPr b="1" lang="ro" sz="1900">
                <a:solidFill>
                  <a:srgbClr val="000000"/>
                </a:solidFill>
                <a:latin typeface="Arial"/>
                <a:ea typeface="Arial"/>
                <a:cs typeface="Arial"/>
                <a:sym typeface="Arial"/>
              </a:rPr>
              <a:t>2. L'effet indirect :</a:t>
            </a:r>
            <a:endParaRPr sz="3800"/>
          </a:p>
        </p:txBody>
      </p:sp>
      <p:sp>
        <p:nvSpPr>
          <p:cNvPr id="104" name="Google Shape;104;p16"/>
          <p:cNvSpPr txBox="1"/>
          <p:nvPr>
            <p:ph idx="1" type="body"/>
          </p:nvPr>
        </p:nvSpPr>
        <p:spPr>
          <a:xfrm>
            <a:off x="311700" y="757625"/>
            <a:ext cx="8520600" cy="3339000"/>
          </a:xfrm>
          <a:prstGeom prst="rect">
            <a:avLst/>
          </a:prstGeom>
          <a:noFill/>
          <a:ln>
            <a:noFill/>
          </a:ln>
        </p:spPr>
        <p:txBody>
          <a:bodyPr anchorCtr="0" anchor="t" bIns="91425" lIns="91425" spcFirstLastPara="1" rIns="91425" wrap="square" tIns="91425">
            <a:noAutofit/>
          </a:bodyPr>
          <a:lstStyle/>
          <a:p>
            <a:pPr indent="-301783" lvl="0" marL="457200" rtl="0" algn="l">
              <a:lnSpc>
                <a:spcPct val="95000"/>
              </a:lnSpc>
              <a:spcBef>
                <a:spcPts val="1200"/>
              </a:spcBef>
              <a:spcAft>
                <a:spcPts val="0"/>
              </a:spcAft>
              <a:buClr>
                <a:srgbClr val="000000"/>
              </a:buClr>
              <a:buSzPts val="1153"/>
              <a:buFont typeface="Arial"/>
              <a:buChar char="●"/>
            </a:pPr>
            <a:r>
              <a:rPr b="1" lang="ro" sz="1152">
                <a:solidFill>
                  <a:srgbClr val="000000"/>
                </a:solidFill>
                <a:latin typeface="Arial"/>
                <a:ea typeface="Arial"/>
                <a:cs typeface="Arial"/>
                <a:sym typeface="Arial"/>
              </a:rPr>
              <a:t>Définition :</a:t>
            </a:r>
            <a:br>
              <a:rPr b="1" lang="ro" sz="1152">
                <a:solidFill>
                  <a:srgbClr val="000000"/>
                </a:solidFill>
                <a:latin typeface="Arial"/>
                <a:ea typeface="Arial"/>
                <a:cs typeface="Arial"/>
                <a:sym typeface="Arial"/>
              </a:rPr>
            </a:br>
            <a:r>
              <a:rPr lang="ro" sz="1152">
                <a:solidFill>
                  <a:srgbClr val="000000"/>
                </a:solidFill>
                <a:latin typeface="Arial"/>
                <a:ea typeface="Arial"/>
                <a:cs typeface="Arial"/>
                <a:sym typeface="Arial"/>
              </a:rPr>
              <a:t>L’effet indirect résulte de l’</a:t>
            </a:r>
            <a:r>
              <a:rPr b="1" lang="ro" sz="1152">
                <a:solidFill>
                  <a:srgbClr val="000000"/>
                </a:solidFill>
                <a:latin typeface="Arial"/>
                <a:ea typeface="Arial"/>
                <a:cs typeface="Arial"/>
                <a:sym typeface="Arial"/>
              </a:rPr>
              <a:t>ionisation des molécules d’eau</a:t>
            </a:r>
            <a:r>
              <a:rPr lang="ro" sz="1152">
                <a:solidFill>
                  <a:srgbClr val="000000"/>
                </a:solidFill>
                <a:latin typeface="Arial"/>
                <a:ea typeface="Arial"/>
                <a:cs typeface="Arial"/>
                <a:sym typeface="Arial"/>
              </a:rPr>
              <a:t> entourant l’ADN, conduisant à la production de </a:t>
            </a:r>
            <a:r>
              <a:rPr b="1" lang="ro" sz="1152">
                <a:solidFill>
                  <a:srgbClr val="000000"/>
                </a:solidFill>
                <a:latin typeface="Arial"/>
                <a:ea typeface="Arial"/>
                <a:cs typeface="Arial"/>
                <a:sym typeface="Arial"/>
              </a:rPr>
              <a:t>radicaux libres</a:t>
            </a:r>
            <a:r>
              <a:rPr lang="ro" sz="1152">
                <a:solidFill>
                  <a:srgbClr val="000000"/>
                </a:solidFill>
                <a:latin typeface="Arial"/>
                <a:ea typeface="Arial"/>
                <a:cs typeface="Arial"/>
                <a:sym typeface="Arial"/>
              </a:rPr>
              <a:t> qui endommagent l’ADN.</a:t>
            </a:r>
            <a:endParaRPr sz="1152">
              <a:solidFill>
                <a:srgbClr val="000000"/>
              </a:solidFill>
              <a:latin typeface="Arial"/>
              <a:ea typeface="Arial"/>
              <a:cs typeface="Arial"/>
              <a:sym typeface="Arial"/>
            </a:endParaRPr>
          </a:p>
          <a:p>
            <a:pPr indent="-301783" lvl="0" marL="457200" rtl="0" algn="l">
              <a:lnSpc>
                <a:spcPct val="95000"/>
              </a:lnSpc>
              <a:spcBef>
                <a:spcPts val="0"/>
              </a:spcBef>
              <a:spcAft>
                <a:spcPts val="0"/>
              </a:spcAft>
              <a:buClr>
                <a:srgbClr val="000000"/>
              </a:buClr>
              <a:buSzPts val="1153"/>
              <a:buFont typeface="Arial"/>
              <a:buChar char="●"/>
            </a:pPr>
            <a:r>
              <a:rPr b="1" lang="ro" sz="1152">
                <a:solidFill>
                  <a:srgbClr val="000000"/>
                </a:solidFill>
                <a:latin typeface="Arial"/>
                <a:ea typeface="Arial"/>
                <a:cs typeface="Arial"/>
                <a:sym typeface="Arial"/>
              </a:rPr>
              <a:t>Mécanisme :</a:t>
            </a:r>
            <a:endParaRPr b="1" sz="1152">
              <a:solidFill>
                <a:srgbClr val="000000"/>
              </a:solidFill>
              <a:latin typeface="Arial"/>
              <a:ea typeface="Arial"/>
              <a:cs typeface="Arial"/>
              <a:sym typeface="Arial"/>
            </a:endParaRPr>
          </a:p>
          <a:p>
            <a:pPr indent="-301783" lvl="1" marL="914400" rtl="0" algn="l">
              <a:lnSpc>
                <a:spcPct val="95000"/>
              </a:lnSpc>
              <a:spcBef>
                <a:spcPts val="0"/>
              </a:spcBef>
              <a:spcAft>
                <a:spcPts val="0"/>
              </a:spcAft>
              <a:buClr>
                <a:srgbClr val="000000"/>
              </a:buClr>
              <a:buSzPts val="1153"/>
              <a:buFont typeface="Arial"/>
              <a:buChar char="○"/>
            </a:pPr>
            <a:r>
              <a:rPr lang="ro" sz="1152">
                <a:solidFill>
                  <a:srgbClr val="000000"/>
                </a:solidFill>
                <a:latin typeface="Arial"/>
                <a:ea typeface="Arial"/>
                <a:cs typeface="Arial"/>
                <a:sym typeface="Arial"/>
              </a:rPr>
              <a:t>Les rayons ionisants interagissent avec les molécules d’</a:t>
            </a:r>
            <a:r>
              <a:rPr b="1" lang="ro" sz="1152">
                <a:solidFill>
                  <a:srgbClr val="000000"/>
                </a:solidFill>
                <a:latin typeface="Arial"/>
                <a:ea typeface="Arial"/>
                <a:cs typeface="Arial"/>
                <a:sym typeface="Arial"/>
              </a:rPr>
              <a:t>eau (H₂O)</a:t>
            </a:r>
            <a:r>
              <a:rPr lang="ro" sz="1152">
                <a:solidFill>
                  <a:srgbClr val="000000"/>
                </a:solidFill>
                <a:latin typeface="Arial"/>
                <a:ea typeface="Arial"/>
                <a:cs typeface="Arial"/>
                <a:sym typeface="Arial"/>
              </a:rPr>
              <a:t>, provoquant leur </a:t>
            </a:r>
            <a:r>
              <a:rPr b="1" lang="ro" sz="1152">
                <a:solidFill>
                  <a:srgbClr val="000000"/>
                </a:solidFill>
                <a:latin typeface="Arial"/>
                <a:ea typeface="Arial"/>
                <a:cs typeface="Arial"/>
                <a:sym typeface="Arial"/>
              </a:rPr>
              <a:t>radiolyse</a:t>
            </a:r>
            <a:r>
              <a:rPr lang="ro" sz="1152">
                <a:solidFill>
                  <a:srgbClr val="000000"/>
                </a:solidFill>
                <a:latin typeface="Arial"/>
                <a:ea typeface="Arial"/>
                <a:cs typeface="Arial"/>
                <a:sym typeface="Arial"/>
              </a:rPr>
              <a:t> (dissociation).</a:t>
            </a:r>
            <a:endParaRPr sz="1152">
              <a:solidFill>
                <a:srgbClr val="000000"/>
              </a:solidFill>
              <a:latin typeface="Arial"/>
              <a:ea typeface="Arial"/>
              <a:cs typeface="Arial"/>
              <a:sym typeface="Arial"/>
            </a:endParaRPr>
          </a:p>
          <a:p>
            <a:pPr indent="-301783" lvl="1" marL="914400" rtl="0" algn="l">
              <a:lnSpc>
                <a:spcPct val="95000"/>
              </a:lnSpc>
              <a:spcBef>
                <a:spcPts val="0"/>
              </a:spcBef>
              <a:spcAft>
                <a:spcPts val="0"/>
              </a:spcAft>
              <a:buClr>
                <a:srgbClr val="000000"/>
              </a:buClr>
              <a:buSzPts val="1153"/>
              <a:buFont typeface="Arial"/>
              <a:buChar char="○"/>
            </a:pPr>
            <a:r>
              <a:rPr lang="ro" sz="1152">
                <a:solidFill>
                  <a:srgbClr val="000000"/>
                </a:solidFill>
                <a:latin typeface="Arial"/>
                <a:ea typeface="Arial"/>
                <a:cs typeface="Arial"/>
                <a:sym typeface="Arial"/>
              </a:rPr>
              <a:t>Cette réaction produit des </a:t>
            </a:r>
            <a:r>
              <a:rPr b="1" lang="ro" sz="1152">
                <a:solidFill>
                  <a:srgbClr val="000000"/>
                </a:solidFill>
                <a:latin typeface="Arial"/>
                <a:ea typeface="Arial"/>
                <a:cs typeface="Arial"/>
                <a:sym typeface="Arial"/>
              </a:rPr>
              <a:t>espèces réactives de l’oxygène (ROS)</a:t>
            </a:r>
            <a:r>
              <a:rPr lang="ro" sz="1152">
                <a:solidFill>
                  <a:srgbClr val="000000"/>
                </a:solidFill>
                <a:latin typeface="Arial"/>
                <a:ea typeface="Arial"/>
                <a:cs typeface="Arial"/>
                <a:sym typeface="Arial"/>
              </a:rPr>
              <a:t>, notamment :</a:t>
            </a:r>
            <a:endParaRPr sz="1152">
              <a:solidFill>
                <a:srgbClr val="000000"/>
              </a:solidFill>
              <a:latin typeface="Arial"/>
              <a:ea typeface="Arial"/>
              <a:cs typeface="Arial"/>
              <a:sym typeface="Arial"/>
            </a:endParaRPr>
          </a:p>
          <a:p>
            <a:pPr indent="-301783" lvl="2" marL="1371600" rtl="0" algn="l">
              <a:lnSpc>
                <a:spcPct val="95000"/>
              </a:lnSpc>
              <a:spcBef>
                <a:spcPts val="0"/>
              </a:spcBef>
              <a:spcAft>
                <a:spcPts val="0"/>
              </a:spcAft>
              <a:buClr>
                <a:srgbClr val="000000"/>
              </a:buClr>
              <a:buSzPts val="1153"/>
              <a:buFont typeface="Arial"/>
              <a:buChar char="■"/>
            </a:pPr>
            <a:r>
              <a:rPr b="1" lang="ro" sz="1152">
                <a:solidFill>
                  <a:srgbClr val="000000"/>
                </a:solidFill>
                <a:latin typeface="Arial"/>
                <a:ea typeface="Arial"/>
                <a:cs typeface="Arial"/>
                <a:sym typeface="Arial"/>
              </a:rPr>
              <a:t>Radical hydroxyle (•OH)</a:t>
            </a:r>
            <a:r>
              <a:rPr lang="ro" sz="1152">
                <a:solidFill>
                  <a:srgbClr val="000000"/>
                </a:solidFill>
                <a:latin typeface="Arial"/>
                <a:ea typeface="Arial"/>
                <a:cs typeface="Arial"/>
                <a:sym typeface="Arial"/>
              </a:rPr>
              <a:t> (le plus toxique).</a:t>
            </a:r>
            <a:endParaRPr sz="1152">
              <a:solidFill>
                <a:srgbClr val="000000"/>
              </a:solidFill>
              <a:latin typeface="Arial"/>
              <a:ea typeface="Arial"/>
              <a:cs typeface="Arial"/>
              <a:sym typeface="Arial"/>
            </a:endParaRPr>
          </a:p>
          <a:p>
            <a:pPr indent="-301783" lvl="2" marL="1371600" rtl="0" algn="l">
              <a:lnSpc>
                <a:spcPct val="95000"/>
              </a:lnSpc>
              <a:spcBef>
                <a:spcPts val="0"/>
              </a:spcBef>
              <a:spcAft>
                <a:spcPts val="0"/>
              </a:spcAft>
              <a:buClr>
                <a:srgbClr val="000000"/>
              </a:buClr>
              <a:buSzPts val="1153"/>
              <a:buFont typeface="Arial"/>
              <a:buChar char="■"/>
            </a:pPr>
            <a:r>
              <a:rPr b="1" lang="ro" sz="1152">
                <a:solidFill>
                  <a:srgbClr val="000000"/>
                </a:solidFill>
                <a:latin typeface="Arial"/>
                <a:ea typeface="Arial"/>
                <a:cs typeface="Arial"/>
                <a:sym typeface="Arial"/>
              </a:rPr>
              <a:t>Ion hydronium (H₃O⁺)</a:t>
            </a:r>
            <a:r>
              <a:rPr lang="ro" sz="1152">
                <a:solidFill>
                  <a:srgbClr val="000000"/>
                </a:solidFill>
                <a:latin typeface="Arial"/>
                <a:ea typeface="Arial"/>
                <a:cs typeface="Arial"/>
                <a:sym typeface="Arial"/>
              </a:rPr>
              <a:t>.</a:t>
            </a:r>
            <a:endParaRPr sz="1152">
              <a:solidFill>
                <a:srgbClr val="000000"/>
              </a:solidFill>
              <a:latin typeface="Arial"/>
              <a:ea typeface="Arial"/>
              <a:cs typeface="Arial"/>
              <a:sym typeface="Arial"/>
            </a:endParaRPr>
          </a:p>
          <a:p>
            <a:pPr indent="-301783" lvl="2" marL="1371600" rtl="0" algn="l">
              <a:lnSpc>
                <a:spcPct val="95000"/>
              </a:lnSpc>
              <a:spcBef>
                <a:spcPts val="0"/>
              </a:spcBef>
              <a:spcAft>
                <a:spcPts val="0"/>
              </a:spcAft>
              <a:buClr>
                <a:srgbClr val="000000"/>
              </a:buClr>
              <a:buSzPts val="1153"/>
              <a:buFont typeface="Arial"/>
              <a:buChar char="■"/>
            </a:pPr>
            <a:r>
              <a:rPr b="1" lang="ro" sz="1152">
                <a:solidFill>
                  <a:srgbClr val="000000"/>
                </a:solidFill>
                <a:latin typeface="Arial"/>
                <a:ea typeface="Arial"/>
                <a:cs typeface="Arial"/>
                <a:sym typeface="Arial"/>
              </a:rPr>
              <a:t>Radical hydrogène (•H)</a:t>
            </a:r>
            <a:r>
              <a:rPr lang="ro" sz="1152">
                <a:solidFill>
                  <a:srgbClr val="000000"/>
                </a:solidFill>
                <a:latin typeface="Arial"/>
                <a:ea typeface="Arial"/>
                <a:cs typeface="Arial"/>
                <a:sym typeface="Arial"/>
              </a:rPr>
              <a:t>.</a:t>
            </a:r>
            <a:endParaRPr sz="1152">
              <a:solidFill>
                <a:srgbClr val="000000"/>
              </a:solidFill>
              <a:latin typeface="Arial"/>
              <a:ea typeface="Arial"/>
              <a:cs typeface="Arial"/>
              <a:sym typeface="Arial"/>
            </a:endParaRPr>
          </a:p>
          <a:p>
            <a:pPr indent="-301783" lvl="1" marL="914400" rtl="0" algn="l">
              <a:lnSpc>
                <a:spcPct val="95000"/>
              </a:lnSpc>
              <a:spcBef>
                <a:spcPts val="0"/>
              </a:spcBef>
              <a:spcAft>
                <a:spcPts val="0"/>
              </a:spcAft>
              <a:buClr>
                <a:srgbClr val="000000"/>
              </a:buClr>
              <a:buSzPts val="1153"/>
              <a:buFont typeface="Arial"/>
              <a:buChar char="○"/>
            </a:pPr>
            <a:r>
              <a:rPr lang="ro" sz="1152">
                <a:solidFill>
                  <a:srgbClr val="000000"/>
                </a:solidFill>
                <a:latin typeface="Arial"/>
                <a:ea typeface="Arial"/>
                <a:cs typeface="Arial"/>
                <a:sym typeface="Arial"/>
              </a:rPr>
              <a:t>Ces </a:t>
            </a:r>
            <a:r>
              <a:rPr b="1" lang="ro" sz="1152">
                <a:solidFill>
                  <a:srgbClr val="000000"/>
                </a:solidFill>
                <a:latin typeface="Arial"/>
                <a:ea typeface="Arial"/>
                <a:cs typeface="Arial"/>
                <a:sym typeface="Arial"/>
              </a:rPr>
              <a:t>radicaux libres</a:t>
            </a:r>
            <a:r>
              <a:rPr lang="ro" sz="1152">
                <a:solidFill>
                  <a:srgbClr val="000000"/>
                </a:solidFill>
                <a:latin typeface="Arial"/>
                <a:ea typeface="Arial"/>
                <a:cs typeface="Arial"/>
                <a:sym typeface="Arial"/>
              </a:rPr>
              <a:t> attaquent l’ADN en provoquant :</a:t>
            </a:r>
            <a:endParaRPr sz="1152">
              <a:solidFill>
                <a:srgbClr val="000000"/>
              </a:solidFill>
              <a:latin typeface="Arial"/>
              <a:ea typeface="Arial"/>
              <a:cs typeface="Arial"/>
              <a:sym typeface="Arial"/>
            </a:endParaRPr>
          </a:p>
          <a:p>
            <a:pPr indent="-301783" lvl="2" marL="1371600" rtl="0" algn="l">
              <a:lnSpc>
                <a:spcPct val="95000"/>
              </a:lnSpc>
              <a:spcBef>
                <a:spcPts val="0"/>
              </a:spcBef>
              <a:spcAft>
                <a:spcPts val="0"/>
              </a:spcAft>
              <a:buClr>
                <a:srgbClr val="000000"/>
              </a:buClr>
              <a:buSzPts val="1153"/>
              <a:buFont typeface="Arial"/>
              <a:buChar char="■"/>
            </a:pPr>
            <a:r>
              <a:rPr lang="ro" sz="1152">
                <a:solidFill>
                  <a:srgbClr val="000000"/>
                </a:solidFill>
                <a:latin typeface="Arial"/>
                <a:ea typeface="Arial"/>
                <a:cs typeface="Arial"/>
                <a:sym typeface="Arial"/>
              </a:rPr>
              <a:t>Des </a:t>
            </a:r>
            <a:r>
              <a:rPr b="1" lang="ro" sz="1152">
                <a:solidFill>
                  <a:srgbClr val="000000"/>
                </a:solidFill>
                <a:latin typeface="Arial"/>
                <a:ea typeface="Arial"/>
                <a:cs typeface="Arial"/>
                <a:sym typeface="Arial"/>
              </a:rPr>
              <a:t>cassures simple et double brin</a:t>
            </a:r>
            <a:r>
              <a:rPr lang="ro" sz="1152">
                <a:solidFill>
                  <a:srgbClr val="000000"/>
                </a:solidFill>
                <a:latin typeface="Arial"/>
                <a:ea typeface="Arial"/>
                <a:cs typeface="Arial"/>
                <a:sym typeface="Arial"/>
              </a:rPr>
              <a:t>.</a:t>
            </a:r>
            <a:endParaRPr sz="1152">
              <a:solidFill>
                <a:srgbClr val="000000"/>
              </a:solidFill>
              <a:latin typeface="Arial"/>
              <a:ea typeface="Arial"/>
              <a:cs typeface="Arial"/>
              <a:sym typeface="Arial"/>
            </a:endParaRPr>
          </a:p>
          <a:p>
            <a:pPr indent="-301783" lvl="2" marL="1371600" rtl="0" algn="l">
              <a:lnSpc>
                <a:spcPct val="95000"/>
              </a:lnSpc>
              <a:spcBef>
                <a:spcPts val="0"/>
              </a:spcBef>
              <a:spcAft>
                <a:spcPts val="0"/>
              </a:spcAft>
              <a:buClr>
                <a:srgbClr val="000000"/>
              </a:buClr>
              <a:buSzPts val="1153"/>
              <a:buFont typeface="Arial"/>
              <a:buChar char="■"/>
            </a:pPr>
            <a:r>
              <a:rPr lang="ro" sz="1152">
                <a:solidFill>
                  <a:srgbClr val="000000"/>
                </a:solidFill>
                <a:latin typeface="Arial"/>
                <a:ea typeface="Arial"/>
                <a:cs typeface="Arial"/>
                <a:sym typeface="Arial"/>
              </a:rPr>
              <a:t>Des </a:t>
            </a:r>
            <a:r>
              <a:rPr b="1" lang="ro" sz="1152">
                <a:solidFill>
                  <a:srgbClr val="000000"/>
                </a:solidFill>
                <a:latin typeface="Arial"/>
                <a:ea typeface="Arial"/>
                <a:cs typeface="Arial"/>
                <a:sym typeface="Arial"/>
              </a:rPr>
              <a:t>altérations des bases</a:t>
            </a:r>
            <a:r>
              <a:rPr lang="ro" sz="1152">
                <a:solidFill>
                  <a:srgbClr val="000000"/>
                </a:solidFill>
                <a:latin typeface="Arial"/>
                <a:ea typeface="Arial"/>
                <a:cs typeface="Arial"/>
                <a:sym typeface="Arial"/>
              </a:rPr>
              <a:t> (mutation).</a:t>
            </a:r>
            <a:endParaRPr sz="1152">
              <a:solidFill>
                <a:srgbClr val="000000"/>
              </a:solidFill>
              <a:latin typeface="Arial"/>
              <a:ea typeface="Arial"/>
              <a:cs typeface="Arial"/>
              <a:sym typeface="Arial"/>
            </a:endParaRPr>
          </a:p>
          <a:p>
            <a:pPr indent="-301783" lvl="2" marL="1371600" rtl="0" algn="l">
              <a:lnSpc>
                <a:spcPct val="95000"/>
              </a:lnSpc>
              <a:spcBef>
                <a:spcPts val="0"/>
              </a:spcBef>
              <a:spcAft>
                <a:spcPts val="0"/>
              </a:spcAft>
              <a:buClr>
                <a:srgbClr val="000000"/>
              </a:buClr>
              <a:buSzPts val="1153"/>
              <a:buFont typeface="Arial"/>
              <a:buChar char="■"/>
            </a:pPr>
            <a:r>
              <a:rPr lang="ro" sz="1152">
                <a:solidFill>
                  <a:srgbClr val="000000"/>
                </a:solidFill>
                <a:latin typeface="Arial"/>
                <a:ea typeface="Arial"/>
                <a:cs typeface="Arial"/>
                <a:sym typeface="Arial"/>
              </a:rPr>
              <a:t>Des </a:t>
            </a:r>
            <a:r>
              <a:rPr b="1" lang="ro" sz="1152">
                <a:solidFill>
                  <a:srgbClr val="000000"/>
                </a:solidFill>
                <a:latin typeface="Arial"/>
                <a:ea typeface="Arial"/>
                <a:cs typeface="Arial"/>
                <a:sym typeface="Arial"/>
              </a:rPr>
              <a:t>pontages intra- et inter-brins</a:t>
            </a:r>
            <a:r>
              <a:rPr lang="ro" sz="1152">
                <a:solidFill>
                  <a:srgbClr val="000000"/>
                </a:solidFill>
                <a:latin typeface="Arial"/>
                <a:ea typeface="Arial"/>
                <a:cs typeface="Arial"/>
                <a:sym typeface="Arial"/>
              </a:rPr>
              <a:t> (liaisons anormales entre les brins d’ADN).</a:t>
            </a:r>
            <a:endParaRPr sz="1152">
              <a:solidFill>
                <a:srgbClr val="000000"/>
              </a:solidFill>
              <a:latin typeface="Arial"/>
              <a:ea typeface="Arial"/>
              <a:cs typeface="Arial"/>
              <a:sym typeface="Arial"/>
            </a:endParaRPr>
          </a:p>
          <a:p>
            <a:pPr indent="-301783" lvl="0" marL="457200" rtl="0" algn="l">
              <a:lnSpc>
                <a:spcPct val="95000"/>
              </a:lnSpc>
              <a:spcBef>
                <a:spcPts val="0"/>
              </a:spcBef>
              <a:spcAft>
                <a:spcPts val="0"/>
              </a:spcAft>
              <a:buClr>
                <a:srgbClr val="000000"/>
              </a:buClr>
              <a:buSzPts val="1153"/>
              <a:buFont typeface="Arial"/>
              <a:buChar char="●"/>
            </a:pPr>
            <a:r>
              <a:rPr b="1" lang="ro" sz="1152">
                <a:solidFill>
                  <a:srgbClr val="000000"/>
                </a:solidFill>
                <a:latin typeface="Arial"/>
                <a:ea typeface="Arial"/>
                <a:cs typeface="Arial"/>
                <a:sym typeface="Arial"/>
              </a:rPr>
              <a:t>Conséquences biologiques :</a:t>
            </a:r>
            <a:br>
              <a:rPr b="1" lang="ro" sz="1152">
                <a:solidFill>
                  <a:srgbClr val="000000"/>
                </a:solidFill>
                <a:latin typeface="Arial"/>
                <a:ea typeface="Arial"/>
                <a:cs typeface="Arial"/>
                <a:sym typeface="Arial"/>
              </a:rPr>
            </a:br>
            <a:r>
              <a:rPr lang="ro" sz="1152">
                <a:solidFill>
                  <a:srgbClr val="000000"/>
                </a:solidFill>
                <a:latin typeface="Arial"/>
                <a:ea typeface="Arial"/>
                <a:cs typeface="Arial"/>
                <a:sym typeface="Arial"/>
              </a:rPr>
              <a:t>Si ces dommages ne sont pas correctement réparés :</a:t>
            </a:r>
            <a:endParaRPr sz="1152">
              <a:solidFill>
                <a:srgbClr val="000000"/>
              </a:solidFill>
              <a:latin typeface="Arial"/>
              <a:ea typeface="Arial"/>
              <a:cs typeface="Arial"/>
              <a:sym typeface="Arial"/>
            </a:endParaRPr>
          </a:p>
          <a:p>
            <a:pPr indent="-301783" lvl="1" marL="914400" rtl="0" algn="l">
              <a:lnSpc>
                <a:spcPct val="95000"/>
              </a:lnSpc>
              <a:spcBef>
                <a:spcPts val="0"/>
              </a:spcBef>
              <a:spcAft>
                <a:spcPts val="0"/>
              </a:spcAft>
              <a:buClr>
                <a:srgbClr val="000000"/>
              </a:buClr>
              <a:buSzPts val="1153"/>
              <a:buFont typeface="Arial"/>
              <a:buChar char="○"/>
            </a:pPr>
            <a:r>
              <a:rPr b="1" lang="ro" sz="1152">
                <a:solidFill>
                  <a:srgbClr val="000000"/>
                </a:solidFill>
                <a:latin typeface="Arial"/>
                <a:ea typeface="Arial"/>
                <a:cs typeface="Arial"/>
                <a:sym typeface="Arial"/>
              </a:rPr>
              <a:t>Apoptose</a:t>
            </a:r>
            <a:r>
              <a:rPr lang="ro" sz="1152">
                <a:solidFill>
                  <a:srgbClr val="000000"/>
                </a:solidFill>
                <a:latin typeface="Arial"/>
                <a:ea typeface="Arial"/>
                <a:cs typeface="Arial"/>
                <a:sym typeface="Arial"/>
              </a:rPr>
              <a:t> (mort cellulaire programmée).</a:t>
            </a:r>
            <a:endParaRPr sz="1152">
              <a:solidFill>
                <a:srgbClr val="000000"/>
              </a:solidFill>
              <a:latin typeface="Arial"/>
              <a:ea typeface="Arial"/>
              <a:cs typeface="Arial"/>
              <a:sym typeface="Arial"/>
            </a:endParaRPr>
          </a:p>
          <a:p>
            <a:pPr indent="-301783" lvl="1" marL="914400" rtl="0" algn="l">
              <a:lnSpc>
                <a:spcPct val="95000"/>
              </a:lnSpc>
              <a:spcBef>
                <a:spcPts val="0"/>
              </a:spcBef>
              <a:spcAft>
                <a:spcPts val="0"/>
              </a:spcAft>
              <a:buClr>
                <a:srgbClr val="000000"/>
              </a:buClr>
              <a:buSzPts val="1153"/>
              <a:buFont typeface="Arial"/>
              <a:buChar char="○"/>
            </a:pPr>
            <a:r>
              <a:rPr b="1" lang="ro" sz="1152">
                <a:solidFill>
                  <a:srgbClr val="000000"/>
                </a:solidFill>
                <a:latin typeface="Arial"/>
                <a:ea typeface="Arial"/>
                <a:cs typeface="Arial"/>
                <a:sym typeface="Arial"/>
              </a:rPr>
              <a:t>Instabilité génomique</a:t>
            </a:r>
            <a:r>
              <a:rPr lang="ro" sz="1152">
                <a:solidFill>
                  <a:srgbClr val="000000"/>
                </a:solidFill>
                <a:latin typeface="Arial"/>
                <a:ea typeface="Arial"/>
                <a:cs typeface="Arial"/>
                <a:sym typeface="Arial"/>
              </a:rPr>
              <a:t> (risque de cancer secondaire).</a:t>
            </a:r>
            <a:endParaRPr sz="1152">
              <a:solidFill>
                <a:srgbClr val="000000"/>
              </a:solidFill>
              <a:latin typeface="Arial"/>
              <a:ea typeface="Arial"/>
              <a:cs typeface="Arial"/>
              <a:sym typeface="Arial"/>
            </a:endParaRPr>
          </a:p>
          <a:p>
            <a:pPr indent="-301783" lvl="1" marL="914400" rtl="0" algn="l">
              <a:lnSpc>
                <a:spcPct val="95000"/>
              </a:lnSpc>
              <a:spcBef>
                <a:spcPts val="0"/>
              </a:spcBef>
              <a:spcAft>
                <a:spcPts val="0"/>
              </a:spcAft>
              <a:buClr>
                <a:srgbClr val="000000"/>
              </a:buClr>
              <a:buSzPts val="1153"/>
              <a:buFont typeface="Arial"/>
              <a:buChar char="○"/>
            </a:pPr>
            <a:r>
              <a:rPr b="1" lang="ro" sz="1152">
                <a:solidFill>
                  <a:srgbClr val="000000"/>
                </a:solidFill>
                <a:latin typeface="Arial"/>
                <a:ea typeface="Arial"/>
                <a:cs typeface="Arial"/>
                <a:sym typeface="Arial"/>
              </a:rPr>
              <a:t>Dysfonction cellulaire</a:t>
            </a:r>
            <a:r>
              <a:rPr lang="ro" sz="1152">
                <a:solidFill>
                  <a:srgbClr val="000000"/>
                </a:solidFill>
                <a:latin typeface="Arial"/>
                <a:ea typeface="Arial"/>
                <a:cs typeface="Arial"/>
                <a:sym typeface="Arial"/>
              </a:rPr>
              <a:t>.</a:t>
            </a:r>
            <a:endParaRPr sz="1152">
              <a:solidFill>
                <a:srgbClr val="000000"/>
              </a:solidFill>
              <a:latin typeface="Arial"/>
              <a:ea typeface="Arial"/>
              <a:cs typeface="Arial"/>
              <a:sym typeface="Arial"/>
            </a:endParaRPr>
          </a:p>
          <a:p>
            <a:pPr indent="0" lvl="0" marL="0" rtl="0" algn="l">
              <a:lnSpc>
                <a:spcPct val="95000"/>
              </a:lnSpc>
              <a:spcBef>
                <a:spcPts val="1200"/>
              </a:spcBef>
              <a:spcAft>
                <a:spcPts val="0"/>
              </a:spcAft>
              <a:buSzPts val="852"/>
              <a:buNone/>
            </a:pPr>
            <a:r>
              <a:rPr lang="ro" sz="1152">
                <a:solidFill>
                  <a:srgbClr val="000000"/>
                </a:solidFill>
                <a:latin typeface="Arial"/>
                <a:ea typeface="Arial"/>
                <a:cs typeface="Arial"/>
                <a:sym typeface="Arial"/>
              </a:rPr>
              <a:t>✅ </a:t>
            </a:r>
            <a:r>
              <a:rPr b="1" lang="ro" sz="1152">
                <a:solidFill>
                  <a:srgbClr val="000000"/>
                </a:solidFill>
                <a:latin typeface="Arial"/>
                <a:ea typeface="Arial"/>
                <a:cs typeface="Arial"/>
                <a:sym typeface="Arial"/>
              </a:rPr>
              <a:t>Particularité :</a:t>
            </a:r>
            <a:endParaRPr b="1" sz="1152">
              <a:solidFill>
                <a:srgbClr val="000000"/>
              </a:solidFill>
              <a:latin typeface="Arial"/>
              <a:ea typeface="Arial"/>
              <a:cs typeface="Arial"/>
              <a:sym typeface="Arial"/>
            </a:endParaRPr>
          </a:p>
          <a:p>
            <a:pPr indent="-301783" lvl="0" marL="457200" rtl="0" algn="l">
              <a:lnSpc>
                <a:spcPct val="95000"/>
              </a:lnSpc>
              <a:spcBef>
                <a:spcPts val="1200"/>
              </a:spcBef>
              <a:spcAft>
                <a:spcPts val="0"/>
              </a:spcAft>
              <a:buClr>
                <a:srgbClr val="000000"/>
              </a:buClr>
              <a:buSzPts val="1153"/>
              <a:buFont typeface="Arial"/>
              <a:buChar char="●"/>
            </a:pPr>
            <a:r>
              <a:rPr lang="ro" sz="1152">
                <a:solidFill>
                  <a:srgbClr val="000000"/>
                </a:solidFill>
                <a:latin typeface="Arial"/>
                <a:ea typeface="Arial"/>
                <a:cs typeface="Arial"/>
                <a:sym typeface="Arial"/>
              </a:rPr>
              <a:t>L’effet indirect est </a:t>
            </a:r>
            <a:r>
              <a:rPr b="1" lang="ro" sz="1152">
                <a:solidFill>
                  <a:srgbClr val="000000"/>
                </a:solidFill>
                <a:latin typeface="Arial"/>
                <a:ea typeface="Arial"/>
                <a:cs typeface="Arial"/>
                <a:sym typeface="Arial"/>
              </a:rPr>
              <a:t>prépondérant</a:t>
            </a:r>
            <a:r>
              <a:rPr lang="ro" sz="1152">
                <a:solidFill>
                  <a:srgbClr val="000000"/>
                </a:solidFill>
                <a:latin typeface="Arial"/>
                <a:ea typeface="Arial"/>
                <a:cs typeface="Arial"/>
                <a:sym typeface="Arial"/>
              </a:rPr>
              <a:t> chez les organismes riches en eau (environ </a:t>
            </a:r>
            <a:r>
              <a:rPr b="1" lang="ro" sz="1152">
                <a:solidFill>
                  <a:srgbClr val="000000"/>
                </a:solidFill>
                <a:latin typeface="Arial"/>
                <a:ea typeface="Arial"/>
                <a:cs typeface="Arial"/>
                <a:sym typeface="Arial"/>
              </a:rPr>
              <a:t>70 %</a:t>
            </a:r>
            <a:r>
              <a:rPr lang="ro" sz="1152">
                <a:solidFill>
                  <a:srgbClr val="000000"/>
                </a:solidFill>
                <a:latin typeface="Arial"/>
                <a:ea typeface="Arial"/>
                <a:cs typeface="Arial"/>
                <a:sym typeface="Arial"/>
              </a:rPr>
              <a:t> des lésions).</a:t>
            </a:r>
            <a:endParaRPr sz="1152">
              <a:solidFill>
                <a:srgbClr val="000000"/>
              </a:solidFill>
              <a:latin typeface="Arial"/>
              <a:ea typeface="Arial"/>
              <a:cs typeface="Arial"/>
              <a:sym typeface="Arial"/>
            </a:endParaRPr>
          </a:p>
          <a:p>
            <a:pPr indent="-301783" lvl="0" marL="457200" rtl="0" algn="l">
              <a:lnSpc>
                <a:spcPct val="95000"/>
              </a:lnSpc>
              <a:spcBef>
                <a:spcPts val="0"/>
              </a:spcBef>
              <a:spcAft>
                <a:spcPts val="0"/>
              </a:spcAft>
              <a:buClr>
                <a:srgbClr val="000000"/>
              </a:buClr>
              <a:buSzPts val="1153"/>
              <a:buFont typeface="Arial"/>
              <a:buChar char="●"/>
            </a:pPr>
            <a:r>
              <a:rPr lang="ro" sz="1152">
                <a:solidFill>
                  <a:srgbClr val="000000"/>
                </a:solidFill>
                <a:latin typeface="Arial"/>
                <a:ea typeface="Arial"/>
                <a:cs typeface="Arial"/>
                <a:sym typeface="Arial"/>
              </a:rPr>
              <a:t>Il est amplifié en </a:t>
            </a:r>
            <a:r>
              <a:rPr b="1" lang="ro" sz="1152">
                <a:solidFill>
                  <a:srgbClr val="000000"/>
                </a:solidFill>
                <a:latin typeface="Arial"/>
                <a:ea typeface="Arial"/>
                <a:cs typeface="Arial"/>
                <a:sym typeface="Arial"/>
              </a:rPr>
              <a:t>présence d’oxygène</a:t>
            </a:r>
            <a:r>
              <a:rPr lang="ro" sz="1152">
                <a:solidFill>
                  <a:srgbClr val="000000"/>
                </a:solidFill>
                <a:latin typeface="Arial"/>
                <a:ea typeface="Arial"/>
                <a:cs typeface="Arial"/>
                <a:sym typeface="Arial"/>
              </a:rPr>
              <a:t> (effet oxygène ou effet de radiosensibilisation).</a:t>
            </a:r>
            <a:endParaRPr sz="1152">
              <a:solidFill>
                <a:srgbClr val="000000"/>
              </a:solidFill>
              <a:latin typeface="Arial"/>
              <a:ea typeface="Arial"/>
              <a:cs typeface="Arial"/>
              <a:sym typeface="Arial"/>
            </a:endParaRPr>
          </a:p>
          <a:p>
            <a:pPr indent="0" lvl="0" marL="0" rtl="0" algn="l">
              <a:lnSpc>
                <a:spcPct val="95000"/>
              </a:lnSpc>
              <a:spcBef>
                <a:spcPts val="1200"/>
              </a:spcBef>
              <a:spcAft>
                <a:spcPts val="1200"/>
              </a:spcAft>
              <a:buSzPts val="852"/>
              <a:buNone/>
            </a:pPr>
            <a:r>
              <a:t/>
            </a:r>
            <a:endParaRPr sz="1695"/>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7"/>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ro" sz="1800">
                <a:solidFill>
                  <a:srgbClr val="000000"/>
                </a:solidFill>
                <a:latin typeface="Arial"/>
                <a:ea typeface="Arial"/>
                <a:cs typeface="Arial"/>
                <a:sym typeface="Arial"/>
              </a:rPr>
              <a:t>📊 </a:t>
            </a:r>
            <a:r>
              <a:rPr b="1" lang="ro" sz="1800">
                <a:solidFill>
                  <a:srgbClr val="000000"/>
                </a:solidFill>
                <a:latin typeface="Arial"/>
                <a:ea typeface="Arial"/>
                <a:cs typeface="Arial"/>
                <a:sym typeface="Arial"/>
              </a:rPr>
              <a:t>Différences entre l'effet direct et l'effet indirect :</a:t>
            </a:r>
            <a:endParaRPr sz="3700"/>
          </a:p>
        </p:txBody>
      </p:sp>
      <p:pic>
        <p:nvPicPr>
          <p:cNvPr id="110" name="Google Shape;110;p17" title="Screenshot 2025-03-23 at 13.58.35.png"/>
          <p:cNvPicPr preferRelativeResize="0"/>
          <p:nvPr/>
        </p:nvPicPr>
        <p:blipFill rotWithShape="1">
          <a:blip r:embed="rId3">
            <a:alphaModFix/>
          </a:blip>
          <a:srcRect b="0" l="0" r="0" t="0"/>
          <a:stretch/>
        </p:blipFill>
        <p:spPr>
          <a:xfrm>
            <a:off x="311700" y="885225"/>
            <a:ext cx="7872735" cy="38209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8"/>
          <p:cNvSpPr txBox="1"/>
          <p:nvPr>
            <p:ph idx="1" type="body"/>
          </p:nvPr>
        </p:nvSpPr>
        <p:spPr>
          <a:xfrm>
            <a:off x="311700" y="483225"/>
            <a:ext cx="6081600" cy="40857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400"/>
              </a:spcBef>
              <a:spcAft>
                <a:spcPts val="0"/>
              </a:spcAft>
              <a:buSzPts val="1800"/>
              <a:buNone/>
            </a:pPr>
            <a:r>
              <a:rPr b="1" lang="ro" sz="1600">
                <a:solidFill>
                  <a:srgbClr val="000000"/>
                </a:solidFill>
                <a:latin typeface="Arial"/>
                <a:ea typeface="Arial"/>
                <a:cs typeface="Arial"/>
                <a:sym typeface="Arial"/>
              </a:rPr>
              <a:t>🧬 Importance en radiothérapie :</a:t>
            </a:r>
            <a:endParaRPr b="1" sz="1600">
              <a:solidFill>
                <a:srgbClr val="000000"/>
              </a:solidFill>
              <a:latin typeface="Arial"/>
              <a:ea typeface="Arial"/>
              <a:cs typeface="Arial"/>
              <a:sym typeface="Arial"/>
            </a:endParaRPr>
          </a:p>
          <a:p>
            <a:pPr indent="-317500" lvl="0" marL="457200" rtl="0" algn="just">
              <a:lnSpc>
                <a:spcPct val="115000"/>
              </a:lnSpc>
              <a:spcBef>
                <a:spcPts val="1200"/>
              </a:spcBef>
              <a:spcAft>
                <a:spcPts val="0"/>
              </a:spcAft>
              <a:buClr>
                <a:srgbClr val="000000"/>
              </a:buClr>
              <a:buSzPts val="1400"/>
              <a:buFont typeface="Arial"/>
              <a:buAutoNum type="arabicPeriod"/>
            </a:pPr>
            <a:r>
              <a:rPr b="1" lang="ro" sz="1400">
                <a:solidFill>
                  <a:srgbClr val="000000"/>
                </a:solidFill>
                <a:latin typeface="Arial"/>
                <a:ea typeface="Arial"/>
                <a:cs typeface="Arial"/>
                <a:sym typeface="Arial"/>
              </a:rPr>
              <a:t>Fractionnement du traitement :</a:t>
            </a:r>
            <a:br>
              <a:rPr b="1" lang="ro" sz="1400">
                <a:solidFill>
                  <a:srgbClr val="000000"/>
                </a:solidFill>
                <a:latin typeface="Arial"/>
                <a:ea typeface="Arial"/>
                <a:cs typeface="Arial"/>
                <a:sym typeface="Arial"/>
              </a:rPr>
            </a:br>
            <a:r>
              <a:rPr lang="ro" sz="1400">
                <a:solidFill>
                  <a:srgbClr val="000000"/>
                </a:solidFill>
                <a:latin typeface="Arial"/>
                <a:ea typeface="Arial"/>
                <a:cs typeface="Arial"/>
                <a:sym typeface="Arial"/>
              </a:rPr>
              <a:t>Permet aux </a:t>
            </a:r>
            <a:r>
              <a:rPr b="1" lang="ro" sz="1400">
                <a:solidFill>
                  <a:srgbClr val="000000"/>
                </a:solidFill>
                <a:latin typeface="Arial"/>
                <a:ea typeface="Arial"/>
                <a:cs typeface="Arial"/>
                <a:sym typeface="Arial"/>
              </a:rPr>
              <a:t>cellules normales</a:t>
            </a:r>
            <a:r>
              <a:rPr lang="ro" sz="1400">
                <a:solidFill>
                  <a:srgbClr val="000000"/>
                </a:solidFill>
                <a:latin typeface="Arial"/>
                <a:ea typeface="Arial"/>
                <a:cs typeface="Arial"/>
                <a:sym typeface="Arial"/>
              </a:rPr>
              <a:t> de réparer les dommages via l’effet indirect, tandis que les cellules tumorales, souvent moins efficaces dans la réparation, subissent des lésions irréversibles.</a:t>
            </a:r>
            <a:endParaRPr sz="1400">
              <a:solidFill>
                <a:srgbClr val="000000"/>
              </a:solidFill>
              <a:latin typeface="Arial"/>
              <a:ea typeface="Arial"/>
              <a:cs typeface="Arial"/>
              <a:sym typeface="Arial"/>
            </a:endParaRPr>
          </a:p>
          <a:p>
            <a:pPr indent="-317500" lvl="0" marL="457200" rtl="0" algn="just">
              <a:lnSpc>
                <a:spcPct val="115000"/>
              </a:lnSpc>
              <a:spcBef>
                <a:spcPts val="0"/>
              </a:spcBef>
              <a:spcAft>
                <a:spcPts val="0"/>
              </a:spcAft>
              <a:buClr>
                <a:srgbClr val="000000"/>
              </a:buClr>
              <a:buSzPts val="1400"/>
              <a:buFont typeface="Arial"/>
              <a:buAutoNum type="arabicPeriod"/>
            </a:pPr>
            <a:r>
              <a:rPr b="1" lang="ro" sz="1400">
                <a:solidFill>
                  <a:srgbClr val="000000"/>
                </a:solidFill>
                <a:latin typeface="Arial"/>
                <a:ea typeface="Arial"/>
                <a:cs typeface="Arial"/>
                <a:sym typeface="Arial"/>
              </a:rPr>
              <a:t>Radiosensibilisation par l’oxygène :</a:t>
            </a:r>
            <a:br>
              <a:rPr b="1" lang="ro" sz="1400">
                <a:solidFill>
                  <a:srgbClr val="000000"/>
                </a:solidFill>
                <a:latin typeface="Arial"/>
                <a:ea typeface="Arial"/>
                <a:cs typeface="Arial"/>
                <a:sym typeface="Arial"/>
              </a:rPr>
            </a:br>
            <a:r>
              <a:rPr lang="ro" sz="1400">
                <a:solidFill>
                  <a:srgbClr val="000000"/>
                </a:solidFill>
                <a:latin typeface="Arial"/>
                <a:ea typeface="Arial"/>
                <a:cs typeface="Arial"/>
                <a:sym typeface="Arial"/>
              </a:rPr>
              <a:t>L’oxygène améliore l’effet des rayonnements en stabilisant les radicaux libres, ce qui </a:t>
            </a:r>
            <a:r>
              <a:rPr b="1" lang="ro" sz="1400">
                <a:solidFill>
                  <a:srgbClr val="000000"/>
                </a:solidFill>
                <a:latin typeface="Arial"/>
                <a:ea typeface="Arial"/>
                <a:cs typeface="Arial"/>
                <a:sym typeface="Arial"/>
              </a:rPr>
              <a:t>augmente les dégâts</a:t>
            </a:r>
            <a:r>
              <a:rPr lang="ro" sz="1400">
                <a:solidFill>
                  <a:srgbClr val="000000"/>
                </a:solidFill>
                <a:latin typeface="Arial"/>
                <a:ea typeface="Arial"/>
                <a:cs typeface="Arial"/>
                <a:sym typeface="Arial"/>
              </a:rPr>
              <a:t> sur l’ADN des cellules cancéreuses.</a:t>
            </a:r>
            <a:endParaRPr sz="1400">
              <a:solidFill>
                <a:srgbClr val="000000"/>
              </a:solidFill>
              <a:latin typeface="Arial"/>
              <a:ea typeface="Arial"/>
              <a:cs typeface="Arial"/>
              <a:sym typeface="Arial"/>
            </a:endParaRPr>
          </a:p>
          <a:p>
            <a:pPr indent="-317500" lvl="0" marL="457200" rtl="0" algn="just">
              <a:lnSpc>
                <a:spcPct val="115000"/>
              </a:lnSpc>
              <a:spcBef>
                <a:spcPts val="0"/>
              </a:spcBef>
              <a:spcAft>
                <a:spcPts val="0"/>
              </a:spcAft>
              <a:buClr>
                <a:srgbClr val="000000"/>
              </a:buClr>
              <a:buSzPts val="1400"/>
              <a:buFont typeface="Arial"/>
              <a:buAutoNum type="arabicPeriod"/>
            </a:pPr>
            <a:r>
              <a:rPr b="1" lang="ro" sz="1400">
                <a:solidFill>
                  <a:srgbClr val="000000"/>
                </a:solidFill>
                <a:latin typeface="Arial"/>
                <a:ea typeface="Arial"/>
                <a:cs typeface="Arial"/>
                <a:sym typeface="Arial"/>
              </a:rPr>
              <a:t>Types de rayonnements :</a:t>
            </a:r>
            <a:endParaRPr b="1" sz="1400">
              <a:solidFill>
                <a:srgbClr val="000000"/>
              </a:solidFill>
              <a:latin typeface="Arial"/>
              <a:ea typeface="Arial"/>
              <a:cs typeface="Arial"/>
              <a:sym typeface="Arial"/>
            </a:endParaRPr>
          </a:p>
          <a:p>
            <a:pPr indent="-317500" lvl="1" marL="914400" rtl="0" algn="just">
              <a:lnSpc>
                <a:spcPct val="115000"/>
              </a:lnSpc>
              <a:spcBef>
                <a:spcPts val="0"/>
              </a:spcBef>
              <a:spcAft>
                <a:spcPts val="0"/>
              </a:spcAft>
              <a:buClr>
                <a:srgbClr val="000000"/>
              </a:buClr>
              <a:buSzPts val="1400"/>
              <a:buFont typeface="Arial"/>
              <a:buChar char="○"/>
            </a:pPr>
            <a:r>
              <a:rPr lang="ro">
                <a:solidFill>
                  <a:srgbClr val="000000"/>
                </a:solidFill>
                <a:latin typeface="Arial"/>
                <a:ea typeface="Arial"/>
                <a:cs typeface="Arial"/>
                <a:sym typeface="Arial"/>
              </a:rPr>
              <a:t>Les </a:t>
            </a:r>
            <a:r>
              <a:rPr b="1" lang="ro">
                <a:solidFill>
                  <a:srgbClr val="000000"/>
                </a:solidFill>
                <a:latin typeface="Arial"/>
                <a:ea typeface="Arial"/>
                <a:cs typeface="Arial"/>
                <a:sym typeface="Arial"/>
              </a:rPr>
              <a:t>rayons X et gamma</a:t>
            </a:r>
            <a:r>
              <a:rPr lang="ro">
                <a:solidFill>
                  <a:srgbClr val="000000"/>
                </a:solidFill>
                <a:latin typeface="Arial"/>
                <a:ea typeface="Arial"/>
                <a:cs typeface="Arial"/>
                <a:sym typeface="Arial"/>
              </a:rPr>
              <a:t> produisent principalement des </a:t>
            </a:r>
            <a:r>
              <a:rPr b="1" lang="ro">
                <a:solidFill>
                  <a:srgbClr val="000000"/>
                </a:solidFill>
                <a:latin typeface="Arial"/>
                <a:ea typeface="Arial"/>
                <a:cs typeface="Arial"/>
                <a:sym typeface="Arial"/>
              </a:rPr>
              <a:t>effets indirects</a:t>
            </a:r>
            <a:r>
              <a:rPr lang="ro">
                <a:solidFill>
                  <a:srgbClr val="000000"/>
                </a:solidFill>
                <a:latin typeface="Arial"/>
                <a:ea typeface="Arial"/>
                <a:cs typeface="Arial"/>
                <a:sym typeface="Arial"/>
              </a:rPr>
              <a:t>.</a:t>
            </a:r>
            <a:endParaRPr>
              <a:solidFill>
                <a:srgbClr val="000000"/>
              </a:solidFill>
              <a:latin typeface="Arial"/>
              <a:ea typeface="Arial"/>
              <a:cs typeface="Arial"/>
              <a:sym typeface="Arial"/>
            </a:endParaRPr>
          </a:p>
          <a:p>
            <a:pPr indent="-317500" lvl="1" marL="914400" rtl="0" algn="just">
              <a:lnSpc>
                <a:spcPct val="115000"/>
              </a:lnSpc>
              <a:spcBef>
                <a:spcPts val="0"/>
              </a:spcBef>
              <a:spcAft>
                <a:spcPts val="0"/>
              </a:spcAft>
              <a:buClr>
                <a:srgbClr val="000000"/>
              </a:buClr>
              <a:buSzPts val="1400"/>
              <a:buFont typeface="Arial"/>
              <a:buChar char="○"/>
            </a:pPr>
            <a:r>
              <a:rPr lang="ro">
                <a:solidFill>
                  <a:srgbClr val="000000"/>
                </a:solidFill>
                <a:latin typeface="Arial"/>
                <a:ea typeface="Arial"/>
                <a:cs typeface="Arial"/>
                <a:sym typeface="Arial"/>
              </a:rPr>
              <a:t>Les </a:t>
            </a:r>
            <a:r>
              <a:rPr b="1" lang="ro">
                <a:solidFill>
                  <a:srgbClr val="000000"/>
                </a:solidFill>
                <a:latin typeface="Arial"/>
                <a:ea typeface="Arial"/>
                <a:cs typeface="Arial"/>
                <a:sym typeface="Arial"/>
              </a:rPr>
              <a:t>particules lourdes (protons, ions carbone)</a:t>
            </a:r>
            <a:r>
              <a:rPr lang="ro">
                <a:solidFill>
                  <a:srgbClr val="000000"/>
                </a:solidFill>
                <a:latin typeface="Arial"/>
                <a:ea typeface="Arial"/>
                <a:cs typeface="Arial"/>
                <a:sym typeface="Arial"/>
              </a:rPr>
              <a:t> provoquent plus d’</a:t>
            </a:r>
            <a:r>
              <a:rPr b="1" lang="ro">
                <a:solidFill>
                  <a:srgbClr val="000000"/>
                </a:solidFill>
                <a:latin typeface="Arial"/>
                <a:ea typeface="Arial"/>
                <a:cs typeface="Arial"/>
                <a:sym typeface="Arial"/>
              </a:rPr>
              <a:t>effets directs</a:t>
            </a:r>
            <a:r>
              <a:rPr lang="ro">
                <a:solidFill>
                  <a:srgbClr val="000000"/>
                </a:solidFill>
                <a:latin typeface="Arial"/>
                <a:ea typeface="Arial"/>
                <a:cs typeface="Arial"/>
                <a:sym typeface="Arial"/>
              </a:rPr>
              <a:t>, utiles pour traiter les tumeurs résistantes.</a:t>
            </a:r>
            <a:endParaRPr>
              <a:solidFill>
                <a:srgbClr val="000000"/>
              </a:solidFill>
              <a:latin typeface="Arial"/>
              <a:ea typeface="Arial"/>
              <a:cs typeface="Arial"/>
              <a:sym typeface="Arial"/>
            </a:endParaRPr>
          </a:p>
          <a:p>
            <a:pPr indent="0" lvl="0" marL="0" rtl="0" algn="just">
              <a:lnSpc>
                <a:spcPct val="115000"/>
              </a:lnSpc>
              <a:spcBef>
                <a:spcPts val="1200"/>
              </a:spcBef>
              <a:spcAft>
                <a:spcPts val="1200"/>
              </a:spcAft>
              <a:buSzPts val="1800"/>
              <a:buNone/>
            </a:pPr>
            <a:r>
              <a:t/>
            </a:r>
            <a:endParaRPr sz="2100"/>
          </a:p>
        </p:txBody>
      </p:sp>
      <p:pic>
        <p:nvPicPr>
          <p:cNvPr id="116" name="Google Shape;116;p18" title="llustration-des-effets-direct-et-indirect-des-rayonnements-sur-les-cellules.png"/>
          <p:cNvPicPr preferRelativeResize="0"/>
          <p:nvPr/>
        </p:nvPicPr>
        <p:blipFill rotWithShape="1">
          <a:blip r:embed="rId3">
            <a:alphaModFix/>
          </a:blip>
          <a:srcRect b="0" l="0" r="0" t="0"/>
          <a:stretch/>
        </p:blipFill>
        <p:spPr>
          <a:xfrm>
            <a:off x="6393300" y="209350"/>
            <a:ext cx="2726076" cy="26404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9"/>
          <p:cNvSpPr txBox="1"/>
          <p:nvPr>
            <p:ph idx="1" type="body"/>
          </p:nvPr>
        </p:nvSpPr>
        <p:spPr>
          <a:xfrm>
            <a:off x="311700" y="188450"/>
            <a:ext cx="8520600" cy="43803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800"/>
              </a:spcBef>
              <a:spcAft>
                <a:spcPts val="0"/>
              </a:spcAft>
              <a:buSzPts val="1800"/>
              <a:buNone/>
            </a:pPr>
            <a:r>
              <a:rPr b="1" lang="ro" sz="1700">
                <a:solidFill>
                  <a:srgbClr val="000000"/>
                </a:solidFill>
                <a:latin typeface="Arial"/>
                <a:ea typeface="Arial"/>
                <a:cs typeface="Arial"/>
                <a:sym typeface="Arial"/>
              </a:rPr>
              <a:t>⚡️ Les 5R classiques de la radiothérapie :</a:t>
            </a:r>
            <a:endParaRPr b="1" sz="1700">
              <a:solidFill>
                <a:srgbClr val="000000"/>
              </a:solidFill>
              <a:latin typeface="Arial"/>
              <a:ea typeface="Arial"/>
              <a:cs typeface="Arial"/>
              <a:sym typeface="Arial"/>
            </a:endParaRPr>
          </a:p>
          <a:p>
            <a:pPr indent="0" lvl="0" marL="0" rtl="0" algn="just">
              <a:lnSpc>
                <a:spcPct val="115000"/>
              </a:lnSpc>
              <a:spcBef>
                <a:spcPts val="1200"/>
              </a:spcBef>
              <a:spcAft>
                <a:spcPts val="0"/>
              </a:spcAft>
              <a:buSzPts val="1800"/>
              <a:buNone/>
            </a:pPr>
            <a:r>
              <a:rPr b="1" lang="ro">
                <a:solidFill>
                  <a:srgbClr val="000000"/>
                </a:solidFill>
                <a:latin typeface="Arial"/>
                <a:ea typeface="Arial"/>
                <a:cs typeface="Arial"/>
                <a:sym typeface="Arial"/>
              </a:rPr>
              <a:t>Ces principes expliquent les mécanismes biologiques influençant la réponse des tissus irradiés et permettent d'optimiser les protocoles de traitement.</a:t>
            </a:r>
            <a:endParaRPr b="1">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800"/>
              <a:buNone/>
            </a:pPr>
            <a:r>
              <a:t/>
            </a:r>
            <a:endParaRPr/>
          </a:p>
        </p:txBody>
      </p:sp>
      <p:pic>
        <p:nvPicPr>
          <p:cNvPr id="122" name="Google Shape;122;p19" title="WhatsApp Image 2025-03-25 at 19.52.07.jpeg"/>
          <p:cNvPicPr preferRelativeResize="0"/>
          <p:nvPr/>
        </p:nvPicPr>
        <p:blipFill rotWithShape="1">
          <a:blip r:embed="rId3">
            <a:alphaModFix/>
          </a:blip>
          <a:srcRect b="0" l="0" r="0" t="0"/>
          <a:stretch/>
        </p:blipFill>
        <p:spPr>
          <a:xfrm>
            <a:off x="1643250" y="1574100"/>
            <a:ext cx="4749749" cy="31149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0"/>
          <p:cNvSpPr txBox="1"/>
          <p:nvPr>
            <p:ph idx="1" type="body"/>
          </p:nvPr>
        </p:nvSpPr>
        <p:spPr>
          <a:xfrm>
            <a:off x="311700" y="631900"/>
            <a:ext cx="4388400" cy="3936900"/>
          </a:xfrm>
          <a:prstGeom prst="rect">
            <a:avLst/>
          </a:prstGeom>
          <a:noFill/>
          <a:ln>
            <a:noFill/>
          </a:ln>
        </p:spPr>
        <p:txBody>
          <a:bodyPr anchorCtr="0" anchor="t" bIns="91425" lIns="91425" spcFirstLastPara="1" rIns="91425" wrap="square" tIns="91425">
            <a:normAutofit fontScale="92500" lnSpcReduction="10000"/>
          </a:bodyPr>
          <a:lstStyle/>
          <a:p>
            <a:pPr indent="0" lvl="0" marL="0" rtl="0" algn="just">
              <a:lnSpc>
                <a:spcPct val="115000"/>
              </a:lnSpc>
              <a:spcBef>
                <a:spcPts val="1400"/>
              </a:spcBef>
              <a:spcAft>
                <a:spcPts val="0"/>
              </a:spcAft>
              <a:buSzPct val="121621"/>
              <a:buNone/>
            </a:pPr>
            <a:r>
              <a:rPr b="1" lang="ro" sz="1600">
                <a:solidFill>
                  <a:srgbClr val="000000"/>
                </a:solidFill>
                <a:latin typeface="Arial"/>
                <a:ea typeface="Arial"/>
                <a:cs typeface="Arial"/>
                <a:sym typeface="Arial"/>
              </a:rPr>
              <a:t>1️⃣ Réparation des lésions sublétales (Repair)</a:t>
            </a:r>
            <a:endParaRPr b="1" sz="1600">
              <a:solidFill>
                <a:srgbClr val="000000"/>
              </a:solidFill>
              <a:latin typeface="Arial"/>
              <a:ea typeface="Arial"/>
              <a:cs typeface="Arial"/>
              <a:sym typeface="Arial"/>
            </a:endParaRPr>
          </a:p>
          <a:p>
            <a:pPr indent="-310832" lvl="0" marL="457200" rtl="0" algn="just">
              <a:lnSpc>
                <a:spcPct val="115000"/>
              </a:lnSpc>
              <a:spcBef>
                <a:spcPts val="1200"/>
              </a:spcBef>
              <a:spcAft>
                <a:spcPts val="0"/>
              </a:spcAft>
              <a:buClr>
                <a:srgbClr val="000000"/>
              </a:buClr>
              <a:buSzPct val="100000"/>
              <a:buFont typeface="Arial"/>
              <a:buChar char="●"/>
            </a:pPr>
            <a:r>
              <a:rPr b="1" lang="ro" sz="1400">
                <a:solidFill>
                  <a:srgbClr val="000000"/>
                </a:solidFill>
                <a:latin typeface="Arial"/>
                <a:ea typeface="Arial"/>
                <a:cs typeface="Arial"/>
                <a:sym typeface="Arial"/>
              </a:rPr>
              <a:t>Principe :</a:t>
            </a:r>
            <a:r>
              <a:rPr lang="ro" sz="1400">
                <a:solidFill>
                  <a:srgbClr val="000000"/>
                </a:solidFill>
                <a:latin typeface="Arial"/>
                <a:ea typeface="Arial"/>
                <a:cs typeface="Arial"/>
                <a:sym typeface="Arial"/>
              </a:rPr>
              <a:t> Les cellules normales et cancéreuses ont la capacité de réparer les dommages causés par les rayons.</a:t>
            </a:r>
            <a:endParaRPr sz="1400">
              <a:solidFill>
                <a:srgbClr val="000000"/>
              </a:solidFill>
              <a:latin typeface="Arial"/>
              <a:ea typeface="Arial"/>
              <a:cs typeface="Arial"/>
              <a:sym typeface="Arial"/>
            </a:endParaRPr>
          </a:p>
          <a:p>
            <a:pPr indent="-310832" lvl="0" marL="457200" rtl="0" algn="just">
              <a:lnSpc>
                <a:spcPct val="115000"/>
              </a:lnSpc>
              <a:spcBef>
                <a:spcPts val="0"/>
              </a:spcBef>
              <a:spcAft>
                <a:spcPts val="0"/>
              </a:spcAft>
              <a:buClr>
                <a:srgbClr val="000000"/>
              </a:buClr>
              <a:buSzPct val="100000"/>
              <a:buFont typeface="Arial"/>
              <a:buChar char="●"/>
            </a:pPr>
            <a:r>
              <a:rPr b="1" lang="ro" sz="1400">
                <a:solidFill>
                  <a:srgbClr val="000000"/>
                </a:solidFill>
                <a:latin typeface="Arial"/>
                <a:ea typeface="Arial"/>
                <a:cs typeface="Arial"/>
                <a:sym typeface="Arial"/>
              </a:rPr>
              <a:t>Conséquence :</a:t>
            </a:r>
            <a:r>
              <a:rPr lang="ro" sz="1400">
                <a:solidFill>
                  <a:srgbClr val="000000"/>
                </a:solidFill>
                <a:latin typeface="Arial"/>
                <a:ea typeface="Arial"/>
                <a:cs typeface="Arial"/>
                <a:sym typeface="Arial"/>
              </a:rPr>
              <a:t> En fractionnant la dose totale (par exemple, en plusieurs séances quotidiennes), les tissus sains ont le temps de réparer les lésions, tandis que les cellules cancéreuses, souvent moins efficaces dans ce processus, accumulent des dommages irréversibles.</a:t>
            </a:r>
            <a:endParaRPr sz="1400">
              <a:solidFill>
                <a:srgbClr val="000000"/>
              </a:solidFill>
              <a:latin typeface="Arial"/>
              <a:ea typeface="Arial"/>
              <a:cs typeface="Arial"/>
              <a:sym typeface="Arial"/>
            </a:endParaRPr>
          </a:p>
          <a:p>
            <a:pPr indent="0" lvl="0" marL="0" rtl="0" algn="just">
              <a:lnSpc>
                <a:spcPct val="115000"/>
              </a:lnSpc>
              <a:spcBef>
                <a:spcPts val="1200"/>
              </a:spcBef>
              <a:spcAft>
                <a:spcPts val="0"/>
              </a:spcAft>
              <a:buClr>
                <a:srgbClr val="000000"/>
              </a:buClr>
              <a:buSzPct val="138996"/>
              <a:buFont typeface="Arial"/>
              <a:buNone/>
            </a:pPr>
            <a:r>
              <a:rPr lang="ro" sz="1400">
                <a:solidFill>
                  <a:srgbClr val="000000"/>
                </a:solidFill>
                <a:latin typeface="Arial"/>
                <a:ea typeface="Arial"/>
                <a:cs typeface="Arial"/>
                <a:sym typeface="Arial"/>
              </a:rPr>
              <a:t>✅ </a:t>
            </a:r>
            <a:r>
              <a:rPr b="1" lang="ro" sz="1400">
                <a:solidFill>
                  <a:srgbClr val="000000"/>
                </a:solidFill>
                <a:latin typeface="Arial"/>
                <a:ea typeface="Arial"/>
                <a:cs typeface="Arial"/>
                <a:sym typeface="Arial"/>
              </a:rPr>
              <a:t>Importance clinique :</a:t>
            </a:r>
            <a:r>
              <a:rPr lang="ro" sz="1400">
                <a:solidFill>
                  <a:srgbClr val="000000"/>
                </a:solidFill>
                <a:latin typeface="Arial"/>
                <a:ea typeface="Arial"/>
                <a:cs typeface="Arial"/>
                <a:sym typeface="Arial"/>
              </a:rPr>
              <a:t> Cela explique pourquoi la radiothérapie est généralement administrée en </a:t>
            </a:r>
            <a:r>
              <a:rPr b="1" lang="ro" sz="1400">
                <a:solidFill>
                  <a:srgbClr val="000000"/>
                </a:solidFill>
                <a:latin typeface="Arial"/>
                <a:ea typeface="Arial"/>
                <a:cs typeface="Arial"/>
                <a:sym typeface="Arial"/>
              </a:rPr>
              <a:t>plusieurs séances</a:t>
            </a:r>
            <a:r>
              <a:rPr lang="ro" sz="1400">
                <a:solidFill>
                  <a:srgbClr val="000000"/>
                </a:solidFill>
                <a:latin typeface="Arial"/>
                <a:ea typeface="Arial"/>
                <a:cs typeface="Arial"/>
                <a:sym typeface="Arial"/>
              </a:rPr>
              <a:t>(fractionnement) plutôt qu’en une seule dose massive.</a:t>
            </a:r>
            <a:endParaRPr sz="1400">
              <a:solidFill>
                <a:srgbClr val="000000"/>
              </a:solidFill>
              <a:latin typeface="Arial"/>
              <a:ea typeface="Arial"/>
              <a:cs typeface="Arial"/>
              <a:sym typeface="Arial"/>
            </a:endParaRPr>
          </a:p>
          <a:p>
            <a:pPr indent="0" lvl="0" marL="0" rtl="0" algn="just">
              <a:lnSpc>
                <a:spcPct val="115000"/>
              </a:lnSpc>
              <a:spcBef>
                <a:spcPts val="1200"/>
              </a:spcBef>
              <a:spcAft>
                <a:spcPts val="1200"/>
              </a:spcAft>
              <a:buSzPct val="92664"/>
              <a:buNone/>
            </a:pPr>
            <a:r>
              <a:t/>
            </a:r>
            <a:endParaRPr sz="2100"/>
          </a:p>
        </p:txBody>
      </p:sp>
      <p:pic>
        <p:nvPicPr>
          <p:cNvPr id="128" name="Google Shape;128;p20" title="Schema-des-dommages-causes-a-lADN-par-les-rayonnements-ionisants.ppm.png"/>
          <p:cNvPicPr preferRelativeResize="0"/>
          <p:nvPr/>
        </p:nvPicPr>
        <p:blipFill rotWithShape="1">
          <a:blip r:embed="rId3">
            <a:alphaModFix/>
          </a:blip>
          <a:srcRect b="0" l="0" r="0" t="0"/>
          <a:stretch/>
        </p:blipFill>
        <p:spPr>
          <a:xfrm>
            <a:off x="4985525" y="484950"/>
            <a:ext cx="3838575" cy="39814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1"/>
          <p:cNvSpPr txBox="1"/>
          <p:nvPr>
            <p:ph idx="1" type="body"/>
          </p:nvPr>
        </p:nvSpPr>
        <p:spPr>
          <a:xfrm>
            <a:off x="311700" y="495600"/>
            <a:ext cx="5214300" cy="40734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1400"/>
              </a:spcBef>
              <a:spcAft>
                <a:spcPts val="0"/>
              </a:spcAft>
              <a:buSzPts val="1800"/>
              <a:buNone/>
            </a:pPr>
            <a:r>
              <a:rPr b="1" lang="ro" sz="1600">
                <a:solidFill>
                  <a:srgbClr val="000000"/>
                </a:solidFill>
                <a:latin typeface="Arial"/>
                <a:ea typeface="Arial"/>
                <a:cs typeface="Arial"/>
                <a:sym typeface="Arial"/>
              </a:rPr>
              <a:t>2️⃣ Redistribution dans le cycle cellulaire (Redistribution)</a:t>
            </a:r>
            <a:endParaRPr b="1" sz="1600">
              <a:solidFill>
                <a:srgbClr val="000000"/>
              </a:solidFill>
              <a:latin typeface="Arial"/>
              <a:ea typeface="Arial"/>
              <a:cs typeface="Arial"/>
              <a:sym typeface="Arial"/>
            </a:endParaRPr>
          </a:p>
          <a:p>
            <a:pPr indent="-317500" lvl="0" marL="457200" rtl="0" algn="l">
              <a:lnSpc>
                <a:spcPct val="115000"/>
              </a:lnSpc>
              <a:spcBef>
                <a:spcPts val="1200"/>
              </a:spcBef>
              <a:spcAft>
                <a:spcPts val="0"/>
              </a:spcAft>
              <a:buClr>
                <a:srgbClr val="000000"/>
              </a:buClr>
              <a:buSzPts val="1400"/>
              <a:buFont typeface="Arial"/>
              <a:buChar char="●"/>
            </a:pPr>
            <a:r>
              <a:rPr b="1" lang="ro" sz="1400">
                <a:solidFill>
                  <a:srgbClr val="000000"/>
                </a:solidFill>
                <a:latin typeface="Arial"/>
                <a:ea typeface="Arial"/>
                <a:cs typeface="Arial"/>
                <a:sym typeface="Arial"/>
              </a:rPr>
              <a:t>Principe :</a:t>
            </a:r>
            <a:r>
              <a:rPr lang="ro" sz="1400">
                <a:solidFill>
                  <a:srgbClr val="000000"/>
                </a:solidFill>
                <a:latin typeface="Arial"/>
                <a:ea typeface="Arial"/>
                <a:cs typeface="Arial"/>
                <a:sym typeface="Arial"/>
              </a:rPr>
              <a:t> Les cellules tumorales passent par différentes phases du </a:t>
            </a:r>
            <a:r>
              <a:rPr b="1" lang="ro" sz="1400">
                <a:solidFill>
                  <a:srgbClr val="000000"/>
                </a:solidFill>
                <a:latin typeface="Arial"/>
                <a:ea typeface="Arial"/>
                <a:cs typeface="Arial"/>
                <a:sym typeface="Arial"/>
              </a:rPr>
              <a:t>cycle cellulaire</a:t>
            </a:r>
            <a:r>
              <a:rPr lang="ro" sz="1400">
                <a:solidFill>
                  <a:srgbClr val="000000"/>
                </a:solidFill>
                <a:latin typeface="Arial"/>
                <a:ea typeface="Arial"/>
                <a:cs typeface="Arial"/>
                <a:sym typeface="Arial"/>
              </a:rPr>
              <a:t> (G1, S, G2, M). Elles sont </a:t>
            </a:r>
            <a:r>
              <a:rPr b="1" lang="ro" sz="1400">
                <a:solidFill>
                  <a:srgbClr val="000000"/>
                </a:solidFill>
                <a:latin typeface="Arial"/>
                <a:ea typeface="Arial"/>
                <a:cs typeface="Arial"/>
                <a:sym typeface="Arial"/>
              </a:rPr>
              <a:t>plus sensibles aux rayonnements en phase G2 et M</a:t>
            </a:r>
            <a:r>
              <a:rPr lang="ro" sz="1400">
                <a:solidFill>
                  <a:srgbClr val="000000"/>
                </a:solidFill>
                <a:latin typeface="Arial"/>
                <a:ea typeface="Arial"/>
                <a:cs typeface="Arial"/>
                <a:sym typeface="Arial"/>
              </a:rPr>
              <a:t> et plus résistantes en phase S.</a:t>
            </a:r>
            <a:endParaRPr sz="1400">
              <a:solidFill>
                <a:srgbClr val="000000"/>
              </a:solidFill>
              <a:latin typeface="Arial"/>
              <a:ea typeface="Arial"/>
              <a:cs typeface="Arial"/>
              <a:sym typeface="Arial"/>
            </a:endParaRPr>
          </a:p>
          <a:p>
            <a:pPr indent="-317500" lvl="0" marL="457200" rtl="0" algn="l">
              <a:lnSpc>
                <a:spcPct val="115000"/>
              </a:lnSpc>
              <a:spcBef>
                <a:spcPts val="0"/>
              </a:spcBef>
              <a:spcAft>
                <a:spcPts val="0"/>
              </a:spcAft>
              <a:buClr>
                <a:srgbClr val="000000"/>
              </a:buClr>
              <a:buSzPts val="1400"/>
              <a:buFont typeface="Arial"/>
              <a:buChar char="●"/>
            </a:pPr>
            <a:r>
              <a:rPr b="1" lang="ro" sz="1400">
                <a:solidFill>
                  <a:srgbClr val="000000"/>
                </a:solidFill>
                <a:latin typeface="Arial"/>
                <a:ea typeface="Arial"/>
                <a:cs typeface="Arial"/>
                <a:sym typeface="Arial"/>
              </a:rPr>
              <a:t>Conséquence :</a:t>
            </a:r>
            <a:r>
              <a:rPr lang="ro" sz="1400">
                <a:solidFill>
                  <a:srgbClr val="000000"/>
                </a:solidFill>
                <a:latin typeface="Arial"/>
                <a:ea typeface="Arial"/>
                <a:cs typeface="Arial"/>
                <a:sym typeface="Arial"/>
              </a:rPr>
              <a:t> Entre les séances, les cellules survivantes progressent dans leur cycle. Cela permet de </a:t>
            </a:r>
            <a:r>
              <a:rPr b="1" lang="ro" sz="1400">
                <a:solidFill>
                  <a:srgbClr val="000000"/>
                </a:solidFill>
                <a:latin typeface="Arial"/>
                <a:ea typeface="Arial"/>
                <a:cs typeface="Arial"/>
                <a:sym typeface="Arial"/>
              </a:rPr>
              <a:t>cibler les cellules qui deviennent plus vulnérables</a:t>
            </a:r>
            <a:r>
              <a:rPr lang="ro" sz="1400">
                <a:solidFill>
                  <a:srgbClr val="000000"/>
                </a:solidFill>
                <a:latin typeface="Arial"/>
                <a:ea typeface="Arial"/>
                <a:cs typeface="Arial"/>
                <a:sym typeface="Arial"/>
              </a:rPr>
              <a:t> aux rayons lors des fractions suivantes.</a:t>
            </a:r>
            <a:endParaRPr sz="1400">
              <a:solidFill>
                <a:srgbClr val="000000"/>
              </a:solidFill>
              <a:latin typeface="Arial"/>
              <a:ea typeface="Arial"/>
              <a:cs typeface="Arial"/>
              <a:sym typeface="Arial"/>
            </a:endParaRPr>
          </a:p>
          <a:p>
            <a:pPr indent="0" lvl="0" marL="0" rtl="0" algn="l">
              <a:lnSpc>
                <a:spcPct val="115000"/>
              </a:lnSpc>
              <a:spcBef>
                <a:spcPts val="1200"/>
              </a:spcBef>
              <a:spcAft>
                <a:spcPts val="0"/>
              </a:spcAft>
              <a:buSzPts val="1800"/>
              <a:buNone/>
            </a:pPr>
            <a:r>
              <a:rPr lang="ro" sz="1400">
                <a:solidFill>
                  <a:srgbClr val="000000"/>
                </a:solidFill>
                <a:latin typeface="Arial"/>
                <a:ea typeface="Arial"/>
                <a:cs typeface="Arial"/>
                <a:sym typeface="Arial"/>
              </a:rPr>
              <a:t>✅ </a:t>
            </a:r>
            <a:r>
              <a:rPr b="1" lang="ro" sz="1400">
                <a:solidFill>
                  <a:srgbClr val="000000"/>
                </a:solidFill>
                <a:latin typeface="Arial"/>
                <a:ea typeface="Arial"/>
                <a:cs typeface="Arial"/>
                <a:sym typeface="Arial"/>
              </a:rPr>
              <a:t>Importance clinique :</a:t>
            </a:r>
            <a:r>
              <a:rPr lang="ro" sz="1400">
                <a:solidFill>
                  <a:srgbClr val="000000"/>
                </a:solidFill>
                <a:latin typeface="Arial"/>
                <a:ea typeface="Arial"/>
                <a:cs typeface="Arial"/>
                <a:sym typeface="Arial"/>
              </a:rPr>
              <a:t> Cette propriété justifie les </a:t>
            </a:r>
            <a:r>
              <a:rPr b="1" lang="ro" sz="1400">
                <a:solidFill>
                  <a:srgbClr val="000000"/>
                </a:solidFill>
                <a:latin typeface="Arial"/>
                <a:ea typeface="Arial"/>
                <a:cs typeface="Arial"/>
                <a:sym typeface="Arial"/>
              </a:rPr>
              <a:t>traitements fractionnés</a:t>
            </a:r>
            <a:r>
              <a:rPr lang="ro" sz="1400">
                <a:solidFill>
                  <a:srgbClr val="000000"/>
                </a:solidFill>
                <a:latin typeface="Arial"/>
                <a:ea typeface="Arial"/>
                <a:cs typeface="Arial"/>
                <a:sym typeface="Arial"/>
              </a:rPr>
              <a:t> pour toucher les cellules à différents moments de leur cycle.</a:t>
            </a:r>
            <a:endParaRPr sz="14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800"/>
              <a:buNone/>
            </a:pPr>
            <a:r>
              <a:t/>
            </a:r>
            <a:endParaRPr sz="2100"/>
          </a:p>
        </p:txBody>
      </p:sp>
      <p:pic>
        <p:nvPicPr>
          <p:cNvPr id="134" name="Google Shape;134;p21" title="Cycle_cell_2.jpg"/>
          <p:cNvPicPr preferRelativeResize="0"/>
          <p:nvPr/>
        </p:nvPicPr>
        <p:blipFill rotWithShape="1">
          <a:blip r:embed="rId3">
            <a:alphaModFix/>
          </a:blip>
          <a:srcRect b="0" l="0" r="0" t="0"/>
          <a:stretch/>
        </p:blipFill>
        <p:spPr>
          <a:xfrm>
            <a:off x="5526000" y="784300"/>
            <a:ext cx="3556050" cy="25362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2"/>
          <p:cNvSpPr txBox="1"/>
          <p:nvPr>
            <p:ph idx="1" type="body"/>
          </p:nvPr>
        </p:nvSpPr>
        <p:spPr>
          <a:xfrm>
            <a:off x="311700" y="833375"/>
            <a:ext cx="8520600" cy="33390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1400"/>
              </a:spcBef>
              <a:spcAft>
                <a:spcPts val="0"/>
              </a:spcAft>
              <a:buSzPts val="1800"/>
              <a:buNone/>
            </a:pPr>
            <a:r>
              <a:rPr b="1" lang="ro" sz="1600">
                <a:solidFill>
                  <a:srgbClr val="000000"/>
                </a:solidFill>
                <a:latin typeface="Arial"/>
                <a:ea typeface="Arial"/>
                <a:cs typeface="Arial"/>
                <a:sym typeface="Arial"/>
              </a:rPr>
              <a:t>3️⃣ Réoxygénation (Reoxygenation)</a:t>
            </a:r>
            <a:endParaRPr b="1" sz="1600">
              <a:solidFill>
                <a:srgbClr val="000000"/>
              </a:solidFill>
              <a:latin typeface="Arial"/>
              <a:ea typeface="Arial"/>
              <a:cs typeface="Arial"/>
              <a:sym typeface="Arial"/>
            </a:endParaRPr>
          </a:p>
          <a:p>
            <a:pPr indent="-317500" lvl="0" marL="457200" rtl="0" algn="just">
              <a:lnSpc>
                <a:spcPct val="115000"/>
              </a:lnSpc>
              <a:spcBef>
                <a:spcPts val="1200"/>
              </a:spcBef>
              <a:spcAft>
                <a:spcPts val="0"/>
              </a:spcAft>
              <a:buClr>
                <a:srgbClr val="000000"/>
              </a:buClr>
              <a:buSzPts val="1400"/>
              <a:buFont typeface="Arial"/>
              <a:buChar char="●"/>
            </a:pPr>
            <a:r>
              <a:rPr b="1" lang="ro" sz="1400">
                <a:solidFill>
                  <a:srgbClr val="000000"/>
                </a:solidFill>
                <a:latin typeface="Arial"/>
                <a:ea typeface="Arial"/>
                <a:cs typeface="Arial"/>
                <a:sym typeface="Arial"/>
              </a:rPr>
              <a:t>Principe :</a:t>
            </a:r>
            <a:r>
              <a:rPr lang="ro" sz="1400">
                <a:solidFill>
                  <a:srgbClr val="000000"/>
                </a:solidFill>
                <a:latin typeface="Arial"/>
                <a:ea typeface="Arial"/>
                <a:cs typeface="Arial"/>
                <a:sym typeface="Arial"/>
              </a:rPr>
              <a:t> Les cellules tumorales situées dans une zone pauvre en oxygène (hypoxie) sont </a:t>
            </a:r>
            <a:r>
              <a:rPr b="1" lang="ro" sz="1400">
                <a:solidFill>
                  <a:srgbClr val="000000"/>
                </a:solidFill>
                <a:latin typeface="Arial"/>
                <a:ea typeface="Arial"/>
                <a:cs typeface="Arial"/>
                <a:sym typeface="Arial"/>
              </a:rPr>
              <a:t>moins sensibles aux rayons</a:t>
            </a:r>
            <a:r>
              <a:rPr lang="ro" sz="1400">
                <a:solidFill>
                  <a:srgbClr val="000000"/>
                </a:solidFill>
                <a:latin typeface="Arial"/>
                <a:ea typeface="Arial"/>
                <a:cs typeface="Arial"/>
                <a:sym typeface="Arial"/>
              </a:rPr>
              <a:t>. Après une irradiation, la destruction des cellules bien oxygénées permet aux cellules hypoxiques de recevoir davantage d’oxygène, les rendant plus sensibles aux doses suivantes.</a:t>
            </a:r>
            <a:endParaRPr sz="1400">
              <a:solidFill>
                <a:srgbClr val="000000"/>
              </a:solidFill>
              <a:latin typeface="Arial"/>
              <a:ea typeface="Arial"/>
              <a:cs typeface="Arial"/>
              <a:sym typeface="Arial"/>
            </a:endParaRPr>
          </a:p>
          <a:p>
            <a:pPr indent="-317500" lvl="0" marL="457200" rtl="0" algn="just">
              <a:lnSpc>
                <a:spcPct val="115000"/>
              </a:lnSpc>
              <a:spcBef>
                <a:spcPts val="0"/>
              </a:spcBef>
              <a:spcAft>
                <a:spcPts val="0"/>
              </a:spcAft>
              <a:buClr>
                <a:srgbClr val="000000"/>
              </a:buClr>
              <a:buSzPts val="1400"/>
              <a:buFont typeface="Arial"/>
              <a:buChar char="●"/>
            </a:pPr>
            <a:r>
              <a:rPr b="1" lang="ro" sz="1400">
                <a:solidFill>
                  <a:srgbClr val="000000"/>
                </a:solidFill>
                <a:latin typeface="Arial"/>
                <a:ea typeface="Arial"/>
                <a:cs typeface="Arial"/>
                <a:sym typeface="Arial"/>
              </a:rPr>
              <a:t>Conséquence :</a:t>
            </a:r>
            <a:r>
              <a:rPr lang="ro" sz="1400">
                <a:solidFill>
                  <a:srgbClr val="000000"/>
                </a:solidFill>
                <a:latin typeface="Arial"/>
                <a:ea typeface="Arial"/>
                <a:cs typeface="Arial"/>
                <a:sym typeface="Arial"/>
              </a:rPr>
              <a:t> Une meilleure oxygénation des cellules tumorales entre les séances augmente l’efficacité du traitement.</a:t>
            </a:r>
            <a:endParaRPr sz="1400">
              <a:solidFill>
                <a:srgbClr val="000000"/>
              </a:solidFill>
              <a:latin typeface="Arial"/>
              <a:ea typeface="Arial"/>
              <a:cs typeface="Arial"/>
              <a:sym typeface="Arial"/>
            </a:endParaRPr>
          </a:p>
          <a:p>
            <a:pPr indent="0" lvl="0" marL="0" rtl="0" algn="just">
              <a:lnSpc>
                <a:spcPct val="115000"/>
              </a:lnSpc>
              <a:spcBef>
                <a:spcPts val="1200"/>
              </a:spcBef>
              <a:spcAft>
                <a:spcPts val="0"/>
              </a:spcAft>
              <a:buSzPts val="1800"/>
              <a:buNone/>
            </a:pPr>
            <a:r>
              <a:rPr lang="ro" sz="1400">
                <a:solidFill>
                  <a:srgbClr val="000000"/>
                </a:solidFill>
                <a:latin typeface="Arial"/>
                <a:ea typeface="Arial"/>
                <a:cs typeface="Arial"/>
                <a:sym typeface="Arial"/>
              </a:rPr>
              <a:t>✅ </a:t>
            </a:r>
            <a:r>
              <a:rPr b="1" lang="ro" sz="1400">
                <a:solidFill>
                  <a:srgbClr val="000000"/>
                </a:solidFill>
                <a:latin typeface="Arial"/>
                <a:ea typeface="Arial"/>
                <a:cs typeface="Arial"/>
                <a:sym typeface="Arial"/>
              </a:rPr>
              <a:t>Importance clinique :</a:t>
            </a:r>
            <a:r>
              <a:rPr lang="ro" sz="1400">
                <a:solidFill>
                  <a:srgbClr val="000000"/>
                </a:solidFill>
                <a:latin typeface="Arial"/>
                <a:ea typeface="Arial"/>
                <a:cs typeface="Arial"/>
                <a:sym typeface="Arial"/>
              </a:rPr>
              <a:t> Ce principe est crucial pour les </a:t>
            </a:r>
            <a:r>
              <a:rPr b="1" lang="ro" sz="1400">
                <a:solidFill>
                  <a:srgbClr val="000000"/>
                </a:solidFill>
                <a:latin typeface="Arial"/>
                <a:ea typeface="Arial"/>
                <a:cs typeface="Arial"/>
                <a:sym typeface="Arial"/>
              </a:rPr>
              <a:t>tumeurs volumineuses ou peu vascularisées</a:t>
            </a:r>
            <a:r>
              <a:rPr lang="ro" sz="1400">
                <a:solidFill>
                  <a:srgbClr val="000000"/>
                </a:solidFill>
                <a:latin typeface="Arial"/>
                <a:ea typeface="Arial"/>
                <a:cs typeface="Arial"/>
                <a:sym typeface="Arial"/>
              </a:rPr>
              <a:t>, car elles bénéficient d’un </a:t>
            </a:r>
            <a:r>
              <a:rPr b="1" lang="ro" sz="1400">
                <a:solidFill>
                  <a:srgbClr val="000000"/>
                </a:solidFill>
                <a:latin typeface="Arial"/>
                <a:ea typeface="Arial"/>
                <a:cs typeface="Arial"/>
                <a:sym typeface="Arial"/>
              </a:rPr>
              <a:t>temps de réoxygénation</a:t>
            </a:r>
            <a:r>
              <a:rPr lang="ro" sz="1400">
                <a:solidFill>
                  <a:srgbClr val="000000"/>
                </a:solidFill>
                <a:latin typeface="Arial"/>
                <a:ea typeface="Arial"/>
                <a:cs typeface="Arial"/>
                <a:sym typeface="Arial"/>
              </a:rPr>
              <a:t> entre les séances.</a:t>
            </a:r>
            <a:endParaRPr sz="1400">
              <a:solidFill>
                <a:srgbClr val="000000"/>
              </a:solidFill>
              <a:latin typeface="Arial"/>
              <a:ea typeface="Arial"/>
              <a:cs typeface="Arial"/>
              <a:sym typeface="Arial"/>
            </a:endParaRPr>
          </a:p>
          <a:p>
            <a:pPr indent="0" lvl="0" marL="0" rtl="0" algn="just">
              <a:lnSpc>
                <a:spcPct val="115000"/>
              </a:lnSpc>
              <a:spcBef>
                <a:spcPts val="1200"/>
              </a:spcBef>
              <a:spcAft>
                <a:spcPts val="1200"/>
              </a:spcAft>
              <a:buSzPts val="1800"/>
              <a:buNone/>
            </a:pPr>
            <a:r>
              <a:t/>
            </a:r>
            <a:endParaRPr sz="21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3"/>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1400"/>
              </a:spcBef>
              <a:spcAft>
                <a:spcPts val="0"/>
              </a:spcAft>
              <a:buSzPts val="1800"/>
              <a:buNone/>
            </a:pPr>
            <a:r>
              <a:rPr b="1" lang="ro" sz="1700">
                <a:solidFill>
                  <a:srgbClr val="000000"/>
                </a:solidFill>
                <a:latin typeface="Arial"/>
                <a:ea typeface="Arial"/>
                <a:cs typeface="Arial"/>
                <a:sym typeface="Arial"/>
              </a:rPr>
              <a:t>4️⃣ Repeuplement cellulaire (Repopulation)</a:t>
            </a:r>
            <a:endParaRPr b="1" sz="1700">
              <a:solidFill>
                <a:srgbClr val="000000"/>
              </a:solidFill>
              <a:latin typeface="Arial"/>
              <a:ea typeface="Arial"/>
              <a:cs typeface="Arial"/>
              <a:sym typeface="Arial"/>
            </a:endParaRPr>
          </a:p>
          <a:p>
            <a:pPr indent="-323850" lvl="0" marL="457200" rtl="0" algn="just">
              <a:lnSpc>
                <a:spcPct val="115000"/>
              </a:lnSpc>
              <a:spcBef>
                <a:spcPts val="1200"/>
              </a:spcBef>
              <a:spcAft>
                <a:spcPts val="0"/>
              </a:spcAft>
              <a:buClr>
                <a:srgbClr val="000000"/>
              </a:buClr>
              <a:buSzPts val="1500"/>
              <a:buFont typeface="Arial"/>
              <a:buChar char="●"/>
            </a:pPr>
            <a:r>
              <a:rPr b="1" lang="ro" sz="1500">
                <a:solidFill>
                  <a:srgbClr val="000000"/>
                </a:solidFill>
                <a:latin typeface="Arial"/>
                <a:ea typeface="Arial"/>
                <a:cs typeface="Arial"/>
                <a:sym typeface="Arial"/>
              </a:rPr>
              <a:t>Principe :</a:t>
            </a:r>
            <a:r>
              <a:rPr lang="ro" sz="1500">
                <a:solidFill>
                  <a:srgbClr val="000000"/>
                </a:solidFill>
                <a:latin typeface="Arial"/>
                <a:ea typeface="Arial"/>
                <a:cs typeface="Arial"/>
                <a:sym typeface="Arial"/>
              </a:rPr>
              <a:t> Après une irradiation, les cellules survivantes (saines ou tumorales) peuvent accélérer leur </a:t>
            </a:r>
            <a:r>
              <a:rPr b="1" lang="ro" sz="1500">
                <a:solidFill>
                  <a:srgbClr val="000000"/>
                </a:solidFill>
                <a:latin typeface="Arial"/>
                <a:ea typeface="Arial"/>
                <a:cs typeface="Arial"/>
                <a:sym typeface="Arial"/>
              </a:rPr>
              <a:t>prolifération</a:t>
            </a:r>
            <a:r>
              <a:rPr lang="ro" sz="1500">
                <a:solidFill>
                  <a:srgbClr val="000000"/>
                </a:solidFill>
                <a:latin typeface="Arial"/>
                <a:ea typeface="Arial"/>
                <a:cs typeface="Arial"/>
                <a:sym typeface="Arial"/>
              </a:rPr>
              <a:t>pour compenser les pertes.</a:t>
            </a:r>
            <a:endParaRPr sz="1500">
              <a:solidFill>
                <a:srgbClr val="000000"/>
              </a:solidFill>
              <a:latin typeface="Arial"/>
              <a:ea typeface="Arial"/>
              <a:cs typeface="Arial"/>
              <a:sym typeface="Arial"/>
            </a:endParaRPr>
          </a:p>
          <a:p>
            <a:pPr indent="-323850" lvl="0" marL="457200" rtl="0" algn="just">
              <a:lnSpc>
                <a:spcPct val="115000"/>
              </a:lnSpc>
              <a:spcBef>
                <a:spcPts val="0"/>
              </a:spcBef>
              <a:spcAft>
                <a:spcPts val="0"/>
              </a:spcAft>
              <a:buClr>
                <a:srgbClr val="000000"/>
              </a:buClr>
              <a:buSzPts val="1500"/>
              <a:buFont typeface="Arial"/>
              <a:buChar char="●"/>
            </a:pPr>
            <a:r>
              <a:rPr b="1" lang="ro" sz="1500">
                <a:solidFill>
                  <a:srgbClr val="000000"/>
                </a:solidFill>
                <a:latin typeface="Arial"/>
                <a:ea typeface="Arial"/>
                <a:cs typeface="Arial"/>
                <a:sym typeface="Arial"/>
              </a:rPr>
              <a:t>Conséquence :</a:t>
            </a:r>
            <a:r>
              <a:rPr lang="ro" sz="1500">
                <a:solidFill>
                  <a:srgbClr val="000000"/>
                </a:solidFill>
                <a:latin typeface="Arial"/>
                <a:ea typeface="Arial"/>
                <a:cs typeface="Arial"/>
                <a:sym typeface="Arial"/>
              </a:rPr>
              <a:t> Un </a:t>
            </a:r>
            <a:r>
              <a:rPr b="1" lang="ro" sz="1500">
                <a:solidFill>
                  <a:srgbClr val="000000"/>
                </a:solidFill>
                <a:latin typeface="Arial"/>
                <a:ea typeface="Arial"/>
                <a:cs typeface="Arial"/>
                <a:sym typeface="Arial"/>
              </a:rPr>
              <a:t>allongement du traitement</a:t>
            </a:r>
            <a:r>
              <a:rPr lang="ro" sz="1500">
                <a:solidFill>
                  <a:srgbClr val="000000"/>
                </a:solidFill>
                <a:latin typeface="Arial"/>
                <a:ea typeface="Arial"/>
                <a:cs typeface="Arial"/>
                <a:sym typeface="Arial"/>
              </a:rPr>
              <a:t> peut favoriser la prolifération des cellules tumorales restantes.</a:t>
            </a:r>
            <a:endParaRPr sz="1500">
              <a:solidFill>
                <a:srgbClr val="000000"/>
              </a:solidFill>
              <a:latin typeface="Arial"/>
              <a:ea typeface="Arial"/>
              <a:cs typeface="Arial"/>
              <a:sym typeface="Arial"/>
            </a:endParaRPr>
          </a:p>
          <a:p>
            <a:pPr indent="0" lvl="0" marL="0" rtl="0" algn="just">
              <a:lnSpc>
                <a:spcPct val="115000"/>
              </a:lnSpc>
              <a:spcBef>
                <a:spcPts val="1200"/>
              </a:spcBef>
              <a:spcAft>
                <a:spcPts val="0"/>
              </a:spcAft>
              <a:buSzPts val="1800"/>
              <a:buNone/>
            </a:pPr>
            <a:r>
              <a:rPr lang="ro" sz="1500">
                <a:solidFill>
                  <a:srgbClr val="000000"/>
                </a:solidFill>
                <a:latin typeface="Arial"/>
                <a:ea typeface="Arial"/>
                <a:cs typeface="Arial"/>
                <a:sym typeface="Arial"/>
              </a:rPr>
              <a:t>✅ </a:t>
            </a:r>
            <a:r>
              <a:rPr b="1" lang="ro" sz="1500">
                <a:solidFill>
                  <a:srgbClr val="000000"/>
                </a:solidFill>
                <a:latin typeface="Arial"/>
                <a:ea typeface="Arial"/>
                <a:cs typeface="Arial"/>
                <a:sym typeface="Arial"/>
              </a:rPr>
              <a:t>Importance clinique :</a:t>
            </a:r>
            <a:r>
              <a:rPr lang="ro" sz="1500">
                <a:solidFill>
                  <a:srgbClr val="000000"/>
                </a:solidFill>
                <a:latin typeface="Arial"/>
                <a:ea typeface="Arial"/>
                <a:cs typeface="Arial"/>
                <a:sym typeface="Arial"/>
              </a:rPr>
              <a:t> Cela explique l’importance de respecter les </a:t>
            </a:r>
            <a:r>
              <a:rPr b="1" lang="ro" sz="1500">
                <a:solidFill>
                  <a:srgbClr val="000000"/>
                </a:solidFill>
                <a:latin typeface="Arial"/>
                <a:ea typeface="Arial"/>
                <a:cs typeface="Arial"/>
                <a:sym typeface="Arial"/>
              </a:rPr>
              <a:t>délais de traitement</a:t>
            </a:r>
            <a:r>
              <a:rPr lang="ro" sz="1500">
                <a:solidFill>
                  <a:srgbClr val="000000"/>
                </a:solidFill>
                <a:latin typeface="Arial"/>
                <a:ea typeface="Arial"/>
                <a:cs typeface="Arial"/>
                <a:sym typeface="Arial"/>
              </a:rPr>
              <a:t> et d’éviter les interruptions prolongées.</a:t>
            </a:r>
            <a:endParaRPr sz="1500">
              <a:solidFill>
                <a:srgbClr val="000000"/>
              </a:solidFill>
              <a:latin typeface="Arial"/>
              <a:ea typeface="Arial"/>
              <a:cs typeface="Arial"/>
              <a:sym typeface="Arial"/>
            </a:endParaRPr>
          </a:p>
          <a:p>
            <a:pPr indent="0" lvl="0" marL="0" rtl="0" algn="just">
              <a:lnSpc>
                <a:spcPct val="115000"/>
              </a:lnSpc>
              <a:spcBef>
                <a:spcPts val="1200"/>
              </a:spcBef>
              <a:spcAft>
                <a:spcPts val="1200"/>
              </a:spcAft>
              <a:buSzPts val="1800"/>
              <a:buNone/>
            </a:pPr>
            <a:r>
              <a:t/>
            </a:r>
            <a:endParaRPr sz="22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4"/>
          <p:cNvSpPr txBox="1"/>
          <p:nvPr>
            <p:ph idx="1" type="body"/>
          </p:nvPr>
        </p:nvSpPr>
        <p:spPr>
          <a:xfrm>
            <a:off x="311700" y="796200"/>
            <a:ext cx="8520600" cy="33390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400"/>
              </a:spcBef>
              <a:spcAft>
                <a:spcPts val="0"/>
              </a:spcAft>
              <a:buSzPts val="1800"/>
              <a:buNone/>
            </a:pPr>
            <a:r>
              <a:rPr b="1" lang="ro" sz="1700">
                <a:solidFill>
                  <a:srgbClr val="000000"/>
                </a:solidFill>
                <a:latin typeface="Arial"/>
                <a:ea typeface="Arial"/>
                <a:cs typeface="Arial"/>
                <a:sym typeface="Arial"/>
              </a:rPr>
              <a:t>5️⃣ Radiosensibilité (Radiosensitivity)</a:t>
            </a:r>
            <a:endParaRPr b="1" sz="1700">
              <a:solidFill>
                <a:srgbClr val="000000"/>
              </a:solidFill>
              <a:latin typeface="Arial"/>
              <a:ea typeface="Arial"/>
              <a:cs typeface="Arial"/>
              <a:sym typeface="Arial"/>
            </a:endParaRPr>
          </a:p>
          <a:p>
            <a:pPr indent="-323850" lvl="0" marL="457200" rtl="0" algn="just">
              <a:lnSpc>
                <a:spcPct val="115000"/>
              </a:lnSpc>
              <a:spcBef>
                <a:spcPts val="1200"/>
              </a:spcBef>
              <a:spcAft>
                <a:spcPts val="0"/>
              </a:spcAft>
              <a:buClr>
                <a:srgbClr val="000000"/>
              </a:buClr>
              <a:buSzPts val="1500"/>
              <a:buFont typeface="Arial"/>
              <a:buChar char="●"/>
            </a:pPr>
            <a:r>
              <a:rPr b="1" lang="ro" sz="1500">
                <a:solidFill>
                  <a:srgbClr val="000000"/>
                </a:solidFill>
                <a:latin typeface="Arial"/>
                <a:ea typeface="Arial"/>
                <a:cs typeface="Arial"/>
                <a:sym typeface="Arial"/>
              </a:rPr>
              <a:t>Principe :</a:t>
            </a:r>
            <a:r>
              <a:rPr lang="ro" sz="1500">
                <a:solidFill>
                  <a:srgbClr val="000000"/>
                </a:solidFill>
                <a:latin typeface="Arial"/>
                <a:ea typeface="Arial"/>
                <a:cs typeface="Arial"/>
                <a:sym typeface="Arial"/>
              </a:rPr>
              <a:t> Toutes les cellules n'ont pas la même sensibilité aux rayonnements. Certaines tumeurs sont très sensibles (ex : lymphomes), tandis que d’autres sont plus résistantes (ex : glioblastomes).</a:t>
            </a:r>
            <a:endParaRPr sz="1500">
              <a:solidFill>
                <a:srgbClr val="000000"/>
              </a:solidFill>
              <a:latin typeface="Arial"/>
              <a:ea typeface="Arial"/>
              <a:cs typeface="Arial"/>
              <a:sym typeface="Arial"/>
            </a:endParaRPr>
          </a:p>
          <a:p>
            <a:pPr indent="-323850" lvl="0" marL="457200" rtl="0" algn="just">
              <a:lnSpc>
                <a:spcPct val="115000"/>
              </a:lnSpc>
              <a:spcBef>
                <a:spcPts val="0"/>
              </a:spcBef>
              <a:spcAft>
                <a:spcPts val="0"/>
              </a:spcAft>
              <a:buClr>
                <a:srgbClr val="000000"/>
              </a:buClr>
              <a:buSzPts val="1500"/>
              <a:buFont typeface="Arial"/>
              <a:buChar char="●"/>
            </a:pPr>
            <a:r>
              <a:rPr b="1" lang="ro" sz="1500">
                <a:solidFill>
                  <a:srgbClr val="000000"/>
                </a:solidFill>
                <a:latin typeface="Arial"/>
                <a:ea typeface="Arial"/>
                <a:cs typeface="Arial"/>
                <a:sym typeface="Arial"/>
              </a:rPr>
              <a:t>Facteurs influençant la radiosensibilité :</a:t>
            </a:r>
            <a:endParaRPr b="1" sz="1500">
              <a:solidFill>
                <a:srgbClr val="000000"/>
              </a:solidFill>
              <a:latin typeface="Arial"/>
              <a:ea typeface="Arial"/>
              <a:cs typeface="Arial"/>
              <a:sym typeface="Arial"/>
            </a:endParaRPr>
          </a:p>
          <a:p>
            <a:pPr indent="-323850" lvl="1" marL="914400" rtl="0" algn="just">
              <a:lnSpc>
                <a:spcPct val="115000"/>
              </a:lnSpc>
              <a:spcBef>
                <a:spcPts val="0"/>
              </a:spcBef>
              <a:spcAft>
                <a:spcPts val="0"/>
              </a:spcAft>
              <a:buClr>
                <a:srgbClr val="000000"/>
              </a:buClr>
              <a:buSzPts val="1500"/>
              <a:buFont typeface="Arial"/>
              <a:buChar char="○"/>
            </a:pPr>
            <a:r>
              <a:rPr lang="ro" sz="1500">
                <a:solidFill>
                  <a:srgbClr val="000000"/>
                </a:solidFill>
                <a:latin typeface="Arial"/>
                <a:ea typeface="Arial"/>
                <a:cs typeface="Arial"/>
                <a:sym typeface="Arial"/>
              </a:rPr>
              <a:t>Le type de cellule (tumeur vs tissu sain).</a:t>
            </a:r>
            <a:endParaRPr sz="1500">
              <a:solidFill>
                <a:srgbClr val="000000"/>
              </a:solidFill>
              <a:latin typeface="Arial"/>
              <a:ea typeface="Arial"/>
              <a:cs typeface="Arial"/>
              <a:sym typeface="Arial"/>
            </a:endParaRPr>
          </a:p>
          <a:p>
            <a:pPr indent="-323850" lvl="1" marL="914400" rtl="0" algn="just">
              <a:lnSpc>
                <a:spcPct val="115000"/>
              </a:lnSpc>
              <a:spcBef>
                <a:spcPts val="0"/>
              </a:spcBef>
              <a:spcAft>
                <a:spcPts val="0"/>
              </a:spcAft>
              <a:buClr>
                <a:srgbClr val="000000"/>
              </a:buClr>
              <a:buSzPts val="1500"/>
              <a:buFont typeface="Arial"/>
              <a:buChar char="○"/>
            </a:pPr>
            <a:r>
              <a:rPr lang="ro" sz="1500">
                <a:solidFill>
                  <a:srgbClr val="000000"/>
                </a:solidFill>
                <a:latin typeface="Arial"/>
                <a:ea typeface="Arial"/>
                <a:cs typeface="Arial"/>
                <a:sym typeface="Arial"/>
              </a:rPr>
              <a:t>La présence d’oxygène (plus de radiosensibilité en milieu oxygéné).</a:t>
            </a:r>
            <a:endParaRPr sz="1500">
              <a:solidFill>
                <a:srgbClr val="000000"/>
              </a:solidFill>
              <a:latin typeface="Arial"/>
              <a:ea typeface="Arial"/>
              <a:cs typeface="Arial"/>
              <a:sym typeface="Arial"/>
            </a:endParaRPr>
          </a:p>
          <a:p>
            <a:pPr indent="-323850" lvl="1" marL="914400" rtl="0" algn="just">
              <a:lnSpc>
                <a:spcPct val="115000"/>
              </a:lnSpc>
              <a:spcBef>
                <a:spcPts val="0"/>
              </a:spcBef>
              <a:spcAft>
                <a:spcPts val="0"/>
              </a:spcAft>
              <a:buClr>
                <a:srgbClr val="000000"/>
              </a:buClr>
              <a:buSzPts val="1500"/>
              <a:buFont typeface="Arial"/>
              <a:buChar char="○"/>
            </a:pPr>
            <a:r>
              <a:rPr lang="ro" sz="1500">
                <a:solidFill>
                  <a:srgbClr val="000000"/>
                </a:solidFill>
                <a:latin typeface="Arial"/>
                <a:ea typeface="Arial"/>
                <a:cs typeface="Arial"/>
                <a:sym typeface="Arial"/>
              </a:rPr>
              <a:t>Les caractéristiques génétiques de la tumeur.</a:t>
            </a:r>
            <a:endParaRPr sz="1500">
              <a:solidFill>
                <a:srgbClr val="000000"/>
              </a:solidFill>
              <a:latin typeface="Arial"/>
              <a:ea typeface="Arial"/>
              <a:cs typeface="Arial"/>
              <a:sym typeface="Arial"/>
            </a:endParaRPr>
          </a:p>
          <a:p>
            <a:pPr indent="0" lvl="0" marL="0" rtl="0" algn="just">
              <a:lnSpc>
                <a:spcPct val="115000"/>
              </a:lnSpc>
              <a:spcBef>
                <a:spcPts val="1200"/>
              </a:spcBef>
              <a:spcAft>
                <a:spcPts val="0"/>
              </a:spcAft>
              <a:buSzPts val="1800"/>
              <a:buNone/>
            </a:pPr>
            <a:r>
              <a:rPr lang="ro" sz="1500">
                <a:solidFill>
                  <a:srgbClr val="000000"/>
                </a:solidFill>
                <a:latin typeface="Arial"/>
                <a:ea typeface="Arial"/>
                <a:cs typeface="Arial"/>
                <a:sym typeface="Arial"/>
              </a:rPr>
              <a:t>✅ </a:t>
            </a:r>
            <a:r>
              <a:rPr b="1" lang="ro" sz="1500">
                <a:solidFill>
                  <a:srgbClr val="000000"/>
                </a:solidFill>
                <a:latin typeface="Arial"/>
                <a:ea typeface="Arial"/>
                <a:cs typeface="Arial"/>
                <a:sym typeface="Arial"/>
              </a:rPr>
              <a:t>Importance clinique :</a:t>
            </a:r>
            <a:r>
              <a:rPr lang="ro" sz="1500">
                <a:solidFill>
                  <a:srgbClr val="000000"/>
                </a:solidFill>
                <a:latin typeface="Arial"/>
                <a:ea typeface="Arial"/>
                <a:cs typeface="Arial"/>
                <a:sym typeface="Arial"/>
              </a:rPr>
              <a:t> Adapter la </a:t>
            </a:r>
            <a:r>
              <a:rPr b="1" lang="ro" sz="1500">
                <a:solidFill>
                  <a:srgbClr val="000000"/>
                </a:solidFill>
                <a:latin typeface="Arial"/>
                <a:ea typeface="Arial"/>
                <a:cs typeface="Arial"/>
                <a:sym typeface="Arial"/>
              </a:rPr>
              <a:t>dose</a:t>
            </a:r>
            <a:r>
              <a:rPr lang="ro" sz="1500">
                <a:solidFill>
                  <a:srgbClr val="000000"/>
                </a:solidFill>
                <a:latin typeface="Arial"/>
                <a:ea typeface="Arial"/>
                <a:cs typeface="Arial"/>
                <a:sym typeface="Arial"/>
              </a:rPr>
              <a:t> et la </a:t>
            </a:r>
            <a:r>
              <a:rPr b="1" lang="ro" sz="1500">
                <a:solidFill>
                  <a:srgbClr val="000000"/>
                </a:solidFill>
                <a:latin typeface="Arial"/>
                <a:ea typeface="Arial"/>
                <a:cs typeface="Arial"/>
                <a:sym typeface="Arial"/>
              </a:rPr>
              <a:t>technique</a:t>
            </a:r>
            <a:r>
              <a:rPr lang="ro" sz="1500">
                <a:solidFill>
                  <a:srgbClr val="000000"/>
                </a:solidFill>
                <a:latin typeface="Arial"/>
                <a:ea typeface="Arial"/>
                <a:cs typeface="Arial"/>
                <a:sym typeface="Arial"/>
              </a:rPr>
              <a:t> de radiothérapie selon le type de cancer et la </a:t>
            </a:r>
            <a:r>
              <a:rPr b="1" lang="ro" sz="1500">
                <a:solidFill>
                  <a:srgbClr val="000000"/>
                </a:solidFill>
                <a:latin typeface="Arial"/>
                <a:ea typeface="Arial"/>
                <a:cs typeface="Arial"/>
                <a:sym typeface="Arial"/>
              </a:rPr>
              <a:t>radiosensibilité</a:t>
            </a:r>
            <a:r>
              <a:rPr lang="ro" sz="1500">
                <a:solidFill>
                  <a:srgbClr val="000000"/>
                </a:solidFill>
                <a:latin typeface="Arial"/>
                <a:ea typeface="Arial"/>
                <a:cs typeface="Arial"/>
                <a:sym typeface="Arial"/>
              </a:rPr>
              <a:t>.</a:t>
            </a:r>
            <a:endParaRPr sz="1500">
              <a:solidFill>
                <a:srgbClr val="000000"/>
              </a:solidFill>
              <a:latin typeface="Arial"/>
              <a:ea typeface="Arial"/>
              <a:cs typeface="Arial"/>
              <a:sym typeface="Arial"/>
            </a:endParaRPr>
          </a:p>
          <a:p>
            <a:pPr indent="0" lvl="0" marL="0" rtl="0" algn="just">
              <a:lnSpc>
                <a:spcPct val="115000"/>
              </a:lnSpc>
              <a:spcBef>
                <a:spcPts val="1200"/>
              </a:spcBef>
              <a:spcAft>
                <a:spcPts val="1200"/>
              </a:spcAft>
              <a:buSzPts val="1800"/>
              <a:buNone/>
            </a:pPr>
            <a:r>
              <a:t/>
            </a:r>
            <a:endParaRPr sz="22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5"/>
          <p:cNvSpPr txBox="1"/>
          <p:nvPr>
            <p:ph idx="1" type="body"/>
          </p:nvPr>
        </p:nvSpPr>
        <p:spPr>
          <a:xfrm>
            <a:off x="311700" y="656675"/>
            <a:ext cx="8520600" cy="39123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1800"/>
              </a:spcBef>
              <a:spcAft>
                <a:spcPts val="0"/>
              </a:spcAft>
              <a:buSzPts val="1800"/>
              <a:buNone/>
            </a:pPr>
            <a:r>
              <a:rPr b="1" lang="ro" sz="2100">
                <a:solidFill>
                  <a:srgbClr val="000000"/>
                </a:solidFill>
                <a:latin typeface="Arial"/>
                <a:ea typeface="Arial"/>
                <a:cs typeface="Arial"/>
                <a:sym typeface="Arial"/>
              </a:rPr>
              <a:t>➕ Un 6ème R : La Réaction immunitaire (Radioimmunologie)</a:t>
            </a:r>
            <a:endParaRPr b="1" sz="2100">
              <a:solidFill>
                <a:srgbClr val="000000"/>
              </a:solidFill>
              <a:latin typeface="Arial"/>
              <a:ea typeface="Arial"/>
              <a:cs typeface="Arial"/>
              <a:sym typeface="Arial"/>
            </a:endParaRPr>
          </a:p>
          <a:p>
            <a:pPr indent="-323850" lvl="0" marL="457200" rtl="0" algn="just">
              <a:lnSpc>
                <a:spcPct val="115000"/>
              </a:lnSpc>
              <a:spcBef>
                <a:spcPts val="1200"/>
              </a:spcBef>
              <a:spcAft>
                <a:spcPts val="0"/>
              </a:spcAft>
              <a:buClr>
                <a:srgbClr val="000000"/>
              </a:buClr>
              <a:buSzPts val="1500"/>
              <a:buFont typeface="Arial"/>
              <a:buChar char="●"/>
            </a:pPr>
            <a:r>
              <a:rPr b="1" lang="ro" sz="1500">
                <a:solidFill>
                  <a:srgbClr val="000000"/>
                </a:solidFill>
                <a:latin typeface="Arial"/>
                <a:ea typeface="Arial"/>
                <a:cs typeface="Arial"/>
                <a:sym typeface="Arial"/>
              </a:rPr>
              <a:t>Principe :</a:t>
            </a:r>
            <a:r>
              <a:rPr lang="ro" sz="1500">
                <a:solidFill>
                  <a:srgbClr val="000000"/>
                </a:solidFill>
                <a:latin typeface="Arial"/>
                <a:ea typeface="Arial"/>
                <a:cs typeface="Arial"/>
                <a:sym typeface="Arial"/>
              </a:rPr>
              <a:t> L’irradiation peut stimuler la réponse immunitaire en libérant des </a:t>
            </a:r>
            <a:r>
              <a:rPr b="1" lang="ro" sz="1500">
                <a:solidFill>
                  <a:srgbClr val="000000"/>
                </a:solidFill>
                <a:latin typeface="Arial"/>
                <a:ea typeface="Arial"/>
                <a:cs typeface="Arial"/>
                <a:sym typeface="Arial"/>
              </a:rPr>
              <a:t>antigènes tumoraux</a:t>
            </a:r>
            <a:r>
              <a:rPr lang="ro" sz="1500">
                <a:solidFill>
                  <a:srgbClr val="000000"/>
                </a:solidFill>
                <a:latin typeface="Arial"/>
                <a:ea typeface="Arial"/>
                <a:cs typeface="Arial"/>
                <a:sym typeface="Arial"/>
              </a:rPr>
              <a:t>. Cela peut activer le système immunitaire pour détruire les cellules cancéreuses restantes.</a:t>
            </a:r>
            <a:endParaRPr sz="1500">
              <a:solidFill>
                <a:srgbClr val="000000"/>
              </a:solidFill>
              <a:latin typeface="Arial"/>
              <a:ea typeface="Arial"/>
              <a:cs typeface="Arial"/>
              <a:sym typeface="Arial"/>
            </a:endParaRPr>
          </a:p>
          <a:p>
            <a:pPr indent="-323850" lvl="0" marL="457200" rtl="0" algn="just">
              <a:lnSpc>
                <a:spcPct val="115000"/>
              </a:lnSpc>
              <a:spcBef>
                <a:spcPts val="0"/>
              </a:spcBef>
              <a:spcAft>
                <a:spcPts val="0"/>
              </a:spcAft>
              <a:buClr>
                <a:srgbClr val="000000"/>
              </a:buClr>
              <a:buSzPts val="1500"/>
              <a:buFont typeface="Arial"/>
              <a:buChar char="●"/>
            </a:pPr>
            <a:r>
              <a:rPr b="1" lang="ro" sz="1500">
                <a:solidFill>
                  <a:srgbClr val="000000"/>
                </a:solidFill>
                <a:latin typeface="Arial"/>
                <a:ea typeface="Arial"/>
                <a:cs typeface="Arial"/>
                <a:sym typeface="Arial"/>
              </a:rPr>
              <a:t>Conséquence :</a:t>
            </a:r>
            <a:r>
              <a:rPr lang="ro" sz="1500">
                <a:solidFill>
                  <a:srgbClr val="000000"/>
                </a:solidFill>
                <a:latin typeface="Arial"/>
                <a:ea typeface="Arial"/>
                <a:cs typeface="Arial"/>
                <a:sym typeface="Arial"/>
              </a:rPr>
              <a:t> La radiothérapie, combinée aux </a:t>
            </a:r>
            <a:r>
              <a:rPr b="1" lang="ro" sz="1500">
                <a:solidFill>
                  <a:srgbClr val="000000"/>
                </a:solidFill>
                <a:latin typeface="Arial"/>
                <a:ea typeface="Arial"/>
                <a:cs typeface="Arial"/>
                <a:sym typeface="Arial"/>
              </a:rPr>
              <a:t>immunothérapies</a:t>
            </a:r>
            <a:r>
              <a:rPr lang="ro" sz="1500">
                <a:solidFill>
                  <a:srgbClr val="000000"/>
                </a:solidFill>
                <a:latin typeface="Arial"/>
                <a:ea typeface="Arial"/>
                <a:cs typeface="Arial"/>
                <a:sym typeface="Arial"/>
              </a:rPr>
              <a:t>, améliore parfois les résultats en augmentant l’effet abscopal (destruction de métastases à distance).</a:t>
            </a:r>
            <a:endParaRPr sz="1500">
              <a:solidFill>
                <a:srgbClr val="000000"/>
              </a:solidFill>
              <a:latin typeface="Arial"/>
              <a:ea typeface="Arial"/>
              <a:cs typeface="Arial"/>
              <a:sym typeface="Arial"/>
            </a:endParaRPr>
          </a:p>
          <a:p>
            <a:pPr indent="0" lvl="0" marL="0" rtl="0" algn="just">
              <a:lnSpc>
                <a:spcPct val="115000"/>
              </a:lnSpc>
              <a:spcBef>
                <a:spcPts val="1200"/>
              </a:spcBef>
              <a:spcAft>
                <a:spcPts val="0"/>
              </a:spcAft>
              <a:buSzPts val="1800"/>
              <a:buNone/>
            </a:pPr>
            <a:r>
              <a:rPr lang="ro" sz="1500">
                <a:solidFill>
                  <a:srgbClr val="000000"/>
                </a:solidFill>
                <a:latin typeface="Arial"/>
                <a:ea typeface="Arial"/>
                <a:cs typeface="Arial"/>
                <a:sym typeface="Arial"/>
              </a:rPr>
              <a:t>✅ </a:t>
            </a:r>
            <a:r>
              <a:rPr b="1" lang="ro" sz="1500">
                <a:solidFill>
                  <a:srgbClr val="000000"/>
                </a:solidFill>
                <a:latin typeface="Arial"/>
                <a:ea typeface="Arial"/>
                <a:cs typeface="Arial"/>
                <a:sym typeface="Arial"/>
              </a:rPr>
              <a:t>Importance clinique :</a:t>
            </a:r>
            <a:r>
              <a:rPr lang="ro" sz="1500">
                <a:solidFill>
                  <a:srgbClr val="000000"/>
                </a:solidFill>
                <a:latin typeface="Arial"/>
                <a:ea typeface="Arial"/>
                <a:cs typeface="Arial"/>
                <a:sym typeface="Arial"/>
              </a:rPr>
              <a:t> Ce principe est exploité dans les approches modernes combinant </a:t>
            </a:r>
            <a:r>
              <a:rPr b="1" lang="ro" sz="1500">
                <a:solidFill>
                  <a:srgbClr val="000000"/>
                </a:solidFill>
                <a:latin typeface="Arial"/>
                <a:ea typeface="Arial"/>
                <a:cs typeface="Arial"/>
                <a:sym typeface="Arial"/>
              </a:rPr>
              <a:t>radiothérapie et immunothérapie</a:t>
            </a:r>
            <a:r>
              <a:rPr lang="ro" sz="1500">
                <a:solidFill>
                  <a:srgbClr val="000000"/>
                </a:solidFill>
                <a:latin typeface="Arial"/>
                <a:ea typeface="Arial"/>
                <a:cs typeface="Arial"/>
                <a:sym typeface="Arial"/>
              </a:rPr>
              <a:t>.</a:t>
            </a:r>
            <a:endParaRPr sz="1500">
              <a:solidFill>
                <a:srgbClr val="000000"/>
              </a:solidFill>
              <a:latin typeface="Arial"/>
              <a:ea typeface="Arial"/>
              <a:cs typeface="Arial"/>
              <a:sym typeface="Arial"/>
            </a:endParaRPr>
          </a:p>
          <a:p>
            <a:pPr indent="0" lvl="0" marL="0" rtl="0" algn="just">
              <a:lnSpc>
                <a:spcPct val="115000"/>
              </a:lnSpc>
              <a:spcBef>
                <a:spcPts val="1200"/>
              </a:spcBef>
              <a:spcAft>
                <a:spcPts val="1200"/>
              </a:spcAft>
              <a:buSzPts val="1800"/>
              <a:buNone/>
            </a:pPr>
            <a:r>
              <a:t/>
            </a:r>
            <a:endParaRPr sz="22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pic>
        <p:nvPicPr>
          <p:cNvPr id="159" name="Google Shape;159;p26" title="Screenshot 2025-03-23 at 14.06.49.png"/>
          <p:cNvPicPr preferRelativeResize="0"/>
          <p:nvPr/>
        </p:nvPicPr>
        <p:blipFill rotWithShape="1">
          <a:blip r:embed="rId3">
            <a:alphaModFix/>
          </a:blip>
          <a:srcRect b="0" l="0" r="0" t="0"/>
          <a:stretch/>
        </p:blipFill>
        <p:spPr>
          <a:xfrm>
            <a:off x="454150" y="198250"/>
            <a:ext cx="8349273" cy="45326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7"/>
          <p:cNvSpPr txBox="1"/>
          <p:nvPr>
            <p:ph type="title"/>
          </p:nvPr>
        </p:nvSpPr>
        <p:spPr>
          <a:xfrm>
            <a:off x="1585950" y="402425"/>
            <a:ext cx="5723700" cy="2249100"/>
          </a:xfrm>
          <a:prstGeom prst="rect">
            <a:avLst/>
          </a:prstGeom>
          <a:noFill/>
          <a:ln>
            <a:noFill/>
          </a:ln>
        </p:spPr>
        <p:txBody>
          <a:bodyPr anchorCtr="0" anchor="ctr" bIns="91425" lIns="91425" spcFirstLastPara="1" rIns="91425" wrap="square" tIns="91425">
            <a:normAutofit fontScale="90000"/>
          </a:bodyPr>
          <a:lstStyle/>
          <a:p>
            <a:pPr indent="0" lvl="0" marL="0" rtl="0" algn="ctr">
              <a:lnSpc>
                <a:spcPct val="110000"/>
              </a:lnSpc>
              <a:spcBef>
                <a:spcPts val="0"/>
              </a:spcBef>
              <a:spcAft>
                <a:spcPts val="0"/>
              </a:spcAft>
              <a:buSzPct val="148148"/>
              <a:buNone/>
            </a:pPr>
            <a:r>
              <a:t/>
            </a:r>
            <a:endParaRPr b="1" sz="3600">
              <a:latin typeface="Arial"/>
              <a:ea typeface="Arial"/>
              <a:cs typeface="Arial"/>
              <a:sym typeface="Arial"/>
            </a:endParaRPr>
          </a:p>
          <a:p>
            <a:pPr indent="0" lvl="0" marL="0" rtl="0" algn="ctr">
              <a:lnSpc>
                <a:spcPct val="110000"/>
              </a:lnSpc>
              <a:spcBef>
                <a:spcPts val="1100"/>
              </a:spcBef>
              <a:spcAft>
                <a:spcPts val="0"/>
              </a:spcAft>
              <a:buSzPct val="148148"/>
              <a:buNone/>
            </a:pPr>
            <a:r>
              <a:t/>
            </a:r>
            <a:endParaRPr b="1" sz="3600">
              <a:latin typeface="Arial"/>
              <a:ea typeface="Arial"/>
              <a:cs typeface="Arial"/>
              <a:sym typeface="Arial"/>
            </a:endParaRPr>
          </a:p>
          <a:p>
            <a:pPr indent="0" lvl="0" marL="0" rtl="0" algn="ctr">
              <a:lnSpc>
                <a:spcPct val="110000"/>
              </a:lnSpc>
              <a:spcBef>
                <a:spcPts val="1100"/>
              </a:spcBef>
              <a:spcAft>
                <a:spcPts val="0"/>
              </a:spcAft>
              <a:buSzPct val="148148"/>
              <a:buNone/>
            </a:pPr>
            <a:r>
              <a:t/>
            </a:r>
            <a:endParaRPr b="1" sz="3600">
              <a:latin typeface="Arial"/>
              <a:ea typeface="Arial"/>
              <a:cs typeface="Arial"/>
              <a:sym typeface="Arial"/>
            </a:endParaRPr>
          </a:p>
          <a:p>
            <a:pPr indent="0" lvl="0" marL="0" rtl="0" algn="ctr">
              <a:lnSpc>
                <a:spcPct val="110000"/>
              </a:lnSpc>
              <a:spcBef>
                <a:spcPts val="1100"/>
              </a:spcBef>
              <a:spcAft>
                <a:spcPts val="0"/>
              </a:spcAft>
              <a:buSzPct val="148148"/>
              <a:buNone/>
            </a:pPr>
            <a:r>
              <a:rPr b="1" lang="ro" sz="3600">
                <a:latin typeface="Arial"/>
                <a:ea typeface="Arial"/>
                <a:cs typeface="Arial"/>
                <a:sym typeface="Arial"/>
              </a:rPr>
              <a:t>Le parcours de soins en radiothérapie</a:t>
            </a:r>
            <a:endParaRPr b="1" sz="3600">
              <a:latin typeface="Arial"/>
              <a:ea typeface="Arial"/>
              <a:cs typeface="Arial"/>
              <a:sym typeface="Arial"/>
            </a:endParaRPr>
          </a:p>
          <a:p>
            <a:pPr indent="0" lvl="0" marL="0" rtl="0" algn="ctr">
              <a:lnSpc>
                <a:spcPct val="110000"/>
              </a:lnSpc>
              <a:spcBef>
                <a:spcPts val="1100"/>
              </a:spcBef>
              <a:spcAft>
                <a:spcPts val="0"/>
              </a:spcAft>
              <a:buSzPct val="148148"/>
              <a:buNone/>
            </a:pPr>
            <a:r>
              <a:t/>
            </a:r>
            <a:endParaRPr b="1" sz="3600">
              <a:latin typeface="Arial"/>
              <a:ea typeface="Arial"/>
              <a:cs typeface="Arial"/>
              <a:sym typeface="Arial"/>
            </a:endParaRPr>
          </a:p>
          <a:p>
            <a:pPr indent="0" lvl="0" marL="0" rtl="0" algn="l">
              <a:lnSpc>
                <a:spcPct val="110000"/>
              </a:lnSpc>
              <a:spcBef>
                <a:spcPts val="1100"/>
              </a:spcBef>
              <a:spcAft>
                <a:spcPts val="0"/>
              </a:spcAft>
              <a:buSzPct val="222222"/>
              <a:buNone/>
            </a:pPr>
            <a:r>
              <a:t/>
            </a:r>
            <a:endParaRPr b="1" sz="2400">
              <a:latin typeface="Arial"/>
              <a:ea typeface="Arial"/>
              <a:cs typeface="Arial"/>
              <a:sym typeface="Arial"/>
            </a:endParaRPr>
          </a:p>
          <a:p>
            <a:pPr indent="0" lvl="0" marL="0" rtl="0" algn="l">
              <a:lnSpc>
                <a:spcPct val="100000"/>
              </a:lnSpc>
              <a:spcBef>
                <a:spcPts val="1100"/>
              </a:spcBef>
              <a:spcAft>
                <a:spcPts val="0"/>
              </a:spcAft>
              <a:buSzPct val="111111"/>
              <a:buNone/>
            </a:pPr>
            <a:r>
              <a:t/>
            </a:r>
            <a:endParaRPr/>
          </a:p>
        </p:txBody>
      </p:sp>
      <p:pic>
        <p:nvPicPr>
          <p:cNvPr id="165" name="Google Shape;165;p27" title="70440-19958245.jpg"/>
          <p:cNvPicPr preferRelativeResize="0"/>
          <p:nvPr/>
        </p:nvPicPr>
        <p:blipFill rotWithShape="1">
          <a:blip r:embed="rId3">
            <a:alphaModFix/>
          </a:blip>
          <a:srcRect b="0" l="0" r="0" t="0"/>
          <a:stretch/>
        </p:blipFill>
        <p:spPr>
          <a:xfrm>
            <a:off x="4646350" y="2575574"/>
            <a:ext cx="2836300" cy="2249100"/>
          </a:xfrm>
          <a:prstGeom prst="rect">
            <a:avLst/>
          </a:prstGeom>
          <a:noFill/>
          <a:ln>
            <a:noFill/>
          </a:ln>
        </p:spPr>
      </p:pic>
      <p:pic>
        <p:nvPicPr>
          <p:cNvPr id="166" name="Google Shape;166;p27" title="unnamed.jpg"/>
          <p:cNvPicPr preferRelativeResize="0"/>
          <p:nvPr/>
        </p:nvPicPr>
        <p:blipFill rotWithShape="1">
          <a:blip r:embed="rId4">
            <a:alphaModFix/>
          </a:blip>
          <a:srcRect b="0" l="0" r="0" t="0"/>
          <a:stretch/>
        </p:blipFill>
        <p:spPr>
          <a:xfrm>
            <a:off x="1328225" y="2575575"/>
            <a:ext cx="2836298" cy="22491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8"/>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10000"/>
              </a:lnSpc>
              <a:spcBef>
                <a:spcPts val="0"/>
              </a:spcBef>
              <a:spcAft>
                <a:spcPts val="0"/>
              </a:spcAft>
              <a:buSzPct val="148148"/>
              <a:buNone/>
            </a:pPr>
            <a:r>
              <a:rPr lang="ro" sz="2250">
                <a:solidFill>
                  <a:srgbClr val="111111"/>
                </a:solidFill>
                <a:latin typeface="Arial"/>
                <a:ea typeface="Arial"/>
                <a:cs typeface="Arial"/>
                <a:sym typeface="Arial"/>
              </a:rPr>
              <a:t>La Consultation Médicale</a:t>
            </a:r>
            <a:endParaRPr sz="2250">
              <a:solidFill>
                <a:srgbClr val="111111"/>
              </a:solidFill>
              <a:latin typeface="Arial"/>
              <a:ea typeface="Arial"/>
              <a:cs typeface="Arial"/>
              <a:sym typeface="Arial"/>
            </a:endParaRPr>
          </a:p>
          <a:p>
            <a:pPr indent="0" lvl="0" marL="0" rtl="0" algn="l">
              <a:lnSpc>
                <a:spcPct val="100000"/>
              </a:lnSpc>
              <a:spcBef>
                <a:spcPts val="1100"/>
              </a:spcBef>
              <a:spcAft>
                <a:spcPts val="0"/>
              </a:spcAft>
              <a:buSzPct val="111111"/>
              <a:buNone/>
            </a:pPr>
            <a:r>
              <a:t/>
            </a:r>
            <a:endParaRPr/>
          </a:p>
        </p:txBody>
      </p:sp>
      <p:sp>
        <p:nvSpPr>
          <p:cNvPr id="172" name="Google Shape;172;p28"/>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1400"/>
              </a:spcBef>
              <a:spcAft>
                <a:spcPts val="0"/>
              </a:spcAft>
              <a:buSzPts val="1800"/>
              <a:buNone/>
            </a:pPr>
            <a:r>
              <a:rPr b="1" lang="ro" sz="1500">
                <a:solidFill>
                  <a:srgbClr val="000000"/>
                </a:solidFill>
                <a:latin typeface="Arial"/>
                <a:ea typeface="Arial"/>
                <a:cs typeface="Arial"/>
                <a:sym typeface="Arial"/>
              </a:rPr>
              <a:t>1. Consultation initiale avec le radiothérapeute</a:t>
            </a:r>
            <a:endParaRPr b="1" sz="1500">
              <a:solidFill>
                <a:srgbClr val="000000"/>
              </a:solidFill>
              <a:latin typeface="Arial"/>
              <a:ea typeface="Arial"/>
              <a:cs typeface="Arial"/>
              <a:sym typeface="Arial"/>
            </a:endParaRPr>
          </a:p>
          <a:p>
            <a:pPr indent="-311150" lvl="0" marL="457200" rtl="0" algn="l">
              <a:lnSpc>
                <a:spcPct val="95000"/>
              </a:lnSpc>
              <a:spcBef>
                <a:spcPts val="1200"/>
              </a:spcBef>
              <a:spcAft>
                <a:spcPts val="0"/>
              </a:spcAft>
              <a:buClr>
                <a:srgbClr val="000000"/>
              </a:buClr>
              <a:buSzPts val="1300"/>
              <a:buFont typeface="Arial"/>
              <a:buChar char="●"/>
            </a:pPr>
            <a:r>
              <a:rPr lang="ro" sz="1300">
                <a:solidFill>
                  <a:srgbClr val="000000"/>
                </a:solidFill>
                <a:latin typeface="Arial"/>
                <a:ea typeface="Arial"/>
                <a:cs typeface="Arial"/>
                <a:sym typeface="Arial"/>
              </a:rPr>
              <a:t>Cette première étape consiste en une rencontre entre le patient et l’oncologue radiothérapeute.</a:t>
            </a:r>
            <a:endParaRPr sz="1300">
              <a:solidFill>
                <a:srgbClr val="000000"/>
              </a:solidFill>
              <a:latin typeface="Arial"/>
              <a:ea typeface="Arial"/>
              <a:cs typeface="Arial"/>
              <a:sym typeface="Arial"/>
            </a:endParaRPr>
          </a:p>
          <a:p>
            <a:pPr indent="-311150" lvl="0" marL="457200" rtl="0" algn="l">
              <a:lnSpc>
                <a:spcPct val="95000"/>
              </a:lnSpc>
              <a:spcBef>
                <a:spcPts val="0"/>
              </a:spcBef>
              <a:spcAft>
                <a:spcPts val="0"/>
              </a:spcAft>
              <a:buClr>
                <a:srgbClr val="000000"/>
              </a:buClr>
              <a:buSzPts val="1300"/>
              <a:buFont typeface="Arial"/>
              <a:buChar char="●"/>
            </a:pPr>
            <a:r>
              <a:rPr lang="ro" sz="1300">
                <a:solidFill>
                  <a:srgbClr val="000000"/>
                </a:solidFill>
                <a:latin typeface="Arial"/>
                <a:ea typeface="Arial"/>
                <a:cs typeface="Arial"/>
                <a:sym typeface="Arial"/>
              </a:rPr>
              <a:t>Objectifs :</a:t>
            </a:r>
            <a:endParaRPr sz="1300">
              <a:solidFill>
                <a:srgbClr val="000000"/>
              </a:solidFill>
              <a:latin typeface="Arial"/>
              <a:ea typeface="Arial"/>
              <a:cs typeface="Arial"/>
              <a:sym typeface="Arial"/>
            </a:endParaRPr>
          </a:p>
          <a:p>
            <a:pPr indent="-311150" lvl="1" marL="914400" rtl="0" algn="l">
              <a:lnSpc>
                <a:spcPct val="95000"/>
              </a:lnSpc>
              <a:spcBef>
                <a:spcPts val="0"/>
              </a:spcBef>
              <a:spcAft>
                <a:spcPts val="0"/>
              </a:spcAft>
              <a:buClr>
                <a:srgbClr val="000000"/>
              </a:buClr>
              <a:buSzPts val="1300"/>
              <a:buFont typeface="Arial"/>
              <a:buChar char="○"/>
            </a:pPr>
            <a:r>
              <a:rPr lang="ro" sz="1300">
                <a:solidFill>
                  <a:srgbClr val="000000"/>
                </a:solidFill>
                <a:latin typeface="Arial"/>
                <a:ea typeface="Arial"/>
                <a:cs typeface="Arial"/>
                <a:sym typeface="Arial"/>
              </a:rPr>
              <a:t>Évaluer l’état de santé général du patient et analyser le dossier médical.</a:t>
            </a:r>
            <a:endParaRPr sz="1300">
              <a:solidFill>
                <a:srgbClr val="000000"/>
              </a:solidFill>
              <a:latin typeface="Arial"/>
              <a:ea typeface="Arial"/>
              <a:cs typeface="Arial"/>
              <a:sym typeface="Arial"/>
            </a:endParaRPr>
          </a:p>
          <a:p>
            <a:pPr indent="-311150" lvl="1" marL="914400" rtl="0" algn="l">
              <a:lnSpc>
                <a:spcPct val="95000"/>
              </a:lnSpc>
              <a:spcBef>
                <a:spcPts val="0"/>
              </a:spcBef>
              <a:spcAft>
                <a:spcPts val="0"/>
              </a:spcAft>
              <a:buClr>
                <a:srgbClr val="000000"/>
              </a:buClr>
              <a:buSzPts val="1300"/>
              <a:buFont typeface="Arial"/>
              <a:buChar char="○"/>
            </a:pPr>
            <a:r>
              <a:rPr lang="ro" sz="1300">
                <a:solidFill>
                  <a:srgbClr val="000000"/>
                </a:solidFill>
                <a:latin typeface="Arial"/>
                <a:ea typeface="Arial"/>
                <a:cs typeface="Arial"/>
                <a:sym typeface="Arial"/>
              </a:rPr>
              <a:t>Expliquer l’indication de la radiothérapie, les bénéfices attendus et les risques éventuels (effets secondaires).</a:t>
            </a:r>
            <a:endParaRPr sz="1300">
              <a:solidFill>
                <a:srgbClr val="000000"/>
              </a:solidFill>
              <a:latin typeface="Arial"/>
              <a:ea typeface="Arial"/>
              <a:cs typeface="Arial"/>
              <a:sym typeface="Arial"/>
            </a:endParaRPr>
          </a:p>
          <a:p>
            <a:pPr indent="-311150" lvl="1" marL="914400" rtl="0" algn="l">
              <a:lnSpc>
                <a:spcPct val="95000"/>
              </a:lnSpc>
              <a:spcBef>
                <a:spcPts val="0"/>
              </a:spcBef>
              <a:spcAft>
                <a:spcPts val="0"/>
              </a:spcAft>
              <a:buClr>
                <a:srgbClr val="000000"/>
              </a:buClr>
              <a:buSzPts val="1300"/>
              <a:buFont typeface="Arial"/>
              <a:buChar char="○"/>
            </a:pPr>
            <a:r>
              <a:rPr lang="ro" sz="1300">
                <a:solidFill>
                  <a:srgbClr val="000000"/>
                </a:solidFill>
                <a:latin typeface="Arial"/>
                <a:ea typeface="Arial"/>
                <a:cs typeface="Arial"/>
                <a:sym typeface="Arial"/>
              </a:rPr>
              <a:t>Obtenir le </a:t>
            </a:r>
            <a:r>
              <a:rPr b="1" lang="ro" sz="1300">
                <a:solidFill>
                  <a:srgbClr val="000000"/>
                </a:solidFill>
                <a:latin typeface="Arial"/>
                <a:ea typeface="Arial"/>
                <a:cs typeface="Arial"/>
                <a:sym typeface="Arial"/>
              </a:rPr>
              <a:t>consentement éclairé</a:t>
            </a:r>
            <a:r>
              <a:rPr lang="ro" sz="1300">
                <a:solidFill>
                  <a:srgbClr val="000000"/>
                </a:solidFill>
                <a:latin typeface="Arial"/>
                <a:ea typeface="Arial"/>
                <a:cs typeface="Arial"/>
                <a:sym typeface="Arial"/>
              </a:rPr>
              <a:t> du patient.</a:t>
            </a:r>
            <a:endParaRPr sz="1300">
              <a:solidFill>
                <a:srgbClr val="000000"/>
              </a:solidFill>
              <a:latin typeface="Arial"/>
              <a:ea typeface="Arial"/>
              <a:cs typeface="Arial"/>
              <a:sym typeface="Arial"/>
            </a:endParaRPr>
          </a:p>
          <a:p>
            <a:pPr indent="0" lvl="0" marL="0" rtl="0" algn="l">
              <a:lnSpc>
                <a:spcPct val="95000"/>
              </a:lnSpc>
              <a:spcBef>
                <a:spcPts val="1400"/>
              </a:spcBef>
              <a:spcAft>
                <a:spcPts val="0"/>
              </a:spcAft>
              <a:buSzPts val="1800"/>
              <a:buNone/>
            </a:pPr>
            <a:r>
              <a:rPr b="1" lang="ro" sz="1500">
                <a:solidFill>
                  <a:srgbClr val="000000"/>
                </a:solidFill>
                <a:latin typeface="Arial"/>
                <a:ea typeface="Arial"/>
                <a:cs typeface="Arial"/>
                <a:sym typeface="Arial"/>
              </a:rPr>
              <a:t>2. Bilan pré-thérapeutique</a:t>
            </a:r>
            <a:endParaRPr b="1" sz="1500">
              <a:solidFill>
                <a:srgbClr val="000000"/>
              </a:solidFill>
              <a:latin typeface="Arial"/>
              <a:ea typeface="Arial"/>
              <a:cs typeface="Arial"/>
              <a:sym typeface="Arial"/>
            </a:endParaRPr>
          </a:p>
          <a:p>
            <a:pPr indent="-311150" lvl="0" marL="457200" rtl="0" algn="l">
              <a:lnSpc>
                <a:spcPct val="95000"/>
              </a:lnSpc>
              <a:spcBef>
                <a:spcPts val="1200"/>
              </a:spcBef>
              <a:spcAft>
                <a:spcPts val="0"/>
              </a:spcAft>
              <a:buClr>
                <a:srgbClr val="000000"/>
              </a:buClr>
              <a:buSzPts val="1300"/>
              <a:buFont typeface="Arial"/>
              <a:buChar char="●"/>
            </a:pPr>
            <a:r>
              <a:rPr lang="ro" sz="1300">
                <a:solidFill>
                  <a:srgbClr val="000000"/>
                </a:solidFill>
                <a:latin typeface="Arial"/>
                <a:ea typeface="Arial"/>
                <a:cs typeface="Arial"/>
                <a:sym typeface="Arial"/>
              </a:rPr>
              <a:t>Réalisation d’examens complémentaires (scanner, IRM, PET-Scan) pour localiser précisément la tumeur et vérifier l’absence de contre-indications.</a:t>
            </a:r>
            <a:endParaRPr sz="1300">
              <a:solidFill>
                <a:srgbClr val="000000"/>
              </a:solidFill>
              <a:latin typeface="Arial"/>
              <a:ea typeface="Arial"/>
              <a:cs typeface="Arial"/>
              <a:sym typeface="Arial"/>
            </a:endParaRPr>
          </a:p>
          <a:p>
            <a:pPr indent="-311150" lvl="0" marL="457200" rtl="0" algn="l">
              <a:lnSpc>
                <a:spcPct val="95000"/>
              </a:lnSpc>
              <a:spcBef>
                <a:spcPts val="0"/>
              </a:spcBef>
              <a:spcAft>
                <a:spcPts val="0"/>
              </a:spcAft>
              <a:buClr>
                <a:srgbClr val="000000"/>
              </a:buClr>
              <a:buSzPts val="1300"/>
              <a:buFont typeface="Arial"/>
              <a:buChar char="●"/>
            </a:pPr>
            <a:r>
              <a:rPr lang="ro" sz="1300">
                <a:solidFill>
                  <a:srgbClr val="000000"/>
                </a:solidFill>
                <a:latin typeface="Arial"/>
                <a:ea typeface="Arial"/>
                <a:cs typeface="Arial"/>
                <a:sym typeface="Arial"/>
              </a:rPr>
              <a:t>Évaluation de l’état général à l’aide de tests biologiques et cliniques.</a:t>
            </a:r>
            <a:endParaRPr sz="1300">
              <a:solidFill>
                <a:srgbClr val="000000"/>
              </a:solidFill>
              <a:latin typeface="Arial"/>
              <a:ea typeface="Arial"/>
              <a:cs typeface="Arial"/>
              <a:sym typeface="Arial"/>
            </a:endParaRPr>
          </a:p>
          <a:p>
            <a:pPr indent="0" lvl="0" marL="0" rtl="0" algn="l">
              <a:lnSpc>
                <a:spcPct val="95000"/>
              </a:lnSpc>
              <a:spcBef>
                <a:spcPts val="1200"/>
              </a:spcBef>
              <a:spcAft>
                <a:spcPts val="0"/>
              </a:spcAft>
              <a:buSzPts val="1800"/>
              <a:buNone/>
            </a:pPr>
            <a:r>
              <a:t/>
            </a:r>
            <a:endParaRPr sz="1400">
              <a:solidFill>
                <a:srgbClr val="111111"/>
              </a:solidFill>
              <a:highlight>
                <a:srgbClr val="F7F7F7"/>
              </a:highlight>
              <a:latin typeface="Arial"/>
              <a:ea typeface="Arial"/>
              <a:cs typeface="Arial"/>
              <a:sym typeface="Arial"/>
            </a:endParaRPr>
          </a:p>
          <a:p>
            <a:pPr indent="0" lvl="0" marL="0" rtl="0" algn="l">
              <a:lnSpc>
                <a:spcPct val="95000"/>
              </a:lnSpc>
              <a:spcBef>
                <a:spcPts val="1200"/>
              </a:spcBef>
              <a:spcAft>
                <a:spcPts val="0"/>
              </a:spcAft>
              <a:buSzPts val="1800"/>
              <a:buNone/>
            </a:pPr>
            <a:r>
              <a:rPr b="1" lang="ro" sz="1300">
                <a:solidFill>
                  <a:srgbClr val="000000"/>
                </a:solidFill>
                <a:latin typeface="Arial"/>
                <a:ea typeface="Arial"/>
                <a:cs typeface="Arial"/>
                <a:sym typeface="Arial"/>
              </a:rPr>
              <a:t>RCP (Réunion de Concertation Pluridisciplinaire) - </a:t>
            </a:r>
            <a:r>
              <a:rPr b="1" lang="ro" sz="1250">
                <a:solidFill>
                  <a:srgbClr val="767676"/>
                </a:solidFill>
                <a:latin typeface="Arial"/>
                <a:ea typeface="Arial"/>
                <a:cs typeface="Arial"/>
                <a:sym typeface="Arial"/>
              </a:rPr>
              <a:t>proposition thérapeutique</a:t>
            </a:r>
            <a:endParaRPr sz="1400">
              <a:solidFill>
                <a:srgbClr val="111111"/>
              </a:solidFill>
              <a:highlight>
                <a:srgbClr val="F7F7F7"/>
              </a:highlight>
              <a:latin typeface="Arial"/>
              <a:ea typeface="Arial"/>
              <a:cs typeface="Arial"/>
              <a:sym typeface="Arial"/>
            </a:endParaRPr>
          </a:p>
          <a:p>
            <a:pPr indent="0" lvl="0" marL="0" rtl="0" algn="l">
              <a:lnSpc>
                <a:spcPct val="95000"/>
              </a:lnSpc>
              <a:spcBef>
                <a:spcPts val="1200"/>
              </a:spcBef>
              <a:spcAft>
                <a:spcPts val="1200"/>
              </a:spcAft>
              <a:buSzPts val="1800"/>
              <a:buNone/>
            </a:pPr>
            <a:r>
              <a:t/>
            </a:r>
            <a:endParaRPr sz="1400">
              <a:solidFill>
                <a:srgbClr val="111111"/>
              </a:solidFill>
              <a:highlight>
                <a:srgbClr val="F7F7F7"/>
              </a:highlight>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9"/>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400"/>
              </a:spcBef>
              <a:spcAft>
                <a:spcPts val="400"/>
              </a:spcAft>
              <a:buSzPts val="3000"/>
              <a:buNone/>
            </a:pPr>
            <a:r>
              <a:rPr b="1" lang="ro" sz="1800">
                <a:solidFill>
                  <a:srgbClr val="000000"/>
                </a:solidFill>
                <a:latin typeface="Arial"/>
                <a:ea typeface="Arial"/>
                <a:cs typeface="Arial"/>
                <a:sym typeface="Arial"/>
              </a:rPr>
              <a:t>🔍 Objectifs d’une RCP en cancérologie </a:t>
            </a:r>
            <a:endParaRPr sz="3500"/>
          </a:p>
        </p:txBody>
      </p:sp>
      <p:sp>
        <p:nvSpPr>
          <p:cNvPr id="178" name="Google Shape;178;p29"/>
          <p:cNvSpPr txBox="1"/>
          <p:nvPr>
            <p:ph idx="1" type="body"/>
          </p:nvPr>
        </p:nvSpPr>
        <p:spPr>
          <a:xfrm>
            <a:off x="311700" y="1017800"/>
            <a:ext cx="5115300" cy="35511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1400"/>
              </a:spcBef>
              <a:spcAft>
                <a:spcPts val="0"/>
              </a:spcAft>
              <a:buSzPts val="1800"/>
              <a:buNone/>
            </a:pPr>
            <a:r>
              <a:t/>
            </a:r>
            <a:endParaRPr b="1" sz="1600">
              <a:solidFill>
                <a:srgbClr val="000000"/>
              </a:solidFill>
              <a:latin typeface="Arial"/>
              <a:ea typeface="Arial"/>
              <a:cs typeface="Arial"/>
              <a:sym typeface="Arial"/>
            </a:endParaRPr>
          </a:p>
          <a:p>
            <a:pPr indent="-317500" lvl="0" marL="457200" rtl="0" algn="just">
              <a:lnSpc>
                <a:spcPct val="115000"/>
              </a:lnSpc>
              <a:spcBef>
                <a:spcPts val="1200"/>
              </a:spcBef>
              <a:spcAft>
                <a:spcPts val="0"/>
              </a:spcAft>
              <a:buClr>
                <a:srgbClr val="000000"/>
              </a:buClr>
              <a:buSzPts val="1400"/>
              <a:buFont typeface="Arial"/>
              <a:buChar char="●"/>
            </a:pPr>
            <a:r>
              <a:rPr lang="ro" sz="1400">
                <a:solidFill>
                  <a:srgbClr val="000000"/>
                </a:solidFill>
                <a:latin typeface="Arial"/>
                <a:ea typeface="Arial"/>
                <a:cs typeface="Arial"/>
                <a:sym typeface="Arial"/>
              </a:rPr>
              <a:t>Analyser en détail le dossier médical du patient (bilan clinique, examens d’imagerie, résultats biologiques, anatomopathologie, etc.).</a:t>
            </a:r>
            <a:endParaRPr sz="1400">
              <a:solidFill>
                <a:srgbClr val="000000"/>
              </a:solidFill>
              <a:latin typeface="Arial"/>
              <a:ea typeface="Arial"/>
              <a:cs typeface="Arial"/>
              <a:sym typeface="Arial"/>
            </a:endParaRPr>
          </a:p>
          <a:p>
            <a:pPr indent="-317500" lvl="0" marL="457200" rtl="0" algn="just">
              <a:lnSpc>
                <a:spcPct val="115000"/>
              </a:lnSpc>
              <a:spcBef>
                <a:spcPts val="0"/>
              </a:spcBef>
              <a:spcAft>
                <a:spcPts val="0"/>
              </a:spcAft>
              <a:buClr>
                <a:srgbClr val="000000"/>
              </a:buClr>
              <a:buSzPts val="1400"/>
              <a:buFont typeface="Arial"/>
              <a:buChar char="●"/>
            </a:pPr>
            <a:r>
              <a:rPr lang="ro" sz="1400">
                <a:solidFill>
                  <a:srgbClr val="000000"/>
                </a:solidFill>
                <a:latin typeface="Arial"/>
                <a:ea typeface="Arial"/>
                <a:cs typeface="Arial"/>
                <a:sym typeface="Arial"/>
              </a:rPr>
              <a:t>Élaborer un </a:t>
            </a:r>
            <a:r>
              <a:rPr b="1" lang="ro" sz="1400">
                <a:solidFill>
                  <a:srgbClr val="000000"/>
                </a:solidFill>
                <a:latin typeface="Arial"/>
                <a:ea typeface="Arial"/>
                <a:cs typeface="Arial"/>
                <a:sym typeface="Arial"/>
              </a:rPr>
              <a:t>plan de traitement personnalisé</a:t>
            </a:r>
            <a:r>
              <a:rPr lang="ro" sz="1400">
                <a:solidFill>
                  <a:srgbClr val="000000"/>
                </a:solidFill>
                <a:latin typeface="Arial"/>
                <a:ea typeface="Arial"/>
                <a:cs typeface="Arial"/>
                <a:sym typeface="Arial"/>
              </a:rPr>
              <a:t> en fonction des recommandations nationales/ internationales.</a:t>
            </a:r>
            <a:endParaRPr sz="1400">
              <a:solidFill>
                <a:srgbClr val="000000"/>
              </a:solidFill>
              <a:latin typeface="Arial"/>
              <a:ea typeface="Arial"/>
              <a:cs typeface="Arial"/>
              <a:sym typeface="Arial"/>
            </a:endParaRPr>
          </a:p>
          <a:p>
            <a:pPr indent="-317500" lvl="0" marL="457200" rtl="0" algn="just">
              <a:lnSpc>
                <a:spcPct val="115000"/>
              </a:lnSpc>
              <a:spcBef>
                <a:spcPts val="0"/>
              </a:spcBef>
              <a:spcAft>
                <a:spcPts val="0"/>
              </a:spcAft>
              <a:buClr>
                <a:srgbClr val="000000"/>
              </a:buClr>
              <a:buSzPts val="1400"/>
              <a:buFont typeface="Arial"/>
              <a:buChar char="●"/>
            </a:pPr>
            <a:r>
              <a:rPr lang="ro" sz="1400">
                <a:solidFill>
                  <a:srgbClr val="000000"/>
                </a:solidFill>
                <a:latin typeface="Arial"/>
                <a:ea typeface="Arial"/>
                <a:cs typeface="Arial"/>
                <a:sym typeface="Arial"/>
              </a:rPr>
              <a:t>Garantir une </a:t>
            </a:r>
            <a:r>
              <a:rPr b="1" lang="ro" sz="1400">
                <a:solidFill>
                  <a:srgbClr val="000000"/>
                </a:solidFill>
                <a:latin typeface="Arial"/>
                <a:ea typeface="Arial"/>
                <a:cs typeface="Arial"/>
                <a:sym typeface="Arial"/>
              </a:rPr>
              <a:t>prise en charge optimale et coordonnée</a:t>
            </a:r>
            <a:r>
              <a:rPr lang="ro" sz="1400">
                <a:solidFill>
                  <a:srgbClr val="000000"/>
                </a:solidFill>
                <a:latin typeface="Arial"/>
                <a:ea typeface="Arial"/>
                <a:cs typeface="Arial"/>
                <a:sym typeface="Arial"/>
              </a:rPr>
              <a:t> et assurer l’équité d’accès aux traitements innovants.</a:t>
            </a:r>
            <a:endParaRPr sz="1400">
              <a:solidFill>
                <a:srgbClr val="000000"/>
              </a:solidFill>
              <a:latin typeface="Arial"/>
              <a:ea typeface="Arial"/>
              <a:cs typeface="Arial"/>
              <a:sym typeface="Arial"/>
            </a:endParaRPr>
          </a:p>
          <a:p>
            <a:pPr indent="-317500" lvl="0" marL="457200" rtl="0" algn="just">
              <a:lnSpc>
                <a:spcPct val="115000"/>
              </a:lnSpc>
              <a:spcBef>
                <a:spcPts val="0"/>
              </a:spcBef>
              <a:spcAft>
                <a:spcPts val="0"/>
              </a:spcAft>
              <a:buClr>
                <a:srgbClr val="000000"/>
              </a:buClr>
              <a:buSzPts val="1400"/>
              <a:buFont typeface="Arial"/>
              <a:buChar char="●"/>
            </a:pPr>
            <a:r>
              <a:rPr lang="ro" sz="1400">
                <a:solidFill>
                  <a:srgbClr val="000000"/>
                </a:solidFill>
                <a:latin typeface="Arial"/>
                <a:ea typeface="Arial"/>
                <a:cs typeface="Arial"/>
                <a:sym typeface="Arial"/>
              </a:rPr>
              <a:t>Informer le patient des options thérapeutiques retenues et recueillir son </a:t>
            </a:r>
            <a:r>
              <a:rPr b="1" lang="ro" sz="1400">
                <a:solidFill>
                  <a:srgbClr val="000000"/>
                </a:solidFill>
                <a:latin typeface="Arial"/>
                <a:ea typeface="Arial"/>
                <a:cs typeface="Arial"/>
                <a:sym typeface="Arial"/>
              </a:rPr>
              <a:t>consentement éclairé</a:t>
            </a:r>
            <a:r>
              <a:rPr lang="ro" sz="1400">
                <a:solidFill>
                  <a:srgbClr val="000000"/>
                </a:solidFill>
                <a:latin typeface="Arial"/>
                <a:ea typeface="Arial"/>
                <a:cs typeface="Arial"/>
                <a:sym typeface="Arial"/>
              </a:rPr>
              <a:t>.</a:t>
            </a:r>
            <a:endParaRPr sz="1400">
              <a:solidFill>
                <a:srgbClr val="000000"/>
              </a:solidFill>
              <a:latin typeface="Arial"/>
              <a:ea typeface="Arial"/>
              <a:cs typeface="Arial"/>
              <a:sym typeface="Arial"/>
            </a:endParaRPr>
          </a:p>
          <a:p>
            <a:pPr indent="0" lvl="0" marL="0" rtl="0" algn="just">
              <a:lnSpc>
                <a:spcPct val="115000"/>
              </a:lnSpc>
              <a:spcBef>
                <a:spcPts val="1200"/>
              </a:spcBef>
              <a:spcAft>
                <a:spcPts val="1200"/>
              </a:spcAft>
              <a:buSzPts val="1800"/>
              <a:buNone/>
            </a:pPr>
            <a:r>
              <a:t/>
            </a:r>
            <a:endParaRPr sz="21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0"/>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400"/>
              </a:spcBef>
              <a:spcAft>
                <a:spcPts val="400"/>
              </a:spcAft>
              <a:buSzPts val="3000"/>
              <a:buNone/>
            </a:pPr>
            <a:r>
              <a:rPr b="1" lang="ro" sz="1800">
                <a:solidFill>
                  <a:srgbClr val="000000"/>
                </a:solidFill>
                <a:latin typeface="Arial"/>
                <a:ea typeface="Arial"/>
                <a:cs typeface="Arial"/>
                <a:sym typeface="Arial"/>
              </a:rPr>
              <a:t>🧑‍⚕️ Composition d’une RCP :</a:t>
            </a:r>
            <a:endParaRPr sz="3500"/>
          </a:p>
        </p:txBody>
      </p:sp>
      <p:sp>
        <p:nvSpPr>
          <p:cNvPr id="184" name="Google Shape;184;p30"/>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400"/>
              </a:spcBef>
              <a:spcAft>
                <a:spcPts val="0"/>
              </a:spcAft>
              <a:buSzPts val="1800"/>
              <a:buNone/>
            </a:pPr>
            <a:r>
              <a:t/>
            </a:r>
            <a:endParaRPr b="1" sz="1600">
              <a:solidFill>
                <a:srgbClr val="000000"/>
              </a:solidFill>
              <a:latin typeface="Arial"/>
              <a:ea typeface="Arial"/>
              <a:cs typeface="Arial"/>
              <a:sym typeface="Arial"/>
            </a:endParaRPr>
          </a:p>
          <a:p>
            <a:pPr indent="0" lvl="0" marL="0" rtl="0" algn="just">
              <a:lnSpc>
                <a:spcPct val="115000"/>
              </a:lnSpc>
              <a:spcBef>
                <a:spcPts val="1200"/>
              </a:spcBef>
              <a:spcAft>
                <a:spcPts val="0"/>
              </a:spcAft>
              <a:buSzPts val="1800"/>
              <a:buNone/>
            </a:pPr>
            <a:r>
              <a:rPr lang="ro" sz="1400">
                <a:solidFill>
                  <a:srgbClr val="000000"/>
                </a:solidFill>
                <a:latin typeface="Arial"/>
                <a:ea typeface="Arial"/>
                <a:cs typeface="Arial"/>
                <a:sym typeface="Arial"/>
              </a:rPr>
              <a:t>Une RCP rassemble plusieurs professionnels de santé spécialisés en oncologie :</a:t>
            </a:r>
            <a:endParaRPr sz="1400">
              <a:solidFill>
                <a:srgbClr val="000000"/>
              </a:solidFill>
              <a:latin typeface="Arial"/>
              <a:ea typeface="Arial"/>
              <a:cs typeface="Arial"/>
              <a:sym typeface="Arial"/>
            </a:endParaRPr>
          </a:p>
          <a:p>
            <a:pPr indent="-317500" lvl="0" marL="457200" rtl="0" algn="just">
              <a:lnSpc>
                <a:spcPct val="115000"/>
              </a:lnSpc>
              <a:spcBef>
                <a:spcPts val="1200"/>
              </a:spcBef>
              <a:spcAft>
                <a:spcPts val="0"/>
              </a:spcAft>
              <a:buClr>
                <a:srgbClr val="000000"/>
              </a:buClr>
              <a:buSzPts val="1400"/>
              <a:buFont typeface="Arial"/>
              <a:buChar char="●"/>
            </a:pPr>
            <a:r>
              <a:rPr b="1" lang="ro" sz="1400">
                <a:solidFill>
                  <a:srgbClr val="000000"/>
                </a:solidFill>
                <a:latin typeface="Arial"/>
                <a:ea typeface="Arial"/>
                <a:cs typeface="Arial"/>
                <a:sym typeface="Arial"/>
              </a:rPr>
              <a:t>Oncologue médical</a:t>
            </a:r>
            <a:r>
              <a:rPr lang="ro" sz="1400">
                <a:solidFill>
                  <a:srgbClr val="000000"/>
                </a:solidFill>
                <a:latin typeface="Arial"/>
                <a:ea typeface="Arial"/>
                <a:cs typeface="Arial"/>
                <a:sym typeface="Arial"/>
              </a:rPr>
              <a:t> : spécialiste des traitements médicamenteux (chimiothérapie, thérapies ciblées, immunothérapie).</a:t>
            </a:r>
            <a:endParaRPr sz="1400">
              <a:solidFill>
                <a:srgbClr val="000000"/>
              </a:solidFill>
              <a:latin typeface="Arial"/>
              <a:ea typeface="Arial"/>
              <a:cs typeface="Arial"/>
              <a:sym typeface="Arial"/>
            </a:endParaRPr>
          </a:p>
          <a:p>
            <a:pPr indent="-317500" lvl="0" marL="457200" rtl="0" algn="just">
              <a:lnSpc>
                <a:spcPct val="115000"/>
              </a:lnSpc>
              <a:spcBef>
                <a:spcPts val="0"/>
              </a:spcBef>
              <a:spcAft>
                <a:spcPts val="0"/>
              </a:spcAft>
              <a:buClr>
                <a:srgbClr val="000000"/>
              </a:buClr>
              <a:buSzPts val="1400"/>
              <a:buFont typeface="Arial"/>
              <a:buChar char="●"/>
            </a:pPr>
            <a:r>
              <a:rPr b="1" lang="ro" sz="1400">
                <a:solidFill>
                  <a:srgbClr val="000000"/>
                </a:solidFill>
                <a:latin typeface="Arial"/>
                <a:ea typeface="Arial"/>
                <a:cs typeface="Arial"/>
                <a:sym typeface="Arial"/>
              </a:rPr>
              <a:t>Oncologue radiothérapeute</a:t>
            </a:r>
            <a:r>
              <a:rPr lang="ro" sz="1400">
                <a:solidFill>
                  <a:srgbClr val="000000"/>
                </a:solidFill>
                <a:latin typeface="Arial"/>
                <a:ea typeface="Arial"/>
                <a:cs typeface="Arial"/>
                <a:sym typeface="Arial"/>
              </a:rPr>
              <a:t> : expert en radiothérapie pour traiter les tumeurs par irradiation.</a:t>
            </a:r>
            <a:endParaRPr sz="1400">
              <a:solidFill>
                <a:srgbClr val="000000"/>
              </a:solidFill>
              <a:latin typeface="Arial"/>
              <a:ea typeface="Arial"/>
              <a:cs typeface="Arial"/>
              <a:sym typeface="Arial"/>
            </a:endParaRPr>
          </a:p>
          <a:p>
            <a:pPr indent="-317500" lvl="0" marL="457200" rtl="0" algn="just">
              <a:lnSpc>
                <a:spcPct val="115000"/>
              </a:lnSpc>
              <a:spcBef>
                <a:spcPts val="0"/>
              </a:spcBef>
              <a:spcAft>
                <a:spcPts val="0"/>
              </a:spcAft>
              <a:buClr>
                <a:srgbClr val="000000"/>
              </a:buClr>
              <a:buSzPts val="1400"/>
              <a:buFont typeface="Arial"/>
              <a:buChar char="●"/>
            </a:pPr>
            <a:r>
              <a:rPr b="1" lang="ro" sz="1400">
                <a:solidFill>
                  <a:srgbClr val="000000"/>
                </a:solidFill>
                <a:latin typeface="Arial"/>
                <a:ea typeface="Arial"/>
                <a:cs typeface="Arial"/>
                <a:sym typeface="Arial"/>
              </a:rPr>
              <a:t>Chirurgien spécialisé</a:t>
            </a:r>
            <a:r>
              <a:rPr lang="ro" sz="1400">
                <a:solidFill>
                  <a:srgbClr val="000000"/>
                </a:solidFill>
                <a:latin typeface="Arial"/>
                <a:ea typeface="Arial"/>
                <a:cs typeface="Arial"/>
                <a:sym typeface="Arial"/>
              </a:rPr>
              <a:t> : si une intervention est envisagée.</a:t>
            </a:r>
            <a:endParaRPr sz="1400">
              <a:solidFill>
                <a:srgbClr val="000000"/>
              </a:solidFill>
              <a:latin typeface="Arial"/>
              <a:ea typeface="Arial"/>
              <a:cs typeface="Arial"/>
              <a:sym typeface="Arial"/>
            </a:endParaRPr>
          </a:p>
          <a:p>
            <a:pPr indent="-317500" lvl="0" marL="457200" rtl="0" algn="just">
              <a:lnSpc>
                <a:spcPct val="115000"/>
              </a:lnSpc>
              <a:spcBef>
                <a:spcPts val="0"/>
              </a:spcBef>
              <a:spcAft>
                <a:spcPts val="0"/>
              </a:spcAft>
              <a:buClr>
                <a:srgbClr val="000000"/>
              </a:buClr>
              <a:buSzPts val="1400"/>
              <a:buFont typeface="Arial"/>
              <a:buChar char="●"/>
            </a:pPr>
            <a:r>
              <a:rPr b="1" lang="ro" sz="1400">
                <a:solidFill>
                  <a:srgbClr val="000000"/>
                </a:solidFill>
                <a:latin typeface="Arial"/>
                <a:ea typeface="Arial"/>
                <a:cs typeface="Arial"/>
                <a:sym typeface="Arial"/>
              </a:rPr>
              <a:t>Anatomopathologiste</a:t>
            </a:r>
            <a:r>
              <a:rPr lang="ro" sz="1400">
                <a:solidFill>
                  <a:srgbClr val="000000"/>
                </a:solidFill>
                <a:latin typeface="Arial"/>
                <a:ea typeface="Arial"/>
                <a:cs typeface="Arial"/>
                <a:sym typeface="Arial"/>
              </a:rPr>
              <a:t> : analyse les prélèvements pour préciser la nature et l’agressivité du cancer.</a:t>
            </a:r>
            <a:endParaRPr sz="1400">
              <a:solidFill>
                <a:srgbClr val="000000"/>
              </a:solidFill>
              <a:latin typeface="Arial"/>
              <a:ea typeface="Arial"/>
              <a:cs typeface="Arial"/>
              <a:sym typeface="Arial"/>
            </a:endParaRPr>
          </a:p>
          <a:p>
            <a:pPr indent="-317500" lvl="0" marL="457200" rtl="0" algn="just">
              <a:lnSpc>
                <a:spcPct val="115000"/>
              </a:lnSpc>
              <a:spcBef>
                <a:spcPts val="0"/>
              </a:spcBef>
              <a:spcAft>
                <a:spcPts val="0"/>
              </a:spcAft>
              <a:buClr>
                <a:srgbClr val="000000"/>
              </a:buClr>
              <a:buSzPts val="1400"/>
              <a:buFont typeface="Arial"/>
              <a:buChar char="●"/>
            </a:pPr>
            <a:r>
              <a:rPr b="1" lang="ro" sz="1400">
                <a:solidFill>
                  <a:srgbClr val="000000"/>
                </a:solidFill>
                <a:latin typeface="Arial"/>
                <a:ea typeface="Arial"/>
                <a:cs typeface="Arial"/>
                <a:sym typeface="Arial"/>
              </a:rPr>
              <a:t>Radiologue</a:t>
            </a:r>
            <a:r>
              <a:rPr lang="ro" sz="1400">
                <a:solidFill>
                  <a:srgbClr val="000000"/>
                </a:solidFill>
                <a:latin typeface="Arial"/>
                <a:ea typeface="Arial"/>
                <a:cs typeface="Arial"/>
                <a:sym typeface="Arial"/>
              </a:rPr>
              <a:t> : interprète les examens d’imagerie (scanner, IRM, PET-scan).</a:t>
            </a:r>
            <a:endParaRPr sz="1400">
              <a:solidFill>
                <a:srgbClr val="000000"/>
              </a:solidFill>
              <a:latin typeface="Arial"/>
              <a:ea typeface="Arial"/>
              <a:cs typeface="Arial"/>
              <a:sym typeface="Arial"/>
            </a:endParaRPr>
          </a:p>
          <a:p>
            <a:pPr indent="-317500" lvl="0" marL="457200" rtl="0" algn="just">
              <a:lnSpc>
                <a:spcPct val="115000"/>
              </a:lnSpc>
              <a:spcBef>
                <a:spcPts val="0"/>
              </a:spcBef>
              <a:spcAft>
                <a:spcPts val="0"/>
              </a:spcAft>
              <a:buClr>
                <a:srgbClr val="000000"/>
              </a:buClr>
              <a:buSzPts val="1400"/>
              <a:buFont typeface="Arial"/>
              <a:buChar char="●"/>
            </a:pPr>
            <a:r>
              <a:rPr lang="ro" sz="1400">
                <a:solidFill>
                  <a:srgbClr val="000000"/>
                </a:solidFill>
                <a:latin typeface="Arial"/>
                <a:ea typeface="Arial"/>
                <a:cs typeface="Arial"/>
                <a:sym typeface="Arial"/>
              </a:rPr>
              <a:t>Parfois, d’autres spécialistes sont impliqués (généticien, psycho-oncologue, etc.) en fonction de la complexité du cas.</a:t>
            </a:r>
            <a:endParaRPr sz="1400">
              <a:solidFill>
                <a:srgbClr val="000000"/>
              </a:solidFill>
              <a:latin typeface="Arial"/>
              <a:ea typeface="Arial"/>
              <a:cs typeface="Arial"/>
              <a:sym typeface="Arial"/>
            </a:endParaRPr>
          </a:p>
          <a:p>
            <a:pPr indent="0" lvl="0" marL="0" rtl="0" algn="just">
              <a:lnSpc>
                <a:spcPct val="115000"/>
              </a:lnSpc>
              <a:spcBef>
                <a:spcPts val="1200"/>
              </a:spcBef>
              <a:spcAft>
                <a:spcPts val="1200"/>
              </a:spcAft>
              <a:buSzPts val="1800"/>
              <a:buNone/>
            </a:pPr>
            <a:r>
              <a:t/>
            </a:r>
            <a:endParaRPr sz="21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400"/>
              </a:spcBef>
              <a:spcAft>
                <a:spcPts val="400"/>
              </a:spcAft>
              <a:buSzPts val="3000"/>
              <a:buNone/>
            </a:pPr>
            <a:r>
              <a:rPr b="1" lang="ro" sz="1800">
                <a:solidFill>
                  <a:srgbClr val="000000"/>
                </a:solidFill>
                <a:latin typeface="Arial"/>
                <a:ea typeface="Arial"/>
                <a:cs typeface="Arial"/>
                <a:sym typeface="Arial"/>
              </a:rPr>
              <a:t>📊 Déroulement d’une RCP :</a:t>
            </a:r>
            <a:endParaRPr sz="2200"/>
          </a:p>
        </p:txBody>
      </p:sp>
      <p:sp>
        <p:nvSpPr>
          <p:cNvPr id="190" name="Google Shape;190;p31"/>
          <p:cNvSpPr txBox="1"/>
          <p:nvPr>
            <p:ph idx="1" type="body"/>
          </p:nvPr>
        </p:nvSpPr>
        <p:spPr>
          <a:xfrm>
            <a:off x="311700" y="1229875"/>
            <a:ext cx="5412600" cy="3339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SzPts val="1800"/>
              <a:buNone/>
            </a:pPr>
            <a:r>
              <a:t/>
            </a:r>
            <a:endParaRPr b="1" sz="1500">
              <a:solidFill>
                <a:srgbClr val="000000"/>
              </a:solidFill>
              <a:latin typeface="Arial"/>
              <a:ea typeface="Arial"/>
              <a:cs typeface="Arial"/>
              <a:sym typeface="Arial"/>
            </a:endParaRPr>
          </a:p>
          <a:p>
            <a:pPr indent="-311150" lvl="0" marL="457200" rtl="0" algn="l">
              <a:lnSpc>
                <a:spcPct val="115000"/>
              </a:lnSpc>
              <a:spcBef>
                <a:spcPts val="1200"/>
              </a:spcBef>
              <a:spcAft>
                <a:spcPts val="0"/>
              </a:spcAft>
              <a:buClr>
                <a:srgbClr val="000000"/>
              </a:buClr>
              <a:buSzPts val="1300"/>
              <a:buFont typeface="Arial"/>
              <a:buAutoNum type="arabicPeriod"/>
            </a:pPr>
            <a:r>
              <a:rPr b="1" lang="ro" sz="1300">
                <a:solidFill>
                  <a:srgbClr val="000000"/>
                </a:solidFill>
                <a:latin typeface="Arial"/>
                <a:ea typeface="Arial"/>
                <a:cs typeface="Arial"/>
                <a:sym typeface="Arial"/>
              </a:rPr>
              <a:t>Présentation du dossier du patient</a:t>
            </a:r>
            <a:r>
              <a:rPr lang="ro" sz="1300">
                <a:solidFill>
                  <a:srgbClr val="000000"/>
                </a:solidFill>
                <a:latin typeface="Arial"/>
                <a:ea typeface="Arial"/>
                <a:cs typeface="Arial"/>
                <a:sym typeface="Arial"/>
              </a:rPr>
              <a:t> : antécédents médicaux, résultats d’examens, localisation et stade du cancer.</a:t>
            </a:r>
            <a:endParaRPr sz="1300">
              <a:solidFill>
                <a:srgbClr val="000000"/>
              </a:solidFill>
              <a:latin typeface="Arial"/>
              <a:ea typeface="Arial"/>
              <a:cs typeface="Arial"/>
              <a:sym typeface="Arial"/>
            </a:endParaRPr>
          </a:p>
          <a:p>
            <a:pPr indent="-311150" lvl="0" marL="457200" rtl="0" algn="l">
              <a:lnSpc>
                <a:spcPct val="115000"/>
              </a:lnSpc>
              <a:spcBef>
                <a:spcPts val="0"/>
              </a:spcBef>
              <a:spcAft>
                <a:spcPts val="0"/>
              </a:spcAft>
              <a:buClr>
                <a:srgbClr val="000000"/>
              </a:buClr>
              <a:buSzPts val="1300"/>
              <a:buFont typeface="Arial"/>
              <a:buAutoNum type="arabicPeriod"/>
            </a:pPr>
            <a:r>
              <a:rPr b="1" lang="ro" sz="1300">
                <a:solidFill>
                  <a:srgbClr val="000000"/>
                </a:solidFill>
                <a:latin typeface="Arial"/>
                <a:ea typeface="Arial"/>
                <a:cs typeface="Arial"/>
                <a:sym typeface="Arial"/>
              </a:rPr>
              <a:t>Discussion multidisciplinaire</a:t>
            </a:r>
            <a:r>
              <a:rPr lang="ro" sz="1300">
                <a:solidFill>
                  <a:srgbClr val="000000"/>
                </a:solidFill>
                <a:latin typeface="Arial"/>
                <a:ea typeface="Arial"/>
                <a:cs typeface="Arial"/>
                <a:sym typeface="Arial"/>
              </a:rPr>
              <a:t> : analyse des différentes options thérapeutiques selon les référentiels (ex : chirurgie, radiothérapie, chimiothérapie, soins de support).</a:t>
            </a:r>
            <a:endParaRPr sz="1300">
              <a:solidFill>
                <a:srgbClr val="000000"/>
              </a:solidFill>
              <a:latin typeface="Arial"/>
              <a:ea typeface="Arial"/>
              <a:cs typeface="Arial"/>
              <a:sym typeface="Arial"/>
            </a:endParaRPr>
          </a:p>
          <a:p>
            <a:pPr indent="-311150" lvl="0" marL="457200" rtl="0" algn="l">
              <a:lnSpc>
                <a:spcPct val="115000"/>
              </a:lnSpc>
              <a:spcBef>
                <a:spcPts val="0"/>
              </a:spcBef>
              <a:spcAft>
                <a:spcPts val="0"/>
              </a:spcAft>
              <a:buClr>
                <a:srgbClr val="000000"/>
              </a:buClr>
              <a:buSzPts val="1300"/>
              <a:buFont typeface="Arial"/>
              <a:buAutoNum type="arabicPeriod"/>
            </a:pPr>
            <a:r>
              <a:rPr b="1" lang="ro" sz="1300">
                <a:solidFill>
                  <a:srgbClr val="000000"/>
                </a:solidFill>
                <a:latin typeface="Arial"/>
                <a:ea typeface="Arial"/>
                <a:cs typeface="Arial"/>
                <a:sym typeface="Arial"/>
              </a:rPr>
              <a:t>Décision collégiale</a:t>
            </a:r>
            <a:r>
              <a:rPr lang="ro" sz="1300">
                <a:solidFill>
                  <a:srgbClr val="000000"/>
                </a:solidFill>
                <a:latin typeface="Arial"/>
                <a:ea typeface="Arial"/>
                <a:cs typeface="Arial"/>
                <a:sym typeface="Arial"/>
              </a:rPr>
              <a:t> : élaboration d’un </a:t>
            </a:r>
            <a:r>
              <a:rPr b="1" lang="ro" sz="1300">
                <a:solidFill>
                  <a:srgbClr val="000000"/>
                </a:solidFill>
                <a:latin typeface="Arial"/>
                <a:ea typeface="Arial"/>
                <a:cs typeface="Arial"/>
                <a:sym typeface="Arial"/>
              </a:rPr>
              <a:t>Programme Personnalisé de Soins (PPS)</a:t>
            </a:r>
            <a:r>
              <a:rPr lang="ro" sz="1300">
                <a:solidFill>
                  <a:srgbClr val="000000"/>
                </a:solidFill>
                <a:latin typeface="Arial"/>
                <a:ea typeface="Arial"/>
                <a:cs typeface="Arial"/>
                <a:sym typeface="Arial"/>
              </a:rPr>
              <a:t> qui précise les traitements retenus et l’organisation du suivi.</a:t>
            </a:r>
            <a:endParaRPr sz="1300">
              <a:solidFill>
                <a:srgbClr val="000000"/>
              </a:solidFill>
              <a:latin typeface="Arial"/>
              <a:ea typeface="Arial"/>
              <a:cs typeface="Arial"/>
              <a:sym typeface="Arial"/>
            </a:endParaRPr>
          </a:p>
          <a:p>
            <a:pPr indent="-311150" lvl="0" marL="457200" rtl="0" algn="l">
              <a:lnSpc>
                <a:spcPct val="115000"/>
              </a:lnSpc>
              <a:spcBef>
                <a:spcPts val="0"/>
              </a:spcBef>
              <a:spcAft>
                <a:spcPts val="0"/>
              </a:spcAft>
              <a:buClr>
                <a:srgbClr val="000000"/>
              </a:buClr>
              <a:buSzPts val="1300"/>
              <a:buFont typeface="Arial"/>
              <a:buAutoNum type="arabicPeriod"/>
            </a:pPr>
            <a:r>
              <a:rPr b="1" lang="ro" sz="1300">
                <a:solidFill>
                  <a:srgbClr val="000000"/>
                </a:solidFill>
                <a:latin typeface="Arial"/>
                <a:ea typeface="Arial"/>
                <a:cs typeface="Arial"/>
                <a:sym typeface="Arial"/>
              </a:rPr>
              <a:t>Traçabilité et restitution</a:t>
            </a:r>
            <a:r>
              <a:rPr lang="ro" sz="1300">
                <a:solidFill>
                  <a:srgbClr val="000000"/>
                </a:solidFill>
                <a:latin typeface="Arial"/>
                <a:ea typeface="Arial"/>
                <a:cs typeface="Arial"/>
                <a:sym typeface="Arial"/>
              </a:rPr>
              <a:t> : la décision est consignée dans un compte-rendu de RCP qui est intégré au dossier du patient et transmis aux professionnels concernés.</a:t>
            </a:r>
            <a:endParaRPr sz="13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800"/>
              <a:buNone/>
            </a:pPr>
            <a:r>
              <a:t/>
            </a:r>
            <a:endParaRPr sz="2000"/>
          </a:p>
        </p:txBody>
      </p:sp>
      <p:pic>
        <p:nvPicPr>
          <p:cNvPr id="191" name="Google Shape;191;p31" title="traitement-cancero-01.jpg"/>
          <p:cNvPicPr preferRelativeResize="0"/>
          <p:nvPr/>
        </p:nvPicPr>
        <p:blipFill rotWithShape="1">
          <a:blip r:embed="rId3">
            <a:alphaModFix/>
          </a:blip>
          <a:srcRect b="0" l="0" r="0" t="0"/>
          <a:stretch/>
        </p:blipFill>
        <p:spPr>
          <a:xfrm>
            <a:off x="5789975" y="410000"/>
            <a:ext cx="3114900" cy="271216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2"/>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b="1" lang="ro" sz="1800">
                <a:solidFill>
                  <a:srgbClr val="000000"/>
                </a:solidFill>
                <a:latin typeface="Arial"/>
                <a:ea typeface="Arial"/>
                <a:cs typeface="Arial"/>
                <a:sym typeface="Arial"/>
              </a:rPr>
              <a:t>Simulation et repérage (scanner de centrage)</a:t>
            </a:r>
            <a:endParaRPr sz="3700"/>
          </a:p>
        </p:txBody>
      </p:sp>
      <p:sp>
        <p:nvSpPr>
          <p:cNvPr id="197" name="Google Shape;197;p32"/>
          <p:cNvSpPr txBox="1"/>
          <p:nvPr>
            <p:ph idx="1" type="body"/>
          </p:nvPr>
        </p:nvSpPr>
        <p:spPr>
          <a:xfrm>
            <a:off x="311700" y="1229875"/>
            <a:ext cx="5239200" cy="3339000"/>
          </a:xfrm>
          <a:prstGeom prst="rect">
            <a:avLst/>
          </a:prstGeom>
          <a:noFill/>
          <a:ln>
            <a:noFill/>
          </a:ln>
        </p:spPr>
        <p:txBody>
          <a:bodyPr anchorCtr="0" anchor="t" bIns="91425" lIns="91425" spcFirstLastPara="1" rIns="91425" wrap="square" tIns="91425">
            <a:normAutofit/>
          </a:bodyPr>
          <a:lstStyle/>
          <a:p>
            <a:pPr indent="-336550" lvl="0" marL="457200" rtl="0" algn="l">
              <a:lnSpc>
                <a:spcPct val="115000"/>
              </a:lnSpc>
              <a:spcBef>
                <a:spcPts val="0"/>
              </a:spcBef>
              <a:spcAft>
                <a:spcPts val="0"/>
              </a:spcAft>
              <a:buClr>
                <a:srgbClr val="000000"/>
              </a:buClr>
              <a:buSzPts val="1700"/>
              <a:buFont typeface="Arial"/>
              <a:buChar char="●"/>
            </a:pPr>
            <a:r>
              <a:rPr lang="ro" sz="1700">
                <a:solidFill>
                  <a:srgbClr val="000000"/>
                </a:solidFill>
                <a:latin typeface="Arial"/>
                <a:ea typeface="Arial"/>
                <a:cs typeface="Arial"/>
                <a:sym typeface="Arial"/>
              </a:rPr>
              <a:t>Étape cruciale pour préparer le traitement.</a:t>
            </a:r>
            <a:endParaRPr sz="1700">
              <a:solidFill>
                <a:srgbClr val="000000"/>
              </a:solidFill>
              <a:latin typeface="Arial"/>
              <a:ea typeface="Arial"/>
              <a:cs typeface="Arial"/>
              <a:sym typeface="Arial"/>
            </a:endParaRPr>
          </a:p>
          <a:p>
            <a:pPr indent="-336550" lvl="0" marL="457200" rtl="0" algn="l">
              <a:lnSpc>
                <a:spcPct val="115000"/>
              </a:lnSpc>
              <a:spcBef>
                <a:spcPts val="0"/>
              </a:spcBef>
              <a:spcAft>
                <a:spcPts val="0"/>
              </a:spcAft>
              <a:buClr>
                <a:srgbClr val="000000"/>
              </a:buClr>
              <a:buSzPts val="1700"/>
              <a:buFont typeface="Arial"/>
              <a:buChar char="●"/>
            </a:pPr>
            <a:r>
              <a:rPr lang="ro" sz="1700">
                <a:solidFill>
                  <a:srgbClr val="000000"/>
                </a:solidFill>
                <a:latin typeface="Arial"/>
                <a:ea typeface="Arial"/>
                <a:cs typeface="Arial"/>
                <a:sym typeface="Arial"/>
              </a:rPr>
              <a:t>Le patient est placé dans la position exacte qu’il devra adopter lors des séances de radiothérapie.</a:t>
            </a:r>
            <a:endParaRPr sz="1700">
              <a:solidFill>
                <a:srgbClr val="000000"/>
              </a:solidFill>
              <a:latin typeface="Arial"/>
              <a:ea typeface="Arial"/>
              <a:cs typeface="Arial"/>
              <a:sym typeface="Arial"/>
            </a:endParaRPr>
          </a:p>
          <a:p>
            <a:pPr indent="-336550" lvl="0" marL="457200" rtl="0" algn="l">
              <a:lnSpc>
                <a:spcPct val="115000"/>
              </a:lnSpc>
              <a:spcBef>
                <a:spcPts val="0"/>
              </a:spcBef>
              <a:spcAft>
                <a:spcPts val="0"/>
              </a:spcAft>
              <a:buClr>
                <a:srgbClr val="000000"/>
              </a:buClr>
              <a:buSzPts val="1700"/>
              <a:buFont typeface="Arial"/>
              <a:buChar char="●"/>
            </a:pPr>
            <a:r>
              <a:rPr lang="ro" sz="1700">
                <a:solidFill>
                  <a:srgbClr val="000000"/>
                </a:solidFill>
                <a:latin typeface="Arial"/>
                <a:ea typeface="Arial"/>
                <a:cs typeface="Arial"/>
                <a:sym typeface="Arial"/>
              </a:rPr>
              <a:t>Réalisation d’un </a:t>
            </a:r>
            <a:r>
              <a:rPr b="1" lang="ro" sz="1700">
                <a:solidFill>
                  <a:srgbClr val="000000"/>
                </a:solidFill>
                <a:latin typeface="Arial"/>
                <a:ea typeface="Arial"/>
                <a:cs typeface="Arial"/>
                <a:sym typeface="Arial"/>
              </a:rPr>
              <a:t>scanner de simulation</a:t>
            </a:r>
            <a:r>
              <a:rPr lang="ro" sz="1700">
                <a:solidFill>
                  <a:srgbClr val="000000"/>
                </a:solidFill>
                <a:latin typeface="Arial"/>
                <a:ea typeface="Arial"/>
                <a:cs typeface="Arial"/>
                <a:sym typeface="Arial"/>
              </a:rPr>
              <a:t> pour cartographier la zone à traiter.</a:t>
            </a:r>
            <a:endParaRPr sz="1700">
              <a:solidFill>
                <a:srgbClr val="000000"/>
              </a:solidFill>
              <a:latin typeface="Arial"/>
              <a:ea typeface="Arial"/>
              <a:cs typeface="Arial"/>
              <a:sym typeface="Arial"/>
            </a:endParaRPr>
          </a:p>
          <a:p>
            <a:pPr indent="-336550" lvl="0" marL="457200" rtl="0" algn="l">
              <a:lnSpc>
                <a:spcPct val="115000"/>
              </a:lnSpc>
              <a:spcBef>
                <a:spcPts val="0"/>
              </a:spcBef>
              <a:spcAft>
                <a:spcPts val="0"/>
              </a:spcAft>
              <a:buClr>
                <a:srgbClr val="000000"/>
              </a:buClr>
              <a:buSzPts val="1700"/>
              <a:buFont typeface="Arial"/>
              <a:buChar char="●"/>
            </a:pPr>
            <a:r>
              <a:rPr lang="ro" sz="1700">
                <a:solidFill>
                  <a:srgbClr val="000000"/>
                </a:solidFill>
                <a:latin typeface="Arial"/>
                <a:ea typeface="Arial"/>
                <a:cs typeface="Arial"/>
                <a:sym typeface="Arial"/>
              </a:rPr>
              <a:t>Marquage éventuel sur la peau (tatouage ou points de repère) pour garantir un positionnement constant.</a:t>
            </a:r>
            <a:endParaRPr sz="1700">
              <a:solidFill>
                <a:srgbClr val="000000"/>
              </a:solidFill>
              <a:latin typeface="Arial"/>
              <a:ea typeface="Arial"/>
              <a:cs typeface="Arial"/>
              <a:sym typeface="Arial"/>
            </a:endParaRPr>
          </a:p>
          <a:p>
            <a:pPr indent="0" lvl="0" marL="0" rtl="0" algn="l">
              <a:lnSpc>
                <a:spcPct val="115000"/>
              </a:lnSpc>
              <a:spcBef>
                <a:spcPts val="0"/>
              </a:spcBef>
              <a:spcAft>
                <a:spcPts val="1200"/>
              </a:spcAft>
              <a:buSzPts val="1800"/>
              <a:buNone/>
            </a:pPr>
            <a:r>
              <a:t/>
            </a:r>
            <a:endParaRPr/>
          </a:p>
        </p:txBody>
      </p:sp>
      <p:pic>
        <p:nvPicPr>
          <p:cNvPr id="198" name="Google Shape;198;p32" title="474766589_929837912656450_4449296622718358854_n.jpg"/>
          <p:cNvPicPr preferRelativeResize="0"/>
          <p:nvPr/>
        </p:nvPicPr>
        <p:blipFill rotWithShape="1">
          <a:blip r:embed="rId3">
            <a:alphaModFix/>
          </a:blip>
          <a:srcRect b="0" l="0" r="0" t="0"/>
          <a:stretch/>
        </p:blipFill>
        <p:spPr>
          <a:xfrm>
            <a:off x="5661400" y="501125"/>
            <a:ext cx="3006699" cy="400892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pic>
        <p:nvPicPr>
          <p:cNvPr id="203" name="Google Shape;203;p33" title="476834892_940185858288322_1296715185778440419_n.jpg"/>
          <p:cNvPicPr preferRelativeResize="0"/>
          <p:nvPr/>
        </p:nvPicPr>
        <p:blipFill rotWithShape="1">
          <a:blip r:embed="rId3">
            <a:alphaModFix/>
          </a:blip>
          <a:srcRect b="0" l="0" r="0" t="0"/>
          <a:stretch/>
        </p:blipFill>
        <p:spPr>
          <a:xfrm>
            <a:off x="805375" y="270500"/>
            <a:ext cx="3316651" cy="3979348"/>
          </a:xfrm>
          <a:prstGeom prst="rect">
            <a:avLst/>
          </a:prstGeom>
          <a:noFill/>
          <a:ln>
            <a:noFill/>
          </a:ln>
        </p:spPr>
      </p:pic>
      <p:pic>
        <p:nvPicPr>
          <p:cNvPr id="204" name="Google Shape;204;p33" title="475456015_929838245989750_6857078147370631140_n.jpg"/>
          <p:cNvPicPr preferRelativeResize="0"/>
          <p:nvPr/>
        </p:nvPicPr>
        <p:blipFill rotWithShape="1">
          <a:blip r:embed="rId4">
            <a:alphaModFix/>
          </a:blip>
          <a:srcRect b="0" l="0" r="33612" t="0"/>
          <a:stretch/>
        </p:blipFill>
        <p:spPr>
          <a:xfrm>
            <a:off x="4633925" y="305275"/>
            <a:ext cx="2321124" cy="39098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4"/>
          <p:cNvSpPr txBox="1"/>
          <p:nvPr>
            <p:ph idx="1" type="body"/>
          </p:nvPr>
        </p:nvSpPr>
        <p:spPr>
          <a:xfrm>
            <a:off x="311700" y="198250"/>
            <a:ext cx="8520600" cy="43707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SzPts val="1800"/>
              <a:buNone/>
            </a:pPr>
            <a:r>
              <a:t/>
            </a:r>
            <a:endParaRPr sz="1500">
              <a:solidFill>
                <a:srgbClr val="000000"/>
              </a:solidFill>
              <a:latin typeface="Arial"/>
              <a:ea typeface="Arial"/>
              <a:cs typeface="Arial"/>
              <a:sym typeface="Arial"/>
            </a:endParaRPr>
          </a:p>
          <a:p>
            <a:pPr indent="0" lvl="0" marL="0" rtl="0" algn="just">
              <a:lnSpc>
                <a:spcPct val="115000"/>
              </a:lnSpc>
              <a:spcBef>
                <a:spcPts val="0"/>
              </a:spcBef>
              <a:spcAft>
                <a:spcPts val="0"/>
              </a:spcAft>
              <a:buSzPts val="1800"/>
              <a:buNone/>
            </a:pPr>
            <a:r>
              <a:rPr lang="ro">
                <a:solidFill>
                  <a:srgbClr val="000000"/>
                </a:solidFill>
                <a:latin typeface="Arial"/>
                <a:ea typeface="Arial"/>
                <a:cs typeface="Arial"/>
                <a:sym typeface="Arial"/>
              </a:rPr>
              <a:t>Installation du patient en fonction de la zone à traiter (ex : allongé sur le dos pour un cancer du sein ou en position spécifique pour une tumeur cérébrale).</a:t>
            </a:r>
            <a:endParaRPr>
              <a:solidFill>
                <a:srgbClr val="000000"/>
              </a:solidFill>
              <a:latin typeface="Arial"/>
              <a:ea typeface="Arial"/>
              <a:cs typeface="Arial"/>
              <a:sym typeface="Arial"/>
            </a:endParaRPr>
          </a:p>
          <a:p>
            <a:pPr indent="0" lvl="0" marL="0" rtl="0" algn="just">
              <a:lnSpc>
                <a:spcPct val="115000"/>
              </a:lnSpc>
              <a:spcBef>
                <a:spcPts val="0"/>
              </a:spcBef>
              <a:spcAft>
                <a:spcPts val="0"/>
              </a:spcAft>
              <a:buSzPts val="1800"/>
              <a:buNone/>
            </a:pPr>
            <a:r>
              <a:rPr lang="ro">
                <a:solidFill>
                  <a:srgbClr val="000000"/>
                </a:solidFill>
                <a:latin typeface="Arial"/>
                <a:ea typeface="Arial"/>
                <a:cs typeface="Arial"/>
                <a:sym typeface="Arial"/>
              </a:rPr>
              <a:t>Mise en place d’accessoires de </a:t>
            </a:r>
            <a:r>
              <a:rPr b="1" lang="ro">
                <a:solidFill>
                  <a:srgbClr val="000000"/>
                </a:solidFill>
                <a:latin typeface="Arial"/>
                <a:ea typeface="Arial"/>
                <a:cs typeface="Arial"/>
                <a:sym typeface="Arial"/>
              </a:rPr>
              <a:t>contention personnalisés</a:t>
            </a:r>
            <a:r>
              <a:rPr lang="ro">
                <a:solidFill>
                  <a:srgbClr val="000000"/>
                </a:solidFill>
                <a:latin typeface="Arial"/>
                <a:ea typeface="Arial"/>
                <a:cs typeface="Arial"/>
                <a:sym typeface="Arial"/>
              </a:rPr>
              <a:t> si nécessaire :</a:t>
            </a:r>
            <a:endParaRPr>
              <a:solidFill>
                <a:srgbClr val="000000"/>
              </a:solidFill>
              <a:latin typeface="Arial"/>
              <a:ea typeface="Arial"/>
              <a:cs typeface="Arial"/>
              <a:sym typeface="Arial"/>
            </a:endParaRPr>
          </a:p>
          <a:p>
            <a:pPr indent="-342900" lvl="0" marL="457200" rtl="0" algn="just">
              <a:lnSpc>
                <a:spcPct val="115000"/>
              </a:lnSpc>
              <a:spcBef>
                <a:spcPts val="1200"/>
              </a:spcBef>
              <a:spcAft>
                <a:spcPts val="0"/>
              </a:spcAft>
              <a:buClr>
                <a:srgbClr val="000000"/>
              </a:buClr>
              <a:buSzPts val="1800"/>
              <a:buFont typeface="Arial"/>
              <a:buChar char="●"/>
            </a:pPr>
            <a:r>
              <a:rPr b="1" lang="ro">
                <a:solidFill>
                  <a:srgbClr val="000000"/>
                </a:solidFill>
                <a:latin typeface="Arial"/>
                <a:ea typeface="Arial"/>
                <a:cs typeface="Arial"/>
                <a:sym typeface="Arial"/>
              </a:rPr>
              <a:t>Masque thermoformé</a:t>
            </a:r>
            <a:r>
              <a:rPr lang="ro">
                <a:solidFill>
                  <a:srgbClr val="000000"/>
                </a:solidFill>
                <a:latin typeface="Arial"/>
                <a:ea typeface="Arial"/>
                <a:cs typeface="Arial"/>
                <a:sym typeface="Arial"/>
              </a:rPr>
              <a:t> pour les traitements de la tête et du cou.</a:t>
            </a:r>
            <a:endParaRPr>
              <a:solidFill>
                <a:srgbClr val="000000"/>
              </a:solidFill>
              <a:latin typeface="Arial"/>
              <a:ea typeface="Arial"/>
              <a:cs typeface="Arial"/>
              <a:sym typeface="Arial"/>
            </a:endParaRPr>
          </a:p>
          <a:p>
            <a:pPr indent="-342900" lvl="0" marL="457200" rtl="0" algn="just">
              <a:lnSpc>
                <a:spcPct val="115000"/>
              </a:lnSpc>
              <a:spcBef>
                <a:spcPts val="0"/>
              </a:spcBef>
              <a:spcAft>
                <a:spcPts val="0"/>
              </a:spcAft>
              <a:buClr>
                <a:srgbClr val="000000"/>
              </a:buClr>
              <a:buSzPts val="1800"/>
              <a:buFont typeface="Arial"/>
              <a:buChar char="●"/>
            </a:pPr>
            <a:r>
              <a:rPr b="1" lang="ro">
                <a:solidFill>
                  <a:srgbClr val="000000"/>
                </a:solidFill>
                <a:latin typeface="Arial"/>
                <a:ea typeface="Arial"/>
                <a:cs typeface="Arial"/>
                <a:sym typeface="Arial"/>
              </a:rPr>
              <a:t>Coussin de contention</a:t>
            </a:r>
            <a:r>
              <a:rPr lang="ro">
                <a:solidFill>
                  <a:srgbClr val="000000"/>
                </a:solidFill>
                <a:latin typeface="Arial"/>
                <a:ea typeface="Arial"/>
                <a:cs typeface="Arial"/>
                <a:sym typeface="Arial"/>
              </a:rPr>
              <a:t> (vacuum bag) pour le thorax ou l’abdomen.</a:t>
            </a:r>
            <a:endParaRPr>
              <a:solidFill>
                <a:srgbClr val="000000"/>
              </a:solidFill>
              <a:latin typeface="Arial"/>
              <a:ea typeface="Arial"/>
              <a:cs typeface="Arial"/>
              <a:sym typeface="Arial"/>
            </a:endParaRPr>
          </a:p>
          <a:p>
            <a:pPr indent="-342900" lvl="0" marL="457200" rtl="0" algn="just">
              <a:lnSpc>
                <a:spcPct val="115000"/>
              </a:lnSpc>
              <a:spcBef>
                <a:spcPts val="0"/>
              </a:spcBef>
              <a:spcAft>
                <a:spcPts val="0"/>
              </a:spcAft>
              <a:buClr>
                <a:srgbClr val="000000"/>
              </a:buClr>
              <a:buSzPts val="1800"/>
              <a:buFont typeface="Arial"/>
              <a:buChar char="●"/>
            </a:pPr>
            <a:r>
              <a:rPr b="1" lang="ro">
                <a:solidFill>
                  <a:srgbClr val="000000"/>
                </a:solidFill>
                <a:latin typeface="Arial"/>
                <a:ea typeface="Arial"/>
                <a:cs typeface="Arial"/>
                <a:sym typeface="Arial"/>
              </a:rPr>
              <a:t>Appui-bras</a:t>
            </a:r>
            <a:r>
              <a:rPr lang="ro">
                <a:solidFill>
                  <a:srgbClr val="000000"/>
                </a:solidFill>
                <a:latin typeface="Arial"/>
                <a:ea typeface="Arial"/>
                <a:cs typeface="Arial"/>
                <a:sym typeface="Arial"/>
              </a:rPr>
              <a:t> ou </a:t>
            </a:r>
            <a:r>
              <a:rPr b="1" lang="ro">
                <a:solidFill>
                  <a:srgbClr val="000000"/>
                </a:solidFill>
                <a:latin typeface="Arial"/>
                <a:ea typeface="Arial"/>
                <a:cs typeface="Arial"/>
                <a:sym typeface="Arial"/>
              </a:rPr>
              <a:t>cale-pieds</a:t>
            </a:r>
            <a:r>
              <a:rPr lang="ro">
                <a:solidFill>
                  <a:srgbClr val="000000"/>
                </a:solidFill>
                <a:latin typeface="Arial"/>
                <a:ea typeface="Arial"/>
                <a:cs typeface="Arial"/>
                <a:sym typeface="Arial"/>
              </a:rPr>
              <a:t> pour stabiliser certaines parties du corps.</a:t>
            </a:r>
            <a:endParaRPr>
              <a:solidFill>
                <a:srgbClr val="000000"/>
              </a:solidFill>
              <a:latin typeface="Arial"/>
              <a:ea typeface="Arial"/>
              <a:cs typeface="Arial"/>
              <a:sym typeface="Arial"/>
            </a:endParaRPr>
          </a:p>
          <a:p>
            <a:pPr indent="0" lvl="0" marL="0" rtl="0" algn="just">
              <a:lnSpc>
                <a:spcPct val="115000"/>
              </a:lnSpc>
              <a:spcBef>
                <a:spcPts val="1200"/>
              </a:spcBef>
              <a:spcAft>
                <a:spcPts val="1200"/>
              </a:spcAft>
              <a:buSzPts val="1800"/>
              <a:buNone/>
            </a:pPr>
            <a:r>
              <a:t/>
            </a:r>
            <a:endParaRPr sz="22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5"/>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p>
            <a:pPr indent="0" lvl="0" marL="457200" rtl="0" algn="l">
              <a:lnSpc>
                <a:spcPct val="115000"/>
              </a:lnSpc>
              <a:spcBef>
                <a:spcPts val="1200"/>
              </a:spcBef>
              <a:spcAft>
                <a:spcPts val="1200"/>
              </a:spcAft>
              <a:buSzPts val="3000"/>
              <a:buNone/>
            </a:pPr>
            <a:r>
              <a:rPr b="1" lang="ro" sz="1900">
                <a:solidFill>
                  <a:srgbClr val="000000"/>
                </a:solidFill>
                <a:latin typeface="Arial"/>
                <a:ea typeface="Arial"/>
                <a:cs typeface="Arial"/>
                <a:sym typeface="Arial"/>
              </a:rPr>
              <a:t>Masque thermoformé</a:t>
            </a:r>
            <a:r>
              <a:rPr lang="ro" sz="1900">
                <a:solidFill>
                  <a:srgbClr val="000000"/>
                </a:solidFill>
                <a:latin typeface="Arial"/>
                <a:ea typeface="Arial"/>
                <a:cs typeface="Arial"/>
                <a:sym typeface="Arial"/>
              </a:rPr>
              <a:t> </a:t>
            </a:r>
            <a:endParaRPr sz="3500"/>
          </a:p>
        </p:txBody>
      </p:sp>
      <p:pic>
        <p:nvPicPr>
          <p:cNvPr id="215" name="Google Shape;215;p35" title="480417559_944542891185952_3595663649433771126_n.jpg"/>
          <p:cNvPicPr preferRelativeResize="0"/>
          <p:nvPr/>
        </p:nvPicPr>
        <p:blipFill rotWithShape="1">
          <a:blip r:embed="rId3">
            <a:alphaModFix/>
          </a:blip>
          <a:srcRect b="0" l="0" r="0" t="0"/>
          <a:stretch/>
        </p:blipFill>
        <p:spPr>
          <a:xfrm>
            <a:off x="311700" y="1412500"/>
            <a:ext cx="5245627" cy="295067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pic>
        <p:nvPicPr>
          <p:cNvPr id="220" name="Google Shape;220;p36" title="WhatsApp Image 2025-03-23 at 13.24.43.jpeg"/>
          <p:cNvPicPr preferRelativeResize="0"/>
          <p:nvPr/>
        </p:nvPicPr>
        <p:blipFill rotWithShape="1">
          <a:blip r:embed="rId3">
            <a:alphaModFix/>
          </a:blip>
          <a:srcRect b="16338" l="0" r="32111" t="0"/>
          <a:stretch/>
        </p:blipFill>
        <p:spPr>
          <a:xfrm>
            <a:off x="164175" y="253225"/>
            <a:ext cx="4655651" cy="4303251"/>
          </a:xfrm>
          <a:prstGeom prst="rect">
            <a:avLst/>
          </a:prstGeom>
          <a:noFill/>
          <a:ln>
            <a:noFill/>
          </a:ln>
        </p:spPr>
      </p:pic>
      <p:pic>
        <p:nvPicPr>
          <p:cNvPr id="221" name="Google Shape;221;p36" title="WhatsApp Image 2025-03-23 at 13.24.43.jpeg"/>
          <p:cNvPicPr preferRelativeResize="0"/>
          <p:nvPr/>
        </p:nvPicPr>
        <p:blipFill rotWithShape="1">
          <a:blip r:embed="rId4">
            <a:alphaModFix/>
          </a:blip>
          <a:srcRect b="0" l="0" r="0" t="0"/>
          <a:stretch/>
        </p:blipFill>
        <p:spPr>
          <a:xfrm>
            <a:off x="5009375" y="418624"/>
            <a:ext cx="4007000" cy="2153126"/>
          </a:xfrm>
          <a:prstGeom prst="rect">
            <a:avLst/>
          </a:prstGeom>
          <a:noFill/>
          <a:ln>
            <a:noFill/>
          </a:ln>
        </p:spPr>
      </p:pic>
      <p:pic>
        <p:nvPicPr>
          <p:cNvPr id="222" name="Google Shape;222;p36" title="WhatsApp Image 2025-03-23 at 13.34.15.jpeg"/>
          <p:cNvPicPr preferRelativeResize="0"/>
          <p:nvPr/>
        </p:nvPicPr>
        <p:blipFill rotWithShape="1">
          <a:blip r:embed="rId5">
            <a:alphaModFix/>
          </a:blip>
          <a:srcRect b="34550" l="0" r="0" t="0"/>
          <a:stretch/>
        </p:blipFill>
        <p:spPr>
          <a:xfrm>
            <a:off x="5009375" y="2781775"/>
            <a:ext cx="1824250" cy="1591977"/>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pic>
        <p:nvPicPr>
          <p:cNvPr id="227" name="Google Shape;227;p37" title="WhatsApp Image 2025-03-23 at 16.18.50.jpeg"/>
          <p:cNvPicPr preferRelativeResize="0"/>
          <p:nvPr/>
        </p:nvPicPr>
        <p:blipFill rotWithShape="1">
          <a:blip r:embed="rId3">
            <a:alphaModFix/>
          </a:blip>
          <a:srcRect b="0" l="11652" r="8589" t="0"/>
          <a:stretch/>
        </p:blipFill>
        <p:spPr>
          <a:xfrm>
            <a:off x="396500" y="359300"/>
            <a:ext cx="4832200" cy="4249851"/>
          </a:xfrm>
          <a:prstGeom prst="rect">
            <a:avLst/>
          </a:prstGeom>
          <a:noFill/>
          <a:ln>
            <a:noFill/>
          </a:ln>
        </p:spPr>
      </p:pic>
      <p:pic>
        <p:nvPicPr>
          <p:cNvPr id="228" name="Google Shape;228;p37" title="Rainbow-mask-decoration.jpg"/>
          <p:cNvPicPr preferRelativeResize="0"/>
          <p:nvPr/>
        </p:nvPicPr>
        <p:blipFill rotWithShape="1">
          <a:blip r:embed="rId4">
            <a:alphaModFix/>
          </a:blip>
          <a:srcRect b="0" l="0" r="0" t="0"/>
          <a:stretch/>
        </p:blipFill>
        <p:spPr>
          <a:xfrm>
            <a:off x="5439300" y="1974174"/>
            <a:ext cx="3019499" cy="2919950"/>
          </a:xfrm>
          <a:prstGeom prst="rect">
            <a:avLst/>
          </a:prstGeom>
          <a:noFill/>
          <a:ln>
            <a:noFill/>
          </a:ln>
        </p:spPr>
      </p:pic>
      <p:pic>
        <p:nvPicPr>
          <p:cNvPr id="229" name="Google Shape;229;p37" title="Screenshot 2025-03-23 at 16.34.38.png"/>
          <p:cNvPicPr preferRelativeResize="0"/>
          <p:nvPr/>
        </p:nvPicPr>
        <p:blipFill rotWithShape="1">
          <a:blip r:embed="rId5">
            <a:alphaModFix/>
          </a:blip>
          <a:srcRect b="0" l="0" r="0" t="0"/>
          <a:stretch/>
        </p:blipFill>
        <p:spPr>
          <a:xfrm>
            <a:off x="5068451" y="90475"/>
            <a:ext cx="3761200" cy="1947112"/>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pic>
        <p:nvPicPr>
          <p:cNvPr id="234" name="Google Shape;234;p38" title="WhatsApp Image 2025-03-23 at 13.24.42.jpeg"/>
          <p:cNvPicPr preferRelativeResize="0"/>
          <p:nvPr/>
        </p:nvPicPr>
        <p:blipFill rotWithShape="1">
          <a:blip r:embed="rId3">
            <a:alphaModFix/>
          </a:blip>
          <a:srcRect b="-15880" l="0" r="0" t="15880"/>
          <a:stretch/>
        </p:blipFill>
        <p:spPr>
          <a:xfrm>
            <a:off x="177201" y="437375"/>
            <a:ext cx="3629025" cy="4838700"/>
          </a:xfrm>
          <a:prstGeom prst="rect">
            <a:avLst/>
          </a:prstGeom>
          <a:noFill/>
          <a:ln>
            <a:noFill/>
          </a:ln>
        </p:spPr>
      </p:pic>
      <p:pic>
        <p:nvPicPr>
          <p:cNvPr id="235" name="Google Shape;235;p38" title="WhatsApp Image 2025-03-23 at 13.24.43.jpeg"/>
          <p:cNvPicPr preferRelativeResize="0"/>
          <p:nvPr/>
        </p:nvPicPr>
        <p:blipFill rotWithShape="1">
          <a:blip r:embed="rId4">
            <a:alphaModFix/>
          </a:blip>
          <a:srcRect b="0" l="0" r="0" t="0"/>
          <a:stretch/>
        </p:blipFill>
        <p:spPr>
          <a:xfrm>
            <a:off x="3971001" y="536500"/>
            <a:ext cx="5032976" cy="3774732"/>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9"/>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1200"/>
              </a:spcAft>
              <a:buSzPts val="3000"/>
              <a:buNone/>
            </a:pPr>
            <a:r>
              <a:rPr b="1" lang="ro" sz="1400">
                <a:solidFill>
                  <a:srgbClr val="000000"/>
                </a:solidFill>
                <a:latin typeface="Arial"/>
                <a:ea typeface="Arial"/>
                <a:cs typeface="Arial"/>
                <a:sym typeface="Arial"/>
              </a:rPr>
              <a:t>Coussin de contention</a:t>
            </a:r>
            <a:endParaRPr/>
          </a:p>
        </p:txBody>
      </p:sp>
      <p:pic>
        <p:nvPicPr>
          <p:cNvPr id="241" name="Google Shape;241;p39" title="WhatsApp Image 2025-03-23 at 16.22.25.jpeg"/>
          <p:cNvPicPr preferRelativeResize="0"/>
          <p:nvPr/>
        </p:nvPicPr>
        <p:blipFill rotWithShape="1">
          <a:blip r:embed="rId3">
            <a:alphaModFix/>
          </a:blip>
          <a:srcRect b="0" l="0" r="0" t="0"/>
          <a:stretch/>
        </p:blipFill>
        <p:spPr>
          <a:xfrm>
            <a:off x="363050" y="910000"/>
            <a:ext cx="6786680" cy="3820901"/>
          </a:xfrm>
          <a:prstGeom prst="rect">
            <a:avLst/>
          </a:prstGeom>
          <a:noFill/>
          <a:ln>
            <a:noFill/>
          </a:ln>
        </p:spPr>
      </p:pic>
      <p:sp>
        <p:nvSpPr>
          <p:cNvPr id="242" name="Google Shape;242;p39"/>
          <p:cNvSpPr/>
          <p:nvPr/>
        </p:nvSpPr>
        <p:spPr>
          <a:xfrm>
            <a:off x="5166725" y="2056625"/>
            <a:ext cx="607200" cy="607800"/>
          </a:xfrm>
          <a:prstGeom prst="smileyFace">
            <a:avLst>
              <a:gd fmla="val 4653" name="adj"/>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pic>
        <p:nvPicPr>
          <p:cNvPr id="247" name="Google Shape;247;p40" title="WhatsApp Image 2025-03-23 at 16.20.16.jpeg"/>
          <p:cNvPicPr preferRelativeResize="0"/>
          <p:nvPr/>
        </p:nvPicPr>
        <p:blipFill rotWithShape="1">
          <a:blip r:embed="rId3">
            <a:alphaModFix/>
          </a:blip>
          <a:srcRect b="0" l="0" r="0" t="0"/>
          <a:stretch/>
        </p:blipFill>
        <p:spPr>
          <a:xfrm>
            <a:off x="642451" y="280925"/>
            <a:ext cx="7662378" cy="4310099"/>
          </a:xfrm>
          <a:prstGeom prst="rect">
            <a:avLst/>
          </a:prstGeom>
          <a:noFill/>
          <a:ln>
            <a:noFill/>
          </a:ln>
        </p:spPr>
      </p:pic>
      <p:sp>
        <p:nvSpPr>
          <p:cNvPr id="248" name="Google Shape;248;p40"/>
          <p:cNvSpPr/>
          <p:nvPr/>
        </p:nvSpPr>
        <p:spPr>
          <a:xfrm>
            <a:off x="1092150" y="1372400"/>
            <a:ext cx="1542000" cy="1390200"/>
          </a:xfrm>
          <a:prstGeom prst="sun">
            <a:avLst>
              <a:gd fmla="val 25000" name="adj"/>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1200"/>
              </a:spcAft>
              <a:buSzPts val="3000"/>
              <a:buNone/>
            </a:pPr>
            <a:r>
              <a:rPr b="1" lang="ro" sz="1400">
                <a:solidFill>
                  <a:srgbClr val="000000"/>
                </a:solidFill>
                <a:latin typeface="Arial"/>
                <a:ea typeface="Arial"/>
                <a:cs typeface="Arial"/>
                <a:sym typeface="Arial"/>
              </a:rPr>
              <a:t>Appui-bras</a:t>
            </a:r>
            <a:r>
              <a:rPr lang="ro" sz="1400">
                <a:solidFill>
                  <a:srgbClr val="000000"/>
                </a:solidFill>
                <a:latin typeface="Arial"/>
                <a:ea typeface="Arial"/>
                <a:cs typeface="Arial"/>
                <a:sym typeface="Arial"/>
              </a:rPr>
              <a:t> ou </a:t>
            </a:r>
            <a:r>
              <a:rPr b="1" lang="ro" sz="1400">
                <a:solidFill>
                  <a:srgbClr val="000000"/>
                </a:solidFill>
                <a:latin typeface="Arial"/>
                <a:ea typeface="Arial"/>
                <a:cs typeface="Arial"/>
                <a:sym typeface="Arial"/>
              </a:rPr>
              <a:t>cale-pieds</a:t>
            </a:r>
            <a:endParaRPr/>
          </a:p>
        </p:txBody>
      </p:sp>
      <p:pic>
        <p:nvPicPr>
          <p:cNvPr id="254" name="Google Shape;254;p41" title="WhatsApp Image 2025-03-23 at 13.24.43.jpeg"/>
          <p:cNvPicPr preferRelativeResize="0"/>
          <p:nvPr/>
        </p:nvPicPr>
        <p:blipFill rotWithShape="1">
          <a:blip r:embed="rId3">
            <a:alphaModFix/>
          </a:blip>
          <a:srcRect b="6082" l="0" r="0" t="8615"/>
          <a:stretch/>
        </p:blipFill>
        <p:spPr>
          <a:xfrm>
            <a:off x="387175" y="780575"/>
            <a:ext cx="5907052" cy="37790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2"/>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b="1" lang="ro" sz="1500">
                <a:solidFill>
                  <a:srgbClr val="000000"/>
                </a:solidFill>
                <a:latin typeface="Arial"/>
                <a:ea typeface="Arial"/>
                <a:cs typeface="Arial"/>
                <a:sym typeface="Arial"/>
              </a:rPr>
              <a:t>Planification du traitement </a:t>
            </a:r>
            <a:endParaRPr sz="3400"/>
          </a:p>
        </p:txBody>
      </p:sp>
      <p:sp>
        <p:nvSpPr>
          <p:cNvPr id="260" name="Google Shape;260;p42"/>
          <p:cNvSpPr txBox="1"/>
          <p:nvPr>
            <p:ph idx="1" type="body"/>
          </p:nvPr>
        </p:nvSpPr>
        <p:spPr>
          <a:xfrm>
            <a:off x="311700" y="1229875"/>
            <a:ext cx="4743600" cy="3339000"/>
          </a:xfrm>
          <a:prstGeom prst="rect">
            <a:avLst/>
          </a:prstGeom>
          <a:noFill/>
          <a:ln>
            <a:noFill/>
          </a:ln>
        </p:spPr>
        <p:txBody>
          <a:bodyPr anchorCtr="0" anchor="t" bIns="91425" lIns="91425" spcFirstLastPara="1" rIns="91425" wrap="square" tIns="91425">
            <a:normAutofit lnSpcReduction="20000"/>
          </a:bodyPr>
          <a:lstStyle/>
          <a:p>
            <a:pPr indent="0" lvl="0" marL="0" rtl="0" algn="just">
              <a:lnSpc>
                <a:spcPct val="115000"/>
              </a:lnSpc>
              <a:spcBef>
                <a:spcPts val="0"/>
              </a:spcBef>
              <a:spcAft>
                <a:spcPts val="0"/>
              </a:spcAft>
              <a:buSzPts val="1800"/>
              <a:buNone/>
            </a:pPr>
            <a:r>
              <a:rPr lang="ro" sz="1400">
                <a:solidFill>
                  <a:srgbClr val="000000"/>
                </a:solidFill>
                <a:latin typeface="Arial"/>
                <a:ea typeface="Arial"/>
                <a:cs typeface="Arial"/>
                <a:sym typeface="Arial"/>
              </a:rPr>
              <a:t>Les </a:t>
            </a:r>
            <a:r>
              <a:rPr b="1" lang="ro" sz="1400">
                <a:solidFill>
                  <a:srgbClr val="000000"/>
                </a:solidFill>
                <a:latin typeface="Arial"/>
                <a:ea typeface="Arial"/>
                <a:cs typeface="Arial"/>
                <a:sym typeface="Arial"/>
              </a:rPr>
              <a:t>physiciens médicaux</a:t>
            </a:r>
            <a:r>
              <a:rPr lang="ro" sz="1400">
                <a:solidFill>
                  <a:srgbClr val="000000"/>
                </a:solidFill>
                <a:latin typeface="Arial"/>
                <a:ea typeface="Arial"/>
                <a:cs typeface="Arial"/>
                <a:sym typeface="Arial"/>
              </a:rPr>
              <a:t> et le </a:t>
            </a:r>
            <a:r>
              <a:rPr b="1" lang="ro" sz="1400">
                <a:solidFill>
                  <a:srgbClr val="000000"/>
                </a:solidFill>
                <a:latin typeface="Arial"/>
                <a:ea typeface="Arial"/>
                <a:cs typeface="Arial"/>
                <a:sym typeface="Arial"/>
              </a:rPr>
              <a:t>radiothérapeute</a:t>
            </a:r>
            <a:r>
              <a:rPr lang="ro" sz="1400">
                <a:solidFill>
                  <a:srgbClr val="000000"/>
                </a:solidFill>
                <a:latin typeface="Arial"/>
                <a:ea typeface="Arial"/>
                <a:cs typeface="Arial"/>
                <a:sym typeface="Arial"/>
              </a:rPr>
              <a:t> collaborent pour concevoir un plan de traitement personnalisé.</a:t>
            </a:r>
            <a:endParaRPr sz="1400">
              <a:solidFill>
                <a:srgbClr val="000000"/>
              </a:solidFill>
              <a:latin typeface="Arial"/>
              <a:ea typeface="Arial"/>
              <a:cs typeface="Arial"/>
              <a:sym typeface="Arial"/>
            </a:endParaRPr>
          </a:p>
          <a:p>
            <a:pPr indent="0" lvl="0" marL="0" rtl="0" algn="just">
              <a:lnSpc>
                <a:spcPct val="115000"/>
              </a:lnSpc>
              <a:spcBef>
                <a:spcPts val="0"/>
              </a:spcBef>
              <a:spcAft>
                <a:spcPts val="0"/>
              </a:spcAft>
              <a:buSzPts val="1800"/>
              <a:buNone/>
            </a:pPr>
            <a:r>
              <a:t/>
            </a:r>
            <a:endParaRPr sz="1400">
              <a:solidFill>
                <a:srgbClr val="000000"/>
              </a:solidFill>
              <a:latin typeface="Arial"/>
              <a:ea typeface="Arial"/>
              <a:cs typeface="Arial"/>
              <a:sym typeface="Arial"/>
            </a:endParaRPr>
          </a:p>
          <a:p>
            <a:pPr indent="0" lvl="0" marL="0" rtl="0" algn="just">
              <a:lnSpc>
                <a:spcPct val="115000"/>
              </a:lnSpc>
              <a:spcBef>
                <a:spcPts val="0"/>
              </a:spcBef>
              <a:spcAft>
                <a:spcPts val="0"/>
              </a:spcAft>
              <a:buSzPts val="1800"/>
              <a:buNone/>
            </a:pPr>
            <a:r>
              <a:rPr b="1" lang="ro" sz="1400">
                <a:solidFill>
                  <a:srgbClr val="000000"/>
                </a:solidFill>
                <a:latin typeface="Arial"/>
                <a:ea typeface="Arial"/>
                <a:cs typeface="Arial"/>
                <a:sym typeface="Arial"/>
              </a:rPr>
              <a:t>radiothérapeute</a:t>
            </a:r>
            <a:r>
              <a:rPr lang="ro" sz="1400">
                <a:solidFill>
                  <a:srgbClr val="000000"/>
                </a:solidFill>
                <a:latin typeface="Arial"/>
                <a:ea typeface="Arial"/>
                <a:cs typeface="Arial"/>
                <a:sym typeface="Arial"/>
              </a:rPr>
              <a:t> - contourage</a:t>
            </a:r>
            <a:endParaRPr sz="1400">
              <a:solidFill>
                <a:srgbClr val="000000"/>
              </a:solidFill>
              <a:latin typeface="Arial"/>
              <a:ea typeface="Arial"/>
              <a:cs typeface="Arial"/>
              <a:sym typeface="Arial"/>
            </a:endParaRPr>
          </a:p>
          <a:p>
            <a:pPr indent="0" lvl="0" marL="0" rtl="0" algn="just">
              <a:lnSpc>
                <a:spcPct val="115000"/>
              </a:lnSpc>
              <a:spcBef>
                <a:spcPts val="0"/>
              </a:spcBef>
              <a:spcAft>
                <a:spcPts val="0"/>
              </a:spcAft>
              <a:buSzPts val="1800"/>
              <a:buNone/>
            </a:pPr>
            <a:r>
              <a:rPr b="1" lang="ro" sz="1400">
                <a:solidFill>
                  <a:srgbClr val="000000"/>
                </a:solidFill>
                <a:latin typeface="Arial"/>
                <a:ea typeface="Arial"/>
                <a:cs typeface="Arial"/>
                <a:sym typeface="Arial"/>
              </a:rPr>
              <a:t>physiciens médicaux</a:t>
            </a:r>
            <a:r>
              <a:rPr lang="ro" sz="1400">
                <a:solidFill>
                  <a:srgbClr val="000000"/>
                </a:solidFill>
                <a:latin typeface="Arial"/>
                <a:ea typeface="Arial"/>
                <a:cs typeface="Arial"/>
                <a:sym typeface="Arial"/>
              </a:rPr>
              <a:t> - dosi</a:t>
            </a:r>
            <a:endParaRPr sz="1400">
              <a:solidFill>
                <a:srgbClr val="000000"/>
              </a:solidFill>
              <a:latin typeface="Arial"/>
              <a:ea typeface="Arial"/>
              <a:cs typeface="Arial"/>
              <a:sym typeface="Arial"/>
            </a:endParaRPr>
          </a:p>
          <a:p>
            <a:pPr indent="0" lvl="0" marL="0" rtl="0" algn="just">
              <a:lnSpc>
                <a:spcPct val="115000"/>
              </a:lnSpc>
              <a:spcBef>
                <a:spcPts val="0"/>
              </a:spcBef>
              <a:spcAft>
                <a:spcPts val="0"/>
              </a:spcAft>
              <a:buSzPts val="1800"/>
              <a:buNone/>
            </a:pPr>
            <a:r>
              <a:t/>
            </a:r>
            <a:endParaRPr sz="1400">
              <a:solidFill>
                <a:srgbClr val="000000"/>
              </a:solidFill>
              <a:latin typeface="Arial"/>
              <a:ea typeface="Arial"/>
              <a:cs typeface="Arial"/>
              <a:sym typeface="Arial"/>
            </a:endParaRPr>
          </a:p>
          <a:p>
            <a:pPr indent="0" lvl="0" marL="0" rtl="0" algn="just">
              <a:lnSpc>
                <a:spcPct val="115000"/>
              </a:lnSpc>
              <a:spcBef>
                <a:spcPts val="0"/>
              </a:spcBef>
              <a:spcAft>
                <a:spcPts val="0"/>
              </a:spcAft>
              <a:buSzPts val="1800"/>
              <a:buNone/>
            </a:pPr>
            <a:r>
              <a:t/>
            </a:r>
            <a:endParaRPr sz="1400">
              <a:solidFill>
                <a:srgbClr val="000000"/>
              </a:solidFill>
              <a:latin typeface="Arial"/>
              <a:ea typeface="Arial"/>
              <a:cs typeface="Arial"/>
              <a:sym typeface="Arial"/>
            </a:endParaRPr>
          </a:p>
          <a:p>
            <a:pPr indent="0" lvl="0" marL="0" rtl="0" algn="just">
              <a:lnSpc>
                <a:spcPct val="115000"/>
              </a:lnSpc>
              <a:spcBef>
                <a:spcPts val="0"/>
              </a:spcBef>
              <a:spcAft>
                <a:spcPts val="0"/>
              </a:spcAft>
              <a:buSzPts val="1800"/>
              <a:buNone/>
            </a:pPr>
            <a:r>
              <a:rPr lang="ro" sz="1400">
                <a:solidFill>
                  <a:srgbClr val="000000"/>
                </a:solidFill>
                <a:latin typeface="Arial"/>
                <a:ea typeface="Arial"/>
                <a:cs typeface="Arial"/>
                <a:sym typeface="Arial"/>
              </a:rPr>
              <a:t>Objectif : déterminer la dose optimale de rayons à administrer et protéger au maximum les tissus sains avoisinants.</a:t>
            </a:r>
            <a:endParaRPr sz="1400">
              <a:solidFill>
                <a:srgbClr val="000000"/>
              </a:solidFill>
              <a:latin typeface="Arial"/>
              <a:ea typeface="Arial"/>
              <a:cs typeface="Arial"/>
              <a:sym typeface="Arial"/>
            </a:endParaRPr>
          </a:p>
          <a:p>
            <a:pPr indent="0" lvl="0" marL="0" rtl="0" algn="l">
              <a:lnSpc>
                <a:spcPct val="115000"/>
              </a:lnSpc>
              <a:spcBef>
                <a:spcPts val="0"/>
              </a:spcBef>
              <a:spcAft>
                <a:spcPts val="0"/>
              </a:spcAft>
              <a:buSzPts val="1800"/>
              <a:buNone/>
            </a:pPr>
            <a:r>
              <a:t/>
            </a:r>
            <a:endParaRPr/>
          </a:p>
          <a:p>
            <a:pPr indent="0" lvl="0" marL="0" rtl="0" algn="l">
              <a:lnSpc>
                <a:spcPct val="115000"/>
              </a:lnSpc>
              <a:spcBef>
                <a:spcPts val="1200"/>
              </a:spcBef>
              <a:spcAft>
                <a:spcPts val="1200"/>
              </a:spcAft>
              <a:buSzPts val="1800"/>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3"/>
          <p:cNvSpPr txBox="1"/>
          <p:nvPr>
            <p:ph type="title"/>
          </p:nvPr>
        </p:nvSpPr>
        <p:spPr>
          <a:xfrm>
            <a:off x="311700" y="532075"/>
            <a:ext cx="8520600" cy="32097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SzPts val="3000"/>
              <a:buNone/>
            </a:pPr>
            <a:r>
              <a:rPr b="1" lang="ro" sz="2066">
                <a:solidFill>
                  <a:srgbClr val="000000"/>
                </a:solidFill>
                <a:latin typeface="Arial"/>
                <a:ea typeface="Arial"/>
                <a:cs typeface="Arial"/>
                <a:sym typeface="Arial"/>
              </a:rPr>
              <a:t>Contourage = étape essentielle où les volumes à traiter sont précisément délimités sur les images (scanner, IRM, TEP-TDM). Cela permet d’administrer la dose de rayonnement sur la tumeur tout en protégeant les tissus sains</a:t>
            </a:r>
            <a:endParaRPr b="1" sz="2066">
              <a:solidFill>
                <a:srgbClr val="000000"/>
              </a:solidFill>
              <a:latin typeface="Arial"/>
              <a:ea typeface="Arial"/>
              <a:cs typeface="Arial"/>
              <a:sym typeface="Arial"/>
            </a:endParaRPr>
          </a:p>
          <a:p>
            <a:pPr indent="0" lvl="0" marL="0" rtl="0" algn="l">
              <a:lnSpc>
                <a:spcPct val="100000"/>
              </a:lnSpc>
              <a:spcBef>
                <a:spcPts val="0"/>
              </a:spcBef>
              <a:spcAft>
                <a:spcPts val="0"/>
              </a:spcAft>
              <a:buSzPts val="3000"/>
              <a:buNone/>
            </a:pPr>
            <a:r>
              <a:t/>
            </a:r>
            <a:endParaRPr/>
          </a:p>
        </p:txBody>
      </p:sp>
      <p:pic>
        <p:nvPicPr>
          <p:cNvPr id="266" name="Google Shape;266;p43" title="Screenshot 2025-03-25 at 19.32.49.png"/>
          <p:cNvPicPr preferRelativeResize="0"/>
          <p:nvPr/>
        </p:nvPicPr>
        <p:blipFill rotWithShape="1">
          <a:blip r:embed="rId3">
            <a:alphaModFix/>
          </a:blip>
          <a:srcRect b="3134" l="0" r="1806" t="1880"/>
          <a:stretch/>
        </p:blipFill>
        <p:spPr>
          <a:xfrm>
            <a:off x="1198075" y="2194850"/>
            <a:ext cx="3612876" cy="26937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pic>
        <p:nvPicPr>
          <p:cNvPr id="271" name="Google Shape;271;p44" title="Untitled3.png"/>
          <p:cNvPicPr preferRelativeResize="0"/>
          <p:nvPr/>
        </p:nvPicPr>
        <p:blipFill rotWithShape="1">
          <a:blip r:embed="rId3">
            <a:alphaModFix/>
          </a:blip>
          <a:srcRect b="0" l="0" r="0" t="3725"/>
          <a:stretch/>
        </p:blipFill>
        <p:spPr>
          <a:xfrm>
            <a:off x="270925" y="121950"/>
            <a:ext cx="8602148" cy="4658524"/>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5"/>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277" name="Google Shape;277;p45"/>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278" name="Google Shape;278;p45" title="Untitled4.png"/>
          <p:cNvPicPr preferRelativeResize="0"/>
          <p:nvPr/>
        </p:nvPicPr>
        <p:blipFill rotWithShape="1">
          <a:blip r:embed="rId3">
            <a:alphaModFix/>
          </a:blip>
          <a:srcRect b="0" l="0" r="0" t="4415"/>
          <a:stretch/>
        </p:blipFill>
        <p:spPr>
          <a:xfrm>
            <a:off x="254950" y="332550"/>
            <a:ext cx="8473974" cy="455597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6"/>
          <p:cNvSpPr txBox="1"/>
          <p:nvPr>
            <p:ph idx="1" type="body"/>
          </p:nvPr>
        </p:nvSpPr>
        <p:spPr>
          <a:xfrm>
            <a:off x="311700" y="408875"/>
            <a:ext cx="5499300" cy="41601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1800"/>
              <a:buNone/>
            </a:pPr>
            <a:r>
              <a:t/>
            </a:r>
            <a:endParaRPr sz="2000"/>
          </a:p>
          <a:p>
            <a:pPr indent="0" lvl="0" marL="0" rtl="0" algn="just">
              <a:lnSpc>
                <a:spcPct val="100000"/>
              </a:lnSpc>
              <a:spcBef>
                <a:spcPts val="1800"/>
              </a:spcBef>
              <a:spcAft>
                <a:spcPts val="0"/>
              </a:spcAft>
              <a:buSzPts val="1800"/>
              <a:buNone/>
            </a:pPr>
            <a:r>
              <a:rPr b="1" lang="ro" sz="1900">
                <a:solidFill>
                  <a:srgbClr val="000000"/>
                </a:solidFill>
                <a:latin typeface="Arial"/>
                <a:ea typeface="Arial"/>
                <a:cs typeface="Arial"/>
                <a:sym typeface="Arial"/>
              </a:rPr>
              <a:t>📐 1. GTV : Gross Tumor Volume (Volume tumoral macroscopique)</a:t>
            </a:r>
            <a:endParaRPr b="1" sz="1900">
              <a:solidFill>
                <a:srgbClr val="000000"/>
              </a:solidFill>
              <a:latin typeface="Arial"/>
              <a:ea typeface="Arial"/>
              <a:cs typeface="Arial"/>
              <a:sym typeface="Arial"/>
            </a:endParaRPr>
          </a:p>
          <a:p>
            <a:pPr indent="-311150" lvl="0" marL="457200" rtl="0" algn="just">
              <a:lnSpc>
                <a:spcPct val="100000"/>
              </a:lnSpc>
              <a:spcBef>
                <a:spcPts val="1200"/>
              </a:spcBef>
              <a:spcAft>
                <a:spcPts val="0"/>
              </a:spcAft>
              <a:buClr>
                <a:srgbClr val="000000"/>
              </a:buClr>
              <a:buSzPts val="1300"/>
              <a:buFont typeface="Arial"/>
              <a:buChar char="●"/>
            </a:pPr>
            <a:r>
              <a:rPr b="1" lang="ro" sz="1300">
                <a:solidFill>
                  <a:srgbClr val="000000"/>
                </a:solidFill>
                <a:latin typeface="Arial"/>
                <a:ea typeface="Arial"/>
                <a:cs typeface="Arial"/>
                <a:sym typeface="Arial"/>
              </a:rPr>
              <a:t>Définition :</a:t>
            </a:r>
            <a:br>
              <a:rPr b="1" lang="ro" sz="1300">
                <a:solidFill>
                  <a:srgbClr val="000000"/>
                </a:solidFill>
                <a:latin typeface="Arial"/>
                <a:ea typeface="Arial"/>
                <a:cs typeface="Arial"/>
                <a:sym typeface="Arial"/>
              </a:rPr>
            </a:br>
            <a:r>
              <a:rPr lang="ro" sz="1300">
                <a:solidFill>
                  <a:srgbClr val="000000"/>
                </a:solidFill>
                <a:latin typeface="Arial"/>
                <a:ea typeface="Arial"/>
                <a:cs typeface="Arial"/>
                <a:sym typeface="Arial"/>
              </a:rPr>
              <a:t>Le </a:t>
            </a:r>
            <a:r>
              <a:rPr b="1" lang="ro" sz="1300">
                <a:solidFill>
                  <a:srgbClr val="000000"/>
                </a:solidFill>
                <a:latin typeface="Arial"/>
                <a:ea typeface="Arial"/>
                <a:cs typeface="Arial"/>
                <a:sym typeface="Arial"/>
              </a:rPr>
              <a:t>GTV</a:t>
            </a:r>
            <a:r>
              <a:rPr lang="ro" sz="1300">
                <a:solidFill>
                  <a:srgbClr val="000000"/>
                </a:solidFill>
                <a:latin typeface="Arial"/>
                <a:ea typeface="Arial"/>
                <a:cs typeface="Arial"/>
                <a:sym typeface="Arial"/>
              </a:rPr>
              <a:t> est le </a:t>
            </a:r>
            <a:r>
              <a:rPr b="1" lang="ro" sz="1300">
                <a:solidFill>
                  <a:srgbClr val="000000"/>
                </a:solidFill>
                <a:latin typeface="Arial"/>
                <a:ea typeface="Arial"/>
                <a:cs typeface="Arial"/>
                <a:sym typeface="Arial"/>
              </a:rPr>
              <a:t>volume de la tumeur visible</a:t>
            </a:r>
            <a:r>
              <a:rPr lang="ro" sz="1300">
                <a:solidFill>
                  <a:srgbClr val="000000"/>
                </a:solidFill>
                <a:latin typeface="Arial"/>
                <a:ea typeface="Arial"/>
                <a:cs typeface="Arial"/>
                <a:sym typeface="Arial"/>
              </a:rPr>
              <a:t> sur les examens d’imagerie (scanner, IRM, TEP) ou détectable par un examen clinique. C’est la </a:t>
            </a:r>
            <a:r>
              <a:rPr b="1" lang="ro" sz="1300">
                <a:solidFill>
                  <a:srgbClr val="000000"/>
                </a:solidFill>
                <a:latin typeface="Arial"/>
                <a:ea typeface="Arial"/>
                <a:cs typeface="Arial"/>
                <a:sym typeface="Arial"/>
              </a:rPr>
              <a:t>partie de la tumeur macroscopique</a:t>
            </a:r>
            <a:r>
              <a:rPr lang="ro" sz="1300">
                <a:solidFill>
                  <a:srgbClr val="000000"/>
                </a:solidFill>
                <a:latin typeface="Arial"/>
                <a:ea typeface="Arial"/>
                <a:cs typeface="Arial"/>
                <a:sym typeface="Arial"/>
              </a:rPr>
              <a:t> que l’on peut clairement identifier.</a:t>
            </a:r>
            <a:endParaRPr sz="1300">
              <a:solidFill>
                <a:srgbClr val="000000"/>
              </a:solidFill>
              <a:latin typeface="Arial"/>
              <a:ea typeface="Arial"/>
              <a:cs typeface="Arial"/>
              <a:sym typeface="Arial"/>
            </a:endParaRPr>
          </a:p>
          <a:p>
            <a:pPr indent="-311150" lvl="0" marL="457200" rtl="0" algn="just">
              <a:lnSpc>
                <a:spcPct val="100000"/>
              </a:lnSpc>
              <a:spcBef>
                <a:spcPts val="0"/>
              </a:spcBef>
              <a:spcAft>
                <a:spcPts val="0"/>
              </a:spcAft>
              <a:buClr>
                <a:srgbClr val="000000"/>
              </a:buClr>
              <a:buSzPts val="1300"/>
              <a:buFont typeface="Arial"/>
              <a:buChar char="●"/>
            </a:pPr>
            <a:r>
              <a:rPr b="1" lang="ro" sz="1300">
                <a:solidFill>
                  <a:srgbClr val="000000"/>
                </a:solidFill>
                <a:latin typeface="Arial"/>
                <a:ea typeface="Arial"/>
                <a:cs typeface="Arial"/>
                <a:sym typeface="Arial"/>
              </a:rPr>
              <a:t>Ce qu’il comprend :</a:t>
            </a:r>
            <a:endParaRPr b="1" sz="1300">
              <a:solidFill>
                <a:srgbClr val="000000"/>
              </a:solidFill>
              <a:latin typeface="Arial"/>
              <a:ea typeface="Arial"/>
              <a:cs typeface="Arial"/>
              <a:sym typeface="Arial"/>
            </a:endParaRPr>
          </a:p>
          <a:p>
            <a:pPr indent="-311150" lvl="1" marL="914400" rtl="0" algn="just">
              <a:lnSpc>
                <a:spcPct val="100000"/>
              </a:lnSpc>
              <a:spcBef>
                <a:spcPts val="0"/>
              </a:spcBef>
              <a:spcAft>
                <a:spcPts val="0"/>
              </a:spcAft>
              <a:buClr>
                <a:srgbClr val="000000"/>
              </a:buClr>
              <a:buSzPts val="1300"/>
              <a:buFont typeface="Arial"/>
              <a:buChar char="○"/>
            </a:pPr>
            <a:r>
              <a:rPr lang="ro" sz="1300">
                <a:solidFill>
                  <a:srgbClr val="000000"/>
                </a:solidFill>
                <a:latin typeface="Arial"/>
                <a:ea typeface="Arial"/>
                <a:cs typeface="Arial"/>
                <a:sym typeface="Arial"/>
              </a:rPr>
              <a:t>La </a:t>
            </a:r>
            <a:r>
              <a:rPr b="1" lang="ro" sz="1300">
                <a:solidFill>
                  <a:srgbClr val="000000"/>
                </a:solidFill>
                <a:latin typeface="Arial"/>
                <a:ea typeface="Arial"/>
                <a:cs typeface="Arial"/>
                <a:sym typeface="Arial"/>
              </a:rPr>
              <a:t>tumeur primitive</a:t>
            </a:r>
            <a:r>
              <a:rPr lang="ro" sz="1300">
                <a:solidFill>
                  <a:srgbClr val="000000"/>
                </a:solidFill>
                <a:latin typeface="Arial"/>
                <a:ea typeface="Arial"/>
                <a:cs typeface="Arial"/>
                <a:sym typeface="Arial"/>
              </a:rPr>
              <a:t>.</a:t>
            </a:r>
            <a:endParaRPr sz="1300">
              <a:solidFill>
                <a:srgbClr val="000000"/>
              </a:solidFill>
              <a:latin typeface="Arial"/>
              <a:ea typeface="Arial"/>
              <a:cs typeface="Arial"/>
              <a:sym typeface="Arial"/>
            </a:endParaRPr>
          </a:p>
          <a:p>
            <a:pPr indent="-311150" lvl="1" marL="914400" rtl="0" algn="just">
              <a:lnSpc>
                <a:spcPct val="100000"/>
              </a:lnSpc>
              <a:spcBef>
                <a:spcPts val="0"/>
              </a:spcBef>
              <a:spcAft>
                <a:spcPts val="0"/>
              </a:spcAft>
              <a:buClr>
                <a:srgbClr val="000000"/>
              </a:buClr>
              <a:buSzPts val="1300"/>
              <a:buFont typeface="Arial"/>
              <a:buChar char="○"/>
            </a:pPr>
            <a:r>
              <a:rPr lang="ro" sz="1300">
                <a:solidFill>
                  <a:srgbClr val="000000"/>
                </a:solidFill>
                <a:latin typeface="Arial"/>
                <a:ea typeface="Arial"/>
                <a:cs typeface="Arial"/>
                <a:sym typeface="Arial"/>
              </a:rPr>
              <a:t>Les </a:t>
            </a:r>
            <a:r>
              <a:rPr b="1" lang="ro" sz="1300">
                <a:solidFill>
                  <a:srgbClr val="000000"/>
                </a:solidFill>
                <a:latin typeface="Arial"/>
                <a:ea typeface="Arial"/>
                <a:cs typeface="Arial"/>
                <a:sym typeface="Arial"/>
              </a:rPr>
              <a:t>ganglions métastatiques</a:t>
            </a:r>
            <a:r>
              <a:rPr lang="ro" sz="1300">
                <a:solidFill>
                  <a:srgbClr val="000000"/>
                </a:solidFill>
                <a:latin typeface="Arial"/>
                <a:ea typeface="Arial"/>
                <a:cs typeface="Arial"/>
                <a:sym typeface="Arial"/>
              </a:rPr>
              <a:t> visibles.</a:t>
            </a:r>
            <a:endParaRPr sz="1300">
              <a:solidFill>
                <a:srgbClr val="000000"/>
              </a:solidFill>
              <a:latin typeface="Arial"/>
              <a:ea typeface="Arial"/>
              <a:cs typeface="Arial"/>
              <a:sym typeface="Arial"/>
            </a:endParaRPr>
          </a:p>
          <a:p>
            <a:pPr indent="0" lvl="0" marL="0" rtl="0" algn="just">
              <a:lnSpc>
                <a:spcPct val="100000"/>
              </a:lnSpc>
              <a:spcBef>
                <a:spcPts val="1200"/>
              </a:spcBef>
              <a:spcAft>
                <a:spcPts val="0"/>
              </a:spcAft>
              <a:buSzPts val="1800"/>
              <a:buNone/>
            </a:pPr>
            <a:r>
              <a:rPr lang="ro" sz="1300">
                <a:solidFill>
                  <a:srgbClr val="000000"/>
                </a:solidFill>
                <a:latin typeface="Arial"/>
                <a:ea typeface="Arial"/>
                <a:cs typeface="Arial"/>
                <a:sym typeface="Arial"/>
              </a:rPr>
              <a:t>✅ </a:t>
            </a:r>
            <a:r>
              <a:rPr b="1" lang="ro" sz="1300">
                <a:solidFill>
                  <a:srgbClr val="000000"/>
                </a:solidFill>
                <a:latin typeface="Arial"/>
                <a:ea typeface="Arial"/>
                <a:cs typeface="Arial"/>
                <a:sym typeface="Arial"/>
              </a:rPr>
              <a:t>Importance en radiothérapie :</a:t>
            </a:r>
            <a:endParaRPr b="1" sz="1300">
              <a:solidFill>
                <a:srgbClr val="000000"/>
              </a:solidFill>
              <a:latin typeface="Arial"/>
              <a:ea typeface="Arial"/>
              <a:cs typeface="Arial"/>
              <a:sym typeface="Arial"/>
            </a:endParaRPr>
          </a:p>
          <a:p>
            <a:pPr indent="-311150" lvl="0" marL="457200" rtl="0" algn="just">
              <a:lnSpc>
                <a:spcPct val="100000"/>
              </a:lnSpc>
              <a:spcBef>
                <a:spcPts val="1200"/>
              </a:spcBef>
              <a:spcAft>
                <a:spcPts val="0"/>
              </a:spcAft>
              <a:buClr>
                <a:srgbClr val="000000"/>
              </a:buClr>
              <a:buSzPts val="1300"/>
              <a:buFont typeface="Arial"/>
              <a:buChar char="●"/>
            </a:pPr>
            <a:r>
              <a:rPr lang="ro" sz="1300">
                <a:solidFill>
                  <a:srgbClr val="000000"/>
                </a:solidFill>
                <a:latin typeface="Arial"/>
                <a:ea typeface="Arial"/>
                <a:cs typeface="Arial"/>
                <a:sym typeface="Arial"/>
              </a:rPr>
              <a:t>C’est la </a:t>
            </a:r>
            <a:r>
              <a:rPr b="1" lang="ro" sz="1300">
                <a:solidFill>
                  <a:srgbClr val="000000"/>
                </a:solidFill>
                <a:latin typeface="Arial"/>
                <a:ea typeface="Arial"/>
                <a:cs typeface="Arial"/>
                <a:sym typeface="Arial"/>
              </a:rPr>
              <a:t>cible principale</a:t>
            </a:r>
            <a:r>
              <a:rPr lang="ro" sz="1300">
                <a:solidFill>
                  <a:srgbClr val="000000"/>
                </a:solidFill>
                <a:latin typeface="Arial"/>
                <a:ea typeface="Arial"/>
                <a:cs typeface="Arial"/>
                <a:sym typeface="Arial"/>
              </a:rPr>
              <a:t> du traitement.</a:t>
            </a:r>
            <a:endParaRPr sz="1300">
              <a:solidFill>
                <a:srgbClr val="000000"/>
              </a:solidFill>
              <a:latin typeface="Arial"/>
              <a:ea typeface="Arial"/>
              <a:cs typeface="Arial"/>
              <a:sym typeface="Arial"/>
            </a:endParaRPr>
          </a:p>
          <a:p>
            <a:pPr indent="-311150" lvl="0" marL="457200" rtl="0" algn="just">
              <a:lnSpc>
                <a:spcPct val="100000"/>
              </a:lnSpc>
              <a:spcBef>
                <a:spcPts val="0"/>
              </a:spcBef>
              <a:spcAft>
                <a:spcPts val="0"/>
              </a:spcAft>
              <a:buClr>
                <a:srgbClr val="000000"/>
              </a:buClr>
              <a:buSzPts val="1300"/>
              <a:buFont typeface="Arial"/>
              <a:buChar char="●"/>
            </a:pPr>
            <a:r>
              <a:rPr lang="ro" sz="1300">
                <a:solidFill>
                  <a:srgbClr val="000000"/>
                </a:solidFill>
                <a:latin typeface="Arial"/>
                <a:ea typeface="Arial"/>
                <a:cs typeface="Arial"/>
                <a:sym typeface="Arial"/>
              </a:rPr>
              <a:t>La précision du </a:t>
            </a:r>
            <a:r>
              <a:rPr b="1" lang="ro" sz="1300">
                <a:solidFill>
                  <a:srgbClr val="000000"/>
                </a:solidFill>
                <a:latin typeface="Arial"/>
                <a:ea typeface="Arial"/>
                <a:cs typeface="Arial"/>
                <a:sym typeface="Arial"/>
              </a:rPr>
              <a:t>contourage du GTV</a:t>
            </a:r>
            <a:r>
              <a:rPr lang="ro" sz="1300">
                <a:solidFill>
                  <a:srgbClr val="000000"/>
                </a:solidFill>
                <a:latin typeface="Arial"/>
                <a:ea typeface="Arial"/>
                <a:cs typeface="Arial"/>
                <a:sym typeface="Arial"/>
              </a:rPr>
              <a:t> garantit que l’irradiation cible </a:t>
            </a:r>
            <a:r>
              <a:rPr b="1" lang="ro" sz="1300">
                <a:solidFill>
                  <a:srgbClr val="000000"/>
                </a:solidFill>
                <a:latin typeface="Arial"/>
                <a:ea typeface="Arial"/>
                <a:cs typeface="Arial"/>
                <a:sym typeface="Arial"/>
              </a:rPr>
              <a:t>uniquement la tumeur</a:t>
            </a:r>
            <a:r>
              <a:rPr lang="ro" sz="1300">
                <a:solidFill>
                  <a:srgbClr val="000000"/>
                </a:solidFill>
                <a:latin typeface="Arial"/>
                <a:ea typeface="Arial"/>
                <a:cs typeface="Arial"/>
                <a:sym typeface="Arial"/>
              </a:rPr>
              <a:t>.</a:t>
            </a:r>
            <a:endParaRPr sz="1300">
              <a:solidFill>
                <a:srgbClr val="000000"/>
              </a:solidFill>
              <a:latin typeface="Arial"/>
              <a:ea typeface="Arial"/>
              <a:cs typeface="Arial"/>
              <a:sym typeface="Arial"/>
            </a:endParaRPr>
          </a:p>
          <a:p>
            <a:pPr indent="0" lvl="0" marL="0" rtl="0" algn="just">
              <a:lnSpc>
                <a:spcPct val="100000"/>
              </a:lnSpc>
              <a:spcBef>
                <a:spcPts val="0"/>
              </a:spcBef>
              <a:spcAft>
                <a:spcPts val="0"/>
              </a:spcAft>
              <a:buSzPts val="1800"/>
              <a:buNone/>
            </a:pPr>
            <a:r>
              <a:t/>
            </a:r>
            <a:endParaRPr sz="1600">
              <a:solidFill>
                <a:srgbClr val="000000"/>
              </a:solidFill>
              <a:latin typeface="Arial"/>
              <a:ea typeface="Arial"/>
              <a:cs typeface="Arial"/>
              <a:sym typeface="Arial"/>
            </a:endParaRPr>
          </a:p>
          <a:p>
            <a:pPr indent="0" lvl="0" marL="0" rtl="0" algn="just">
              <a:lnSpc>
                <a:spcPct val="115000"/>
              </a:lnSpc>
              <a:spcBef>
                <a:spcPts val="0"/>
              </a:spcBef>
              <a:spcAft>
                <a:spcPts val="1200"/>
              </a:spcAft>
              <a:buSzPts val="1800"/>
              <a:buNone/>
            </a:pPr>
            <a:r>
              <a:t/>
            </a:r>
            <a:endParaRPr sz="2000"/>
          </a:p>
        </p:txBody>
      </p:sp>
      <p:pic>
        <p:nvPicPr>
          <p:cNvPr id="284" name="Google Shape;284;p46" title="GTV.jpg"/>
          <p:cNvPicPr preferRelativeResize="0"/>
          <p:nvPr/>
        </p:nvPicPr>
        <p:blipFill rotWithShape="1">
          <a:blip r:embed="rId3">
            <a:alphaModFix/>
          </a:blip>
          <a:srcRect b="25429" l="10615" r="56773" t="19119"/>
          <a:stretch/>
        </p:blipFill>
        <p:spPr>
          <a:xfrm>
            <a:off x="5897275" y="351525"/>
            <a:ext cx="2981898" cy="285207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7"/>
          <p:cNvSpPr txBox="1"/>
          <p:nvPr>
            <p:ph idx="1" type="body"/>
          </p:nvPr>
        </p:nvSpPr>
        <p:spPr>
          <a:xfrm>
            <a:off x="311700" y="359325"/>
            <a:ext cx="5214300" cy="4209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800"/>
              </a:spcBef>
              <a:spcAft>
                <a:spcPts val="0"/>
              </a:spcAft>
              <a:buSzPts val="1800"/>
              <a:buNone/>
            </a:pPr>
            <a:r>
              <a:rPr b="1" lang="ro">
                <a:solidFill>
                  <a:srgbClr val="000000"/>
                </a:solidFill>
                <a:latin typeface="Arial"/>
                <a:ea typeface="Arial"/>
                <a:cs typeface="Arial"/>
                <a:sym typeface="Arial"/>
              </a:rPr>
              <a:t>📊 2. CTV : Clinical Target Volume (Volume cible clinique)</a:t>
            </a:r>
            <a:endParaRPr b="1">
              <a:solidFill>
                <a:srgbClr val="000000"/>
              </a:solidFill>
              <a:latin typeface="Arial"/>
              <a:ea typeface="Arial"/>
              <a:cs typeface="Arial"/>
              <a:sym typeface="Arial"/>
            </a:endParaRPr>
          </a:p>
          <a:p>
            <a:pPr indent="-304800" lvl="0" marL="457200" rtl="0" algn="just">
              <a:lnSpc>
                <a:spcPct val="115000"/>
              </a:lnSpc>
              <a:spcBef>
                <a:spcPts val="1200"/>
              </a:spcBef>
              <a:spcAft>
                <a:spcPts val="0"/>
              </a:spcAft>
              <a:buClr>
                <a:srgbClr val="000000"/>
              </a:buClr>
              <a:buSzPts val="1200"/>
              <a:buFont typeface="Arial"/>
              <a:buChar char="●"/>
            </a:pPr>
            <a:r>
              <a:rPr b="1" lang="ro" sz="1200">
                <a:solidFill>
                  <a:srgbClr val="000000"/>
                </a:solidFill>
                <a:latin typeface="Arial"/>
                <a:ea typeface="Arial"/>
                <a:cs typeface="Arial"/>
                <a:sym typeface="Arial"/>
              </a:rPr>
              <a:t>Définition :</a:t>
            </a:r>
            <a:br>
              <a:rPr b="1" lang="ro" sz="1200">
                <a:solidFill>
                  <a:srgbClr val="000000"/>
                </a:solidFill>
                <a:latin typeface="Arial"/>
                <a:ea typeface="Arial"/>
                <a:cs typeface="Arial"/>
                <a:sym typeface="Arial"/>
              </a:rPr>
            </a:br>
            <a:r>
              <a:rPr lang="ro" sz="1200">
                <a:solidFill>
                  <a:srgbClr val="000000"/>
                </a:solidFill>
                <a:latin typeface="Arial"/>
                <a:ea typeface="Arial"/>
                <a:cs typeface="Arial"/>
                <a:sym typeface="Arial"/>
              </a:rPr>
              <a:t>Le </a:t>
            </a:r>
            <a:r>
              <a:rPr b="1" lang="ro" sz="1200">
                <a:solidFill>
                  <a:srgbClr val="000000"/>
                </a:solidFill>
                <a:latin typeface="Arial"/>
                <a:ea typeface="Arial"/>
                <a:cs typeface="Arial"/>
                <a:sym typeface="Arial"/>
              </a:rPr>
              <a:t>CTV</a:t>
            </a:r>
            <a:r>
              <a:rPr lang="ro" sz="1200">
                <a:solidFill>
                  <a:srgbClr val="000000"/>
                </a:solidFill>
                <a:latin typeface="Arial"/>
                <a:ea typeface="Arial"/>
                <a:cs typeface="Arial"/>
                <a:sym typeface="Arial"/>
              </a:rPr>
              <a:t> est le </a:t>
            </a:r>
            <a:r>
              <a:rPr b="1" lang="ro" sz="1200">
                <a:solidFill>
                  <a:srgbClr val="000000"/>
                </a:solidFill>
                <a:latin typeface="Arial"/>
                <a:ea typeface="Arial"/>
                <a:cs typeface="Arial"/>
                <a:sym typeface="Arial"/>
              </a:rPr>
              <a:t>GTV</a:t>
            </a:r>
            <a:r>
              <a:rPr lang="ro" sz="1200">
                <a:solidFill>
                  <a:srgbClr val="000000"/>
                </a:solidFill>
                <a:latin typeface="Arial"/>
                <a:ea typeface="Arial"/>
                <a:cs typeface="Arial"/>
                <a:sym typeface="Arial"/>
              </a:rPr>
              <a:t> augmenté d’une marge pour inclure les </a:t>
            </a:r>
            <a:r>
              <a:rPr b="1" lang="ro" sz="1200">
                <a:solidFill>
                  <a:srgbClr val="000000"/>
                </a:solidFill>
                <a:latin typeface="Arial"/>
                <a:ea typeface="Arial"/>
                <a:cs typeface="Arial"/>
                <a:sym typeface="Arial"/>
              </a:rPr>
              <a:t>extensions microscopiques</a:t>
            </a:r>
            <a:r>
              <a:rPr lang="ro" sz="1200">
                <a:solidFill>
                  <a:srgbClr val="000000"/>
                </a:solidFill>
                <a:latin typeface="Arial"/>
                <a:ea typeface="Arial"/>
                <a:cs typeface="Arial"/>
                <a:sym typeface="Arial"/>
              </a:rPr>
              <a:t> de la maladie qui ne sont pas visibles sur les images. Ces cellules tumorales subcliniques sont à risque d’être présentes autour de la tumeur principale ou dans les ganglions.</a:t>
            </a:r>
            <a:endParaRPr sz="1200">
              <a:solidFill>
                <a:srgbClr val="000000"/>
              </a:solidFill>
              <a:latin typeface="Arial"/>
              <a:ea typeface="Arial"/>
              <a:cs typeface="Arial"/>
              <a:sym typeface="Arial"/>
            </a:endParaRPr>
          </a:p>
          <a:p>
            <a:pPr indent="-304800" lvl="0" marL="457200" rtl="0" algn="just">
              <a:lnSpc>
                <a:spcPct val="115000"/>
              </a:lnSpc>
              <a:spcBef>
                <a:spcPts val="0"/>
              </a:spcBef>
              <a:spcAft>
                <a:spcPts val="0"/>
              </a:spcAft>
              <a:buClr>
                <a:srgbClr val="000000"/>
              </a:buClr>
              <a:buSzPts val="1200"/>
              <a:buFont typeface="Arial"/>
              <a:buChar char="●"/>
            </a:pPr>
            <a:r>
              <a:rPr b="1" lang="ro" sz="1200">
                <a:solidFill>
                  <a:srgbClr val="000000"/>
                </a:solidFill>
                <a:latin typeface="Arial"/>
                <a:ea typeface="Arial"/>
                <a:cs typeface="Arial"/>
                <a:sym typeface="Arial"/>
              </a:rPr>
              <a:t>Ce qu’il comprend :</a:t>
            </a:r>
            <a:endParaRPr b="1" sz="1200">
              <a:solidFill>
                <a:srgbClr val="000000"/>
              </a:solidFill>
              <a:latin typeface="Arial"/>
              <a:ea typeface="Arial"/>
              <a:cs typeface="Arial"/>
              <a:sym typeface="Arial"/>
            </a:endParaRPr>
          </a:p>
          <a:p>
            <a:pPr indent="-304800" lvl="1" marL="914400" rtl="0" algn="just">
              <a:lnSpc>
                <a:spcPct val="115000"/>
              </a:lnSpc>
              <a:spcBef>
                <a:spcPts val="0"/>
              </a:spcBef>
              <a:spcAft>
                <a:spcPts val="0"/>
              </a:spcAft>
              <a:buClr>
                <a:srgbClr val="000000"/>
              </a:buClr>
              <a:buSzPts val="1200"/>
              <a:buFont typeface="Arial"/>
              <a:buChar char="○"/>
            </a:pPr>
            <a:r>
              <a:rPr b="1" lang="ro" sz="1200">
                <a:solidFill>
                  <a:srgbClr val="000000"/>
                </a:solidFill>
                <a:latin typeface="Arial"/>
                <a:ea typeface="Arial"/>
                <a:cs typeface="Arial"/>
                <a:sym typeface="Arial"/>
              </a:rPr>
              <a:t>GTV</a:t>
            </a:r>
            <a:r>
              <a:rPr lang="ro" sz="1200">
                <a:solidFill>
                  <a:srgbClr val="000000"/>
                </a:solidFill>
                <a:latin typeface="Arial"/>
                <a:ea typeface="Arial"/>
                <a:cs typeface="Arial"/>
                <a:sym typeface="Arial"/>
              </a:rPr>
              <a:t> + Zone de potentielle </a:t>
            </a:r>
            <a:r>
              <a:rPr b="1" lang="ro" sz="1200">
                <a:solidFill>
                  <a:srgbClr val="000000"/>
                </a:solidFill>
                <a:latin typeface="Arial"/>
                <a:ea typeface="Arial"/>
                <a:cs typeface="Arial"/>
                <a:sym typeface="Arial"/>
              </a:rPr>
              <a:t>infiltration tumorale</a:t>
            </a:r>
            <a:r>
              <a:rPr lang="ro"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a:p>
            <a:pPr indent="-304800" lvl="1" marL="914400" rtl="0" algn="just">
              <a:lnSpc>
                <a:spcPct val="115000"/>
              </a:lnSpc>
              <a:spcBef>
                <a:spcPts val="0"/>
              </a:spcBef>
              <a:spcAft>
                <a:spcPts val="0"/>
              </a:spcAft>
              <a:buClr>
                <a:srgbClr val="000000"/>
              </a:buClr>
              <a:buSzPts val="1200"/>
              <a:buFont typeface="Arial"/>
              <a:buChar char="○"/>
            </a:pPr>
            <a:r>
              <a:rPr b="1" lang="ro" sz="1200">
                <a:solidFill>
                  <a:srgbClr val="000000"/>
                </a:solidFill>
                <a:latin typeface="Arial"/>
                <a:ea typeface="Arial"/>
                <a:cs typeface="Arial"/>
                <a:sym typeface="Arial"/>
              </a:rPr>
              <a:t>Ganglions lymphatiques</a:t>
            </a:r>
            <a:r>
              <a:rPr lang="ro" sz="1200">
                <a:solidFill>
                  <a:srgbClr val="000000"/>
                </a:solidFill>
                <a:latin typeface="Arial"/>
                <a:ea typeface="Arial"/>
                <a:cs typeface="Arial"/>
                <a:sym typeface="Arial"/>
              </a:rPr>
              <a:t> suspects ou à risque d’envahissement même s’ils ne sont pas visibles sur l’imagerie</a:t>
            </a:r>
            <a:endParaRPr sz="1200">
              <a:solidFill>
                <a:srgbClr val="000000"/>
              </a:solidFill>
              <a:latin typeface="Arial"/>
              <a:ea typeface="Arial"/>
              <a:cs typeface="Arial"/>
              <a:sym typeface="Arial"/>
            </a:endParaRPr>
          </a:p>
          <a:p>
            <a:pPr indent="0" lvl="0" marL="0" rtl="0" algn="just">
              <a:lnSpc>
                <a:spcPct val="115000"/>
              </a:lnSpc>
              <a:spcBef>
                <a:spcPts val="1200"/>
              </a:spcBef>
              <a:spcAft>
                <a:spcPts val="0"/>
              </a:spcAft>
              <a:buSzPts val="1800"/>
              <a:buNone/>
            </a:pPr>
            <a:r>
              <a:rPr lang="ro" sz="1200">
                <a:solidFill>
                  <a:srgbClr val="000000"/>
                </a:solidFill>
                <a:latin typeface="Arial"/>
                <a:ea typeface="Arial"/>
                <a:cs typeface="Arial"/>
                <a:sym typeface="Arial"/>
              </a:rPr>
              <a:t>✅ </a:t>
            </a:r>
            <a:r>
              <a:rPr b="1" lang="ro" sz="1200">
                <a:solidFill>
                  <a:srgbClr val="000000"/>
                </a:solidFill>
                <a:latin typeface="Arial"/>
                <a:ea typeface="Arial"/>
                <a:cs typeface="Arial"/>
                <a:sym typeface="Arial"/>
              </a:rPr>
              <a:t>Importance en radiothérapie :</a:t>
            </a:r>
            <a:endParaRPr b="1" sz="1200">
              <a:solidFill>
                <a:srgbClr val="000000"/>
              </a:solidFill>
              <a:latin typeface="Arial"/>
              <a:ea typeface="Arial"/>
              <a:cs typeface="Arial"/>
              <a:sym typeface="Arial"/>
            </a:endParaRPr>
          </a:p>
          <a:p>
            <a:pPr indent="-304800" lvl="0" marL="457200" rtl="0" algn="just">
              <a:lnSpc>
                <a:spcPct val="115000"/>
              </a:lnSpc>
              <a:spcBef>
                <a:spcPts val="1200"/>
              </a:spcBef>
              <a:spcAft>
                <a:spcPts val="0"/>
              </a:spcAft>
              <a:buClr>
                <a:srgbClr val="000000"/>
              </a:buClr>
              <a:buSzPts val="1200"/>
              <a:buFont typeface="Arial"/>
              <a:buChar char="●"/>
            </a:pPr>
            <a:r>
              <a:rPr lang="ro" sz="1200">
                <a:solidFill>
                  <a:srgbClr val="000000"/>
                </a:solidFill>
                <a:latin typeface="Arial"/>
                <a:ea typeface="Arial"/>
                <a:cs typeface="Arial"/>
                <a:sym typeface="Arial"/>
              </a:rPr>
              <a:t>Permet de </a:t>
            </a:r>
            <a:r>
              <a:rPr b="1" lang="ro" sz="1200">
                <a:solidFill>
                  <a:srgbClr val="000000"/>
                </a:solidFill>
                <a:latin typeface="Arial"/>
                <a:ea typeface="Arial"/>
                <a:cs typeface="Arial"/>
                <a:sym typeface="Arial"/>
              </a:rPr>
              <a:t>couvrir les cellules tumorales invisibles</a:t>
            </a:r>
            <a:r>
              <a:rPr lang="ro"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a:p>
            <a:pPr indent="-304800" lvl="0" marL="457200" rtl="0" algn="just">
              <a:lnSpc>
                <a:spcPct val="115000"/>
              </a:lnSpc>
              <a:spcBef>
                <a:spcPts val="0"/>
              </a:spcBef>
              <a:spcAft>
                <a:spcPts val="0"/>
              </a:spcAft>
              <a:buClr>
                <a:srgbClr val="000000"/>
              </a:buClr>
              <a:buSzPts val="1200"/>
              <a:buFont typeface="Arial"/>
              <a:buChar char="●"/>
            </a:pPr>
            <a:r>
              <a:rPr lang="ro" sz="1200">
                <a:solidFill>
                  <a:srgbClr val="000000"/>
                </a:solidFill>
                <a:latin typeface="Arial"/>
                <a:ea typeface="Arial"/>
                <a:cs typeface="Arial"/>
                <a:sym typeface="Arial"/>
              </a:rPr>
              <a:t>Essentiel pour </a:t>
            </a:r>
            <a:r>
              <a:rPr b="1" lang="ro" sz="1200">
                <a:solidFill>
                  <a:srgbClr val="000000"/>
                </a:solidFill>
                <a:latin typeface="Arial"/>
                <a:ea typeface="Arial"/>
                <a:cs typeface="Arial"/>
                <a:sym typeface="Arial"/>
              </a:rPr>
              <a:t>réduire les risques de récidive locale</a:t>
            </a:r>
            <a:r>
              <a:rPr lang="ro"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a:p>
            <a:pPr indent="0" lvl="0" marL="0" rtl="0" algn="just">
              <a:lnSpc>
                <a:spcPct val="115000"/>
              </a:lnSpc>
              <a:spcBef>
                <a:spcPts val="1200"/>
              </a:spcBef>
              <a:spcAft>
                <a:spcPts val="1200"/>
              </a:spcAft>
              <a:buSzPts val="1800"/>
              <a:buNone/>
            </a:pPr>
            <a:r>
              <a:t/>
            </a:r>
            <a:endParaRPr sz="1900"/>
          </a:p>
        </p:txBody>
      </p:sp>
      <p:pic>
        <p:nvPicPr>
          <p:cNvPr id="290" name="Google Shape;290;p47" title="CTV.jpg"/>
          <p:cNvPicPr preferRelativeResize="0"/>
          <p:nvPr/>
        </p:nvPicPr>
        <p:blipFill rotWithShape="1">
          <a:blip r:embed="rId3">
            <a:alphaModFix/>
          </a:blip>
          <a:srcRect b="0" l="0" r="41200" t="4315"/>
          <a:stretch/>
        </p:blipFill>
        <p:spPr>
          <a:xfrm>
            <a:off x="5811400" y="598625"/>
            <a:ext cx="3075948" cy="28156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8"/>
          <p:cNvSpPr txBox="1"/>
          <p:nvPr>
            <p:ph idx="1" type="body"/>
          </p:nvPr>
        </p:nvSpPr>
        <p:spPr>
          <a:xfrm>
            <a:off x="224975" y="123900"/>
            <a:ext cx="5871300" cy="4259100"/>
          </a:xfrm>
          <a:prstGeom prst="rect">
            <a:avLst/>
          </a:prstGeom>
          <a:noFill/>
          <a:ln>
            <a:noFill/>
          </a:ln>
        </p:spPr>
        <p:txBody>
          <a:bodyPr anchorCtr="0" anchor="t" bIns="91425" lIns="91425" spcFirstLastPara="1" rIns="91425" wrap="square" tIns="91425">
            <a:noAutofit/>
          </a:bodyPr>
          <a:lstStyle/>
          <a:p>
            <a:pPr indent="0" lvl="0" marL="0" rtl="0" algn="just">
              <a:lnSpc>
                <a:spcPct val="95000"/>
              </a:lnSpc>
              <a:spcBef>
                <a:spcPts val="1800"/>
              </a:spcBef>
              <a:spcAft>
                <a:spcPts val="0"/>
              </a:spcAft>
              <a:buSzPts val="1800"/>
              <a:buNone/>
            </a:pPr>
            <a:r>
              <a:rPr b="1" lang="ro" sz="1900">
                <a:solidFill>
                  <a:srgbClr val="000000"/>
                </a:solidFill>
                <a:latin typeface="Arial"/>
                <a:ea typeface="Arial"/>
                <a:cs typeface="Arial"/>
                <a:sym typeface="Arial"/>
              </a:rPr>
              <a:t>📏 3. PTV : Planning Target Volume (Volume cible de planification)</a:t>
            </a:r>
            <a:endParaRPr b="1" sz="1900">
              <a:solidFill>
                <a:srgbClr val="000000"/>
              </a:solidFill>
              <a:latin typeface="Arial"/>
              <a:ea typeface="Arial"/>
              <a:cs typeface="Arial"/>
              <a:sym typeface="Arial"/>
            </a:endParaRPr>
          </a:p>
          <a:p>
            <a:pPr indent="-311150" lvl="0" marL="457200" rtl="0" algn="just">
              <a:lnSpc>
                <a:spcPct val="95000"/>
              </a:lnSpc>
              <a:spcBef>
                <a:spcPts val="1200"/>
              </a:spcBef>
              <a:spcAft>
                <a:spcPts val="0"/>
              </a:spcAft>
              <a:buClr>
                <a:srgbClr val="000000"/>
              </a:buClr>
              <a:buSzPts val="1300"/>
              <a:buFont typeface="Arial"/>
              <a:buChar char="●"/>
            </a:pPr>
            <a:r>
              <a:rPr b="1" lang="ro" sz="1300">
                <a:solidFill>
                  <a:srgbClr val="000000"/>
                </a:solidFill>
                <a:latin typeface="Arial"/>
                <a:ea typeface="Arial"/>
                <a:cs typeface="Arial"/>
                <a:sym typeface="Arial"/>
              </a:rPr>
              <a:t>Définition :</a:t>
            </a:r>
            <a:br>
              <a:rPr b="1" lang="ro" sz="1300">
                <a:solidFill>
                  <a:srgbClr val="000000"/>
                </a:solidFill>
                <a:latin typeface="Arial"/>
                <a:ea typeface="Arial"/>
                <a:cs typeface="Arial"/>
                <a:sym typeface="Arial"/>
              </a:rPr>
            </a:br>
            <a:r>
              <a:rPr lang="ro" sz="1300">
                <a:solidFill>
                  <a:srgbClr val="000000"/>
                </a:solidFill>
                <a:latin typeface="Arial"/>
                <a:ea typeface="Arial"/>
                <a:cs typeface="Arial"/>
                <a:sym typeface="Arial"/>
              </a:rPr>
              <a:t>Le </a:t>
            </a:r>
            <a:r>
              <a:rPr b="1" lang="ro" sz="1300">
                <a:solidFill>
                  <a:srgbClr val="000000"/>
                </a:solidFill>
                <a:latin typeface="Arial"/>
                <a:ea typeface="Arial"/>
                <a:cs typeface="Arial"/>
                <a:sym typeface="Arial"/>
              </a:rPr>
              <a:t>PTV</a:t>
            </a:r>
            <a:r>
              <a:rPr lang="ro" sz="1300">
                <a:solidFill>
                  <a:srgbClr val="000000"/>
                </a:solidFill>
                <a:latin typeface="Arial"/>
                <a:ea typeface="Arial"/>
                <a:cs typeface="Arial"/>
                <a:sym typeface="Arial"/>
              </a:rPr>
              <a:t> est le </a:t>
            </a:r>
            <a:r>
              <a:rPr b="1" lang="ro" sz="1300">
                <a:solidFill>
                  <a:srgbClr val="000000"/>
                </a:solidFill>
                <a:latin typeface="Arial"/>
                <a:ea typeface="Arial"/>
                <a:cs typeface="Arial"/>
                <a:sym typeface="Arial"/>
              </a:rPr>
              <a:t>CTV</a:t>
            </a:r>
            <a:r>
              <a:rPr lang="ro" sz="1300">
                <a:solidFill>
                  <a:srgbClr val="000000"/>
                </a:solidFill>
                <a:latin typeface="Arial"/>
                <a:ea typeface="Arial"/>
                <a:cs typeface="Arial"/>
                <a:sym typeface="Arial"/>
              </a:rPr>
              <a:t> élargi pour tenir compte des </a:t>
            </a:r>
            <a:r>
              <a:rPr b="1" lang="ro" sz="1300">
                <a:solidFill>
                  <a:srgbClr val="000000"/>
                </a:solidFill>
                <a:latin typeface="Arial"/>
                <a:ea typeface="Arial"/>
                <a:cs typeface="Arial"/>
                <a:sym typeface="Arial"/>
              </a:rPr>
              <a:t>incertitudes</a:t>
            </a:r>
            <a:r>
              <a:rPr lang="ro" sz="1300">
                <a:solidFill>
                  <a:srgbClr val="000000"/>
                </a:solidFill>
                <a:latin typeface="Arial"/>
                <a:ea typeface="Arial"/>
                <a:cs typeface="Arial"/>
                <a:sym typeface="Arial"/>
              </a:rPr>
              <a:t> liées :</a:t>
            </a:r>
            <a:endParaRPr sz="1300">
              <a:solidFill>
                <a:srgbClr val="000000"/>
              </a:solidFill>
              <a:latin typeface="Arial"/>
              <a:ea typeface="Arial"/>
              <a:cs typeface="Arial"/>
              <a:sym typeface="Arial"/>
            </a:endParaRPr>
          </a:p>
          <a:p>
            <a:pPr indent="-311150" lvl="1" marL="914400" rtl="0" algn="just">
              <a:lnSpc>
                <a:spcPct val="95000"/>
              </a:lnSpc>
              <a:spcBef>
                <a:spcPts val="0"/>
              </a:spcBef>
              <a:spcAft>
                <a:spcPts val="0"/>
              </a:spcAft>
              <a:buClr>
                <a:srgbClr val="000000"/>
              </a:buClr>
              <a:buSzPts val="1300"/>
              <a:buFont typeface="Arial"/>
              <a:buChar char="○"/>
            </a:pPr>
            <a:r>
              <a:rPr lang="ro" sz="1300">
                <a:solidFill>
                  <a:srgbClr val="000000"/>
                </a:solidFill>
                <a:latin typeface="Arial"/>
                <a:ea typeface="Arial"/>
                <a:cs typeface="Arial"/>
                <a:sym typeface="Arial"/>
              </a:rPr>
              <a:t>Aux </a:t>
            </a:r>
            <a:r>
              <a:rPr b="1" lang="ro" sz="1300">
                <a:solidFill>
                  <a:srgbClr val="000000"/>
                </a:solidFill>
                <a:latin typeface="Arial"/>
                <a:ea typeface="Arial"/>
                <a:cs typeface="Arial"/>
                <a:sym typeface="Arial"/>
              </a:rPr>
              <a:t>mouvements du patient</a:t>
            </a:r>
            <a:r>
              <a:rPr lang="ro" sz="1300">
                <a:solidFill>
                  <a:srgbClr val="000000"/>
                </a:solidFill>
                <a:latin typeface="Arial"/>
                <a:ea typeface="Arial"/>
                <a:cs typeface="Arial"/>
                <a:sym typeface="Arial"/>
              </a:rPr>
              <a:t> (respiration, digestion).</a:t>
            </a:r>
            <a:endParaRPr sz="1300">
              <a:solidFill>
                <a:srgbClr val="000000"/>
              </a:solidFill>
              <a:latin typeface="Arial"/>
              <a:ea typeface="Arial"/>
              <a:cs typeface="Arial"/>
              <a:sym typeface="Arial"/>
            </a:endParaRPr>
          </a:p>
          <a:p>
            <a:pPr indent="-311150" lvl="1" marL="914400" rtl="0" algn="just">
              <a:lnSpc>
                <a:spcPct val="95000"/>
              </a:lnSpc>
              <a:spcBef>
                <a:spcPts val="0"/>
              </a:spcBef>
              <a:spcAft>
                <a:spcPts val="0"/>
              </a:spcAft>
              <a:buClr>
                <a:srgbClr val="000000"/>
              </a:buClr>
              <a:buSzPts val="1300"/>
              <a:buFont typeface="Arial"/>
              <a:buChar char="○"/>
            </a:pPr>
            <a:r>
              <a:rPr lang="ro" sz="1300">
                <a:solidFill>
                  <a:srgbClr val="000000"/>
                </a:solidFill>
                <a:latin typeface="Arial"/>
                <a:ea typeface="Arial"/>
                <a:cs typeface="Arial"/>
                <a:sym typeface="Arial"/>
              </a:rPr>
              <a:t>Aux </a:t>
            </a:r>
            <a:r>
              <a:rPr b="1" lang="ro" sz="1300">
                <a:solidFill>
                  <a:srgbClr val="000000"/>
                </a:solidFill>
                <a:latin typeface="Arial"/>
                <a:ea typeface="Arial"/>
                <a:cs typeface="Arial"/>
                <a:sym typeface="Arial"/>
              </a:rPr>
              <a:t>imprécisions techniques</a:t>
            </a:r>
            <a:r>
              <a:rPr lang="ro" sz="1300">
                <a:solidFill>
                  <a:srgbClr val="000000"/>
                </a:solidFill>
                <a:latin typeface="Arial"/>
                <a:ea typeface="Arial"/>
                <a:cs typeface="Arial"/>
                <a:sym typeface="Arial"/>
              </a:rPr>
              <a:t> de l’appareil de radiothérapie.</a:t>
            </a:r>
            <a:endParaRPr sz="1300">
              <a:solidFill>
                <a:srgbClr val="000000"/>
              </a:solidFill>
              <a:latin typeface="Arial"/>
              <a:ea typeface="Arial"/>
              <a:cs typeface="Arial"/>
              <a:sym typeface="Arial"/>
            </a:endParaRPr>
          </a:p>
          <a:p>
            <a:pPr indent="-311150" lvl="1" marL="914400" rtl="0" algn="just">
              <a:lnSpc>
                <a:spcPct val="95000"/>
              </a:lnSpc>
              <a:spcBef>
                <a:spcPts val="0"/>
              </a:spcBef>
              <a:spcAft>
                <a:spcPts val="0"/>
              </a:spcAft>
              <a:buClr>
                <a:srgbClr val="000000"/>
              </a:buClr>
              <a:buSzPts val="1300"/>
              <a:buFont typeface="Arial"/>
              <a:buChar char="○"/>
            </a:pPr>
            <a:r>
              <a:rPr lang="ro" sz="1300">
                <a:solidFill>
                  <a:srgbClr val="000000"/>
                </a:solidFill>
                <a:latin typeface="Arial"/>
                <a:ea typeface="Arial"/>
                <a:cs typeface="Arial"/>
                <a:sym typeface="Arial"/>
              </a:rPr>
              <a:t>À des </a:t>
            </a:r>
            <a:r>
              <a:rPr b="1" lang="ro" sz="1300">
                <a:solidFill>
                  <a:srgbClr val="000000"/>
                </a:solidFill>
                <a:latin typeface="Arial"/>
                <a:ea typeface="Arial"/>
                <a:cs typeface="Arial"/>
                <a:sym typeface="Arial"/>
              </a:rPr>
              <a:t>variations anatomiques</a:t>
            </a:r>
            <a:r>
              <a:rPr lang="ro" sz="1300">
                <a:solidFill>
                  <a:srgbClr val="000000"/>
                </a:solidFill>
                <a:latin typeface="Arial"/>
                <a:ea typeface="Arial"/>
                <a:cs typeface="Arial"/>
                <a:sym typeface="Arial"/>
              </a:rPr>
              <a:t> (ex : remplissage de la vessie).</a:t>
            </a:r>
            <a:endParaRPr sz="1300">
              <a:solidFill>
                <a:srgbClr val="000000"/>
              </a:solidFill>
              <a:latin typeface="Arial"/>
              <a:ea typeface="Arial"/>
              <a:cs typeface="Arial"/>
              <a:sym typeface="Arial"/>
            </a:endParaRPr>
          </a:p>
          <a:p>
            <a:pPr indent="-311150" lvl="0" marL="457200" rtl="0" algn="just">
              <a:lnSpc>
                <a:spcPct val="95000"/>
              </a:lnSpc>
              <a:spcBef>
                <a:spcPts val="0"/>
              </a:spcBef>
              <a:spcAft>
                <a:spcPts val="0"/>
              </a:spcAft>
              <a:buClr>
                <a:srgbClr val="000000"/>
              </a:buClr>
              <a:buSzPts val="1300"/>
              <a:buFont typeface="Arial"/>
              <a:buChar char="●"/>
            </a:pPr>
            <a:r>
              <a:rPr b="1" lang="ro" sz="1300">
                <a:solidFill>
                  <a:srgbClr val="000000"/>
                </a:solidFill>
                <a:latin typeface="Arial"/>
                <a:ea typeface="Arial"/>
                <a:cs typeface="Arial"/>
                <a:sym typeface="Arial"/>
              </a:rPr>
              <a:t>Ce qu’il comprend :</a:t>
            </a:r>
            <a:endParaRPr b="1" sz="1300">
              <a:solidFill>
                <a:srgbClr val="000000"/>
              </a:solidFill>
              <a:latin typeface="Arial"/>
              <a:ea typeface="Arial"/>
              <a:cs typeface="Arial"/>
              <a:sym typeface="Arial"/>
            </a:endParaRPr>
          </a:p>
          <a:p>
            <a:pPr indent="-311150" lvl="1" marL="914400" rtl="0" algn="just">
              <a:lnSpc>
                <a:spcPct val="95000"/>
              </a:lnSpc>
              <a:spcBef>
                <a:spcPts val="0"/>
              </a:spcBef>
              <a:spcAft>
                <a:spcPts val="0"/>
              </a:spcAft>
              <a:buClr>
                <a:srgbClr val="000000"/>
              </a:buClr>
              <a:buSzPts val="1300"/>
              <a:buFont typeface="Arial"/>
              <a:buChar char="○"/>
            </a:pPr>
            <a:r>
              <a:rPr b="1" lang="ro" sz="1300">
                <a:solidFill>
                  <a:srgbClr val="000000"/>
                </a:solidFill>
                <a:latin typeface="Arial"/>
                <a:ea typeface="Arial"/>
                <a:cs typeface="Arial"/>
                <a:sym typeface="Arial"/>
              </a:rPr>
              <a:t>CTV</a:t>
            </a:r>
            <a:r>
              <a:rPr lang="ro" sz="1300">
                <a:solidFill>
                  <a:srgbClr val="000000"/>
                </a:solidFill>
                <a:latin typeface="Arial"/>
                <a:ea typeface="Arial"/>
                <a:cs typeface="Arial"/>
                <a:sym typeface="Arial"/>
              </a:rPr>
              <a:t> + Marges pour les </a:t>
            </a:r>
            <a:r>
              <a:rPr b="1" lang="ro" sz="1300">
                <a:solidFill>
                  <a:srgbClr val="000000"/>
                </a:solidFill>
                <a:latin typeface="Arial"/>
                <a:ea typeface="Arial"/>
                <a:cs typeface="Arial"/>
                <a:sym typeface="Arial"/>
              </a:rPr>
              <a:t>mouvements internes</a:t>
            </a:r>
            <a:r>
              <a:rPr lang="ro" sz="1300">
                <a:solidFill>
                  <a:srgbClr val="000000"/>
                </a:solidFill>
                <a:latin typeface="Arial"/>
                <a:ea typeface="Arial"/>
                <a:cs typeface="Arial"/>
                <a:sym typeface="Arial"/>
              </a:rPr>
              <a:t> (ITV si nécessaire).</a:t>
            </a:r>
            <a:endParaRPr sz="1300">
              <a:solidFill>
                <a:srgbClr val="000000"/>
              </a:solidFill>
              <a:latin typeface="Arial"/>
              <a:ea typeface="Arial"/>
              <a:cs typeface="Arial"/>
              <a:sym typeface="Arial"/>
            </a:endParaRPr>
          </a:p>
          <a:p>
            <a:pPr indent="-311150" lvl="1" marL="914400" rtl="0" algn="just">
              <a:lnSpc>
                <a:spcPct val="95000"/>
              </a:lnSpc>
              <a:spcBef>
                <a:spcPts val="0"/>
              </a:spcBef>
              <a:spcAft>
                <a:spcPts val="0"/>
              </a:spcAft>
              <a:buClr>
                <a:srgbClr val="000000"/>
              </a:buClr>
              <a:buSzPts val="1300"/>
              <a:buFont typeface="Arial"/>
              <a:buChar char="○"/>
            </a:pPr>
            <a:r>
              <a:rPr lang="ro" sz="1300">
                <a:solidFill>
                  <a:srgbClr val="000000"/>
                </a:solidFill>
                <a:latin typeface="Arial"/>
                <a:ea typeface="Arial"/>
                <a:cs typeface="Arial"/>
                <a:sym typeface="Arial"/>
              </a:rPr>
              <a:t>Correction des </a:t>
            </a:r>
            <a:r>
              <a:rPr b="1" lang="ro" sz="1300">
                <a:solidFill>
                  <a:srgbClr val="000000"/>
                </a:solidFill>
                <a:latin typeface="Arial"/>
                <a:ea typeface="Arial"/>
                <a:cs typeface="Arial"/>
                <a:sym typeface="Arial"/>
              </a:rPr>
              <a:t>variations de position</a:t>
            </a:r>
            <a:r>
              <a:rPr lang="ro" sz="1300">
                <a:solidFill>
                  <a:srgbClr val="000000"/>
                </a:solidFill>
                <a:latin typeface="Arial"/>
                <a:ea typeface="Arial"/>
                <a:cs typeface="Arial"/>
                <a:sym typeface="Arial"/>
              </a:rPr>
              <a:t> entre chaque séance.</a:t>
            </a:r>
            <a:endParaRPr sz="1300">
              <a:solidFill>
                <a:srgbClr val="000000"/>
              </a:solidFill>
              <a:latin typeface="Arial"/>
              <a:ea typeface="Arial"/>
              <a:cs typeface="Arial"/>
              <a:sym typeface="Arial"/>
            </a:endParaRPr>
          </a:p>
          <a:p>
            <a:pPr indent="-311150" lvl="0" marL="457200" rtl="0" algn="just">
              <a:lnSpc>
                <a:spcPct val="95000"/>
              </a:lnSpc>
              <a:spcBef>
                <a:spcPts val="0"/>
              </a:spcBef>
              <a:spcAft>
                <a:spcPts val="0"/>
              </a:spcAft>
              <a:buClr>
                <a:srgbClr val="000000"/>
              </a:buClr>
              <a:buSzPts val="1300"/>
              <a:buFont typeface="Arial"/>
              <a:buChar char="●"/>
            </a:pPr>
            <a:r>
              <a:rPr b="1" lang="ro" sz="1300">
                <a:solidFill>
                  <a:srgbClr val="000000"/>
                </a:solidFill>
                <a:latin typeface="Arial"/>
                <a:ea typeface="Arial"/>
                <a:cs typeface="Arial"/>
                <a:sym typeface="Arial"/>
              </a:rPr>
              <a:t>Exemples :</a:t>
            </a:r>
            <a:endParaRPr b="1" sz="1300">
              <a:solidFill>
                <a:srgbClr val="000000"/>
              </a:solidFill>
              <a:latin typeface="Arial"/>
              <a:ea typeface="Arial"/>
              <a:cs typeface="Arial"/>
              <a:sym typeface="Arial"/>
            </a:endParaRPr>
          </a:p>
          <a:p>
            <a:pPr indent="-311150" lvl="1" marL="914400" rtl="0" algn="just">
              <a:lnSpc>
                <a:spcPct val="95000"/>
              </a:lnSpc>
              <a:spcBef>
                <a:spcPts val="0"/>
              </a:spcBef>
              <a:spcAft>
                <a:spcPts val="0"/>
              </a:spcAft>
              <a:buClr>
                <a:srgbClr val="000000"/>
              </a:buClr>
              <a:buSzPts val="1300"/>
              <a:buFont typeface="Arial"/>
              <a:buChar char="○"/>
            </a:pPr>
            <a:r>
              <a:rPr b="1" lang="ro" sz="1300">
                <a:solidFill>
                  <a:srgbClr val="000000"/>
                </a:solidFill>
                <a:latin typeface="Arial"/>
                <a:ea typeface="Arial"/>
                <a:cs typeface="Arial"/>
                <a:sym typeface="Arial"/>
              </a:rPr>
              <a:t>Cancer du poumon</a:t>
            </a:r>
            <a:r>
              <a:rPr lang="ro" sz="1300">
                <a:solidFill>
                  <a:srgbClr val="000000"/>
                </a:solidFill>
                <a:latin typeface="Arial"/>
                <a:ea typeface="Arial"/>
                <a:cs typeface="Arial"/>
                <a:sym typeface="Arial"/>
              </a:rPr>
              <a:t> : Ajuster pour les mouvements respiratoires.</a:t>
            </a:r>
            <a:endParaRPr sz="1300">
              <a:solidFill>
                <a:srgbClr val="000000"/>
              </a:solidFill>
              <a:latin typeface="Arial"/>
              <a:ea typeface="Arial"/>
              <a:cs typeface="Arial"/>
              <a:sym typeface="Arial"/>
            </a:endParaRPr>
          </a:p>
          <a:p>
            <a:pPr indent="-311150" lvl="1" marL="914400" rtl="0" algn="just">
              <a:lnSpc>
                <a:spcPct val="95000"/>
              </a:lnSpc>
              <a:spcBef>
                <a:spcPts val="0"/>
              </a:spcBef>
              <a:spcAft>
                <a:spcPts val="0"/>
              </a:spcAft>
              <a:buClr>
                <a:srgbClr val="000000"/>
              </a:buClr>
              <a:buSzPts val="1300"/>
              <a:buFont typeface="Arial"/>
              <a:buChar char="○"/>
            </a:pPr>
            <a:r>
              <a:rPr b="1" lang="ro" sz="1300">
                <a:solidFill>
                  <a:srgbClr val="000000"/>
                </a:solidFill>
                <a:latin typeface="Arial"/>
                <a:ea typeface="Arial"/>
                <a:cs typeface="Arial"/>
                <a:sym typeface="Arial"/>
              </a:rPr>
              <a:t>Cancer de la prostate</a:t>
            </a:r>
            <a:r>
              <a:rPr lang="ro" sz="1300">
                <a:solidFill>
                  <a:srgbClr val="000000"/>
                </a:solidFill>
                <a:latin typeface="Arial"/>
                <a:ea typeface="Arial"/>
                <a:cs typeface="Arial"/>
                <a:sym typeface="Arial"/>
              </a:rPr>
              <a:t> : Prendre en compte les variations de la </a:t>
            </a:r>
            <a:r>
              <a:rPr b="1" lang="ro" sz="1300">
                <a:solidFill>
                  <a:srgbClr val="000000"/>
                </a:solidFill>
                <a:latin typeface="Arial"/>
                <a:ea typeface="Arial"/>
                <a:cs typeface="Arial"/>
                <a:sym typeface="Arial"/>
              </a:rPr>
              <a:t>vessie</a:t>
            </a:r>
            <a:r>
              <a:rPr lang="ro" sz="1300">
                <a:solidFill>
                  <a:srgbClr val="000000"/>
                </a:solidFill>
                <a:latin typeface="Arial"/>
                <a:ea typeface="Arial"/>
                <a:cs typeface="Arial"/>
                <a:sym typeface="Arial"/>
              </a:rPr>
              <a:t> ou du </a:t>
            </a:r>
            <a:r>
              <a:rPr b="1" lang="ro" sz="1300">
                <a:solidFill>
                  <a:srgbClr val="000000"/>
                </a:solidFill>
                <a:latin typeface="Arial"/>
                <a:ea typeface="Arial"/>
                <a:cs typeface="Arial"/>
                <a:sym typeface="Arial"/>
              </a:rPr>
              <a:t>rectum</a:t>
            </a:r>
            <a:r>
              <a:rPr lang="ro" sz="1300">
                <a:solidFill>
                  <a:srgbClr val="000000"/>
                </a:solidFill>
                <a:latin typeface="Arial"/>
                <a:ea typeface="Arial"/>
                <a:cs typeface="Arial"/>
                <a:sym typeface="Arial"/>
              </a:rPr>
              <a:t>.</a:t>
            </a:r>
            <a:endParaRPr sz="1300">
              <a:solidFill>
                <a:srgbClr val="000000"/>
              </a:solidFill>
              <a:latin typeface="Arial"/>
              <a:ea typeface="Arial"/>
              <a:cs typeface="Arial"/>
              <a:sym typeface="Arial"/>
            </a:endParaRPr>
          </a:p>
          <a:p>
            <a:pPr indent="0" lvl="0" marL="0" rtl="0" algn="just">
              <a:lnSpc>
                <a:spcPct val="95000"/>
              </a:lnSpc>
              <a:spcBef>
                <a:spcPts val="1200"/>
              </a:spcBef>
              <a:spcAft>
                <a:spcPts val="0"/>
              </a:spcAft>
              <a:buSzPts val="1800"/>
              <a:buNone/>
            </a:pPr>
            <a:r>
              <a:rPr lang="ro" sz="1300">
                <a:solidFill>
                  <a:srgbClr val="000000"/>
                </a:solidFill>
                <a:latin typeface="Arial"/>
                <a:ea typeface="Arial"/>
                <a:cs typeface="Arial"/>
                <a:sym typeface="Arial"/>
              </a:rPr>
              <a:t>✅ </a:t>
            </a:r>
            <a:r>
              <a:rPr b="1" lang="ro" sz="1300">
                <a:solidFill>
                  <a:srgbClr val="000000"/>
                </a:solidFill>
                <a:latin typeface="Arial"/>
                <a:ea typeface="Arial"/>
                <a:cs typeface="Arial"/>
                <a:sym typeface="Arial"/>
              </a:rPr>
              <a:t>Importance en radiothérapie :</a:t>
            </a:r>
            <a:endParaRPr b="1" sz="1300">
              <a:solidFill>
                <a:srgbClr val="000000"/>
              </a:solidFill>
              <a:latin typeface="Arial"/>
              <a:ea typeface="Arial"/>
              <a:cs typeface="Arial"/>
              <a:sym typeface="Arial"/>
            </a:endParaRPr>
          </a:p>
          <a:p>
            <a:pPr indent="-311150" lvl="0" marL="457200" rtl="0" algn="just">
              <a:lnSpc>
                <a:spcPct val="95000"/>
              </a:lnSpc>
              <a:spcBef>
                <a:spcPts val="1200"/>
              </a:spcBef>
              <a:spcAft>
                <a:spcPts val="0"/>
              </a:spcAft>
              <a:buClr>
                <a:srgbClr val="000000"/>
              </a:buClr>
              <a:buSzPts val="1300"/>
              <a:buFont typeface="Arial"/>
              <a:buChar char="●"/>
            </a:pPr>
            <a:r>
              <a:rPr b="1" lang="ro" sz="1300">
                <a:solidFill>
                  <a:srgbClr val="000000"/>
                </a:solidFill>
                <a:latin typeface="Arial"/>
                <a:ea typeface="Arial"/>
                <a:cs typeface="Arial"/>
                <a:sym typeface="Arial"/>
              </a:rPr>
              <a:t>Assure</a:t>
            </a:r>
            <a:r>
              <a:rPr lang="ro" sz="1300">
                <a:solidFill>
                  <a:srgbClr val="000000"/>
                </a:solidFill>
                <a:latin typeface="Arial"/>
                <a:ea typeface="Arial"/>
                <a:cs typeface="Arial"/>
                <a:sym typeface="Arial"/>
              </a:rPr>
              <a:t> que l’ensemble de la </a:t>
            </a:r>
            <a:r>
              <a:rPr b="1" lang="ro" sz="1300">
                <a:solidFill>
                  <a:srgbClr val="000000"/>
                </a:solidFill>
                <a:latin typeface="Arial"/>
                <a:ea typeface="Arial"/>
                <a:cs typeface="Arial"/>
                <a:sym typeface="Arial"/>
              </a:rPr>
              <a:t>tumeur</a:t>
            </a:r>
            <a:r>
              <a:rPr lang="ro" sz="1300">
                <a:solidFill>
                  <a:srgbClr val="000000"/>
                </a:solidFill>
                <a:latin typeface="Arial"/>
                <a:ea typeface="Arial"/>
                <a:cs typeface="Arial"/>
                <a:sym typeface="Arial"/>
              </a:rPr>
              <a:t> reste dans la zone irradiée malgré les </a:t>
            </a:r>
            <a:r>
              <a:rPr b="1" lang="ro" sz="1300">
                <a:solidFill>
                  <a:srgbClr val="000000"/>
                </a:solidFill>
                <a:latin typeface="Arial"/>
                <a:ea typeface="Arial"/>
                <a:cs typeface="Arial"/>
                <a:sym typeface="Arial"/>
              </a:rPr>
              <a:t>incertitudes</a:t>
            </a:r>
            <a:r>
              <a:rPr lang="ro" sz="1300">
                <a:solidFill>
                  <a:srgbClr val="000000"/>
                </a:solidFill>
                <a:latin typeface="Arial"/>
                <a:ea typeface="Arial"/>
                <a:cs typeface="Arial"/>
                <a:sym typeface="Arial"/>
              </a:rPr>
              <a:t>.</a:t>
            </a:r>
            <a:endParaRPr sz="1300">
              <a:solidFill>
                <a:srgbClr val="000000"/>
              </a:solidFill>
              <a:latin typeface="Arial"/>
              <a:ea typeface="Arial"/>
              <a:cs typeface="Arial"/>
              <a:sym typeface="Arial"/>
            </a:endParaRPr>
          </a:p>
          <a:p>
            <a:pPr indent="-311150" lvl="0" marL="457200" rtl="0" algn="just">
              <a:lnSpc>
                <a:spcPct val="95000"/>
              </a:lnSpc>
              <a:spcBef>
                <a:spcPts val="0"/>
              </a:spcBef>
              <a:spcAft>
                <a:spcPts val="0"/>
              </a:spcAft>
              <a:buClr>
                <a:srgbClr val="000000"/>
              </a:buClr>
              <a:buSzPts val="1300"/>
              <a:buFont typeface="Arial"/>
              <a:buChar char="●"/>
            </a:pPr>
            <a:r>
              <a:rPr lang="ro" sz="1300">
                <a:solidFill>
                  <a:srgbClr val="000000"/>
                </a:solidFill>
                <a:latin typeface="Arial"/>
                <a:ea typeface="Arial"/>
                <a:cs typeface="Arial"/>
                <a:sym typeface="Arial"/>
              </a:rPr>
              <a:t>Permet une </a:t>
            </a:r>
            <a:r>
              <a:rPr b="1" lang="ro" sz="1300">
                <a:solidFill>
                  <a:srgbClr val="000000"/>
                </a:solidFill>
                <a:latin typeface="Arial"/>
                <a:ea typeface="Arial"/>
                <a:cs typeface="Arial"/>
                <a:sym typeface="Arial"/>
              </a:rPr>
              <a:t>marge de sécurité</a:t>
            </a:r>
            <a:r>
              <a:rPr lang="ro" sz="1300">
                <a:solidFill>
                  <a:srgbClr val="000000"/>
                </a:solidFill>
                <a:latin typeface="Arial"/>
                <a:ea typeface="Arial"/>
                <a:cs typeface="Arial"/>
                <a:sym typeface="Arial"/>
              </a:rPr>
              <a:t> pour éviter de </a:t>
            </a:r>
            <a:r>
              <a:rPr b="1" lang="ro" sz="1300">
                <a:solidFill>
                  <a:srgbClr val="000000"/>
                </a:solidFill>
                <a:latin typeface="Arial"/>
                <a:ea typeface="Arial"/>
                <a:cs typeface="Arial"/>
                <a:sym typeface="Arial"/>
              </a:rPr>
              <a:t>manquer la cible</a:t>
            </a:r>
            <a:r>
              <a:rPr lang="ro" sz="1300">
                <a:solidFill>
                  <a:srgbClr val="000000"/>
                </a:solidFill>
                <a:latin typeface="Arial"/>
                <a:ea typeface="Arial"/>
                <a:cs typeface="Arial"/>
                <a:sym typeface="Arial"/>
              </a:rPr>
              <a:t>.</a:t>
            </a:r>
            <a:endParaRPr sz="1300">
              <a:solidFill>
                <a:srgbClr val="000000"/>
              </a:solidFill>
              <a:latin typeface="Arial"/>
              <a:ea typeface="Arial"/>
              <a:cs typeface="Arial"/>
              <a:sym typeface="Arial"/>
            </a:endParaRPr>
          </a:p>
          <a:p>
            <a:pPr indent="0" lvl="0" marL="0" rtl="0" algn="just">
              <a:lnSpc>
                <a:spcPct val="95000"/>
              </a:lnSpc>
              <a:spcBef>
                <a:spcPts val="1200"/>
              </a:spcBef>
              <a:spcAft>
                <a:spcPts val="1200"/>
              </a:spcAft>
              <a:buSzPts val="1800"/>
              <a:buNone/>
            </a:pPr>
            <a:r>
              <a:t/>
            </a:r>
            <a:endParaRPr sz="2000"/>
          </a:p>
        </p:txBody>
      </p:sp>
      <p:pic>
        <p:nvPicPr>
          <p:cNvPr id="296" name="Google Shape;296;p48" title="PTV.jpg"/>
          <p:cNvPicPr preferRelativeResize="0"/>
          <p:nvPr/>
        </p:nvPicPr>
        <p:blipFill rotWithShape="1">
          <a:blip r:embed="rId3">
            <a:alphaModFix/>
          </a:blip>
          <a:srcRect b="22197" l="1091" r="50419" t="6678"/>
          <a:stretch/>
        </p:blipFill>
        <p:spPr>
          <a:xfrm>
            <a:off x="6096300" y="0"/>
            <a:ext cx="3047700" cy="2514349"/>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9"/>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302" name="Google Shape;302;p49"/>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800"/>
              <a:buNone/>
            </a:pPr>
            <a:r>
              <a:rPr lang="ro" sz="1300">
                <a:solidFill>
                  <a:srgbClr val="000000"/>
                </a:solidFill>
                <a:latin typeface="Arial"/>
                <a:ea typeface="Arial"/>
                <a:cs typeface="Arial"/>
                <a:sym typeface="Arial"/>
              </a:rPr>
              <a:t>👉 </a:t>
            </a:r>
            <a:r>
              <a:rPr b="1" lang="ro" sz="1300">
                <a:solidFill>
                  <a:srgbClr val="000000"/>
                </a:solidFill>
                <a:latin typeface="Arial"/>
                <a:ea typeface="Arial"/>
                <a:cs typeface="Arial"/>
                <a:sym typeface="Arial"/>
              </a:rPr>
              <a:t>En résumé :</a:t>
            </a:r>
            <a:endParaRPr b="1" sz="1300">
              <a:solidFill>
                <a:srgbClr val="000000"/>
              </a:solidFill>
              <a:latin typeface="Arial"/>
              <a:ea typeface="Arial"/>
              <a:cs typeface="Arial"/>
              <a:sym typeface="Arial"/>
            </a:endParaRPr>
          </a:p>
          <a:p>
            <a:pPr indent="-311150" lvl="0" marL="457200" rtl="0" algn="l">
              <a:lnSpc>
                <a:spcPct val="115000"/>
              </a:lnSpc>
              <a:spcBef>
                <a:spcPts val="1200"/>
              </a:spcBef>
              <a:spcAft>
                <a:spcPts val="0"/>
              </a:spcAft>
              <a:buClr>
                <a:srgbClr val="000000"/>
              </a:buClr>
              <a:buSzPts val="1300"/>
              <a:buFont typeface="Arial"/>
              <a:buChar char="●"/>
            </a:pPr>
            <a:r>
              <a:rPr b="1" lang="ro" sz="1300">
                <a:solidFill>
                  <a:srgbClr val="000000"/>
                </a:solidFill>
                <a:latin typeface="Arial"/>
                <a:ea typeface="Arial"/>
                <a:cs typeface="Arial"/>
                <a:sym typeface="Arial"/>
              </a:rPr>
              <a:t>GTV</a:t>
            </a:r>
            <a:r>
              <a:rPr lang="ro" sz="1300">
                <a:solidFill>
                  <a:srgbClr val="000000"/>
                </a:solidFill>
                <a:latin typeface="Arial"/>
                <a:ea typeface="Arial"/>
                <a:cs typeface="Arial"/>
                <a:sym typeface="Arial"/>
              </a:rPr>
              <a:t> : Ce que l’on </a:t>
            </a:r>
            <a:r>
              <a:rPr b="1" lang="ro" sz="1300">
                <a:solidFill>
                  <a:srgbClr val="000000"/>
                </a:solidFill>
                <a:latin typeface="Arial"/>
                <a:ea typeface="Arial"/>
                <a:cs typeface="Arial"/>
                <a:sym typeface="Arial"/>
              </a:rPr>
              <a:t>voit</a:t>
            </a:r>
            <a:r>
              <a:rPr lang="ro" sz="1300">
                <a:solidFill>
                  <a:srgbClr val="000000"/>
                </a:solidFill>
                <a:latin typeface="Arial"/>
                <a:ea typeface="Arial"/>
                <a:cs typeface="Arial"/>
                <a:sym typeface="Arial"/>
              </a:rPr>
              <a:t> (tumeur macroscopique).</a:t>
            </a:r>
            <a:endParaRPr sz="1300">
              <a:solidFill>
                <a:srgbClr val="000000"/>
              </a:solidFill>
              <a:latin typeface="Arial"/>
              <a:ea typeface="Arial"/>
              <a:cs typeface="Arial"/>
              <a:sym typeface="Arial"/>
            </a:endParaRPr>
          </a:p>
          <a:p>
            <a:pPr indent="-311150" lvl="0" marL="457200" rtl="0" algn="l">
              <a:lnSpc>
                <a:spcPct val="115000"/>
              </a:lnSpc>
              <a:spcBef>
                <a:spcPts val="0"/>
              </a:spcBef>
              <a:spcAft>
                <a:spcPts val="0"/>
              </a:spcAft>
              <a:buClr>
                <a:srgbClr val="000000"/>
              </a:buClr>
              <a:buSzPts val="1300"/>
              <a:buFont typeface="Arial"/>
              <a:buChar char="●"/>
            </a:pPr>
            <a:r>
              <a:rPr b="1" lang="ro" sz="1300">
                <a:solidFill>
                  <a:srgbClr val="000000"/>
                </a:solidFill>
                <a:latin typeface="Arial"/>
                <a:ea typeface="Arial"/>
                <a:cs typeface="Arial"/>
                <a:sym typeface="Arial"/>
              </a:rPr>
              <a:t>CTV</a:t>
            </a:r>
            <a:r>
              <a:rPr lang="ro" sz="1300">
                <a:solidFill>
                  <a:srgbClr val="000000"/>
                </a:solidFill>
                <a:latin typeface="Arial"/>
                <a:ea typeface="Arial"/>
                <a:cs typeface="Arial"/>
                <a:sym typeface="Arial"/>
              </a:rPr>
              <a:t> : Ce que l’on </a:t>
            </a:r>
            <a:r>
              <a:rPr b="1" lang="ro" sz="1300">
                <a:solidFill>
                  <a:srgbClr val="000000"/>
                </a:solidFill>
                <a:latin typeface="Arial"/>
                <a:ea typeface="Arial"/>
                <a:cs typeface="Arial"/>
                <a:sym typeface="Arial"/>
              </a:rPr>
              <a:t>soupçonne</a:t>
            </a:r>
            <a:r>
              <a:rPr lang="ro" sz="1300">
                <a:solidFill>
                  <a:srgbClr val="000000"/>
                </a:solidFill>
                <a:latin typeface="Arial"/>
                <a:ea typeface="Arial"/>
                <a:cs typeface="Arial"/>
                <a:sym typeface="Arial"/>
              </a:rPr>
              <a:t> (extensions microscopiques).</a:t>
            </a:r>
            <a:endParaRPr sz="1300">
              <a:solidFill>
                <a:srgbClr val="000000"/>
              </a:solidFill>
              <a:latin typeface="Arial"/>
              <a:ea typeface="Arial"/>
              <a:cs typeface="Arial"/>
              <a:sym typeface="Arial"/>
            </a:endParaRPr>
          </a:p>
          <a:p>
            <a:pPr indent="-311150" lvl="0" marL="457200" rtl="0" algn="l">
              <a:lnSpc>
                <a:spcPct val="115000"/>
              </a:lnSpc>
              <a:spcBef>
                <a:spcPts val="0"/>
              </a:spcBef>
              <a:spcAft>
                <a:spcPts val="0"/>
              </a:spcAft>
              <a:buClr>
                <a:srgbClr val="000000"/>
              </a:buClr>
              <a:buSzPts val="1300"/>
              <a:buFont typeface="Arial"/>
              <a:buChar char="●"/>
            </a:pPr>
            <a:r>
              <a:rPr b="1" lang="ro" sz="1300">
                <a:solidFill>
                  <a:srgbClr val="000000"/>
                </a:solidFill>
                <a:latin typeface="Arial"/>
                <a:ea typeface="Arial"/>
                <a:cs typeface="Arial"/>
                <a:sym typeface="Arial"/>
              </a:rPr>
              <a:t>PTV</a:t>
            </a:r>
            <a:r>
              <a:rPr lang="ro" sz="1300">
                <a:solidFill>
                  <a:srgbClr val="000000"/>
                </a:solidFill>
                <a:latin typeface="Arial"/>
                <a:ea typeface="Arial"/>
                <a:cs typeface="Arial"/>
                <a:sym typeface="Arial"/>
              </a:rPr>
              <a:t> : Ce que l’on </a:t>
            </a:r>
            <a:r>
              <a:rPr b="1" lang="ro" sz="1300">
                <a:solidFill>
                  <a:srgbClr val="000000"/>
                </a:solidFill>
                <a:latin typeface="Arial"/>
                <a:ea typeface="Arial"/>
                <a:cs typeface="Arial"/>
                <a:sym typeface="Arial"/>
              </a:rPr>
              <a:t>anticipe</a:t>
            </a:r>
            <a:r>
              <a:rPr lang="ro" sz="1300">
                <a:solidFill>
                  <a:srgbClr val="000000"/>
                </a:solidFill>
                <a:latin typeface="Arial"/>
                <a:ea typeface="Arial"/>
                <a:cs typeface="Arial"/>
                <a:sym typeface="Arial"/>
              </a:rPr>
              <a:t> (marges pour les erreurs et mouvements).</a:t>
            </a:r>
            <a:endParaRPr sz="1300">
              <a:solidFill>
                <a:srgbClr val="000000"/>
              </a:solidFill>
              <a:latin typeface="Arial"/>
              <a:ea typeface="Arial"/>
              <a:cs typeface="Arial"/>
              <a:sym typeface="Arial"/>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400"/>
              </a:spcBef>
              <a:spcAft>
                <a:spcPts val="0"/>
              </a:spcAft>
              <a:buSzPts val="1800"/>
              <a:buNone/>
            </a:pPr>
            <a:r>
              <a:rPr b="1" lang="ro" sz="1300">
                <a:solidFill>
                  <a:srgbClr val="000000"/>
                </a:solidFill>
                <a:latin typeface="Arial"/>
                <a:ea typeface="Arial"/>
                <a:cs typeface="Arial"/>
                <a:sym typeface="Arial"/>
              </a:rPr>
              <a:t>🛠️ Techniques pour améliorer la précision du PTV :</a:t>
            </a:r>
            <a:endParaRPr b="1" sz="1300">
              <a:solidFill>
                <a:srgbClr val="000000"/>
              </a:solidFill>
              <a:latin typeface="Arial"/>
              <a:ea typeface="Arial"/>
              <a:cs typeface="Arial"/>
              <a:sym typeface="Arial"/>
            </a:endParaRPr>
          </a:p>
          <a:p>
            <a:pPr indent="-298450" lvl="0" marL="457200" rtl="0" algn="l">
              <a:lnSpc>
                <a:spcPct val="115000"/>
              </a:lnSpc>
              <a:spcBef>
                <a:spcPts val="1200"/>
              </a:spcBef>
              <a:spcAft>
                <a:spcPts val="0"/>
              </a:spcAft>
              <a:buClr>
                <a:srgbClr val="000000"/>
              </a:buClr>
              <a:buSzPts val="1100"/>
              <a:buFont typeface="Arial"/>
              <a:buChar char="●"/>
            </a:pPr>
            <a:r>
              <a:rPr b="1" lang="ro" sz="1100">
                <a:solidFill>
                  <a:srgbClr val="000000"/>
                </a:solidFill>
                <a:latin typeface="Arial"/>
                <a:ea typeface="Arial"/>
                <a:cs typeface="Arial"/>
                <a:sym typeface="Arial"/>
              </a:rPr>
              <a:t>IGRT (Image-Guided Radiation Therapy)</a:t>
            </a:r>
            <a:r>
              <a:rPr lang="ro" sz="1100">
                <a:solidFill>
                  <a:srgbClr val="000000"/>
                </a:solidFill>
                <a:latin typeface="Arial"/>
                <a:ea typeface="Arial"/>
                <a:cs typeface="Arial"/>
                <a:sym typeface="Arial"/>
              </a:rPr>
              <a:t> : Imagerie en temps réel pour ajuster le PTV avant chaque séance.</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b="1" lang="ro" sz="1100">
                <a:solidFill>
                  <a:srgbClr val="000000"/>
                </a:solidFill>
                <a:latin typeface="Arial"/>
                <a:ea typeface="Arial"/>
                <a:cs typeface="Arial"/>
                <a:sym typeface="Arial"/>
              </a:rPr>
              <a:t>Gating respiratoire</a:t>
            </a:r>
            <a:r>
              <a:rPr lang="ro" sz="1100">
                <a:solidFill>
                  <a:srgbClr val="000000"/>
                </a:solidFill>
                <a:latin typeface="Arial"/>
                <a:ea typeface="Arial"/>
                <a:cs typeface="Arial"/>
                <a:sym typeface="Arial"/>
              </a:rPr>
              <a:t> : Irradiation synchronisée avec la respiration pour limiter le mouvement de la tumeur.</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b="1" lang="ro" sz="1100">
                <a:solidFill>
                  <a:srgbClr val="000000"/>
                </a:solidFill>
                <a:latin typeface="Arial"/>
                <a:ea typeface="Arial"/>
                <a:cs typeface="Arial"/>
                <a:sym typeface="Arial"/>
              </a:rPr>
              <a:t>Radiothérapie stéréotaxique (SBRT)</a:t>
            </a:r>
            <a:r>
              <a:rPr lang="ro" sz="1100">
                <a:solidFill>
                  <a:srgbClr val="000000"/>
                </a:solidFill>
                <a:latin typeface="Arial"/>
                <a:ea typeface="Arial"/>
                <a:cs typeface="Arial"/>
                <a:sym typeface="Arial"/>
              </a:rPr>
              <a:t> : Très haute précision avec de faibles marges PTV.</a:t>
            </a:r>
            <a:endParaRPr sz="11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800"/>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50"/>
          <p:cNvSpPr txBox="1"/>
          <p:nvPr>
            <p:ph idx="1" type="body"/>
          </p:nvPr>
        </p:nvSpPr>
        <p:spPr>
          <a:xfrm>
            <a:off x="185850" y="284975"/>
            <a:ext cx="8520600" cy="44697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200"/>
              </a:spcBef>
              <a:spcAft>
                <a:spcPts val="0"/>
              </a:spcAft>
              <a:buSzPts val="1800"/>
              <a:buNone/>
            </a:pPr>
            <a:r>
              <a:rPr lang="ro" sz="1700">
                <a:solidFill>
                  <a:srgbClr val="000000"/>
                </a:solidFill>
                <a:latin typeface="Arial"/>
                <a:ea typeface="Arial"/>
                <a:cs typeface="Arial"/>
                <a:sym typeface="Arial"/>
              </a:rPr>
              <a:t>👉 </a:t>
            </a:r>
            <a:r>
              <a:rPr b="1" lang="ro" sz="1700">
                <a:solidFill>
                  <a:srgbClr val="000000"/>
                </a:solidFill>
                <a:latin typeface="Arial"/>
                <a:ea typeface="Arial"/>
                <a:cs typeface="Arial"/>
                <a:sym typeface="Arial"/>
              </a:rPr>
              <a:t>Objectif principal :</a:t>
            </a:r>
            <a:endParaRPr b="1" sz="1700">
              <a:solidFill>
                <a:srgbClr val="000000"/>
              </a:solidFill>
              <a:latin typeface="Arial"/>
              <a:ea typeface="Arial"/>
              <a:cs typeface="Arial"/>
              <a:sym typeface="Arial"/>
            </a:endParaRPr>
          </a:p>
          <a:p>
            <a:pPr indent="-336550" lvl="0" marL="457200" rtl="0" algn="just">
              <a:lnSpc>
                <a:spcPct val="115000"/>
              </a:lnSpc>
              <a:spcBef>
                <a:spcPts val="1200"/>
              </a:spcBef>
              <a:spcAft>
                <a:spcPts val="0"/>
              </a:spcAft>
              <a:buClr>
                <a:srgbClr val="000000"/>
              </a:buClr>
              <a:buSzPts val="1700"/>
              <a:buFont typeface="Arial"/>
              <a:buChar char="●"/>
            </a:pPr>
            <a:r>
              <a:rPr lang="ro" sz="1700">
                <a:solidFill>
                  <a:srgbClr val="000000"/>
                </a:solidFill>
                <a:latin typeface="Arial"/>
                <a:ea typeface="Arial"/>
                <a:cs typeface="Arial"/>
                <a:sym typeface="Arial"/>
              </a:rPr>
              <a:t>Maximiser la dose sur la </a:t>
            </a:r>
            <a:r>
              <a:rPr b="1" lang="ro" sz="1700">
                <a:solidFill>
                  <a:srgbClr val="000000"/>
                </a:solidFill>
                <a:latin typeface="Arial"/>
                <a:ea typeface="Arial"/>
                <a:cs typeface="Arial"/>
                <a:sym typeface="Arial"/>
              </a:rPr>
              <a:t>tumeur</a:t>
            </a:r>
            <a:r>
              <a:rPr lang="ro" sz="1700">
                <a:solidFill>
                  <a:srgbClr val="000000"/>
                </a:solidFill>
                <a:latin typeface="Arial"/>
                <a:ea typeface="Arial"/>
                <a:cs typeface="Arial"/>
                <a:sym typeface="Arial"/>
              </a:rPr>
              <a:t>.</a:t>
            </a:r>
            <a:endParaRPr sz="1700">
              <a:solidFill>
                <a:srgbClr val="000000"/>
              </a:solidFill>
              <a:latin typeface="Arial"/>
              <a:ea typeface="Arial"/>
              <a:cs typeface="Arial"/>
              <a:sym typeface="Arial"/>
            </a:endParaRPr>
          </a:p>
          <a:p>
            <a:pPr indent="-336550" lvl="0" marL="457200" rtl="0" algn="just">
              <a:lnSpc>
                <a:spcPct val="115000"/>
              </a:lnSpc>
              <a:spcBef>
                <a:spcPts val="0"/>
              </a:spcBef>
              <a:spcAft>
                <a:spcPts val="0"/>
              </a:spcAft>
              <a:buClr>
                <a:srgbClr val="000000"/>
              </a:buClr>
              <a:buSzPts val="1700"/>
              <a:buFont typeface="Arial"/>
              <a:buChar char="●"/>
            </a:pPr>
            <a:r>
              <a:rPr lang="ro" sz="1700">
                <a:solidFill>
                  <a:srgbClr val="000000"/>
                </a:solidFill>
                <a:latin typeface="Arial"/>
                <a:ea typeface="Arial"/>
                <a:cs typeface="Arial"/>
                <a:sym typeface="Arial"/>
              </a:rPr>
              <a:t>Minimiser l’exposition des </a:t>
            </a:r>
            <a:r>
              <a:rPr b="1" lang="ro" sz="1700">
                <a:solidFill>
                  <a:srgbClr val="000000"/>
                </a:solidFill>
                <a:latin typeface="Arial"/>
                <a:ea typeface="Arial"/>
                <a:cs typeface="Arial"/>
                <a:sym typeface="Arial"/>
              </a:rPr>
              <a:t>organes à risque</a:t>
            </a:r>
            <a:r>
              <a:rPr lang="ro" sz="1700">
                <a:solidFill>
                  <a:srgbClr val="000000"/>
                </a:solidFill>
                <a:latin typeface="Arial"/>
                <a:ea typeface="Arial"/>
                <a:cs typeface="Arial"/>
                <a:sym typeface="Arial"/>
              </a:rPr>
              <a:t> pour </a:t>
            </a:r>
            <a:r>
              <a:rPr b="1" lang="ro" sz="1700">
                <a:solidFill>
                  <a:srgbClr val="000000"/>
                </a:solidFill>
                <a:latin typeface="Arial"/>
                <a:ea typeface="Arial"/>
                <a:cs typeface="Arial"/>
                <a:sym typeface="Arial"/>
              </a:rPr>
              <a:t>réduire les effets secondaires</a:t>
            </a:r>
            <a:r>
              <a:rPr lang="ro" sz="1700">
                <a:solidFill>
                  <a:srgbClr val="000000"/>
                </a:solidFill>
                <a:latin typeface="Arial"/>
                <a:ea typeface="Arial"/>
                <a:cs typeface="Arial"/>
                <a:sym typeface="Arial"/>
              </a:rPr>
              <a:t>.</a:t>
            </a:r>
            <a:endParaRPr sz="1700">
              <a:solidFill>
                <a:srgbClr val="000000"/>
              </a:solidFill>
              <a:latin typeface="Arial"/>
              <a:ea typeface="Arial"/>
              <a:cs typeface="Arial"/>
              <a:sym typeface="Arial"/>
            </a:endParaRPr>
          </a:p>
          <a:p>
            <a:pPr indent="0" lvl="0" marL="0" rtl="0" algn="just">
              <a:lnSpc>
                <a:spcPct val="115000"/>
              </a:lnSpc>
              <a:spcBef>
                <a:spcPts val="1400"/>
              </a:spcBef>
              <a:spcAft>
                <a:spcPts val="0"/>
              </a:spcAft>
              <a:buSzPts val="1800"/>
              <a:buNone/>
            </a:pPr>
            <a:r>
              <a:rPr b="1" lang="ro" sz="1700">
                <a:solidFill>
                  <a:srgbClr val="000000"/>
                </a:solidFill>
                <a:latin typeface="Arial"/>
                <a:ea typeface="Arial"/>
                <a:cs typeface="Arial"/>
                <a:sym typeface="Arial"/>
              </a:rPr>
              <a:t>📐  Définition des OAR :</a:t>
            </a:r>
            <a:endParaRPr b="1" sz="1700">
              <a:solidFill>
                <a:srgbClr val="000000"/>
              </a:solidFill>
              <a:latin typeface="Arial"/>
              <a:ea typeface="Arial"/>
              <a:cs typeface="Arial"/>
              <a:sym typeface="Arial"/>
            </a:endParaRPr>
          </a:p>
          <a:p>
            <a:pPr indent="-323850" lvl="0" marL="457200" rtl="0" algn="just">
              <a:lnSpc>
                <a:spcPct val="115000"/>
              </a:lnSpc>
              <a:spcBef>
                <a:spcPts val="1200"/>
              </a:spcBef>
              <a:spcAft>
                <a:spcPts val="0"/>
              </a:spcAft>
              <a:buClr>
                <a:srgbClr val="000000"/>
              </a:buClr>
              <a:buSzPts val="1500"/>
              <a:buFont typeface="Arial"/>
              <a:buChar char="●"/>
            </a:pPr>
            <a:r>
              <a:rPr b="1" lang="ro" sz="1500">
                <a:solidFill>
                  <a:srgbClr val="000000"/>
                </a:solidFill>
                <a:latin typeface="Arial"/>
                <a:ea typeface="Arial"/>
                <a:cs typeface="Arial"/>
                <a:sym typeface="Arial"/>
              </a:rPr>
              <a:t>Organes ou structures normales sensibles</a:t>
            </a:r>
            <a:r>
              <a:rPr lang="ro" sz="1500">
                <a:solidFill>
                  <a:srgbClr val="000000"/>
                </a:solidFill>
                <a:latin typeface="Arial"/>
                <a:ea typeface="Arial"/>
                <a:cs typeface="Arial"/>
                <a:sym typeface="Arial"/>
              </a:rPr>
              <a:t> aux radiations.</a:t>
            </a:r>
            <a:endParaRPr sz="1500">
              <a:solidFill>
                <a:srgbClr val="000000"/>
              </a:solidFill>
              <a:latin typeface="Arial"/>
              <a:ea typeface="Arial"/>
              <a:cs typeface="Arial"/>
              <a:sym typeface="Arial"/>
            </a:endParaRPr>
          </a:p>
          <a:p>
            <a:pPr indent="-323850" lvl="0" marL="457200" rtl="0" algn="just">
              <a:lnSpc>
                <a:spcPct val="115000"/>
              </a:lnSpc>
              <a:spcBef>
                <a:spcPts val="0"/>
              </a:spcBef>
              <a:spcAft>
                <a:spcPts val="0"/>
              </a:spcAft>
              <a:buClr>
                <a:srgbClr val="000000"/>
              </a:buClr>
              <a:buSzPts val="1500"/>
              <a:buFont typeface="Arial"/>
              <a:buChar char="●"/>
            </a:pPr>
            <a:r>
              <a:rPr lang="ro" sz="1500">
                <a:solidFill>
                  <a:srgbClr val="000000"/>
                </a:solidFill>
                <a:latin typeface="Arial"/>
                <a:ea typeface="Arial"/>
                <a:cs typeface="Arial"/>
                <a:sym typeface="Arial"/>
              </a:rPr>
              <a:t>Situés </a:t>
            </a:r>
            <a:r>
              <a:rPr b="1" lang="ro" sz="1500">
                <a:solidFill>
                  <a:srgbClr val="000000"/>
                </a:solidFill>
                <a:latin typeface="Arial"/>
                <a:ea typeface="Arial"/>
                <a:cs typeface="Arial"/>
                <a:sym typeface="Arial"/>
              </a:rPr>
              <a:t>à proximité</a:t>
            </a:r>
            <a:r>
              <a:rPr lang="ro" sz="1500">
                <a:solidFill>
                  <a:srgbClr val="000000"/>
                </a:solidFill>
                <a:latin typeface="Arial"/>
                <a:ea typeface="Arial"/>
                <a:cs typeface="Arial"/>
                <a:sym typeface="Arial"/>
              </a:rPr>
              <a:t> de la zone cible (PTV).</a:t>
            </a:r>
            <a:endParaRPr sz="1500">
              <a:solidFill>
                <a:srgbClr val="000000"/>
              </a:solidFill>
              <a:latin typeface="Arial"/>
              <a:ea typeface="Arial"/>
              <a:cs typeface="Arial"/>
              <a:sym typeface="Arial"/>
            </a:endParaRPr>
          </a:p>
          <a:p>
            <a:pPr indent="-323850" lvl="0" marL="457200" rtl="0" algn="just">
              <a:lnSpc>
                <a:spcPct val="115000"/>
              </a:lnSpc>
              <a:spcBef>
                <a:spcPts val="0"/>
              </a:spcBef>
              <a:spcAft>
                <a:spcPts val="0"/>
              </a:spcAft>
              <a:buClr>
                <a:srgbClr val="000000"/>
              </a:buClr>
              <a:buSzPts val="1500"/>
              <a:buFont typeface="Arial"/>
              <a:buChar char="●"/>
            </a:pPr>
            <a:r>
              <a:rPr b="1" lang="ro" sz="1500">
                <a:solidFill>
                  <a:srgbClr val="000000"/>
                </a:solidFill>
                <a:latin typeface="Arial"/>
                <a:ea typeface="Arial"/>
                <a:cs typeface="Arial"/>
                <a:sym typeface="Arial"/>
              </a:rPr>
              <a:t>Protéger ces organes</a:t>
            </a:r>
            <a:r>
              <a:rPr lang="ro" sz="1500">
                <a:solidFill>
                  <a:srgbClr val="000000"/>
                </a:solidFill>
                <a:latin typeface="Arial"/>
                <a:ea typeface="Arial"/>
                <a:cs typeface="Arial"/>
                <a:sym typeface="Arial"/>
              </a:rPr>
              <a:t> est essentiel pour </a:t>
            </a:r>
            <a:r>
              <a:rPr b="1" lang="ro" sz="1500">
                <a:solidFill>
                  <a:srgbClr val="000000"/>
                </a:solidFill>
                <a:latin typeface="Arial"/>
                <a:ea typeface="Arial"/>
                <a:cs typeface="Arial"/>
                <a:sym typeface="Arial"/>
              </a:rPr>
              <a:t>éviter les complications</a:t>
            </a:r>
            <a:r>
              <a:rPr lang="ro" sz="1500">
                <a:solidFill>
                  <a:srgbClr val="000000"/>
                </a:solidFill>
                <a:latin typeface="Arial"/>
                <a:ea typeface="Arial"/>
                <a:cs typeface="Arial"/>
                <a:sym typeface="Arial"/>
              </a:rPr>
              <a:t> post-radiothérapie.</a:t>
            </a:r>
            <a:endParaRPr sz="1500">
              <a:solidFill>
                <a:srgbClr val="000000"/>
              </a:solidFill>
              <a:latin typeface="Arial"/>
              <a:ea typeface="Arial"/>
              <a:cs typeface="Arial"/>
              <a:sym typeface="Arial"/>
            </a:endParaRPr>
          </a:p>
          <a:p>
            <a:pPr indent="0" lvl="0" marL="0" rtl="0" algn="just">
              <a:lnSpc>
                <a:spcPct val="115000"/>
              </a:lnSpc>
              <a:spcBef>
                <a:spcPts val="1400"/>
              </a:spcBef>
              <a:spcAft>
                <a:spcPts val="0"/>
              </a:spcAft>
              <a:buSzPts val="1800"/>
              <a:buNone/>
            </a:pPr>
            <a:r>
              <a:rPr b="1" lang="ro" sz="1700">
                <a:solidFill>
                  <a:srgbClr val="000000"/>
                </a:solidFill>
                <a:latin typeface="Arial"/>
                <a:ea typeface="Arial"/>
                <a:cs typeface="Arial"/>
                <a:sym typeface="Arial"/>
              </a:rPr>
              <a:t>📏 Limitation des doses aux OAR :</a:t>
            </a:r>
            <a:endParaRPr b="1" sz="1700">
              <a:solidFill>
                <a:srgbClr val="000000"/>
              </a:solidFill>
              <a:latin typeface="Arial"/>
              <a:ea typeface="Arial"/>
              <a:cs typeface="Arial"/>
              <a:sym typeface="Arial"/>
            </a:endParaRPr>
          </a:p>
          <a:p>
            <a:pPr indent="0" lvl="0" marL="0" rtl="0" algn="just">
              <a:lnSpc>
                <a:spcPct val="115000"/>
              </a:lnSpc>
              <a:spcBef>
                <a:spcPts val="1200"/>
              </a:spcBef>
              <a:spcAft>
                <a:spcPts val="0"/>
              </a:spcAft>
              <a:buSzPts val="1800"/>
              <a:buNone/>
            </a:pPr>
            <a:r>
              <a:rPr lang="ro" sz="1500">
                <a:solidFill>
                  <a:srgbClr val="000000"/>
                </a:solidFill>
                <a:latin typeface="Arial"/>
                <a:ea typeface="Arial"/>
                <a:cs typeface="Arial"/>
                <a:sym typeface="Arial"/>
              </a:rPr>
              <a:t>Chaque OAR a une </a:t>
            </a:r>
            <a:r>
              <a:rPr b="1" lang="ro" sz="1500">
                <a:solidFill>
                  <a:srgbClr val="000000"/>
                </a:solidFill>
                <a:latin typeface="Arial"/>
                <a:ea typeface="Arial"/>
                <a:cs typeface="Arial"/>
                <a:sym typeface="Arial"/>
              </a:rPr>
              <a:t>dose maximale tolérable</a:t>
            </a:r>
            <a:r>
              <a:rPr lang="ro" sz="1500">
                <a:solidFill>
                  <a:srgbClr val="000000"/>
                </a:solidFill>
                <a:latin typeface="Arial"/>
                <a:ea typeface="Arial"/>
                <a:cs typeface="Arial"/>
                <a:sym typeface="Arial"/>
              </a:rPr>
              <a:t>. Si cette dose est dépassée, cela augmente le risque de </a:t>
            </a:r>
            <a:r>
              <a:rPr b="1" lang="ro" sz="1500">
                <a:solidFill>
                  <a:srgbClr val="000000"/>
                </a:solidFill>
                <a:latin typeface="Arial"/>
                <a:ea typeface="Arial"/>
                <a:cs typeface="Arial"/>
                <a:sym typeface="Arial"/>
              </a:rPr>
              <a:t>toxicités aiguës ou tardives</a:t>
            </a:r>
            <a:r>
              <a:rPr lang="ro" sz="1500">
                <a:solidFill>
                  <a:srgbClr val="000000"/>
                </a:solidFill>
                <a:latin typeface="Arial"/>
                <a:ea typeface="Arial"/>
                <a:cs typeface="Arial"/>
                <a:sym typeface="Arial"/>
              </a:rPr>
              <a:t>.</a:t>
            </a:r>
            <a:endParaRPr sz="1500">
              <a:solidFill>
                <a:srgbClr val="000000"/>
              </a:solidFill>
              <a:latin typeface="Arial"/>
              <a:ea typeface="Arial"/>
              <a:cs typeface="Arial"/>
              <a:sym typeface="Arial"/>
            </a:endParaRPr>
          </a:p>
          <a:p>
            <a:pPr indent="0" lvl="0" marL="0" rtl="0" algn="just">
              <a:lnSpc>
                <a:spcPct val="115000"/>
              </a:lnSpc>
              <a:spcBef>
                <a:spcPts val="1200"/>
              </a:spcBef>
              <a:spcAft>
                <a:spcPts val="1200"/>
              </a:spcAft>
              <a:buSzPts val="1800"/>
              <a:buNone/>
            </a:pPr>
            <a:r>
              <a:t/>
            </a:r>
            <a:endParaRPr sz="22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5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313" name="Google Shape;313;p5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314" name="Google Shape;314;p51" title="oars.jpg"/>
          <p:cNvPicPr preferRelativeResize="0"/>
          <p:nvPr/>
        </p:nvPicPr>
        <p:blipFill rotWithShape="1">
          <a:blip r:embed="rId3">
            <a:alphaModFix/>
          </a:blip>
          <a:srcRect b="4094" l="0" r="0" t="4313"/>
          <a:stretch/>
        </p:blipFill>
        <p:spPr>
          <a:xfrm>
            <a:off x="140150" y="210625"/>
            <a:ext cx="8692152" cy="4478374"/>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pic>
        <p:nvPicPr>
          <p:cNvPr id="319" name="Google Shape;319;p52" title="Screenshot 2025-03-23 at 18.15.12.png"/>
          <p:cNvPicPr preferRelativeResize="0"/>
          <p:nvPr/>
        </p:nvPicPr>
        <p:blipFill rotWithShape="1">
          <a:blip r:embed="rId3">
            <a:alphaModFix/>
          </a:blip>
          <a:srcRect b="0" l="0" r="0" t="0"/>
          <a:stretch/>
        </p:blipFill>
        <p:spPr>
          <a:xfrm>
            <a:off x="396500" y="353499"/>
            <a:ext cx="8028876" cy="4319199"/>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pic>
        <p:nvPicPr>
          <p:cNvPr id="324" name="Google Shape;324;p53" title="Screenshot 2025-03-23 at 18.18.02.png"/>
          <p:cNvPicPr preferRelativeResize="0"/>
          <p:nvPr/>
        </p:nvPicPr>
        <p:blipFill rotWithShape="1">
          <a:blip r:embed="rId3">
            <a:alphaModFix/>
          </a:blip>
          <a:srcRect b="0" l="0" r="0" t="0"/>
          <a:stretch/>
        </p:blipFill>
        <p:spPr>
          <a:xfrm>
            <a:off x="148700" y="642587"/>
            <a:ext cx="9144000" cy="2778826"/>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54"/>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just">
              <a:lnSpc>
                <a:spcPct val="115000"/>
              </a:lnSpc>
              <a:spcBef>
                <a:spcPts val="0"/>
              </a:spcBef>
              <a:spcAft>
                <a:spcPts val="0"/>
              </a:spcAft>
              <a:buSzPct val="180766"/>
              <a:buNone/>
            </a:pPr>
            <a:r>
              <a:rPr b="1" lang="ro" sz="1844">
                <a:solidFill>
                  <a:srgbClr val="000000"/>
                </a:solidFill>
                <a:latin typeface="Arial"/>
                <a:ea typeface="Arial"/>
                <a:cs typeface="Arial"/>
                <a:sym typeface="Arial"/>
              </a:rPr>
              <a:t>Balistique/ dosi</a:t>
            </a:r>
            <a:endParaRPr b="1" sz="1844">
              <a:solidFill>
                <a:srgbClr val="000000"/>
              </a:solidFill>
              <a:latin typeface="Arial"/>
              <a:ea typeface="Arial"/>
              <a:cs typeface="Arial"/>
              <a:sym typeface="Arial"/>
            </a:endParaRPr>
          </a:p>
          <a:p>
            <a:pPr indent="0" lvl="0" marL="0" rtl="0" algn="l">
              <a:lnSpc>
                <a:spcPct val="100000"/>
              </a:lnSpc>
              <a:spcBef>
                <a:spcPts val="0"/>
              </a:spcBef>
              <a:spcAft>
                <a:spcPts val="0"/>
              </a:spcAft>
              <a:buSzPct val="111111"/>
              <a:buNone/>
            </a:pPr>
            <a:r>
              <a:t/>
            </a:r>
            <a:endParaRPr/>
          </a:p>
        </p:txBody>
      </p:sp>
      <p:sp>
        <p:nvSpPr>
          <p:cNvPr id="330" name="Google Shape;330;p54"/>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800"/>
              </a:spcBef>
              <a:spcAft>
                <a:spcPts val="0"/>
              </a:spcAft>
              <a:buSzPts val="1800"/>
              <a:buNone/>
            </a:pPr>
            <a:r>
              <a:rPr b="1" lang="ro" sz="1900">
                <a:solidFill>
                  <a:srgbClr val="000000"/>
                </a:solidFill>
                <a:latin typeface="Arial"/>
                <a:ea typeface="Arial"/>
                <a:cs typeface="Arial"/>
                <a:sym typeface="Arial"/>
              </a:rPr>
              <a:t>📐 1. La balistique en radiothérapie :</a:t>
            </a:r>
            <a:endParaRPr b="1" sz="1900">
              <a:solidFill>
                <a:srgbClr val="000000"/>
              </a:solidFill>
              <a:latin typeface="Arial"/>
              <a:ea typeface="Arial"/>
              <a:cs typeface="Arial"/>
              <a:sym typeface="Arial"/>
            </a:endParaRPr>
          </a:p>
          <a:p>
            <a:pPr indent="0" lvl="0" marL="0" rtl="0" algn="l">
              <a:lnSpc>
                <a:spcPct val="115000"/>
              </a:lnSpc>
              <a:spcBef>
                <a:spcPts val="1400"/>
              </a:spcBef>
              <a:spcAft>
                <a:spcPts val="0"/>
              </a:spcAft>
              <a:buSzPts val="1800"/>
              <a:buNone/>
            </a:pPr>
            <a:r>
              <a:rPr b="1" lang="ro" sz="1500">
                <a:solidFill>
                  <a:srgbClr val="000000"/>
                </a:solidFill>
                <a:latin typeface="Arial"/>
                <a:ea typeface="Arial"/>
                <a:cs typeface="Arial"/>
                <a:sym typeface="Arial"/>
              </a:rPr>
              <a:t>➤ Définition :</a:t>
            </a:r>
            <a:endParaRPr b="1" sz="1500">
              <a:solidFill>
                <a:srgbClr val="000000"/>
              </a:solidFill>
              <a:latin typeface="Arial"/>
              <a:ea typeface="Arial"/>
              <a:cs typeface="Arial"/>
              <a:sym typeface="Arial"/>
            </a:endParaRPr>
          </a:p>
          <a:p>
            <a:pPr indent="0" lvl="0" marL="0" rtl="0" algn="l">
              <a:lnSpc>
                <a:spcPct val="115000"/>
              </a:lnSpc>
              <a:spcBef>
                <a:spcPts val="1200"/>
              </a:spcBef>
              <a:spcAft>
                <a:spcPts val="0"/>
              </a:spcAft>
              <a:buSzPts val="1800"/>
              <a:buNone/>
            </a:pPr>
            <a:r>
              <a:rPr lang="ro" sz="1300">
                <a:solidFill>
                  <a:srgbClr val="000000"/>
                </a:solidFill>
                <a:latin typeface="Arial"/>
                <a:ea typeface="Arial"/>
                <a:cs typeface="Arial"/>
                <a:sym typeface="Arial"/>
              </a:rPr>
              <a:t>La </a:t>
            </a:r>
            <a:r>
              <a:rPr b="1" lang="ro" sz="1300">
                <a:solidFill>
                  <a:srgbClr val="000000"/>
                </a:solidFill>
                <a:latin typeface="Arial"/>
                <a:ea typeface="Arial"/>
                <a:cs typeface="Arial"/>
                <a:sym typeface="Arial"/>
              </a:rPr>
              <a:t>balistique</a:t>
            </a:r>
            <a:r>
              <a:rPr lang="ro" sz="1300">
                <a:solidFill>
                  <a:srgbClr val="000000"/>
                </a:solidFill>
                <a:latin typeface="Arial"/>
                <a:ea typeface="Arial"/>
                <a:cs typeface="Arial"/>
                <a:sym typeface="Arial"/>
              </a:rPr>
              <a:t> est l’art de </a:t>
            </a:r>
            <a:r>
              <a:rPr b="1" lang="ro" sz="1300">
                <a:solidFill>
                  <a:srgbClr val="000000"/>
                </a:solidFill>
                <a:latin typeface="Arial"/>
                <a:ea typeface="Arial"/>
                <a:cs typeface="Arial"/>
                <a:sym typeface="Arial"/>
              </a:rPr>
              <a:t>choisir les angles d’incidence</a:t>
            </a:r>
            <a:r>
              <a:rPr lang="ro" sz="1300">
                <a:solidFill>
                  <a:srgbClr val="000000"/>
                </a:solidFill>
                <a:latin typeface="Arial"/>
                <a:ea typeface="Arial"/>
                <a:cs typeface="Arial"/>
                <a:sym typeface="Arial"/>
              </a:rPr>
              <a:t>, le nombre de faisceaux et leur énergie pour optimiser la </a:t>
            </a:r>
            <a:r>
              <a:rPr b="1" lang="ro" sz="1300">
                <a:solidFill>
                  <a:srgbClr val="000000"/>
                </a:solidFill>
                <a:latin typeface="Arial"/>
                <a:ea typeface="Arial"/>
                <a:cs typeface="Arial"/>
                <a:sym typeface="Arial"/>
              </a:rPr>
              <a:t>couverture tumorale</a:t>
            </a:r>
            <a:r>
              <a:rPr lang="ro" sz="1300">
                <a:solidFill>
                  <a:srgbClr val="000000"/>
                </a:solidFill>
                <a:latin typeface="Arial"/>
                <a:ea typeface="Arial"/>
                <a:cs typeface="Arial"/>
                <a:sym typeface="Arial"/>
              </a:rPr>
              <a:t> tout en minimisant la dose aux </a:t>
            </a:r>
            <a:r>
              <a:rPr b="1" lang="ro" sz="1300">
                <a:solidFill>
                  <a:srgbClr val="000000"/>
                </a:solidFill>
                <a:latin typeface="Arial"/>
                <a:ea typeface="Arial"/>
                <a:cs typeface="Arial"/>
                <a:sym typeface="Arial"/>
              </a:rPr>
              <a:t>organes à risque (OAR)</a:t>
            </a:r>
            <a:r>
              <a:rPr lang="ro" sz="1300">
                <a:solidFill>
                  <a:srgbClr val="000000"/>
                </a:solidFill>
                <a:latin typeface="Arial"/>
                <a:ea typeface="Arial"/>
                <a:cs typeface="Arial"/>
                <a:sym typeface="Arial"/>
              </a:rPr>
              <a:t>.</a:t>
            </a:r>
            <a:endParaRPr sz="1300">
              <a:solidFill>
                <a:srgbClr val="000000"/>
              </a:solidFill>
              <a:latin typeface="Arial"/>
              <a:ea typeface="Arial"/>
              <a:cs typeface="Arial"/>
              <a:sym typeface="Arial"/>
            </a:endParaRPr>
          </a:p>
          <a:p>
            <a:pPr indent="0" lvl="0" marL="0" rtl="0" algn="l">
              <a:lnSpc>
                <a:spcPct val="115000"/>
              </a:lnSpc>
              <a:spcBef>
                <a:spcPts val="1400"/>
              </a:spcBef>
              <a:spcAft>
                <a:spcPts val="0"/>
              </a:spcAft>
              <a:buSzPts val="1800"/>
              <a:buNone/>
            </a:pPr>
            <a:r>
              <a:rPr b="1" lang="ro" sz="1500">
                <a:solidFill>
                  <a:srgbClr val="000000"/>
                </a:solidFill>
                <a:latin typeface="Arial"/>
                <a:ea typeface="Arial"/>
                <a:cs typeface="Arial"/>
                <a:sym typeface="Arial"/>
              </a:rPr>
              <a:t>➤ Objectifs de la balistique :</a:t>
            </a:r>
            <a:endParaRPr b="1" sz="1500">
              <a:solidFill>
                <a:srgbClr val="000000"/>
              </a:solidFill>
              <a:latin typeface="Arial"/>
              <a:ea typeface="Arial"/>
              <a:cs typeface="Arial"/>
              <a:sym typeface="Arial"/>
            </a:endParaRPr>
          </a:p>
          <a:p>
            <a:pPr indent="-311150" lvl="0" marL="457200" rtl="0" algn="l">
              <a:lnSpc>
                <a:spcPct val="115000"/>
              </a:lnSpc>
              <a:spcBef>
                <a:spcPts val="1200"/>
              </a:spcBef>
              <a:spcAft>
                <a:spcPts val="0"/>
              </a:spcAft>
              <a:buClr>
                <a:srgbClr val="000000"/>
              </a:buClr>
              <a:buSzPts val="1300"/>
              <a:buFont typeface="Arial"/>
              <a:buChar char="●"/>
            </a:pPr>
            <a:r>
              <a:rPr b="1" lang="ro" sz="1300">
                <a:solidFill>
                  <a:srgbClr val="000000"/>
                </a:solidFill>
                <a:latin typeface="Arial"/>
                <a:ea typeface="Arial"/>
                <a:cs typeface="Arial"/>
                <a:sym typeface="Arial"/>
              </a:rPr>
              <a:t>Irradier uniformément</a:t>
            </a:r>
            <a:r>
              <a:rPr lang="ro" sz="1300">
                <a:solidFill>
                  <a:srgbClr val="000000"/>
                </a:solidFill>
                <a:latin typeface="Arial"/>
                <a:ea typeface="Arial"/>
                <a:cs typeface="Arial"/>
                <a:sym typeface="Arial"/>
              </a:rPr>
              <a:t> la tumeur (GTV, CTV, PTV).</a:t>
            </a:r>
            <a:endParaRPr sz="1300">
              <a:solidFill>
                <a:srgbClr val="000000"/>
              </a:solidFill>
              <a:latin typeface="Arial"/>
              <a:ea typeface="Arial"/>
              <a:cs typeface="Arial"/>
              <a:sym typeface="Arial"/>
            </a:endParaRPr>
          </a:p>
          <a:p>
            <a:pPr indent="-311150" lvl="0" marL="457200" rtl="0" algn="l">
              <a:lnSpc>
                <a:spcPct val="115000"/>
              </a:lnSpc>
              <a:spcBef>
                <a:spcPts val="0"/>
              </a:spcBef>
              <a:spcAft>
                <a:spcPts val="0"/>
              </a:spcAft>
              <a:buClr>
                <a:srgbClr val="000000"/>
              </a:buClr>
              <a:buSzPts val="1300"/>
              <a:buFont typeface="Arial"/>
              <a:buChar char="●"/>
            </a:pPr>
            <a:r>
              <a:rPr b="1" lang="ro" sz="1300">
                <a:solidFill>
                  <a:srgbClr val="000000"/>
                </a:solidFill>
                <a:latin typeface="Arial"/>
                <a:ea typeface="Arial"/>
                <a:cs typeface="Arial"/>
                <a:sym typeface="Arial"/>
              </a:rPr>
              <a:t>Réduire la dose</a:t>
            </a:r>
            <a:r>
              <a:rPr lang="ro" sz="1300">
                <a:solidFill>
                  <a:srgbClr val="000000"/>
                </a:solidFill>
                <a:latin typeface="Arial"/>
                <a:ea typeface="Arial"/>
                <a:cs typeface="Arial"/>
                <a:sym typeface="Arial"/>
              </a:rPr>
              <a:t> aux organes à risque.</a:t>
            </a:r>
            <a:endParaRPr sz="1300">
              <a:solidFill>
                <a:srgbClr val="000000"/>
              </a:solidFill>
              <a:latin typeface="Arial"/>
              <a:ea typeface="Arial"/>
              <a:cs typeface="Arial"/>
              <a:sym typeface="Arial"/>
            </a:endParaRPr>
          </a:p>
          <a:p>
            <a:pPr indent="-311150" lvl="0" marL="457200" rtl="0" algn="l">
              <a:lnSpc>
                <a:spcPct val="115000"/>
              </a:lnSpc>
              <a:spcBef>
                <a:spcPts val="0"/>
              </a:spcBef>
              <a:spcAft>
                <a:spcPts val="0"/>
              </a:spcAft>
              <a:buClr>
                <a:srgbClr val="000000"/>
              </a:buClr>
              <a:buSzPts val="1300"/>
              <a:buFont typeface="Arial"/>
              <a:buChar char="●"/>
            </a:pPr>
            <a:r>
              <a:rPr b="1" lang="ro" sz="1300">
                <a:solidFill>
                  <a:srgbClr val="000000"/>
                </a:solidFill>
                <a:latin typeface="Arial"/>
                <a:ea typeface="Arial"/>
                <a:cs typeface="Arial"/>
                <a:sym typeface="Arial"/>
              </a:rPr>
              <a:t>Compenser les mouvements</a:t>
            </a:r>
            <a:r>
              <a:rPr lang="ro" sz="1300">
                <a:solidFill>
                  <a:srgbClr val="000000"/>
                </a:solidFill>
                <a:latin typeface="Arial"/>
                <a:ea typeface="Arial"/>
                <a:cs typeface="Arial"/>
                <a:sym typeface="Arial"/>
              </a:rPr>
              <a:t> physiologiques (ex : respiration).</a:t>
            </a:r>
            <a:endParaRPr sz="13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800"/>
              <a:buNone/>
            </a:pPr>
            <a:r>
              <a:t/>
            </a:r>
            <a:endParaRPr sz="20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55"/>
          <p:cNvSpPr txBox="1"/>
          <p:nvPr>
            <p:ph idx="1" type="body"/>
          </p:nvPr>
        </p:nvSpPr>
        <p:spPr>
          <a:xfrm>
            <a:off x="311700" y="458450"/>
            <a:ext cx="8520600" cy="41103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800"/>
              </a:spcBef>
              <a:spcAft>
                <a:spcPts val="0"/>
              </a:spcAft>
              <a:buSzPts val="1800"/>
              <a:buNone/>
            </a:pPr>
            <a:r>
              <a:rPr b="1" lang="ro" sz="1700">
                <a:solidFill>
                  <a:srgbClr val="000000"/>
                </a:solidFill>
                <a:latin typeface="Arial"/>
                <a:ea typeface="Arial"/>
                <a:cs typeface="Arial"/>
                <a:sym typeface="Arial"/>
              </a:rPr>
              <a:t>📊</a:t>
            </a:r>
            <a:r>
              <a:rPr b="1" lang="ro" sz="2000">
                <a:solidFill>
                  <a:srgbClr val="000000"/>
                </a:solidFill>
                <a:latin typeface="Arial"/>
                <a:ea typeface="Arial"/>
                <a:cs typeface="Arial"/>
                <a:sym typeface="Arial"/>
              </a:rPr>
              <a:t> 2. Techniques balistiques courantes :</a:t>
            </a:r>
            <a:endParaRPr b="1" sz="2000">
              <a:solidFill>
                <a:srgbClr val="000000"/>
              </a:solidFill>
              <a:latin typeface="Arial"/>
              <a:ea typeface="Arial"/>
              <a:cs typeface="Arial"/>
              <a:sym typeface="Arial"/>
            </a:endParaRPr>
          </a:p>
          <a:p>
            <a:pPr indent="-317500" lvl="0" marL="457200" rtl="0" algn="l">
              <a:lnSpc>
                <a:spcPct val="115000"/>
              </a:lnSpc>
              <a:spcBef>
                <a:spcPts val="1200"/>
              </a:spcBef>
              <a:spcAft>
                <a:spcPts val="0"/>
              </a:spcAft>
              <a:buClr>
                <a:srgbClr val="000000"/>
              </a:buClr>
              <a:buSzPts val="1400"/>
              <a:buFont typeface="Arial"/>
              <a:buAutoNum type="arabicPeriod"/>
            </a:pPr>
            <a:r>
              <a:rPr b="1" lang="ro" sz="1400">
                <a:solidFill>
                  <a:srgbClr val="000000"/>
                </a:solidFill>
                <a:latin typeface="Arial"/>
                <a:ea typeface="Arial"/>
                <a:cs typeface="Arial"/>
                <a:sym typeface="Arial"/>
              </a:rPr>
              <a:t>3D-CRT (Radiothérapie conformationnelle tridimensionnelle)</a:t>
            </a:r>
            <a:endParaRPr b="1" sz="1400">
              <a:solidFill>
                <a:srgbClr val="000000"/>
              </a:solidFill>
              <a:latin typeface="Arial"/>
              <a:ea typeface="Arial"/>
              <a:cs typeface="Arial"/>
              <a:sym typeface="Arial"/>
            </a:endParaRPr>
          </a:p>
          <a:p>
            <a:pPr indent="-317500" lvl="1" marL="914400" rtl="0" algn="l">
              <a:lnSpc>
                <a:spcPct val="115000"/>
              </a:lnSpc>
              <a:spcBef>
                <a:spcPts val="0"/>
              </a:spcBef>
              <a:spcAft>
                <a:spcPts val="0"/>
              </a:spcAft>
              <a:buClr>
                <a:srgbClr val="000000"/>
              </a:buClr>
              <a:buSzPts val="1400"/>
              <a:buFont typeface="Arial"/>
              <a:buChar char="○"/>
            </a:pPr>
            <a:r>
              <a:rPr lang="ro">
                <a:solidFill>
                  <a:srgbClr val="000000"/>
                </a:solidFill>
                <a:latin typeface="Arial"/>
                <a:ea typeface="Arial"/>
                <a:cs typeface="Arial"/>
                <a:sym typeface="Arial"/>
              </a:rPr>
              <a:t>Modèle standard avec plusieurs </a:t>
            </a:r>
            <a:r>
              <a:rPr b="1" lang="ro">
                <a:solidFill>
                  <a:srgbClr val="000000"/>
                </a:solidFill>
                <a:latin typeface="Arial"/>
                <a:ea typeface="Arial"/>
                <a:cs typeface="Arial"/>
                <a:sym typeface="Arial"/>
              </a:rPr>
              <a:t>faisceaux fixes</a:t>
            </a:r>
            <a:r>
              <a:rPr lang="ro">
                <a:solidFill>
                  <a:srgbClr val="000000"/>
                </a:solidFill>
                <a:latin typeface="Arial"/>
                <a:ea typeface="Arial"/>
                <a:cs typeface="Arial"/>
                <a:sym typeface="Arial"/>
              </a:rPr>
              <a:t>.</a:t>
            </a:r>
            <a:endParaRPr>
              <a:solidFill>
                <a:srgbClr val="000000"/>
              </a:solidFill>
              <a:latin typeface="Arial"/>
              <a:ea typeface="Arial"/>
              <a:cs typeface="Arial"/>
              <a:sym typeface="Arial"/>
            </a:endParaRPr>
          </a:p>
          <a:p>
            <a:pPr indent="-317500" lvl="1" marL="914400" rtl="0" algn="l">
              <a:lnSpc>
                <a:spcPct val="115000"/>
              </a:lnSpc>
              <a:spcBef>
                <a:spcPts val="0"/>
              </a:spcBef>
              <a:spcAft>
                <a:spcPts val="0"/>
              </a:spcAft>
              <a:buClr>
                <a:srgbClr val="000000"/>
              </a:buClr>
              <a:buSzPts val="1400"/>
              <a:buFont typeface="Arial"/>
              <a:buChar char="○"/>
            </a:pPr>
            <a:r>
              <a:rPr lang="ro">
                <a:solidFill>
                  <a:srgbClr val="000000"/>
                </a:solidFill>
                <a:latin typeface="Arial"/>
                <a:ea typeface="Arial"/>
                <a:cs typeface="Arial"/>
                <a:sym typeface="Arial"/>
              </a:rPr>
              <a:t>Adapté aux </a:t>
            </a:r>
            <a:r>
              <a:rPr b="1" lang="ro">
                <a:solidFill>
                  <a:srgbClr val="000000"/>
                </a:solidFill>
                <a:latin typeface="Arial"/>
                <a:ea typeface="Arial"/>
                <a:cs typeface="Arial"/>
                <a:sym typeface="Arial"/>
              </a:rPr>
              <a:t>petites tumeurs</a:t>
            </a:r>
            <a:r>
              <a:rPr lang="ro">
                <a:solidFill>
                  <a:srgbClr val="000000"/>
                </a:solidFill>
                <a:latin typeface="Arial"/>
                <a:ea typeface="Arial"/>
                <a:cs typeface="Arial"/>
                <a:sym typeface="Arial"/>
              </a:rPr>
              <a:t> avec peu d’organes sensibles.</a:t>
            </a:r>
            <a:endParaRPr>
              <a:solidFill>
                <a:srgbClr val="000000"/>
              </a:solidFill>
              <a:latin typeface="Arial"/>
              <a:ea typeface="Arial"/>
              <a:cs typeface="Arial"/>
              <a:sym typeface="Arial"/>
            </a:endParaRPr>
          </a:p>
          <a:p>
            <a:pPr indent="-317500" lvl="0" marL="457200" rtl="0" algn="l">
              <a:lnSpc>
                <a:spcPct val="115000"/>
              </a:lnSpc>
              <a:spcBef>
                <a:spcPts val="0"/>
              </a:spcBef>
              <a:spcAft>
                <a:spcPts val="0"/>
              </a:spcAft>
              <a:buClr>
                <a:srgbClr val="000000"/>
              </a:buClr>
              <a:buSzPts val="1400"/>
              <a:buFont typeface="Arial"/>
              <a:buAutoNum type="arabicPeriod"/>
            </a:pPr>
            <a:r>
              <a:rPr b="1" lang="ro" sz="1400">
                <a:solidFill>
                  <a:srgbClr val="000000"/>
                </a:solidFill>
                <a:latin typeface="Arial"/>
                <a:ea typeface="Arial"/>
                <a:cs typeface="Arial"/>
                <a:sym typeface="Arial"/>
              </a:rPr>
              <a:t>IMRT (Radiothérapie à modulation d’intensité)</a:t>
            </a:r>
            <a:endParaRPr b="1" sz="1400">
              <a:solidFill>
                <a:srgbClr val="000000"/>
              </a:solidFill>
              <a:latin typeface="Arial"/>
              <a:ea typeface="Arial"/>
              <a:cs typeface="Arial"/>
              <a:sym typeface="Arial"/>
            </a:endParaRPr>
          </a:p>
          <a:p>
            <a:pPr indent="-317500" lvl="1" marL="914400" rtl="0" algn="l">
              <a:lnSpc>
                <a:spcPct val="115000"/>
              </a:lnSpc>
              <a:spcBef>
                <a:spcPts val="0"/>
              </a:spcBef>
              <a:spcAft>
                <a:spcPts val="0"/>
              </a:spcAft>
              <a:buClr>
                <a:srgbClr val="000000"/>
              </a:buClr>
              <a:buSzPts val="1400"/>
              <a:buFont typeface="Arial"/>
              <a:buChar char="○"/>
            </a:pPr>
            <a:r>
              <a:rPr lang="ro">
                <a:solidFill>
                  <a:srgbClr val="000000"/>
                </a:solidFill>
                <a:latin typeface="Arial"/>
                <a:ea typeface="Arial"/>
                <a:cs typeface="Arial"/>
                <a:sym typeface="Arial"/>
              </a:rPr>
              <a:t>Modifie l’intensité </a:t>
            </a:r>
            <a:r>
              <a:rPr b="1" lang="ro">
                <a:solidFill>
                  <a:srgbClr val="000000"/>
                </a:solidFill>
                <a:latin typeface="Arial"/>
                <a:ea typeface="Arial"/>
                <a:cs typeface="Arial"/>
                <a:sym typeface="Arial"/>
              </a:rPr>
              <a:t>au sein du faisceau</a:t>
            </a:r>
            <a:r>
              <a:rPr lang="ro">
                <a:solidFill>
                  <a:srgbClr val="000000"/>
                </a:solidFill>
                <a:latin typeface="Arial"/>
                <a:ea typeface="Arial"/>
                <a:cs typeface="Arial"/>
                <a:sym typeface="Arial"/>
              </a:rPr>
              <a:t>.</a:t>
            </a:r>
            <a:endParaRPr>
              <a:solidFill>
                <a:srgbClr val="000000"/>
              </a:solidFill>
              <a:latin typeface="Arial"/>
              <a:ea typeface="Arial"/>
              <a:cs typeface="Arial"/>
              <a:sym typeface="Arial"/>
            </a:endParaRPr>
          </a:p>
          <a:p>
            <a:pPr indent="-317500" lvl="1" marL="914400" rtl="0" algn="l">
              <a:lnSpc>
                <a:spcPct val="115000"/>
              </a:lnSpc>
              <a:spcBef>
                <a:spcPts val="0"/>
              </a:spcBef>
              <a:spcAft>
                <a:spcPts val="0"/>
              </a:spcAft>
              <a:buClr>
                <a:srgbClr val="000000"/>
              </a:buClr>
              <a:buSzPts val="1400"/>
              <a:buFont typeface="Arial"/>
              <a:buChar char="○"/>
            </a:pPr>
            <a:r>
              <a:rPr lang="ro">
                <a:solidFill>
                  <a:srgbClr val="000000"/>
                </a:solidFill>
                <a:latin typeface="Arial"/>
                <a:ea typeface="Arial"/>
                <a:cs typeface="Arial"/>
                <a:sym typeface="Arial"/>
              </a:rPr>
              <a:t>Permet de cibler des </a:t>
            </a:r>
            <a:r>
              <a:rPr b="1" lang="ro">
                <a:solidFill>
                  <a:srgbClr val="000000"/>
                </a:solidFill>
                <a:latin typeface="Arial"/>
                <a:ea typeface="Arial"/>
                <a:cs typeface="Arial"/>
                <a:sym typeface="Arial"/>
              </a:rPr>
              <a:t>formes complexes</a:t>
            </a:r>
            <a:r>
              <a:rPr lang="ro">
                <a:solidFill>
                  <a:srgbClr val="000000"/>
                </a:solidFill>
                <a:latin typeface="Arial"/>
                <a:ea typeface="Arial"/>
                <a:cs typeface="Arial"/>
                <a:sym typeface="Arial"/>
              </a:rPr>
              <a:t> tout en protégeant les OAR.</a:t>
            </a:r>
            <a:endParaRPr>
              <a:solidFill>
                <a:srgbClr val="000000"/>
              </a:solidFill>
              <a:latin typeface="Arial"/>
              <a:ea typeface="Arial"/>
              <a:cs typeface="Arial"/>
              <a:sym typeface="Arial"/>
            </a:endParaRPr>
          </a:p>
          <a:p>
            <a:pPr indent="-317500" lvl="0" marL="457200" rtl="0" algn="l">
              <a:lnSpc>
                <a:spcPct val="115000"/>
              </a:lnSpc>
              <a:spcBef>
                <a:spcPts val="0"/>
              </a:spcBef>
              <a:spcAft>
                <a:spcPts val="0"/>
              </a:spcAft>
              <a:buClr>
                <a:srgbClr val="000000"/>
              </a:buClr>
              <a:buSzPts val="1400"/>
              <a:buFont typeface="Arial"/>
              <a:buAutoNum type="arabicPeriod"/>
            </a:pPr>
            <a:r>
              <a:rPr b="1" lang="ro" sz="1400">
                <a:solidFill>
                  <a:srgbClr val="000000"/>
                </a:solidFill>
                <a:latin typeface="Arial"/>
                <a:ea typeface="Arial"/>
                <a:cs typeface="Arial"/>
                <a:sym typeface="Arial"/>
              </a:rPr>
              <a:t>VMAT (Arc-thérapie volumétrique) :</a:t>
            </a:r>
            <a:endParaRPr b="1" sz="1400">
              <a:solidFill>
                <a:srgbClr val="000000"/>
              </a:solidFill>
              <a:latin typeface="Arial"/>
              <a:ea typeface="Arial"/>
              <a:cs typeface="Arial"/>
              <a:sym typeface="Arial"/>
            </a:endParaRPr>
          </a:p>
          <a:p>
            <a:pPr indent="-317500" lvl="1" marL="914400" rtl="0" algn="l">
              <a:lnSpc>
                <a:spcPct val="115000"/>
              </a:lnSpc>
              <a:spcBef>
                <a:spcPts val="0"/>
              </a:spcBef>
              <a:spcAft>
                <a:spcPts val="0"/>
              </a:spcAft>
              <a:buClr>
                <a:srgbClr val="000000"/>
              </a:buClr>
              <a:buSzPts val="1400"/>
              <a:buFont typeface="Arial"/>
              <a:buChar char="○"/>
            </a:pPr>
            <a:r>
              <a:rPr b="1" lang="ro">
                <a:solidFill>
                  <a:srgbClr val="000000"/>
                </a:solidFill>
                <a:latin typeface="Arial"/>
                <a:ea typeface="Arial"/>
                <a:cs typeface="Arial"/>
                <a:sym typeface="Arial"/>
              </a:rPr>
              <a:t>Irradiation en rotation</a:t>
            </a:r>
            <a:r>
              <a:rPr lang="ro">
                <a:solidFill>
                  <a:srgbClr val="000000"/>
                </a:solidFill>
                <a:latin typeface="Arial"/>
                <a:ea typeface="Arial"/>
                <a:cs typeface="Arial"/>
                <a:sym typeface="Arial"/>
              </a:rPr>
              <a:t> autour du patient.</a:t>
            </a:r>
            <a:endParaRPr>
              <a:solidFill>
                <a:srgbClr val="000000"/>
              </a:solidFill>
              <a:latin typeface="Arial"/>
              <a:ea typeface="Arial"/>
              <a:cs typeface="Arial"/>
              <a:sym typeface="Arial"/>
            </a:endParaRPr>
          </a:p>
          <a:p>
            <a:pPr indent="-317500" lvl="1" marL="914400" rtl="0" algn="l">
              <a:lnSpc>
                <a:spcPct val="115000"/>
              </a:lnSpc>
              <a:spcBef>
                <a:spcPts val="0"/>
              </a:spcBef>
              <a:spcAft>
                <a:spcPts val="0"/>
              </a:spcAft>
              <a:buClr>
                <a:srgbClr val="000000"/>
              </a:buClr>
              <a:buSzPts val="1400"/>
              <a:buFont typeface="Arial"/>
              <a:buChar char="○"/>
            </a:pPr>
            <a:r>
              <a:rPr lang="ro">
                <a:solidFill>
                  <a:srgbClr val="000000"/>
                </a:solidFill>
                <a:latin typeface="Arial"/>
                <a:ea typeface="Arial"/>
                <a:cs typeface="Arial"/>
                <a:sym typeface="Arial"/>
              </a:rPr>
              <a:t>Réduction du temps de traitement tout en assurant une couverture optimale.</a:t>
            </a:r>
            <a:endParaRPr>
              <a:solidFill>
                <a:srgbClr val="000000"/>
              </a:solidFill>
              <a:latin typeface="Arial"/>
              <a:ea typeface="Arial"/>
              <a:cs typeface="Arial"/>
              <a:sym typeface="Arial"/>
            </a:endParaRPr>
          </a:p>
          <a:p>
            <a:pPr indent="-317500" lvl="0" marL="457200" rtl="0" algn="l">
              <a:lnSpc>
                <a:spcPct val="115000"/>
              </a:lnSpc>
              <a:spcBef>
                <a:spcPts val="0"/>
              </a:spcBef>
              <a:spcAft>
                <a:spcPts val="0"/>
              </a:spcAft>
              <a:buClr>
                <a:srgbClr val="000000"/>
              </a:buClr>
              <a:buSzPts val="1400"/>
              <a:buFont typeface="Arial"/>
              <a:buAutoNum type="arabicPeriod"/>
            </a:pPr>
            <a:r>
              <a:rPr b="1" lang="ro" sz="1400">
                <a:solidFill>
                  <a:srgbClr val="000000"/>
                </a:solidFill>
                <a:latin typeface="Arial"/>
                <a:ea typeface="Arial"/>
                <a:cs typeface="Arial"/>
                <a:sym typeface="Arial"/>
              </a:rPr>
              <a:t>Radiothérapie stéréotaxique (SBRT/SRS)</a:t>
            </a:r>
            <a:endParaRPr b="1" sz="1400">
              <a:solidFill>
                <a:srgbClr val="000000"/>
              </a:solidFill>
              <a:latin typeface="Arial"/>
              <a:ea typeface="Arial"/>
              <a:cs typeface="Arial"/>
              <a:sym typeface="Arial"/>
            </a:endParaRPr>
          </a:p>
          <a:p>
            <a:pPr indent="-317500" lvl="1" marL="914400" rtl="0" algn="l">
              <a:lnSpc>
                <a:spcPct val="115000"/>
              </a:lnSpc>
              <a:spcBef>
                <a:spcPts val="0"/>
              </a:spcBef>
              <a:spcAft>
                <a:spcPts val="0"/>
              </a:spcAft>
              <a:buClr>
                <a:srgbClr val="000000"/>
              </a:buClr>
              <a:buSzPts val="1400"/>
              <a:buFont typeface="Arial"/>
              <a:buChar char="○"/>
            </a:pPr>
            <a:r>
              <a:rPr lang="ro">
                <a:solidFill>
                  <a:srgbClr val="000000"/>
                </a:solidFill>
                <a:latin typeface="Arial"/>
                <a:ea typeface="Arial"/>
                <a:cs typeface="Arial"/>
                <a:sym typeface="Arial"/>
              </a:rPr>
              <a:t>Haute précision pour </a:t>
            </a:r>
            <a:r>
              <a:rPr b="1" lang="ro">
                <a:solidFill>
                  <a:srgbClr val="000000"/>
                </a:solidFill>
                <a:latin typeface="Arial"/>
                <a:ea typeface="Arial"/>
                <a:cs typeface="Arial"/>
                <a:sym typeface="Arial"/>
              </a:rPr>
              <a:t>petites tumeurs</a:t>
            </a:r>
            <a:r>
              <a:rPr lang="ro">
                <a:solidFill>
                  <a:srgbClr val="000000"/>
                </a:solidFill>
                <a:latin typeface="Arial"/>
                <a:ea typeface="Arial"/>
                <a:cs typeface="Arial"/>
                <a:sym typeface="Arial"/>
              </a:rPr>
              <a:t>.</a:t>
            </a:r>
            <a:endParaRPr>
              <a:solidFill>
                <a:srgbClr val="000000"/>
              </a:solidFill>
              <a:latin typeface="Arial"/>
              <a:ea typeface="Arial"/>
              <a:cs typeface="Arial"/>
              <a:sym typeface="Arial"/>
            </a:endParaRPr>
          </a:p>
          <a:p>
            <a:pPr indent="-317500" lvl="1" marL="914400" rtl="0" algn="l">
              <a:lnSpc>
                <a:spcPct val="115000"/>
              </a:lnSpc>
              <a:spcBef>
                <a:spcPts val="0"/>
              </a:spcBef>
              <a:spcAft>
                <a:spcPts val="0"/>
              </a:spcAft>
              <a:buClr>
                <a:srgbClr val="000000"/>
              </a:buClr>
              <a:buSzPts val="1400"/>
              <a:buFont typeface="Arial"/>
              <a:buChar char="○"/>
            </a:pPr>
            <a:r>
              <a:rPr lang="ro">
                <a:solidFill>
                  <a:srgbClr val="000000"/>
                </a:solidFill>
                <a:latin typeface="Arial"/>
                <a:ea typeface="Arial"/>
                <a:cs typeface="Arial"/>
                <a:sym typeface="Arial"/>
              </a:rPr>
              <a:t>Très forte dose en peu de fractions.</a:t>
            </a:r>
            <a:endParaRPr>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800"/>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pic>
        <p:nvPicPr>
          <p:cNvPr id="340" name="Google Shape;340;p56" title="589979.jpeg"/>
          <p:cNvPicPr preferRelativeResize="0"/>
          <p:nvPr/>
        </p:nvPicPr>
        <p:blipFill rotWithShape="1">
          <a:blip r:embed="rId3">
            <a:alphaModFix/>
          </a:blip>
          <a:srcRect b="0" l="0" r="0" t="0"/>
          <a:stretch/>
        </p:blipFill>
        <p:spPr>
          <a:xfrm>
            <a:off x="1105725" y="0"/>
            <a:ext cx="3735339" cy="4838700"/>
          </a:xfrm>
          <a:prstGeom prst="rect">
            <a:avLst/>
          </a:prstGeom>
          <a:noFill/>
          <a:ln>
            <a:noFill/>
          </a:ln>
        </p:spPr>
      </p:pic>
      <p:sp>
        <p:nvSpPr>
          <p:cNvPr id="341" name="Google Shape;341;p56"/>
          <p:cNvSpPr txBox="1"/>
          <p:nvPr/>
        </p:nvSpPr>
        <p:spPr>
          <a:xfrm>
            <a:off x="5775350" y="742700"/>
            <a:ext cx="2361000" cy="66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ro" sz="1800" u="none" cap="none" strike="noStrike">
                <a:solidFill>
                  <a:schemeClr val="dk2"/>
                </a:solidFill>
                <a:latin typeface="Roboto"/>
                <a:ea typeface="Roboto"/>
                <a:cs typeface="Roboto"/>
                <a:sym typeface="Roboto"/>
              </a:rPr>
              <a:t>3D-CRT</a:t>
            </a:r>
            <a:endParaRPr b="0" i="0" sz="1800" u="none" cap="none" strike="noStrike">
              <a:solidFill>
                <a:schemeClr val="dk2"/>
              </a:solidFill>
              <a:latin typeface="Roboto"/>
              <a:ea typeface="Roboto"/>
              <a:cs typeface="Roboto"/>
              <a:sym typeface="Roboto"/>
            </a:endParaRPr>
          </a:p>
        </p:txBody>
      </p:sp>
      <p:sp>
        <p:nvSpPr>
          <p:cNvPr id="342" name="Google Shape;342;p56"/>
          <p:cNvSpPr txBox="1"/>
          <p:nvPr/>
        </p:nvSpPr>
        <p:spPr>
          <a:xfrm>
            <a:off x="5941625" y="2937550"/>
            <a:ext cx="1485300" cy="66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ro" sz="1800" u="none" cap="none" strike="noStrike">
                <a:solidFill>
                  <a:schemeClr val="dk2"/>
                </a:solidFill>
                <a:latin typeface="Roboto"/>
                <a:ea typeface="Roboto"/>
                <a:cs typeface="Roboto"/>
                <a:sym typeface="Roboto"/>
              </a:rPr>
              <a:t>VMAT</a:t>
            </a:r>
            <a:endParaRPr b="0" i="0" sz="1800" u="none" cap="none" strike="noStrike">
              <a:solidFill>
                <a:schemeClr val="dk2"/>
              </a:solidFill>
              <a:latin typeface="Roboto"/>
              <a:ea typeface="Roboto"/>
              <a:cs typeface="Roboto"/>
              <a:sym typeface="Roboto"/>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57"/>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800"/>
              </a:spcBef>
              <a:spcAft>
                <a:spcPts val="0"/>
              </a:spcAft>
              <a:buSzPts val="1800"/>
              <a:buNone/>
            </a:pPr>
            <a:r>
              <a:rPr b="1" lang="ro" sz="1900">
                <a:solidFill>
                  <a:srgbClr val="000000"/>
                </a:solidFill>
                <a:latin typeface="Arial"/>
                <a:ea typeface="Arial"/>
                <a:cs typeface="Arial"/>
                <a:sym typeface="Arial"/>
              </a:rPr>
              <a:t>3. La dosimétrie en radiothérapie :</a:t>
            </a:r>
            <a:endParaRPr b="1" sz="1900">
              <a:solidFill>
                <a:srgbClr val="000000"/>
              </a:solidFill>
              <a:latin typeface="Arial"/>
              <a:ea typeface="Arial"/>
              <a:cs typeface="Arial"/>
              <a:sym typeface="Arial"/>
            </a:endParaRPr>
          </a:p>
          <a:p>
            <a:pPr indent="0" lvl="0" marL="0" rtl="0" algn="l">
              <a:lnSpc>
                <a:spcPct val="115000"/>
              </a:lnSpc>
              <a:spcBef>
                <a:spcPts val="1400"/>
              </a:spcBef>
              <a:spcAft>
                <a:spcPts val="0"/>
              </a:spcAft>
              <a:buSzPts val="1800"/>
              <a:buNone/>
            </a:pPr>
            <a:r>
              <a:rPr b="1" lang="ro" sz="1500">
                <a:solidFill>
                  <a:srgbClr val="000000"/>
                </a:solidFill>
                <a:latin typeface="Arial"/>
                <a:ea typeface="Arial"/>
                <a:cs typeface="Arial"/>
                <a:sym typeface="Arial"/>
              </a:rPr>
              <a:t>➤ Définition :</a:t>
            </a:r>
            <a:endParaRPr b="1" sz="1500">
              <a:solidFill>
                <a:srgbClr val="000000"/>
              </a:solidFill>
              <a:latin typeface="Arial"/>
              <a:ea typeface="Arial"/>
              <a:cs typeface="Arial"/>
              <a:sym typeface="Arial"/>
            </a:endParaRPr>
          </a:p>
          <a:p>
            <a:pPr indent="0" lvl="0" marL="0" rtl="0" algn="l">
              <a:lnSpc>
                <a:spcPct val="115000"/>
              </a:lnSpc>
              <a:spcBef>
                <a:spcPts val="1200"/>
              </a:spcBef>
              <a:spcAft>
                <a:spcPts val="0"/>
              </a:spcAft>
              <a:buSzPts val="1800"/>
              <a:buNone/>
            </a:pPr>
            <a:r>
              <a:rPr lang="ro" sz="1300">
                <a:solidFill>
                  <a:srgbClr val="000000"/>
                </a:solidFill>
                <a:latin typeface="Arial"/>
                <a:ea typeface="Arial"/>
                <a:cs typeface="Arial"/>
                <a:sym typeface="Arial"/>
              </a:rPr>
              <a:t>La </a:t>
            </a:r>
            <a:r>
              <a:rPr b="1" lang="ro" sz="1300">
                <a:solidFill>
                  <a:srgbClr val="000000"/>
                </a:solidFill>
                <a:latin typeface="Arial"/>
                <a:ea typeface="Arial"/>
                <a:cs typeface="Arial"/>
                <a:sym typeface="Arial"/>
              </a:rPr>
              <a:t>dosimétrie</a:t>
            </a:r>
            <a:r>
              <a:rPr lang="ro" sz="1300">
                <a:solidFill>
                  <a:srgbClr val="000000"/>
                </a:solidFill>
                <a:latin typeface="Arial"/>
                <a:ea typeface="Arial"/>
                <a:cs typeface="Arial"/>
                <a:sym typeface="Arial"/>
              </a:rPr>
              <a:t> est l'</a:t>
            </a:r>
            <a:r>
              <a:rPr b="1" lang="ro" sz="1300">
                <a:solidFill>
                  <a:srgbClr val="000000"/>
                </a:solidFill>
                <a:latin typeface="Arial"/>
                <a:ea typeface="Arial"/>
                <a:cs typeface="Arial"/>
                <a:sym typeface="Arial"/>
              </a:rPr>
              <a:t>évaluation quantitative</a:t>
            </a:r>
            <a:r>
              <a:rPr lang="ro" sz="1300">
                <a:solidFill>
                  <a:srgbClr val="000000"/>
                </a:solidFill>
                <a:latin typeface="Arial"/>
                <a:ea typeface="Arial"/>
                <a:cs typeface="Arial"/>
                <a:sym typeface="Arial"/>
              </a:rPr>
              <a:t> de la dose de rayonnement délivrée au patient pour garantir </a:t>
            </a:r>
            <a:r>
              <a:rPr b="1" lang="ro" sz="1300">
                <a:solidFill>
                  <a:srgbClr val="000000"/>
                </a:solidFill>
                <a:latin typeface="Arial"/>
                <a:ea typeface="Arial"/>
                <a:cs typeface="Arial"/>
                <a:sym typeface="Arial"/>
              </a:rPr>
              <a:t>l’efficacité thérapeutique</a:t>
            </a:r>
            <a:r>
              <a:rPr lang="ro" sz="1300">
                <a:solidFill>
                  <a:srgbClr val="000000"/>
                </a:solidFill>
                <a:latin typeface="Arial"/>
                <a:ea typeface="Arial"/>
                <a:cs typeface="Arial"/>
                <a:sym typeface="Arial"/>
              </a:rPr>
              <a:t> et </a:t>
            </a:r>
            <a:r>
              <a:rPr b="1" lang="ro" sz="1300">
                <a:solidFill>
                  <a:srgbClr val="000000"/>
                </a:solidFill>
                <a:latin typeface="Arial"/>
                <a:ea typeface="Arial"/>
                <a:cs typeface="Arial"/>
                <a:sym typeface="Arial"/>
              </a:rPr>
              <a:t>limiter les effets secondaire</a:t>
            </a:r>
            <a:r>
              <a:rPr b="1" lang="ro" sz="1100">
                <a:solidFill>
                  <a:srgbClr val="000000"/>
                </a:solidFill>
                <a:latin typeface="Arial"/>
                <a:ea typeface="Arial"/>
                <a:cs typeface="Arial"/>
                <a:sym typeface="Arial"/>
              </a:rPr>
              <a:t>s</a:t>
            </a:r>
            <a:r>
              <a:rPr lang="ro"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800"/>
              <a:buNone/>
            </a:pPr>
            <a: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58"/>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ro" sz="1300">
                <a:solidFill>
                  <a:srgbClr val="000000"/>
                </a:solidFill>
                <a:latin typeface="Arial"/>
                <a:ea typeface="Arial"/>
                <a:cs typeface="Arial"/>
                <a:sym typeface="Arial"/>
              </a:rPr>
              <a:t>✅ </a:t>
            </a:r>
            <a:r>
              <a:rPr b="1" lang="ro" sz="1300">
                <a:solidFill>
                  <a:srgbClr val="000000"/>
                </a:solidFill>
                <a:latin typeface="Arial"/>
                <a:ea typeface="Arial"/>
                <a:cs typeface="Arial"/>
                <a:sym typeface="Arial"/>
              </a:rPr>
              <a:t>Validation d’un plan en radiothérapie : Un processus clé pour assurer la sécurité et l’efficacité</a:t>
            </a:r>
            <a:endParaRPr sz="3200"/>
          </a:p>
        </p:txBody>
      </p:sp>
      <p:sp>
        <p:nvSpPr>
          <p:cNvPr id="353" name="Google Shape;353;p58"/>
          <p:cNvSpPr txBox="1"/>
          <p:nvPr>
            <p:ph idx="1" type="body"/>
          </p:nvPr>
        </p:nvSpPr>
        <p:spPr>
          <a:xfrm>
            <a:off x="311700" y="780575"/>
            <a:ext cx="8520600" cy="3788400"/>
          </a:xfrm>
          <a:prstGeom prst="rect">
            <a:avLst/>
          </a:prstGeom>
          <a:noFill/>
          <a:ln>
            <a:noFill/>
          </a:ln>
        </p:spPr>
        <p:txBody>
          <a:bodyPr anchorCtr="0" anchor="t" bIns="91425" lIns="91425" spcFirstLastPara="1" rIns="91425" wrap="square" tIns="91425">
            <a:noAutofit/>
          </a:bodyPr>
          <a:lstStyle/>
          <a:p>
            <a:pPr indent="0" lvl="0" marL="0" rtl="0" algn="just">
              <a:lnSpc>
                <a:spcPct val="95000"/>
              </a:lnSpc>
              <a:spcBef>
                <a:spcPts val="1200"/>
              </a:spcBef>
              <a:spcAft>
                <a:spcPts val="0"/>
              </a:spcAft>
              <a:buSzPts val="770"/>
              <a:buNone/>
            </a:pPr>
            <a:r>
              <a:rPr lang="ro" sz="1450">
                <a:solidFill>
                  <a:srgbClr val="000000"/>
                </a:solidFill>
                <a:latin typeface="Arial"/>
                <a:ea typeface="Arial"/>
                <a:cs typeface="Arial"/>
                <a:sym typeface="Arial"/>
              </a:rPr>
              <a:t>La validation d’un plan de radiothérapie est un </a:t>
            </a:r>
            <a:r>
              <a:rPr b="1" lang="ro" sz="1450">
                <a:solidFill>
                  <a:srgbClr val="000000"/>
                </a:solidFill>
                <a:latin typeface="Arial"/>
                <a:ea typeface="Arial"/>
                <a:cs typeface="Arial"/>
                <a:sym typeface="Arial"/>
              </a:rPr>
              <a:t>processus rigoureux</a:t>
            </a:r>
            <a:r>
              <a:rPr lang="ro" sz="1450">
                <a:solidFill>
                  <a:srgbClr val="000000"/>
                </a:solidFill>
                <a:latin typeface="Arial"/>
                <a:ea typeface="Arial"/>
                <a:cs typeface="Arial"/>
                <a:sym typeface="Arial"/>
              </a:rPr>
              <a:t> en plusieurs étapes :</a:t>
            </a:r>
            <a:endParaRPr sz="1450">
              <a:solidFill>
                <a:srgbClr val="000000"/>
              </a:solidFill>
              <a:latin typeface="Arial"/>
              <a:ea typeface="Arial"/>
              <a:cs typeface="Arial"/>
              <a:sym typeface="Arial"/>
            </a:endParaRPr>
          </a:p>
          <a:p>
            <a:pPr indent="0" lvl="0" marL="457200" rtl="0" algn="just">
              <a:lnSpc>
                <a:spcPct val="95000"/>
              </a:lnSpc>
              <a:spcBef>
                <a:spcPts val="1200"/>
              </a:spcBef>
              <a:spcAft>
                <a:spcPts val="0"/>
              </a:spcAft>
              <a:buSzPts val="770"/>
              <a:buNone/>
            </a:pPr>
            <a:r>
              <a:rPr b="1" lang="ro" sz="1450">
                <a:solidFill>
                  <a:srgbClr val="000000"/>
                </a:solidFill>
                <a:latin typeface="Arial"/>
                <a:ea typeface="Arial"/>
                <a:cs typeface="Arial"/>
                <a:sym typeface="Arial"/>
              </a:rPr>
              <a:t>Validation clinique</a:t>
            </a:r>
            <a:r>
              <a:rPr lang="ro" sz="1450">
                <a:solidFill>
                  <a:srgbClr val="000000"/>
                </a:solidFill>
                <a:latin typeface="Arial"/>
                <a:ea typeface="Arial"/>
                <a:cs typeface="Arial"/>
                <a:sym typeface="Arial"/>
              </a:rPr>
              <a:t> : Vérification de la couverture tumorale et de la protection des OAR.</a:t>
            </a:r>
            <a:endParaRPr sz="1450">
              <a:solidFill>
                <a:srgbClr val="000000"/>
              </a:solidFill>
              <a:latin typeface="Arial"/>
              <a:ea typeface="Arial"/>
              <a:cs typeface="Arial"/>
              <a:sym typeface="Arial"/>
            </a:endParaRPr>
          </a:p>
          <a:p>
            <a:pPr indent="0" lvl="0" marL="0" rtl="0" algn="l">
              <a:lnSpc>
                <a:spcPct val="95000"/>
              </a:lnSpc>
              <a:spcBef>
                <a:spcPts val="1200"/>
              </a:spcBef>
              <a:spcAft>
                <a:spcPts val="0"/>
              </a:spcAft>
              <a:buSzPts val="770"/>
              <a:buNone/>
            </a:pPr>
            <a:r>
              <a:rPr lang="ro" sz="1450">
                <a:solidFill>
                  <a:srgbClr val="000000"/>
                </a:solidFill>
                <a:latin typeface="Arial"/>
                <a:ea typeface="Arial"/>
                <a:cs typeface="Arial"/>
                <a:sym typeface="Arial"/>
              </a:rPr>
              <a:t>   - Vérification par le radiothérapeute :</a:t>
            </a:r>
            <a:endParaRPr sz="1450">
              <a:solidFill>
                <a:srgbClr val="000000"/>
              </a:solidFill>
              <a:latin typeface="Arial"/>
              <a:ea typeface="Arial"/>
              <a:cs typeface="Arial"/>
              <a:sym typeface="Arial"/>
            </a:endParaRPr>
          </a:p>
          <a:p>
            <a:pPr indent="0" lvl="0" marL="0" rtl="0" algn="l">
              <a:lnSpc>
                <a:spcPct val="95000"/>
              </a:lnSpc>
              <a:spcBef>
                <a:spcPts val="0"/>
              </a:spcBef>
              <a:spcAft>
                <a:spcPts val="0"/>
              </a:spcAft>
              <a:buSzPts val="770"/>
              <a:buNone/>
            </a:pPr>
            <a:r>
              <a:rPr lang="ro" sz="1450">
                <a:solidFill>
                  <a:srgbClr val="000000"/>
                </a:solidFill>
                <a:latin typeface="Arial"/>
                <a:ea typeface="Arial"/>
                <a:cs typeface="Arial"/>
                <a:sym typeface="Arial"/>
              </a:rPr>
              <a:t>     ✅ Couverture tumorale (D95% ≥ 95 %)</a:t>
            </a:r>
            <a:endParaRPr sz="1450">
              <a:solidFill>
                <a:srgbClr val="000000"/>
              </a:solidFill>
              <a:latin typeface="Arial"/>
              <a:ea typeface="Arial"/>
              <a:cs typeface="Arial"/>
              <a:sym typeface="Arial"/>
            </a:endParaRPr>
          </a:p>
          <a:p>
            <a:pPr indent="0" lvl="0" marL="0" rtl="0" algn="l">
              <a:lnSpc>
                <a:spcPct val="95000"/>
              </a:lnSpc>
              <a:spcBef>
                <a:spcPts val="0"/>
              </a:spcBef>
              <a:spcAft>
                <a:spcPts val="0"/>
              </a:spcAft>
              <a:buSzPts val="770"/>
              <a:buNone/>
            </a:pPr>
            <a:r>
              <a:rPr lang="ro" sz="1450">
                <a:solidFill>
                  <a:srgbClr val="000000"/>
                </a:solidFill>
                <a:latin typeface="Arial"/>
                <a:ea typeface="Arial"/>
                <a:cs typeface="Arial"/>
                <a:sym typeface="Arial"/>
              </a:rPr>
              <a:t>     ✅ Protection des organes à risque (ex : Moelle Dmax ≤ 45 Gy)</a:t>
            </a:r>
            <a:endParaRPr sz="1450">
              <a:solidFill>
                <a:srgbClr val="000000"/>
              </a:solidFill>
              <a:latin typeface="Arial"/>
              <a:ea typeface="Arial"/>
              <a:cs typeface="Arial"/>
              <a:sym typeface="Arial"/>
            </a:endParaRPr>
          </a:p>
          <a:p>
            <a:pPr indent="0" lvl="0" marL="0" rtl="0" algn="l">
              <a:lnSpc>
                <a:spcPct val="95000"/>
              </a:lnSpc>
              <a:spcBef>
                <a:spcPts val="0"/>
              </a:spcBef>
              <a:spcAft>
                <a:spcPts val="0"/>
              </a:spcAft>
              <a:buSzPts val="770"/>
              <a:buNone/>
            </a:pPr>
            <a:r>
              <a:rPr lang="ro" sz="1450">
                <a:solidFill>
                  <a:srgbClr val="000000"/>
                </a:solidFill>
                <a:latin typeface="Arial"/>
                <a:ea typeface="Arial"/>
                <a:cs typeface="Arial"/>
                <a:sym typeface="Arial"/>
              </a:rPr>
              <a:t>     ✅ Cohérence avec la prescription</a:t>
            </a:r>
            <a:endParaRPr sz="1450">
              <a:solidFill>
                <a:srgbClr val="000000"/>
              </a:solidFill>
              <a:latin typeface="Arial"/>
              <a:ea typeface="Arial"/>
              <a:cs typeface="Arial"/>
              <a:sym typeface="Arial"/>
            </a:endParaRPr>
          </a:p>
          <a:p>
            <a:pPr indent="0" lvl="0" marL="457200" rtl="0" algn="just">
              <a:lnSpc>
                <a:spcPct val="95000"/>
              </a:lnSpc>
              <a:spcBef>
                <a:spcPts val="1200"/>
              </a:spcBef>
              <a:spcAft>
                <a:spcPts val="0"/>
              </a:spcAft>
              <a:buSzPts val="770"/>
              <a:buNone/>
            </a:pPr>
            <a:r>
              <a:rPr b="1" lang="ro" sz="1450">
                <a:solidFill>
                  <a:srgbClr val="000000"/>
                </a:solidFill>
                <a:latin typeface="Arial"/>
                <a:ea typeface="Arial"/>
                <a:cs typeface="Arial"/>
                <a:sym typeface="Arial"/>
              </a:rPr>
              <a:t>Validation physique</a:t>
            </a:r>
            <a:r>
              <a:rPr lang="ro" sz="1450">
                <a:solidFill>
                  <a:srgbClr val="000000"/>
                </a:solidFill>
                <a:latin typeface="Arial"/>
                <a:ea typeface="Arial"/>
                <a:cs typeface="Arial"/>
                <a:sym typeface="Arial"/>
              </a:rPr>
              <a:t> : Contrôle de la précision des doses et de la balistique.</a:t>
            </a:r>
            <a:endParaRPr sz="1450">
              <a:solidFill>
                <a:srgbClr val="000000"/>
              </a:solidFill>
              <a:latin typeface="Arial"/>
              <a:ea typeface="Arial"/>
              <a:cs typeface="Arial"/>
              <a:sym typeface="Arial"/>
            </a:endParaRPr>
          </a:p>
          <a:p>
            <a:pPr indent="0" lvl="0" marL="0" rtl="0" algn="l">
              <a:lnSpc>
                <a:spcPct val="95000"/>
              </a:lnSpc>
              <a:spcBef>
                <a:spcPts val="1200"/>
              </a:spcBef>
              <a:spcAft>
                <a:spcPts val="0"/>
              </a:spcAft>
              <a:buSzPts val="770"/>
              <a:buNone/>
            </a:pPr>
            <a:r>
              <a:rPr lang="ro" sz="1450">
                <a:solidFill>
                  <a:srgbClr val="000000"/>
                </a:solidFill>
                <a:latin typeface="Arial"/>
                <a:ea typeface="Arial"/>
                <a:cs typeface="Arial"/>
                <a:sym typeface="Arial"/>
              </a:rPr>
              <a:t>- Contrôle par le physicien médical :</a:t>
            </a:r>
            <a:endParaRPr sz="1450">
              <a:solidFill>
                <a:srgbClr val="000000"/>
              </a:solidFill>
              <a:latin typeface="Arial"/>
              <a:ea typeface="Arial"/>
              <a:cs typeface="Arial"/>
              <a:sym typeface="Arial"/>
            </a:endParaRPr>
          </a:p>
          <a:p>
            <a:pPr indent="0" lvl="0" marL="0" rtl="0" algn="l">
              <a:lnSpc>
                <a:spcPct val="95000"/>
              </a:lnSpc>
              <a:spcBef>
                <a:spcPts val="0"/>
              </a:spcBef>
              <a:spcAft>
                <a:spcPts val="0"/>
              </a:spcAft>
              <a:buSzPts val="770"/>
              <a:buNone/>
            </a:pPr>
            <a:r>
              <a:rPr lang="ro" sz="1450">
                <a:solidFill>
                  <a:srgbClr val="000000"/>
                </a:solidFill>
                <a:latin typeface="Arial"/>
                <a:ea typeface="Arial"/>
                <a:cs typeface="Arial"/>
                <a:sym typeface="Arial"/>
              </a:rPr>
              <a:t>     ✅ Analyse du DVH (courbe dose-volume)</a:t>
            </a:r>
            <a:endParaRPr sz="1450">
              <a:solidFill>
                <a:srgbClr val="000000"/>
              </a:solidFill>
              <a:latin typeface="Arial"/>
              <a:ea typeface="Arial"/>
              <a:cs typeface="Arial"/>
              <a:sym typeface="Arial"/>
            </a:endParaRPr>
          </a:p>
          <a:p>
            <a:pPr indent="0" lvl="0" marL="0" rtl="0" algn="l">
              <a:lnSpc>
                <a:spcPct val="95000"/>
              </a:lnSpc>
              <a:spcBef>
                <a:spcPts val="0"/>
              </a:spcBef>
              <a:spcAft>
                <a:spcPts val="0"/>
              </a:spcAft>
              <a:buSzPts val="770"/>
              <a:buNone/>
            </a:pPr>
            <a:r>
              <a:rPr lang="ro" sz="1450">
                <a:solidFill>
                  <a:srgbClr val="000000"/>
                </a:solidFill>
                <a:latin typeface="Arial"/>
                <a:ea typeface="Arial"/>
                <a:cs typeface="Arial"/>
                <a:sym typeface="Arial"/>
              </a:rPr>
              <a:t>     ✅ Vérification des indices (CI, HI)</a:t>
            </a:r>
            <a:endParaRPr sz="1450">
              <a:solidFill>
                <a:srgbClr val="000000"/>
              </a:solidFill>
              <a:latin typeface="Arial"/>
              <a:ea typeface="Arial"/>
              <a:cs typeface="Arial"/>
              <a:sym typeface="Arial"/>
            </a:endParaRPr>
          </a:p>
          <a:p>
            <a:pPr indent="0" lvl="0" marL="0" rtl="0" algn="l">
              <a:lnSpc>
                <a:spcPct val="95000"/>
              </a:lnSpc>
              <a:spcBef>
                <a:spcPts val="0"/>
              </a:spcBef>
              <a:spcAft>
                <a:spcPts val="0"/>
              </a:spcAft>
              <a:buSzPts val="770"/>
              <a:buNone/>
            </a:pPr>
            <a:r>
              <a:rPr lang="ro" sz="1450">
                <a:solidFill>
                  <a:srgbClr val="000000"/>
                </a:solidFill>
                <a:latin typeface="Arial"/>
                <a:ea typeface="Arial"/>
                <a:cs typeface="Arial"/>
                <a:sym typeface="Arial"/>
              </a:rPr>
              <a:t>     ✅ Test sur un fantôme (Patient-Specific QA)</a:t>
            </a:r>
            <a:endParaRPr sz="1450">
              <a:solidFill>
                <a:srgbClr val="000000"/>
              </a:solidFill>
              <a:latin typeface="Arial"/>
              <a:ea typeface="Arial"/>
              <a:cs typeface="Arial"/>
              <a:sym typeface="Arial"/>
            </a:endParaRPr>
          </a:p>
          <a:p>
            <a:pPr indent="0" lvl="0" marL="0" rtl="0" algn="l">
              <a:lnSpc>
                <a:spcPct val="95000"/>
              </a:lnSpc>
              <a:spcBef>
                <a:spcPts val="0"/>
              </a:spcBef>
              <a:spcAft>
                <a:spcPts val="0"/>
              </a:spcAft>
              <a:buSzPts val="770"/>
              <a:buNone/>
            </a:pPr>
            <a:r>
              <a:t/>
            </a:r>
            <a:endParaRPr sz="1450">
              <a:solidFill>
                <a:srgbClr val="000000"/>
              </a:solidFill>
              <a:latin typeface="Arial"/>
              <a:ea typeface="Arial"/>
              <a:cs typeface="Arial"/>
              <a:sym typeface="Arial"/>
            </a:endParaRPr>
          </a:p>
          <a:p>
            <a:pPr indent="0" lvl="0" marL="0" rtl="0" algn="l">
              <a:lnSpc>
                <a:spcPct val="95000"/>
              </a:lnSpc>
              <a:spcBef>
                <a:spcPts val="0"/>
              </a:spcBef>
              <a:spcAft>
                <a:spcPts val="0"/>
              </a:spcAft>
              <a:buSzPts val="770"/>
              <a:buNone/>
            </a:pPr>
            <a:r>
              <a:t/>
            </a:r>
            <a:endParaRPr sz="1450">
              <a:solidFill>
                <a:srgbClr val="000000"/>
              </a:solidFill>
              <a:latin typeface="Arial"/>
              <a:ea typeface="Arial"/>
              <a:cs typeface="Arial"/>
              <a:sym typeface="Arial"/>
            </a:endParaRPr>
          </a:p>
          <a:p>
            <a:pPr indent="0" lvl="0" marL="0" rtl="0" algn="l">
              <a:lnSpc>
                <a:spcPct val="95000"/>
              </a:lnSpc>
              <a:spcBef>
                <a:spcPts val="0"/>
              </a:spcBef>
              <a:spcAft>
                <a:spcPts val="0"/>
              </a:spcAft>
              <a:buSzPts val="770"/>
              <a:buNone/>
            </a:pPr>
            <a:r>
              <a:t/>
            </a:r>
            <a:endParaRPr sz="1450">
              <a:solidFill>
                <a:srgbClr val="000000"/>
              </a:solidFill>
              <a:latin typeface="Arial"/>
              <a:ea typeface="Arial"/>
              <a:cs typeface="Arial"/>
              <a:sym typeface="Arial"/>
            </a:endParaRPr>
          </a:p>
          <a:p>
            <a:pPr indent="0" lvl="0" marL="457200" rtl="0" algn="just">
              <a:lnSpc>
                <a:spcPct val="95000"/>
              </a:lnSpc>
              <a:spcBef>
                <a:spcPts val="1200"/>
              </a:spcBef>
              <a:spcAft>
                <a:spcPts val="0"/>
              </a:spcAft>
              <a:buSzPts val="770"/>
              <a:buNone/>
            </a:pPr>
            <a:r>
              <a:t/>
            </a:r>
            <a:endParaRPr sz="1450">
              <a:solidFill>
                <a:srgbClr val="000000"/>
              </a:solidFill>
              <a:latin typeface="Arial"/>
              <a:ea typeface="Arial"/>
              <a:cs typeface="Arial"/>
              <a:sym typeface="Arial"/>
            </a:endParaRPr>
          </a:p>
          <a:p>
            <a:pPr indent="0" lvl="0" marL="0" rtl="0" algn="l">
              <a:lnSpc>
                <a:spcPct val="95000"/>
              </a:lnSpc>
              <a:spcBef>
                <a:spcPts val="1200"/>
              </a:spcBef>
              <a:spcAft>
                <a:spcPts val="1200"/>
              </a:spcAft>
              <a:buSzPts val="770"/>
              <a:buNone/>
            </a:pPr>
            <a:r>
              <a:t/>
            </a:r>
            <a:endParaRPr sz="1660"/>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9"/>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359" name="Google Shape;359;p59"/>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360" name="Google Shape;360;p59" title="Untitleddose.png"/>
          <p:cNvPicPr preferRelativeResize="0"/>
          <p:nvPr/>
        </p:nvPicPr>
        <p:blipFill rotWithShape="1">
          <a:blip r:embed="rId3">
            <a:alphaModFix/>
          </a:blip>
          <a:srcRect b="0" l="0" r="0" t="0"/>
          <a:stretch/>
        </p:blipFill>
        <p:spPr>
          <a:xfrm>
            <a:off x="218400" y="599124"/>
            <a:ext cx="8613898" cy="3945249"/>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60"/>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b="1" lang="ro" sz="1800">
                <a:solidFill>
                  <a:srgbClr val="000000"/>
                </a:solidFill>
                <a:latin typeface="Arial"/>
                <a:ea typeface="Arial"/>
                <a:cs typeface="Arial"/>
                <a:sym typeface="Arial"/>
              </a:rPr>
              <a:t>Déroulement des séances de radiothérapie</a:t>
            </a:r>
            <a:endParaRPr sz="3700"/>
          </a:p>
        </p:txBody>
      </p:sp>
      <p:sp>
        <p:nvSpPr>
          <p:cNvPr id="366" name="Google Shape;366;p60"/>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p>
            <a:pPr indent="-298450" lvl="0" marL="457200" rtl="0" algn="just">
              <a:lnSpc>
                <a:spcPct val="115000"/>
              </a:lnSpc>
              <a:spcBef>
                <a:spcPts val="1200"/>
              </a:spcBef>
              <a:spcAft>
                <a:spcPts val="0"/>
              </a:spcAft>
              <a:buClr>
                <a:srgbClr val="000000"/>
              </a:buClr>
              <a:buSzPts val="1100"/>
              <a:buFont typeface="Arial"/>
              <a:buChar char="●"/>
            </a:pPr>
            <a:r>
              <a:rPr lang="ro"/>
              <a:t>Fréquence : généralement 3 à 5 séances par semaine pendant plusieurs semaines (selon le protocole).</a:t>
            </a:r>
            <a:endParaRPr/>
          </a:p>
          <a:p>
            <a:pPr indent="-298450" lvl="0" marL="457200" rtl="0" algn="just">
              <a:lnSpc>
                <a:spcPct val="115000"/>
              </a:lnSpc>
              <a:spcBef>
                <a:spcPts val="0"/>
              </a:spcBef>
              <a:spcAft>
                <a:spcPts val="0"/>
              </a:spcAft>
              <a:buClr>
                <a:srgbClr val="000000"/>
              </a:buClr>
              <a:buSzPts val="1100"/>
              <a:buFont typeface="Arial"/>
              <a:buChar char="●"/>
            </a:pPr>
            <a:r>
              <a:rPr lang="ro"/>
              <a:t>Chaque séance dure environ 10 à 20 minutes.</a:t>
            </a:r>
            <a:endParaRPr/>
          </a:p>
          <a:p>
            <a:pPr indent="-298450" lvl="0" marL="457200" rtl="0" algn="just">
              <a:lnSpc>
                <a:spcPct val="115000"/>
              </a:lnSpc>
              <a:spcBef>
                <a:spcPts val="0"/>
              </a:spcBef>
              <a:spcAft>
                <a:spcPts val="0"/>
              </a:spcAft>
              <a:buClr>
                <a:srgbClr val="000000"/>
              </a:buClr>
              <a:buSzPts val="1100"/>
              <a:buFont typeface="Arial"/>
              <a:buChar char="●"/>
            </a:pPr>
            <a:r>
              <a:rPr lang="ro"/>
              <a:t>Le patient est seul dans la salle, mais sous surveillance permanente via des caméras et un système de communication.</a:t>
            </a:r>
            <a:endParaRPr/>
          </a:p>
          <a:p>
            <a:pPr indent="0" lvl="0" marL="0" rtl="0" algn="just">
              <a:lnSpc>
                <a:spcPct val="115000"/>
              </a:lnSpc>
              <a:spcBef>
                <a:spcPts val="1200"/>
              </a:spcBef>
              <a:spcAft>
                <a:spcPts val="1200"/>
              </a:spcAft>
              <a:buSzPts val="1800"/>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pic>
        <p:nvPicPr>
          <p:cNvPr id="371" name="Google Shape;371;p61" title="480189810_944561577850750_7498248271088536280_n.jpg"/>
          <p:cNvPicPr preferRelativeResize="0"/>
          <p:nvPr/>
        </p:nvPicPr>
        <p:blipFill rotWithShape="1">
          <a:blip r:embed="rId3">
            <a:alphaModFix/>
          </a:blip>
          <a:srcRect b="0" l="0" r="0" t="0"/>
          <a:stretch/>
        </p:blipFill>
        <p:spPr>
          <a:xfrm>
            <a:off x="598450" y="359325"/>
            <a:ext cx="4903526" cy="4343077"/>
          </a:xfrm>
          <a:prstGeom prst="rect">
            <a:avLst/>
          </a:prstGeom>
          <a:noFill/>
          <a:ln>
            <a:noFill/>
          </a:ln>
        </p:spPr>
      </p:pic>
      <p:pic>
        <p:nvPicPr>
          <p:cNvPr id="372" name="Google Shape;372;p61" title="480872414_946113034362271_8023615054239902992_n.jpg"/>
          <p:cNvPicPr preferRelativeResize="0"/>
          <p:nvPr/>
        </p:nvPicPr>
        <p:blipFill rotWithShape="1">
          <a:blip r:embed="rId4">
            <a:alphaModFix/>
          </a:blip>
          <a:srcRect b="0" l="0" r="0" t="0"/>
          <a:stretch/>
        </p:blipFill>
        <p:spPr>
          <a:xfrm>
            <a:off x="5666776" y="1106450"/>
            <a:ext cx="3337224" cy="1877188"/>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62"/>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ro" sz="1600">
                <a:solidFill>
                  <a:srgbClr val="000000"/>
                </a:solidFill>
                <a:latin typeface="Arial"/>
                <a:ea typeface="Arial"/>
                <a:cs typeface="Arial"/>
                <a:sym typeface="Arial"/>
              </a:rPr>
              <a:t>🎯 </a:t>
            </a:r>
            <a:r>
              <a:rPr b="1" lang="ro" sz="1600">
                <a:solidFill>
                  <a:srgbClr val="000000"/>
                </a:solidFill>
                <a:latin typeface="Arial"/>
                <a:ea typeface="Arial"/>
                <a:cs typeface="Arial"/>
                <a:sym typeface="Arial"/>
              </a:rPr>
              <a:t>Le rôle du manipulateur en radiothérapie</a:t>
            </a:r>
            <a:endParaRPr sz="3500"/>
          </a:p>
        </p:txBody>
      </p:sp>
      <p:sp>
        <p:nvSpPr>
          <p:cNvPr id="378" name="Google Shape;378;p62"/>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800"/>
              <a:buNone/>
            </a:pPr>
            <a:r>
              <a:rPr lang="ro" sz="1100">
                <a:solidFill>
                  <a:srgbClr val="000000"/>
                </a:solidFill>
                <a:latin typeface="Arial"/>
                <a:ea typeface="Arial"/>
                <a:cs typeface="Arial"/>
                <a:sym typeface="Arial"/>
              </a:rPr>
              <a:t>✅ </a:t>
            </a:r>
            <a:r>
              <a:rPr b="1" lang="ro" sz="1100">
                <a:solidFill>
                  <a:srgbClr val="000000"/>
                </a:solidFill>
                <a:latin typeface="Arial"/>
                <a:ea typeface="Arial"/>
                <a:cs typeface="Arial"/>
                <a:sym typeface="Arial"/>
              </a:rPr>
              <a:t>Positionnement du patient</a:t>
            </a:r>
            <a:r>
              <a:rPr lang="ro" sz="1100">
                <a:solidFill>
                  <a:srgbClr val="000000"/>
                </a:solidFill>
                <a:latin typeface="Arial"/>
                <a:ea typeface="Arial"/>
                <a:cs typeface="Arial"/>
                <a:sym typeface="Arial"/>
              </a:rPr>
              <a:t> :</a:t>
            </a:r>
            <a:endParaRPr sz="1100">
              <a:solidFill>
                <a:srgbClr val="000000"/>
              </a:solidFill>
              <a:latin typeface="Arial"/>
              <a:ea typeface="Arial"/>
              <a:cs typeface="Arial"/>
              <a:sym typeface="Arial"/>
            </a:endParaRPr>
          </a:p>
          <a:p>
            <a:pPr indent="-298450" lvl="0" marL="457200" rtl="0" algn="l">
              <a:lnSpc>
                <a:spcPct val="115000"/>
              </a:lnSpc>
              <a:spcBef>
                <a:spcPts val="1200"/>
              </a:spcBef>
              <a:spcAft>
                <a:spcPts val="0"/>
              </a:spcAft>
              <a:buClr>
                <a:srgbClr val="000000"/>
              </a:buClr>
              <a:buSzPts val="1100"/>
              <a:buFont typeface="Arial"/>
              <a:buChar char="●"/>
            </a:pPr>
            <a:r>
              <a:rPr lang="ro" sz="1100">
                <a:solidFill>
                  <a:srgbClr val="000000"/>
                </a:solidFill>
                <a:latin typeface="Arial"/>
                <a:ea typeface="Arial"/>
                <a:cs typeface="Arial"/>
                <a:sym typeface="Arial"/>
              </a:rPr>
              <a:t>Installer le patient de manière </a:t>
            </a:r>
            <a:r>
              <a:rPr b="1" lang="ro" sz="1100">
                <a:solidFill>
                  <a:srgbClr val="000000"/>
                </a:solidFill>
                <a:latin typeface="Arial"/>
                <a:ea typeface="Arial"/>
                <a:cs typeface="Arial"/>
                <a:sym typeface="Arial"/>
              </a:rPr>
              <a:t>reproductible</a:t>
            </a:r>
            <a:r>
              <a:rPr lang="ro" sz="1100">
                <a:solidFill>
                  <a:srgbClr val="000000"/>
                </a:solidFill>
                <a:latin typeface="Arial"/>
                <a:ea typeface="Arial"/>
                <a:cs typeface="Arial"/>
                <a:sym typeface="Arial"/>
              </a:rPr>
              <a:t> à chaque séance.</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lang="ro" sz="1100">
                <a:solidFill>
                  <a:srgbClr val="000000"/>
                </a:solidFill>
                <a:latin typeface="Arial"/>
                <a:ea typeface="Arial"/>
                <a:cs typeface="Arial"/>
                <a:sym typeface="Arial"/>
              </a:rPr>
              <a:t>Réaliser des </a:t>
            </a:r>
            <a:r>
              <a:rPr b="1" lang="ro" sz="1100">
                <a:solidFill>
                  <a:srgbClr val="000000"/>
                </a:solidFill>
                <a:latin typeface="Arial"/>
                <a:ea typeface="Arial"/>
                <a:cs typeface="Arial"/>
                <a:sym typeface="Arial"/>
              </a:rPr>
              <a:t>images de contrôle (CBCT, EPID)</a:t>
            </a:r>
            <a:r>
              <a:rPr lang="ro" sz="1100">
                <a:solidFill>
                  <a:srgbClr val="000000"/>
                </a:solidFill>
                <a:latin typeface="Arial"/>
                <a:ea typeface="Arial"/>
                <a:cs typeface="Arial"/>
                <a:sym typeface="Arial"/>
              </a:rPr>
              <a:t> pour ajuster la position.</a:t>
            </a:r>
            <a:endParaRPr sz="1100">
              <a:solidFill>
                <a:srgbClr val="000000"/>
              </a:solidFill>
              <a:latin typeface="Arial"/>
              <a:ea typeface="Arial"/>
              <a:cs typeface="Arial"/>
              <a:sym typeface="Arial"/>
            </a:endParaRPr>
          </a:p>
          <a:p>
            <a:pPr indent="0" lvl="0" marL="0" rtl="0" algn="l">
              <a:lnSpc>
                <a:spcPct val="115000"/>
              </a:lnSpc>
              <a:spcBef>
                <a:spcPts val="1200"/>
              </a:spcBef>
              <a:spcAft>
                <a:spcPts val="0"/>
              </a:spcAft>
              <a:buSzPts val="1800"/>
              <a:buNone/>
            </a:pPr>
            <a:r>
              <a:rPr lang="ro" sz="1100">
                <a:solidFill>
                  <a:srgbClr val="000000"/>
                </a:solidFill>
                <a:latin typeface="Arial"/>
                <a:ea typeface="Arial"/>
                <a:cs typeface="Arial"/>
                <a:sym typeface="Arial"/>
              </a:rPr>
              <a:t>✅ </a:t>
            </a:r>
            <a:r>
              <a:rPr b="1" lang="ro" sz="1100">
                <a:solidFill>
                  <a:srgbClr val="000000"/>
                </a:solidFill>
                <a:latin typeface="Arial"/>
                <a:ea typeface="Arial"/>
                <a:cs typeface="Arial"/>
                <a:sym typeface="Arial"/>
              </a:rPr>
              <a:t>Administration du traitement</a:t>
            </a:r>
            <a:r>
              <a:rPr lang="ro" sz="1100">
                <a:solidFill>
                  <a:srgbClr val="000000"/>
                </a:solidFill>
                <a:latin typeface="Arial"/>
                <a:ea typeface="Arial"/>
                <a:cs typeface="Arial"/>
                <a:sym typeface="Arial"/>
              </a:rPr>
              <a:t> :</a:t>
            </a:r>
            <a:endParaRPr sz="1100">
              <a:solidFill>
                <a:srgbClr val="000000"/>
              </a:solidFill>
              <a:latin typeface="Arial"/>
              <a:ea typeface="Arial"/>
              <a:cs typeface="Arial"/>
              <a:sym typeface="Arial"/>
            </a:endParaRPr>
          </a:p>
          <a:p>
            <a:pPr indent="-298450" lvl="0" marL="457200" rtl="0" algn="l">
              <a:lnSpc>
                <a:spcPct val="115000"/>
              </a:lnSpc>
              <a:spcBef>
                <a:spcPts val="1200"/>
              </a:spcBef>
              <a:spcAft>
                <a:spcPts val="0"/>
              </a:spcAft>
              <a:buClr>
                <a:srgbClr val="000000"/>
              </a:buClr>
              <a:buSzPts val="1100"/>
              <a:buFont typeface="Arial"/>
              <a:buChar char="●"/>
            </a:pPr>
            <a:r>
              <a:rPr lang="ro" sz="1100">
                <a:solidFill>
                  <a:srgbClr val="000000"/>
                </a:solidFill>
                <a:latin typeface="Arial"/>
                <a:ea typeface="Arial"/>
                <a:cs typeface="Arial"/>
                <a:sym typeface="Arial"/>
              </a:rPr>
              <a:t>Délivrer la </a:t>
            </a:r>
            <a:r>
              <a:rPr b="1" lang="ro" sz="1100">
                <a:solidFill>
                  <a:srgbClr val="000000"/>
                </a:solidFill>
                <a:latin typeface="Arial"/>
                <a:ea typeface="Arial"/>
                <a:cs typeface="Arial"/>
                <a:sym typeface="Arial"/>
              </a:rPr>
              <a:t>dose de rayonnement</a:t>
            </a:r>
            <a:r>
              <a:rPr lang="ro" sz="1100">
                <a:solidFill>
                  <a:srgbClr val="000000"/>
                </a:solidFill>
                <a:latin typeface="Arial"/>
                <a:ea typeface="Arial"/>
                <a:cs typeface="Arial"/>
                <a:sym typeface="Arial"/>
              </a:rPr>
              <a:t> prescrite en toute sécurité.</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lang="ro" sz="1100">
                <a:solidFill>
                  <a:srgbClr val="000000"/>
                </a:solidFill>
                <a:latin typeface="Arial"/>
                <a:ea typeface="Arial"/>
                <a:cs typeface="Arial"/>
                <a:sym typeface="Arial"/>
              </a:rPr>
              <a:t>Surveiller le patient via des </a:t>
            </a:r>
            <a:r>
              <a:rPr b="1" lang="ro" sz="1100">
                <a:solidFill>
                  <a:srgbClr val="000000"/>
                </a:solidFill>
                <a:latin typeface="Arial"/>
                <a:ea typeface="Arial"/>
                <a:cs typeface="Arial"/>
                <a:sym typeface="Arial"/>
              </a:rPr>
              <a:t>cameras</a:t>
            </a:r>
            <a:r>
              <a:rPr lang="ro" sz="1100">
                <a:solidFill>
                  <a:srgbClr val="000000"/>
                </a:solidFill>
                <a:latin typeface="Arial"/>
                <a:ea typeface="Arial"/>
                <a:cs typeface="Arial"/>
                <a:sym typeface="Arial"/>
              </a:rPr>
              <a:t> et un </a:t>
            </a:r>
            <a:r>
              <a:rPr b="1" lang="ro" sz="1100">
                <a:solidFill>
                  <a:srgbClr val="000000"/>
                </a:solidFill>
                <a:latin typeface="Arial"/>
                <a:ea typeface="Arial"/>
                <a:cs typeface="Arial"/>
                <a:sym typeface="Arial"/>
              </a:rPr>
              <a:t>système audio</a:t>
            </a:r>
            <a:r>
              <a:rPr lang="ro" sz="1100">
                <a:solidFill>
                  <a:srgbClr val="000000"/>
                </a:solidFill>
                <a:latin typeface="Arial"/>
                <a:ea typeface="Arial"/>
                <a:cs typeface="Arial"/>
                <a:sym typeface="Arial"/>
              </a:rPr>
              <a:t> pendant l’irradiation.</a:t>
            </a:r>
            <a:endParaRPr sz="1100">
              <a:solidFill>
                <a:srgbClr val="000000"/>
              </a:solidFill>
              <a:latin typeface="Arial"/>
              <a:ea typeface="Arial"/>
              <a:cs typeface="Arial"/>
              <a:sym typeface="Arial"/>
            </a:endParaRPr>
          </a:p>
          <a:p>
            <a:pPr indent="0" lvl="0" marL="0" rtl="0" algn="l">
              <a:lnSpc>
                <a:spcPct val="115000"/>
              </a:lnSpc>
              <a:spcBef>
                <a:spcPts val="1200"/>
              </a:spcBef>
              <a:spcAft>
                <a:spcPts val="0"/>
              </a:spcAft>
              <a:buSzPts val="1800"/>
              <a:buNone/>
            </a:pPr>
            <a:r>
              <a:rPr lang="ro" sz="1100">
                <a:solidFill>
                  <a:srgbClr val="000000"/>
                </a:solidFill>
                <a:latin typeface="Arial"/>
                <a:ea typeface="Arial"/>
                <a:cs typeface="Arial"/>
                <a:sym typeface="Arial"/>
              </a:rPr>
              <a:t>✅ </a:t>
            </a:r>
            <a:r>
              <a:rPr b="1" lang="ro" sz="1100">
                <a:solidFill>
                  <a:srgbClr val="000000"/>
                </a:solidFill>
                <a:latin typeface="Arial"/>
                <a:ea typeface="Arial"/>
                <a:cs typeface="Arial"/>
                <a:sym typeface="Arial"/>
              </a:rPr>
              <a:t>Contrôles de qualité (CQ)</a:t>
            </a:r>
            <a:r>
              <a:rPr lang="ro" sz="1100">
                <a:solidFill>
                  <a:srgbClr val="000000"/>
                </a:solidFill>
                <a:latin typeface="Arial"/>
                <a:ea typeface="Arial"/>
                <a:cs typeface="Arial"/>
                <a:sym typeface="Arial"/>
              </a:rPr>
              <a:t> :</a:t>
            </a:r>
            <a:endParaRPr sz="1100">
              <a:solidFill>
                <a:srgbClr val="000000"/>
              </a:solidFill>
              <a:latin typeface="Arial"/>
              <a:ea typeface="Arial"/>
              <a:cs typeface="Arial"/>
              <a:sym typeface="Arial"/>
            </a:endParaRPr>
          </a:p>
          <a:p>
            <a:pPr indent="-298450" lvl="0" marL="457200" rtl="0" algn="l">
              <a:lnSpc>
                <a:spcPct val="115000"/>
              </a:lnSpc>
              <a:spcBef>
                <a:spcPts val="1200"/>
              </a:spcBef>
              <a:spcAft>
                <a:spcPts val="0"/>
              </a:spcAft>
              <a:buClr>
                <a:srgbClr val="000000"/>
              </a:buClr>
              <a:buSzPts val="1100"/>
              <a:buFont typeface="Arial"/>
              <a:buChar char="●"/>
            </a:pPr>
            <a:r>
              <a:rPr lang="ro" sz="1100">
                <a:solidFill>
                  <a:srgbClr val="000000"/>
                </a:solidFill>
                <a:latin typeface="Arial"/>
                <a:ea typeface="Arial"/>
                <a:cs typeface="Arial"/>
                <a:sym typeface="Arial"/>
              </a:rPr>
              <a:t>Vérifier chaque jour la </a:t>
            </a:r>
            <a:r>
              <a:rPr b="1" lang="ro" sz="1100">
                <a:solidFill>
                  <a:srgbClr val="000000"/>
                </a:solidFill>
                <a:latin typeface="Arial"/>
                <a:ea typeface="Arial"/>
                <a:cs typeface="Arial"/>
                <a:sym typeface="Arial"/>
              </a:rPr>
              <a:t>concordance</a:t>
            </a:r>
            <a:r>
              <a:rPr lang="ro" sz="1100">
                <a:solidFill>
                  <a:srgbClr val="000000"/>
                </a:solidFill>
                <a:latin typeface="Arial"/>
                <a:ea typeface="Arial"/>
                <a:cs typeface="Arial"/>
                <a:sym typeface="Arial"/>
              </a:rPr>
              <a:t> entre le plan et le positionnement réel.</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lang="ro" sz="1100">
                <a:solidFill>
                  <a:srgbClr val="000000"/>
                </a:solidFill>
                <a:latin typeface="Arial"/>
                <a:ea typeface="Arial"/>
                <a:cs typeface="Arial"/>
                <a:sym typeface="Arial"/>
              </a:rPr>
              <a:t>Signaler toute </a:t>
            </a:r>
            <a:r>
              <a:rPr b="1" lang="ro" sz="1100">
                <a:solidFill>
                  <a:srgbClr val="000000"/>
                </a:solidFill>
                <a:latin typeface="Arial"/>
                <a:ea typeface="Arial"/>
                <a:cs typeface="Arial"/>
                <a:sym typeface="Arial"/>
              </a:rPr>
              <a:t>anomalie</a:t>
            </a:r>
            <a:r>
              <a:rPr lang="ro" sz="1100">
                <a:solidFill>
                  <a:srgbClr val="000000"/>
                </a:solidFill>
                <a:latin typeface="Arial"/>
                <a:ea typeface="Arial"/>
                <a:cs typeface="Arial"/>
                <a:sym typeface="Arial"/>
              </a:rPr>
              <a:t> au physicien médical ou au radiothérapeute.</a:t>
            </a:r>
            <a:endParaRPr sz="11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800"/>
              <a:buNone/>
            </a:pPr>
            <a:r>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63"/>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384" name="Google Shape;384;p63"/>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385" name="Google Shape;385;p63" title="Untitled.jpg"/>
          <p:cNvPicPr preferRelativeResize="0"/>
          <p:nvPr/>
        </p:nvPicPr>
        <p:blipFill rotWithShape="1">
          <a:blip r:embed="rId3">
            <a:alphaModFix/>
          </a:blip>
          <a:srcRect b="0" l="0" r="0" t="4525"/>
          <a:stretch/>
        </p:blipFill>
        <p:spPr>
          <a:xfrm>
            <a:off x="55425" y="283715"/>
            <a:ext cx="8520602" cy="4576072"/>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64"/>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391" name="Google Shape;391;p64"/>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392" name="Google Shape;392;p64" title="Untitled2.png"/>
          <p:cNvPicPr preferRelativeResize="0"/>
          <p:nvPr/>
        </p:nvPicPr>
        <p:blipFill rotWithShape="1">
          <a:blip r:embed="rId3">
            <a:alphaModFix/>
          </a:blip>
          <a:srcRect b="0" l="0" r="0" t="4734"/>
          <a:stretch/>
        </p:blipFill>
        <p:spPr>
          <a:xfrm>
            <a:off x="197725" y="77600"/>
            <a:ext cx="8748549" cy="4688251"/>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65"/>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b="1" lang="ro" sz="1600">
                <a:solidFill>
                  <a:srgbClr val="000000"/>
                </a:solidFill>
                <a:latin typeface="Arial"/>
                <a:ea typeface="Arial"/>
                <a:cs typeface="Arial"/>
                <a:sym typeface="Arial"/>
              </a:rPr>
              <a:t>Suivi pendant le traitement</a:t>
            </a:r>
            <a:endParaRPr sz="3500"/>
          </a:p>
        </p:txBody>
      </p:sp>
      <p:sp>
        <p:nvSpPr>
          <p:cNvPr id="398" name="Google Shape;398;p65"/>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p>
            <a:pPr indent="-298450" lvl="0" marL="457200" rtl="0" algn="just">
              <a:lnSpc>
                <a:spcPct val="115000"/>
              </a:lnSpc>
              <a:spcBef>
                <a:spcPts val="1200"/>
              </a:spcBef>
              <a:spcAft>
                <a:spcPts val="0"/>
              </a:spcAft>
              <a:buClr>
                <a:srgbClr val="000000"/>
              </a:buClr>
              <a:buSzPts val="1100"/>
              <a:buFont typeface="Arial"/>
              <a:buChar char="●"/>
            </a:pPr>
            <a:r>
              <a:rPr lang="ro"/>
              <a:t>Des consultations régulières sont prévues pour surveiller l’état du patient et adapter le traitement si nécessaire.</a:t>
            </a:r>
            <a:endParaRPr/>
          </a:p>
          <a:p>
            <a:pPr indent="-298450" lvl="0" marL="457200" rtl="0" algn="just">
              <a:lnSpc>
                <a:spcPct val="115000"/>
              </a:lnSpc>
              <a:spcBef>
                <a:spcPts val="0"/>
              </a:spcBef>
              <a:spcAft>
                <a:spcPts val="0"/>
              </a:spcAft>
              <a:buClr>
                <a:srgbClr val="000000"/>
              </a:buClr>
              <a:buSzPts val="1100"/>
              <a:buFont typeface="Arial"/>
              <a:buChar char="●"/>
            </a:pPr>
            <a:r>
              <a:rPr lang="ro"/>
              <a:t>Prise en charge des </a:t>
            </a:r>
            <a:r>
              <a:rPr b="1" lang="ro"/>
              <a:t>effets secondaires</a:t>
            </a:r>
            <a:r>
              <a:rPr lang="ro"/>
              <a:t> éventuels (fatigue, irritations cutanées, troubles digestifs, etc.).</a:t>
            </a:r>
            <a:endParaRPr/>
          </a:p>
          <a:p>
            <a:pPr indent="0" lvl="0" marL="0" rtl="0" algn="just">
              <a:lnSpc>
                <a:spcPct val="115000"/>
              </a:lnSpc>
              <a:spcBef>
                <a:spcPts val="1200"/>
              </a:spcBef>
              <a:spcAft>
                <a:spcPts val="1200"/>
              </a:spcAft>
              <a:buSzPts val="1800"/>
              <a:buNone/>
            </a:pPr>
            <a:r>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6"/>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b="1" lang="ro" sz="1800">
                <a:solidFill>
                  <a:srgbClr val="000000"/>
                </a:solidFill>
                <a:latin typeface="Arial"/>
                <a:ea typeface="Arial"/>
                <a:cs typeface="Arial"/>
                <a:sym typeface="Arial"/>
              </a:rPr>
              <a:t>Fin du traitement et suivi post-radiothérapie</a:t>
            </a:r>
            <a:endParaRPr sz="3700"/>
          </a:p>
        </p:txBody>
      </p:sp>
      <p:sp>
        <p:nvSpPr>
          <p:cNvPr id="404" name="Google Shape;404;p66"/>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p>
            <a:pPr indent="-330200" lvl="0" marL="457200" rtl="0" algn="just">
              <a:lnSpc>
                <a:spcPct val="115000"/>
              </a:lnSpc>
              <a:spcBef>
                <a:spcPts val="1200"/>
              </a:spcBef>
              <a:spcAft>
                <a:spcPts val="0"/>
              </a:spcAft>
              <a:buClr>
                <a:srgbClr val="000000"/>
              </a:buClr>
              <a:buSzPts val="1600"/>
              <a:buFont typeface="Arial"/>
              <a:buChar char="●"/>
            </a:pPr>
            <a:r>
              <a:rPr lang="ro" sz="1600">
                <a:solidFill>
                  <a:srgbClr val="000000"/>
                </a:solidFill>
                <a:latin typeface="Arial"/>
                <a:ea typeface="Arial"/>
                <a:cs typeface="Arial"/>
                <a:sym typeface="Arial"/>
              </a:rPr>
              <a:t>Bilan de fin de traitement avec le radiothérapeute.</a:t>
            </a:r>
            <a:endParaRPr sz="1600">
              <a:solidFill>
                <a:srgbClr val="000000"/>
              </a:solidFill>
              <a:latin typeface="Arial"/>
              <a:ea typeface="Arial"/>
              <a:cs typeface="Arial"/>
              <a:sym typeface="Arial"/>
            </a:endParaRPr>
          </a:p>
          <a:p>
            <a:pPr indent="-330200" lvl="0" marL="457200" rtl="0" algn="just">
              <a:lnSpc>
                <a:spcPct val="115000"/>
              </a:lnSpc>
              <a:spcBef>
                <a:spcPts val="0"/>
              </a:spcBef>
              <a:spcAft>
                <a:spcPts val="0"/>
              </a:spcAft>
              <a:buClr>
                <a:srgbClr val="000000"/>
              </a:buClr>
              <a:buSzPts val="1600"/>
              <a:buFont typeface="Arial"/>
              <a:buChar char="●"/>
            </a:pPr>
            <a:r>
              <a:rPr lang="ro" sz="1600">
                <a:solidFill>
                  <a:srgbClr val="000000"/>
                </a:solidFill>
                <a:latin typeface="Arial"/>
                <a:ea typeface="Arial"/>
                <a:cs typeface="Arial"/>
                <a:sym typeface="Arial"/>
              </a:rPr>
              <a:t>Organisation d’un </a:t>
            </a:r>
            <a:r>
              <a:rPr b="1" lang="ro" sz="1600">
                <a:solidFill>
                  <a:srgbClr val="000000"/>
                </a:solidFill>
                <a:latin typeface="Arial"/>
                <a:ea typeface="Arial"/>
                <a:cs typeface="Arial"/>
                <a:sym typeface="Arial"/>
              </a:rPr>
              <a:t>suivi à long terme</a:t>
            </a:r>
            <a:r>
              <a:rPr lang="ro" sz="1600">
                <a:solidFill>
                  <a:srgbClr val="000000"/>
                </a:solidFill>
                <a:latin typeface="Arial"/>
                <a:ea typeface="Arial"/>
                <a:cs typeface="Arial"/>
                <a:sym typeface="Arial"/>
              </a:rPr>
              <a:t> : consultations régulières pour surveiller l’efficacité du traitement, détecter d’éventuelles récidives et prendre en charge les séquelles tardives.</a:t>
            </a:r>
            <a:endParaRPr sz="1600">
              <a:solidFill>
                <a:srgbClr val="000000"/>
              </a:solidFill>
              <a:latin typeface="Arial"/>
              <a:ea typeface="Arial"/>
              <a:cs typeface="Arial"/>
              <a:sym typeface="Arial"/>
            </a:endParaRPr>
          </a:p>
          <a:p>
            <a:pPr indent="0" lvl="0" marL="0" rtl="0" algn="just">
              <a:lnSpc>
                <a:spcPct val="115000"/>
              </a:lnSpc>
              <a:spcBef>
                <a:spcPts val="1200"/>
              </a:spcBef>
              <a:spcAft>
                <a:spcPts val="1200"/>
              </a:spcAft>
              <a:buSzPts val="1800"/>
              <a:buNone/>
            </a:pPr>
            <a:r>
              <a:t/>
            </a:r>
            <a:endParaRPr sz="2300"/>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pic>
        <p:nvPicPr>
          <p:cNvPr id="409" name="Google Shape;409;p67" title="parcours-patients-radiotherapie.jpg"/>
          <p:cNvPicPr preferRelativeResize="0"/>
          <p:nvPr/>
        </p:nvPicPr>
        <p:blipFill rotWithShape="1">
          <a:blip r:embed="rId3">
            <a:alphaModFix/>
          </a:blip>
          <a:srcRect b="0" l="0" r="0" t="0"/>
          <a:stretch/>
        </p:blipFill>
        <p:spPr>
          <a:xfrm>
            <a:off x="700025" y="569100"/>
            <a:ext cx="7620000" cy="3248025"/>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pic>
        <p:nvPicPr>
          <p:cNvPr id="414" name="Google Shape;414;p68" title="FKb_CJHVEAATF8n.jpeg"/>
          <p:cNvPicPr preferRelativeResize="0"/>
          <p:nvPr/>
        </p:nvPicPr>
        <p:blipFill rotWithShape="1">
          <a:blip r:embed="rId3">
            <a:alphaModFix/>
          </a:blip>
          <a:srcRect b="0" l="0" r="0" t="11684"/>
          <a:stretch/>
        </p:blipFill>
        <p:spPr>
          <a:xfrm>
            <a:off x="1449375" y="277150"/>
            <a:ext cx="4171901" cy="427334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