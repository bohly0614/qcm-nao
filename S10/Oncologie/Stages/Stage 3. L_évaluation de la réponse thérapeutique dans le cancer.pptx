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33.png"/><Relationship Id="rId13" Type="http://schemas.openxmlformats.org/officeDocument/2006/relationships/image" Target="../media/image39.png"/><Relationship Id="rId1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7.png"/><Relationship Id="rId4" Type="http://schemas.openxmlformats.org/officeDocument/2006/relationships/image" Target="../media/image25.png"/><Relationship Id="rId9" Type="http://schemas.openxmlformats.org/officeDocument/2006/relationships/image" Target="../media/image34.png"/><Relationship Id="rId5" Type="http://schemas.openxmlformats.org/officeDocument/2006/relationships/image" Target="../media/image32.png"/><Relationship Id="rId6" Type="http://schemas.openxmlformats.org/officeDocument/2006/relationships/image" Target="../media/image28.png"/><Relationship Id="rId7" Type="http://schemas.openxmlformats.org/officeDocument/2006/relationships/image" Target="../media/image38.png"/><Relationship Id="rId8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0" y="1676400"/>
            <a:ext cx="914400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Évaluation de la réponse thérapeutique dans le cancer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6220" y="-228600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1" lang="en-US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900">
                <a:solidFill>
                  <a:srgbClr val="000000"/>
                </a:solidFill>
              </a:rPr>
              <a:t>Critères d'évaluation de la réponse thérapeutique</a:t>
            </a:r>
            <a:b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457200" y="1066800"/>
            <a:ext cx="81534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Afin d'optimiser le résultat thérapeutique, il est essentiel d'évaluer la réponse au traitement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Les critères utilisés pour évaluer la réponse sont: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Subjective - liée à la qualité de vie des patients (QdV)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Diminution de la douleur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Augmentation de l'appétit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Soulagement de symptômes spécifiques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Objective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Critères d'imagerie (RECIST)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Critères biochimiques (marqueurs tumoraux, autres tests de laboratoire)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Critères cliniques (évolution des critères neurologiques, ascite, etc.)</a:t>
            </a:r>
            <a:endParaRPr b="0" i="0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/>
          <p:nvPr/>
        </p:nvSpPr>
        <p:spPr>
          <a:xfrm>
            <a:off x="2819400" y="117693"/>
            <a:ext cx="4495800" cy="6740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esponse </a:t>
            </a:r>
            <a:endParaRPr b="0" i="0" sz="5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valuation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riteria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7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olid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umors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0" y="381000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25714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R</a:t>
            </a:r>
            <a:r>
              <a:rPr lang="en-US" sz="1300"/>
              <a:t>esponse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E</a:t>
            </a:r>
            <a:r>
              <a:rPr lang="en-US" sz="1300"/>
              <a:t>valuation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 sz="1300"/>
              <a:t>riteria</a:t>
            </a:r>
            <a:r>
              <a:rPr lang="en-US"/>
              <a:t>   </a:t>
            </a:r>
            <a:r>
              <a:rPr lang="en-US">
                <a:solidFill>
                  <a:srgbClr val="FF0000"/>
                </a:solidFill>
              </a:rPr>
              <a:t>I</a:t>
            </a:r>
            <a:r>
              <a:rPr lang="en-US" sz="1200"/>
              <a:t>n</a:t>
            </a:r>
            <a:r>
              <a:rPr lang="en-US"/>
              <a:t>      </a:t>
            </a:r>
            <a:r>
              <a:rPr lang="en-US">
                <a:solidFill>
                  <a:srgbClr val="FF0000"/>
                </a:solidFill>
              </a:rPr>
              <a:t>S</a:t>
            </a:r>
            <a:r>
              <a:rPr lang="en-US" sz="1200"/>
              <a:t>olid</a:t>
            </a:r>
            <a:r>
              <a:rPr lang="en-US"/>
              <a:t>    </a:t>
            </a:r>
            <a:r>
              <a:rPr lang="en-US">
                <a:solidFill>
                  <a:srgbClr val="FF0000"/>
                </a:solidFill>
              </a:rPr>
              <a:t>T</a:t>
            </a:r>
            <a:r>
              <a:rPr lang="en-US" sz="1200"/>
              <a:t>umours</a:t>
            </a:r>
            <a:br>
              <a:rPr lang="en-US" sz="1200"/>
            </a:br>
            <a:r>
              <a:rPr lang="en-US" sz="3500"/>
              <a:t>Critères d'évaluation de la réponse dans les tumeurs solides</a:t>
            </a:r>
            <a:endParaRPr sz="3500"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533400" y="2514600"/>
            <a:ext cx="84582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Le critère utilisé pour évaluer la réponse au traitement de la maladie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Il y a trois composants:</a:t>
            </a:r>
            <a:endParaRPr/>
          </a:p>
          <a:p>
            <a:pPr indent="-285750" lvl="1" marL="74295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Lésions cibles</a:t>
            </a:r>
            <a:endParaRPr/>
          </a:p>
          <a:p>
            <a:pPr indent="-285750" lvl="1" marL="74295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Lésions non cibles</a:t>
            </a:r>
            <a:endParaRPr/>
          </a:p>
          <a:p>
            <a:pPr indent="-285750" lvl="1" marL="74295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Nouvelles lésions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0" y="2746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Calibri"/>
              <a:buNone/>
            </a:pPr>
            <a:r>
              <a:rPr b="1" lang="en-US" sz="3500">
                <a:solidFill>
                  <a:srgbClr val="000000"/>
                </a:solidFill>
              </a:rPr>
              <a:t>Lésions cibles</a:t>
            </a:r>
            <a:endParaRPr b="1" i="0" sz="3500">
              <a:solidFill>
                <a:srgbClr val="000000"/>
              </a:solidFill>
            </a:endParaRPr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457200" y="2438400"/>
            <a:ext cx="8229600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Jusqu'à </a:t>
            </a:r>
            <a:r>
              <a:rPr b="1" lang="en-US" sz="1800">
                <a:solidFill>
                  <a:srgbClr val="000000"/>
                </a:solidFill>
              </a:rPr>
              <a:t>2</a:t>
            </a:r>
            <a:r>
              <a:rPr lang="en-US" sz="1800">
                <a:solidFill>
                  <a:srgbClr val="000000"/>
                </a:solidFill>
              </a:rPr>
              <a:t> lésions par organe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Jusqu'à </a:t>
            </a:r>
            <a:r>
              <a:rPr b="1" lang="en-US" sz="1800">
                <a:solidFill>
                  <a:srgbClr val="000000"/>
                </a:solidFill>
              </a:rPr>
              <a:t>5</a:t>
            </a:r>
            <a:r>
              <a:rPr lang="en-US" sz="1800">
                <a:solidFill>
                  <a:srgbClr val="000000"/>
                </a:solidFill>
              </a:rPr>
              <a:t>  lésions au total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lang="en-US" sz="1800">
                <a:solidFill>
                  <a:srgbClr val="000000"/>
                </a:solidFill>
              </a:rPr>
              <a:t>Lésions non nodulaires</a:t>
            </a:r>
            <a:r>
              <a:rPr lang="en-US" sz="1800">
                <a:solidFill>
                  <a:srgbClr val="000000"/>
                </a:solidFill>
              </a:rPr>
              <a:t> (grand axe &gt; 10 mm)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lang="en-US" sz="1800">
                <a:solidFill>
                  <a:srgbClr val="000000"/>
                </a:solidFill>
              </a:rPr>
              <a:t>Ganglions lymphatiques</a:t>
            </a:r>
            <a:r>
              <a:rPr lang="en-US" sz="1800">
                <a:solidFill>
                  <a:srgbClr val="000000"/>
                </a:solidFill>
              </a:rPr>
              <a:t> (petit axe &gt; 15 mm)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lang="en-US" sz="1800">
                <a:solidFill>
                  <a:srgbClr val="000000"/>
                </a:solidFill>
              </a:rPr>
              <a:t>Lésions osseuses</a:t>
            </a:r>
            <a:r>
              <a:rPr lang="en-US" sz="1800">
                <a:solidFill>
                  <a:srgbClr val="000000"/>
                </a:solidFill>
              </a:rPr>
              <a:t> avec une composante lithique et une masse de tissus mous mesurable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0" y="457200"/>
            <a:ext cx="9144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Calibri"/>
              <a:buNone/>
            </a:pPr>
            <a:r>
              <a:rPr b="1" lang="en-US" sz="3500">
                <a:solidFill>
                  <a:srgbClr val="000000"/>
                </a:solidFill>
              </a:rPr>
              <a:t>Exemple de lésions cibles non nodulaires</a:t>
            </a:r>
            <a:endParaRPr b="1" sz="3500">
              <a:solidFill>
                <a:srgbClr val="FF0000"/>
              </a:solidFill>
            </a:endParaRPr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457200" y="2362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Mesuré axialement dans le grand axe.</a:t>
            </a:r>
            <a:endParaRPr sz="2000"/>
          </a:p>
        </p:txBody>
      </p:sp>
      <p:pic>
        <p:nvPicPr>
          <p:cNvPr descr="C:\Users\medic-ct\Desktop\1.png" id="119" name="Google Shape;11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0" y="3124200"/>
            <a:ext cx="4448175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3124200"/>
            <a:ext cx="3441462" cy="297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0" y="609600"/>
            <a:ext cx="9144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br>
              <a:rPr b="1" lang="en-US" sz="3200"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latin typeface="Arial"/>
                <a:ea typeface="Arial"/>
                <a:cs typeface="Arial"/>
                <a:sym typeface="Arial"/>
              </a:rPr>
            </a:br>
            <a:r>
              <a:rPr b="1" lang="en-US" sz="3500">
                <a:solidFill>
                  <a:srgbClr val="000000"/>
                </a:solidFill>
              </a:rPr>
              <a:t>Exemple </a:t>
            </a:r>
            <a:br>
              <a:rPr b="1" lang="en-US" sz="3500">
                <a:solidFill>
                  <a:srgbClr val="000000"/>
                </a:solidFill>
              </a:rPr>
            </a:br>
            <a:r>
              <a:rPr b="1" lang="en-US" sz="3500">
                <a:solidFill>
                  <a:srgbClr val="000000"/>
                </a:solidFill>
              </a:rPr>
              <a:t>Les caractéristiques des ganglions lymphatiques</a:t>
            </a:r>
            <a:b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>
                <a:solidFill>
                  <a:srgbClr val="FF0000"/>
                </a:solidFill>
              </a:rPr>
            </a:br>
            <a:br>
              <a:rPr b="1" lang="en-US">
                <a:latin typeface="Arial"/>
                <a:ea typeface="Arial"/>
                <a:cs typeface="Arial"/>
                <a:sym typeface="Arial"/>
              </a:rPr>
            </a:b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0" y="1752600"/>
            <a:ext cx="9144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7200"/>
              <a:t>&gt; 15 mm - lésions cibles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7200"/>
              <a:t>10-15 mm - lésions non cibles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7200"/>
              <a:t>&lt;10 mm - normal</a:t>
            </a:r>
            <a:endParaRPr/>
          </a:p>
          <a:p>
            <a:pPr indent="0" lvl="0" marL="0" rtl="0" algn="ctr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medic-ct\Desktop\1.png" id="127" name="Google Shape;12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429000"/>
            <a:ext cx="3379558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medic-ct\Desktop\1.png" id="128" name="Google Shape;12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6800" y="3429000"/>
            <a:ext cx="3276600" cy="3087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0" y="304800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b="1" lang="en-US" sz="3500"/>
              <a:t>Lésions non cibles</a:t>
            </a:r>
            <a:endParaRPr b="1" sz="3500"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304800" y="1600200"/>
            <a:ext cx="8153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Toutes les autres lésions doivent être identifiées comme des lésions non cibles et doivent également être enregistrées depuis le début (ligne de base).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exemples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ascite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pleurésie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métastases osseuses et lésions leptoméningées</a:t>
            </a:r>
            <a:endParaRPr sz="1800"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lymphangite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petites lésions (&lt;10 mm)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lésions préalablement irradiées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Aucune mesure de ces lésions n'est requise, mais la présence ou l'absence de chacune doit être notée lors de la surveillance.</a:t>
            </a:r>
            <a:endParaRPr/>
          </a:p>
          <a:p>
            <a:pPr indent="-2286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0" y="533400"/>
            <a:ext cx="9144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 de lésions non cibles</a:t>
            </a:r>
            <a:b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medic-ct\Desktop\1.png" id="140" name="Google Shape;14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2895600"/>
            <a:ext cx="3733800" cy="27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895600"/>
            <a:ext cx="3699785" cy="271615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/>
        </p:nvSpPr>
        <p:spPr>
          <a:xfrm>
            <a:off x="1524000" y="5791200"/>
            <a:ext cx="1600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Nodule 9 mm </a:t>
            </a:r>
            <a:endParaRPr/>
          </a:p>
        </p:txBody>
      </p:sp>
      <p:sp>
        <p:nvSpPr>
          <p:cNvPr id="143" name="Google Shape;143;p21"/>
          <p:cNvSpPr txBox="1"/>
          <p:nvPr/>
        </p:nvSpPr>
        <p:spPr>
          <a:xfrm>
            <a:off x="5486400" y="5791200"/>
            <a:ext cx="25146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Nodules entre 10 et 15 mm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0" y="4572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br>
              <a:rPr b="1" lang="en-US">
                <a:latin typeface="Arial"/>
                <a:ea typeface="Arial"/>
                <a:cs typeface="Arial"/>
                <a:sym typeface="Arial"/>
              </a:rPr>
            </a:br>
            <a:r>
              <a:rPr b="1" lang="en-US" sz="3900">
                <a:solidFill>
                  <a:srgbClr val="000000"/>
                </a:solidFill>
              </a:rPr>
              <a:t>Méthodes d'évaluation</a:t>
            </a:r>
            <a:b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>
                <a:latin typeface="Arial"/>
                <a:ea typeface="Arial"/>
                <a:cs typeface="Arial"/>
                <a:sym typeface="Arial"/>
              </a:rPr>
            </a:b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36226" y="5906058"/>
            <a:ext cx="930066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-US" sz="2100">
                <a:solidFill>
                  <a:srgbClr val="000000"/>
                </a:solidFill>
              </a:rPr>
              <a:t>Il est important d'utiliser la même méthode d'imagerie pour un suivi correct des lésions!</a:t>
            </a:r>
            <a:endParaRPr/>
          </a:p>
          <a:p>
            <a:pPr indent="0" lvl="0" marL="0" rtl="0" algn="ctr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828800"/>
            <a:ext cx="7078063" cy="4001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0" y="4572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Calibri"/>
              <a:buNone/>
            </a:pPr>
            <a:r>
              <a:rPr b="1" lang="en-US" sz="3500">
                <a:solidFill>
                  <a:srgbClr val="000000"/>
                </a:solidFill>
              </a:rPr>
              <a:t>Suivi des blessures</a:t>
            </a:r>
            <a:endParaRPr b="1" sz="3500"/>
          </a:p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0" y="1905000"/>
            <a:ext cx="91440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Rassemblez les mesures des lésions cibles dès le début (ligne de base) ainsi que dans le suivi pour obtenir </a:t>
            </a:r>
            <a:r>
              <a:rPr b="1" lang="en-US" sz="1800"/>
              <a:t>la somme des plus grands diamètres (SPD).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Calculez le% avec lequel changer la SPD depuis le début (ligne de base) ou depuis le nadir.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Il détermine la réponse à la thérapie.</a:t>
            </a:r>
            <a:endParaRPr b="1" sz="1800"/>
          </a:p>
        </p:txBody>
      </p:sp>
      <p:pic>
        <p:nvPicPr>
          <p:cNvPr descr="C:\Users\Alina Istrate\Desktop\Untitled.png" id="158" name="Google Shape;15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4114800"/>
            <a:ext cx="4972050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0" y="304800"/>
            <a:ext cx="9144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Calibri"/>
              <a:buNone/>
            </a:pPr>
            <a:r>
              <a:rPr b="1" lang="en-US" sz="3500">
                <a:solidFill>
                  <a:srgbClr val="000000"/>
                </a:solidFill>
              </a:rPr>
              <a:t>Réponse complète (CR)</a:t>
            </a:r>
            <a:br>
              <a:rPr b="1" lang="en-US" sz="3500">
                <a:solidFill>
                  <a:srgbClr val="000000"/>
                </a:solidFill>
              </a:rPr>
            </a:br>
            <a:endParaRPr b="1" sz="3500"/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2133600" y="5791200"/>
            <a:ext cx="5105400" cy="906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La somme des diamètres les plus longs = 0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133600"/>
            <a:ext cx="6444726" cy="3534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0" y="1524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Calibri"/>
              <a:buNone/>
            </a:pPr>
            <a:r>
              <a:rPr b="1" lang="en-US" sz="3500">
                <a:solidFill>
                  <a:srgbClr val="000000"/>
                </a:solidFill>
              </a:rPr>
              <a:t>Exemple de réponse complète (CR)</a:t>
            </a:r>
            <a:br>
              <a:rPr b="1" lang="en-US" sz="3500">
                <a:solidFill>
                  <a:srgbClr val="000000"/>
                </a:solidFill>
              </a:rPr>
            </a:br>
            <a:endParaRPr sz="3500"/>
          </a:p>
        </p:txBody>
      </p:sp>
      <p:pic>
        <p:nvPicPr>
          <p:cNvPr id="171" name="Google Shape;171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1142" r="-1" t="0"/>
          <a:stretch/>
        </p:blipFill>
        <p:spPr>
          <a:xfrm>
            <a:off x="381000" y="2667000"/>
            <a:ext cx="3851855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0" y="2667000"/>
            <a:ext cx="3725991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5"/>
          <p:cNvSpPr/>
          <p:nvPr/>
        </p:nvSpPr>
        <p:spPr>
          <a:xfrm>
            <a:off x="4343400" y="3886200"/>
            <a:ext cx="53340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990600" y="5867400"/>
            <a:ext cx="2590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Ligne de base (Baseline)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4876800" y="5867399"/>
            <a:ext cx="3802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Suivre (Follow-up)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type="title"/>
          </p:nvPr>
        </p:nvSpPr>
        <p:spPr>
          <a:xfrm>
            <a:off x="0" y="304800"/>
            <a:ext cx="9144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Calibri"/>
              <a:buNone/>
            </a:pPr>
            <a:r>
              <a:rPr b="1" lang="en-US" sz="3900"/>
              <a:t>Réponse partielle (RP)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981200"/>
            <a:ext cx="6339008" cy="3853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0" y="3810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b="1" lang="en-US" sz="3500"/>
              <a:t>Exemple de réponse partielle (PR)</a:t>
            </a:r>
            <a:endParaRPr b="1" sz="3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51628" t="0"/>
          <a:stretch/>
        </p:blipFill>
        <p:spPr>
          <a:xfrm>
            <a:off x="1905000" y="1828800"/>
            <a:ext cx="2895600" cy="2033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1600" y="1828800"/>
            <a:ext cx="3018817" cy="2033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05001" y="4114800"/>
            <a:ext cx="2895600" cy="2042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81600" y="4114801"/>
            <a:ext cx="30480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76400" y="6324600"/>
            <a:ext cx="6776936" cy="377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7"/>
          <p:cNvSpPr txBox="1"/>
          <p:nvPr/>
        </p:nvSpPr>
        <p:spPr>
          <a:xfrm>
            <a:off x="79948" y="2559279"/>
            <a:ext cx="17526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Ligne de base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(Baseline)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SOD = 10 cm</a:t>
            </a:r>
            <a:endParaRPr/>
          </a:p>
        </p:txBody>
      </p:sp>
      <p:sp>
        <p:nvSpPr>
          <p:cNvPr id="193" name="Google Shape;193;p27"/>
          <p:cNvSpPr txBox="1"/>
          <p:nvPr/>
        </p:nvSpPr>
        <p:spPr>
          <a:xfrm>
            <a:off x="152400" y="4800600"/>
            <a:ext cx="16002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Suivre (Follow-up)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SOD = 6 cm</a:t>
            </a:r>
            <a:endParaRPr/>
          </a:p>
        </p:txBody>
      </p:sp>
      <p:sp>
        <p:nvSpPr>
          <p:cNvPr id="194" name="Google Shape;194;p27"/>
          <p:cNvSpPr/>
          <p:nvPr/>
        </p:nvSpPr>
        <p:spPr>
          <a:xfrm>
            <a:off x="3048000" y="3886200"/>
            <a:ext cx="685800" cy="152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6324600" y="3886200"/>
            <a:ext cx="685800" cy="152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type="title"/>
          </p:nvPr>
        </p:nvSpPr>
        <p:spPr>
          <a:xfrm>
            <a:off x="0" y="381000"/>
            <a:ext cx="9144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900"/>
              <a:t>Maladie progressive (MP)</a:t>
            </a:r>
            <a:br>
              <a:rPr b="1" lang="en-US"/>
            </a:b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8"/>
          <p:cNvSpPr txBox="1"/>
          <p:nvPr>
            <p:ph idx="1" type="body"/>
          </p:nvPr>
        </p:nvSpPr>
        <p:spPr>
          <a:xfrm>
            <a:off x="0" y="601980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Par rapport à la plus petite somme des diamètres les plus longs ( SOD ), jamais mesuré</a:t>
            </a:r>
            <a:endParaRPr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2057400"/>
            <a:ext cx="5796314" cy="3582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>
            <p:ph type="title"/>
          </p:nvPr>
        </p:nvSpPr>
        <p:spPr>
          <a:xfrm>
            <a:off x="0" y="2746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b="1" lang="en-US" sz="3500"/>
              <a:t>Exemple de maladie progressive (MP)</a:t>
            </a:r>
            <a:endParaRPr b="1" sz="3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981200"/>
            <a:ext cx="8686800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9"/>
          <p:cNvSpPr/>
          <p:nvPr/>
        </p:nvSpPr>
        <p:spPr>
          <a:xfrm>
            <a:off x="4191000" y="2286000"/>
            <a:ext cx="838200" cy="53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9"/>
          <p:cNvSpPr/>
          <p:nvPr/>
        </p:nvSpPr>
        <p:spPr>
          <a:xfrm>
            <a:off x="533400" y="3400197"/>
            <a:ext cx="1676400" cy="1857603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7471" y="2819400"/>
            <a:ext cx="1700213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9"/>
          <p:cNvSpPr/>
          <p:nvPr/>
        </p:nvSpPr>
        <p:spPr>
          <a:xfrm>
            <a:off x="1181100" y="6444734"/>
            <a:ext cx="6781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Certaines maladies évolutives - 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Nouvelles métastases hépatiques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2133600"/>
            <a:ext cx="2668563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0"/>
          <p:cNvSpPr/>
          <p:nvPr/>
        </p:nvSpPr>
        <p:spPr>
          <a:xfrm>
            <a:off x="3962400" y="3124200"/>
            <a:ext cx="68580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2133600"/>
            <a:ext cx="2791792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0"/>
          <p:cNvSpPr txBox="1"/>
          <p:nvPr>
            <p:ph type="title"/>
          </p:nvPr>
        </p:nvSpPr>
        <p:spPr>
          <a:xfrm>
            <a:off x="0" y="2746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Exemple de maladie progressive (MP)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0"/>
          <p:cNvSpPr txBox="1"/>
          <p:nvPr/>
        </p:nvSpPr>
        <p:spPr>
          <a:xfrm>
            <a:off x="7391400" y="5715000"/>
            <a:ext cx="169545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Nouvelle blessure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0"/>
          <p:cNvSpPr txBox="1"/>
          <p:nvPr/>
        </p:nvSpPr>
        <p:spPr>
          <a:xfrm>
            <a:off x="1447800" y="4648200"/>
            <a:ext cx="228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Ligne de base (Baseline)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/>
          <p:nvPr/>
        </p:nvSpPr>
        <p:spPr>
          <a:xfrm>
            <a:off x="4343400" y="3657600"/>
            <a:ext cx="45720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514600"/>
            <a:ext cx="401951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6800" y="2514600"/>
            <a:ext cx="4038599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1"/>
          <p:cNvSpPr txBox="1"/>
          <p:nvPr/>
        </p:nvSpPr>
        <p:spPr>
          <a:xfrm>
            <a:off x="457200" y="5562600"/>
            <a:ext cx="2438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Ligne de base (Baseline)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1"/>
          <p:cNvSpPr txBox="1"/>
          <p:nvPr/>
        </p:nvSpPr>
        <p:spPr>
          <a:xfrm>
            <a:off x="5715000" y="5638800"/>
            <a:ext cx="2514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˃ 20% ↑ en SPD</a:t>
            </a:r>
            <a:endParaRPr/>
          </a:p>
        </p:txBody>
      </p:sp>
      <p:sp>
        <p:nvSpPr>
          <p:cNvPr id="234" name="Google Shape;234;p31"/>
          <p:cNvSpPr txBox="1"/>
          <p:nvPr>
            <p:ph type="title"/>
          </p:nvPr>
        </p:nvSpPr>
        <p:spPr>
          <a:xfrm>
            <a:off x="0" y="4572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b="1" lang="en-US" sz="3500"/>
              <a:t>Exemple de maladie progressive (MP)</a:t>
            </a:r>
            <a:br>
              <a:rPr b="1" lang="en-US" sz="3500"/>
            </a:br>
            <a:endParaRPr b="1" sz="3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"/>
          <p:cNvSpPr txBox="1"/>
          <p:nvPr>
            <p:ph type="title"/>
          </p:nvPr>
        </p:nvSpPr>
        <p:spPr>
          <a:xfrm>
            <a:off x="0" y="2746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Maladie stable (SD)</a:t>
            </a:r>
            <a:br>
              <a:rPr b="1" lang="en-US"/>
            </a:b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7890" y="1413519"/>
            <a:ext cx="6708220" cy="394369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2"/>
          <p:cNvSpPr/>
          <p:nvPr/>
        </p:nvSpPr>
        <p:spPr>
          <a:xfrm>
            <a:off x="457200" y="5357218"/>
            <a:ext cx="8229600" cy="1122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Rétrécissement de la tumeur insuffisant pour quantifier une 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réponse partielle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,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mais pas d'augmentation suffisante pour le placer dans la 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maladie progressive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/>
          <p:nvPr>
            <p:ph type="title"/>
          </p:nvPr>
        </p:nvSpPr>
        <p:spPr>
          <a:xfrm>
            <a:off x="0" y="152400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b="1" lang="en-US" sz="3500"/>
              <a:t>Exemple de maladie stable (SD)</a:t>
            </a:r>
            <a:br>
              <a:rPr b="1" lang="en-US"/>
            </a:b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399" y="2819400"/>
            <a:ext cx="2903371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4200" y="2819400"/>
            <a:ext cx="29718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2199" y="2819401"/>
            <a:ext cx="2873235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3"/>
          <p:cNvSpPr txBox="1"/>
          <p:nvPr/>
        </p:nvSpPr>
        <p:spPr>
          <a:xfrm>
            <a:off x="3124200" y="5562600"/>
            <a:ext cx="29718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Suivi (Follow up 1)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SPD = 88 mm</a:t>
            </a:r>
            <a:endParaRPr/>
          </a:p>
        </p:txBody>
      </p:sp>
      <p:sp>
        <p:nvSpPr>
          <p:cNvPr id="251" name="Google Shape;251;p33"/>
          <p:cNvSpPr txBox="1"/>
          <p:nvPr/>
        </p:nvSpPr>
        <p:spPr>
          <a:xfrm>
            <a:off x="533400" y="5562600"/>
            <a:ext cx="19812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Ligne de base (Baseline)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SPD = 75 mm</a:t>
            </a:r>
            <a:endParaRPr/>
          </a:p>
        </p:txBody>
      </p:sp>
      <p:sp>
        <p:nvSpPr>
          <p:cNvPr id="252" name="Google Shape;252;p33"/>
          <p:cNvSpPr txBox="1"/>
          <p:nvPr/>
        </p:nvSpPr>
        <p:spPr>
          <a:xfrm>
            <a:off x="6487886" y="5562600"/>
            <a:ext cx="2667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Suivi (Follow up 2)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SPD = 65 mm</a:t>
            </a:r>
            <a:endParaRPr/>
          </a:p>
        </p:txBody>
      </p:sp>
      <p:sp>
        <p:nvSpPr>
          <p:cNvPr id="253" name="Google Shape;253;p33"/>
          <p:cNvSpPr/>
          <p:nvPr/>
        </p:nvSpPr>
        <p:spPr>
          <a:xfrm>
            <a:off x="2514600" y="2209800"/>
            <a:ext cx="1219200" cy="4572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3"/>
          <p:cNvSpPr/>
          <p:nvPr/>
        </p:nvSpPr>
        <p:spPr>
          <a:xfrm>
            <a:off x="5562600" y="2209800"/>
            <a:ext cx="1219200" cy="4572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/>
          <p:nvPr>
            <p:ph type="title"/>
          </p:nvPr>
        </p:nvSpPr>
        <p:spPr>
          <a:xfrm>
            <a:off x="-16239" y="4572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Calibri"/>
              <a:buNone/>
            </a:pPr>
            <a:r>
              <a:rPr b="1" lang="en-US" sz="3900"/>
              <a:t>Avantages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4"/>
          <p:cNvSpPr txBox="1"/>
          <p:nvPr>
            <p:ph idx="1" type="body"/>
          </p:nvPr>
        </p:nvSpPr>
        <p:spPr>
          <a:xfrm>
            <a:off x="685800" y="2362200"/>
            <a:ext cx="8001000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2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Critère standard dans les essais cliniques</a:t>
            </a:r>
            <a:endParaRPr/>
          </a:p>
          <a:p>
            <a:pPr indent="-342900" lvl="0" marL="342900" rtl="0" algn="l">
              <a:lnSpc>
                <a:spcPct val="2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Facile et rapide à reproduire</a:t>
            </a:r>
            <a:endParaRPr sz="1800">
              <a:solidFill>
                <a:srgbClr val="000000"/>
              </a:solidFill>
            </a:endParaRPr>
          </a:p>
          <a:p>
            <a:pPr indent="-342900" lvl="0" marL="342900" rtl="0" algn="l">
              <a:lnSpc>
                <a:spcPct val="2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Propagation généralement valide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/>
          <p:nvPr>
            <p:ph type="title"/>
          </p:nvPr>
        </p:nvSpPr>
        <p:spPr>
          <a:xfrm>
            <a:off x="0" y="2746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Calibri"/>
              <a:buNone/>
            </a:pPr>
            <a:r>
              <a:rPr b="1" lang="en-US" sz="3900"/>
              <a:t>Limitation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5"/>
          <p:cNvSpPr txBox="1"/>
          <p:nvPr>
            <p:ph idx="1" type="body"/>
          </p:nvPr>
        </p:nvSpPr>
        <p:spPr>
          <a:xfrm>
            <a:off x="457200" y="2209800"/>
            <a:ext cx="8229600" cy="3916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Il doit être soigneusement analysé</a:t>
            </a:r>
            <a:endParaRPr/>
          </a:p>
          <a:p>
            <a:pPr indent="-342900" lvl="0" marL="342900" rtl="0" algn="l">
              <a:lnSpc>
                <a:spcPct val="2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L'apparition de nouvelles lésions - PROGRESSION</a:t>
            </a:r>
            <a:endParaRPr/>
          </a:p>
          <a:p>
            <a:pPr indent="-342900" lvl="0" marL="342900" rtl="0" algn="l">
              <a:lnSpc>
                <a:spcPct val="2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i="1" lang="en-US" sz="1800"/>
              <a:t>Maladie progressive (MP</a:t>
            </a:r>
            <a:r>
              <a:rPr lang="en-US" sz="1800"/>
              <a:t> ) = changement de traitement</a:t>
            </a:r>
            <a:endParaRPr/>
          </a:p>
          <a:p>
            <a:pPr indent="-342900" lvl="0" marL="342900" rtl="0" algn="l">
              <a:lnSpc>
                <a:spcPct val="2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i="1" lang="en-US" sz="1800"/>
              <a:t>La maladie stable (DS)</a:t>
            </a:r>
            <a:r>
              <a:rPr lang="en-US" sz="1800"/>
              <a:t> n'est pas considérée comme une véritable activité antitumorale</a:t>
            </a:r>
            <a:endParaRPr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/>
          <p:cNvSpPr txBox="1"/>
          <p:nvPr>
            <p:ph type="title"/>
          </p:nvPr>
        </p:nvSpPr>
        <p:spPr>
          <a:xfrm>
            <a:off x="-8744" y="5334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b="1" lang="en-US" sz="3500"/>
              <a:t>Pseudoprogression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6"/>
          <p:cNvSpPr txBox="1"/>
          <p:nvPr>
            <p:ph idx="1" type="body"/>
          </p:nvPr>
        </p:nvSpPr>
        <p:spPr>
          <a:xfrm>
            <a:off x="457200" y="2438400"/>
            <a:ext cx="8001000" cy="4136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Un type particulier de réponse thérapeutique a été identifié chez les patients traités par immunothérapie.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Il est normalement considéré comme un échec thérapeutique si une augmentation de la tumeur est constatée après le traitement mais dans certains cas une augmentation de la tumeur a été observée suivie de sa régression chez les patients traités par immunothérapie</a:t>
            </a:r>
            <a:r>
              <a:rPr lang="en-US" sz="2400"/>
              <a:t>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lina Istrate\Desktop\Untitled.png" id="279" name="Google Shape;2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057400"/>
            <a:ext cx="7967824" cy="457081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7"/>
          <p:cNvSpPr txBox="1"/>
          <p:nvPr>
            <p:ph type="title"/>
          </p:nvPr>
        </p:nvSpPr>
        <p:spPr>
          <a:xfrm>
            <a:off x="0" y="6096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Pseudoprogression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447800"/>
            <a:ext cx="2646805" cy="2343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064" y="4184702"/>
            <a:ext cx="2667001" cy="2256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4660" y="1422400"/>
            <a:ext cx="2614191" cy="2392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09962" y="4184702"/>
            <a:ext cx="2633637" cy="2206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60277" y="1422401"/>
            <a:ext cx="2567588" cy="242356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8"/>
          <p:cNvSpPr/>
          <p:nvPr/>
        </p:nvSpPr>
        <p:spPr>
          <a:xfrm>
            <a:off x="2971800" y="5105400"/>
            <a:ext cx="228600" cy="32591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00800" y="4222750"/>
            <a:ext cx="2527066" cy="222353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8"/>
          <p:cNvSpPr/>
          <p:nvPr/>
        </p:nvSpPr>
        <p:spPr>
          <a:xfrm>
            <a:off x="914400" y="6476227"/>
            <a:ext cx="11833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5/11/2012</a:t>
            </a:r>
            <a:endParaRPr/>
          </a:p>
        </p:txBody>
      </p:sp>
      <p:sp>
        <p:nvSpPr>
          <p:cNvPr id="293" name="Google Shape;293;p38"/>
          <p:cNvSpPr/>
          <p:nvPr/>
        </p:nvSpPr>
        <p:spPr>
          <a:xfrm>
            <a:off x="4038600" y="6400800"/>
            <a:ext cx="11833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5/02/2013</a:t>
            </a:r>
            <a:endParaRPr/>
          </a:p>
        </p:txBody>
      </p:sp>
      <p:sp>
        <p:nvSpPr>
          <p:cNvPr id="294" name="Google Shape;294;p38"/>
          <p:cNvSpPr/>
          <p:nvPr/>
        </p:nvSpPr>
        <p:spPr>
          <a:xfrm>
            <a:off x="7162800" y="6474672"/>
            <a:ext cx="11833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5/03/2013</a:t>
            </a:r>
            <a:endParaRPr/>
          </a:p>
        </p:txBody>
      </p:sp>
      <p:pic>
        <p:nvPicPr>
          <p:cNvPr id="295" name="Google Shape;295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60747" y="1638300"/>
            <a:ext cx="598017" cy="662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00600" y="1524000"/>
            <a:ext cx="598017" cy="662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72400" y="1524000"/>
            <a:ext cx="571321" cy="556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74856" y="4495801"/>
            <a:ext cx="550027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72000" y="4335442"/>
            <a:ext cx="731644" cy="808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543800" y="4419600"/>
            <a:ext cx="581223" cy="6441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8"/>
          <p:cNvSpPr/>
          <p:nvPr/>
        </p:nvSpPr>
        <p:spPr>
          <a:xfrm>
            <a:off x="2971800" y="2514600"/>
            <a:ext cx="228600" cy="32591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8"/>
          <p:cNvSpPr/>
          <p:nvPr/>
        </p:nvSpPr>
        <p:spPr>
          <a:xfrm>
            <a:off x="6019800" y="5105400"/>
            <a:ext cx="228600" cy="32591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8"/>
          <p:cNvSpPr/>
          <p:nvPr/>
        </p:nvSpPr>
        <p:spPr>
          <a:xfrm>
            <a:off x="6019800" y="2514600"/>
            <a:ext cx="228600" cy="32591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None/>
            </a:pPr>
            <a:r>
              <a:rPr b="1" lang="en-US" sz="3900">
                <a:solidFill>
                  <a:srgbClr val="000000"/>
                </a:solidFill>
              </a:rPr>
              <a:t>Exemple de mélanome</a:t>
            </a:r>
            <a:b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Dépistage des cancers</a:t>
            </a:r>
            <a:endParaRPr/>
          </a:p>
        </p:txBody>
      </p:sp>
      <p:pic>
        <p:nvPicPr>
          <p:cNvPr id="310" name="Google Shape;310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03457"/>
            <a:ext cx="8229600" cy="271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Les principaux biais</a:t>
            </a:r>
            <a:endParaRPr/>
          </a:p>
        </p:txBody>
      </p:sp>
      <p:pic>
        <p:nvPicPr>
          <p:cNvPr id="316" name="Google Shape;316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632209"/>
            <a:ext cx="8229600" cy="2461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Biais</a:t>
            </a:r>
            <a:endParaRPr/>
          </a:p>
        </p:txBody>
      </p:sp>
      <p:pic>
        <p:nvPicPr>
          <p:cNvPr id="322" name="Google Shape;322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8152" y="450080"/>
            <a:ext cx="5239200" cy="623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Cancers dépistés</a:t>
            </a:r>
            <a:endParaRPr/>
          </a:p>
        </p:txBody>
      </p:sp>
      <p:sp>
        <p:nvSpPr>
          <p:cNvPr id="328" name="Google Shape;328;p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Cancer du </a:t>
            </a:r>
            <a:r>
              <a:rPr b="1" lang="en-US"/>
              <a:t>sein</a:t>
            </a:r>
            <a:r>
              <a:rPr lang="en-US"/>
              <a:t> </a:t>
            </a:r>
            <a:endParaRPr/>
          </a:p>
          <a:p>
            <a:pPr indent="-285750" lvl="1" marL="74295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Mammographie + exam. clinique </a:t>
            </a:r>
            <a:endParaRPr/>
          </a:p>
          <a:p>
            <a:pPr indent="-285750" lvl="1" marL="74295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50-74 ans tous les 2 ans</a:t>
            </a:r>
            <a:endParaRPr/>
          </a:p>
          <a:p>
            <a:pPr indent="-285750" lvl="1" marL="74295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(150 a 300 décès par cancer du sein sont évités pour 100 000 femmes participant)</a:t>
            </a:r>
            <a:endParaRPr/>
          </a:p>
          <a:p>
            <a:pPr indent="-24638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Cancer du côlon-rectum</a:t>
            </a:r>
            <a:endParaRPr/>
          </a:p>
          <a:p>
            <a:pPr indent="-285750" lvl="1" marL="74295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Recherche de sang occulte dans les selles (si positive 🡪 coloscopie totale </a:t>
            </a:r>
            <a:endParaRPr/>
          </a:p>
          <a:p>
            <a:pPr indent="-285750" lvl="1" marL="74295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50-74 ans tous les 2 ans</a:t>
            </a:r>
            <a:endParaRPr/>
          </a:p>
          <a:p>
            <a:pPr indent="-285750" lvl="1" marL="74295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Test immunologique&gt; Hémoccult II</a:t>
            </a:r>
            <a:endParaRPr/>
          </a:p>
          <a:p>
            <a:pPr indent="-201294" lvl="1" marL="74295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Cancer du col utérin</a:t>
            </a:r>
            <a:endParaRPr/>
          </a:p>
          <a:p>
            <a:pPr indent="-285750" lvl="1" marL="74295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25 - 29 ans</a:t>
            </a:r>
            <a:endParaRPr/>
          </a:p>
          <a:p>
            <a:pPr indent="-228600" lvl="2" marL="1143000" rtl="0" algn="l">
              <a:spcBef>
                <a:spcPts val="22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Un FCU tous les 3 ans aprés 2 FCU normaux à un an d’intervalle.</a:t>
            </a:r>
            <a:endParaRPr/>
          </a:p>
          <a:p>
            <a:pPr indent="-285750" lvl="1" marL="74295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30-65 ans</a:t>
            </a:r>
            <a:endParaRPr/>
          </a:p>
          <a:p>
            <a:pPr indent="-228600" lvl="2" marL="1143000" rtl="0" algn="l">
              <a:spcBef>
                <a:spcPts val="22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Le test HPV-HR est réalisé 3 ans après le dernier examen cytologique dont le résultat est normal. Un nouveau test est refait tous les 5 ans, jusqu’à l’âge de 65 ans, dès lors que le résultat du test est négatif.</a:t>
            </a:r>
            <a:endParaRPr/>
          </a:p>
          <a:p>
            <a:pPr indent="-201294" lvl="1" marL="74295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01294" lvl="1" marL="74295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Cancer de prostate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Cancer du poumon</a:t>
            </a:r>
            <a:endParaRPr/>
          </a:p>
        </p:txBody>
      </p:sp>
      <p:pic>
        <p:nvPicPr>
          <p:cNvPr id="329" name="Google Shape;32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3001535"/>
            <a:ext cx="7772400" cy="1723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