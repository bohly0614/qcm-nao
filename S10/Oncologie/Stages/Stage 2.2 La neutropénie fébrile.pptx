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embeddedFontLst>
    <p:embeddedFont>
      <p:font typeface="Garamond"/>
      <p:regular r:id="rId29"/>
      <p:bold r:id="rId30"/>
      <p:italic r:id="rId31"/>
      <p:boldItalic r:id="rId32"/>
    </p:embeddedFon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4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4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aramo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aramond-italic.fntdata"/><Relationship Id="rId30" Type="http://schemas.openxmlformats.org/officeDocument/2006/relationships/font" Target="fonts/Garamond-bold.fntdata"/><Relationship Id="rId11" Type="http://schemas.openxmlformats.org/officeDocument/2006/relationships/slide" Target="slides/slide5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32" Type="http://schemas.openxmlformats.org/officeDocument/2006/relationships/font" Target="fonts/Garamon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1" name="Google Shape;4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5" name="Google Shape;4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u și conținut" showMasterSp="0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zitiv titlu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tet secțiune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ă tipuri de conținut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ție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ar titlu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completat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ținut cu legendă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ine cu legendă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vertical și titlu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u vertical și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ținut" showMasterSp="0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274638"/>
            <a:ext cx="8229600" cy="585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AutoNum type="arabicPeriod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>
            <p:ph idx="2" type="pic"/>
          </p:nvPr>
        </p:nvSpPr>
        <p:spPr>
          <a:xfrm>
            <a:off x="685800" y="457200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19" name="Google Shape;119;p16"/>
          <p:cNvSpPr txBox="1"/>
          <p:nvPr>
            <p:ph type="ctrTitle"/>
          </p:nvPr>
        </p:nvSpPr>
        <p:spPr>
          <a:xfrm>
            <a:off x="1965960" y="4389120"/>
            <a:ext cx="6490654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1965958" y="5440680"/>
            <a:ext cx="4343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3" type="body"/>
          </p:nvPr>
        </p:nvSpPr>
        <p:spPr>
          <a:xfrm>
            <a:off x="0" y="914400"/>
            <a:ext cx="196596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sz="1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2" name="Google Shape;122;p16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23" name="Google Shape;123;p16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16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16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6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6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16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6"/>
            <p:cNvCxnSpPr/>
            <p:nvPr/>
          </p:nvCxnSpPr>
          <p:spPr>
            <a:xfrm>
              <a:off x="918972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16"/>
            <p:cNvCxnSpPr/>
            <p:nvPr/>
          </p:nvCxnSpPr>
          <p:spPr>
            <a:xfrm>
              <a:off x="-13716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16"/>
            <p:cNvCxnSpPr/>
            <p:nvPr/>
          </p:nvCxnSpPr>
          <p:spPr>
            <a:xfrm>
              <a:off x="918972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16"/>
            <p:cNvCxnSpPr/>
            <p:nvPr/>
          </p:nvCxnSpPr>
          <p:spPr>
            <a:xfrm>
              <a:off x="-13716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No Picture" showMasterSp="0">
  <p:cSld name="Title Slide - No Pictur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>
            <p:ph type="ctrTitle"/>
          </p:nvPr>
        </p:nvSpPr>
        <p:spPr>
          <a:xfrm>
            <a:off x="1965960" y="2331720"/>
            <a:ext cx="649065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1965960" y="4709161"/>
            <a:ext cx="6490654" cy="1324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2" type="body"/>
          </p:nvPr>
        </p:nvSpPr>
        <p:spPr>
          <a:xfrm>
            <a:off x="0" y="914400"/>
            <a:ext cx="196596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sz="1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sz="10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17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140" name="Google Shape;140;p17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7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17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7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17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17"/>
            <p:cNvCxnSpPr/>
            <p:nvPr/>
          </p:nvCxnSpPr>
          <p:spPr>
            <a:xfrm>
              <a:off x="918972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17"/>
            <p:cNvCxnSpPr/>
            <p:nvPr/>
          </p:nvCxnSpPr>
          <p:spPr>
            <a:xfrm>
              <a:off x="-137160" y="16916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17"/>
            <p:cNvCxnSpPr/>
            <p:nvPr/>
          </p:nvCxnSpPr>
          <p:spPr>
            <a:xfrm>
              <a:off x="918972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17"/>
            <p:cNvCxnSpPr/>
            <p:nvPr/>
          </p:nvCxnSpPr>
          <p:spPr>
            <a:xfrm>
              <a:off x="-137160" y="9144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576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8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68580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2" type="body"/>
          </p:nvPr>
        </p:nvSpPr>
        <p:spPr>
          <a:xfrm>
            <a:off x="466344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9" name="Google Shape;159;p19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1 Picture" showMasterSp="0">
  <p:cSld name="Title, Text and 1 Pictur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466344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" type="body"/>
          </p:nvPr>
        </p:nvSpPr>
        <p:spPr>
          <a:xfrm>
            <a:off x="68580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0"/>
          <p:cNvSpPr txBox="1"/>
          <p:nvPr>
            <p:ph idx="3" type="body"/>
          </p:nvPr>
        </p:nvSpPr>
        <p:spPr>
          <a:xfrm>
            <a:off x="4663440" y="1508761"/>
            <a:ext cx="3794760" cy="40233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1 Picture" showMasterSp="0">
  <p:cSld name="Title and 1 Pictur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2" type="body"/>
          </p:nvPr>
        </p:nvSpPr>
        <p:spPr>
          <a:xfrm>
            <a:off x="685800" y="5623561"/>
            <a:ext cx="777240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21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1"/>
          <p:cNvSpPr txBox="1"/>
          <p:nvPr>
            <p:ph idx="3" type="body"/>
          </p:nvPr>
        </p:nvSpPr>
        <p:spPr>
          <a:xfrm>
            <a:off x="685800" y="2057400"/>
            <a:ext cx="777240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Pictures" showMasterSp="0">
  <p:cSld name="Title and 2 Pictures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68580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66344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2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3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685800" y="2057400"/>
            <a:ext cx="379476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4663440" y="2057400"/>
            <a:ext cx="379476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Pictures" showMasterSp="0">
  <p:cSld name="Title and 3 Pictures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68580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3"/>
          <p:cNvSpPr txBox="1"/>
          <p:nvPr>
            <p:ph idx="2" type="body"/>
          </p:nvPr>
        </p:nvSpPr>
        <p:spPr>
          <a:xfrm>
            <a:off x="333756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23"/>
          <p:cNvSpPr txBox="1"/>
          <p:nvPr>
            <p:ph idx="3" type="body"/>
          </p:nvPr>
        </p:nvSpPr>
        <p:spPr>
          <a:xfrm>
            <a:off x="5989320" y="5623561"/>
            <a:ext cx="246888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23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4" type="body"/>
          </p:nvPr>
        </p:nvSpPr>
        <p:spPr>
          <a:xfrm>
            <a:off x="685800" y="1508761"/>
            <a:ext cx="7772400" cy="45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b="0" sz="24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sz="24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3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3"/>
          <p:cNvSpPr txBox="1"/>
          <p:nvPr>
            <p:ph idx="5" type="body"/>
          </p:nvPr>
        </p:nvSpPr>
        <p:spPr>
          <a:xfrm>
            <a:off x="68580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4" name="Google Shape;194;p23"/>
          <p:cNvSpPr txBox="1"/>
          <p:nvPr>
            <p:ph idx="6" type="body"/>
          </p:nvPr>
        </p:nvSpPr>
        <p:spPr>
          <a:xfrm>
            <a:off x="333756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5" name="Google Shape;195;p23"/>
          <p:cNvSpPr txBox="1"/>
          <p:nvPr>
            <p:ph idx="7" type="body"/>
          </p:nvPr>
        </p:nvSpPr>
        <p:spPr>
          <a:xfrm>
            <a:off x="5989320" y="2057400"/>
            <a:ext cx="2468880" cy="3474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nd Big Statement" showMasterSp="0">
  <p:cSld name="Picture and Big Statem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4663440" y="1508761"/>
            <a:ext cx="3794760" cy="4525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8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8" name="Google Shape;198;p24"/>
          <p:cNvSpPr txBox="1"/>
          <p:nvPr>
            <p:ph idx="2" type="body"/>
          </p:nvPr>
        </p:nvSpPr>
        <p:spPr>
          <a:xfrm>
            <a:off x="685800" y="5623561"/>
            <a:ext cx="3794760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  <a:defRPr b="1" sz="1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sz="1200"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4"/>
          <p:cNvSpPr txBox="1"/>
          <p:nvPr>
            <p:ph idx="3" type="body"/>
          </p:nvPr>
        </p:nvSpPr>
        <p:spPr>
          <a:xfrm>
            <a:off x="685800" y="1508761"/>
            <a:ext cx="3794760" cy="40233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2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>
            <p:ph type="ctrTitle"/>
          </p:nvPr>
        </p:nvSpPr>
        <p:spPr>
          <a:xfrm>
            <a:off x="1965960" y="4389120"/>
            <a:ext cx="6490654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" type="subTitle"/>
          </p:nvPr>
        </p:nvSpPr>
        <p:spPr>
          <a:xfrm>
            <a:off x="1965960" y="5440680"/>
            <a:ext cx="4343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07" name="Google Shape;207;p25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08" name="Google Shape;208;p25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25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25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25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25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25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4" name="Google Shape;214;p25"/>
          <p:cNvSpPr/>
          <p:nvPr>
            <p:ph idx="2" type="pic"/>
          </p:nvPr>
        </p:nvSpPr>
        <p:spPr>
          <a:xfrm>
            <a:off x="685800" y="455613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No Picture" showMasterSp="0">
  <p:cSld name="Section Header - No Picture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>
            <p:ph type="ctrTitle"/>
          </p:nvPr>
        </p:nvSpPr>
        <p:spPr>
          <a:xfrm>
            <a:off x="1965960" y="2331720"/>
            <a:ext cx="649065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6"/>
          <p:cNvSpPr txBox="1"/>
          <p:nvPr>
            <p:ph idx="1" type="subTitle"/>
          </p:nvPr>
        </p:nvSpPr>
        <p:spPr>
          <a:xfrm>
            <a:off x="1965960" y="4709161"/>
            <a:ext cx="6490654" cy="1324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None/>
              <a:defRPr b="1" sz="1600">
                <a:solidFill>
                  <a:srgbClr val="000000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20" name="Google Shape;220;p26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21" name="Google Shape;221;p26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6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6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26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6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7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1965959" y="4389120"/>
            <a:ext cx="6492241" cy="9601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you</a:t>
            </a:r>
            <a:endParaRPr sz="3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8" name="Google Shape;238;p29"/>
          <p:cNvSpPr/>
          <p:nvPr>
            <p:ph idx="2" type="pic"/>
          </p:nvPr>
        </p:nvSpPr>
        <p:spPr>
          <a:xfrm>
            <a:off x="685800" y="455613"/>
            <a:ext cx="7770813" cy="379476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grpSp>
        <p:nvGrpSpPr>
          <p:cNvPr id="239" name="Google Shape;239;p29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40" name="Google Shape;240;p29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9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9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29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9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9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- No Picture" showMasterSp="0">
  <p:cSld name="End Slide - No Pictur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" y="0"/>
            <a:ext cx="150875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1965959" y="2331720"/>
            <a:ext cx="6492241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r>
              <a:rPr lang="en-US" sz="3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you</a:t>
            </a:r>
            <a:endParaRPr sz="3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50" name="Google Shape;250;p30"/>
          <p:cNvGrpSpPr/>
          <p:nvPr/>
        </p:nvGrpSpPr>
        <p:grpSpPr>
          <a:xfrm>
            <a:off x="1508857" y="-137160"/>
            <a:ext cx="6949343" cy="7132320"/>
            <a:chOff x="1508857" y="-137160"/>
            <a:chExt cx="6949343" cy="7132320"/>
          </a:xfrm>
        </p:grpSpPr>
        <p:cxnSp>
          <p:nvCxnSpPr>
            <p:cNvPr id="251" name="Google Shape;251;p30"/>
            <p:cNvCxnSpPr/>
            <p:nvPr/>
          </p:nvCxnSpPr>
          <p:spPr>
            <a:xfrm rot="10800000">
              <a:off x="1508857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30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30"/>
            <p:cNvCxnSpPr/>
            <p:nvPr/>
          </p:nvCxnSpPr>
          <p:spPr>
            <a:xfrm rot="10800000">
              <a:off x="1508857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30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30"/>
            <p:cNvCxnSpPr/>
            <p:nvPr/>
          </p:nvCxnSpPr>
          <p:spPr>
            <a:xfrm rot="10800000">
              <a:off x="19659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30"/>
            <p:cNvCxnSpPr/>
            <p:nvPr/>
          </p:nvCxnSpPr>
          <p:spPr>
            <a:xfrm rot="10800000">
              <a:off x="19659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57" name="Google Shape;2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31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1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31"/>
          <p:cNvSpPr txBox="1"/>
          <p:nvPr>
            <p:ph idx="2" type="body"/>
          </p:nvPr>
        </p:nvSpPr>
        <p:spPr>
          <a:xfrm>
            <a:off x="685800" y="6102350"/>
            <a:ext cx="3886200" cy="298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  <a:defRPr sz="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ție" showMasterSp="0" type="twoTxTwoObj">
  <p:cSld name="TWO_OBJECTS_WITH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7" name="Google Shape;267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8" name="Google Shape;268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9" name="Google Shape;269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0" name="Google Shape;270;p3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2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2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685800" y="4572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0" i="0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685800" y="1508760"/>
            <a:ext cx="7772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148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4"/>
          <p:cNvSpPr txBox="1"/>
          <p:nvPr/>
        </p:nvSpPr>
        <p:spPr>
          <a:xfrm>
            <a:off x="685800" y="6350635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Business Unit/Franchise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-137160" y="-137160"/>
            <a:ext cx="9418320" cy="7132320"/>
            <a:chOff x="-137160" y="-137160"/>
            <a:chExt cx="9418320" cy="7132320"/>
          </a:xfrm>
        </p:grpSpPr>
        <p:cxnSp>
          <p:nvCxnSpPr>
            <p:cNvPr id="94" name="Google Shape;94;p14"/>
            <p:cNvCxnSpPr/>
            <p:nvPr/>
          </p:nvCxnSpPr>
          <p:spPr>
            <a:xfrm rot="10800000">
              <a:off x="6858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4"/>
            <p:cNvCxnSpPr/>
            <p:nvPr/>
          </p:nvCxnSpPr>
          <p:spPr>
            <a:xfrm rot="10800000">
              <a:off x="845820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14"/>
            <p:cNvCxnSpPr/>
            <p:nvPr/>
          </p:nvCxnSpPr>
          <p:spPr>
            <a:xfrm rot="10800000">
              <a:off x="6858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4"/>
            <p:cNvCxnSpPr/>
            <p:nvPr/>
          </p:nvCxnSpPr>
          <p:spPr>
            <a:xfrm rot="10800000">
              <a:off x="845820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 rot="10800000">
              <a:off x="448056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14"/>
            <p:cNvCxnSpPr/>
            <p:nvPr/>
          </p:nvCxnSpPr>
          <p:spPr>
            <a:xfrm rot="10800000">
              <a:off x="448056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14"/>
            <p:cNvCxnSpPr/>
            <p:nvPr/>
          </p:nvCxnSpPr>
          <p:spPr>
            <a:xfrm rot="10800000">
              <a:off x="4663440" y="-13716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14"/>
            <p:cNvCxnSpPr/>
            <p:nvPr/>
          </p:nvCxnSpPr>
          <p:spPr>
            <a:xfrm rot="10800000">
              <a:off x="4663440" y="6903720"/>
              <a:ext cx="0" cy="9144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14"/>
            <p:cNvCxnSpPr/>
            <p:nvPr/>
          </p:nvCxnSpPr>
          <p:spPr>
            <a:xfrm>
              <a:off x="9189720" y="150876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4"/>
            <p:cNvCxnSpPr/>
            <p:nvPr/>
          </p:nvCxnSpPr>
          <p:spPr>
            <a:xfrm>
              <a:off x="9189720" y="60350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-137160" y="150876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4"/>
            <p:cNvCxnSpPr/>
            <p:nvPr/>
          </p:nvCxnSpPr>
          <p:spPr>
            <a:xfrm>
              <a:off x="-137160" y="603504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4"/>
            <p:cNvCxnSpPr/>
            <p:nvPr/>
          </p:nvCxnSpPr>
          <p:spPr>
            <a:xfrm>
              <a:off x="9189720" y="4572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4"/>
            <p:cNvCxnSpPr/>
            <p:nvPr/>
          </p:nvCxnSpPr>
          <p:spPr>
            <a:xfrm>
              <a:off x="-137160" y="457200"/>
              <a:ext cx="91440" cy="0"/>
            </a:xfrm>
            <a:prstGeom prst="straightConnector1">
              <a:avLst/>
            </a:prstGeom>
            <a:noFill/>
            <a:ln cap="flat" cmpd="sng" w="9525">
              <a:solidFill>
                <a:srgbClr val="73737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685800" y="662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914400" y="66294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95160" y="6370767"/>
            <a:ext cx="1463040" cy="17748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927745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-8660375" y="616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 txBox="1"/>
          <p:nvPr/>
        </p:nvSpPr>
        <p:spPr>
          <a:xfrm>
            <a:off x="2286000" y="616719"/>
            <a:ext cx="45720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Globules blancs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4 500 à 11 000 cellules par microlitre (cellules/mcL), dont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Neutrophiles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2 000 (2 500) – 7 000 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Lymphocytes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1 000 – 4 800 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Globules rouges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4,5 - 5,9 millions de cellules/mcL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4,1 - 5,1 millions de cellules/mcL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Hémoglobine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14 - 17,5 g/dL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12,3 - 15,3 g/dL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Hématocrite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41,5% - 50,4% pour les hommes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35,9% - 44,6% pour les femmes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globulaire moyen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80 à 96 micromètres cubes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Plaquettes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150 000 à 450 000 plaquettes/mcL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Grades de neutropénie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2040556" y="1571368"/>
            <a:ext cx="7064944" cy="30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I.  :    2000 – 1500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II  :    1500 – 1000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III  :    1000 –  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 IV  :       &lt; 500 / mcL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5"/>
          <p:cNvGrpSpPr/>
          <p:nvPr/>
        </p:nvGrpSpPr>
        <p:grpSpPr>
          <a:xfrm>
            <a:off x="2591891" y="637887"/>
            <a:ext cx="3960217" cy="4469388"/>
            <a:chOff x="2134691" y="28287"/>
            <a:chExt cx="3960217" cy="4469388"/>
          </a:xfrm>
        </p:grpSpPr>
        <p:sp>
          <p:nvSpPr>
            <p:cNvPr id="293" name="Google Shape;293;p35"/>
            <p:cNvSpPr/>
            <p:nvPr/>
          </p:nvSpPr>
          <p:spPr>
            <a:xfrm>
              <a:off x="2284613" y="183867"/>
              <a:ext cx="3649057" cy="1267269"/>
            </a:xfrm>
            <a:prstGeom prst="ellipse">
              <a:avLst/>
            </a:prstGeom>
            <a:solidFill>
              <a:srgbClr val="E0F0F1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3761209" y="3286980"/>
              <a:ext cx="707181" cy="452596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D7ECE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2417563" y="3649057"/>
              <a:ext cx="3394472" cy="848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5"/>
            <p:cNvSpPr txBox="1"/>
            <p:nvPr/>
          </p:nvSpPr>
          <p:spPr>
            <a:xfrm>
              <a:off x="2417563" y="3649057"/>
              <a:ext cx="3394472" cy="848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Neutropénie fébrile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3611286" y="1549010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3797702" y="1735426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J8 post-chimio</a:t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2700436" y="594032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5"/>
            <p:cNvSpPr txBox="1"/>
            <p:nvPr/>
          </p:nvSpPr>
          <p:spPr>
            <a:xfrm>
              <a:off x="2886852" y="780448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Fièvre</a:t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4001650" y="286267"/>
              <a:ext cx="1272927" cy="1272927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 txBox="1"/>
            <p:nvPr/>
          </p:nvSpPr>
          <p:spPr>
            <a:xfrm>
              <a:off x="4188066" y="472683"/>
              <a:ext cx="900095" cy="90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PNN&lt;500</a:t>
              </a: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2134691" y="28287"/>
              <a:ext cx="3960217" cy="3168174"/>
            </a:xfrm>
            <a:custGeom>
              <a:rect b="b" l="l" r="r" t="t"/>
              <a:pathLst>
                <a:path extrusionOk="0" h="120000" w="120000">
                  <a:moveTo>
                    <a:pt x="584" y="34175"/>
                  </a:moveTo>
                  <a:cubicBezTo>
                    <a:pt x="-2679" y="22567"/>
                    <a:pt x="7879" y="11072"/>
                    <a:pt x="27615" y="4745"/>
                  </a:cubicBezTo>
                  <a:cubicBezTo>
                    <a:pt x="47351" y="-1582"/>
                    <a:pt x="72649" y="-1582"/>
                    <a:pt x="92385" y="4745"/>
                  </a:cubicBezTo>
                  <a:cubicBezTo>
                    <a:pt x="112121" y="11072"/>
                    <a:pt x="122679" y="22567"/>
                    <a:pt x="119416" y="34175"/>
                  </a:cubicBezTo>
                  <a:lnTo>
                    <a:pt x="74854" y="113544"/>
                  </a:lnTo>
                  <a:cubicBezTo>
                    <a:pt x="73813" y="117246"/>
                    <a:pt x="67478" y="120000"/>
                    <a:pt x="60000" y="120000"/>
                  </a:cubicBezTo>
                  <a:cubicBezTo>
                    <a:pt x="52522" y="120000"/>
                    <a:pt x="46187" y="117246"/>
                    <a:pt x="45146" y="113544"/>
                  </a:cubicBezTo>
                  <a:close/>
                  <a:moveTo>
                    <a:pt x="4800" y="30000"/>
                  </a:moveTo>
                  <a:cubicBezTo>
                    <a:pt x="4800" y="43255"/>
                    <a:pt x="29514" y="54000"/>
                    <a:pt x="60000" y="54000"/>
                  </a:cubicBezTo>
                  <a:cubicBezTo>
                    <a:pt x="90486" y="54000"/>
                    <a:pt x="115200" y="43255"/>
                    <a:pt x="115200" y="30000"/>
                  </a:cubicBezTo>
                  <a:cubicBezTo>
                    <a:pt x="115200" y="16745"/>
                    <a:pt x="90486" y="6000"/>
                    <a:pt x="60000" y="6000"/>
                  </a:cubicBezTo>
                  <a:cubicBezTo>
                    <a:pt x="29514" y="6000"/>
                    <a:pt x="4800" y="16745"/>
                    <a:pt x="4800" y="30000"/>
                  </a:cubicBez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Neutropénie fébrile</a:t>
            </a:r>
            <a:br>
              <a:rPr lang="en-US"/>
            </a:br>
            <a:endParaRPr b="1"/>
          </a:p>
        </p:txBody>
      </p:sp>
      <p:sp>
        <p:nvSpPr>
          <p:cNvPr id="309" name="Google Shape;309;p36"/>
          <p:cNvSpPr txBox="1"/>
          <p:nvPr>
            <p:ph idx="1" type="body"/>
          </p:nvPr>
        </p:nvSpPr>
        <p:spPr>
          <a:xfrm>
            <a:off x="482600" y="1104900"/>
            <a:ext cx="8610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Doit etre considérer une urgence:</a:t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Les études ont montré  une augmentation de taux de mortalité due à l’antibiothérapie  différée ; 60% en 24h en cas de bacteriemie Pseudomonas ae. Non-traitee</a:t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Représentant 75% de mortalité associé à chimiothérapie, avant   l’abordage   des antibiotiques ;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70C0"/>
                </a:solidFill>
              </a:rPr>
              <a:t>Definition</a:t>
            </a:r>
            <a:r>
              <a:rPr lang="en-US" sz="1800"/>
              <a:t>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Température oral &gt; </a:t>
            </a:r>
            <a:r>
              <a:rPr b="1" lang="en-US" sz="1800">
                <a:solidFill>
                  <a:srgbClr val="0070C0"/>
                </a:solidFill>
              </a:rPr>
              <a:t>38.5 C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Mesurer à </a:t>
            </a:r>
            <a:r>
              <a:rPr b="1" lang="en-US" sz="1800">
                <a:solidFill>
                  <a:srgbClr val="0070C0"/>
                </a:solidFill>
              </a:rPr>
              <a:t>deux reprise </a:t>
            </a:r>
            <a:r>
              <a:rPr b="1" lang="en-US" sz="1800"/>
              <a:t>consécutives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Duree de min.  </a:t>
            </a:r>
            <a:r>
              <a:rPr b="1" lang="en-US" sz="1800">
                <a:solidFill>
                  <a:srgbClr val="0070C0"/>
                </a:solidFill>
              </a:rPr>
              <a:t>2 h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/>
              <a:t>Valeur de neutrophiles  </a:t>
            </a:r>
            <a:r>
              <a:rPr b="1" lang="en-US" sz="1800">
                <a:solidFill>
                  <a:srgbClr val="0070C0"/>
                </a:solidFill>
              </a:rPr>
              <a:t>PPN &lt;500/ul</a:t>
            </a:r>
            <a:endParaRPr b="1" sz="18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aseline="30000" sz="1600"/>
          </a:p>
        </p:txBody>
      </p:sp>
      <p:sp>
        <p:nvSpPr>
          <p:cNvPr id="310" name="Google Shape;310;p36"/>
          <p:cNvSpPr/>
          <p:nvPr/>
        </p:nvSpPr>
        <p:spPr>
          <a:xfrm>
            <a:off x="304800" y="4267200"/>
            <a:ext cx="5715000" cy="23163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 txBox="1"/>
          <p:nvPr>
            <p:ph type="title"/>
          </p:nvPr>
        </p:nvSpPr>
        <p:spPr>
          <a:xfrm>
            <a:off x="4572000" y="6324600"/>
            <a:ext cx="50292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Pilly fr.</a:t>
            </a:r>
            <a:endParaRPr/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17" name="Google Shape;3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939" y="925513"/>
            <a:ext cx="7394121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La principale complication consiste en       </a:t>
            </a:r>
            <a:endParaRPr b="1" sz="3400">
              <a:solidFill>
                <a:srgbClr val="FF0000"/>
              </a:solidFill>
            </a:endParaRPr>
          </a:p>
        </p:txBody>
      </p:sp>
      <p:sp>
        <p:nvSpPr>
          <p:cNvPr id="323" name="Google Shape;323;p38"/>
          <p:cNvSpPr txBox="1"/>
          <p:nvPr>
            <p:ph idx="1" type="body"/>
          </p:nvPr>
        </p:nvSpPr>
        <p:spPr>
          <a:xfrm>
            <a:off x="304800" y="2057400"/>
            <a:ext cx="8610600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Les infections chez les patients neutropéniques peuvent être causées par divers agents pathogènes :​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Bactéries à Gram positif</a:t>
            </a:r>
            <a:r>
              <a:rPr lang="en-US" sz="2000"/>
              <a:t> 2/3: Staphylococcus aureus, streptocoques et entérocoques.​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Bactéries à Gram négatif 1/3 mortalité+++</a:t>
            </a:r>
            <a:r>
              <a:rPr lang="en-US" sz="2000"/>
              <a:t> : Escherichia coli, Klebsiella spp., Pseudomonas aeruginosa et Stenotrophomonas maltophilia.​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b="1" lang="en-US" sz="2000"/>
              <a:t>Champignons</a:t>
            </a:r>
            <a:r>
              <a:rPr lang="en-US" sz="2000"/>
              <a:t> : Candida spp. 2-8% et Aspergillus spp 5%., particulièrement en cas de neutropénie prolongée</a:t>
            </a:r>
            <a:endParaRPr sz="2000"/>
          </a:p>
        </p:txBody>
      </p:sp>
      <p:sp>
        <p:nvSpPr>
          <p:cNvPr id="324" name="Google Shape;324;p38"/>
          <p:cNvSpPr txBox="1"/>
          <p:nvPr/>
        </p:nvSpPr>
        <p:spPr>
          <a:xfrm>
            <a:off x="3200400" y="1091188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l’infection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Incidence et mortalité de la neutropénie fébrile (NF)</a:t>
            </a:r>
            <a:endParaRPr/>
          </a:p>
        </p:txBody>
      </p:sp>
      <p:sp>
        <p:nvSpPr>
          <p:cNvPr id="330" name="Google Shape;330;p39"/>
          <p:cNvSpPr txBox="1"/>
          <p:nvPr>
            <p:ph idx="1" type="body"/>
          </p:nvPr>
        </p:nvSpPr>
        <p:spPr>
          <a:xfrm>
            <a:off x="381000" y="2209800"/>
            <a:ext cx="8458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La plus </a:t>
            </a:r>
            <a:r>
              <a:rPr b="1" lang="en-US" sz="1800">
                <a:solidFill>
                  <a:srgbClr val="0070C0"/>
                </a:solidFill>
              </a:rPr>
              <a:t>fréquente</a:t>
            </a:r>
            <a:r>
              <a:rPr lang="en-US" sz="1800"/>
              <a:t> et </a:t>
            </a:r>
            <a:r>
              <a:rPr b="1" lang="en-US" sz="1800">
                <a:solidFill>
                  <a:srgbClr val="0070C0"/>
                </a:solidFill>
              </a:rPr>
              <a:t>grave</a:t>
            </a:r>
            <a:r>
              <a:rPr lang="en-US" sz="1800"/>
              <a:t> complication de la chimiothérapie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Incidence </a:t>
            </a:r>
            <a:r>
              <a:rPr b="1" lang="en-US" sz="1800">
                <a:solidFill>
                  <a:srgbClr val="0070C0"/>
                </a:solidFill>
              </a:rPr>
              <a:t>8/1000 </a:t>
            </a:r>
            <a:r>
              <a:rPr lang="en-US" sz="1800"/>
              <a:t>patients qui reçoivent  la chimiothérapie</a:t>
            </a:r>
            <a:endParaRPr sz="1800"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Mortalité</a:t>
            </a:r>
            <a:r>
              <a:rPr lang="en-US" sz="1800"/>
              <a:t> élevée, pourtant il existe un traitement prophylatique et curatif</a:t>
            </a:r>
            <a:endParaRPr sz="1800"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20- 30% </a:t>
            </a:r>
            <a:r>
              <a:rPr lang="en-US" sz="1800"/>
              <a:t>de patients nécessite une hospitalisation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</a:rPr>
              <a:t>Mortalité-aprox.10% </a:t>
            </a:r>
            <a:r>
              <a:rPr lang="en-US" sz="1800"/>
              <a:t>de patients hospitalisés à cause de neutropénie fébrile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/>
        </p:nvSpPr>
        <p:spPr>
          <a:xfrm>
            <a:off x="304800" y="257175"/>
            <a:ext cx="8229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Conséquence de la neutropénie fébrile </a:t>
            </a:r>
            <a:endParaRPr/>
          </a:p>
        </p:txBody>
      </p:sp>
      <p:grpSp>
        <p:nvGrpSpPr>
          <p:cNvPr id="337" name="Google Shape;337;p40"/>
          <p:cNvGrpSpPr/>
          <p:nvPr/>
        </p:nvGrpSpPr>
        <p:grpSpPr>
          <a:xfrm>
            <a:off x="685800" y="1733110"/>
            <a:ext cx="7162800" cy="4233578"/>
            <a:chOff x="0" y="132910"/>
            <a:chExt cx="7162800" cy="4233578"/>
          </a:xfrm>
        </p:grpSpPr>
        <p:sp>
          <p:nvSpPr>
            <p:cNvPr id="338" name="Google Shape;338;p40"/>
            <p:cNvSpPr/>
            <p:nvPr/>
          </p:nvSpPr>
          <p:spPr>
            <a:xfrm>
              <a:off x="0" y="718950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353593" y="132910"/>
              <a:ext cx="6808354" cy="1049598"/>
            </a:xfrm>
            <a:prstGeom prst="roundRect">
              <a:avLst>
                <a:gd fmla="val 16667" name="adj"/>
              </a:avLst>
            </a:prstGeom>
            <a:solidFill>
              <a:srgbClr val="C0000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0"/>
            <p:cNvSpPr txBox="1"/>
            <p:nvPr/>
          </p:nvSpPr>
          <p:spPr>
            <a:xfrm>
              <a:off x="404830" y="184147"/>
              <a:ext cx="6705880" cy="947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Diminution de la qualité  de vie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Infections sévères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Une morbidité et une mortalité importantes 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0" y="2194222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358140" y="1514550"/>
              <a:ext cx="6731642" cy="1058348"/>
            </a:xfrm>
            <a:prstGeom prst="roundRect">
              <a:avLst>
                <a:gd fmla="val 16667" name="adj"/>
              </a:avLst>
            </a:prstGeom>
            <a:solidFill>
              <a:srgbClr val="7030A0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0"/>
            <p:cNvSpPr txBox="1"/>
            <p:nvPr/>
          </p:nvSpPr>
          <p:spPr>
            <a:xfrm>
              <a:off x="409804" y="1566214"/>
              <a:ext cx="6628314" cy="955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Retard de traitement (chimiothérapie), diminution de dose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Hospitalisation, antibiothérapie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0" y="3711288"/>
              <a:ext cx="7162800" cy="6552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421340" y="3005899"/>
              <a:ext cx="6629307" cy="1110309"/>
            </a:xfrm>
            <a:prstGeom prst="roundRect">
              <a:avLst>
                <a:gd fmla="val 16667" name="adj"/>
              </a:avLst>
            </a:prstGeom>
            <a:solidFill>
              <a:srgbClr val="005BC3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 txBox="1"/>
            <p:nvPr/>
          </p:nvSpPr>
          <p:spPr>
            <a:xfrm>
              <a:off x="475541" y="3060100"/>
              <a:ext cx="6520905" cy="1001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89500" spcFirstLastPara="1" rIns="1895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 coût élevé pour la société et pour le patient 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/>
          <p:nvPr/>
        </p:nvSpPr>
        <p:spPr>
          <a:xfrm>
            <a:off x="-73025" y="2686"/>
            <a:ext cx="9144000" cy="12066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Neutropénie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fébrile apparaît les plus souvent au premier cycle de chimiothérapie </a:t>
            </a:r>
            <a:endParaRPr/>
          </a:p>
        </p:txBody>
      </p:sp>
      <p:grpSp>
        <p:nvGrpSpPr>
          <p:cNvPr id="352" name="Google Shape;352;p41"/>
          <p:cNvGrpSpPr/>
          <p:nvPr/>
        </p:nvGrpSpPr>
        <p:grpSpPr>
          <a:xfrm>
            <a:off x="515423" y="1655266"/>
            <a:ext cx="7658213" cy="4558427"/>
            <a:chOff x="461391" y="1036158"/>
            <a:chExt cx="8477247" cy="5275075"/>
          </a:xfrm>
        </p:grpSpPr>
        <p:sp>
          <p:nvSpPr>
            <p:cNvPr id="353" name="Google Shape;353;p41"/>
            <p:cNvSpPr txBox="1"/>
            <p:nvPr/>
          </p:nvSpPr>
          <p:spPr>
            <a:xfrm>
              <a:off x="1901174" y="1036158"/>
              <a:ext cx="6319181" cy="1068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Incidence totale de NF et la proportion de NF au premier cycle de chimiothérapie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1901174" y="2478838"/>
              <a:ext cx="572873" cy="305138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1904688" y="3744584"/>
              <a:ext cx="569359" cy="17911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3125999" y="2778281"/>
              <a:ext cx="586932" cy="275010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3129513" y="3851134"/>
              <a:ext cx="583417" cy="169011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4298105" y="3549854"/>
              <a:ext cx="572873" cy="196199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4298105" y="4365516"/>
              <a:ext cx="572873" cy="116654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5501842" y="3838275"/>
              <a:ext cx="572873" cy="1680925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5500084" y="4503297"/>
              <a:ext cx="574631" cy="102325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6753026" y="4448185"/>
              <a:ext cx="572873" cy="104713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6751268" y="4935010"/>
              <a:ext cx="574631" cy="58419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1"/>
            <p:cNvSpPr txBox="1"/>
            <p:nvPr/>
          </p:nvSpPr>
          <p:spPr>
            <a:xfrm>
              <a:off x="1904688" y="5563290"/>
              <a:ext cx="743846" cy="747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Sein</a:t>
              </a:r>
              <a:endParaRPr b="1" sz="1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1"/>
            <p:cNvSpPr txBox="1"/>
            <p:nvPr/>
          </p:nvSpPr>
          <p:spPr>
            <a:xfrm>
              <a:off x="2895795" y="5563290"/>
              <a:ext cx="1567187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Lymphome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1"/>
            <p:cNvSpPr txBox="1"/>
            <p:nvPr/>
          </p:nvSpPr>
          <p:spPr>
            <a:xfrm>
              <a:off x="4266473" y="5563290"/>
              <a:ext cx="1141320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Ovaires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1"/>
            <p:cNvSpPr txBox="1"/>
            <p:nvPr/>
          </p:nvSpPr>
          <p:spPr>
            <a:xfrm>
              <a:off x="5415735" y="5605543"/>
              <a:ext cx="1368449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Poumons</a:t>
              </a:r>
              <a:endParaRPr b="1"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1"/>
            <p:cNvSpPr txBox="1"/>
            <p:nvPr/>
          </p:nvSpPr>
          <p:spPr>
            <a:xfrm>
              <a:off x="6387512" y="5605543"/>
              <a:ext cx="928388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Colon</a:t>
              </a:r>
              <a:endParaRPr/>
            </a:p>
          </p:txBody>
        </p:sp>
        <p:sp>
          <p:nvSpPr>
            <p:cNvPr id="369" name="Google Shape;369;p41"/>
            <p:cNvSpPr txBox="1"/>
            <p:nvPr/>
          </p:nvSpPr>
          <p:spPr>
            <a:xfrm rot="-5400000">
              <a:off x="-554052" y="3350031"/>
              <a:ext cx="2439718" cy="408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Incidence NF (% )</a:t>
              </a:r>
              <a:endParaRPr/>
            </a:p>
          </p:txBody>
        </p:sp>
        <p:sp>
          <p:nvSpPr>
            <p:cNvPr id="370" name="Google Shape;370;p41"/>
            <p:cNvSpPr txBox="1"/>
            <p:nvPr/>
          </p:nvSpPr>
          <p:spPr>
            <a:xfrm>
              <a:off x="1082281" y="5377746"/>
              <a:ext cx="296981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71" name="Google Shape;371;p41"/>
            <p:cNvSpPr txBox="1"/>
            <p:nvPr/>
          </p:nvSpPr>
          <p:spPr>
            <a:xfrm>
              <a:off x="1082281" y="4582291"/>
              <a:ext cx="296981" cy="336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2" name="Google Shape;372;p41"/>
            <p:cNvSpPr txBox="1"/>
            <p:nvPr/>
          </p:nvSpPr>
          <p:spPr>
            <a:xfrm>
              <a:off x="969815" y="3812556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373" name="Google Shape;373;p41"/>
            <p:cNvSpPr txBox="1"/>
            <p:nvPr/>
          </p:nvSpPr>
          <p:spPr>
            <a:xfrm>
              <a:off x="969815" y="3066703"/>
              <a:ext cx="409447" cy="336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374" name="Google Shape;374;p41"/>
            <p:cNvSpPr txBox="1"/>
            <p:nvPr/>
          </p:nvSpPr>
          <p:spPr>
            <a:xfrm>
              <a:off x="969815" y="2315338"/>
              <a:ext cx="409447" cy="3380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375" name="Google Shape;375;p41"/>
            <p:cNvSpPr txBox="1"/>
            <p:nvPr/>
          </p:nvSpPr>
          <p:spPr>
            <a:xfrm>
              <a:off x="969815" y="1569485"/>
              <a:ext cx="409447" cy="336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7206405" y="2453119"/>
              <a:ext cx="166941" cy="17452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1"/>
            <p:cNvSpPr txBox="1"/>
            <p:nvPr/>
          </p:nvSpPr>
          <p:spPr>
            <a:xfrm>
              <a:off x="7385647" y="2355754"/>
              <a:ext cx="1552991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Cycles 2 - 4</a:t>
              </a:r>
              <a:endParaRPr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7206405" y="1969968"/>
              <a:ext cx="166941" cy="174523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1"/>
            <p:cNvSpPr txBox="1"/>
            <p:nvPr/>
          </p:nvSpPr>
          <p:spPr>
            <a:xfrm>
              <a:off x="7385647" y="1872603"/>
              <a:ext cx="1056147" cy="427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Cycle 1</a:t>
              </a:r>
              <a:endParaRPr/>
            </a:p>
          </p:txBody>
        </p:sp>
        <p:sp>
          <p:nvSpPr>
            <p:cNvPr id="380" name="Google Shape;380;p41"/>
            <p:cNvSpPr txBox="1"/>
            <p:nvPr/>
          </p:nvSpPr>
          <p:spPr>
            <a:xfrm>
              <a:off x="1866028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58%</a:t>
              </a:r>
              <a:endParaRPr/>
            </a:p>
          </p:txBody>
        </p:sp>
        <p:sp>
          <p:nvSpPr>
            <p:cNvPr id="381" name="Google Shape;381;p41"/>
            <p:cNvSpPr txBox="1"/>
            <p:nvPr/>
          </p:nvSpPr>
          <p:spPr>
            <a:xfrm>
              <a:off x="3092610" y="5026863"/>
              <a:ext cx="641408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56%</a:t>
              </a:r>
              <a:endParaRPr/>
            </a:p>
          </p:txBody>
        </p:sp>
        <p:sp>
          <p:nvSpPr>
            <p:cNvPr id="382" name="Google Shape;382;p41"/>
            <p:cNvSpPr txBox="1"/>
            <p:nvPr/>
          </p:nvSpPr>
          <p:spPr>
            <a:xfrm>
              <a:off x="4261202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57%</a:t>
              </a:r>
              <a:endParaRPr/>
            </a:p>
          </p:txBody>
        </p:sp>
        <p:sp>
          <p:nvSpPr>
            <p:cNvPr id="383" name="Google Shape;383;p41"/>
            <p:cNvSpPr txBox="1"/>
            <p:nvPr/>
          </p:nvSpPr>
          <p:spPr>
            <a:xfrm>
              <a:off x="5466697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60%</a:t>
              </a:r>
              <a:endParaRPr/>
            </a:p>
          </p:txBody>
        </p:sp>
        <p:sp>
          <p:nvSpPr>
            <p:cNvPr id="384" name="Google Shape;384;p41"/>
            <p:cNvSpPr txBox="1"/>
            <p:nvPr/>
          </p:nvSpPr>
          <p:spPr>
            <a:xfrm>
              <a:off x="6717880" y="5026863"/>
              <a:ext cx="641407" cy="3655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53%</a:t>
              </a:r>
              <a:endParaRPr/>
            </a:p>
          </p:txBody>
        </p:sp>
        <p:grpSp>
          <p:nvGrpSpPr>
            <p:cNvPr id="385" name="Google Shape;385;p41"/>
            <p:cNvGrpSpPr/>
            <p:nvPr/>
          </p:nvGrpSpPr>
          <p:grpSpPr>
            <a:xfrm>
              <a:off x="1355725" y="1724025"/>
              <a:ext cx="6311900" cy="3813175"/>
              <a:chOff x="884" y="1270"/>
              <a:chExt cx="3976" cy="2402"/>
            </a:xfrm>
          </p:grpSpPr>
          <p:cxnSp>
            <p:nvCxnSpPr>
              <p:cNvPr id="386" name="Google Shape;386;p41"/>
              <p:cNvCxnSpPr/>
              <p:nvPr/>
            </p:nvCxnSpPr>
            <p:spPr>
              <a:xfrm>
                <a:off x="976" y="1272"/>
                <a:ext cx="0" cy="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41"/>
              <p:cNvCxnSpPr/>
              <p:nvPr/>
            </p:nvCxnSpPr>
            <p:spPr>
              <a:xfrm>
                <a:off x="888" y="3171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41"/>
              <p:cNvCxnSpPr/>
              <p:nvPr/>
            </p:nvCxnSpPr>
            <p:spPr>
              <a:xfrm>
                <a:off x="888" y="2696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41"/>
              <p:cNvCxnSpPr/>
              <p:nvPr/>
            </p:nvCxnSpPr>
            <p:spPr>
              <a:xfrm>
                <a:off x="888" y="2225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41"/>
              <p:cNvCxnSpPr/>
              <p:nvPr/>
            </p:nvCxnSpPr>
            <p:spPr>
              <a:xfrm>
                <a:off x="888" y="1747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41"/>
              <p:cNvCxnSpPr/>
              <p:nvPr/>
            </p:nvCxnSpPr>
            <p:spPr>
              <a:xfrm>
                <a:off x="888" y="1270"/>
                <a:ext cx="93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41"/>
              <p:cNvCxnSpPr/>
              <p:nvPr/>
            </p:nvCxnSpPr>
            <p:spPr>
              <a:xfrm flipH="1" rot="10800000">
                <a:off x="884" y="3664"/>
                <a:ext cx="3976" cy="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33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3" name="Google Shape;393;p41"/>
          <p:cNvSpPr txBox="1"/>
          <p:nvPr/>
        </p:nvSpPr>
        <p:spPr>
          <a:xfrm>
            <a:off x="6327775" y="6553200"/>
            <a:ext cx="28448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Crawford J, et al. Blood 2004;104:607a:Abstract 2210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Protocol de la chimiothérapie et le risque de neutropénie fébrile</a:t>
            </a:r>
            <a:br>
              <a:rPr lang="en-US" sz="3600"/>
            </a:b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381000" y="2133600"/>
            <a:ext cx="87630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Relation directe entre la sévérité de </a:t>
            </a:r>
            <a:r>
              <a:rPr b="1" lang="en-US" sz="2000">
                <a:solidFill>
                  <a:srgbClr val="0070C0"/>
                </a:solidFill>
              </a:rPr>
              <a:t>neutropénie</a:t>
            </a:r>
            <a:r>
              <a:rPr lang="en-US" sz="2000"/>
              <a:t> et l’intensité de </a:t>
            </a:r>
            <a:r>
              <a:rPr b="1" lang="en-US" sz="2000">
                <a:solidFill>
                  <a:srgbClr val="0070C0"/>
                </a:solidFill>
              </a:rPr>
              <a:t>chimiothérapie</a:t>
            </a:r>
            <a:r>
              <a:rPr lang="en-US" sz="2000"/>
              <a:t>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Les protocoles de la chimiothérapie se clasifique en fonction de </a:t>
            </a:r>
            <a:r>
              <a:rPr b="1" lang="en-US" sz="2000">
                <a:solidFill>
                  <a:srgbClr val="0070C0"/>
                </a:solidFill>
              </a:rPr>
              <a:t>risque de neutropénie </a:t>
            </a:r>
            <a:r>
              <a:rPr lang="en-US" sz="2000"/>
              <a:t>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minim &lt;10%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modéré 10- 20%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Risque élevé &gt; 20 %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 </a:t>
            </a:r>
            <a:br>
              <a:rPr lang="en-US" sz="3600"/>
            </a:br>
            <a:r>
              <a:rPr b="1" lang="en-US" sz="3600"/>
              <a:t>Diagnostique de la neutropénie fébrile</a:t>
            </a:r>
            <a:br>
              <a:rPr lang="en-US" sz="3600"/>
            </a:br>
            <a:endParaRPr b="1" sz="3600">
              <a:solidFill>
                <a:schemeClr val="dk1"/>
              </a:solidFill>
            </a:endParaRP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0" y="952488"/>
            <a:ext cx="8686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Anamnèse</a:t>
            </a:r>
            <a:endParaRPr b="1"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Schéma de chimiothérapie administré et date d’administration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Antibiothérapie prophylactique antérieure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Utilisation concomitante de corticostéroïdes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Procédures chirurgicales récentes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Présence d’allergies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Micro-organismes identifiés précédemment dans les cultures, profils d’antibiogramme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Clinique: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Signe vitaux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Examen clinique : fièvre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Signe et symptômes qui suggère un foyer infectieux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Respiratoire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Pharyngienne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Urinaire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Cutané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Intestin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SNC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Examen paracliniques </a:t>
            </a:r>
            <a:endParaRPr sz="3600"/>
          </a:p>
        </p:txBody>
      </p:sp>
      <p:sp>
        <p:nvSpPr>
          <p:cNvPr id="412" name="Google Shape;412;p44"/>
          <p:cNvSpPr txBox="1"/>
          <p:nvPr>
            <p:ph idx="1" type="body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Hémogramme complet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Tests Biochimiques  (test rénal et hépatique 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PCR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Test de coagulation 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Culture ( uroculture, coproculture, hemoculture, prélèvement pharyngien,culture de sécrétion de plaie cutanée  ou cathéter)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Radiographie pulmonaire (Rx thorax)</a:t>
            </a:r>
            <a:endParaRPr/>
          </a:p>
          <a:p>
            <a:pPr indent="-215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5"/>
          <p:cNvSpPr txBox="1"/>
          <p:nvPr>
            <p:ph type="title"/>
          </p:nvPr>
        </p:nvSpPr>
        <p:spPr>
          <a:xfrm>
            <a:off x="457200" y="457200"/>
            <a:ext cx="8229600" cy="9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Patients à faible risque </a:t>
            </a:r>
            <a:br>
              <a:rPr b="1" lang="en-US"/>
            </a:br>
            <a:r>
              <a:rPr b="1" lang="en-US"/>
              <a:t>(Low risk patients)</a:t>
            </a:r>
            <a:br>
              <a:rPr lang="en-US"/>
            </a:br>
            <a:endParaRPr b="1"/>
          </a:p>
        </p:txBody>
      </p:sp>
      <p:sp>
        <p:nvSpPr>
          <p:cNvPr id="418" name="Google Shape;418;p45"/>
          <p:cNvSpPr txBox="1"/>
          <p:nvPr>
            <p:ph idx="1" type="body"/>
          </p:nvPr>
        </p:nvSpPr>
        <p:spPr>
          <a:xfrm>
            <a:off x="457200" y="2133600"/>
            <a:ext cx="82296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Clinique:  hémodynamiquement stable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comorbidité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pneumonie, infection sévère  de cathéter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Il est possible de les traiter avec des antibiotiques par voie orale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Ils déviennent  afébriles (dans un délai de 48h)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Peut-être traité avec l’hospitalisation de jour ou ambulatoire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Sans insuffisance organique</a:t>
            </a:r>
            <a:endParaRPr sz="2000"/>
          </a:p>
          <a:p>
            <a:pPr indent="-215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Patients à haut risque </a:t>
            </a:r>
            <a:br>
              <a:rPr b="1" lang="en-US"/>
            </a:br>
            <a:r>
              <a:rPr b="1" lang="en-US"/>
              <a:t> (High risk patients)</a:t>
            </a:r>
            <a:br>
              <a:rPr lang="en-US"/>
            </a:br>
            <a:endParaRPr b="1"/>
          </a:p>
        </p:txBody>
      </p:sp>
      <p:sp>
        <p:nvSpPr>
          <p:cNvPr id="424" name="Google Shape;424;p46"/>
          <p:cNvSpPr txBox="1"/>
          <p:nvPr>
            <p:ph idx="1" type="body"/>
          </p:nvPr>
        </p:nvSpPr>
        <p:spPr>
          <a:xfrm>
            <a:off x="457200" y="1845550"/>
            <a:ext cx="7772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Hémodynamiquement  instable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État général altéré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Avec comorbidité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Insuffisance organique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Fièvre persistante ,septicémie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Besoin de antibiothérapie empirique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Besoin de Thérapie intensive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Mortalité élevée et récupération difficile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Risque du </a:t>
            </a:r>
            <a:r>
              <a:rPr b="1" lang="en-US">
                <a:solidFill>
                  <a:srgbClr val="0070C0"/>
                </a:solidFill>
              </a:rPr>
              <a:t>patient</a:t>
            </a:r>
            <a:endParaRPr/>
          </a:p>
        </p:txBody>
      </p:sp>
      <p:sp>
        <p:nvSpPr>
          <p:cNvPr id="430" name="Google Shape;430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431" name="Google Shape;43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086" y="1261184"/>
            <a:ext cx="5697827" cy="507849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 txBox="1"/>
          <p:nvPr/>
        </p:nvSpPr>
        <p:spPr>
          <a:xfrm>
            <a:off x="6327775" y="6553200"/>
            <a:ext cx="28448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DeVita 12 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/>
          <p:nvPr>
            <p:ph type="title"/>
          </p:nvPr>
        </p:nvSpPr>
        <p:spPr>
          <a:xfrm>
            <a:off x="0" y="175538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 de neutropénie fébrile </a:t>
            </a:r>
            <a:br>
              <a:rPr lang="en-US" sz="3600"/>
            </a:br>
            <a:endParaRPr b="1" sz="3600"/>
          </a:p>
        </p:txBody>
      </p:sp>
      <p:sp>
        <p:nvSpPr>
          <p:cNvPr id="438" name="Google Shape;438;p48"/>
          <p:cNvSpPr txBox="1"/>
          <p:nvPr>
            <p:ph idx="1" type="body"/>
          </p:nvPr>
        </p:nvSpPr>
        <p:spPr>
          <a:xfrm>
            <a:off x="457200" y="141763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70C0"/>
                </a:solidFill>
              </a:rPr>
              <a:t>1. Prophlylactique</a:t>
            </a:r>
            <a:r>
              <a:rPr lang="en-US" sz="2000">
                <a:solidFill>
                  <a:srgbClr val="0070C0"/>
                </a:solidFill>
              </a:rPr>
              <a:t> :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Prophylaxie primaire </a:t>
            </a:r>
            <a:r>
              <a:rPr lang="en-US" sz="2000"/>
              <a:t>: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Attitude ayant pour but de diminuer les risques de NF dès le 1er cycle de chimiothérapie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Prophylaxie secondaire :</a:t>
            </a:r>
            <a:endParaRPr b="1" sz="2000"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Attitude ayant pour but de diminuer les risques de NF après un événement neutropénique (≥ 2ème cycle de chimiothérapie)</a:t>
            </a:r>
            <a:endParaRPr sz="2000"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/>
        </p:nvSpPr>
        <p:spPr>
          <a:xfrm>
            <a:off x="0" y="304800"/>
            <a:ext cx="9144000" cy="1902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 recommandations sur la prophylaxie primaire et secondaire de la neutropénie fébrile induite  par la </a:t>
            </a:r>
            <a:r>
              <a:rPr b="1" lang="en-US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chimiothérapie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ndoz-01.png" id="445" name="Google Shape;4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72200"/>
            <a:ext cx="1327150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" y="1828800"/>
            <a:ext cx="8933333" cy="46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"/>
          <p:cNvSpPr txBox="1"/>
          <p:nvPr>
            <p:ph type="title"/>
          </p:nvPr>
        </p:nvSpPr>
        <p:spPr>
          <a:xfrm>
            <a:off x="0" y="274638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</a:t>
            </a:r>
            <a:r>
              <a:rPr b="1" lang="en-US" sz="4000"/>
              <a:t> de neutropénie fébrile </a:t>
            </a:r>
            <a:br>
              <a:rPr lang="en-US" sz="4000"/>
            </a:b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0"/>
          <p:cNvSpPr txBox="1"/>
          <p:nvPr>
            <p:ph idx="1" type="body"/>
          </p:nvPr>
        </p:nvSpPr>
        <p:spPr>
          <a:xfrm>
            <a:off x="457200" y="1143000"/>
            <a:ext cx="8229600" cy="511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70C0"/>
                </a:solidFill>
              </a:rPr>
              <a:t>2. Curatif: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Antibiothérapie  empirique / probabiliste</a:t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Pour combattre une infection existante ou  suspectée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Monothérapie 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Ceftazim,imipenem,meropenem 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Combinaison 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Betalactamine+aminoglucocide</a:t>
            </a:r>
            <a:endParaRPr sz="14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Éviter le touché rectal ou les gestes invasives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Ajouter empiriquement le vancomicin si: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Infection cutanée  ou de cathéter 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hypotension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400"/>
              <a:t>mucosités</a:t>
            </a:r>
            <a:endParaRPr sz="1400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/>
          <p:nvPr>
            <p:ph idx="1" type="body"/>
          </p:nvPr>
        </p:nvSpPr>
        <p:spPr>
          <a:xfrm>
            <a:off x="321469" y="1600200"/>
            <a:ext cx="850106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Thérapie antimicotique empirique 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Fièvre persistante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Neutropénie persistante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régulièrement ajouté après 5 à 7 jours de neutropénie fébrile, avec ou sans cause connue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décès après neutropénie fébrile persistante - 69% ont une infection mycotique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amphotericine B (liposome), caspofungin, voriconazole</a:t>
            </a:r>
            <a:endParaRPr sz="1800"/>
          </a:p>
          <a:p>
            <a:pPr indent="-60325" lvl="1" marL="60325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/>
              <a:t>Facteurs stimulant les colonies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préfèrent la prophylaxie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les effets bénéfiques sont modestes une fois que la neutropénie fébrile a été installée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utilisé dans le choc septique neutropénie (hypotension, dysfonction organique)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patients qui devraient récupérer lentement le nombre de neutrophiles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1"/>
          <p:cNvSpPr txBox="1"/>
          <p:nvPr>
            <p:ph type="title"/>
          </p:nvPr>
        </p:nvSpPr>
        <p:spPr>
          <a:xfrm>
            <a:off x="0" y="274638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Traitement</a:t>
            </a:r>
            <a:r>
              <a:rPr b="1" lang="en-US" sz="4000"/>
              <a:t> de neutropénie fébrile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2"/>
          <p:cNvSpPr txBox="1"/>
          <p:nvPr/>
        </p:nvSpPr>
        <p:spPr>
          <a:xfrm>
            <a:off x="0" y="304800"/>
            <a:ext cx="9144000" cy="164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 de la neutropénie </a:t>
            </a:r>
            <a:endParaRPr/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induite par la chimiothérapie</a:t>
            </a:r>
            <a:endParaRPr/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2"/>
          <p:cNvSpPr txBox="1"/>
          <p:nvPr>
            <p:ph idx="1" type="body"/>
          </p:nvPr>
        </p:nvSpPr>
        <p:spPr>
          <a:xfrm>
            <a:off x="152400" y="15240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Un patient déjà confronté à une neutropénie induite par la chimiothérapie doit recevoir un traitement antibiotique dans les plus brefs délais.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L'administration d'antibiotiques par voie veineuse doit être initiée avant l'apparition des symptômes.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L’administration de facteurs de croissance (G-CSF) comme adjuvant dans la neutropénie n'est pas recommandée.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Le G-CSF est recommandé chez les patients qui ne répondent pas à l’antibiothérapie empirique.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En cas de neutropénie fébrile persistante malgré ces mesures, une réduction de dose ou un report de la chimiothérapie est nécessaire jusqu’à la récupération du nombre de neutrophiles.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"/>
          <p:cNvSpPr txBox="1"/>
          <p:nvPr>
            <p:ph idx="1" type="body"/>
          </p:nvPr>
        </p:nvSpPr>
        <p:spPr>
          <a:xfrm>
            <a:off x="96838" y="1455738"/>
            <a:ext cx="8915400" cy="460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Administration recommandée 24 à 72 heures après la chimiothérapie</a:t>
            </a:r>
            <a:endParaRPr sz="2000"/>
          </a:p>
        </p:txBody>
      </p:sp>
      <p:pic>
        <p:nvPicPr>
          <p:cNvPr id="471" name="Google Shape;47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7669213" cy="38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3"/>
          <p:cNvSpPr txBox="1"/>
          <p:nvPr/>
        </p:nvSpPr>
        <p:spPr>
          <a:xfrm>
            <a:off x="0" y="443678"/>
            <a:ext cx="90678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calendrier de l’administration du G-CSF est essentiel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4"/>
          <p:cNvSpPr txBox="1"/>
          <p:nvPr>
            <p:ph idx="1" type="body"/>
          </p:nvPr>
        </p:nvSpPr>
        <p:spPr>
          <a:xfrm>
            <a:off x="0" y="2057400"/>
            <a:ext cx="9144000" cy="470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45243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Éduquer le patient à demander de l’aide médicale 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à tout signe de fièvre 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dans la période de risque après la chimiothérapie!</a:t>
            </a:r>
            <a:endParaRPr/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1" marL="452438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4"/>
          <p:cNvSpPr/>
          <p:nvPr/>
        </p:nvSpPr>
        <p:spPr>
          <a:xfrm>
            <a:off x="120650" y="6530975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Novartis 2016">
      <a:dk1>
        <a:srgbClr val="000000"/>
      </a:dk1>
      <a:lt1>
        <a:srgbClr val="FFFFFF"/>
      </a:lt1>
      <a:dk2>
        <a:srgbClr val="404040"/>
      </a:dk2>
      <a:lt2>
        <a:srgbClr val="CCCCCC"/>
      </a:lt2>
      <a:accent1>
        <a:srgbClr val="0460A9"/>
      </a:accent1>
      <a:accent2>
        <a:srgbClr val="E74A21"/>
      </a:accent2>
      <a:accent3>
        <a:srgbClr val="EC9A1E"/>
      </a:accent3>
      <a:accent4>
        <a:srgbClr val="8D1F1B"/>
      </a:accent4>
      <a:accent5>
        <a:srgbClr val="7F7F7F"/>
      </a:accent5>
      <a:accent6>
        <a:srgbClr val="404040"/>
      </a:accent6>
      <a:hlink>
        <a:srgbClr val="0460A9"/>
      </a:hlink>
      <a:folHlink>
        <a:srgbClr val="0460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l implicit">
  <a:themeElements>
    <a:clrScheme name="Model implici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