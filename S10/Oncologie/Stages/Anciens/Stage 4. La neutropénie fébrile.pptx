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7" r:id="rId1"/>
    <p:sldMasterId id="2147483670" r:id="rId2"/>
  </p:sldMasterIdLst>
  <p:notesMasterIdLst>
    <p:notesMasterId r:id="rId29"/>
  </p:notesMasterIdLst>
  <p:sldIdLst>
    <p:sldId id="546" r:id="rId3"/>
    <p:sldId id="547" r:id="rId4"/>
    <p:sldId id="554" r:id="rId5"/>
    <p:sldId id="548" r:id="rId6"/>
    <p:sldId id="549" r:id="rId7"/>
    <p:sldId id="555" r:id="rId8"/>
    <p:sldId id="550" r:id="rId9"/>
    <p:sldId id="551" r:id="rId10"/>
    <p:sldId id="552" r:id="rId11"/>
    <p:sldId id="553" r:id="rId12"/>
    <p:sldId id="557" r:id="rId13"/>
    <p:sldId id="559" r:id="rId14"/>
    <p:sldId id="560" r:id="rId15"/>
    <p:sldId id="556" r:id="rId16"/>
    <p:sldId id="525" r:id="rId17"/>
    <p:sldId id="459" r:id="rId18"/>
    <p:sldId id="532" r:id="rId19"/>
    <p:sldId id="535" r:id="rId20"/>
    <p:sldId id="537" r:id="rId21"/>
    <p:sldId id="538" r:id="rId22"/>
    <p:sldId id="540" r:id="rId23"/>
    <p:sldId id="542" r:id="rId24"/>
    <p:sldId id="543" r:id="rId25"/>
    <p:sldId id="545" r:id="rId26"/>
    <p:sldId id="541" r:id="rId27"/>
    <p:sldId id="558" r:id="rId28"/>
  </p:sldIdLst>
  <p:sldSz cx="9144000" cy="6858000" type="screen4x3"/>
  <p:notesSz cx="6858000" cy="9144000"/>
  <p:defaultTextStyle>
    <a:defPPr>
      <a:defRPr lang="ro-RO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pos="4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99"/>
    <a:srgbClr val="000000"/>
    <a:srgbClr val="09A7A7"/>
    <a:srgbClr val="EDB9DF"/>
    <a:srgbClr val="0819B8"/>
    <a:srgbClr val="890101"/>
    <a:srgbClr val="034ABD"/>
    <a:srgbClr val="00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 mediu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il mediu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Stil mediu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Stil mediu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Stil mediu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Stil mediu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Stil luminos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C083E6E3-FA7D-4D7B-A595-EF9225AFEA82}" styleName="Stil luminos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FD0F851-EC5A-4D38-B0AD-8093EC10F338}" styleName="Stil luminos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Stil luminos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Stil mediu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Fără stil, fără grilă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Stil tematic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Stil tematic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173" autoAdjust="0"/>
    <p:restoredTop sz="96187" autoAdjust="0"/>
  </p:normalViewPr>
  <p:slideViewPr>
    <p:cSldViewPr>
      <p:cViewPr varScale="1">
        <p:scale>
          <a:sx n="77" d="100"/>
          <a:sy n="77" d="100"/>
        </p:scale>
        <p:origin x="804" y="36"/>
      </p:cViewPr>
      <p:guideLst>
        <p:guide orient="horz" pos="2160"/>
        <p:guide pos="2880"/>
        <p:guide pos="4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37D2C5E-468D-4D0B-A353-C0E7C8E0676B}" type="doc">
      <dgm:prSet loTypeId="urn:microsoft.com/office/officeart/2005/8/layout/list1" loCatId="list" qsTypeId="urn:microsoft.com/office/officeart/2005/8/quickstyle/3d2" qsCatId="3D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98F86C74-2C31-4DB7-B0D1-44FD2AE31C67}">
      <dgm:prSet phldrT="[Text]" custT="1"/>
      <dgm:spPr>
        <a:xfrm>
          <a:off x="323850" y="106480"/>
          <a:ext cx="5791241" cy="950059"/>
        </a:xfrm>
        <a:solidFill>
          <a:srgbClr val="C00000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gm:spPr>
      <dgm:t>
        <a:bodyPr/>
        <a:lstStyle/>
        <a:p>
          <a:pPr algn="ctr"/>
          <a:r>
            <a:rPr lang="en-US" sz="1800" dirty="0"/>
            <a:t>Diminution de la </a:t>
          </a:r>
          <a:r>
            <a:rPr lang="en-US" sz="1800" dirty="0" err="1"/>
            <a:t>qualité</a:t>
          </a:r>
          <a:r>
            <a:rPr lang="en-US" sz="1800" dirty="0"/>
            <a:t>  de vie </a:t>
          </a:r>
        </a:p>
        <a:p>
          <a:pPr algn="ctr"/>
          <a:r>
            <a:rPr lang="en-US" sz="1800" dirty="0"/>
            <a:t>Infections </a:t>
          </a:r>
          <a:r>
            <a:rPr lang="en-US" sz="1800" dirty="0" err="1"/>
            <a:t>sévères</a:t>
          </a:r>
          <a:r>
            <a:rPr lang="en-US" sz="1800" dirty="0"/>
            <a:t> </a:t>
          </a:r>
        </a:p>
        <a:p>
          <a:pPr algn="ctr"/>
          <a:r>
            <a:rPr lang="en-US" sz="1800" dirty="0" err="1"/>
            <a:t>Une</a:t>
          </a:r>
          <a:r>
            <a:rPr lang="en-US" sz="1800" dirty="0"/>
            <a:t> </a:t>
          </a:r>
          <a:r>
            <a:rPr lang="en-US" sz="1800" dirty="0" err="1"/>
            <a:t>morbidité</a:t>
          </a:r>
          <a:r>
            <a:rPr lang="en-US" sz="1800" dirty="0"/>
            <a:t> et </a:t>
          </a:r>
          <a:r>
            <a:rPr lang="en-US" sz="1800" dirty="0" err="1"/>
            <a:t>une</a:t>
          </a:r>
          <a:r>
            <a:rPr lang="en-US" sz="1800" dirty="0"/>
            <a:t> </a:t>
          </a:r>
          <a:r>
            <a:rPr lang="en-US" sz="1800" dirty="0" err="1"/>
            <a:t>mortalité</a:t>
          </a:r>
          <a:r>
            <a:rPr lang="en-US" sz="1800" dirty="0"/>
            <a:t> </a:t>
          </a:r>
          <a:r>
            <a:rPr lang="en-US" sz="1800" dirty="0" err="1"/>
            <a:t>importantes</a:t>
          </a:r>
          <a:r>
            <a:rPr lang="en-US" sz="1800" dirty="0"/>
            <a:t> </a:t>
          </a:r>
          <a:endParaRPr lang="en-US" sz="1800" b="1" dirty="0">
            <a:solidFill>
              <a:srgbClr val="FFFFFF"/>
            </a:solidFill>
            <a:effectLst/>
            <a:latin typeface="Arial"/>
            <a:ea typeface="+mn-ea"/>
            <a:cs typeface="Arial"/>
          </a:endParaRPr>
        </a:p>
      </dgm:t>
    </dgm:pt>
    <dgm:pt modelId="{0CF25144-A744-4D26-9710-E6815DBBBD87}" type="parTrans" cxnId="{99FBE0C4-AA42-43F3-A112-9DA4B7CEDF06}">
      <dgm:prSet/>
      <dgm:spPr/>
      <dgm:t>
        <a:bodyPr/>
        <a:lstStyle/>
        <a:p>
          <a:endParaRPr lang="en-US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CC6A0211-0277-4AD2-B0E0-60FE0EC9E22C}" type="sibTrans" cxnId="{99FBE0C4-AA42-43F3-A112-9DA4B7CEDF06}">
      <dgm:prSet/>
      <dgm:spPr/>
      <dgm:t>
        <a:bodyPr/>
        <a:lstStyle/>
        <a:p>
          <a:endParaRPr lang="en-US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D8D15DD1-B67C-49E6-91BC-B423DCA84719}">
      <dgm:prSet phldrT="[Text]" custT="1"/>
      <dgm:spPr>
        <a:xfrm>
          <a:off x="323850" y="1388580"/>
          <a:ext cx="5753111" cy="1058348"/>
        </a:xfrm>
        <a:solidFill>
          <a:srgbClr val="7030A0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gm:spPr>
      <dgm:t>
        <a:bodyPr/>
        <a:lstStyle/>
        <a:p>
          <a:pPr algn="ctr">
            <a:lnSpc>
              <a:spcPct val="100000"/>
            </a:lnSpc>
          </a:pPr>
          <a:r>
            <a:rPr lang="en-US" sz="2000" dirty="0"/>
            <a:t>Retard de </a:t>
          </a:r>
          <a:r>
            <a:rPr lang="en-US" sz="2000" dirty="0" err="1"/>
            <a:t>traitement</a:t>
          </a:r>
          <a:r>
            <a:rPr lang="en-US" sz="2000" dirty="0"/>
            <a:t> (</a:t>
          </a:r>
          <a:r>
            <a:rPr lang="en-US" sz="2000" dirty="0" err="1"/>
            <a:t>chimiothérapie</a:t>
          </a:r>
          <a:r>
            <a:rPr lang="en-US" sz="2000" dirty="0"/>
            <a:t>), diminution de dose</a:t>
          </a:r>
        </a:p>
        <a:p>
          <a:pPr algn="ctr">
            <a:lnSpc>
              <a:spcPct val="100000"/>
            </a:lnSpc>
          </a:pPr>
          <a:r>
            <a:rPr lang="en-US" sz="2000" dirty="0" err="1"/>
            <a:t>Hospitalisation</a:t>
          </a:r>
          <a:r>
            <a:rPr lang="en-US" sz="2000" dirty="0"/>
            <a:t>, </a:t>
          </a:r>
          <a:r>
            <a:rPr lang="en-US" sz="2000" dirty="0" err="1"/>
            <a:t>antibiothérapie</a:t>
          </a:r>
          <a:endParaRPr lang="en-US" sz="2000" dirty="0"/>
        </a:p>
      </dgm:t>
    </dgm:pt>
    <dgm:pt modelId="{3BBDE955-B60B-4816-BDE4-0637DCA88937}" type="parTrans" cxnId="{F315E2E7-A726-4F60-929A-C1D339B7830D}">
      <dgm:prSet/>
      <dgm:spPr/>
      <dgm:t>
        <a:bodyPr/>
        <a:lstStyle/>
        <a:p>
          <a:endParaRPr lang="en-US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CF51610B-8774-4029-BACC-9B576CAFA84B}" type="sibTrans" cxnId="{F315E2E7-A726-4F60-929A-C1D339B7830D}">
      <dgm:prSet/>
      <dgm:spPr/>
      <dgm:t>
        <a:bodyPr/>
        <a:lstStyle/>
        <a:p>
          <a:endParaRPr lang="en-US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B2A613C1-16EE-400B-82D4-509B294DC89C}">
      <dgm:prSet phldrT="[Text]" custT="1"/>
      <dgm:spPr>
        <a:xfrm>
          <a:off x="380999" y="2879929"/>
          <a:ext cx="5781402" cy="1110309"/>
        </a:xfrm>
        <a:solidFill>
          <a:srgbClr val="005BC3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gm:spPr>
      <dgm:t>
        <a:bodyPr/>
        <a:lstStyle/>
        <a:p>
          <a:pPr algn="ctr"/>
          <a:r>
            <a:rPr lang="en-US" sz="2000" dirty="0"/>
            <a:t>Un </a:t>
          </a:r>
          <a:r>
            <a:rPr lang="en-US" sz="2000" dirty="0" err="1"/>
            <a:t>coût</a:t>
          </a:r>
          <a:r>
            <a:rPr lang="en-US" sz="2000" dirty="0"/>
            <a:t> </a:t>
          </a:r>
          <a:r>
            <a:rPr lang="en-US" sz="2000" dirty="0" err="1"/>
            <a:t>élevé</a:t>
          </a:r>
          <a:r>
            <a:rPr lang="en-US" sz="2000" dirty="0"/>
            <a:t> pour la </a:t>
          </a:r>
          <a:r>
            <a:rPr lang="en-US" sz="2000" dirty="0" err="1"/>
            <a:t>société</a:t>
          </a:r>
          <a:r>
            <a:rPr lang="en-US" sz="2000" dirty="0"/>
            <a:t> et pour le patient </a:t>
          </a:r>
          <a:endParaRPr lang="en-US" sz="2000" b="1" dirty="0">
            <a:solidFill>
              <a:srgbClr val="FFFFFF"/>
            </a:solidFill>
            <a:effectLst/>
            <a:latin typeface="Arial"/>
            <a:ea typeface="+mn-ea"/>
            <a:cs typeface="Arial"/>
          </a:endParaRPr>
        </a:p>
      </dgm:t>
    </dgm:pt>
    <dgm:pt modelId="{512D8626-906D-4FD7-A43B-38F921A85FE9}" type="parTrans" cxnId="{845B620F-34A8-4CAB-B7A3-81844A9FCF6A}">
      <dgm:prSet/>
      <dgm:spPr/>
      <dgm:t>
        <a:bodyPr/>
        <a:lstStyle/>
        <a:p>
          <a:endParaRPr lang="en-US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1C0B94B9-D462-48A2-B66D-C8BEFE5B5FBF}" type="sibTrans" cxnId="{845B620F-34A8-4CAB-B7A3-81844A9FCF6A}">
      <dgm:prSet/>
      <dgm:spPr/>
      <dgm:t>
        <a:bodyPr/>
        <a:lstStyle/>
        <a:p>
          <a:endParaRPr lang="en-US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3AC126C3-CDDB-47E7-B80E-760848929C65}" type="pres">
      <dgm:prSet presAssocID="{A37D2C5E-468D-4D0B-A353-C0E7C8E0676B}" presName="linear" presStyleCnt="0">
        <dgm:presLayoutVars>
          <dgm:dir/>
          <dgm:animLvl val="lvl"/>
          <dgm:resizeHandles val="exact"/>
        </dgm:presLayoutVars>
      </dgm:prSet>
      <dgm:spPr/>
    </dgm:pt>
    <dgm:pt modelId="{910081A7-C5AD-4C41-9F2D-DD9BAAF9C164}" type="pres">
      <dgm:prSet presAssocID="{98F86C74-2C31-4DB7-B0D1-44FD2AE31C67}" presName="parentLin" presStyleCnt="0"/>
      <dgm:spPr/>
    </dgm:pt>
    <dgm:pt modelId="{2F25881D-AEBA-4044-9113-C914B8B46D72}" type="pres">
      <dgm:prSet presAssocID="{98F86C74-2C31-4DB7-B0D1-44FD2AE31C67}" presName="parentLeftMargin" presStyleLbl="node1" presStyleIdx="0" presStyleCnt="3"/>
      <dgm:spPr>
        <a:prstGeom prst="roundRect">
          <a:avLst/>
        </a:prstGeom>
      </dgm:spPr>
    </dgm:pt>
    <dgm:pt modelId="{4D436BC5-E371-4DFA-99F2-CEDF582B9EE2}" type="pres">
      <dgm:prSet presAssocID="{98F86C74-2C31-4DB7-B0D1-44FD2AE31C67}" presName="parentText" presStyleLbl="node1" presStyleIdx="0" presStyleCnt="3" custScaleX="137534" custScaleY="136752" custLinFactNeighborY="10397">
        <dgm:presLayoutVars>
          <dgm:chMax val="0"/>
          <dgm:bulletEnabled val="1"/>
        </dgm:presLayoutVars>
      </dgm:prSet>
      <dgm:spPr/>
    </dgm:pt>
    <dgm:pt modelId="{7FAA184E-9EDE-47EA-AFAC-8F93639BA5A3}" type="pres">
      <dgm:prSet presAssocID="{98F86C74-2C31-4DB7-B0D1-44FD2AE31C67}" presName="negativeSpace" presStyleCnt="0"/>
      <dgm:spPr/>
    </dgm:pt>
    <dgm:pt modelId="{2C32C443-507E-41E4-81E5-1B30A111E841}" type="pres">
      <dgm:prSet presAssocID="{98F86C74-2C31-4DB7-B0D1-44FD2AE31C67}" presName="childText" presStyleLbl="conFgAcc1" presStyleIdx="0" presStyleCnt="3">
        <dgm:presLayoutVars>
          <dgm:bulletEnabled val="1"/>
        </dgm:presLayoutVars>
      </dgm:prSet>
      <dgm:spPr>
        <a:xfrm>
          <a:off x="0" y="592980"/>
          <a:ext cx="6477000" cy="655200"/>
        </a:xfrm>
        <a:prstGeom prst="rect">
          <a:avLst/>
        </a:prstGeom>
        <a:noFill/>
        <a:ln w="9525" cap="flat" cmpd="sng" algn="ctr">
          <a:noFill/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35400" h="16350" prst="relaxedInset"/>
          <a:contourClr>
            <a:srgbClr val="FFFFFF"/>
          </a:contourClr>
        </a:sp3d>
      </dgm:spPr>
    </dgm:pt>
    <dgm:pt modelId="{C198138C-3188-4974-8DAC-F08D938632AB}" type="pres">
      <dgm:prSet presAssocID="{CC6A0211-0277-4AD2-B0E0-60FE0EC9E22C}" presName="spaceBetweenRectangles" presStyleCnt="0"/>
      <dgm:spPr/>
    </dgm:pt>
    <dgm:pt modelId="{B963D915-349D-4A60-9858-68830CBD8D78}" type="pres">
      <dgm:prSet presAssocID="{D8D15DD1-B67C-49E6-91BC-B423DCA84719}" presName="parentLin" presStyleCnt="0"/>
      <dgm:spPr/>
    </dgm:pt>
    <dgm:pt modelId="{71B56BA1-C354-4ECC-8AA4-B197D46B3D86}" type="pres">
      <dgm:prSet presAssocID="{D8D15DD1-B67C-49E6-91BC-B423DCA84719}" presName="parentLeftMargin" presStyleLbl="node1" presStyleIdx="0" presStyleCnt="3"/>
      <dgm:spPr>
        <a:prstGeom prst="roundRect">
          <a:avLst/>
        </a:prstGeom>
      </dgm:spPr>
    </dgm:pt>
    <dgm:pt modelId="{A99A5028-F619-4D68-92D5-1610DE276E55}" type="pres">
      <dgm:prSet presAssocID="{D8D15DD1-B67C-49E6-91BC-B423DCA84719}" presName="parentText" presStyleLbl="node1" presStyleIdx="1" presStyleCnt="3" custScaleX="134258" custScaleY="137892">
        <dgm:presLayoutVars>
          <dgm:chMax val="0"/>
          <dgm:bulletEnabled val="1"/>
        </dgm:presLayoutVars>
      </dgm:prSet>
      <dgm:spPr/>
    </dgm:pt>
    <dgm:pt modelId="{AA48F753-F614-4F82-BC3B-6652F8E60FFD}" type="pres">
      <dgm:prSet presAssocID="{D8D15DD1-B67C-49E6-91BC-B423DCA84719}" presName="negativeSpace" presStyleCnt="0"/>
      <dgm:spPr/>
    </dgm:pt>
    <dgm:pt modelId="{B0E8AEF7-6B63-4829-A153-9F54E919D681}" type="pres">
      <dgm:prSet presAssocID="{D8D15DD1-B67C-49E6-91BC-B423DCA84719}" presName="childText" presStyleLbl="conFgAcc1" presStyleIdx="1" presStyleCnt="3" custLinFactNeighborX="1607" custLinFactNeighborY="3621">
        <dgm:presLayoutVars>
          <dgm:bulletEnabled val="1"/>
        </dgm:presLayoutVars>
      </dgm:prSet>
      <dgm:spPr>
        <a:xfrm>
          <a:off x="0" y="2068252"/>
          <a:ext cx="6477000" cy="655200"/>
        </a:xfrm>
        <a:prstGeom prst="rect">
          <a:avLst/>
        </a:prstGeom>
        <a:noFill/>
        <a:ln w="9525" cap="flat" cmpd="sng" algn="ctr">
          <a:noFill/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35400" h="16350" prst="relaxedInset"/>
          <a:contourClr>
            <a:srgbClr val="FFFFFF"/>
          </a:contourClr>
        </a:sp3d>
      </dgm:spPr>
    </dgm:pt>
    <dgm:pt modelId="{FC8FC7E3-5A43-40F4-B352-6029766A7EC1}" type="pres">
      <dgm:prSet presAssocID="{CF51610B-8774-4029-BACC-9B576CAFA84B}" presName="spaceBetweenRectangles" presStyleCnt="0"/>
      <dgm:spPr/>
    </dgm:pt>
    <dgm:pt modelId="{60938C07-78F6-4290-9F10-F28A8A61E972}" type="pres">
      <dgm:prSet presAssocID="{B2A613C1-16EE-400B-82D4-509B294DC89C}" presName="parentLin" presStyleCnt="0"/>
      <dgm:spPr/>
    </dgm:pt>
    <dgm:pt modelId="{EB2B9BD2-F108-4A4F-8BC1-7A124B60A2C2}" type="pres">
      <dgm:prSet presAssocID="{B2A613C1-16EE-400B-82D4-509B294DC89C}" presName="parentLeftMargin" presStyleLbl="node1" presStyleIdx="1" presStyleCnt="3"/>
      <dgm:spPr>
        <a:prstGeom prst="roundRect">
          <a:avLst/>
        </a:prstGeom>
      </dgm:spPr>
    </dgm:pt>
    <dgm:pt modelId="{C486D433-1067-49EE-9BEA-E7CB6BB318FF}" type="pres">
      <dgm:prSet presAssocID="{B2A613C1-16EE-400B-82D4-509B294DC89C}" presName="parentText" presStyleLbl="node1" presStyleIdx="2" presStyleCnt="3" custScaleX="132217" custScaleY="144662" custLinFactNeighborX="17647" custLinFactNeighborY="2757">
        <dgm:presLayoutVars>
          <dgm:chMax val="0"/>
          <dgm:bulletEnabled val="1"/>
        </dgm:presLayoutVars>
      </dgm:prSet>
      <dgm:spPr/>
    </dgm:pt>
    <dgm:pt modelId="{1E75BDD0-9774-4C77-9569-9633E6227E9D}" type="pres">
      <dgm:prSet presAssocID="{B2A613C1-16EE-400B-82D4-509B294DC89C}" presName="negativeSpace" presStyleCnt="0"/>
      <dgm:spPr/>
    </dgm:pt>
    <dgm:pt modelId="{FC513BA9-C5D1-4F53-B09A-71B9319685E0}" type="pres">
      <dgm:prSet presAssocID="{B2A613C1-16EE-400B-82D4-509B294DC89C}" presName="childText" presStyleLbl="conFgAcc1" presStyleIdx="2" presStyleCnt="3">
        <dgm:presLayoutVars>
          <dgm:bulletEnabled val="1"/>
        </dgm:presLayoutVars>
      </dgm:prSet>
      <dgm:spPr>
        <a:xfrm>
          <a:off x="0" y="3585318"/>
          <a:ext cx="6477000" cy="655200"/>
        </a:xfrm>
        <a:prstGeom prst="rect">
          <a:avLst/>
        </a:prstGeom>
        <a:noFill/>
        <a:ln w="9525" cap="flat" cmpd="sng" algn="ctr">
          <a:noFill/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35400" h="16350" prst="relaxedInset"/>
          <a:contourClr>
            <a:srgbClr val="FFFFFF"/>
          </a:contourClr>
        </a:sp3d>
      </dgm:spPr>
    </dgm:pt>
  </dgm:ptLst>
  <dgm:cxnLst>
    <dgm:cxn modelId="{845B620F-34A8-4CAB-B7A3-81844A9FCF6A}" srcId="{A37D2C5E-468D-4D0B-A353-C0E7C8E0676B}" destId="{B2A613C1-16EE-400B-82D4-509B294DC89C}" srcOrd="2" destOrd="0" parTransId="{512D8626-906D-4FD7-A43B-38F921A85FE9}" sibTransId="{1C0B94B9-D462-48A2-B66D-C8BEFE5B5FBF}"/>
    <dgm:cxn modelId="{C7395E2E-EC4C-44D3-A8A5-1F2EE5EFD691}" type="presOf" srcId="{98F86C74-2C31-4DB7-B0D1-44FD2AE31C67}" destId="{4D436BC5-E371-4DFA-99F2-CEDF582B9EE2}" srcOrd="1" destOrd="0" presId="urn:microsoft.com/office/officeart/2005/8/layout/list1"/>
    <dgm:cxn modelId="{CC6A144B-7EAF-4AC9-8E69-013306293764}" type="presOf" srcId="{A37D2C5E-468D-4D0B-A353-C0E7C8E0676B}" destId="{3AC126C3-CDDB-47E7-B80E-760848929C65}" srcOrd="0" destOrd="0" presId="urn:microsoft.com/office/officeart/2005/8/layout/list1"/>
    <dgm:cxn modelId="{87D1389E-E28D-491B-B133-FB9CEB1FED8F}" type="presOf" srcId="{D8D15DD1-B67C-49E6-91BC-B423DCA84719}" destId="{A99A5028-F619-4D68-92D5-1610DE276E55}" srcOrd="1" destOrd="0" presId="urn:microsoft.com/office/officeart/2005/8/layout/list1"/>
    <dgm:cxn modelId="{65420EA3-E1E7-41BD-877E-77D00BE29A36}" type="presOf" srcId="{B2A613C1-16EE-400B-82D4-509B294DC89C}" destId="{C486D433-1067-49EE-9BEA-E7CB6BB318FF}" srcOrd="1" destOrd="0" presId="urn:microsoft.com/office/officeart/2005/8/layout/list1"/>
    <dgm:cxn modelId="{0B2FF4BA-1A79-4085-BAC6-D753F4082ED5}" type="presOf" srcId="{98F86C74-2C31-4DB7-B0D1-44FD2AE31C67}" destId="{2F25881D-AEBA-4044-9113-C914B8B46D72}" srcOrd="0" destOrd="0" presId="urn:microsoft.com/office/officeart/2005/8/layout/list1"/>
    <dgm:cxn modelId="{99FBE0C4-AA42-43F3-A112-9DA4B7CEDF06}" srcId="{A37D2C5E-468D-4D0B-A353-C0E7C8E0676B}" destId="{98F86C74-2C31-4DB7-B0D1-44FD2AE31C67}" srcOrd="0" destOrd="0" parTransId="{0CF25144-A744-4D26-9710-E6815DBBBD87}" sibTransId="{CC6A0211-0277-4AD2-B0E0-60FE0EC9E22C}"/>
    <dgm:cxn modelId="{D81554CC-B1C5-4026-858C-C1EA526D336A}" type="presOf" srcId="{D8D15DD1-B67C-49E6-91BC-B423DCA84719}" destId="{71B56BA1-C354-4ECC-8AA4-B197D46B3D86}" srcOrd="0" destOrd="0" presId="urn:microsoft.com/office/officeart/2005/8/layout/list1"/>
    <dgm:cxn modelId="{F315E2E7-A726-4F60-929A-C1D339B7830D}" srcId="{A37D2C5E-468D-4D0B-A353-C0E7C8E0676B}" destId="{D8D15DD1-B67C-49E6-91BC-B423DCA84719}" srcOrd="1" destOrd="0" parTransId="{3BBDE955-B60B-4816-BDE4-0637DCA88937}" sibTransId="{CF51610B-8774-4029-BACC-9B576CAFA84B}"/>
    <dgm:cxn modelId="{5918B8FB-D483-40F2-B5DF-F6BBCB2A8E7D}" type="presOf" srcId="{B2A613C1-16EE-400B-82D4-509B294DC89C}" destId="{EB2B9BD2-F108-4A4F-8BC1-7A124B60A2C2}" srcOrd="0" destOrd="0" presId="urn:microsoft.com/office/officeart/2005/8/layout/list1"/>
    <dgm:cxn modelId="{112E046C-946A-4E2E-AF73-735353F36873}" type="presParOf" srcId="{3AC126C3-CDDB-47E7-B80E-760848929C65}" destId="{910081A7-C5AD-4C41-9F2D-DD9BAAF9C164}" srcOrd="0" destOrd="0" presId="urn:microsoft.com/office/officeart/2005/8/layout/list1"/>
    <dgm:cxn modelId="{CB86CC68-11CB-4ADC-ACC8-1EC5E8EBBE24}" type="presParOf" srcId="{910081A7-C5AD-4C41-9F2D-DD9BAAF9C164}" destId="{2F25881D-AEBA-4044-9113-C914B8B46D72}" srcOrd="0" destOrd="0" presId="urn:microsoft.com/office/officeart/2005/8/layout/list1"/>
    <dgm:cxn modelId="{A9F2F981-690A-4502-8CCF-3573D5ABFD14}" type="presParOf" srcId="{910081A7-C5AD-4C41-9F2D-DD9BAAF9C164}" destId="{4D436BC5-E371-4DFA-99F2-CEDF582B9EE2}" srcOrd="1" destOrd="0" presId="urn:microsoft.com/office/officeart/2005/8/layout/list1"/>
    <dgm:cxn modelId="{D59D170F-25F0-457B-A7DF-D1913449F1EC}" type="presParOf" srcId="{3AC126C3-CDDB-47E7-B80E-760848929C65}" destId="{7FAA184E-9EDE-47EA-AFAC-8F93639BA5A3}" srcOrd="1" destOrd="0" presId="urn:microsoft.com/office/officeart/2005/8/layout/list1"/>
    <dgm:cxn modelId="{AA0781EE-AB7C-46CB-AB39-791920BF1CDE}" type="presParOf" srcId="{3AC126C3-CDDB-47E7-B80E-760848929C65}" destId="{2C32C443-507E-41E4-81E5-1B30A111E841}" srcOrd="2" destOrd="0" presId="urn:microsoft.com/office/officeart/2005/8/layout/list1"/>
    <dgm:cxn modelId="{F8AD3B5A-ABF4-4B52-AAEB-6517061B22A5}" type="presParOf" srcId="{3AC126C3-CDDB-47E7-B80E-760848929C65}" destId="{C198138C-3188-4974-8DAC-F08D938632AB}" srcOrd="3" destOrd="0" presId="urn:microsoft.com/office/officeart/2005/8/layout/list1"/>
    <dgm:cxn modelId="{82161B27-621F-4675-B692-E7B05865E1B4}" type="presParOf" srcId="{3AC126C3-CDDB-47E7-B80E-760848929C65}" destId="{B963D915-349D-4A60-9858-68830CBD8D78}" srcOrd="4" destOrd="0" presId="urn:microsoft.com/office/officeart/2005/8/layout/list1"/>
    <dgm:cxn modelId="{4A10581C-1881-419D-9572-D4A07481122C}" type="presParOf" srcId="{B963D915-349D-4A60-9858-68830CBD8D78}" destId="{71B56BA1-C354-4ECC-8AA4-B197D46B3D86}" srcOrd="0" destOrd="0" presId="urn:microsoft.com/office/officeart/2005/8/layout/list1"/>
    <dgm:cxn modelId="{58D1E209-D2E6-4562-B4A8-4358E2C0CBE5}" type="presParOf" srcId="{B963D915-349D-4A60-9858-68830CBD8D78}" destId="{A99A5028-F619-4D68-92D5-1610DE276E55}" srcOrd="1" destOrd="0" presId="urn:microsoft.com/office/officeart/2005/8/layout/list1"/>
    <dgm:cxn modelId="{236585DB-968E-41D5-B4AE-4BBD061DD31F}" type="presParOf" srcId="{3AC126C3-CDDB-47E7-B80E-760848929C65}" destId="{AA48F753-F614-4F82-BC3B-6652F8E60FFD}" srcOrd="5" destOrd="0" presId="urn:microsoft.com/office/officeart/2005/8/layout/list1"/>
    <dgm:cxn modelId="{C28CE279-DA6F-4CF6-8CFB-D585136F022D}" type="presParOf" srcId="{3AC126C3-CDDB-47E7-B80E-760848929C65}" destId="{B0E8AEF7-6B63-4829-A153-9F54E919D681}" srcOrd="6" destOrd="0" presId="urn:microsoft.com/office/officeart/2005/8/layout/list1"/>
    <dgm:cxn modelId="{FFC63FEA-141C-4CF5-B857-815BB074DC2F}" type="presParOf" srcId="{3AC126C3-CDDB-47E7-B80E-760848929C65}" destId="{FC8FC7E3-5A43-40F4-B352-6029766A7EC1}" srcOrd="7" destOrd="0" presId="urn:microsoft.com/office/officeart/2005/8/layout/list1"/>
    <dgm:cxn modelId="{CC9BD1B6-9DED-407B-AA9A-881027F42FFA}" type="presParOf" srcId="{3AC126C3-CDDB-47E7-B80E-760848929C65}" destId="{60938C07-78F6-4290-9F10-F28A8A61E972}" srcOrd="8" destOrd="0" presId="urn:microsoft.com/office/officeart/2005/8/layout/list1"/>
    <dgm:cxn modelId="{5DD048A5-D35A-4863-9024-ED1637E05595}" type="presParOf" srcId="{60938C07-78F6-4290-9F10-F28A8A61E972}" destId="{EB2B9BD2-F108-4A4F-8BC1-7A124B60A2C2}" srcOrd="0" destOrd="0" presId="urn:microsoft.com/office/officeart/2005/8/layout/list1"/>
    <dgm:cxn modelId="{70D67FC5-1BE5-4F74-802D-5E71C0015C8F}" type="presParOf" srcId="{60938C07-78F6-4290-9F10-F28A8A61E972}" destId="{C486D433-1067-49EE-9BEA-E7CB6BB318FF}" srcOrd="1" destOrd="0" presId="urn:microsoft.com/office/officeart/2005/8/layout/list1"/>
    <dgm:cxn modelId="{5C4EE3EA-560E-47E6-8ECD-33731844E2BD}" type="presParOf" srcId="{3AC126C3-CDDB-47E7-B80E-760848929C65}" destId="{1E75BDD0-9774-4C77-9569-9633E6227E9D}" srcOrd="9" destOrd="0" presId="urn:microsoft.com/office/officeart/2005/8/layout/list1"/>
    <dgm:cxn modelId="{AD32C143-B653-43D4-BCD1-2A9292071579}" type="presParOf" srcId="{3AC126C3-CDDB-47E7-B80E-760848929C65}" destId="{FC513BA9-C5D1-4F53-B09A-71B9319685E0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32C443-507E-41E4-81E5-1B30A111E841}">
      <dsp:nvSpPr>
        <dsp:cNvPr id="0" name=""/>
        <dsp:cNvSpPr/>
      </dsp:nvSpPr>
      <dsp:spPr>
        <a:xfrm>
          <a:off x="0" y="718950"/>
          <a:ext cx="7162800" cy="655200"/>
        </a:xfrm>
        <a:prstGeom prst="rect">
          <a:avLst/>
        </a:prstGeom>
        <a:noFill/>
        <a:ln w="9525" cap="flat" cmpd="sng" algn="ctr">
          <a:noFill/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35400" h="16350" prst="relaxedInset"/>
          <a:contourClr>
            <a:srgbClr val="FFFFFF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4D436BC5-E371-4DFA-99F2-CEDF582B9EE2}">
      <dsp:nvSpPr>
        <dsp:cNvPr id="0" name=""/>
        <dsp:cNvSpPr/>
      </dsp:nvSpPr>
      <dsp:spPr>
        <a:xfrm>
          <a:off x="353593" y="132910"/>
          <a:ext cx="6808354" cy="1049598"/>
        </a:xfrm>
        <a:prstGeom prst="roundRect">
          <a:avLst/>
        </a:prstGeom>
        <a:solidFill>
          <a:srgbClr val="C00000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9516" tIns="0" rIns="189516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Diminution de la </a:t>
          </a:r>
          <a:r>
            <a:rPr lang="en-US" sz="1800" kern="1200" dirty="0" err="1"/>
            <a:t>qualité</a:t>
          </a:r>
          <a:r>
            <a:rPr lang="en-US" sz="1800" kern="1200" dirty="0"/>
            <a:t>  de vie 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Infections </a:t>
          </a:r>
          <a:r>
            <a:rPr lang="en-US" sz="1800" kern="1200" dirty="0" err="1"/>
            <a:t>sévères</a:t>
          </a:r>
          <a:r>
            <a:rPr lang="en-US" sz="1800" kern="1200" dirty="0"/>
            <a:t> 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/>
            <a:t>Une</a:t>
          </a:r>
          <a:r>
            <a:rPr lang="en-US" sz="1800" kern="1200" dirty="0"/>
            <a:t> </a:t>
          </a:r>
          <a:r>
            <a:rPr lang="en-US" sz="1800" kern="1200" dirty="0" err="1"/>
            <a:t>morbidité</a:t>
          </a:r>
          <a:r>
            <a:rPr lang="en-US" sz="1800" kern="1200" dirty="0"/>
            <a:t> et </a:t>
          </a:r>
          <a:r>
            <a:rPr lang="en-US" sz="1800" kern="1200" dirty="0" err="1"/>
            <a:t>une</a:t>
          </a:r>
          <a:r>
            <a:rPr lang="en-US" sz="1800" kern="1200" dirty="0"/>
            <a:t> </a:t>
          </a:r>
          <a:r>
            <a:rPr lang="en-US" sz="1800" kern="1200" dirty="0" err="1"/>
            <a:t>mortalité</a:t>
          </a:r>
          <a:r>
            <a:rPr lang="en-US" sz="1800" kern="1200" dirty="0"/>
            <a:t> </a:t>
          </a:r>
          <a:r>
            <a:rPr lang="en-US" sz="1800" kern="1200" dirty="0" err="1"/>
            <a:t>importantes</a:t>
          </a:r>
          <a:r>
            <a:rPr lang="en-US" sz="1800" kern="1200" dirty="0"/>
            <a:t> </a:t>
          </a:r>
          <a:endParaRPr lang="en-US" sz="1800" b="1" kern="1200" dirty="0">
            <a:solidFill>
              <a:srgbClr val="FFFFFF"/>
            </a:solidFill>
            <a:effectLst/>
            <a:latin typeface="Arial"/>
            <a:ea typeface="+mn-ea"/>
            <a:cs typeface="Arial"/>
          </a:endParaRPr>
        </a:p>
      </dsp:txBody>
      <dsp:txXfrm>
        <a:off x="404830" y="184147"/>
        <a:ext cx="6705880" cy="947124"/>
      </dsp:txXfrm>
    </dsp:sp>
    <dsp:sp modelId="{B0E8AEF7-6B63-4829-A153-9F54E919D681}">
      <dsp:nvSpPr>
        <dsp:cNvPr id="0" name=""/>
        <dsp:cNvSpPr/>
      </dsp:nvSpPr>
      <dsp:spPr>
        <a:xfrm>
          <a:off x="0" y="2194222"/>
          <a:ext cx="7162800" cy="655200"/>
        </a:xfrm>
        <a:prstGeom prst="rect">
          <a:avLst/>
        </a:prstGeom>
        <a:noFill/>
        <a:ln w="9525" cap="flat" cmpd="sng" algn="ctr">
          <a:noFill/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35400" h="16350" prst="relaxedInset"/>
          <a:contourClr>
            <a:srgbClr val="FFFFFF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A99A5028-F619-4D68-92D5-1610DE276E55}">
      <dsp:nvSpPr>
        <dsp:cNvPr id="0" name=""/>
        <dsp:cNvSpPr/>
      </dsp:nvSpPr>
      <dsp:spPr>
        <a:xfrm>
          <a:off x="358140" y="1514550"/>
          <a:ext cx="6731642" cy="1058348"/>
        </a:xfrm>
        <a:prstGeom prst="roundRect">
          <a:avLst/>
        </a:prstGeom>
        <a:solidFill>
          <a:srgbClr val="7030A0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9516" tIns="0" rIns="189516" bIns="0" numCol="1" spcCol="1270" anchor="ctr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Retard de </a:t>
          </a:r>
          <a:r>
            <a:rPr lang="en-US" sz="2000" kern="1200" dirty="0" err="1"/>
            <a:t>traitement</a:t>
          </a:r>
          <a:r>
            <a:rPr lang="en-US" sz="2000" kern="1200" dirty="0"/>
            <a:t> (</a:t>
          </a:r>
          <a:r>
            <a:rPr lang="en-US" sz="2000" kern="1200" dirty="0" err="1"/>
            <a:t>chimiothérapie</a:t>
          </a:r>
          <a:r>
            <a:rPr lang="en-US" sz="2000" kern="1200" dirty="0"/>
            <a:t>), diminution de dose</a:t>
          </a:r>
        </a:p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/>
            <a:t>Hospitalisation</a:t>
          </a:r>
          <a:r>
            <a:rPr lang="en-US" sz="2000" kern="1200" dirty="0"/>
            <a:t>, </a:t>
          </a:r>
          <a:r>
            <a:rPr lang="en-US" sz="2000" kern="1200" dirty="0" err="1"/>
            <a:t>antibiothérapie</a:t>
          </a:r>
          <a:endParaRPr lang="en-US" sz="2000" kern="1200" dirty="0"/>
        </a:p>
      </dsp:txBody>
      <dsp:txXfrm>
        <a:off x="409804" y="1566214"/>
        <a:ext cx="6628314" cy="955020"/>
      </dsp:txXfrm>
    </dsp:sp>
    <dsp:sp modelId="{FC513BA9-C5D1-4F53-B09A-71B9319685E0}">
      <dsp:nvSpPr>
        <dsp:cNvPr id="0" name=""/>
        <dsp:cNvSpPr/>
      </dsp:nvSpPr>
      <dsp:spPr>
        <a:xfrm>
          <a:off x="0" y="3711288"/>
          <a:ext cx="7162800" cy="655200"/>
        </a:xfrm>
        <a:prstGeom prst="rect">
          <a:avLst/>
        </a:prstGeom>
        <a:noFill/>
        <a:ln w="9525" cap="flat" cmpd="sng" algn="ctr">
          <a:noFill/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35400" h="16350" prst="relaxedInset"/>
          <a:contourClr>
            <a:srgbClr val="FFFFFF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C486D433-1067-49EE-9BEA-E7CB6BB318FF}">
      <dsp:nvSpPr>
        <dsp:cNvPr id="0" name=""/>
        <dsp:cNvSpPr/>
      </dsp:nvSpPr>
      <dsp:spPr>
        <a:xfrm>
          <a:off x="421340" y="3005899"/>
          <a:ext cx="6629307" cy="1110309"/>
        </a:xfrm>
        <a:prstGeom prst="roundRect">
          <a:avLst/>
        </a:prstGeom>
        <a:solidFill>
          <a:srgbClr val="005BC3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9516" tIns="0" rIns="189516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Un </a:t>
          </a:r>
          <a:r>
            <a:rPr lang="en-US" sz="2000" kern="1200" dirty="0" err="1"/>
            <a:t>coût</a:t>
          </a:r>
          <a:r>
            <a:rPr lang="en-US" sz="2000" kern="1200" dirty="0"/>
            <a:t> </a:t>
          </a:r>
          <a:r>
            <a:rPr lang="en-US" sz="2000" kern="1200" dirty="0" err="1"/>
            <a:t>élevé</a:t>
          </a:r>
          <a:r>
            <a:rPr lang="en-US" sz="2000" kern="1200" dirty="0"/>
            <a:t> pour la </a:t>
          </a:r>
          <a:r>
            <a:rPr lang="en-US" sz="2000" kern="1200" dirty="0" err="1"/>
            <a:t>société</a:t>
          </a:r>
          <a:r>
            <a:rPr lang="en-US" sz="2000" kern="1200" dirty="0"/>
            <a:t> et pour le patient </a:t>
          </a:r>
          <a:endParaRPr lang="en-US" sz="2000" b="1" kern="1200" dirty="0">
            <a:solidFill>
              <a:srgbClr val="FFFFFF"/>
            </a:solidFill>
            <a:effectLst/>
            <a:latin typeface="Arial"/>
            <a:ea typeface="+mn-ea"/>
            <a:cs typeface="Arial"/>
          </a:endParaRPr>
        </a:p>
      </dsp:txBody>
      <dsp:txXfrm>
        <a:off x="475541" y="3060100"/>
        <a:ext cx="6520905" cy="100190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o-RO" noProof="0"/>
              <a:t>Se face clic pentru editarea stilurilor textului Coordonatorului</a:t>
            </a:r>
          </a:p>
          <a:p>
            <a:pPr lvl="1"/>
            <a:r>
              <a:rPr lang="ro-RO" noProof="0"/>
              <a:t>Nivelul secund</a:t>
            </a:r>
          </a:p>
          <a:p>
            <a:pPr lvl="2"/>
            <a:r>
              <a:rPr lang="ro-RO" noProof="0"/>
              <a:t>Al treilea nivel</a:t>
            </a:r>
          </a:p>
          <a:p>
            <a:pPr lvl="3"/>
            <a:r>
              <a:rPr lang="ro-RO" noProof="0"/>
              <a:t>Al patrulea nivel</a:t>
            </a:r>
          </a:p>
          <a:p>
            <a:pPr lvl="4"/>
            <a:r>
              <a:rPr lang="ro-RO" noProof="0"/>
              <a:t>Al cincilea nivel</a:t>
            </a:r>
          </a:p>
        </p:txBody>
      </p:sp>
      <p:sp>
        <p:nvSpPr>
          <p:cNvPr id="245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245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fld id="{751F6173-B326-4E5B-A668-369C542C0C17}" type="slidenum">
              <a:rPr lang="ro-RO"/>
              <a:pPr>
                <a:defRPr/>
              </a:pPr>
              <a:t>‹N°›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77212707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51F6173-B326-4E5B-A668-369C542C0C17}" type="slidenum">
              <a:rPr lang="ro-RO" smtClean="0"/>
              <a:pPr>
                <a:defRPr/>
              </a:pPr>
              <a:t>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9749917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51F6173-B326-4E5B-A668-369C542C0C17}" type="slidenum">
              <a:rPr lang="ro-RO" smtClean="0"/>
              <a:pPr>
                <a:defRPr/>
              </a:pPr>
              <a:t>7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3213938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51F6173-B326-4E5B-A668-369C542C0C17}" type="slidenum">
              <a:rPr lang="ro-RO" smtClean="0"/>
              <a:pPr>
                <a:defRPr/>
              </a:pPr>
              <a:t>14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2342262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51F6173-B326-4E5B-A668-369C542C0C17}" type="slidenum">
              <a:rPr lang="ro-RO" smtClean="0"/>
              <a:pPr>
                <a:defRPr/>
              </a:pPr>
              <a:t>15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0879707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51F6173-B326-4E5B-A668-369C542C0C17}" type="slidenum">
              <a:rPr lang="ro-RO" smtClean="0"/>
              <a:pPr>
                <a:defRPr/>
              </a:pPr>
              <a:t>25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2735817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51F6173-B326-4E5B-A668-369C542C0C17}" type="slidenum">
              <a:rPr lang="ro-RO" smtClean="0"/>
              <a:pPr>
                <a:defRPr/>
              </a:pPr>
              <a:t>26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0363608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zitiv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titlu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o-RO"/>
              <a:t>Faceți clic pentru editarea stilului de subtitlu al coordonatorului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00CEB2-7FB7-4DFD-8C23-153C0DB542CA}" type="slidenum">
              <a:rPr lang="ro-RO"/>
              <a:pPr>
                <a:defRPr/>
              </a:pPr>
              <a:t>‹N°›</a:t>
            </a:fld>
            <a:endParaRPr lang="ro-RO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o-RO"/>
              <a:t>Faceți clic pentru a edita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1F09BB-B134-447B-B62D-5E19F1AC4E5C}" type="slidenum">
              <a:rPr lang="ro-RO"/>
              <a:pPr>
                <a:defRPr/>
              </a:pPr>
              <a:t>‹N°›</a:t>
            </a:fld>
            <a:endParaRPr 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o-RO"/>
              <a:t>Faceți clic pentru a edita stilurile de text Coordonator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52904A-FF60-4F0D-AD72-5958AAC491E4}" type="slidenum">
              <a:rPr lang="ro-RO"/>
              <a:pPr>
                <a:defRPr/>
              </a:pPr>
              <a:t>‹N°›</a:t>
            </a:fld>
            <a:endParaRPr 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o-RO"/>
              <a:t>Faceți clic pentru a edita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conținut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o-RO"/>
              <a:t>Faceți clic pentru a edita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7A6C36-5B18-4C4B-9AE4-9C5060EA5EB8}" type="slidenum">
              <a:rPr lang="ro-RO"/>
              <a:pPr>
                <a:defRPr/>
              </a:pPr>
              <a:t>‹N°›</a:t>
            </a:fld>
            <a:endParaRPr 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Faceți clic pentru a edita stilurile de text Coordonator</a:t>
            </a:r>
          </a:p>
        </p:txBody>
      </p:sp>
      <p:sp>
        <p:nvSpPr>
          <p:cNvPr id="4" name="Substituent conținut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o-RO"/>
              <a:t>Faceți clic pentru a edita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5" name="Substituent tex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Faceți clic pentru a edita stilurile de text Coordonator</a:t>
            </a:r>
          </a:p>
        </p:txBody>
      </p:sp>
      <p:sp>
        <p:nvSpPr>
          <p:cNvPr id="6" name="Substituent conținut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o-RO"/>
              <a:t>Faceți clic pentru a edita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263422-10D4-4DEF-BAB6-AB01D7F58261}" type="slidenum">
              <a:rPr lang="ro-RO"/>
              <a:pPr>
                <a:defRPr/>
              </a:pPr>
              <a:t>‹N°›</a:t>
            </a:fld>
            <a:endParaRPr 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BEA2A9-9EB6-4820-8C01-946DA4AC54D6}" type="slidenum">
              <a:rPr lang="ro-RO"/>
              <a:pPr>
                <a:defRPr/>
              </a:pPr>
              <a:t>‹N°›</a:t>
            </a:fld>
            <a:endParaRPr 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6A67F4-8C37-4FA4-A8F7-F344800AF335}" type="slidenum">
              <a:rPr lang="ro-RO"/>
              <a:pPr>
                <a:defRPr/>
              </a:pPr>
              <a:t>‹N°›</a:t>
            </a:fld>
            <a:endParaRPr 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o-RO"/>
              <a:t>Faceți clic pentru a edita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tex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/>
              <a:t>Faceți clic pentru a edita stilurile de text Coordonator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E2B07A-8FB7-40D6-9758-922AE8B8BC83}" type="slidenum">
              <a:rPr lang="ro-RO"/>
              <a:pPr>
                <a:defRPr/>
              </a:pPr>
              <a:t>‹N°›</a:t>
            </a:fld>
            <a:endParaRPr 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i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o-RO" noProof="0"/>
          </a:p>
        </p:txBody>
      </p:sp>
      <p:sp>
        <p:nvSpPr>
          <p:cNvPr id="4" name="Substituent tex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/>
              <a:t>Faceți clic pentru a edita stilurile de text Coordonator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726358-1777-4E30-8D7C-1EE7395EBD1E}" type="slidenum">
              <a:rPr lang="ro-RO"/>
              <a:pPr>
                <a:defRPr/>
              </a:pPr>
              <a:t>‹N°›</a:t>
            </a:fld>
            <a:endParaRPr 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o-RO"/>
              <a:t>Faceți clic pentru a edita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4AB0DC-CFC0-4007-B2D1-5CAA1770FCC3}" type="slidenum">
              <a:rPr lang="ro-RO"/>
              <a:pPr>
                <a:defRPr/>
              </a:pPr>
              <a:t>‹N°›</a:t>
            </a:fld>
            <a:endParaRPr 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o-RO"/>
              <a:t>Faceți clic pentru a edita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694BC7-48DE-4ED7-BF54-677EDFC8D42C}" type="slidenum">
              <a:rPr lang="ro-RO"/>
              <a:pPr>
                <a:defRPr/>
              </a:pPr>
              <a:t>‹N°›</a:t>
            </a:fld>
            <a:endParaRPr 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Only" preserve="1">
  <p:cSld name="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conținut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ro-RO"/>
              <a:t>Faceți clic pentru a edita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F8113E-04AF-45DD-AE8D-D31B3E755050}" type="slidenum">
              <a:rPr lang="ro-RO"/>
              <a:pPr>
                <a:defRPr/>
              </a:pPr>
              <a:t>‹N°›</a:t>
            </a:fld>
            <a:endParaRPr lang="ro-RO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9" y="0"/>
            <a:ext cx="1508759" cy="6858000"/>
          </a:xfrm>
          <a:prstGeom prst="rect">
            <a:avLst/>
          </a:prstGeom>
        </p:spPr>
      </p:pic>
      <p:sp>
        <p:nvSpPr>
          <p:cNvPr id="18" name="Picture Placeholder 4"/>
          <p:cNvSpPr>
            <a:spLocks noGrp="1"/>
          </p:cNvSpPr>
          <p:nvPr>
            <p:ph type="pic" sz="quarter" idx="13" hasCustomPrompt="1"/>
          </p:nvPr>
        </p:nvSpPr>
        <p:spPr bwMode="auto">
          <a:xfrm>
            <a:off x="685800" y="457200"/>
            <a:ext cx="7770813" cy="3794760"/>
          </a:xfrm>
          <a:solidFill>
            <a:srgbClr val="CCCCCC"/>
          </a:solidFill>
        </p:spPr>
        <p:txBody>
          <a:bodyPr anchor="ctr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25000"/>
              <a:buFont typeface="Arial" pitchFamily="34" charset="0"/>
              <a:buNone/>
              <a:tabLst>
                <a:tab pos="3998913" algn="r"/>
                <a:tab pos="8229600" algn="r"/>
              </a:tabLst>
              <a:defRPr sz="1200"/>
            </a:lvl1pPr>
          </a:lstStyle>
          <a:p>
            <a:r>
              <a:rPr lang="en-US" dirty="0"/>
              <a:t>Insert picture. Get approved pictures at http://</a:t>
            </a:r>
            <a:r>
              <a:rPr lang="en-US" dirty="0" err="1"/>
              <a:t>www.novartisbrandlab.com</a:t>
            </a:r>
            <a:r>
              <a:rPr lang="en-US" dirty="0"/>
              <a:t>/resources/library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>
          <a:xfrm>
            <a:off x="1965960" y="4389120"/>
            <a:ext cx="6490654" cy="960120"/>
          </a:xfrm>
        </p:spPr>
        <p:txBody>
          <a:bodyPr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auto">
          <a:xfrm>
            <a:off x="1965958" y="5440680"/>
            <a:ext cx="4343400" cy="1097280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rgbClr val="00000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0" y="914400"/>
            <a:ext cx="1965960" cy="777240"/>
          </a:xfrm>
          <a:solidFill>
            <a:schemeClr val="accent1"/>
          </a:solidFill>
        </p:spPr>
        <p:txBody>
          <a:bodyPr lIns="274320" tIns="91440" rIns="91440" bIns="91440" anchor="ctr" anchorCtr="0">
            <a:normAutofit/>
          </a:bodyPr>
          <a:lstStyle>
            <a:lvl1pPr marL="0" indent="0">
              <a:spcBef>
                <a:spcPts val="0"/>
              </a:spcBef>
              <a:buFont typeface="Arial"/>
              <a:buNone/>
              <a:defRPr sz="1000" b="1" baseline="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 typeface="Arial"/>
              <a:buNone/>
              <a:defRPr sz="1000" b="1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Font typeface="Arial"/>
              <a:buNone/>
              <a:defRPr sz="1000" b="1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Font typeface="Arial"/>
              <a:buNone/>
              <a:defRPr sz="1000" b="1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Font typeface="Arial"/>
              <a:buNone/>
              <a:defRPr sz="10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Business Unit/Franchise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-137160" y="-137160"/>
            <a:ext cx="9418320" cy="7132320"/>
            <a:chOff x="-137160" y="-137160"/>
            <a:chExt cx="9418320" cy="7132320"/>
          </a:xfrm>
        </p:grpSpPr>
        <p:cxnSp>
          <p:nvCxnSpPr>
            <p:cNvPr id="8" name="Straight Connector 7"/>
            <p:cNvCxnSpPr/>
            <p:nvPr userDrawn="1"/>
          </p:nvCxnSpPr>
          <p:spPr>
            <a:xfrm flipV="1">
              <a:off x="1508857" y="-137160"/>
              <a:ext cx="0" cy="91440"/>
            </a:xfrm>
            <a:prstGeom prst="line">
              <a:avLst/>
            </a:prstGeom>
            <a:ln w="6350">
              <a:solidFill>
                <a:srgbClr val="7373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 userDrawn="1"/>
          </p:nvCxnSpPr>
          <p:spPr>
            <a:xfrm flipV="1">
              <a:off x="8458200" y="-137160"/>
              <a:ext cx="0" cy="91440"/>
            </a:xfrm>
            <a:prstGeom prst="line">
              <a:avLst/>
            </a:prstGeom>
            <a:ln w="6350">
              <a:solidFill>
                <a:srgbClr val="7373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 userDrawn="1"/>
          </p:nvCxnSpPr>
          <p:spPr>
            <a:xfrm flipV="1">
              <a:off x="1508857" y="6903720"/>
              <a:ext cx="0" cy="91440"/>
            </a:xfrm>
            <a:prstGeom prst="line">
              <a:avLst/>
            </a:prstGeom>
            <a:ln w="6350">
              <a:solidFill>
                <a:srgbClr val="7373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 userDrawn="1"/>
          </p:nvCxnSpPr>
          <p:spPr>
            <a:xfrm flipV="1">
              <a:off x="8458200" y="6903720"/>
              <a:ext cx="0" cy="91440"/>
            </a:xfrm>
            <a:prstGeom prst="line">
              <a:avLst/>
            </a:prstGeom>
            <a:ln w="6350">
              <a:solidFill>
                <a:srgbClr val="7373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 userDrawn="1"/>
          </p:nvCxnSpPr>
          <p:spPr>
            <a:xfrm flipV="1">
              <a:off x="1965960" y="-137160"/>
              <a:ext cx="0" cy="91440"/>
            </a:xfrm>
            <a:prstGeom prst="line">
              <a:avLst/>
            </a:prstGeom>
            <a:ln w="6350">
              <a:solidFill>
                <a:srgbClr val="7373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 userDrawn="1"/>
          </p:nvCxnSpPr>
          <p:spPr>
            <a:xfrm flipV="1">
              <a:off x="1965960" y="6903720"/>
              <a:ext cx="0" cy="91440"/>
            </a:xfrm>
            <a:prstGeom prst="line">
              <a:avLst/>
            </a:prstGeom>
            <a:ln w="6350">
              <a:solidFill>
                <a:srgbClr val="7373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 userDrawn="1"/>
          </p:nvCxnSpPr>
          <p:spPr>
            <a:xfrm>
              <a:off x="9189720" y="1691640"/>
              <a:ext cx="91440" cy="0"/>
            </a:xfrm>
            <a:prstGeom prst="line">
              <a:avLst/>
            </a:prstGeom>
            <a:ln w="6350">
              <a:solidFill>
                <a:srgbClr val="7373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 userDrawn="1"/>
          </p:nvCxnSpPr>
          <p:spPr>
            <a:xfrm>
              <a:off x="-137160" y="1691640"/>
              <a:ext cx="91440" cy="0"/>
            </a:xfrm>
            <a:prstGeom prst="line">
              <a:avLst/>
            </a:prstGeom>
            <a:ln w="6350">
              <a:solidFill>
                <a:srgbClr val="7373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>
            <a:xfrm>
              <a:off x="9189720" y="914400"/>
              <a:ext cx="91440" cy="0"/>
            </a:xfrm>
            <a:prstGeom prst="line">
              <a:avLst/>
            </a:prstGeom>
            <a:ln w="6350">
              <a:solidFill>
                <a:srgbClr val="7373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>
            <a:xfrm>
              <a:off x="-137160" y="914400"/>
              <a:ext cx="91440" cy="0"/>
            </a:xfrm>
            <a:prstGeom prst="line">
              <a:avLst/>
            </a:prstGeom>
            <a:ln w="6350">
              <a:solidFill>
                <a:srgbClr val="7373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3" name="Picture 2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5160" y="6370767"/>
            <a:ext cx="1463040" cy="177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6230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No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9" y="0"/>
            <a:ext cx="150875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>
          <a:xfrm>
            <a:off x="1965960" y="2331720"/>
            <a:ext cx="6490654" cy="2286000"/>
          </a:xfrm>
        </p:spPr>
        <p:txBody>
          <a:bodyPr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auto">
          <a:xfrm>
            <a:off x="1965960" y="4709161"/>
            <a:ext cx="6490654" cy="1324927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rgbClr val="00000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0" y="914400"/>
            <a:ext cx="1965960" cy="777240"/>
          </a:xfrm>
          <a:solidFill>
            <a:schemeClr val="accent1"/>
          </a:solidFill>
        </p:spPr>
        <p:txBody>
          <a:bodyPr lIns="274320" tIns="91440" rIns="91440" bIns="91440" anchor="ctr" anchorCtr="0">
            <a:normAutofit/>
          </a:bodyPr>
          <a:lstStyle>
            <a:lvl1pPr marL="0" indent="0">
              <a:spcBef>
                <a:spcPts val="0"/>
              </a:spcBef>
              <a:buFont typeface="Arial"/>
              <a:buNone/>
              <a:defRPr sz="1000" b="1" baseline="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 typeface="Arial"/>
              <a:buNone/>
              <a:defRPr sz="1000" b="1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Font typeface="Arial"/>
              <a:buNone/>
              <a:defRPr sz="1000" b="1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Font typeface="Arial"/>
              <a:buNone/>
              <a:defRPr sz="1000" b="1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Font typeface="Arial"/>
              <a:buNone/>
              <a:defRPr sz="10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Business Unit/Franchise</a:t>
            </a:r>
          </a:p>
        </p:txBody>
      </p:sp>
      <p:grpSp>
        <p:nvGrpSpPr>
          <p:cNvPr id="20" name="Group 19"/>
          <p:cNvGrpSpPr/>
          <p:nvPr userDrawn="1"/>
        </p:nvGrpSpPr>
        <p:grpSpPr>
          <a:xfrm>
            <a:off x="-137160" y="-137160"/>
            <a:ext cx="9418320" cy="7132320"/>
            <a:chOff x="-137160" y="-137160"/>
            <a:chExt cx="9418320" cy="7132320"/>
          </a:xfrm>
        </p:grpSpPr>
        <p:cxnSp>
          <p:nvCxnSpPr>
            <p:cNvPr id="22" name="Straight Connector 21"/>
            <p:cNvCxnSpPr/>
            <p:nvPr userDrawn="1"/>
          </p:nvCxnSpPr>
          <p:spPr>
            <a:xfrm flipV="1">
              <a:off x="1508857" y="-137160"/>
              <a:ext cx="0" cy="91440"/>
            </a:xfrm>
            <a:prstGeom prst="line">
              <a:avLst/>
            </a:prstGeom>
            <a:ln w="6350">
              <a:solidFill>
                <a:srgbClr val="7373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 flipV="1">
              <a:off x="8458200" y="-137160"/>
              <a:ext cx="0" cy="91440"/>
            </a:xfrm>
            <a:prstGeom prst="line">
              <a:avLst/>
            </a:prstGeom>
            <a:ln w="6350">
              <a:solidFill>
                <a:srgbClr val="7373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>
            <a:xfrm flipV="1">
              <a:off x="1508857" y="6903720"/>
              <a:ext cx="0" cy="91440"/>
            </a:xfrm>
            <a:prstGeom prst="line">
              <a:avLst/>
            </a:prstGeom>
            <a:ln w="6350">
              <a:solidFill>
                <a:srgbClr val="7373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>
            <a:xfrm flipV="1">
              <a:off x="8458200" y="6903720"/>
              <a:ext cx="0" cy="91440"/>
            </a:xfrm>
            <a:prstGeom prst="line">
              <a:avLst/>
            </a:prstGeom>
            <a:ln w="6350">
              <a:solidFill>
                <a:srgbClr val="7373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>
            <a:xfrm flipV="1">
              <a:off x="1965960" y="-137160"/>
              <a:ext cx="0" cy="91440"/>
            </a:xfrm>
            <a:prstGeom prst="line">
              <a:avLst/>
            </a:prstGeom>
            <a:ln w="6350">
              <a:solidFill>
                <a:srgbClr val="7373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 userDrawn="1"/>
          </p:nvCxnSpPr>
          <p:spPr>
            <a:xfrm flipV="1">
              <a:off x="1965960" y="6903720"/>
              <a:ext cx="0" cy="91440"/>
            </a:xfrm>
            <a:prstGeom prst="line">
              <a:avLst/>
            </a:prstGeom>
            <a:ln w="6350">
              <a:solidFill>
                <a:srgbClr val="7373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 userDrawn="1"/>
          </p:nvCxnSpPr>
          <p:spPr>
            <a:xfrm>
              <a:off x="9189720" y="1691640"/>
              <a:ext cx="91440" cy="0"/>
            </a:xfrm>
            <a:prstGeom prst="line">
              <a:avLst/>
            </a:prstGeom>
            <a:ln w="6350">
              <a:solidFill>
                <a:srgbClr val="7373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 userDrawn="1"/>
          </p:nvCxnSpPr>
          <p:spPr>
            <a:xfrm>
              <a:off x="-137160" y="1691640"/>
              <a:ext cx="91440" cy="0"/>
            </a:xfrm>
            <a:prstGeom prst="line">
              <a:avLst/>
            </a:prstGeom>
            <a:ln w="6350">
              <a:solidFill>
                <a:srgbClr val="7373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>
            <a:xfrm>
              <a:off x="9189720" y="914400"/>
              <a:ext cx="91440" cy="0"/>
            </a:xfrm>
            <a:prstGeom prst="line">
              <a:avLst/>
            </a:prstGeom>
            <a:ln w="6350">
              <a:solidFill>
                <a:srgbClr val="7373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>
            <a:xfrm>
              <a:off x="-137160" y="914400"/>
              <a:ext cx="91440" cy="0"/>
            </a:xfrm>
            <a:prstGeom prst="line">
              <a:avLst/>
            </a:prstGeom>
            <a:ln w="6350">
              <a:solidFill>
                <a:srgbClr val="7373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5160" y="6370767"/>
            <a:ext cx="1463040" cy="177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8209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452438" indent="-452438">
              <a:buSzPct val="100000"/>
              <a:buFont typeface="+mj-lt"/>
              <a:buAutoNum type="arabicPeriod"/>
              <a:defRPr/>
            </a:lvl1pPr>
            <a:lvl2pPr marL="684213" indent="-231775">
              <a:defRPr/>
            </a:lvl2pPr>
            <a:lvl3pPr marL="914400" indent="-230188">
              <a:defRPr/>
            </a:lvl3pPr>
            <a:lvl4pPr marL="1146175" indent="-231775">
              <a:defRPr/>
            </a:lvl4pPr>
            <a:lvl5pPr marL="1368425" indent="-22225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Business Use Only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7547CF9-5B10-D24F-A8D7-45A9778164F7}" type="slidenum">
              <a:rPr lang="uk-UA" smtClean="0"/>
              <a:pPr/>
              <a:t>‹N°›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1083391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Business Use Only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7547CF9-5B10-D24F-A8D7-45A9778164F7}" type="slidenum">
              <a:rPr lang="uk-UA" smtClean="0"/>
              <a:pPr/>
              <a:t>‹N°›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3359262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508761"/>
            <a:ext cx="3794760" cy="452532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508761"/>
            <a:ext cx="3794760" cy="452532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9601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Business Use Only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7547CF9-5B10-D24F-A8D7-45A9778164F7}" type="slidenum">
              <a:rPr lang="uk-UA" smtClean="0"/>
              <a:pPr/>
              <a:t>‹N°›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24797681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Text and 1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4663440" y="5623561"/>
            <a:ext cx="3794760" cy="410528"/>
          </a:xfrm>
        </p:spPr>
        <p:txBody>
          <a:bodyPr anchor="t" anchorCtr="0">
            <a:noAutofit/>
          </a:bodyPr>
          <a:lstStyle>
            <a:lvl1pPr marL="0" indent="0">
              <a:spcBef>
                <a:spcPts val="0"/>
              </a:spcBef>
              <a:buFont typeface="Arial"/>
              <a:buNone/>
              <a:defRPr sz="1200" b="1" baseline="0">
                <a:solidFill>
                  <a:srgbClr val="000000"/>
                </a:solidFill>
              </a:defRPr>
            </a:lvl1pPr>
            <a:lvl2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2pPr>
            <a:lvl3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3pPr>
            <a:lvl4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4pPr>
            <a:lvl5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Optional picture caption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508761"/>
            <a:ext cx="3794760" cy="452532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9601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Business Use Only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7547CF9-5B10-D24F-A8D7-45A9778164F7}" type="slidenum">
              <a:rPr lang="uk-UA" smtClean="0"/>
              <a:pPr/>
              <a:t>‹N°›</a:t>
            </a:fld>
            <a:endParaRPr lang="uk-UA" dirty="0"/>
          </a:p>
        </p:txBody>
      </p:sp>
      <p:sp>
        <p:nvSpPr>
          <p:cNvPr id="11" name="Content Placeholder 2"/>
          <p:cNvSpPr>
            <a:spLocks noGrp="1"/>
          </p:cNvSpPr>
          <p:nvPr>
            <p:ph sz="half" idx="17" hasCustomPrompt="1"/>
          </p:nvPr>
        </p:nvSpPr>
        <p:spPr>
          <a:xfrm>
            <a:off x="4663440" y="1508761"/>
            <a:ext cx="3794760" cy="4023359"/>
          </a:xfrm>
          <a:solidFill>
            <a:srgbClr val="CCCCCC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200"/>
            </a:lvl1pPr>
            <a:lvl2pPr marL="0" indent="0" algn="ctr">
              <a:spcBef>
                <a:spcPts val="0"/>
              </a:spcBef>
              <a:buNone/>
              <a:defRPr sz="1200"/>
            </a:lvl2pPr>
            <a:lvl3pPr marL="0" indent="0" algn="ctr">
              <a:spcBef>
                <a:spcPts val="0"/>
              </a:spcBef>
              <a:buNone/>
              <a:defRPr sz="1200"/>
            </a:lvl3pPr>
            <a:lvl4pPr marL="0" indent="0" algn="ctr">
              <a:spcBef>
                <a:spcPts val="0"/>
              </a:spcBef>
              <a:buNone/>
              <a:defRPr sz="1200"/>
            </a:lvl4pPr>
            <a:lvl5pPr marL="0" indent="0" algn="ctr">
              <a:spcBef>
                <a:spcPts val="0"/>
              </a:spcBef>
              <a:buNone/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Insert picture. Get approved pictures at http://</a:t>
            </a:r>
            <a:r>
              <a:rPr lang="en-US" dirty="0" err="1"/>
              <a:t>www.novartisbrandlab.com</a:t>
            </a:r>
            <a:r>
              <a:rPr lang="en-US" dirty="0"/>
              <a:t>/resources/library</a:t>
            </a:r>
          </a:p>
        </p:txBody>
      </p:sp>
    </p:spTree>
    <p:extLst>
      <p:ext uri="{BB962C8B-B14F-4D97-AF65-F5344CB8AC3E}">
        <p14:creationId xmlns:p14="http://schemas.microsoft.com/office/powerpoint/2010/main" val="72902827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1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685800" y="1508761"/>
            <a:ext cx="7772400" cy="453839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Font typeface="Arial"/>
              <a:buNone/>
              <a:defRPr sz="2400" b="0" baseline="0">
                <a:solidFill>
                  <a:srgbClr val="000000"/>
                </a:solidFill>
              </a:defRPr>
            </a:lvl1pPr>
            <a:lvl2pPr marL="0" indent="0">
              <a:spcBef>
                <a:spcPts val="0"/>
              </a:spcBef>
              <a:buFont typeface="Arial"/>
              <a:buNone/>
              <a:defRPr sz="2400" b="0">
                <a:solidFill>
                  <a:srgbClr val="000000"/>
                </a:solidFill>
              </a:defRPr>
            </a:lvl2pPr>
            <a:lvl3pPr marL="0" indent="0">
              <a:spcBef>
                <a:spcPts val="0"/>
              </a:spcBef>
              <a:buFont typeface="Arial"/>
              <a:buNone/>
              <a:defRPr sz="2400" b="0">
                <a:solidFill>
                  <a:srgbClr val="000000"/>
                </a:solidFill>
              </a:defRPr>
            </a:lvl3pPr>
            <a:lvl4pPr marL="0" indent="0">
              <a:spcBef>
                <a:spcPts val="0"/>
              </a:spcBef>
              <a:buFont typeface="Arial"/>
              <a:buNone/>
              <a:defRPr sz="2400" b="0">
                <a:solidFill>
                  <a:srgbClr val="000000"/>
                </a:solidFill>
              </a:defRPr>
            </a:lvl4pPr>
            <a:lvl5pPr marL="0" indent="0">
              <a:spcBef>
                <a:spcPts val="0"/>
              </a:spcBef>
              <a:buFont typeface="Arial"/>
              <a:buNone/>
              <a:defRPr sz="2400" b="0"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Optional picture title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685800" y="5623561"/>
            <a:ext cx="7772400" cy="410528"/>
          </a:xfrm>
        </p:spPr>
        <p:txBody>
          <a:bodyPr anchor="t" anchorCtr="0">
            <a:noAutofit/>
          </a:bodyPr>
          <a:lstStyle>
            <a:lvl1pPr marL="0" indent="0">
              <a:spcBef>
                <a:spcPts val="0"/>
              </a:spcBef>
              <a:buFont typeface="Arial"/>
              <a:buNone/>
              <a:defRPr sz="1200" b="1" baseline="0">
                <a:solidFill>
                  <a:srgbClr val="000000"/>
                </a:solidFill>
              </a:defRPr>
            </a:lvl1pPr>
            <a:lvl2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2pPr>
            <a:lvl3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3pPr>
            <a:lvl4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4pPr>
            <a:lvl5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Optional picture caption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Business Use Only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7547CF9-5B10-D24F-A8D7-45A9778164F7}" type="slidenum">
              <a:rPr lang="uk-UA" smtClean="0"/>
              <a:pPr/>
              <a:t>‹N°›</a:t>
            </a:fld>
            <a:endParaRPr lang="uk-UA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7" hasCustomPrompt="1"/>
          </p:nvPr>
        </p:nvSpPr>
        <p:spPr>
          <a:xfrm>
            <a:off x="685800" y="2057400"/>
            <a:ext cx="7772400" cy="3474720"/>
          </a:xfrm>
          <a:solidFill>
            <a:srgbClr val="CCCCCC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200"/>
            </a:lvl1pPr>
            <a:lvl2pPr marL="0" indent="0" algn="ctr">
              <a:spcBef>
                <a:spcPts val="0"/>
              </a:spcBef>
              <a:buNone/>
              <a:defRPr sz="1200"/>
            </a:lvl2pPr>
            <a:lvl3pPr marL="0" indent="0" algn="ctr">
              <a:spcBef>
                <a:spcPts val="0"/>
              </a:spcBef>
              <a:buNone/>
              <a:defRPr sz="1200"/>
            </a:lvl3pPr>
            <a:lvl4pPr marL="0" indent="0" algn="ctr">
              <a:spcBef>
                <a:spcPts val="0"/>
              </a:spcBef>
              <a:buNone/>
              <a:defRPr sz="1200"/>
            </a:lvl4pPr>
            <a:lvl5pPr marL="0" indent="0" algn="ctr">
              <a:spcBef>
                <a:spcPts val="0"/>
              </a:spcBef>
              <a:buNone/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Insert picture. Get approved pictures at http://</a:t>
            </a:r>
            <a:r>
              <a:rPr lang="en-US" dirty="0" err="1"/>
              <a:t>www.novartisbrandlab.com</a:t>
            </a:r>
            <a:r>
              <a:rPr lang="en-US" dirty="0"/>
              <a:t>/resources/library</a:t>
            </a:r>
          </a:p>
        </p:txBody>
      </p:sp>
    </p:spTree>
    <p:extLst>
      <p:ext uri="{BB962C8B-B14F-4D97-AF65-F5344CB8AC3E}">
        <p14:creationId xmlns:p14="http://schemas.microsoft.com/office/powerpoint/2010/main" val="13391459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685800" y="5623561"/>
            <a:ext cx="3794760" cy="410528"/>
          </a:xfrm>
        </p:spPr>
        <p:txBody>
          <a:bodyPr anchor="t" anchorCtr="0">
            <a:noAutofit/>
          </a:bodyPr>
          <a:lstStyle>
            <a:lvl1pPr marL="0" indent="0">
              <a:spcBef>
                <a:spcPts val="0"/>
              </a:spcBef>
              <a:buFont typeface="Arial"/>
              <a:buNone/>
              <a:defRPr sz="1200" b="1" baseline="0">
                <a:solidFill>
                  <a:srgbClr val="000000"/>
                </a:solidFill>
              </a:defRPr>
            </a:lvl1pPr>
            <a:lvl2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2pPr>
            <a:lvl3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3pPr>
            <a:lvl4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4pPr>
            <a:lvl5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Optional picture caption</a:t>
            </a:r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4663440" y="5623561"/>
            <a:ext cx="3794760" cy="410528"/>
          </a:xfrm>
        </p:spPr>
        <p:txBody>
          <a:bodyPr anchor="t" anchorCtr="0">
            <a:noAutofit/>
          </a:bodyPr>
          <a:lstStyle>
            <a:lvl1pPr marL="0" indent="0">
              <a:spcBef>
                <a:spcPts val="0"/>
              </a:spcBef>
              <a:buFont typeface="Arial"/>
              <a:buNone/>
              <a:defRPr sz="1200" b="1" baseline="0">
                <a:solidFill>
                  <a:srgbClr val="000000"/>
                </a:solidFill>
              </a:defRPr>
            </a:lvl1pPr>
            <a:lvl2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2pPr>
            <a:lvl3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3pPr>
            <a:lvl4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4pPr>
            <a:lvl5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Optional picture caption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685800" y="1508761"/>
            <a:ext cx="7772400" cy="453839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Font typeface="Arial"/>
              <a:buNone/>
              <a:defRPr sz="2400" b="0" baseline="0">
                <a:solidFill>
                  <a:srgbClr val="000000"/>
                </a:solidFill>
              </a:defRPr>
            </a:lvl1pPr>
            <a:lvl2pPr marL="0" indent="0">
              <a:spcBef>
                <a:spcPts val="0"/>
              </a:spcBef>
              <a:buFont typeface="Arial"/>
              <a:buNone/>
              <a:defRPr sz="2400" b="0">
                <a:solidFill>
                  <a:srgbClr val="000000"/>
                </a:solidFill>
              </a:defRPr>
            </a:lvl2pPr>
            <a:lvl3pPr marL="0" indent="0">
              <a:spcBef>
                <a:spcPts val="0"/>
              </a:spcBef>
              <a:buFont typeface="Arial"/>
              <a:buNone/>
              <a:defRPr sz="2400" b="0">
                <a:solidFill>
                  <a:srgbClr val="000000"/>
                </a:solidFill>
              </a:defRPr>
            </a:lvl3pPr>
            <a:lvl4pPr marL="0" indent="0">
              <a:spcBef>
                <a:spcPts val="0"/>
              </a:spcBef>
              <a:buFont typeface="Arial"/>
              <a:buNone/>
              <a:defRPr sz="2400" b="0">
                <a:solidFill>
                  <a:srgbClr val="000000"/>
                </a:solidFill>
              </a:defRPr>
            </a:lvl4pPr>
            <a:lvl5pPr marL="0" indent="0">
              <a:spcBef>
                <a:spcPts val="0"/>
              </a:spcBef>
              <a:buFont typeface="Arial"/>
              <a:buNone/>
              <a:defRPr sz="2400" b="0"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Optional picture title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Business Use Only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7547CF9-5B10-D24F-A8D7-45A9778164F7}" type="slidenum">
              <a:rPr lang="uk-UA" smtClean="0"/>
              <a:pPr/>
              <a:t>‹N°›</a:t>
            </a:fld>
            <a:endParaRPr lang="uk-UA" dirty="0"/>
          </a:p>
        </p:txBody>
      </p:sp>
      <p:sp>
        <p:nvSpPr>
          <p:cNvPr id="14" name="Content Placeholder 2"/>
          <p:cNvSpPr>
            <a:spLocks noGrp="1"/>
          </p:cNvSpPr>
          <p:nvPr>
            <p:ph sz="half" idx="18" hasCustomPrompt="1"/>
          </p:nvPr>
        </p:nvSpPr>
        <p:spPr>
          <a:xfrm>
            <a:off x="685800" y="2057400"/>
            <a:ext cx="3794760" cy="3474720"/>
          </a:xfrm>
          <a:solidFill>
            <a:srgbClr val="CCCCCC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200"/>
            </a:lvl1pPr>
            <a:lvl2pPr marL="0" indent="0" algn="ctr">
              <a:spcBef>
                <a:spcPts val="0"/>
              </a:spcBef>
              <a:buNone/>
              <a:defRPr sz="1200"/>
            </a:lvl2pPr>
            <a:lvl3pPr marL="0" indent="0" algn="ctr">
              <a:spcBef>
                <a:spcPts val="0"/>
              </a:spcBef>
              <a:buNone/>
              <a:defRPr sz="1200"/>
            </a:lvl3pPr>
            <a:lvl4pPr marL="0" indent="0" algn="ctr">
              <a:spcBef>
                <a:spcPts val="0"/>
              </a:spcBef>
              <a:buNone/>
              <a:defRPr sz="1200"/>
            </a:lvl4pPr>
            <a:lvl5pPr marL="0" indent="0" algn="ctr">
              <a:spcBef>
                <a:spcPts val="0"/>
              </a:spcBef>
              <a:buNone/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Insert picture. Get approved pictures at http://</a:t>
            </a:r>
            <a:r>
              <a:rPr lang="en-US" dirty="0" err="1"/>
              <a:t>www.novartisbrandlab.com</a:t>
            </a:r>
            <a:r>
              <a:rPr lang="en-US" dirty="0"/>
              <a:t>/resources/library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sz="half" idx="19" hasCustomPrompt="1"/>
          </p:nvPr>
        </p:nvSpPr>
        <p:spPr>
          <a:xfrm>
            <a:off x="4663440" y="2057400"/>
            <a:ext cx="3794760" cy="3474720"/>
          </a:xfrm>
          <a:solidFill>
            <a:srgbClr val="CCCCCC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200"/>
            </a:lvl1pPr>
            <a:lvl2pPr marL="0" indent="0" algn="ctr">
              <a:spcBef>
                <a:spcPts val="0"/>
              </a:spcBef>
              <a:buNone/>
              <a:defRPr sz="1200"/>
            </a:lvl2pPr>
            <a:lvl3pPr marL="0" indent="0" algn="ctr">
              <a:spcBef>
                <a:spcPts val="0"/>
              </a:spcBef>
              <a:buNone/>
              <a:defRPr sz="1200"/>
            </a:lvl3pPr>
            <a:lvl4pPr marL="0" indent="0" algn="ctr">
              <a:spcBef>
                <a:spcPts val="0"/>
              </a:spcBef>
              <a:buNone/>
              <a:defRPr sz="1200"/>
            </a:lvl4pPr>
            <a:lvl5pPr marL="0" indent="0" algn="ctr">
              <a:spcBef>
                <a:spcPts val="0"/>
              </a:spcBef>
              <a:buNone/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Insert picture. Get approved pictures at http://</a:t>
            </a:r>
            <a:r>
              <a:rPr lang="en-US" dirty="0" err="1"/>
              <a:t>www.novartisbrandlab.com</a:t>
            </a:r>
            <a:r>
              <a:rPr lang="en-US" dirty="0"/>
              <a:t>/resources/library</a:t>
            </a:r>
          </a:p>
        </p:txBody>
      </p:sp>
    </p:spTree>
    <p:extLst>
      <p:ext uri="{BB962C8B-B14F-4D97-AF65-F5344CB8AC3E}">
        <p14:creationId xmlns:p14="http://schemas.microsoft.com/office/powerpoint/2010/main" val="242915976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3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685800" y="5623561"/>
            <a:ext cx="2468880" cy="410528"/>
          </a:xfrm>
        </p:spPr>
        <p:txBody>
          <a:bodyPr anchor="t" anchorCtr="0">
            <a:noAutofit/>
          </a:bodyPr>
          <a:lstStyle>
            <a:lvl1pPr marL="0" indent="0">
              <a:spcBef>
                <a:spcPts val="0"/>
              </a:spcBef>
              <a:buFont typeface="Arial"/>
              <a:buNone/>
              <a:defRPr sz="1200" b="1" baseline="0">
                <a:solidFill>
                  <a:srgbClr val="000000"/>
                </a:solidFill>
              </a:defRPr>
            </a:lvl1pPr>
            <a:lvl2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2pPr>
            <a:lvl3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3pPr>
            <a:lvl4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4pPr>
            <a:lvl5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Optional picture caption</a:t>
            </a:r>
          </a:p>
        </p:txBody>
      </p:sp>
      <p:sp>
        <p:nvSpPr>
          <p:cNvPr id="17" name="Text Placeholder 7"/>
          <p:cNvSpPr>
            <a:spLocks noGrp="1"/>
          </p:cNvSpPr>
          <p:nvPr>
            <p:ph type="body" sz="quarter" idx="18" hasCustomPrompt="1"/>
          </p:nvPr>
        </p:nvSpPr>
        <p:spPr>
          <a:xfrm>
            <a:off x="3337560" y="5623561"/>
            <a:ext cx="2468880" cy="410528"/>
          </a:xfrm>
        </p:spPr>
        <p:txBody>
          <a:bodyPr anchor="t" anchorCtr="0">
            <a:noAutofit/>
          </a:bodyPr>
          <a:lstStyle>
            <a:lvl1pPr marL="0" indent="0">
              <a:spcBef>
                <a:spcPts val="0"/>
              </a:spcBef>
              <a:buFont typeface="Arial"/>
              <a:buNone/>
              <a:defRPr sz="1200" b="1" baseline="0">
                <a:solidFill>
                  <a:srgbClr val="000000"/>
                </a:solidFill>
              </a:defRPr>
            </a:lvl1pPr>
            <a:lvl2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2pPr>
            <a:lvl3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3pPr>
            <a:lvl4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4pPr>
            <a:lvl5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Optional picture caption</a:t>
            </a:r>
          </a:p>
        </p:txBody>
      </p:sp>
      <p:sp>
        <p:nvSpPr>
          <p:cNvPr id="18" name="Text Placeholder 7"/>
          <p:cNvSpPr>
            <a:spLocks noGrp="1"/>
          </p:cNvSpPr>
          <p:nvPr>
            <p:ph type="body" sz="quarter" idx="19" hasCustomPrompt="1"/>
          </p:nvPr>
        </p:nvSpPr>
        <p:spPr>
          <a:xfrm>
            <a:off x="5989320" y="5623561"/>
            <a:ext cx="2468880" cy="410528"/>
          </a:xfrm>
        </p:spPr>
        <p:txBody>
          <a:bodyPr anchor="t" anchorCtr="0">
            <a:noAutofit/>
          </a:bodyPr>
          <a:lstStyle>
            <a:lvl1pPr marL="0" indent="0">
              <a:spcBef>
                <a:spcPts val="0"/>
              </a:spcBef>
              <a:buFont typeface="Arial"/>
              <a:buNone/>
              <a:defRPr sz="1200" b="1" baseline="0">
                <a:solidFill>
                  <a:srgbClr val="000000"/>
                </a:solidFill>
              </a:defRPr>
            </a:lvl1pPr>
            <a:lvl2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2pPr>
            <a:lvl3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3pPr>
            <a:lvl4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4pPr>
            <a:lvl5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Optional picture caption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685800" y="1508761"/>
            <a:ext cx="7772400" cy="453839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Font typeface="Arial"/>
              <a:buNone/>
              <a:defRPr sz="2400" b="0" baseline="0">
                <a:solidFill>
                  <a:srgbClr val="000000"/>
                </a:solidFill>
              </a:defRPr>
            </a:lvl1pPr>
            <a:lvl2pPr marL="0" indent="0">
              <a:spcBef>
                <a:spcPts val="0"/>
              </a:spcBef>
              <a:buFont typeface="Arial"/>
              <a:buNone/>
              <a:defRPr sz="2400" b="0">
                <a:solidFill>
                  <a:srgbClr val="000000"/>
                </a:solidFill>
              </a:defRPr>
            </a:lvl2pPr>
            <a:lvl3pPr marL="0" indent="0">
              <a:spcBef>
                <a:spcPts val="0"/>
              </a:spcBef>
              <a:buFont typeface="Arial"/>
              <a:buNone/>
              <a:defRPr sz="2400" b="0">
                <a:solidFill>
                  <a:srgbClr val="000000"/>
                </a:solidFill>
              </a:defRPr>
            </a:lvl3pPr>
            <a:lvl4pPr marL="0" indent="0">
              <a:spcBef>
                <a:spcPts val="0"/>
              </a:spcBef>
              <a:buFont typeface="Arial"/>
              <a:buNone/>
              <a:defRPr sz="2400" b="0">
                <a:solidFill>
                  <a:srgbClr val="000000"/>
                </a:solidFill>
              </a:defRPr>
            </a:lvl4pPr>
            <a:lvl5pPr marL="0" indent="0">
              <a:spcBef>
                <a:spcPts val="0"/>
              </a:spcBef>
              <a:buFont typeface="Arial"/>
              <a:buNone/>
              <a:defRPr sz="2400" b="0"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Optional picture title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Business Use Only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47547CF9-5B10-D24F-A8D7-45A9778164F7}" type="slidenum">
              <a:rPr lang="uk-UA" smtClean="0"/>
              <a:pPr/>
              <a:t>‹N°›</a:t>
            </a:fld>
            <a:endParaRPr lang="uk-UA" dirty="0"/>
          </a:p>
        </p:txBody>
      </p:sp>
      <p:sp>
        <p:nvSpPr>
          <p:cNvPr id="19" name="Content Placeholder 2"/>
          <p:cNvSpPr>
            <a:spLocks noGrp="1"/>
          </p:cNvSpPr>
          <p:nvPr>
            <p:ph sz="half" idx="22" hasCustomPrompt="1"/>
          </p:nvPr>
        </p:nvSpPr>
        <p:spPr>
          <a:xfrm>
            <a:off x="685800" y="2057400"/>
            <a:ext cx="2468880" cy="3474720"/>
          </a:xfrm>
          <a:solidFill>
            <a:srgbClr val="CCCCCC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200"/>
            </a:lvl1pPr>
            <a:lvl2pPr marL="0" indent="0" algn="ctr">
              <a:spcBef>
                <a:spcPts val="0"/>
              </a:spcBef>
              <a:buNone/>
              <a:defRPr sz="1200"/>
            </a:lvl2pPr>
            <a:lvl3pPr marL="0" indent="0" algn="ctr">
              <a:spcBef>
                <a:spcPts val="0"/>
              </a:spcBef>
              <a:buNone/>
              <a:defRPr sz="1200"/>
            </a:lvl3pPr>
            <a:lvl4pPr marL="0" indent="0" algn="ctr">
              <a:spcBef>
                <a:spcPts val="0"/>
              </a:spcBef>
              <a:buNone/>
              <a:defRPr sz="1200"/>
            </a:lvl4pPr>
            <a:lvl5pPr marL="0" indent="0" algn="ctr">
              <a:spcBef>
                <a:spcPts val="0"/>
              </a:spcBef>
              <a:buNone/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Insert picture. Get approved pictures at http://</a:t>
            </a:r>
            <a:r>
              <a:rPr lang="en-US" dirty="0" err="1"/>
              <a:t>www.novartisbrandlab.com</a:t>
            </a:r>
            <a:r>
              <a:rPr lang="en-US" dirty="0"/>
              <a:t>/resources/library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23" hasCustomPrompt="1"/>
          </p:nvPr>
        </p:nvSpPr>
        <p:spPr>
          <a:xfrm>
            <a:off x="3337560" y="2057400"/>
            <a:ext cx="2468880" cy="3474720"/>
          </a:xfrm>
          <a:solidFill>
            <a:srgbClr val="CCCCCC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200"/>
            </a:lvl1pPr>
            <a:lvl2pPr marL="0" indent="0" algn="ctr">
              <a:spcBef>
                <a:spcPts val="0"/>
              </a:spcBef>
              <a:buNone/>
              <a:defRPr sz="1200"/>
            </a:lvl2pPr>
            <a:lvl3pPr marL="0" indent="0" algn="ctr">
              <a:spcBef>
                <a:spcPts val="0"/>
              </a:spcBef>
              <a:buNone/>
              <a:defRPr sz="1200"/>
            </a:lvl3pPr>
            <a:lvl4pPr marL="0" indent="0" algn="ctr">
              <a:spcBef>
                <a:spcPts val="0"/>
              </a:spcBef>
              <a:buNone/>
              <a:defRPr sz="1200"/>
            </a:lvl4pPr>
            <a:lvl5pPr marL="0" indent="0" algn="ctr">
              <a:spcBef>
                <a:spcPts val="0"/>
              </a:spcBef>
              <a:buNone/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Insert picture. Get approved pictures at http://</a:t>
            </a:r>
            <a:r>
              <a:rPr lang="en-US" dirty="0" err="1"/>
              <a:t>www.novartisbrandlab.com</a:t>
            </a:r>
            <a:r>
              <a:rPr lang="en-US" dirty="0"/>
              <a:t>/resources/library</a:t>
            </a:r>
          </a:p>
        </p:txBody>
      </p:sp>
      <p:sp>
        <p:nvSpPr>
          <p:cNvPr id="21" name="Content Placeholder 2"/>
          <p:cNvSpPr>
            <a:spLocks noGrp="1"/>
          </p:cNvSpPr>
          <p:nvPr>
            <p:ph sz="half" idx="24" hasCustomPrompt="1"/>
          </p:nvPr>
        </p:nvSpPr>
        <p:spPr>
          <a:xfrm>
            <a:off x="5989320" y="2057400"/>
            <a:ext cx="2468880" cy="3474720"/>
          </a:xfrm>
          <a:solidFill>
            <a:srgbClr val="CCCCCC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200"/>
            </a:lvl1pPr>
            <a:lvl2pPr marL="0" indent="0" algn="ctr">
              <a:spcBef>
                <a:spcPts val="0"/>
              </a:spcBef>
              <a:buNone/>
              <a:defRPr sz="1200"/>
            </a:lvl2pPr>
            <a:lvl3pPr marL="0" indent="0" algn="ctr">
              <a:spcBef>
                <a:spcPts val="0"/>
              </a:spcBef>
              <a:buNone/>
              <a:defRPr sz="1200"/>
            </a:lvl3pPr>
            <a:lvl4pPr marL="0" indent="0" algn="ctr">
              <a:spcBef>
                <a:spcPts val="0"/>
              </a:spcBef>
              <a:buNone/>
              <a:defRPr sz="1200"/>
            </a:lvl4pPr>
            <a:lvl5pPr marL="0" indent="0" algn="ctr">
              <a:spcBef>
                <a:spcPts val="0"/>
              </a:spcBef>
              <a:buNone/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Insert picture. Get approved pictures at http://</a:t>
            </a:r>
            <a:r>
              <a:rPr lang="en-US" dirty="0" err="1"/>
              <a:t>www.novartisbrandlab.com</a:t>
            </a:r>
            <a:r>
              <a:rPr lang="en-US" dirty="0"/>
              <a:t>/resources/library</a:t>
            </a:r>
          </a:p>
        </p:txBody>
      </p:sp>
    </p:spTree>
    <p:extLst>
      <p:ext uri="{BB962C8B-B14F-4D97-AF65-F5344CB8AC3E}">
        <p14:creationId xmlns:p14="http://schemas.microsoft.com/office/powerpoint/2010/main" val="58667213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and Big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508761"/>
            <a:ext cx="3794760" cy="4525328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Font typeface="Arial"/>
              <a:buNone/>
              <a:defRPr sz="4400">
                <a:solidFill>
                  <a:schemeClr val="accent1"/>
                </a:solidFill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buFont typeface="Arial"/>
              <a:buNone/>
              <a:defRPr sz="4400">
                <a:solidFill>
                  <a:schemeClr val="accent1"/>
                </a:solidFill>
              </a:defRPr>
            </a:lvl2pPr>
            <a:lvl3pPr marL="0" indent="0">
              <a:lnSpc>
                <a:spcPct val="90000"/>
              </a:lnSpc>
              <a:spcBef>
                <a:spcPts val="0"/>
              </a:spcBef>
              <a:buFont typeface="Arial"/>
              <a:buNone/>
              <a:defRPr sz="4400">
                <a:solidFill>
                  <a:schemeClr val="accent1"/>
                </a:solidFill>
              </a:defRPr>
            </a:lvl3pPr>
            <a:lvl4pPr marL="0" indent="0">
              <a:lnSpc>
                <a:spcPct val="90000"/>
              </a:lnSpc>
              <a:spcBef>
                <a:spcPts val="0"/>
              </a:spcBef>
              <a:buFont typeface="Arial"/>
              <a:buNone/>
              <a:defRPr sz="4400">
                <a:solidFill>
                  <a:schemeClr val="accent1"/>
                </a:solidFill>
              </a:defRPr>
            </a:lvl4pPr>
            <a:lvl5pPr marL="0" indent="0">
              <a:lnSpc>
                <a:spcPct val="90000"/>
              </a:lnSpc>
              <a:spcBef>
                <a:spcPts val="0"/>
              </a:spcBef>
              <a:buFont typeface="Arial"/>
              <a:buNone/>
              <a:defRPr sz="4400">
                <a:solidFill>
                  <a:schemeClr val="accent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8" hasCustomPrompt="1"/>
          </p:nvPr>
        </p:nvSpPr>
        <p:spPr>
          <a:xfrm>
            <a:off x="685800" y="5623561"/>
            <a:ext cx="3794760" cy="410528"/>
          </a:xfrm>
        </p:spPr>
        <p:txBody>
          <a:bodyPr anchor="t" anchorCtr="0">
            <a:noAutofit/>
          </a:bodyPr>
          <a:lstStyle>
            <a:lvl1pPr marL="0" indent="0">
              <a:spcBef>
                <a:spcPts val="0"/>
              </a:spcBef>
              <a:buFont typeface="Arial"/>
              <a:buNone/>
              <a:defRPr sz="1200" b="1" baseline="0">
                <a:solidFill>
                  <a:srgbClr val="000000"/>
                </a:solidFill>
              </a:defRPr>
            </a:lvl1pPr>
            <a:lvl2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2pPr>
            <a:lvl3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3pPr>
            <a:lvl4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4pPr>
            <a:lvl5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Optional picture caption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9601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Business Use Only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47547CF9-5B10-D24F-A8D7-45A9778164F7}" type="slidenum">
              <a:rPr lang="uk-UA" smtClean="0"/>
              <a:pPr/>
              <a:t>‹N°›</a:t>
            </a:fld>
            <a:endParaRPr lang="uk-UA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7" hasCustomPrompt="1"/>
          </p:nvPr>
        </p:nvSpPr>
        <p:spPr>
          <a:xfrm>
            <a:off x="685800" y="1508761"/>
            <a:ext cx="3794760" cy="4023359"/>
          </a:xfrm>
          <a:solidFill>
            <a:srgbClr val="CCCCCC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200"/>
            </a:lvl1pPr>
            <a:lvl2pPr marL="0" indent="0" algn="ctr">
              <a:spcBef>
                <a:spcPts val="0"/>
              </a:spcBef>
              <a:buNone/>
              <a:defRPr sz="1200"/>
            </a:lvl2pPr>
            <a:lvl3pPr marL="0" indent="0" algn="ctr">
              <a:spcBef>
                <a:spcPts val="0"/>
              </a:spcBef>
              <a:buNone/>
              <a:defRPr sz="1200"/>
            </a:lvl3pPr>
            <a:lvl4pPr marL="0" indent="0" algn="ctr">
              <a:spcBef>
                <a:spcPts val="0"/>
              </a:spcBef>
              <a:buNone/>
              <a:defRPr sz="1200"/>
            </a:lvl4pPr>
            <a:lvl5pPr marL="0" indent="0" algn="ctr">
              <a:spcBef>
                <a:spcPts val="0"/>
              </a:spcBef>
              <a:buNone/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Insert picture. Get approved pictures at http://</a:t>
            </a:r>
            <a:r>
              <a:rPr lang="en-US" dirty="0" err="1"/>
              <a:t>www.novartisbrandlab.com</a:t>
            </a:r>
            <a:r>
              <a:rPr lang="en-US" dirty="0"/>
              <a:t>/resources/library</a:t>
            </a:r>
          </a:p>
        </p:txBody>
      </p:sp>
    </p:spTree>
    <p:extLst>
      <p:ext uri="{BB962C8B-B14F-4D97-AF65-F5344CB8AC3E}">
        <p14:creationId xmlns:p14="http://schemas.microsoft.com/office/powerpoint/2010/main" val="379186908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9" y="0"/>
            <a:ext cx="1508759" cy="6858000"/>
          </a:xfrm>
          <a:prstGeom prst="rect">
            <a:avLst/>
          </a:prstGeom>
        </p:spPr>
      </p:pic>
      <p:sp>
        <p:nvSpPr>
          <p:cNvPr id="12" name="Title 1"/>
          <p:cNvSpPr>
            <a:spLocks noGrp="1"/>
          </p:cNvSpPr>
          <p:nvPr>
            <p:ph type="ctrTitle"/>
          </p:nvPr>
        </p:nvSpPr>
        <p:spPr>
          <a:xfrm>
            <a:off x="1965960" y="4389120"/>
            <a:ext cx="6490654" cy="960120"/>
          </a:xfrm>
        </p:spPr>
        <p:txBody>
          <a:bodyPr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Subtitle 2"/>
          <p:cNvSpPr>
            <a:spLocks noGrp="1"/>
          </p:cNvSpPr>
          <p:nvPr>
            <p:ph type="subTitle" idx="1"/>
          </p:nvPr>
        </p:nvSpPr>
        <p:spPr>
          <a:xfrm>
            <a:off x="1965960" y="5440680"/>
            <a:ext cx="4343400" cy="1097280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rgbClr val="00000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grpSp>
        <p:nvGrpSpPr>
          <p:cNvPr id="3" name="Group 2"/>
          <p:cNvGrpSpPr/>
          <p:nvPr userDrawn="1"/>
        </p:nvGrpSpPr>
        <p:grpSpPr>
          <a:xfrm>
            <a:off x="1508857" y="-137160"/>
            <a:ext cx="6949343" cy="7132320"/>
            <a:chOff x="1508857" y="-137160"/>
            <a:chExt cx="6949343" cy="7132320"/>
          </a:xfrm>
        </p:grpSpPr>
        <p:cxnSp>
          <p:nvCxnSpPr>
            <p:cNvPr id="25" name="Straight Connector 24"/>
            <p:cNvCxnSpPr/>
            <p:nvPr userDrawn="1"/>
          </p:nvCxnSpPr>
          <p:spPr>
            <a:xfrm flipV="1">
              <a:off x="1508857" y="-137160"/>
              <a:ext cx="0" cy="91440"/>
            </a:xfrm>
            <a:prstGeom prst="line">
              <a:avLst/>
            </a:prstGeom>
            <a:ln w="6350">
              <a:solidFill>
                <a:srgbClr val="7373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>
            <a:xfrm flipV="1">
              <a:off x="8458200" y="-137160"/>
              <a:ext cx="0" cy="91440"/>
            </a:xfrm>
            <a:prstGeom prst="line">
              <a:avLst/>
            </a:prstGeom>
            <a:ln w="6350">
              <a:solidFill>
                <a:srgbClr val="7373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>
            <a:xfrm flipV="1">
              <a:off x="1508857" y="6903720"/>
              <a:ext cx="0" cy="91440"/>
            </a:xfrm>
            <a:prstGeom prst="line">
              <a:avLst/>
            </a:prstGeom>
            <a:ln w="6350">
              <a:solidFill>
                <a:srgbClr val="7373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>
            <a:xfrm flipV="1">
              <a:off x="8458200" y="6903720"/>
              <a:ext cx="0" cy="91440"/>
            </a:xfrm>
            <a:prstGeom prst="line">
              <a:avLst/>
            </a:prstGeom>
            <a:ln w="6350">
              <a:solidFill>
                <a:srgbClr val="7373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 userDrawn="1"/>
          </p:nvCxnSpPr>
          <p:spPr>
            <a:xfrm flipV="1">
              <a:off x="1965960" y="-137160"/>
              <a:ext cx="0" cy="91440"/>
            </a:xfrm>
            <a:prstGeom prst="line">
              <a:avLst/>
            </a:prstGeom>
            <a:ln w="6350">
              <a:solidFill>
                <a:srgbClr val="7373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 userDrawn="1"/>
          </p:nvCxnSpPr>
          <p:spPr>
            <a:xfrm flipV="1">
              <a:off x="1965960" y="6903720"/>
              <a:ext cx="0" cy="91440"/>
            </a:xfrm>
            <a:prstGeom prst="line">
              <a:avLst/>
            </a:prstGeom>
            <a:ln w="6350">
              <a:solidFill>
                <a:srgbClr val="7373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Picture Placeholder 4"/>
          <p:cNvSpPr>
            <a:spLocks noGrp="1"/>
          </p:cNvSpPr>
          <p:nvPr>
            <p:ph type="pic" sz="quarter" idx="13" hasCustomPrompt="1"/>
          </p:nvPr>
        </p:nvSpPr>
        <p:spPr bwMode="hidden">
          <a:xfrm>
            <a:off x="685800" y="455613"/>
            <a:ext cx="7770813" cy="3794760"/>
          </a:xfrm>
          <a:solidFill>
            <a:srgbClr val="CCCCCC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200" baseline="0"/>
            </a:lvl1pPr>
          </a:lstStyle>
          <a:p>
            <a:r>
              <a:rPr lang="en-US" dirty="0"/>
              <a:t>Insert picture. Get approved pictures at http://</a:t>
            </a:r>
            <a:r>
              <a:rPr lang="en-US" dirty="0" err="1"/>
              <a:t>www.novartisbrandlab.com</a:t>
            </a:r>
            <a:r>
              <a:rPr lang="en-US" dirty="0"/>
              <a:t>/resources/library</a:t>
            </a:r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5160" y="6370767"/>
            <a:ext cx="1463040" cy="177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2343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- No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9" y="0"/>
            <a:ext cx="1508759" cy="6858000"/>
          </a:xfrm>
          <a:prstGeom prst="rect">
            <a:avLst/>
          </a:prstGeom>
        </p:spPr>
      </p:pic>
      <p:sp>
        <p:nvSpPr>
          <p:cNvPr id="12" name="Title 1"/>
          <p:cNvSpPr>
            <a:spLocks noGrp="1"/>
          </p:cNvSpPr>
          <p:nvPr>
            <p:ph type="ctrTitle"/>
          </p:nvPr>
        </p:nvSpPr>
        <p:spPr>
          <a:xfrm>
            <a:off x="1965960" y="2331720"/>
            <a:ext cx="6490654" cy="2286000"/>
          </a:xfrm>
        </p:spPr>
        <p:txBody>
          <a:bodyPr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Subtitle 2"/>
          <p:cNvSpPr>
            <a:spLocks noGrp="1"/>
          </p:cNvSpPr>
          <p:nvPr>
            <p:ph type="subTitle" idx="1"/>
          </p:nvPr>
        </p:nvSpPr>
        <p:spPr>
          <a:xfrm>
            <a:off x="1965960" y="4709161"/>
            <a:ext cx="6490654" cy="1324927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rgbClr val="00000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grpSp>
        <p:nvGrpSpPr>
          <p:cNvPr id="3" name="Group 2"/>
          <p:cNvGrpSpPr/>
          <p:nvPr userDrawn="1"/>
        </p:nvGrpSpPr>
        <p:grpSpPr>
          <a:xfrm>
            <a:off x="1508857" y="-137160"/>
            <a:ext cx="6949343" cy="7132320"/>
            <a:chOff x="1508857" y="-137160"/>
            <a:chExt cx="6949343" cy="7132320"/>
          </a:xfrm>
        </p:grpSpPr>
        <p:cxnSp>
          <p:nvCxnSpPr>
            <p:cNvPr id="25" name="Straight Connector 24"/>
            <p:cNvCxnSpPr/>
            <p:nvPr userDrawn="1"/>
          </p:nvCxnSpPr>
          <p:spPr>
            <a:xfrm flipV="1">
              <a:off x="1508857" y="-137160"/>
              <a:ext cx="0" cy="91440"/>
            </a:xfrm>
            <a:prstGeom prst="line">
              <a:avLst/>
            </a:prstGeom>
            <a:ln w="6350">
              <a:solidFill>
                <a:srgbClr val="7373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>
            <a:xfrm flipV="1">
              <a:off x="8458200" y="-137160"/>
              <a:ext cx="0" cy="91440"/>
            </a:xfrm>
            <a:prstGeom prst="line">
              <a:avLst/>
            </a:prstGeom>
            <a:ln w="6350">
              <a:solidFill>
                <a:srgbClr val="7373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>
            <a:xfrm flipV="1">
              <a:off x="1508857" y="6903720"/>
              <a:ext cx="0" cy="91440"/>
            </a:xfrm>
            <a:prstGeom prst="line">
              <a:avLst/>
            </a:prstGeom>
            <a:ln w="6350">
              <a:solidFill>
                <a:srgbClr val="7373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>
            <a:xfrm flipV="1">
              <a:off x="8458200" y="6903720"/>
              <a:ext cx="0" cy="91440"/>
            </a:xfrm>
            <a:prstGeom prst="line">
              <a:avLst/>
            </a:prstGeom>
            <a:ln w="6350">
              <a:solidFill>
                <a:srgbClr val="7373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 userDrawn="1"/>
          </p:nvCxnSpPr>
          <p:spPr>
            <a:xfrm flipV="1">
              <a:off x="1965960" y="-137160"/>
              <a:ext cx="0" cy="91440"/>
            </a:xfrm>
            <a:prstGeom prst="line">
              <a:avLst/>
            </a:prstGeom>
            <a:ln w="6350">
              <a:solidFill>
                <a:srgbClr val="7373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 userDrawn="1"/>
          </p:nvCxnSpPr>
          <p:spPr>
            <a:xfrm flipV="1">
              <a:off x="1965960" y="6903720"/>
              <a:ext cx="0" cy="91440"/>
            </a:xfrm>
            <a:prstGeom prst="line">
              <a:avLst/>
            </a:prstGeom>
            <a:ln w="6350">
              <a:solidFill>
                <a:srgbClr val="7373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5160" y="6370767"/>
            <a:ext cx="1463040" cy="177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6506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Business Use Only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7547CF9-5B10-D24F-A8D7-45A9778164F7}" type="slidenum">
              <a:rPr lang="uk-UA" smtClean="0"/>
              <a:pPr/>
              <a:t>‹N°›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31023234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Business Use Only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7547CF9-5B10-D24F-A8D7-45A9778164F7}" type="slidenum">
              <a:rPr lang="uk-UA" smtClean="0"/>
              <a:pPr/>
              <a:t>‹N°›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1005817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9" y="0"/>
            <a:ext cx="1508759" cy="6858000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 userDrawn="1"/>
        </p:nvSpPr>
        <p:spPr>
          <a:xfrm>
            <a:off x="1965959" y="4389120"/>
            <a:ext cx="6492241" cy="96012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5000"/>
              </a:lnSpc>
            </a:pPr>
            <a:r>
              <a:rPr lang="en-US" dirty="0"/>
              <a:t>Thank</a:t>
            </a:r>
            <a:r>
              <a:rPr lang="en-US" baseline="0" dirty="0"/>
              <a:t> you</a:t>
            </a:r>
            <a:endParaRPr lang="en-US" dirty="0"/>
          </a:p>
        </p:txBody>
      </p:sp>
      <p:sp>
        <p:nvSpPr>
          <p:cNvPr id="10" name="Picture Placeholder 4"/>
          <p:cNvSpPr>
            <a:spLocks noGrp="1"/>
          </p:cNvSpPr>
          <p:nvPr>
            <p:ph type="pic" sz="quarter" idx="13" hasCustomPrompt="1"/>
          </p:nvPr>
        </p:nvSpPr>
        <p:spPr bwMode="hidden">
          <a:xfrm>
            <a:off x="685800" y="455613"/>
            <a:ext cx="7770813" cy="3794760"/>
          </a:xfrm>
          <a:solidFill>
            <a:srgbClr val="CCCCCC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200" baseline="0"/>
            </a:lvl1pPr>
          </a:lstStyle>
          <a:p>
            <a:r>
              <a:rPr lang="en-US" dirty="0"/>
              <a:t>Insert picture. Get approved pictures at http://</a:t>
            </a:r>
            <a:r>
              <a:rPr lang="en-US" dirty="0" err="1"/>
              <a:t>www.novartisbrandlab.com</a:t>
            </a:r>
            <a:r>
              <a:rPr lang="en-US" dirty="0"/>
              <a:t>/resources/library</a:t>
            </a:r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1508857" y="-137160"/>
            <a:ext cx="6949343" cy="7132320"/>
            <a:chOff x="1508857" y="-137160"/>
            <a:chExt cx="6949343" cy="7132320"/>
          </a:xfrm>
        </p:grpSpPr>
        <p:cxnSp>
          <p:nvCxnSpPr>
            <p:cNvPr id="14" name="Straight Connector 13"/>
            <p:cNvCxnSpPr/>
            <p:nvPr userDrawn="1"/>
          </p:nvCxnSpPr>
          <p:spPr>
            <a:xfrm flipV="1">
              <a:off x="1508857" y="-137160"/>
              <a:ext cx="0" cy="91440"/>
            </a:xfrm>
            <a:prstGeom prst="line">
              <a:avLst/>
            </a:prstGeom>
            <a:ln w="6350">
              <a:solidFill>
                <a:srgbClr val="7373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 userDrawn="1"/>
          </p:nvCxnSpPr>
          <p:spPr>
            <a:xfrm flipV="1">
              <a:off x="8458200" y="-137160"/>
              <a:ext cx="0" cy="91440"/>
            </a:xfrm>
            <a:prstGeom prst="line">
              <a:avLst/>
            </a:prstGeom>
            <a:ln w="6350">
              <a:solidFill>
                <a:srgbClr val="7373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 userDrawn="1"/>
          </p:nvCxnSpPr>
          <p:spPr>
            <a:xfrm flipV="1">
              <a:off x="1508857" y="6903720"/>
              <a:ext cx="0" cy="91440"/>
            </a:xfrm>
            <a:prstGeom prst="line">
              <a:avLst/>
            </a:prstGeom>
            <a:ln w="6350">
              <a:solidFill>
                <a:srgbClr val="7373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 userDrawn="1"/>
          </p:nvCxnSpPr>
          <p:spPr>
            <a:xfrm flipV="1">
              <a:off x="8458200" y="6903720"/>
              <a:ext cx="0" cy="91440"/>
            </a:xfrm>
            <a:prstGeom prst="line">
              <a:avLst/>
            </a:prstGeom>
            <a:ln w="6350">
              <a:solidFill>
                <a:srgbClr val="7373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 userDrawn="1"/>
          </p:nvCxnSpPr>
          <p:spPr>
            <a:xfrm flipV="1">
              <a:off x="1965960" y="-137160"/>
              <a:ext cx="0" cy="91440"/>
            </a:xfrm>
            <a:prstGeom prst="line">
              <a:avLst/>
            </a:prstGeom>
            <a:ln w="6350">
              <a:solidFill>
                <a:srgbClr val="7373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 userDrawn="1"/>
          </p:nvCxnSpPr>
          <p:spPr>
            <a:xfrm flipV="1">
              <a:off x="1965960" y="6903720"/>
              <a:ext cx="0" cy="91440"/>
            </a:xfrm>
            <a:prstGeom prst="line">
              <a:avLst/>
            </a:prstGeom>
            <a:ln w="6350">
              <a:solidFill>
                <a:srgbClr val="7373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5160" y="6370767"/>
            <a:ext cx="1463040" cy="177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56993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- No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9" y="0"/>
            <a:ext cx="1508759" cy="6858000"/>
          </a:xfrm>
          <a:prstGeom prst="rect">
            <a:avLst/>
          </a:prstGeom>
        </p:spPr>
      </p:pic>
      <p:sp>
        <p:nvSpPr>
          <p:cNvPr id="6" name="Title 1"/>
          <p:cNvSpPr txBox="1">
            <a:spLocks/>
          </p:cNvSpPr>
          <p:nvPr userDrawn="1"/>
        </p:nvSpPr>
        <p:spPr>
          <a:xfrm>
            <a:off x="1965959" y="2331720"/>
            <a:ext cx="6492241" cy="2286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5000"/>
              </a:lnSpc>
            </a:pPr>
            <a:r>
              <a:rPr lang="en-US" dirty="0"/>
              <a:t>Thank</a:t>
            </a:r>
            <a:r>
              <a:rPr lang="en-US" baseline="0" dirty="0"/>
              <a:t> you</a:t>
            </a:r>
            <a:endParaRPr lang="en-US" dirty="0"/>
          </a:p>
        </p:txBody>
      </p:sp>
      <p:grpSp>
        <p:nvGrpSpPr>
          <p:cNvPr id="18" name="Group 17"/>
          <p:cNvGrpSpPr/>
          <p:nvPr userDrawn="1"/>
        </p:nvGrpSpPr>
        <p:grpSpPr>
          <a:xfrm>
            <a:off x="1508857" y="-137160"/>
            <a:ext cx="6949343" cy="7132320"/>
            <a:chOff x="1508857" y="-137160"/>
            <a:chExt cx="6949343" cy="7132320"/>
          </a:xfrm>
        </p:grpSpPr>
        <p:cxnSp>
          <p:nvCxnSpPr>
            <p:cNvPr id="19" name="Straight Connector 18"/>
            <p:cNvCxnSpPr/>
            <p:nvPr userDrawn="1"/>
          </p:nvCxnSpPr>
          <p:spPr>
            <a:xfrm flipV="1">
              <a:off x="1508857" y="-137160"/>
              <a:ext cx="0" cy="91440"/>
            </a:xfrm>
            <a:prstGeom prst="line">
              <a:avLst/>
            </a:prstGeom>
            <a:ln w="6350">
              <a:solidFill>
                <a:srgbClr val="7373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 userDrawn="1"/>
          </p:nvCxnSpPr>
          <p:spPr>
            <a:xfrm flipV="1">
              <a:off x="8458200" y="-137160"/>
              <a:ext cx="0" cy="91440"/>
            </a:xfrm>
            <a:prstGeom prst="line">
              <a:avLst/>
            </a:prstGeom>
            <a:ln w="6350">
              <a:solidFill>
                <a:srgbClr val="7373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 userDrawn="1"/>
          </p:nvCxnSpPr>
          <p:spPr>
            <a:xfrm flipV="1">
              <a:off x="1508857" y="6903720"/>
              <a:ext cx="0" cy="91440"/>
            </a:xfrm>
            <a:prstGeom prst="line">
              <a:avLst/>
            </a:prstGeom>
            <a:ln w="6350">
              <a:solidFill>
                <a:srgbClr val="7373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 userDrawn="1"/>
          </p:nvCxnSpPr>
          <p:spPr>
            <a:xfrm flipV="1">
              <a:off x="8458200" y="6903720"/>
              <a:ext cx="0" cy="91440"/>
            </a:xfrm>
            <a:prstGeom prst="line">
              <a:avLst/>
            </a:prstGeom>
            <a:ln w="6350">
              <a:solidFill>
                <a:srgbClr val="7373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 flipV="1">
              <a:off x="1965960" y="-137160"/>
              <a:ext cx="0" cy="91440"/>
            </a:xfrm>
            <a:prstGeom prst="line">
              <a:avLst/>
            </a:prstGeom>
            <a:ln w="6350">
              <a:solidFill>
                <a:srgbClr val="7373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>
            <a:xfrm flipV="1">
              <a:off x="1965960" y="6903720"/>
              <a:ext cx="0" cy="91440"/>
            </a:xfrm>
            <a:prstGeom prst="line">
              <a:avLst/>
            </a:prstGeom>
            <a:ln w="6350">
              <a:solidFill>
                <a:srgbClr val="7373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5160" y="6370767"/>
            <a:ext cx="1463040" cy="177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8707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SzPct val="100000"/>
              <a:buFont typeface="Wingdings" charset="2"/>
              <a:buChar char="§"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t>Business Use Only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7547CF9-5B10-D24F-A8D7-45A9778164F7}" type="slidenum">
              <a:rPr lang="uk-UA"/>
              <a:pPr/>
              <a:t>‹N°›</a:t>
            </a:fld>
            <a:endParaRPr lang="uk-UA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1591A7-79AC-4210-A001-C84646FFDDE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85800" y="6102350"/>
            <a:ext cx="3886200" cy="298450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800"/>
            </a:lvl1pPr>
            <a:lvl2pPr marL="228600" indent="0">
              <a:buNone/>
              <a:defRPr sz="800"/>
            </a:lvl2pPr>
            <a:lvl3pPr marL="457200" indent="0">
              <a:buNone/>
              <a:defRPr sz="800"/>
            </a:lvl3pPr>
            <a:lvl4pPr marL="685800" indent="0">
              <a:buNone/>
              <a:defRPr sz="800"/>
            </a:lvl4pPr>
            <a:lvl5pPr marL="914400" indent="0">
              <a:buNone/>
              <a:defRPr sz="80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2402117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Faceți clic pentru a edita stilurile de text Coordonator</a:t>
            </a:r>
          </a:p>
        </p:txBody>
      </p:sp>
      <p:sp>
        <p:nvSpPr>
          <p:cNvPr id="4" name="Substituent conținut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o-RO"/>
              <a:t>Faceți clic pentru a edita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5" name="Substituent tex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Faceți clic pentru a edita stilurile de text Coordonator</a:t>
            </a:r>
          </a:p>
        </p:txBody>
      </p:sp>
      <p:sp>
        <p:nvSpPr>
          <p:cNvPr id="6" name="Substituent conținut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o-RO"/>
              <a:t>Faceți clic pentru a edita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027DC3-36BD-4AD9-A5E4-856A7A54DA9F}" type="slidenum">
              <a:rPr lang="ro-RO"/>
              <a:pPr>
                <a:defRPr/>
              </a:pPr>
              <a:t>‹N°›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594086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o-RO"/>
              <a:t>Se face clic pentru editare stil titlu Coordonator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o-RO"/>
              <a:t>Se face clic pentru editarea stilurilor textului Coordonatorului</a:t>
            </a:r>
          </a:p>
          <a:p>
            <a:pPr lvl="1"/>
            <a:r>
              <a:rPr lang="ro-RO"/>
              <a:t>Nivelul secund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2867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cs typeface="+mn-cs"/>
              </a:defRPr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2867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cs typeface="+mn-cs"/>
              </a:defRPr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2867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cs typeface="+mn-cs"/>
              </a:defRPr>
            </a:lvl1pPr>
          </a:lstStyle>
          <a:p>
            <a:pPr>
              <a:defRPr/>
            </a:pPr>
            <a:fld id="{56D6E182-21AE-4115-BC84-BFA19FABE805}" type="slidenum">
              <a:rPr lang="ro-RO"/>
              <a:pPr>
                <a:defRPr/>
              </a:pPr>
              <a:t>‹N°›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68" r:id="rId2"/>
    <p:sldLayoutId id="2147483667" r:id="rId3"/>
    <p:sldLayoutId id="2147483666" r:id="rId4"/>
    <p:sldLayoutId id="2147483665" r:id="rId5"/>
    <p:sldLayoutId id="2147483664" r:id="rId6"/>
    <p:sldLayoutId id="2147483663" r:id="rId7"/>
    <p:sldLayoutId id="2147483662" r:id="rId8"/>
    <p:sldLayoutId id="2147483661" r:id="rId9"/>
    <p:sldLayoutId id="2147483660" r:id="rId10"/>
    <p:sldLayoutId id="2147483659" r:id="rId11"/>
    <p:sldLayoutId id="2147483658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96012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508760"/>
            <a:ext cx="7772400" cy="4526280"/>
          </a:xfrm>
          <a:prstGeom prst="rect">
            <a:avLst/>
          </a:prstGeom>
        </p:spPr>
        <p:txBody>
          <a:bodyPr vert="horz" lIns="0" tIns="0" rIns="0" bIns="0" spcCol="18288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4"/>
          <p:cNvSpPr txBox="1">
            <a:spLocks/>
          </p:cNvSpPr>
          <p:nvPr/>
        </p:nvSpPr>
        <p:spPr>
          <a:xfrm>
            <a:off x="685800" y="6350635"/>
            <a:ext cx="5943600" cy="2286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000" b="1" kern="1200">
                <a:solidFill>
                  <a:srgbClr val="0460A9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chemeClr val="accent1"/>
                </a:solidFill>
              </a:rPr>
              <a:t>Business Unit/Franchise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-137160" y="-137160"/>
            <a:ext cx="9418320" cy="7132320"/>
            <a:chOff x="-137160" y="-137160"/>
            <a:chExt cx="9418320" cy="7132320"/>
          </a:xfrm>
        </p:grpSpPr>
        <p:cxnSp>
          <p:nvCxnSpPr>
            <p:cNvPr id="12" name="Straight Connector 11"/>
            <p:cNvCxnSpPr/>
            <p:nvPr userDrawn="1"/>
          </p:nvCxnSpPr>
          <p:spPr>
            <a:xfrm flipV="1">
              <a:off x="685800" y="-137160"/>
              <a:ext cx="0" cy="91440"/>
            </a:xfrm>
            <a:prstGeom prst="line">
              <a:avLst/>
            </a:prstGeom>
            <a:ln w="6350">
              <a:solidFill>
                <a:srgbClr val="7373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 userDrawn="1"/>
          </p:nvCxnSpPr>
          <p:spPr>
            <a:xfrm flipV="1">
              <a:off x="8458200" y="-137160"/>
              <a:ext cx="0" cy="91440"/>
            </a:xfrm>
            <a:prstGeom prst="line">
              <a:avLst/>
            </a:prstGeom>
            <a:ln w="6350">
              <a:solidFill>
                <a:srgbClr val="7373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 userDrawn="1"/>
          </p:nvCxnSpPr>
          <p:spPr>
            <a:xfrm flipV="1">
              <a:off x="685800" y="6903720"/>
              <a:ext cx="0" cy="91440"/>
            </a:xfrm>
            <a:prstGeom prst="line">
              <a:avLst/>
            </a:prstGeom>
            <a:ln w="6350">
              <a:solidFill>
                <a:srgbClr val="7373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 userDrawn="1"/>
          </p:nvCxnSpPr>
          <p:spPr>
            <a:xfrm flipV="1">
              <a:off x="8458200" y="6903720"/>
              <a:ext cx="0" cy="91440"/>
            </a:xfrm>
            <a:prstGeom prst="line">
              <a:avLst/>
            </a:prstGeom>
            <a:ln w="6350">
              <a:solidFill>
                <a:srgbClr val="7373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 userDrawn="1"/>
          </p:nvCxnSpPr>
          <p:spPr>
            <a:xfrm flipV="1">
              <a:off x="4480560" y="-137160"/>
              <a:ext cx="0" cy="91440"/>
            </a:xfrm>
            <a:prstGeom prst="line">
              <a:avLst/>
            </a:prstGeom>
            <a:ln w="6350">
              <a:solidFill>
                <a:srgbClr val="7373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 userDrawn="1"/>
          </p:nvCxnSpPr>
          <p:spPr>
            <a:xfrm flipV="1">
              <a:off x="4480560" y="6903720"/>
              <a:ext cx="0" cy="91440"/>
            </a:xfrm>
            <a:prstGeom prst="line">
              <a:avLst/>
            </a:prstGeom>
            <a:ln w="6350">
              <a:solidFill>
                <a:srgbClr val="7373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 userDrawn="1"/>
          </p:nvCxnSpPr>
          <p:spPr>
            <a:xfrm flipV="1">
              <a:off x="4663440" y="-137160"/>
              <a:ext cx="0" cy="91440"/>
            </a:xfrm>
            <a:prstGeom prst="line">
              <a:avLst/>
            </a:prstGeom>
            <a:ln w="6350">
              <a:solidFill>
                <a:srgbClr val="7373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 userDrawn="1"/>
          </p:nvCxnSpPr>
          <p:spPr>
            <a:xfrm flipV="1">
              <a:off x="4663440" y="6903720"/>
              <a:ext cx="0" cy="91440"/>
            </a:xfrm>
            <a:prstGeom prst="line">
              <a:avLst/>
            </a:prstGeom>
            <a:ln w="6350">
              <a:solidFill>
                <a:srgbClr val="7373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>
            <a:xfrm>
              <a:off x="9189720" y="1508760"/>
              <a:ext cx="91440" cy="0"/>
            </a:xfrm>
            <a:prstGeom prst="line">
              <a:avLst/>
            </a:prstGeom>
            <a:ln w="6350">
              <a:solidFill>
                <a:srgbClr val="7373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 userDrawn="1"/>
          </p:nvCxnSpPr>
          <p:spPr>
            <a:xfrm>
              <a:off x="9189720" y="6035040"/>
              <a:ext cx="91440" cy="0"/>
            </a:xfrm>
            <a:prstGeom prst="line">
              <a:avLst/>
            </a:prstGeom>
            <a:ln w="6350">
              <a:solidFill>
                <a:srgbClr val="7373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 userDrawn="1"/>
          </p:nvCxnSpPr>
          <p:spPr>
            <a:xfrm>
              <a:off x="-137160" y="1508760"/>
              <a:ext cx="91440" cy="0"/>
            </a:xfrm>
            <a:prstGeom prst="line">
              <a:avLst/>
            </a:prstGeom>
            <a:ln w="6350">
              <a:solidFill>
                <a:srgbClr val="7373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 userDrawn="1"/>
          </p:nvCxnSpPr>
          <p:spPr>
            <a:xfrm>
              <a:off x="-137160" y="6035040"/>
              <a:ext cx="91440" cy="0"/>
            </a:xfrm>
            <a:prstGeom prst="line">
              <a:avLst/>
            </a:prstGeom>
            <a:ln w="6350">
              <a:solidFill>
                <a:srgbClr val="7373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9189720" y="457200"/>
              <a:ext cx="91440" cy="0"/>
            </a:xfrm>
            <a:prstGeom prst="line">
              <a:avLst/>
            </a:prstGeom>
            <a:ln w="6350">
              <a:solidFill>
                <a:srgbClr val="7373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>
            <a:xfrm>
              <a:off x="-137160" y="457200"/>
              <a:ext cx="91440" cy="0"/>
            </a:xfrm>
            <a:prstGeom prst="line">
              <a:avLst/>
            </a:prstGeom>
            <a:ln w="6350">
              <a:solidFill>
                <a:srgbClr val="7373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685800" y="6629400"/>
            <a:ext cx="2286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>
              <a:defRPr lang="en-US" sz="700" smtClean="0">
                <a:solidFill>
                  <a:srgbClr val="7F7F7F"/>
                </a:solidFill>
              </a:defRPr>
            </a:lvl1pPr>
          </a:lstStyle>
          <a:p>
            <a:fld id="{47547CF9-5B10-D24F-A8D7-45A9778164F7}" type="slidenum">
              <a:rPr lang="uk-UA" smtClean="0"/>
              <a:pPr/>
              <a:t>‹N°›</a:t>
            </a:fld>
            <a:endParaRPr lang="uk-U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4400" y="6629400"/>
            <a:ext cx="5715000" cy="2286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>
            <a:lvl1pPr>
              <a:defRPr lang="en-US" sz="700" dirty="0">
                <a:solidFill>
                  <a:srgbClr val="7F7F7F"/>
                </a:solidFill>
              </a:defRPr>
            </a:lvl1pPr>
          </a:lstStyle>
          <a:p>
            <a:r>
              <a:rPr lang="en-US" dirty="0"/>
              <a:t>Business Use Only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5160" y="6370767"/>
            <a:ext cx="1463040" cy="177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228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  <p:sldLayoutId id="2147483683" r:id="rId13"/>
    <p:sldLayoutId id="2147483684" r:id="rId14"/>
    <p:sldLayoutId id="2147483685" r:id="rId15"/>
    <p:sldLayoutId id="2147483686" r:id="rId16"/>
    <p:sldLayoutId id="2147483687" r:id="rId17"/>
    <p:sldLayoutId id="2147483688" r:id="rId18"/>
  </p:sldLayoutIdLst>
  <p:hf hdr="0" dt="0"/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ts val="1200"/>
        </a:spcBef>
        <a:buClrTx/>
        <a:buSzPct val="120000"/>
        <a:buFont typeface="Arial" pitchFamily="34" charset="0"/>
        <a:buChar char="•"/>
        <a:tabLst>
          <a:tab pos="3998913" algn="r"/>
          <a:tab pos="8229600" algn="r"/>
        </a:tabLst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spcBef>
          <a:spcPts val="600"/>
        </a:spcBef>
        <a:buClrTx/>
        <a:buSzPct val="100000"/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spcBef>
          <a:spcPts val="600"/>
        </a:spcBef>
        <a:buClrTx/>
        <a:buSzPct val="100000"/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spcBef>
          <a:spcPts val="600"/>
        </a:spcBef>
        <a:buClrTx/>
        <a:buSzPct val="100000"/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spcBef>
          <a:spcPts val="600"/>
        </a:spcBef>
        <a:buClrTx/>
        <a:buSzPct val="100000"/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Neutropénie</a:t>
            </a:r>
            <a:r>
              <a:rPr lang="en-US" b="1" dirty="0"/>
              <a:t> </a:t>
            </a:r>
            <a:r>
              <a:rPr lang="en-US" b="1" dirty="0" err="1"/>
              <a:t>fébrile</a:t>
            </a:r>
            <a:br>
              <a:rPr lang="en-US" dirty="0"/>
            </a:br>
            <a:endParaRPr lang="en-US" b="1" dirty="0"/>
          </a:p>
        </p:txBody>
      </p:sp>
      <p:sp>
        <p:nvSpPr>
          <p:cNvPr id="3" name="Substituent conținut 2"/>
          <p:cNvSpPr>
            <a:spLocks noGrp="1"/>
          </p:cNvSpPr>
          <p:nvPr>
            <p:ph idx="1"/>
          </p:nvPr>
        </p:nvSpPr>
        <p:spPr>
          <a:xfrm>
            <a:off x="457200" y="1981200"/>
            <a:ext cx="8610600" cy="4648200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b="1" dirty="0" err="1"/>
              <a:t>Doit</a:t>
            </a:r>
            <a:r>
              <a:rPr lang="en-US" sz="1800" b="1" dirty="0"/>
              <a:t> </a:t>
            </a:r>
            <a:r>
              <a:rPr lang="en-US" sz="1800" b="1" dirty="0" err="1"/>
              <a:t>etre</a:t>
            </a:r>
            <a:r>
              <a:rPr lang="en-US" sz="1800" b="1" dirty="0"/>
              <a:t> </a:t>
            </a:r>
            <a:r>
              <a:rPr lang="en-US" sz="1800" b="1" dirty="0" err="1"/>
              <a:t>considérer</a:t>
            </a:r>
            <a:r>
              <a:rPr lang="en-US" sz="1800" b="1" dirty="0"/>
              <a:t> </a:t>
            </a:r>
            <a:r>
              <a:rPr lang="en-US" sz="1800" b="1" dirty="0" err="1"/>
              <a:t>une</a:t>
            </a:r>
            <a:r>
              <a:rPr lang="en-US" sz="1800" b="1" dirty="0"/>
              <a:t> </a:t>
            </a:r>
            <a:r>
              <a:rPr lang="en-US" sz="1800" b="1" dirty="0" err="1"/>
              <a:t>urgence</a:t>
            </a:r>
            <a:r>
              <a:rPr lang="en-US" sz="1800" b="1" dirty="0"/>
              <a:t>: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/>
              <a:t>Les </a:t>
            </a:r>
            <a:r>
              <a:rPr lang="en-US" sz="1800" dirty="0" err="1"/>
              <a:t>études</a:t>
            </a:r>
            <a:r>
              <a:rPr lang="en-US" sz="1800" dirty="0"/>
              <a:t> </a:t>
            </a:r>
            <a:r>
              <a:rPr lang="en-US" sz="1800" dirty="0" err="1"/>
              <a:t>ont</a:t>
            </a:r>
            <a:r>
              <a:rPr lang="en-US" sz="1800" dirty="0"/>
              <a:t> </a:t>
            </a:r>
            <a:r>
              <a:rPr lang="en-US" sz="1800" dirty="0" err="1"/>
              <a:t>montré</a:t>
            </a:r>
            <a:r>
              <a:rPr lang="en-US" sz="1800" dirty="0"/>
              <a:t>  </a:t>
            </a:r>
            <a:r>
              <a:rPr lang="en-US" sz="1800" dirty="0" err="1"/>
              <a:t>une</a:t>
            </a:r>
            <a:r>
              <a:rPr lang="en-US" sz="1800" dirty="0"/>
              <a:t> augmentation de </a:t>
            </a:r>
            <a:r>
              <a:rPr lang="en-US" sz="1800" dirty="0" err="1"/>
              <a:t>taux</a:t>
            </a:r>
            <a:r>
              <a:rPr lang="en-US" sz="1800" dirty="0"/>
              <a:t> de </a:t>
            </a:r>
            <a:r>
              <a:rPr lang="en-US" sz="1800" dirty="0" err="1"/>
              <a:t>mortalité</a:t>
            </a:r>
            <a:r>
              <a:rPr lang="en-US" sz="1800" dirty="0"/>
              <a:t> due à </a:t>
            </a:r>
            <a:r>
              <a:rPr lang="en-US" sz="1800" dirty="0" err="1"/>
              <a:t>l’antibiothérapie</a:t>
            </a:r>
            <a:r>
              <a:rPr lang="en-US" sz="1800" dirty="0"/>
              <a:t>  </a:t>
            </a:r>
            <a:r>
              <a:rPr lang="en-US" sz="1800" dirty="0" err="1"/>
              <a:t>différée</a:t>
            </a:r>
            <a:r>
              <a:rPr lang="en-US" sz="1800" dirty="0"/>
              <a:t> </a:t>
            </a:r>
          </a:p>
          <a:p>
            <a:pPr>
              <a:lnSpc>
                <a:spcPct val="150000"/>
              </a:lnSpc>
            </a:pPr>
            <a:r>
              <a:rPr lang="en-US" sz="1800" dirty="0" err="1"/>
              <a:t>Représentant</a:t>
            </a:r>
            <a:r>
              <a:rPr lang="en-US" sz="1800" dirty="0"/>
              <a:t> 75% de </a:t>
            </a:r>
            <a:r>
              <a:rPr lang="en-US" sz="1800" dirty="0" err="1"/>
              <a:t>mortalité</a:t>
            </a:r>
            <a:r>
              <a:rPr lang="en-US" sz="1800" dirty="0"/>
              <a:t> </a:t>
            </a:r>
            <a:r>
              <a:rPr lang="en-US" sz="1800" dirty="0" err="1"/>
              <a:t>associé</a:t>
            </a:r>
            <a:r>
              <a:rPr lang="en-US" sz="1800" dirty="0"/>
              <a:t> à </a:t>
            </a:r>
            <a:r>
              <a:rPr lang="en-US" sz="1800" dirty="0" err="1"/>
              <a:t>chimiothérapie</a:t>
            </a:r>
            <a:r>
              <a:rPr lang="en-US" sz="1800" dirty="0"/>
              <a:t>, </a:t>
            </a:r>
            <a:r>
              <a:rPr lang="en-US" sz="1800" dirty="0" err="1"/>
              <a:t>avant</a:t>
            </a:r>
            <a:r>
              <a:rPr lang="en-US" sz="1800" dirty="0"/>
              <a:t>   </a:t>
            </a:r>
            <a:r>
              <a:rPr lang="en-US" sz="1800" dirty="0" err="1"/>
              <a:t>l’abordage</a:t>
            </a:r>
            <a:r>
              <a:rPr lang="en-US" sz="1800" dirty="0"/>
              <a:t>   des </a:t>
            </a:r>
            <a:r>
              <a:rPr lang="en-US" sz="1800" dirty="0" err="1"/>
              <a:t>antibiotiques</a:t>
            </a:r>
            <a:r>
              <a:rPr lang="en-US" sz="1800" dirty="0"/>
              <a:t>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b="1" dirty="0"/>
              <a:t>Definition</a:t>
            </a:r>
            <a:r>
              <a:rPr lang="en-US" sz="1800" dirty="0"/>
              <a:t>:</a:t>
            </a:r>
          </a:p>
          <a:p>
            <a:pPr>
              <a:lnSpc>
                <a:spcPct val="150000"/>
              </a:lnSpc>
            </a:pPr>
            <a:r>
              <a:rPr lang="en-US" sz="1800" dirty="0" err="1"/>
              <a:t>Température</a:t>
            </a:r>
            <a:r>
              <a:rPr lang="en-US" sz="1800" dirty="0"/>
              <a:t> oral &gt; 38.5 </a:t>
            </a:r>
          </a:p>
          <a:p>
            <a:pPr>
              <a:lnSpc>
                <a:spcPct val="150000"/>
              </a:lnSpc>
            </a:pPr>
            <a:r>
              <a:rPr lang="en-US" sz="1800" dirty="0" err="1"/>
              <a:t>Mesurer</a:t>
            </a:r>
            <a:r>
              <a:rPr lang="en-US" sz="1800" dirty="0"/>
              <a:t> à </a:t>
            </a:r>
            <a:r>
              <a:rPr lang="en-US" sz="1800" dirty="0" err="1"/>
              <a:t>deux</a:t>
            </a:r>
            <a:r>
              <a:rPr lang="en-US" sz="1800" dirty="0"/>
              <a:t> reprise </a:t>
            </a:r>
            <a:r>
              <a:rPr lang="en-US" sz="1800" dirty="0" err="1"/>
              <a:t>consécutives</a:t>
            </a:r>
            <a:r>
              <a:rPr lang="en-US" sz="1800" dirty="0"/>
              <a:t> 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Pendant  2 </a:t>
            </a:r>
            <a:r>
              <a:rPr lang="en-US" sz="1800" dirty="0" err="1"/>
              <a:t>heurese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 err="1"/>
              <a:t>Valeur</a:t>
            </a:r>
            <a:r>
              <a:rPr lang="en-US" sz="1800" dirty="0"/>
              <a:t> de </a:t>
            </a:r>
            <a:r>
              <a:rPr lang="en-US" sz="1800" dirty="0" err="1"/>
              <a:t>neutrophiles</a:t>
            </a:r>
            <a:r>
              <a:rPr lang="en-US" sz="1800" dirty="0"/>
              <a:t>  PPN &lt;500/</a:t>
            </a:r>
            <a:r>
              <a:rPr lang="en-US" sz="1800" dirty="0" err="1"/>
              <a:t>ul</a:t>
            </a:r>
            <a:endParaRPr lang="en-US" sz="1800" dirty="0"/>
          </a:p>
          <a:p>
            <a:pPr marL="0" indent="0" eaLnBrk="1" hangingPunct="1">
              <a:buNone/>
            </a:pPr>
            <a:endParaRPr lang="en-US" altLang="ro-RO" sz="1600" baseline="30000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2655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/>
          <a:lstStyle/>
          <a:p>
            <a:r>
              <a:rPr lang="en-US" b="1" dirty="0"/>
              <a:t>Incidence et </a:t>
            </a:r>
            <a:r>
              <a:rPr lang="en-US" b="1" dirty="0" err="1"/>
              <a:t>mortalité</a:t>
            </a:r>
            <a:r>
              <a:rPr lang="en-US" b="1" dirty="0"/>
              <a:t> de la </a:t>
            </a:r>
            <a:r>
              <a:rPr lang="en-US" b="1" dirty="0" err="1"/>
              <a:t>neutropénie</a:t>
            </a:r>
            <a:r>
              <a:rPr lang="en-US" b="1" dirty="0"/>
              <a:t> </a:t>
            </a:r>
            <a:r>
              <a:rPr lang="en-US" b="1" dirty="0" err="1"/>
              <a:t>fébrile</a:t>
            </a:r>
            <a:r>
              <a:rPr lang="en-US" b="1" dirty="0"/>
              <a:t> (NF)</a:t>
            </a:r>
          </a:p>
        </p:txBody>
      </p:sp>
      <p:sp>
        <p:nvSpPr>
          <p:cNvPr id="3" name="Substituent conținut 2"/>
          <p:cNvSpPr>
            <a:spLocks noGrp="1"/>
          </p:cNvSpPr>
          <p:nvPr>
            <p:ph idx="1"/>
          </p:nvPr>
        </p:nvSpPr>
        <p:spPr>
          <a:xfrm>
            <a:off x="381000" y="2209800"/>
            <a:ext cx="8458200" cy="3810000"/>
          </a:xfrm>
        </p:spPr>
        <p:txBody>
          <a:bodyPr/>
          <a:lstStyle/>
          <a:p>
            <a:pPr marL="0" indent="0">
              <a:buNone/>
            </a:pPr>
            <a:endParaRPr lang="en-US" sz="2000" dirty="0"/>
          </a:p>
          <a:p>
            <a:pPr>
              <a:buNone/>
            </a:pPr>
            <a:endParaRPr lang="en-US" sz="2000" dirty="0"/>
          </a:p>
          <a:p>
            <a:pPr lvl="0">
              <a:lnSpc>
                <a:spcPct val="200000"/>
              </a:lnSpc>
            </a:pPr>
            <a:r>
              <a:rPr lang="en-US" sz="1800" dirty="0"/>
              <a:t>La plus </a:t>
            </a:r>
            <a:r>
              <a:rPr lang="en-US" sz="1800" dirty="0" err="1"/>
              <a:t>fréquente</a:t>
            </a:r>
            <a:r>
              <a:rPr lang="en-US" sz="1800" dirty="0"/>
              <a:t> et grave complication de la </a:t>
            </a:r>
            <a:r>
              <a:rPr lang="en-US" sz="1800" dirty="0" err="1"/>
              <a:t>chimiothérapie</a:t>
            </a:r>
            <a:r>
              <a:rPr lang="en-US" sz="1800" dirty="0"/>
              <a:t> </a:t>
            </a:r>
          </a:p>
          <a:p>
            <a:pPr lvl="0">
              <a:lnSpc>
                <a:spcPct val="200000"/>
              </a:lnSpc>
            </a:pPr>
            <a:r>
              <a:rPr lang="en-US" sz="1800" dirty="0"/>
              <a:t>Incidence 8/1000 </a:t>
            </a:r>
            <a:r>
              <a:rPr lang="en-US" sz="1800" dirty="0" err="1"/>
              <a:t>pacients</a:t>
            </a:r>
            <a:r>
              <a:rPr lang="en-US" sz="1800" dirty="0"/>
              <a:t> qui </a:t>
            </a:r>
            <a:r>
              <a:rPr lang="en-US" sz="1800" dirty="0" err="1"/>
              <a:t>reçoivent</a:t>
            </a:r>
            <a:r>
              <a:rPr lang="en-US" sz="1800" dirty="0"/>
              <a:t>  la </a:t>
            </a:r>
            <a:r>
              <a:rPr lang="en-US" sz="1800" dirty="0" err="1"/>
              <a:t>chimiothérapie</a:t>
            </a:r>
            <a:endParaRPr lang="en-US" sz="1800" dirty="0"/>
          </a:p>
          <a:p>
            <a:pPr lvl="0">
              <a:lnSpc>
                <a:spcPct val="200000"/>
              </a:lnSpc>
            </a:pPr>
            <a:r>
              <a:rPr lang="en-US" sz="1800" dirty="0" err="1"/>
              <a:t>Mortalité</a:t>
            </a:r>
            <a:r>
              <a:rPr lang="en-US" sz="1800" dirty="0"/>
              <a:t> </a:t>
            </a:r>
            <a:r>
              <a:rPr lang="en-US" sz="1800" dirty="0" err="1"/>
              <a:t>élevée</a:t>
            </a:r>
            <a:r>
              <a:rPr lang="en-US" sz="1800" dirty="0"/>
              <a:t>, </a:t>
            </a:r>
            <a:r>
              <a:rPr lang="en-US" sz="1800" dirty="0" err="1"/>
              <a:t>pourtant</a:t>
            </a:r>
            <a:r>
              <a:rPr lang="en-US" sz="1800" dirty="0"/>
              <a:t> </a:t>
            </a:r>
            <a:r>
              <a:rPr lang="en-US" sz="1800" dirty="0" err="1"/>
              <a:t>il</a:t>
            </a:r>
            <a:r>
              <a:rPr lang="en-US" sz="1800" dirty="0"/>
              <a:t> </a:t>
            </a:r>
            <a:r>
              <a:rPr lang="en-US" sz="1800" dirty="0" err="1"/>
              <a:t>existe</a:t>
            </a:r>
            <a:r>
              <a:rPr lang="en-US" sz="1800" dirty="0"/>
              <a:t> un </a:t>
            </a:r>
            <a:r>
              <a:rPr lang="en-US" sz="1800" dirty="0" err="1"/>
              <a:t>traitement</a:t>
            </a:r>
            <a:r>
              <a:rPr lang="en-US" sz="1800" dirty="0"/>
              <a:t> </a:t>
            </a:r>
            <a:r>
              <a:rPr lang="en-US" sz="1800" dirty="0" err="1"/>
              <a:t>prophylatique</a:t>
            </a:r>
            <a:r>
              <a:rPr lang="en-US" sz="1800" dirty="0"/>
              <a:t> et </a:t>
            </a:r>
            <a:r>
              <a:rPr lang="en-US" sz="1800" dirty="0" err="1"/>
              <a:t>curatif</a:t>
            </a:r>
            <a:endParaRPr lang="en-US" sz="1800" dirty="0"/>
          </a:p>
          <a:p>
            <a:pPr lvl="0">
              <a:lnSpc>
                <a:spcPct val="200000"/>
              </a:lnSpc>
            </a:pPr>
            <a:r>
              <a:rPr lang="en-US" sz="1800" dirty="0"/>
              <a:t>20- 30% de patients </a:t>
            </a:r>
            <a:r>
              <a:rPr lang="en-US" sz="1800" dirty="0" err="1"/>
              <a:t>nécessite</a:t>
            </a:r>
            <a:r>
              <a:rPr lang="en-US" sz="1800" dirty="0"/>
              <a:t> </a:t>
            </a:r>
            <a:r>
              <a:rPr lang="en-US" sz="1800" dirty="0" err="1"/>
              <a:t>une</a:t>
            </a:r>
            <a:r>
              <a:rPr lang="en-US" sz="1800" dirty="0"/>
              <a:t> </a:t>
            </a:r>
            <a:r>
              <a:rPr lang="en-US" sz="1800" dirty="0" err="1"/>
              <a:t>hospitalisation</a:t>
            </a:r>
            <a:r>
              <a:rPr lang="en-US" sz="1800" dirty="0"/>
              <a:t> </a:t>
            </a:r>
          </a:p>
          <a:p>
            <a:pPr lvl="0">
              <a:lnSpc>
                <a:spcPct val="200000"/>
              </a:lnSpc>
            </a:pPr>
            <a:r>
              <a:rPr lang="en-US" sz="1800" dirty="0"/>
              <a:t>Mortalité-aprox.10% de patients </a:t>
            </a:r>
            <a:r>
              <a:rPr lang="en-US" sz="1800" dirty="0" err="1"/>
              <a:t>hospitalisés</a:t>
            </a:r>
            <a:r>
              <a:rPr lang="en-US" sz="1800" dirty="0"/>
              <a:t> à cause de </a:t>
            </a:r>
            <a:r>
              <a:rPr lang="en-US" sz="1800" dirty="0" err="1"/>
              <a:t>neutropénie</a:t>
            </a:r>
            <a:r>
              <a:rPr lang="en-US" sz="1800" dirty="0"/>
              <a:t> </a:t>
            </a:r>
            <a:r>
              <a:rPr lang="en-US" sz="1800" dirty="0" err="1"/>
              <a:t>fébrile</a:t>
            </a:r>
            <a:r>
              <a:rPr lang="en-US" sz="1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462157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 txBox="1">
            <a:spLocks noChangeArrowheads="1"/>
          </p:cNvSpPr>
          <p:nvPr/>
        </p:nvSpPr>
        <p:spPr bwMode="white">
          <a:xfrm>
            <a:off x="-73025" y="2686"/>
            <a:ext cx="9144000" cy="120669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+mj-lt"/>
                <a:ea typeface="Arial" charset="0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charset="0"/>
                <a:cs typeface="Arial" charset="0"/>
              </a:defRPr>
            </a:lvl9pPr>
          </a:lstStyle>
          <a:p>
            <a:pPr lvl="1" algn="ctr">
              <a:defRPr/>
            </a:pPr>
            <a:r>
              <a:rPr lang="en-US" sz="3600" dirty="0" err="1">
                <a:solidFill>
                  <a:schemeClr val="tx1"/>
                </a:solidFill>
              </a:rPr>
              <a:t>Neutropénie</a:t>
            </a:r>
            <a:r>
              <a:rPr lang="en-US" sz="3200" dirty="0">
                <a:solidFill>
                  <a:schemeClr val="tx1"/>
                </a:solidFill>
              </a:rPr>
              <a:t> </a:t>
            </a:r>
            <a:r>
              <a:rPr lang="en-US" sz="3200" dirty="0" err="1">
                <a:solidFill>
                  <a:schemeClr val="tx1"/>
                </a:solidFill>
              </a:rPr>
              <a:t>fébrile</a:t>
            </a:r>
            <a:r>
              <a:rPr lang="en-US" sz="3200" dirty="0">
                <a:solidFill>
                  <a:schemeClr val="tx1"/>
                </a:solidFill>
              </a:rPr>
              <a:t> </a:t>
            </a:r>
            <a:r>
              <a:rPr lang="en-US" sz="3200" dirty="0" err="1">
                <a:solidFill>
                  <a:schemeClr val="tx1"/>
                </a:solidFill>
              </a:rPr>
              <a:t>apparaît</a:t>
            </a:r>
            <a:r>
              <a:rPr lang="en-US" sz="3200" dirty="0">
                <a:solidFill>
                  <a:schemeClr val="tx1"/>
                </a:solidFill>
              </a:rPr>
              <a:t> les plus </a:t>
            </a:r>
            <a:r>
              <a:rPr lang="en-US" sz="3200" dirty="0" err="1">
                <a:solidFill>
                  <a:schemeClr val="tx1"/>
                </a:solidFill>
              </a:rPr>
              <a:t>souvent</a:t>
            </a:r>
            <a:r>
              <a:rPr lang="en-US" sz="3200" dirty="0">
                <a:solidFill>
                  <a:schemeClr val="tx1"/>
                </a:solidFill>
              </a:rPr>
              <a:t> au premier cycle de </a:t>
            </a:r>
            <a:r>
              <a:rPr lang="en-US" sz="3200" dirty="0" err="1">
                <a:solidFill>
                  <a:schemeClr val="tx1"/>
                </a:solidFill>
              </a:rPr>
              <a:t>chimiothérapie</a:t>
            </a:r>
            <a:r>
              <a:rPr lang="en-US" sz="3200" dirty="0">
                <a:solidFill>
                  <a:schemeClr val="tx1"/>
                </a:solidFill>
              </a:rPr>
              <a:t> </a:t>
            </a:r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515423" y="1655266"/>
            <a:ext cx="7594093" cy="4558427"/>
            <a:chOff x="461391" y="1036159"/>
            <a:chExt cx="8406270" cy="5275074"/>
          </a:xfrm>
        </p:grpSpPr>
        <p:sp>
          <p:nvSpPr>
            <p:cNvPr id="11" name="Text Box 3"/>
            <p:cNvSpPr txBox="1">
              <a:spLocks noChangeArrowheads="1"/>
            </p:cNvSpPr>
            <p:nvPr/>
          </p:nvSpPr>
          <p:spPr bwMode="auto">
            <a:xfrm rot="16200000">
              <a:off x="4526519" y="-1589187"/>
              <a:ext cx="1068490" cy="6319181"/>
            </a:xfrm>
            <a:prstGeom prst="rect">
              <a:avLst/>
            </a:prstGeom>
            <a:noFill/>
            <a:ln>
              <a:noFill/>
            </a:ln>
          </p:spPr>
          <p:txBody>
            <a:bodyPr vert="eaVert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600" dirty="0"/>
                <a:t>Incidence </a:t>
              </a:r>
              <a:r>
                <a:rPr lang="en-US" sz="1600" dirty="0" err="1"/>
                <a:t>totale</a:t>
              </a:r>
              <a:r>
                <a:rPr lang="en-US" sz="1600" dirty="0"/>
                <a:t> de NF et la proportion de NF au premier cycle de </a:t>
              </a:r>
              <a:r>
                <a:rPr lang="en-US" sz="1600" dirty="0" err="1"/>
                <a:t>chimiothérapie</a:t>
              </a:r>
              <a:r>
                <a:rPr lang="en-US" sz="1600" dirty="0"/>
                <a:t> </a:t>
              </a:r>
            </a:p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600" b="1" kern="0" dirty="0">
                <a:solidFill>
                  <a:srgbClr val="002060"/>
                </a:solidFill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13" name="Rectangle 13"/>
            <p:cNvSpPr>
              <a:spLocks noChangeArrowheads="1"/>
            </p:cNvSpPr>
            <p:nvPr/>
          </p:nvSpPr>
          <p:spPr bwMode="auto">
            <a:xfrm>
              <a:off x="1901174" y="2478838"/>
              <a:ext cx="572873" cy="3051384"/>
            </a:xfrm>
            <a:prstGeom prst="rect">
              <a:avLst/>
            </a:prstGeom>
            <a:solidFill>
              <a:srgbClr val="008000"/>
            </a:solidFill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endParaRPr>
            </a:p>
          </p:txBody>
        </p:sp>
        <p:sp>
          <p:nvSpPr>
            <p:cNvPr id="14" name="Rectangle 14"/>
            <p:cNvSpPr>
              <a:spLocks noChangeArrowheads="1"/>
            </p:cNvSpPr>
            <p:nvPr/>
          </p:nvSpPr>
          <p:spPr bwMode="auto">
            <a:xfrm>
              <a:off x="1904688" y="3744584"/>
              <a:ext cx="569359" cy="1791150"/>
            </a:xfrm>
            <a:prstGeom prst="rect">
              <a:avLst/>
            </a:prstGeom>
            <a:solidFill>
              <a:srgbClr val="003366"/>
            </a:solidFill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endParaRPr>
            </a:p>
          </p:txBody>
        </p:sp>
        <p:sp>
          <p:nvSpPr>
            <p:cNvPr id="15" name="Rectangle 15"/>
            <p:cNvSpPr>
              <a:spLocks noChangeArrowheads="1"/>
            </p:cNvSpPr>
            <p:nvPr/>
          </p:nvSpPr>
          <p:spPr bwMode="auto">
            <a:xfrm>
              <a:off x="3125999" y="2778281"/>
              <a:ext cx="586932" cy="2750105"/>
            </a:xfrm>
            <a:prstGeom prst="rect">
              <a:avLst/>
            </a:prstGeom>
            <a:solidFill>
              <a:srgbClr val="008000"/>
            </a:solidFill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endParaRPr>
            </a:p>
          </p:txBody>
        </p:sp>
        <p:sp>
          <p:nvSpPr>
            <p:cNvPr id="16" name="Rectangle 16"/>
            <p:cNvSpPr>
              <a:spLocks noChangeArrowheads="1"/>
            </p:cNvSpPr>
            <p:nvPr/>
          </p:nvSpPr>
          <p:spPr bwMode="auto">
            <a:xfrm>
              <a:off x="3129513" y="3851134"/>
              <a:ext cx="583417" cy="1690111"/>
            </a:xfrm>
            <a:prstGeom prst="rect">
              <a:avLst/>
            </a:prstGeom>
            <a:solidFill>
              <a:srgbClr val="003366"/>
            </a:solidFill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endParaRPr>
            </a:p>
          </p:txBody>
        </p:sp>
        <p:sp>
          <p:nvSpPr>
            <p:cNvPr id="17" name="Rectangle 17"/>
            <p:cNvSpPr>
              <a:spLocks noChangeArrowheads="1"/>
            </p:cNvSpPr>
            <p:nvPr/>
          </p:nvSpPr>
          <p:spPr bwMode="auto">
            <a:xfrm>
              <a:off x="4298105" y="3549854"/>
              <a:ext cx="572873" cy="1961998"/>
            </a:xfrm>
            <a:prstGeom prst="rect">
              <a:avLst/>
            </a:prstGeom>
            <a:solidFill>
              <a:srgbClr val="008000"/>
            </a:solidFill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endParaRPr>
            </a:p>
          </p:txBody>
        </p:sp>
        <p:sp>
          <p:nvSpPr>
            <p:cNvPr id="18" name="Rectangle 18"/>
            <p:cNvSpPr>
              <a:spLocks noChangeArrowheads="1"/>
            </p:cNvSpPr>
            <p:nvPr/>
          </p:nvSpPr>
          <p:spPr bwMode="auto">
            <a:xfrm>
              <a:off x="4298105" y="4365516"/>
              <a:ext cx="572873" cy="1166544"/>
            </a:xfrm>
            <a:prstGeom prst="rect">
              <a:avLst/>
            </a:prstGeom>
            <a:solidFill>
              <a:srgbClr val="003366"/>
            </a:solidFill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endParaRPr>
            </a:p>
          </p:txBody>
        </p:sp>
        <p:sp>
          <p:nvSpPr>
            <p:cNvPr id="19" name="Rectangle 19"/>
            <p:cNvSpPr>
              <a:spLocks noChangeArrowheads="1"/>
            </p:cNvSpPr>
            <p:nvPr/>
          </p:nvSpPr>
          <p:spPr bwMode="auto">
            <a:xfrm>
              <a:off x="5501842" y="3838275"/>
              <a:ext cx="572873" cy="1680925"/>
            </a:xfrm>
            <a:prstGeom prst="rect">
              <a:avLst/>
            </a:prstGeom>
            <a:solidFill>
              <a:srgbClr val="008000"/>
            </a:solidFill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endParaRPr>
            </a:p>
          </p:txBody>
        </p:sp>
        <p:sp>
          <p:nvSpPr>
            <p:cNvPr id="20" name="Rectangle 20"/>
            <p:cNvSpPr>
              <a:spLocks noChangeArrowheads="1"/>
            </p:cNvSpPr>
            <p:nvPr/>
          </p:nvSpPr>
          <p:spPr bwMode="auto">
            <a:xfrm>
              <a:off x="5500084" y="4503297"/>
              <a:ext cx="574631" cy="1023251"/>
            </a:xfrm>
            <a:prstGeom prst="rect">
              <a:avLst/>
            </a:prstGeom>
            <a:solidFill>
              <a:srgbClr val="003366"/>
            </a:solidFill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endParaRPr>
            </a:p>
          </p:txBody>
        </p:sp>
        <p:sp>
          <p:nvSpPr>
            <p:cNvPr id="21" name="Rectangle 21"/>
            <p:cNvSpPr>
              <a:spLocks noChangeArrowheads="1"/>
            </p:cNvSpPr>
            <p:nvPr/>
          </p:nvSpPr>
          <p:spPr bwMode="auto">
            <a:xfrm>
              <a:off x="6753026" y="4448185"/>
              <a:ext cx="572873" cy="1047134"/>
            </a:xfrm>
            <a:prstGeom prst="rect">
              <a:avLst/>
            </a:prstGeom>
            <a:solidFill>
              <a:srgbClr val="008000"/>
            </a:solidFill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endParaRPr>
            </a:p>
          </p:txBody>
        </p:sp>
        <p:sp>
          <p:nvSpPr>
            <p:cNvPr id="22" name="Rectangle 22"/>
            <p:cNvSpPr>
              <a:spLocks noChangeArrowheads="1"/>
            </p:cNvSpPr>
            <p:nvPr/>
          </p:nvSpPr>
          <p:spPr bwMode="auto">
            <a:xfrm>
              <a:off x="6751268" y="4935010"/>
              <a:ext cx="574631" cy="584190"/>
            </a:xfrm>
            <a:prstGeom prst="rect">
              <a:avLst/>
            </a:prstGeom>
            <a:solidFill>
              <a:srgbClr val="003366"/>
            </a:solidFill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endParaRPr>
            </a:p>
          </p:txBody>
        </p:sp>
        <p:sp>
          <p:nvSpPr>
            <p:cNvPr id="23" name="Text Box 23"/>
            <p:cNvSpPr txBox="1">
              <a:spLocks noChangeArrowheads="1"/>
            </p:cNvSpPr>
            <p:nvPr/>
          </p:nvSpPr>
          <p:spPr bwMode="auto">
            <a:xfrm>
              <a:off x="1904688" y="5563290"/>
              <a:ext cx="743846" cy="747943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r>
                <a:rPr lang="en-US" b="1" dirty="0" err="1">
                  <a:solidFill>
                    <a:schemeClr val="accent6"/>
                  </a:solidFill>
                </a:rPr>
                <a:t>Sein</a:t>
              </a:r>
              <a:endParaRPr lang="en-US" b="1" dirty="0">
                <a:solidFill>
                  <a:schemeClr val="accent6"/>
                </a:solidFill>
              </a:endParaRPr>
            </a:p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b="1" kern="0" dirty="0">
                <a:solidFill>
                  <a:srgbClr val="002060"/>
                </a:solidFill>
              </a:endParaRPr>
            </a:p>
          </p:txBody>
        </p:sp>
        <p:sp>
          <p:nvSpPr>
            <p:cNvPr id="24" name="Text Box 24"/>
            <p:cNvSpPr txBox="1">
              <a:spLocks noChangeArrowheads="1"/>
            </p:cNvSpPr>
            <p:nvPr/>
          </p:nvSpPr>
          <p:spPr bwMode="auto">
            <a:xfrm>
              <a:off x="2895795" y="5563290"/>
              <a:ext cx="1567187" cy="427396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b="1" kern="0" dirty="0" err="1">
                  <a:solidFill>
                    <a:srgbClr val="002060"/>
                  </a:solidFill>
                </a:rPr>
                <a:t>Lymphome</a:t>
              </a:r>
              <a:endParaRPr lang="en-GB" b="1" kern="0" dirty="0">
                <a:solidFill>
                  <a:srgbClr val="002060"/>
                </a:solidFill>
              </a:endParaRPr>
            </a:p>
          </p:txBody>
        </p:sp>
        <p:sp>
          <p:nvSpPr>
            <p:cNvPr id="25" name="Text Box 25"/>
            <p:cNvSpPr txBox="1">
              <a:spLocks noChangeArrowheads="1"/>
            </p:cNvSpPr>
            <p:nvPr/>
          </p:nvSpPr>
          <p:spPr bwMode="auto">
            <a:xfrm>
              <a:off x="4266473" y="5563290"/>
              <a:ext cx="1141320" cy="427396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b="1" kern="0" dirty="0" err="1">
                  <a:solidFill>
                    <a:srgbClr val="002060"/>
                  </a:solidFill>
                </a:rPr>
                <a:t>Ovaires</a:t>
              </a:r>
              <a:endParaRPr lang="en-GB" b="1" kern="0" dirty="0">
                <a:solidFill>
                  <a:srgbClr val="002060"/>
                </a:solidFill>
              </a:endParaRPr>
            </a:p>
          </p:txBody>
        </p:sp>
        <p:sp>
          <p:nvSpPr>
            <p:cNvPr id="26" name="Text Box 26"/>
            <p:cNvSpPr txBox="1">
              <a:spLocks noChangeArrowheads="1"/>
            </p:cNvSpPr>
            <p:nvPr/>
          </p:nvSpPr>
          <p:spPr bwMode="auto">
            <a:xfrm>
              <a:off x="5415735" y="5605543"/>
              <a:ext cx="1368449" cy="427396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b="1" kern="0" dirty="0" err="1">
                  <a:solidFill>
                    <a:srgbClr val="002060"/>
                  </a:solidFill>
                </a:rPr>
                <a:t>Poumons</a:t>
              </a:r>
              <a:endParaRPr lang="en-GB" b="1" kern="0" dirty="0">
                <a:solidFill>
                  <a:srgbClr val="002060"/>
                </a:solidFill>
              </a:endParaRPr>
            </a:p>
          </p:txBody>
        </p:sp>
        <p:sp>
          <p:nvSpPr>
            <p:cNvPr id="27" name="Text Box 27"/>
            <p:cNvSpPr txBox="1">
              <a:spLocks noChangeArrowheads="1"/>
            </p:cNvSpPr>
            <p:nvPr/>
          </p:nvSpPr>
          <p:spPr bwMode="auto">
            <a:xfrm>
              <a:off x="6387512" y="5605543"/>
              <a:ext cx="928388" cy="427396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b="1" kern="0" dirty="0">
                  <a:solidFill>
                    <a:srgbClr val="002060"/>
                  </a:solidFill>
                </a:rPr>
                <a:t>Colon</a:t>
              </a:r>
            </a:p>
          </p:txBody>
        </p:sp>
        <p:sp>
          <p:nvSpPr>
            <p:cNvPr id="28" name="Text Box 28"/>
            <p:cNvSpPr txBox="1">
              <a:spLocks noChangeArrowheads="1"/>
            </p:cNvSpPr>
            <p:nvPr/>
          </p:nvSpPr>
          <p:spPr bwMode="auto">
            <a:xfrm rot="16200000">
              <a:off x="-554052" y="3350031"/>
              <a:ext cx="2439718" cy="408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b="1" kern="0" dirty="0">
                  <a:solidFill>
                    <a:srgbClr val="002060"/>
                  </a:solidFill>
                </a:rPr>
                <a:t>Incidence NF (% )</a:t>
              </a:r>
            </a:p>
          </p:txBody>
        </p:sp>
        <p:sp>
          <p:nvSpPr>
            <p:cNvPr id="29" name="Text Box 29"/>
            <p:cNvSpPr txBox="1">
              <a:spLocks noChangeArrowheads="1"/>
            </p:cNvSpPr>
            <p:nvPr/>
          </p:nvSpPr>
          <p:spPr bwMode="auto">
            <a:xfrm>
              <a:off x="1082281" y="5377746"/>
              <a:ext cx="296981" cy="338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1600" kern="0">
                  <a:solidFill>
                    <a:srgbClr val="002060"/>
                  </a:solidFill>
                </a:rPr>
                <a:t>0</a:t>
              </a:r>
            </a:p>
          </p:txBody>
        </p:sp>
        <p:sp>
          <p:nvSpPr>
            <p:cNvPr id="30" name="Text Box 30"/>
            <p:cNvSpPr txBox="1">
              <a:spLocks noChangeArrowheads="1"/>
            </p:cNvSpPr>
            <p:nvPr/>
          </p:nvSpPr>
          <p:spPr bwMode="auto">
            <a:xfrm>
              <a:off x="1082281" y="4582291"/>
              <a:ext cx="296981" cy="336186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1600" kern="0">
                  <a:solidFill>
                    <a:srgbClr val="002060"/>
                  </a:solidFill>
                </a:rPr>
                <a:t>5</a:t>
              </a:r>
            </a:p>
          </p:txBody>
        </p:sp>
        <p:sp>
          <p:nvSpPr>
            <p:cNvPr id="31" name="Text Box 31"/>
            <p:cNvSpPr txBox="1">
              <a:spLocks noChangeArrowheads="1"/>
            </p:cNvSpPr>
            <p:nvPr/>
          </p:nvSpPr>
          <p:spPr bwMode="auto">
            <a:xfrm>
              <a:off x="969815" y="3812556"/>
              <a:ext cx="409447" cy="338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1600" kern="0">
                  <a:solidFill>
                    <a:srgbClr val="002060"/>
                  </a:solidFill>
                </a:rPr>
                <a:t>10</a:t>
              </a:r>
            </a:p>
          </p:txBody>
        </p:sp>
        <p:sp>
          <p:nvSpPr>
            <p:cNvPr id="32" name="Text Box 32"/>
            <p:cNvSpPr txBox="1">
              <a:spLocks noChangeArrowheads="1"/>
            </p:cNvSpPr>
            <p:nvPr/>
          </p:nvSpPr>
          <p:spPr bwMode="auto">
            <a:xfrm>
              <a:off x="969815" y="3066703"/>
              <a:ext cx="409447" cy="336184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1600" kern="0">
                  <a:solidFill>
                    <a:srgbClr val="002060"/>
                  </a:solidFill>
                </a:rPr>
                <a:t>15</a:t>
              </a:r>
            </a:p>
          </p:txBody>
        </p:sp>
        <p:sp>
          <p:nvSpPr>
            <p:cNvPr id="33" name="Text Box 33"/>
            <p:cNvSpPr txBox="1">
              <a:spLocks noChangeArrowheads="1"/>
            </p:cNvSpPr>
            <p:nvPr/>
          </p:nvSpPr>
          <p:spPr bwMode="auto">
            <a:xfrm>
              <a:off x="969815" y="2315338"/>
              <a:ext cx="409447" cy="338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1600" kern="0">
                  <a:solidFill>
                    <a:srgbClr val="002060"/>
                  </a:solidFill>
                </a:rPr>
                <a:t>20</a:t>
              </a:r>
            </a:p>
          </p:txBody>
        </p:sp>
        <p:sp>
          <p:nvSpPr>
            <p:cNvPr id="34" name="Text Box 34"/>
            <p:cNvSpPr txBox="1">
              <a:spLocks noChangeArrowheads="1"/>
            </p:cNvSpPr>
            <p:nvPr/>
          </p:nvSpPr>
          <p:spPr bwMode="auto">
            <a:xfrm>
              <a:off x="969815" y="1569485"/>
              <a:ext cx="409447" cy="336186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1600" kern="0">
                  <a:solidFill>
                    <a:srgbClr val="002060"/>
                  </a:solidFill>
                </a:rPr>
                <a:t>25</a:t>
              </a:r>
            </a:p>
          </p:txBody>
        </p:sp>
        <p:sp>
          <p:nvSpPr>
            <p:cNvPr id="35" name="Rectangle 35"/>
            <p:cNvSpPr>
              <a:spLocks noChangeArrowheads="1"/>
            </p:cNvSpPr>
            <p:nvPr/>
          </p:nvSpPr>
          <p:spPr bwMode="auto">
            <a:xfrm>
              <a:off x="7206405" y="2453119"/>
              <a:ext cx="166941" cy="174522"/>
            </a:xfrm>
            <a:prstGeom prst="rect">
              <a:avLst/>
            </a:prstGeom>
            <a:solidFill>
              <a:srgbClr val="008000"/>
            </a:solidFill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endParaRPr>
            </a:p>
          </p:txBody>
        </p:sp>
        <p:sp>
          <p:nvSpPr>
            <p:cNvPr id="36" name="Text Box 36"/>
            <p:cNvSpPr txBox="1">
              <a:spLocks noChangeArrowheads="1"/>
            </p:cNvSpPr>
            <p:nvPr/>
          </p:nvSpPr>
          <p:spPr bwMode="auto">
            <a:xfrm>
              <a:off x="7385647" y="2355754"/>
              <a:ext cx="1482014" cy="427396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kern="0" dirty="0" err="1">
                  <a:solidFill>
                    <a:srgbClr val="002060"/>
                  </a:solidFill>
                </a:rPr>
                <a:t>Cicles</a:t>
              </a:r>
              <a:r>
                <a:rPr lang="en-GB" kern="0" dirty="0">
                  <a:solidFill>
                    <a:srgbClr val="002060"/>
                  </a:solidFill>
                </a:rPr>
                <a:t> 2 - 4</a:t>
              </a:r>
            </a:p>
          </p:txBody>
        </p:sp>
        <p:sp>
          <p:nvSpPr>
            <p:cNvPr id="37" name="Rectangle 37"/>
            <p:cNvSpPr>
              <a:spLocks noChangeArrowheads="1"/>
            </p:cNvSpPr>
            <p:nvPr/>
          </p:nvSpPr>
          <p:spPr bwMode="auto">
            <a:xfrm>
              <a:off x="7206405" y="1969968"/>
              <a:ext cx="166941" cy="174523"/>
            </a:xfrm>
            <a:prstGeom prst="rect">
              <a:avLst/>
            </a:prstGeom>
            <a:solidFill>
              <a:srgbClr val="003366"/>
            </a:solidFill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endParaRPr>
            </a:p>
          </p:txBody>
        </p:sp>
        <p:sp>
          <p:nvSpPr>
            <p:cNvPr id="38" name="Text Box 38"/>
            <p:cNvSpPr txBox="1">
              <a:spLocks noChangeArrowheads="1"/>
            </p:cNvSpPr>
            <p:nvPr/>
          </p:nvSpPr>
          <p:spPr bwMode="auto">
            <a:xfrm>
              <a:off x="7385647" y="1872603"/>
              <a:ext cx="985170" cy="427396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kern="0" dirty="0" err="1">
                  <a:solidFill>
                    <a:srgbClr val="002060"/>
                  </a:solidFill>
                </a:rPr>
                <a:t>Cicle</a:t>
              </a:r>
              <a:r>
                <a:rPr lang="en-GB" kern="0" dirty="0">
                  <a:solidFill>
                    <a:srgbClr val="002060"/>
                  </a:solidFill>
                </a:rPr>
                <a:t> 1</a:t>
              </a:r>
            </a:p>
          </p:txBody>
        </p:sp>
        <p:sp>
          <p:nvSpPr>
            <p:cNvPr id="39" name="Text Box 39"/>
            <p:cNvSpPr txBox="1">
              <a:spLocks noChangeArrowheads="1"/>
            </p:cNvSpPr>
            <p:nvPr/>
          </p:nvSpPr>
          <p:spPr bwMode="auto">
            <a:xfrm>
              <a:off x="1866028" y="5026863"/>
              <a:ext cx="641408" cy="365579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kern="0">
                  <a:solidFill>
                    <a:srgbClr val="FFFFFF"/>
                  </a:solidFill>
                </a:rPr>
                <a:t>58%</a:t>
              </a:r>
            </a:p>
          </p:txBody>
        </p:sp>
        <p:sp>
          <p:nvSpPr>
            <p:cNvPr id="40" name="Text Box 40"/>
            <p:cNvSpPr txBox="1">
              <a:spLocks noChangeArrowheads="1"/>
            </p:cNvSpPr>
            <p:nvPr/>
          </p:nvSpPr>
          <p:spPr bwMode="auto">
            <a:xfrm>
              <a:off x="3092610" y="5026863"/>
              <a:ext cx="641408" cy="365579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kern="0">
                  <a:solidFill>
                    <a:srgbClr val="FFFFFF"/>
                  </a:solidFill>
                </a:rPr>
                <a:t>56%</a:t>
              </a:r>
            </a:p>
          </p:txBody>
        </p:sp>
        <p:sp>
          <p:nvSpPr>
            <p:cNvPr id="41" name="Text Box 41"/>
            <p:cNvSpPr txBox="1">
              <a:spLocks noChangeArrowheads="1"/>
            </p:cNvSpPr>
            <p:nvPr/>
          </p:nvSpPr>
          <p:spPr bwMode="auto">
            <a:xfrm>
              <a:off x="4261202" y="5026863"/>
              <a:ext cx="641407" cy="365579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kern="0" dirty="0">
                  <a:solidFill>
                    <a:srgbClr val="FFFFFF"/>
                  </a:solidFill>
                </a:rPr>
                <a:t>57%</a:t>
              </a:r>
            </a:p>
          </p:txBody>
        </p:sp>
        <p:sp>
          <p:nvSpPr>
            <p:cNvPr id="42" name="Text Box 42"/>
            <p:cNvSpPr txBox="1">
              <a:spLocks noChangeArrowheads="1"/>
            </p:cNvSpPr>
            <p:nvPr/>
          </p:nvSpPr>
          <p:spPr bwMode="auto">
            <a:xfrm>
              <a:off x="5466697" y="5026863"/>
              <a:ext cx="641407" cy="365579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kern="0">
                  <a:solidFill>
                    <a:srgbClr val="FFFFFF"/>
                  </a:solidFill>
                </a:rPr>
                <a:t>60%</a:t>
              </a:r>
            </a:p>
          </p:txBody>
        </p:sp>
        <p:sp>
          <p:nvSpPr>
            <p:cNvPr id="43" name="Text Box 43"/>
            <p:cNvSpPr txBox="1">
              <a:spLocks noChangeArrowheads="1"/>
            </p:cNvSpPr>
            <p:nvPr/>
          </p:nvSpPr>
          <p:spPr bwMode="auto">
            <a:xfrm>
              <a:off x="6717880" y="5026863"/>
              <a:ext cx="641407" cy="365579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kern="0">
                  <a:solidFill>
                    <a:srgbClr val="FFFFFF"/>
                  </a:solidFill>
                </a:rPr>
                <a:t>53%</a:t>
              </a:r>
            </a:p>
          </p:txBody>
        </p:sp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1355725" y="1724025"/>
              <a:ext cx="6315075" cy="3813175"/>
              <a:chOff x="884" y="1270"/>
              <a:chExt cx="3978" cy="2402"/>
            </a:xfrm>
          </p:grpSpPr>
          <p:sp>
            <p:nvSpPr>
              <p:cNvPr id="46" name="Line 6"/>
              <p:cNvSpPr>
                <a:spLocks noChangeShapeType="1"/>
              </p:cNvSpPr>
              <p:nvPr/>
            </p:nvSpPr>
            <p:spPr bwMode="auto">
              <a:xfrm>
                <a:off x="976" y="1272"/>
                <a:ext cx="0" cy="2400"/>
              </a:xfrm>
              <a:prstGeom prst="line">
                <a:avLst/>
              </a:prstGeom>
              <a:noFill/>
              <a:ln w="19050">
                <a:solidFill>
                  <a:srgbClr val="003366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kern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7" name="Line 8"/>
              <p:cNvSpPr>
                <a:spLocks noChangeShapeType="1"/>
              </p:cNvSpPr>
              <p:nvPr/>
            </p:nvSpPr>
            <p:spPr bwMode="auto">
              <a:xfrm>
                <a:off x="888" y="3171"/>
                <a:ext cx="93" cy="0"/>
              </a:xfrm>
              <a:prstGeom prst="line">
                <a:avLst/>
              </a:prstGeom>
              <a:noFill/>
              <a:ln w="19050">
                <a:solidFill>
                  <a:srgbClr val="003366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kern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8" name="Line 9"/>
              <p:cNvSpPr>
                <a:spLocks noChangeShapeType="1"/>
              </p:cNvSpPr>
              <p:nvPr/>
            </p:nvSpPr>
            <p:spPr bwMode="auto">
              <a:xfrm>
                <a:off x="888" y="2696"/>
                <a:ext cx="93" cy="0"/>
              </a:xfrm>
              <a:prstGeom prst="line">
                <a:avLst/>
              </a:prstGeom>
              <a:noFill/>
              <a:ln w="19050">
                <a:solidFill>
                  <a:srgbClr val="003366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kern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9" name="Line 10"/>
              <p:cNvSpPr>
                <a:spLocks noChangeShapeType="1"/>
              </p:cNvSpPr>
              <p:nvPr/>
            </p:nvSpPr>
            <p:spPr bwMode="auto">
              <a:xfrm>
                <a:off x="888" y="2225"/>
                <a:ext cx="93" cy="0"/>
              </a:xfrm>
              <a:prstGeom prst="line">
                <a:avLst/>
              </a:prstGeom>
              <a:noFill/>
              <a:ln w="19050">
                <a:solidFill>
                  <a:srgbClr val="003366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kern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0" name="Line 11"/>
              <p:cNvSpPr>
                <a:spLocks noChangeShapeType="1"/>
              </p:cNvSpPr>
              <p:nvPr/>
            </p:nvSpPr>
            <p:spPr bwMode="auto">
              <a:xfrm>
                <a:off x="888" y="1747"/>
                <a:ext cx="93" cy="0"/>
              </a:xfrm>
              <a:prstGeom prst="line">
                <a:avLst/>
              </a:prstGeom>
              <a:noFill/>
              <a:ln w="19050">
                <a:solidFill>
                  <a:srgbClr val="003366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kern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" name="Line 12"/>
              <p:cNvSpPr>
                <a:spLocks noChangeShapeType="1"/>
              </p:cNvSpPr>
              <p:nvPr/>
            </p:nvSpPr>
            <p:spPr bwMode="auto">
              <a:xfrm>
                <a:off x="888" y="1270"/>
                <a:ext cx="93" cy="0"/>
              </a:xfrm>
              <a:prstGeom prst="line">
                <a:avLst/>
              </a:prstGeom>
              <a:noFill/>
              <a:ln w="19050">
                <a:solidFill>
                  <a:srgbClr val="003366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kern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" name="Line 7"/>
              <p:cNvSpPr>
                <a:spLocks noChangeShapeType="1"/>
              </p:cNvSpPr>
              <p:nvPr/>
            </p:nvSpPr>
            <p:spPr bwMode="auto">
              <a:xfrm flipV="1">
                <a:off x="884" y="3664"/>
                <a:ext cx="3976" cy="3"/>
              </a:xfrm>
              <a:prstGeom prst="line">
                <a:avLst/>
              </a:prstGeom>
              <a:noFill/>
              <a:ln w="19050">
                <a:solidFill>
                  <a:srgbClr val="003366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kern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</p:grpSp>
      <p:sp>
        <p:nvSpPr>
          <p:cNvPr id="54" name="Text Box 4"/>
          <p:cNvSpPr txBox="1">
            <a:spLocks noChangeArrowheads="1"/>
          </p:cNvSpPr>
          <p:nvPr/>
        </p:nvSpPr>
        <p:spPr bwMode="auto">
          <a:xfrm>
            <a:off x="6327775" y="6553200"/>
            <a:ext cx="2844800" cy="2159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GB" sz="800" b="1" kern="0" dirty="0">
                <a:solidFill>
                  <a:srgbClr val="002060"/>
                </a:solidFill>
              </a:rPr>
              <a:t>Crawford J, et al. Blood 2004;104:607a:Abstract 2210</a:t>
            </a:r>
          </a:p>
        </p:txBody>
      </p:sp>
    </p:spTree>
    <p:extLst>
      <p:ext uri="{BB962C8B-B14F-4D97-AF65-F5344CB8AC3E}">
        <p14:creationId xmlns:p14="http://schemas.microsoft.com/office/powerpoint/2010/main" val="14286324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/>
          <a:lstStyle/>
          <a:p>
            <a:r>
              <a:rPr lang="en-US" sz="3600" b="1" dirty="0"/>
              <a:t>Protocol de la </a:t>
            </a:r>
            <a:r>
              <a:rPr lang="en-US" sz="3600" b="1" dirty="0" err="1"/>
              <a:t>chimiothérapie</a:t>
            </a:r>
            <a:r>
              <a:rPr lang="en-US" sz="3600" b="1" dirty="0"/>
              <a:t> et le </a:t>
            </a:r>
            <a:r>
              <a:rPr lang="en-US" sz="3600" b="1" dirty="0" err="1"/>
              <a:t>risque</a:t>
            </a:r>
            <a:r>
              <a:rPr lang="en-US" sz="3600" b="1" dirty="0"/>
              <a:t> de </a:t>
            </a:r>
            <a:r>
              <a:rPr lang="en-US" sz="3600" b="1" dirty="0" err="1"/>
              <a:t>neutropénie</a:t>
            </a:r>
            <a:r>
              <a:rPr lang="en-US" sz="3600" b="1" dirty="0"/>
              <a:t> </a:t>
            </a:r>
            <a:r>
              <a:rPr lang="en-US" sz="3600" b="1" dirty="0" err="1"/>
              <a:t>fébrile</a:t>
            </a:r>
            <a:br>
              <a:rPr lang="en-US" sz="3600" dirty="0"/>
            </a:br>
            <a:endParaRPr lang="en-US" sz="3600" b="1" dirty="0">
              <a:latin typeface="+mn-lt"/>
            </a:endParaRPr>
          </a:p>
        </p:txBody>
      </p:sp>
      <p:sp>
        <p:nvSpPr>
          <p:cNvPr id="3" name="Substituent conținut 2"/>
          <p:cNvSpPr>
            <a:spLocks noGrp="1"/>
          </p:cNvSpPr>
          <p:nvPr>
            <p:ph idx="1"/>
          </p:nvPr>
        </p:nvSpPr>
        <p:spPr>
          <a:xfrm>
            <a:off x="381000" y="2133600"/>
            <a:ext cx="8763000" cy="3992563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dirty="0"/>
              <a:t>Relation </a:t>
            </a:r>
            <a:r>
              <a:rPr lang="en-US" sz="2000" dirty="0" err="1"/>
              <a:t>directe</a:t>
            </a:r>
            <a:r>
              <a:rPr lang="en-US" sz="2000" dirty="0"/>
              <a:t> entre la </a:t>
            </a:r>
            <a:r>
              <a:rPr lang="en-US" sz="2000" dirty="0" err="1"/>
              <a:t>sévérité</a:t>
            </a:r>
            <a:r>
              <a:rPr lang="en-US" sz="2000" dirty="0"/>
              <a:t> de </a:t>
            </a:r>
            <a:r>
              <a:rPr lang="en-US" sz="2000" dirty="0" err="1"/>
              <a:t>neutropénie</a:t>
            </a:r>
            <a:r>
              <a:rPr lang="en-US" sz="2000" dirty="0"/>
              <a:t> et l </a:t>
            </a:r>
            <a:r>
              <a:rPr lang="en-US" sz="2000" dirty="0" err="1"/>
              <a:t>intensité</a:t>
            </a:r>
            <a:r>
              <a:rPr lang="en-US" sz="2000" dirty="0"/>
              <a:t> de </a:t>
            </a:r>
            <a:r>
              <a:rPr lang="en-US" sz="2000" dirty="0" err="1"/>
              <a:t>chimiothérapie</a:t>
            </a:r>
            <a:r>
              <a:rPr lang="en-US" sz="2000" dirty="0"/>
              <a:t>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/>
              <a:t>Les </a:t>
            </a:r>
            <a:r>
              <a:rPr lang="en-US" sz="2000" dirty="0" err="1"/>
              <a:t>protocoles</a:t>
            </a:r>
            <a:r>
              <a:rPr lang="en-US" sz="2000" dirty="0"/>
              <a:t> de la </a:t>
            </a:r>
            <a:r>
              <a:rPr lang="en-US" sz="2000" dirty="0" err="1"/>
              <a:t>chimiothérapie</a:t>
            </a:r>
            <a:r>
              <a:rPr lang="en-US" sz="2000" dirty="0"/>
              <a:t> se </a:t>
            </a:r>
            <a:r>
              <a:rPr lang="en-US" sz="2000" dirty="0" err="1"/>
              <a:t>clasifique</a:t>
            </a:r>
            <a:r>
              <a:rPr lang="en-US" sz="2000" dirty="0"/>
              <a:t> en </a:t>
            </a:r>
            <a:r>
              <a:rPr lang="en-US" sz="2000" dirty="0" err="1"/>
              <a:t>fonction</a:t>
            </a:r>
            <a:r>
              <a:rPr lang="en-US" sz="2000" dirty="0"/>
              <a:t> de </a:t>
            </a:r>
            <a:r>
              <a:rPr lang="en-US" sz="2000" dirty="0" err="1"/>
              <a:t>risque</a:t>
            </a:r>
            <a:r>
              <a:rPr lang="en-US" sz="2000" dirty="0"/>
              <a:t> de </a:t>
            </a:r>
            <a:r>
              <a:rPr lang="en-US" sz="2000" dirty="0" err="1"/>
              <a:t>neutropénie</a:t>
            </a:r>
            <a:r>
              <a:rPr lang="en-US" sz="2000" dirty="0"/>
              <a:t> :</a:t>
            </a:r>
          </a:p>
          <a:p>
            <a:pPr>
              <a:lnSpc>
                <a:spcPct val="150000"/>
              </a:lnSpc>
            </a:pPr>
            <a:r>
              <a:rPr lang="en-US" sz="2000" dirty="0" err="1"/>
              <a:t>Risque</a:t>
            </a:r>
            <a:r>
              <a:rPr lang="en-US" sz="2000" dirty="0"/>
              <a:t> minim &lt;10%</a:t>
            </a:r>
          </a:p>
          <a:p>
            <a:pPr>
              <a:lnSpc>
                <a:spcPct val="150000"/>
              </a:lnSpc>
            </a:pPr>
            <a:r>
              <a:rPr lang="en-US" sz="2000" dirty="0" err="1"/>
              <a:t>Risque</a:t>
            </a:r>
            <a:r>
              <a:rPr lang="en-US" sz="2000" dirty="0"/>
              <a:t> </a:t>
            </a:r>
            <a:r>
              <a:rPr lang="en-US" sz="2000" dirty="0" err="1"/>
              <a:t>modéré</a:t>
            </a:r>
            <a:r>
              <a:rPr lang="en-US" sz="2000" dirty="0"/>
              <a:t> 10- 20%</a:t>
            </a:r>
          </a:p>
          <a:p>
            <a:pPr>
              <a:lnSpc>
                <a:spcPct val="150000"/>
              </a:lnSpc>
            </a:pPr>
            <a:r>
              <a:rPr lang="en-US" sz="2000" dirty="0" err="1"/>
              <a:t>Risque</a:t>
            </a:r>
            <a:r>
              <a:rPr lang="en-US" sz="2000" dirty="0"/>
              <a:t> </a:t>
            </a:r>
            <a:r>
              <a:rPr lang="en-US" sz="2000" dirty="0" err="1"/>
              <a:t>élevé</a:t>
            </a:r>
            <a:r>
              <a:rPr lang="en-US" sz="2000" dirty="0"/>
              <a:t> &gt; 20 %</a:t>
            </a:r>
          </a:p>
        </p:txBody>
      </p:sp>
    </p:spTree>
    <p:extLst>
      <p:ext uri="{BB962C8B-B14F-4D97-AF65-F5344CB8AC3E}">
        <p14:creationId xmlns:p14="http://schemas.microsoft.com/office/powerpoint/2010/main" val="27830216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La </a:t>
            </a:r>
            <a:r>
              <a:rPr lang="en-US" sz="3600" b="1" dirty="0" err="1"/>
              <a:t>principale</a:t>
            </a:r>
            <a:r>
              <a:rPr lang="en-US" sz="3600" b="1" dirty="0"/>
              <a:t> Complication </a:t>
            </a:r>
            <a:r>
              <a:rPr lang="en-US" sz="3600" b="1" dirty="0" err="1"/>
              <a:t>consiste</a:t>
            </a:r>
            <a:r>
              <a:rPr lang="en-US" sz="3600" dirty="0"/>
              <a:t>  </a:t>
            </a:r>
            <a:r>
              <a:rPr lang="en-US" sz="3600" b="1" dirty="0" err="1"/>
              <a:t>l’Infection</a:t>
            </a:r>
            <a:r>
              <a:rPr lang="en-US" sz="3600" dirty="0"/>
              <a:t> </a:t>
            </a:r>
            <a:br>
              <a:rPr lang="en-US" sz="3600" dirty="0"/>
            </a:br>
            <a:endParaRPr lang="en-US" sz="3600" b="1" dirty="0"/>
          </a:p>
        </p:txBody>
      </p:sp>
      <p:sp>
        <p:nvSpPr>
          <p:cNvPr id="3" name="Substituent conținut 2"/>
          <p:cNvSpPr>
            <a:spLocks noGrp="1"/>
          </p:cNvSpPr>
          <p:nvPr>
            <p:ph idx="1"/>
          </p:nvPr>
        </p:nvSpPr>
        <p:spPr>
          <a:xfrm>
            <a:off x="304800" y="2057400"/>
            <a:ext cx="8610600" cy="4068763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dirty="0"/>
              <a:t>Les microbes( </a:t>
            </a:r>
            <a:r>
              <a:rPr lang="en-US" sz="2000" dirty="0" err="1"/>
              <a:t>germes</a:t>
            </a:r>
            <a:r>
              <a:rPr lang="en-US" sz="2000" dirty="0"/>
              <a:t> ) 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Gram </a:t>
            </a:r>
            <a:r>
              <a:rPr lang="en-US" sz="2000" dirty="0" err="1"/>
              <a:t>négatifs,gram</a:t>
            </a:r>
            <a:r>
              <a:rPr lang="en-US" sz="2000" dirty="0"/>
              <a:t> </a:t>
            </a:r>
            <a:r>
              <a:rPr lang="en-US" sz="2000" dirty="0" err="1"/>
              <a:t>positifs</a:t>
            </a:r>
            <a:r>
              <a:rPr lang="en-US" sz="2000" dirty="0"/>
              <a:t>, champignons </a:t>
            </a:r>
          </a:p>
          <a:p>
            <a:pPr>
              <a:lnSpc>
                <a:spcPct val="150000"/>
              </a:lnSpc>
            </a:pPr>
            <a:r>
              <a:rPr lang="en-US" sz="2000" dirty="0" err="1"/>
              <a:t>Rarement</a:t>
            </a:r>
            <a:r>
              <a:rPr lang="en-US" sz="2000" dirty="0"/>
              <a:t> : les microbes </a:t>
            </a:r>
            <a:r>
              <a:rPr lang="en-US" sz="2000" dirty="0" err="1"/>
              <a:t>anaérobiques</a:t>
            </a:r>
            <a:r>
              <a:rPr lang="en-US" sz="2000" dirty="0"/>
              <a:t>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 err="1"/>
              <a:t>L’infection</a:t>
            </a:r>
            <a:r>
              <a:rPr lang="en-US" sz="2000" dirty="0"/>
              <a:t> </a:t>
            </a:r>
            <a:r>
              <a:rPr lang="en-US" sz="2000" dirty="0" err="1"/>
              <a:t>peut-être</a:t>
            </a:r>
            <a:r>
              <a:rPr lang="en-US" sz="2000" dirty="0"/>
              <a:t> </a:t>
            </a:r>
            <a:r>
              <a:rPr lang="en-US" sz="2000" dirty="0" err="1"/>
              <a:t>associée</a:t>
            </a:r>
            <a:r>
              <a:rPr lang="en-US" sz="2000" dirty="0"/>
              <a:t> avec des </a:t>
            </a:r>
            <a:r>
              <a:rPr lang="en-US" sz="2000" dirty="0" err="1"/>
              <a:t>germes</a:t>
            </a:r>
            <a:r>
              <a:rPr lang="en-US" sz="2000" dirty="0"/>
              <a:t> 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 err="1"/>
              <a:t>Bacteriemie</a:t>
            </a:r>
            <a:r>
              <a:rPr lang="en-US" sz="2000" dirty="0"/>
              <a:t> (</a:t>
            </a:r>
            <a:r>
              <a:rPr lang="en-US" sz="2000" dirty="0" err="1"/>
              <a:t>mise</a:t>
            </a:r>
            <a:r>
              <a:rPr lang="en-US" sz="2000" dirty="0"/>
              <a:t> en </a:t>
            </a:r>
            <a:r>
              <a:rPr lang="en-US" sz="2000" dirty="0" err="1"/>
              <a:t>évidence</a:t>
            </a:r>
            <a:r>
              <a:rPr lang="en-US" sz="2000" dirty="0"/>
              <a:t> par </a:t>
            </a:r>
            <a:r>
              <a:rPr lang="en-US" sz="2000" dirty="0" err="1"/>
              <a:t>l’hemoculture</a:t>
            </a:r>
            <a:r>
              <a:rPr lang="en-US" sz="2000" dirty="0"/>
              <a:t>), </a:t>
            </a:r>
            <a:r>
              <a:rPr lang="en-US" sz="2000" dirty="0" err="1"/>
              <a:t>seuls</a:t>
            </a:r>
            <a:r>
              <a:rPr lang="en-US" sz="2000" dirty="0"/>
              <a:t> 20% des patients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/>
              <a:t>Le </a:t>
            </a:r>
            <a:r>
              <a:rPr lang="en-US" sz="2000" dirty="0" err="1"/>
              <a:t>résultat</a:t>
            </a:r>
            <a:r>
              <a:rPr lang="en-US" sz="2000" dirty="0"/>
              <a:t> </a:t>
            </a:r>
            <a:r>
              <a:rPr lang="en-US" sz="2000" dirty="0" err="1"/>
              <a:t>positif</a:t>
            </a:r>
            <a:r>
              <a:rPr lang="en-US" sz="2000" dirty="0"/>
              <a:t> de la </a:t>
            </a:r>
            <a:r>
              <a:rPr lang="en-US" sz="2000" dirty="0" err="1"/>
              <a:t>hemoculture</a:t>
            </a:r>
            <a:r>
              <a:rPr lang="en-US" sz="2000" dirty="0"/>
              <a:t> aide à </a:t>
            </a:r>
            <a:r>
              <a:rPr lang="en-US" sz="2000" dirty="0" err="1"/>
              <a:t>personnaliser</a:t>
            </a:r>
            <a:r>
              <a:rPr lang="en-US" sz="2000" dirty="0"/>
              <a:t> le </a:t>
            </a:r>
            <a:r>
              <a:rPr lang="en-US" sz="2000" dirty="0" err="1"/>
              <a:t>traitement</a:t>
            </a:r>
            <a:r>
              <a:rPr lang="en-US" sz="2000" dirty="0"/>
              <a:t>  avec </a:t>
            </a:r>
            <a:r>
              <a:rPr lang="en-US" sz="2000" dirty="0" err="1"/>
              <a:t>antibiotiques</a:t>
            </a:r>
            <a:r>
              <a:rPr lang="en-US" sz="2000" dirty="0"/>
              <a:t>. 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8444674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>
            <a:spLocks/>
          </p:cNvSpPr>
          <p:nvPr/>
        </p:nvSpPr>
        <p:spPr bwMode="white">
          <a:xfrm>
            <a:off x="304800" y="257175"/>
            <a:ext cx="8229600" cy="863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+mj-lt"/>
                <a:ea typeface="Arial" charset="0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defRPr/>
            </a:pPr>
            <a:r>
              <a:rPr lang="en-US" sz="3600" dirty="0" err="1">
                <a:solidFill>
                  <a:schemeClr val="tx1"/>
                </a:solidFill>
              </a:rPr>
              <a:t>Conséquence</a:t>
            </a:r>
            <a:r>
              <a:rPr lang="en-US" sz="3600" dirty="0">
                <a:solidFill>
                  <a:schemeClr val="tx1"/>
                </a:solidFill>
              </a:rPr>
              <a:t> de la </a:t>
            </a:r>
            <a:r>
              <a:rPr lang="en-US" sz="3600" dirty="0" err="1">
                <a:solidFill>
                  <a:schemeClr val="tx1"/>
                </a:solidFill>
              </a:rPr>
              <a:t>neutropénie</a:t>
            </a:r>
            <a:r>
              <a:rPr lang="en-US" sz="3600" dirty="0">
                <a:solidFill>
                  <a:schemeClr val="tx1"/>
                </a:solidFill>
              </a:rPr>
              <a:t> </a:t>
            </a:r>
            <a:r>
              <a:rPr lang="en-US" sz="3600" dirty="0" err="1">
                <a:solidFill>
                  <a:schemeClr val="tx1"/>
                </a:solidFill>
              </a:rPr>
              <a:t>fébrile</a:t>
            </a:r>
            <a:r>
              <a:rPr lang="en-US" sz="3600" dirty="0">
                <a:solidFill>
                  <a:schemeClr val="tx1"/>
                </a:solidFill>
              </a:rPr>
              <a:t> </a:t>
            </a:r>
          </a:p>
        </p:txBody>
      </p:sp>
      <p:graphicFrame>
        <p:nvGraphicFramePr>
          <p:cNvPr id="10" name="Diagram 9"/>
          <p:cNvGraphicFramePr/>
          <p:nvPr>
            <p:extLst>
              <p:ext uri="{D42A27DB-BD31-4B8C-83A1-F6EECF244321}">
                <p14:modId xmlns:p14="http://schemas.microsoft.com/office/powerpoint/2010/main" val="2355175605"/>
              </p:ext>
            </p:extLst>
          </p:nvPr>
        </p:nvGraphicFramePr>
        <p:xfrm>
          <a:off x="685800" y="1600200"/>
          <a:ext cx="7162800" cy="4419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/>
          <a:lstStyle/>
          <a:p>
            <a:r>
              <a:rPr lang="en-US" sz="3600" dirty="0"/>
              <a:t> </a:t>
            </a:r>
            <a:br>
              <a:rPr lang="en-US" sz="3600" dirty="0"/>
            </a:br>
            <a:r>
              <a:rPr lang="en-US" sz="3600" b="1" dirty="0" err="1"/>
              <a:t>Diagnostique</a:t>
            </a:r>
            <a:r>
              <a:rPr lang="en-US" sz="3600" b="1" dirty="0"/>
              <a:t> de la </a:t>
            </a:r>
            <a:r>
              <a:rPr lang="en-US" sz="3600" b="1" dirty="0" err="1"/>
              <a:t>neutropénie</a:t>
            </a:r>
            <a:r>
              <a:rPr lang="en-US" sz="3600" b="1" dirty="0"/>
              <a:t> </a:t>
            </a:r>
            <a:r>
              <a:rPr lang="en-US" sz="3600" b="1" dirty="0" err="1"/>
              <a:t>fébrile</a:t>
            </a:r>
            <a:br>
              <a:rPr lang="en-US" sz="3600" dirty="0"/>
            </a:br>
            <a:endParaRPr lang="en-US" sz="3600" b="1" dirty="0">
              <a:solidFill>
                <a:schemeClr val="tx1"/>
              </a:solidFill>
            </a:endParaRPr>
          </a:p>
        </p:txBody>
      </p:sp>
      <p:sp>
        <p:nvSpPr>
          <p:cNvPr id="3" name="Substituent conținut 2"/>
          <p:cNvSpPr>
            <a:spLocks noGrp="1"/>
          </p:cNvSpPr>
          <p:nvPr>
            <p:ph idx="1"/>
          </p:nvPr>
        </p:nvSpPr>
        <p:spPr>
          <a:xfrm>
            <a:off x="304800" y="1417638"/>
            <a:ext cx="8686800" cy="4953000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 err="1"/>
              <a:t>Anamnèse</a:t>
            </a:r>
            <a:endParaRPr lang="ro-RO" sz="2400" b="1" dirty="0"/>
          </a:p>
          <a:p>
            <a:r>
              <a:rPr lang="en-US" sz="2000" dirty="0" err="1"/>
              <a:t>Protocole</a:t>
            </a:r>
            <a:r>
              <a:rPr lang="en-US" sz="2000" dirty="0"/>
              <a:t> de </a:t>
            </a:r>
            <a:r>
              <a:rPr lang="en-US" sz="2000" dirty="0" err="1"/>
              <a:t>chimiothérapie</a:t>
            </a:r>
            <a:r>
              <a:rPr lang="en-US" sz="2000" dirty="0"/>
              <a:t> </a:t>
            </a:r>
            <a:r>
              <a:rPr lang="en-US" sz="2000" dirty="0" err="1"/>
              <a:t>effectuée</a:t>
            </a:r>
            <a:r>
              <a:rPr lang="en-US" sz="2000" dirty="0"/>
              <a:t>  </a:t>
            </a:r>
          </a:p>
          <a:p>
            <a:r>
              <a:rPr lang="en-US" sz="2000" dirty="0"/>
              <a:t>La date de la </a:t>
            </a:r>
            <a:r>
              <a:rPr lang="en-US" sz="2000" dirty="0" err="1"/>
              <a:t>dernière</a:t>
            </a:r>
            <a:r>
              <a:rPr lang="en-US" sz="2000" dirty="0"/>
              <a:t> </a:t>
            </a:r>
            <a:r>
              <a:rPr lang="en-US" sz="2000" dirty="0" err="1"/>
              <a:t>chimiothérapie</a:t>
            </a:r>
            <a:r>
              <a:rPr lang="en-US" sz="2000" dirty="0"/>
              <a:t> </a:t>
            </a:r>
            <a:r>
              <a:rPr lang="en-US" sz="2000" dirty="0" err="1"/>
              <a:t>avant</a:t>
            </a:r>
            <a:r>
              <a:rPr lang="en-US" sz="2000" dirty="0"/>
              <a:t> l </a:t>
            </a:r>
            <a:r>
              <a:rPr lang="en-US" sz="2000" dirty="0" err="1"/>
              <a:t>épisode</a:t>
            </a:r>
            <a:r>
              <a:rPr lang="en-US" sz="2000" dirty="0"/>
              <a:t> de </a:t>
            </a:r>
            <a:r>
              <a:rPr lang="en-US" sz="2000" dirty="0" err="1"/>
              <a:t>neutropénie</a:t>
            </a:r>
            <a:r>
              <a:rPr lang="en-US" sz="2000" dirty="0"/>
              <a:t> </a:t>
            </a:r>
            <a:r>
              <a:rPr lang="en-US" sz="2000" dirty="0" err="1"/>
              <a:t>fébrile</a:t>
            </a:r>
            <a:r>
              <a:rPr lang="en-US" sz="2000" dirty="0"/>
              <a:t>.</a:t>
            </a:r>
          </a:p>
          <a:p>
            <a:endParaRPr lang="ro-RO" sz="2000" b="1" dirty="0"/>
          </a:p>
          <a:p>
            <a:pPr marL="0" indent="0">
              <a:buNone/>
            </a:pPr>
            <a:r>
              <a:rPr lang="en-US" sz="2000" b="1" dirty="0"/>
              <a:t>Clinic:</a:t>
            </a:r>
            <a:endParaRPr lang="en-US" sz="2000" dirty="0"/>
          </a:p>
          <a:p>
            <a:pPr lvl="0"/>
            <a:r>
              <a:rPr lang="en-US" sz="2000" dirty="0"/>
              <a:t>Signe </a:t>
            </a:r>
            <a:r>
              <a:rPr lang="en-US" sz="2000" dirty="0" err="1"/>
              <a:t>vitaux</a:t>
            </a:r>
            <a:endParaRPr lang="en-US" sz="2000" dirty="0"/>
          </a:p>
          <a:p>
            <a:pPr lvl="0"/>
            <a:r>
              <a:rPr lang="en-US" sz="2000" dirty="0" err="1"/>
              <a:t>Examen</a:t>
            </a:r>
            <a:r>
              <a:rPr lang="en-US" sz="2000" dirty="0"/>
              <a:t> clinic : </a:t>
            </a:r>
            <a:r>
              <a:rPr lang="en-US" sz="2000" dirty="0" err="1"/>
              <a:t>fièvre</a:t>
            </a:r>
            <a:r>
              <a:rPr lang="en-US" sz="2000" dirty="0"/>
              <a:t> </a:t>
            </a:r>
          </a:p>
          <a:p>
            <a:pPr lvl="0"/>
            <a:r>
              <a:rPr lang="en-US" sz="2000" dirty="0"/>
              <a:t>Signe et </a:t>
            </a:r>
            <a:r>
              <a:rPr lang="en-US" sz="2000" dirty="0" err="1"/>
              <a:t>symptômes</a:t>
            </a:r>
            <a:r>
              <a:rPr lang="en-US" sz="2000" dirty="0"/>
              <a:t> qui </a:t>
            </a:r>
            <a:r>
              <a:rPr lang="en-US" sz="2000" dirty="0" err="1"/>
              <a:t>suggère</a:t>
            </a:r>
            <a:r>
              <a:rPr lang="en-US" sz="2000" dirty="0"/>
              <a:t> foyer </a:t>
            </a:r>
            <a:r>
              <a:rPr lang="en-US" sz="2000" dirty="0" err="1"/>
              <a:t>infectieux</a:t>
            </a:r>
            <a:r>
              <a:rPr lang="en-US" sz="2000" dirty="0"/>
              <a:t>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600" dirty="0" err="1"/>
              <a:t>Respiratoire</a:t>
            </a:r>
            <a:r>
              <a:rPr lang="en-US" sz="1600" dirty="0"/>
              <a:t>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600" dirty="0" err="1"/>
              <a:t>Pharyngienne</a:t>
            </a:r>
            <a:r>
              <a:rPr lang="en-US" sz="1600" dirty="0"/>
              <a:t>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600" dirty="0" err="1"/>
              <a:t>Urinaire</a:t>
            </a:r>
            <a:r>
              <a:rPr lang="en-US" sz="1600" dirty="0"/>
              <a:t>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600" dirty="0" err="1"/>
              <a:t>Cutané</a:t>
            </a:r>
            <a:r>
              <a:rPr lang="en-US" sz="1600" dirty="0"/>
              <a:t>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600" dirty="0" err="1"/>
              <a:t>Intestin</a:t>
            </a:r>
            <a:r>
              <a:rPr lang="en-US" sz="1600" dirty="0"/>
              <a:t>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600" dirty="0"/>
              <a:t>SNC</a:t>
            </a:r>
          </a:p>
          <a:p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5689187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 err="1"/>
              <a:t>Examen</a:t>
            </a:r>
            <a:r>
              <a:rPr lang="en-US" sz="3600" b="1" dirty="0"/>
              <a:t> </a:t>
            </a:r>
            <a:r>
              <a:rPr lang="en-US" sz="3600" b="1" dirty="0" err="1"/>
              <a:t>paracliniques</a:t>
            </a:r>
            <a:r>
              <a:rPr lang="en-US" sz="3600" b="1" dirty="0"/>
              <a:t> </a:t>
            </a:r>
            <a:endParaRPr lang="en-US" sz="3600" dirty="0"/>
          </a:p>
        </p:txBody>
      </p:sp>
      <p:sp>
        <p:nvSpPr>
          <p:cNvPr id="3" name="Substituent conținut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5257800"/>
          </a:xfrm>
        </p:spPr>
        <p:txBody>
          <a:bodyPr/>
          <a:lstStyle/>
          <a:p>
            <a:pPr lvl="0">
              <a:lnSpc>
                <a:spcPct val="200000"/>
              </a:lnSpc>
            </a:pPr>
            <a:r>
              <a:rPr lang="en-US" sz="2000" dirty="0" err="1"/>
              <a:t>Hémogramme</a:t>
            </a:r>
            <a:r>
              <a:rPr lang="en-US" sz="2000" dirty="0"/>
              <a:t> </a:t>
            </a:r>
            <a:r>
              <a:rPr lang="en-US" sz="2000" dirty="0" err="1"/>
              <a:t>complet</a:t>
            </a:r>
            <a:r>
              <a:rPr lang="en-US" sz="2000" dirty="0"/>
              <a:t> </a:t>
            </a:r>
          </a:p>
          <a:p>
            <a:pPr lvl="0">
              <a:lnSpc>
                <a:spcPct val="200000"/>
              </a:lnSpc>
            </a:pPr>
            <a:r>
              <a:rPr lang="en-US" sz="2000" dirty="0"/>
              <a:t>Tests </a:t>
            </a:r>
            <a:r>
              <a:rPr lang="en-US" sz="2000" dirty="0" err="1"/>
              <a:t>Biochimiques</a:t>
            </a:r>
            <a:r>
              <a:rPr lang="en-US" sz="2000" dirty="0"/>
              <a:t>  (test </a:t>
            </a:r>
            <a:r>
              <a:rPr lang="en-US" sz="2000" dirty="0" err="1"/>
              <a:t>rénal</a:t>
            </a:r>
            <a:r>
              <a:rPr lang="en-US" sz="2000" dirty="0"/>
              <a:t> et </a:t>
            </a:r>
            <a:r>
              <a:rPr lang="en-US" sz="2000" dirty="0" err="1"/>
              <a:t>hépatique</a:t>
            </a:r>
            <a:r>
              <a:rPr lang="en-US" sz="2000" dirty="0"/>
              <a:t> )</a:t>
            </a:r>
          </a:p>
          <a:p>
            <a:pPr lvl="0">
              <a:lnSpc>
                <a:spcPct val="200000"/>
              </a:lnSpc>
            </a:pPr>
            <a:r>
              <a:rPr lang="en-US" sz="2000" dirty="0"/>
              <a:t>PCR</a:t>
            </a:r>
          </a:p>
          <a:p>
            <a:pPr lvl="0">
              <a:lnSpc>
                <a:spcPct val="200000"/>
              </a:lnSpc>
            </a:pPr>
            <a:r>
              <a:rPr lang="en-US" sz="2000" dirty="0"/>
              <a:t>Test de coagulation </a:t>
            </a:r>
          </a:p>
          <a:p>
            <a:pPr lvl="0">
              <a:lnSpc>
                <a:spcPct val="200000"/>
              </a:lnSpc>
            </a:pPr>
            <a:r>
              <a:rPr lang="en-US" sz="2000" dirty="0"/>
              <a:t>Culture ( </a:t>
            </a:r>
            <a:r>
              <a:rPr lang="en-US" sz="2000" dirty="0" err="1"/>
              <a:t>uroculture</a:t>
            </a:r>
            <a:r>
              <a:rPr lang="en-US" sz="2000" dirty="0"/>
              <a:t>, </a:t>
            </a:r>
            <a:r>
              <a:rPr lang="en-US" sz="2000" dirty="0" err="1"/>
              <a:t>coproculture</a:t>
            </a:r>
            <a:r>
              <a:rPr lang="en-US" sz="2000" dirty="0"/>
              <a:t>, </a:t>
            </a:r>
            <a:r>
              <a:rPr lang="en-US" sz="2000" dirty="0" err="1"/>
              <a:t>hemoculture</a:t>
            </a:r>
            <a:r>
              <a:rPr lang="en-US" sz="2000" dirty="0"/>
              <a:t>, </a:t>
            </a:r>
            <a:r>
              <a:rPr lang="en-US" sz="2000" dirty="0" err="1"/>
              <a:t>prélèvement</a:t>
            </a:r>
            <a:r>
              <a:rPr lang="en-US" sz="2000" dirty="0"/>
              <a:t> </a:t>
            </a:r>
            <a:r>
              <a:rPr lang="en-US" sz="2000" dirty="0" err="1"/>
              <a:t>pharyngien,culture</a:t>
            </a:r>
            <a:r>
              <a:rPr lang="en-US" sz="2000" dirty="0"/>
              <a:t> de </a:t>
            </a:r>
            <a:r>
              <a:rPr lang="en-US" sz="2000" dirty="0" err="1"/>
              <a:t>sécrétion</a:t>
            </a:r>
            <a:r>
              <a:rPr lang="en-US" sz="2000" dirty="0"/>
              <a:t> de </a:t>
            </a:r>
            <a:r>
              <a:rPr lang="en-US" sz="2000" dirty="0" err="1"/>
              <a:t>plaie</a:t>
            </a:r>
            <a:r>
              <a:rPr lang="en-US" sz="2000" dirty="0"/>
              <a:t> </a:t>
            </a:r>
            <a:r>
              <a:rPr lang="en-US" sz="2000" dirty="0" err="1"/>
              <a:t>cutanée</a:t>
            </a:r>
            <a:r>
              <a:rPr lang="en-US" sz="2000" dirty="0"/>
              <a:t>  </a:t>
            </a:r>
            <a:r>
              <a:rPr lang="en-US" sz="2000" dirty="0" err="1"/>
              <a:t>ou</a:t>
            </a:r>
            <a:r>
              <a:rPr lang="en-US" sz="2000" dirty="0"/>
              <a:t> </a:t>
            </a:r>
            <a:r>
              <a:rPr lang="en-US" sz="2000" dirty="0" err="1"/>
              <a:t>cathéter</a:t>
            </a:r>
            <a:r>
              <a:rPr lang="en-US" sz="2000" dirty="0"/>
              <a:t>)</a:t>
            </a:r>
          </a:p>
          <a:p>
            <a:pPr lvl="0">
              <a:lnSpc>
                <a:spcPct val="200000"/>
              </a:lnSpc>
            </a:pPr>
            <a:r>
              <a:rPr lang="en-US" sz="2000" dirty="0" err="1"/>
              <a:t>Radiographie</a:t>
            </a:r>
            <a:r>
              <a:rPr lang="en-US" sz="2000" dirty="0"/>
              <a:t> </a:t>
            </a:r>
            <a:r>
              <a:rPr lang="en-US" sz="2000" dirty="0" err="1"/>
              <a:t>pulmonaire</a:t>
            </a:r>
            <a:r>
              <a:rPr lang="en-US" sz="2000" dirty="0"/>
              <a:t> (Rx thorax)</a:t>
            </a:r>
          </a:p>
          <a:p>
            <a:pPr>
              <a:lnSpc>
                <a:spcPct val="200000"/>
              </a:lnSpc>
              <a:spcBef>
                <a:spcPts val="0"/>
              </a:spcBef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190474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960438"/>
          </a:xfrm>
        </p:spPr>
        <p:txBody>
          <a:bodyPr/>
          <a:lstStyle/>
          <a:p>
            <a:r>
              <a:rPr lang="en-US" b="1" dirty="0"/>
              <a:t>Patients à </a:t>
            </a:r>
            <a:r>
              <a:rPr lang="en-US" b="1" dirty="0" err="1"/>
              <a:t>moindre</a:t>
            </a:r>
            <a:r>
              <a:rPr lang="en-US" b="1" dirty="0"/>
              <a:t> </a:t>
            </a:r>
            <a:r>
              <a:rPr lang="en-US" b="1" dirty="0" err="1"/>
              <a:t>risque</a:t>
            </a:r>
            <a:r>
              <a:rPr lang="en-US" b="1" dirty="0"/>
              <a:t> (Low risk patients)</a:t>
            </a:r>
            <a:br>
              <a:rPr lang="en-US" dirty="0"/>
            </a:br>
            <a:endParaRPr lang="en-US" b="1" dirty="0"/>
          </a:p>
        </p:txBody>
      </p:sp>
      <p:sp>
        <p:nvSpPr>
          <p:cNvPr id="3" name="Substituent conținut 2"/>
          <p:cNvSpPr>
            <a:spLocks noGrp="1"/>
          </p:cNvSpPr>
          <p:nvPr>
            <p:ph idx="1"/>
          </p:nvPr>
        </p:nvSpPr>
        <p:spPr>
          <a:xfrm>
            <a:off x="457200" y="2133600"/>
            <a:ext cx="8229600" cy="399256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000" dirty="0"/>
              <a:t>Clinique:  </a:t>
            </a:r>
            <a:r>
              <a:rPr lang="en-US" sz="2000" dirty="0" err="1"/>
              <a:t>hémodynamiquement</a:t>
            </a:r>
            <a:r>
              <a:rPr lang="en-US" sz="2000" dirty="0"/>
              <a:t> stable 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Sans </a:t>
            </a:r>
            <a:r>
              <a:rPr lang="en-US" sz="2000" dirty="0" err="1"/>
              <a:t>comorbidité</a:t>
            </a:r>
            <a:r>
              <a:rPr lang="en-US" sz="2000" dirty="0"/>
              <a:t> 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Sans </a:t>
            </a:r>
            <a:r>
              <a:rPr lang="en-US" sz="2000" dirty="0" err="1"/>
              <a:t>pneumonie</a:t>
            </a:r>
            <a:r>
              <a:rPr lang="en-US" sz="2000" dirty="0"/>
              <a:t>, infection </a:t>
            </a:r>
            <a:r>
              <a:rPr lang="en-US" sz="2000" dirty="0" err="1"/>
              <a:t>sévère</a:t>
            </a:r>
            <a:r>
              <a:rPr lang="en-US" sz="2000" dirty="0"/>
              <a:t>  de </a:t>
            </a:r>
            <a:r>
              <a:rPr lang="en-US" sz="2000" dirty="0" err="1"/>
              <a:t>cathéter</a:t>
            </a:r>
            <a:r>
              <a:rPr lang="en-US" sz="2000" dirty="0"/>
              <a:t> 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Il </a:t>
            </a:r>
            <a:r>
              <a:rPr lang="en-US" sz="2000" dirty="0" err="1"/>
              <a:t>est</a:t>
            </a:r>
            <a:r>
              <a:rPr lang="en-US" sz="2000" dirty="0"/>
              <a:t> possible de les </a:t>
            </a:r>
            <a:r>
              <a:rPr lang="en-US" sz="2000" dirty="0" err="1"/>
              <a:t>traiter</a:t>
            </a:r>
            <a:r>
              <a:rPr lang="en-US" sz="2000" dirty="0"/>
              <a:t> avec des </a:t>
            </a:r>
            <a:r>
              <a:rPr lang="en-US" sz="2000" dirty="0" err="1"/>
              <a:t>antibiotiques</a:t>
            </a:r>
            <a:r>
              <a:rPr lang="en-US" sz="2000" dirty="0"/>
              <a:t> par </a:t>
            </a:r>
            <a:r>
              <a:rPr lang="en-US" sz="2000" dirty="0" err="1"/>
              <a:t>voie</a:t>
            </a:r>
            <a:r>
              <a:rPr lang="en-US" sz="2000" dirty="0"/>
              <a:t> </a:t>
            </a:r>
            <a:r>
              <a:rPr lang="en-US" sz="2000" dirty="0" err="1"/>
              <a:t>orale</a:t>
            </a:r>
            <a:r>
              <a:rPr lang="en-US" sz="2000" dirty="0"/>
              <a:t> </a:t>
            </a:r>
          </a:p>
          <a:p>
            <a:pPr>
              <a:lnSpc>
                <a:spcPct val="150000"/>
              </a:lnSpc>
            </a:pPr>
            <a:r>
              <a:rPr lang="en-US" sz="2000" dirty="0" err="1"/>
              <a:t>Ils</a:t>
            </a:r>
            <a:r>
              <a:rPr lang="en-US" sz="2000" dirty="0"/>
              <a:t> </a:t>
            </a:r>
            <a:r>
              <a:rPr lang="en-US" sz="2000" dirty="0" err="1"/>
              <a:t>déviennent</a:t>
            </a:r>
            <a:r>
              <a:rPr lang="en-US" sz="2000" dirty="0"/>
              <a:t>  </a:t>
            </a:r>
            <a:r>
              <a:rPr lang="en-US" sz="2000" dirty="0" err="1"/>
              <a:t>afébriles</a:t>
            </a:r>
            <a:r>
              <a:rPr lang="en-US" sz="2000" dirty="0"/>
              <a:t> (sans   </a:t>
            </a:r>
            <a:r>
              <a:rPr lang="en-US" sz="2000" dirty="0" err="1"/>
              <a:t>dans</a:t>
            </a:r>
            <a:r>
              <a:rPr lang="en-US" sz="2000" dirty="0"/>
              <a:t> un </a:t>
            </a:r>
            <a:r>
              <a:rPr lang="en-US" sz="2000" dirty="0" err="1"/>
              <a:t>délai</a:t>
            </a:r>
            <a:r>
              <a:rPr lang="en-US" sz="2000" dirty="0"/>
              <a:t> de 48h</a:t>
            </a:r>
          </a:p>
          <a:p>
            <a:pPr>
              <a:lnSpc>
                <a:spcPct val="150000"/>
              </a:lnSpc>
            </a:pPr>
            <a:r>
              <a:rPr lang="en-US" sz="2000" dirty="0" err="1"/>
              <a:t>Peut-être</a:t>
            </a:r>
            <a:r>
              <a:rPr lang="en-US" sz="2000" dirty="0"/>
              <a:t> </a:t>
            </a:r>
            <a:r>
              <a:rPr lang="en-US" sz="2000" dirty="0" err="1"/>
              <a:t>traité</a:t>
            </a:r>
            <a:r>
              <a:rPr lang="en-US" sz="2000" dirty="0"/>
              <a:t> avec </a:t>
            </a:r>
            <a:r>
              <a:rPr lang="en-US" sz="2000" dirty="0" err="1"/>
              <a:t>l’hospitalisation</a:t>
            </a:r>
            <a:r>
              <a:rPr lang="en-US" sz="2000" dirty="0"/>
              <a:t> de jour </a:t>
            </a:r>
            <a:r>
              <a:rPr lang="en-US" sz="2000" dirty="0" err="1"/>
              <a:t>ou</a:t>
            </a:r>
            <a:r>
              <a:rPr lang="en-US" sz="2000" dirty="0"/>
              <a:t> </a:t>
            </a:r>
            <a:r>
              <a:rPr lang="en-US" sz="2000" dirty="0" err="1"/>
              <a:t>ambulatoire</a:t>
            </a:r>
            <a:r>
              <a:rPr lang="en-US" sz="2000" dirty="0"/>
              <a:t> 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Sans </a:t>
            </a:r>
            <a:r>
              <a:rPr lang="en-US" sz="2000" dirty="0" err="1"/>
              <a:t>insuffisance</a:t>
            </a:r>
            <a:r>
              <a:rPr lang="en-US" sz="2000" dirty="0"/>
              <a:t> </a:t>
            </a:r>
            <a:r>
              <a:rPr lang="en-US" sz="2000" dirty="0" err="1"/>
              <a:t>organique</a:t>
            </a:r>
            <a:endParaRPr lang="en-US" sz="2000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5055429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Patients à </a:t>
            </a:r>
            <a:r>
              <a:rPr lang="en-US" b="1" dirty="0" err="1"/>
              <a:t>baut</a:t>
            </a:r>
            <a:r>
              <a:rPr lang="en-US" b="1" dirty="0"/>
              <a:t> </a:t>
            </a:r>
            <a:r>
              <a:rPr lang="en-US" b="1" dirty="0" err="1"/>
              <a:t>risque</a:t>
            </a:r>
            <a:r>
              <a:rPr lang="en-US" b="1" dirty="0"/>
              <a:t>  (</a:t>
            </a:r>
            <a:r>
              <a:rPr lang="en-US" b="1" dirty="0" err="1"/>
              <a:t>hight</a:t>
            </a:r>
            <a:r>
              <a:rPr lang="en-US" b="1" dirty="0"/>
              <a:t> risk patients)</a:t>
            </a:r>
            <a:br>
              <a:rPr lang="en-US" dirty="0"/>
            </a:br>
            <a:endParaRPr lang="en-US" b="1" dirty="0"/>
          </a:p>
        </p:txBody>
      </p:sp>
      <p:sp>
        <p:nvSpPr>
          <p:cNvPr id="3" name="Substituent conținut 2"/>
          <p:cNvSpPr>
            <a:spLocks noGrp="1"/>
          </p:cNvSpPr>
          <p:nvPr>
            <p:ph idx="1"/>
          </p:nvPr>
        </p:nvSpPr>
        <p:spPr>
          <a:xfrm>
            <a:off x="457200" y="1905000"/>
            <a:ext cx="7772400" cy="4724400"/>
          </a:xfrm>
        </p:spPr>
        <p:txBody>
          <a:bodyPr/>
          <a:lstStyle/>
          <a:p>
            <a:pPr lvl="0">
              <a:lnSpc>
                <a:spcPct val="150000"/>
              </a:lnSpc>
            </a:pPr>
            <a:r>
              <a:rPr lang="en-US" sz="2000" dirty="0" err="1"/>
              <a:t>Hémodynamiquement</a:t>
            </a:r>
            <a:r>
              <a:rPr lang="en-US" sz="2000" dirty="0"/>
              <a:t>  instable </a:t>
            </a:r>
          </a:p>
          <a:p>
            <a:pPr lvl="0">
              <a:lnSpc>
                <a:spcPct val="150000"/>
              </a:lnSpc>
            </a:pPr>
            <a:r>
              <a:rPr lang="en-US" sz="2000" dirty="0" err="1"/>
              <a:t>État</a:t>
            </a:r>
            <a:r>
              <a:rPr lang="en-US" sz="2000" dirty="0"/>
              <a:t> </a:t>
            </a:r>
            <a:r>
              <a:rPr lang="en-US" sz="2000" dirty="0" err="1"/>
              <a:t>général</a:t>
            </a:r>
            <a:r>
              <a:rPr lang="en-US" sz="2000" dirty="0"/>
              <a:t> </a:t>
            </a:r>
            <a:r>
              <a:rPr lang="en-US" sz="2000" dirty="0" err="1"/>
              <a:t>altéré</a:t>
            </a:r>
            <a:r>
              <a:rPr lang="en-US" sz="2000" dirty="0"/>
              <a:t> </a:t>
            </a:r>
          </a:p>
          <a:p>
            <a:pPr lvl="0">
              <a:lnSpc>
                <a:spcPct val="150000"/>
              </a:lnSpc>
            </a:pPr>
            <a:r>
              <a:rPr lang="en-US" sz="2000" dirty="0"/>
              <a:t>Avec </a:t>
            </a:r>
            <a:r>
              <a:rPr lang="en-US" sz="2000" dirty="0" err="1"/>
              <a:t>comorbidité</a:t>
            </a:r>
            <a:r>
              <a:rPr lang="en-US" sz="2000" dirty="0"/>
              <a:t> </a:t>
            </a:r>
          </a:p>
          <a:p>
            <a:pPr lvl="0">
              <a:lnSpc>
                <a:spcPct val="150000"/>
              </a:lnSpc>
            </a:pPr>
            <a:r>
              <a:rPr lang="en-US" sz="2000" dirty="0" err="1"/>
              <a:t>Insuffisance</a:t>
            </a:r>
            <a:r>
              <a:rPr lang="en-US" sz="2000" dirty="0"/>
              <a:t> </a:t>
            </a:r>
            <a:r>
              <a:rPr lang="en-US" sz="2000" dirty="0" err="1"/>
              <a:t>organique</a:t>
            </a:r>
            <a:endParaRPr lang="en-US" sz="2000" dirty="0"/>
          </a:p>
          <a:p>
            <a:pPr lvl="0">
              <a:lnSpc>
                <a:spcPct val="150000"/>
              </a:lnSpc>
            </a:pPr>
            <a:r>
              <a:rPr lang="en-US" sz="2000" dirty="0" err="1"/>
              <a:t>Fièvre</a:t>
            </a:r>
            <a:r>
              <a:rPr lang="en-US" sz="2000" dirty="0"/>
              <a:t> </a:t>
            </a:r>
            <a:r>
              <a:rPr lang="en-US" sz="2000" dirty="0" err="1"/>
              <a:t>persistante</a:t>
            </a:r>
            <a:r>
              <a:rPr lang="en-US" sz="2000" dirty="0"/>
              <a:t> ,</a:t>
            </a:r>
            <a:r>
              <a:rPr lang="en-US" sz="2000" dirty="0" err="1"/>
              <a:t>septicémie</a:t>
            </a:r>
            <a:r>
              <a:rPr lang="en-US" sz="2000" dirty="0"/>
              <a:t> </a:t>
            </a:r>
          </a:p>
          <a:p>
            <a:pPr lvl="0">
              <a:lnSpc>
                <a:spcPct val="150000"/>
              </a:lnSpc>
            </a:pPr>
            <a:r>
              <a:rPr lang="en-US" sz="2000" dirty="0" err="1"/>
              <a:t>Besoin</a:t>
            </a:r>
            <a:r>
              <a:rPr lang="en-US" sz="2000" dirty="0"/>
              <a:t> de </a:t>
            </a:r>
            <a:r>
              <a:rPr lang="en-US" sz="2000" dirty="0" err="1"/>
              <a:t>antibiothérapie</a:t>
            </a:r>
            <a:r>
              <a:rPr lang="en-US" sz="2000" dirty="0"/>
              <a:t> </a:t>
            </a:r>
            <a:r>
              <a:rPr lang="en-US" sz="2000" dirty="0" err="1"/>
              <a:t>empirique</a:t>
            </a:r>
            <a:r>
              <a:rPr lang="en-US" sz="2000" dirty="0"/>
              <a:t> </a:t>
            </a:r>
          </a:p>
          <a:p>
            <a:pPr>
              <a:lnSpc>
                <a:spcPct val="150000"/>
              </a:lnSpc>
            </a:pPr>
            <a:r>
              <a:rPr lang="en-US" sz="2000" dirty="0" err="1"/>
              <a:t>Besoin</a:t>
            </a:r>
            <a:r>
              <a:rPr lang="en-US" sz="2000" dirty="0"/>
              <a:t> de </a:t>
            </a:r>
            <a:r>
              <a:rPr lang="en-US" sz="2000" dirty="0" err="1"/>
              <a:t>Thérapie</a:t>
            </a:r>
            <a:r>
              <a:rPr lang="en-US" sz="2000" dirty="0"/>
              <a:t> intensive </a:t>
            </a:r>
          </a:p>
          <a:p>
            <a:pPr lvl="0">
              <a:lnSpc>
                <a:spcPct val="150000"/>
              </a:lnSpc>
            </a:pPr>
            <a:r>
              <a:rPr lang="en-US" sz="2000" dirty="0" err="1"/>
              <a:t>Mortalité</a:t>
            </a:r>
            <a:r>
              <a:rPr lang="en-US" sz="2000" dirty="0"/>
              <a:t> </a:t>
            </a:r>
            <a:r>
              <a:rPr lang="en-US" sz="2000" dirty="0" err="1"/>
              <a:t>élevée</a:t>
            </a:r>
            <a:r>
              <a:rPr lang="en-US" sz="2000" dirty="0"/>
              <a:t> et </a:t>
            </a:r>
            <a:r>
              <a:rPr lang="en-US" sz="2000" dirty="0" err="1"/>
              <a:t>récupération</a:t>
            </a:r>
            <a:r>
              <a:rPr lang="en-US" sz="2000" dirty="0"/>
              <a:t> </a:t>
            </a:r>
            <a:r>
              <a:rPr lang="en-US" sz="2000" dirty="0" err="1"/>
              <a:t>difficile</a:t>
            </a:r>
            <a:r>
              <a:rPr lang="en-US" sz="2000" dirty="0"/>
              <a:t> 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3585586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/>
          <a:lstStyle/>
          <a:p>
            <a:r>
              <a:rPr lang="en-US" sz="3600" b="1" dirty="0" err="1"/>
              <a:t>Traitement</a:t>
            </a:r>
            <a:r>
              <a:rPr lang="en-US" sz="3600" b="1" dirty="0"/>
              <a:t> de </a:t>
            </a:r>
            <a:r>
              <a:rPr lang="en-US" sz="3600" b="1" dirty="0" err="1"/>
              <a:t>neutropénie</a:t>
            </a:r>
            <a:r>
              <a:rPr lang="en-US" sz="3600" b="1" dirty="0"/>
              <a:t> </a:t>
            </a:r>
            <a:r>
              <a:rPr lang="en-US" sz="3600" b="1" dirty="0" err="1"/>
              <a:t>fébrile</a:t>
            </a:r>
            <a:r>
              <a:rPr lang="en-US" sz="3600" b="1" dirty="0"/>
              <a:t> </a:t>
            </a:r>
            <a:br>
              <a:rPr lang="en-US" sz="3600" dirty="0"/>
            </a:br>
            <a:endParaRPr lang="en-US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57400"/>
            <a:ext cx="8229600" cy="4572000"/>
          </a:xfrm>
        </p:spPr>
        <p:txBody>
          <a:bodyPr/>
          <a:lstStyle/>
          <a:p>
            <a:pPr marL="0" lvl="0" indent="0">
              <a:lnSpc>
                <a:spcPct val="150000"/>
              </a:lnSpc>
              <a:buNone/>
            </a:pPr>
            <a:r>
              <a:rPr lang="en-US" sz="2000" dirty="0" err="1"/>
              <a:t>Prophlylactique</a:t>
            </a:r>
            <a:r>
              <a:rPr lang="en-US" sz="2000" dirty="0"/>
              <a:t> :</a:t>
            </a:r>
          </a:p>
          <a:p>
            <a:pPr lvl="0">
              <a:lnSpc>
                <a:spcPct val="150000"/>
              </a:lnSpc>
            </a:pPr>
            <a:r>
              <a:rPr lang="fr-FR" sz="2000" dirty="0">
                <a:highlight>
                  <a:srgbClr val="FFFF00"/>
                </a:highlight>
              </a:rPr>
              <a:t>Prophylaxie primaire </a:t>
            </a:r>
            <a:r>
              <a:rPr lang="fr-FR" sz="2000" dirty="0"/>
              <a:t>:</a:t>
            </a:r>
            <a:endParaRPr lang="en-US" sz="2000" dirty="0"/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fr-FR" sz="2000" dirty="0"/>
              <a:t>– Attitude ayant pour but de diminuer les risques de NF dès le 1er cycle de chimiothérapie</a:t>
            </a:r>
            <a:endParaRPr lang="en-US" sz="2000" dirty="0"/>
          </a:p>
          <a:p>
            <a:pPr lvl="0">
              <a:lnSpc>
                <a:spcPct val="150000"/>
              </a:lnSpc>
            </a:pPr>
            <a:r>
              <a:rPr lang="fr-FR" sz="2000" dirty="0">
                <a:highlight>
                  <a:srgbClr val="FFFF00"/>
                </a:highlight>
              </a:rPr>
              <a:t>Prophylaxie secondaire </a:t>
            </a:r>
            <a:r>
              <a:rPr lang="fr-FR" sz="2000" dirty="0"/>
              <a:t>:</a:t>
            </a:r>
            <a:endParaRPr lang="en-US" sz="2000" dirty="0"/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fr-FR" sz="2000" dirty="0"/>
              <a:t>– Attitude ayant pour but de diminuer les risques de NF après un événement </a:t>
            </a:r>
            <a:r>
              <a:rPr lang="fr-FR" sz="2000" dirty="0" err="1"/>
              <a:t>neutropénique</a:t>
            </a:r>
            <a:r>
              <a:rPr lang="fr-FR" sz="2000" dirty="0"/>
              <a:t> (≥ 2ème cycle de chimiothérapie)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/>
              <a:t> </a:t>
            </a:r>
          </a:p>
          <a:p>
            <a:pPr marL="0" lvl="0" indent="0">
              <a:lnSpc>
                <a:spcPct val="150000"/>
              </a:lnSpc>
              <a:buNone/>
            </a:pPr>
            <a:r>
              <a:rPr lang="en-US" sz="2000" dirty="0" err="1"/>
              <a:t>Curatif</a:t>
            </a:r>
            <a:r>
              <a:rPr lang="en-US" sz="2000" dirty="0"/>
              <a:t> :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74638"/>
            <a:ext cx="9144000" cy="868362"/>
          </a:xfrm>
        </p:spPr>
        <p:txBody>
          <a:bodyPr/>
          <a:lstStyle/>
          <a:p>
            <a:pPr eaLnBrk="1" hangingPunct="1"/>
            <a:r>
              <a:rPr lang="en-US" sz="3600" b="1" dirty="0" err="1"/>
              <a:t>Traitement</a:t>
            </a:r>
            <a:r>
              <a:rPr lang="en-US" sz="4000" b="1" dirty="0"/>
              <a:t> de </a:t>
            </a:r>
            <a:r>
              <a:rPr lang="en-US" sz="4000" b="1" dirty="0" err="1"/>
              <a:t>neutropénie</a:t>
            </a:r>
            <a:r>
              <a:rPr lang="en-US" sz="4000" b="1" dirty="0"/>
              <a:t> </a:t>
            </a:r>
            <a:r>
              <a:rPr lang="en-US" sz="4000" b="1" dirty="0" err="1"/>
              <a:t>fébrile</a:t>
            </a:r>
            <a:r>
              <a:rPr lang="en-US" sz="4000" b="1" dirty="0"/>
              <a:t> </a:t>
            </a:r>
            <a:br>
              <a:rPr lang="en-US" sz="4000" dirty="0"/>
            </a:br>
            <a:endParaRPr lang="en-US" altLang="ro-RO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8229600" cy="5119688"/>
          </a:xfrm>
        </p:spPr>
        <p:txBody>
          <a:bodyPr/>
          <a:lstStyle/>
          <a:p>
            <a:pPr eaLnBrk="1" hangingPunct="1">
              <a:buFont typeface="Arial" panose="020B0604020202020204" pitchFamily="34" charset="0"/>
              <a:buNone/>
            </a:pPr>
            <a:endParaRPr lang="en-US" altLang="ro-RO" sz="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800" dirty="0" err="1"/>
              <a:t>Antibiothérapie</a:t>
            </a:r>
            <a:r>
              <a:rPr lang="en-US" sz="1800" dirty="0"/>
              <a:t>  </a:t>
            </a:r>
            <a:r>
              <a:rPr lang="en-US" sz="1800" dirty="0" err="1"/>
              <a:t>empirique</a:t>
            </a:r>
            <a:r>
              <a:rPr lang="en-US" sz="1800" dirty="0"/>
              <a:t> </a:t>
            </a:r>
          </a:p>
          <a:p>
            <a:pPr lvl="0"/>
            <a:r>
              <a:rPr lang="en-US" sz="1800" dirty="0"/>
              <a:t>Pour </a:t>
            </a:r>
            <a:r>
              <a:rPr lang="en-US" sz="1800" dirty="0" err="1"/>
              <a:t>combattre</a:t>
            </a:r>
            <a:r>
              <a:rPr lang="en-US" sz="1800" dirty="0"/>
              <a:t> </a:t>
            </a:r>
            <a:r>
              <a:rPr lang="en-US" sz="1800" dirty="0" err="1"/>
              <a:t>une</a:t>
            </a:r>
            <a:r>
              <a:rPr lang="en-US" sz="1800" dirty="0"/>
              <a:t> infection </a:t>
            </a:r>
            <a:r>
              <a:rPr lang="en-US" sz="1800" dirty="0" err="1"/>
              <a:t>existante</a:t>
            </a:r>
            <a:r>
              <a:rPr lang="en-US" sz="1800" dirty="0"/>
              <a:t> </a:t>
            </a:r>
            <a:r>
              <a:rPr lang="en-US" sz="1800" dirty="0" err="1"/>
              <a:t>ou</a:t>
            </a:r>
            <a:r>
              <a:rPr lang="en-US" sz="1800" dirty="0"/>
              <a:t>  </a:t>
            </a:r>
            <a:r>
              <a:rPr lang="en-US" sz="1800" dirty="0" err="1"/>
              <a:t>suspectée</a:t>
            </a:r>
            <a:r>
              <a:rPr lang="en-US" sz="1800" dirty="0"/>
              <a:t> </a:t>
            </a:r>
          </a:p>
          <a:p>
            <a:pPr lvl="0"/>
            <a:r>
              <a:rPr lang="en-US" sz="1800" dirty="0" err="1">
                <a:highlight>
                  <a:srgbClr val="FFFF00"/>
                </a:highlight>
              </a:rPr>
              <a:t>Monothérapie</a:t>
            </a:r>
            <a:r>
              <a:rPr lang="en-US" sz="1800" dirty="0"/>
              <a:t> :</a:t>
            </a:r>
          </a:p>
          <a:p>
            <a:pPr lvl="0">
              <a:buFont typeface="Courier New" panose="02070309020205020404" pitchFamily="49" charset="0"/>
              <a:buChar char="o"/>
            </a:pPr>
            <a:r>
              <a:rPr lang="en-US" sz="1800" dirty="0" err="1"/>
              <a:t>Ceftazim,imipenem,meropenem</a:t>
            </a:r>
            <a:r>
              <a:rPr lang="en-US" sz="1800" dirty="0"/>
              <a:t> :</a:t>
            </a:r>
          </a:p>
          <a:p>
            <a:pPr lvl="0"/>
            <a:r>
              <a:rPr lang="en-US" sz="1800" dirty="0" err="1">
                <a:highlight>
                  <a:srgbClr val="FFFF00"/>
                </a:highlight>
              </a:rPr>
              <a:t>Combinaison</a:t>
            </a:r>
            <a:r>
              <a:rPr lang="en-US" sz="1800" dirty="0"/>
              <a:t> :</a:t>
            </a:r>
          </a:p>
          <a:p>
            <a:pPr lvl="0">
              <a:buFont typeface="Courier New" panose="02070309020205020404" pitchFamily="49" charset="0"/>
              <a:buChar char="o"/>
            </a:pPr>
            <a:r>
              <a:rPr lang="en-US" sz="1800" dirty="0" err="1"/>
              <a:t>Betalactamine+aminoglucocide</a:t>
            </a:r>
            <a:endParaRPr lang="en-US" sz="1800" dirty="0"/>
          </a:p>
          <a:p>
            <a:pPr lvl="0"/>
            <a:r>
              <a:rPr lang="en-US" sz="1800" dirty="0" err="1"/>
              <a:t>Éviter</a:t>
            </a:r>
            <a:r>
              <a:rPr lang="en-US" sz="1800" dirty="0"/>
              <a:t> le touché rectal</a:t>
            </a:r>
          </a:p>
          <a:p>
            <a:pPr lvl="0"/>
            <a:r>
              <a:rPr lang="en-US" sz="1800" dirty="0"/>
              <a:t>Attention!! les infection </a:t>
            </a:r>
            <a:r>
              <a:rPr lang="en-US" sz="1800" dirty="0" err="1"/>
              <a:t>nosocomiales</a:t>
            </a:r>
            <a:r>
              <a:rPr lang="en-US" sz="1800" dirty="0"/>
              <a:t> </a:t>
            </a:r>
          </a:p>
          <a:p>
            <a:pPr lvl="0"/>
            <a:r>
              <a:rPr lang="en-US" sz="1800" dirty="0" err="1"/>
              <a:t>Ajouter</a:t>
            </a:r>
            <a:r>
              <a:rPr lang="en-US" sz="1800" dirty="0"/>
              <a:t> </a:t>
            </a:r>
            <a:r>
              <a:rPr lang="en-US" sz="1800" dirty="0" err="1"/>
              <a:t>empiriquement</a:t>
            </a:r>
            <a:r>
              <a:rPr lang="en-US" sz="1800" dirty="0"/>
              <a:t> le </a:t>
            </a:r>
            <a:r>
              <a:rPr lang="en-US" sz="1800" dirty="0" err="1"/>
              <a:t>vancomicin</a:t>
            </a:r>
            <a:r>
              <a:rPr lang="en-US" sz="1800" dirty="0"/>
              <a:t> :</a:t>
            </a:r>
          </a:p>
          <a:p>
            <a:pPr lvl="0">
              <a:buFont typeface="Courier New" panose="02070309020205020404" pitchFamily="49" charset="0"/>
              <a:buChar char="o"/>
            </a:pPr>
            <a:r>
              <a:rPr lang="en-US" sz="1800" dirty="0"/>
              <a:t>Infection </a:t>
            </a:r>
            <a:r>
              <a:rPr lang="en-US" sz="1800" dirty="0" err="1"/>
              <a:t>cutanée</a:t>
            </a:r>
            <a:r>
              <a:rPr lang="en-US" sz="1800" dirty="0"/>
              <a:t>  </a:t>
            </a:r>
            <a:r>
              <a:rPr lang="en-US" sz="1800" dirty="0" err="1"/>
              <a:t>ou</a:t>
            </a:r>
            <a:r>
              <a:rPr lang="en-US" sz="1800" dirty="0"/>
              <a:t> de </a:t>
            </a:r>
            <a:r>
              <a:rPr lang="en-US" sz="1800" dirty="0" err="1"/>
              <a:t>cathéter</a:t>
            </a:r>
            <a:r>
              <a:rPr lang="en-US" sz="1800" dirty="0"/>
              <a:t> </a:t>
            </a:r>
          </a:p>
          <a:p>
            <a:pPr lvl="0">
              <a:buFont typeface="Courier New" panose="02070309020205020404" pitchFamily="49" charset="0"/>
              <a:buChar char="o"/>
            </a:pPr>
            <a:r>
              <a:rPr lang="en-US" sz="1800" dirty="0"/>
              <a:t>hypotension</a:t>
            </a:r>
          </a:p>
          <a:p>
            <a:pPr lvl="0">
              <a:buFont typeface="Courier New" panose="02070309020205020404" pitchFamily="49" charset="0"/>
              <a:buChar char="o"/>
            </a:pPr>
            <a:r>
              <a:rPr lang="en-US" sz="1800" dirty="0" err="1"/>
              <a:t>mucosités</a:t>
            </a:r>
            <a:endParaRPr lang="en-US" sz="1800" dirty="0"/>
          </a:p>
          <a:p>
            <a:pPr lvl="1" eaLnBrk="1" hangingPunct="1"/>
            <a:endParaRPr lang="en-US" altLang="ro-RO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53867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1469" y="1600200"/>
            <a:ext cx="8501062" cy="4800600"/>
          </a:xfrm>
        </p:spPr>
        <p:txBody>
          <a:bodyPr/>
          <a:lstStyle/>
          <a:p>
            <a:pPr marL="0" indent="0">
              <a:buNone/>
            </a:pPr>
            <a:r>
              <a:rPr lang="en-US" sz="1800" b="1" dirty="0" err="1"/>
              <a:t>Thérapie</a:t>
            </a:r>
            <a:r>
              <a:rPr lang="en-US" sz="1800" b="1" dirty="0"/>
              <a:t> </a:t>
            </a:r>
            <a:r>
              <a:rPr lang="en-US" sz="1800" b="1" dirty="0" err="1"/>
              <a:t>antimicotique</a:t>
            </a:r>
            <a:r>
              <a:rPr lang="en-US" sz="1800" b="1" dirty="0"/>
              <a:t> </a:t>
            </a:r>
            <a:r>
              <a:rPr lang="en-US" sz="1800" b="1" dirty="0" err="1"/>
              <a:t>empirique</a:t>
            </a:r>
            <a:r>
              <a:rPr lang="en-US" sz="1800" b="1" dirty="0"/>
              <a:t> </a:t>
            </a:r>
            <a:endParaRPr lang="en-US" sz="1800" dirty="0"/>
          </a:p>
          <a:p>
            <a:pPr lvl="0"/>
            <a:r>
              <a:rPr lang="en-US" sz="1800" dirty="0" err="1"/>
              <a:t>Fièvre</a:t>
            </a:r>
            <a:r>
              <a:rPr lang="en-US" sz="1800" dirty="0"/>
              <a:t> </a:t>
            </a:r>
            <a:r>
              <a:rPr lang="en-US" sz="1800" dirty="0" err="1"/>
              <a:t>persistante</a:t>
            </a:r>
            <a:r>
              <a:rPr lang="en-US" sz="1800" dirty="0"/>
              <a:t> </a:t>
            </a:r>
          </a:p>
          <a:p>
            <a:pPr lvl="0"/>
            <a:r>
              <a:rPr lang="en-US" sz="1800" dirty="0" err="1"/>
              <a:t>Neutropénie</a:t>
            </a:r>
            <a:r>
              <a:rPr lang="en-US" sz="1800" dirty="0"/>
              <a:t> </a:t>
            </a:r>
            <a:r>
              <a:rPr lang="en-US" sz="1800" dirty="0" err="1"/>
              <a:t>persistante</a:t>
            </a:r>
            <a:endParaRPr lang="en-US" sz="1800" dirty="0"/>
          </a:p>
          <a:p>
            <a:pPr lvl="1" eaLnBrk="1" hangingPunct="1"/>
            <a:r>
              <a:rPr lang="fr-FR" altLang="ro-RO" sz="1800" dirty="0">
                <a:cs typeface="Arial" panose="020B0604020202020204" pitchFamily="34" charset="0"/>
              </a:rPr>
              <a:t>régulièrement ajouté après 5 à 7 jours de neutropénie fébrile, avec ou sans cause connue</a:t>
            </a:r>
          </a:p>
          <a:p>
            <a:pPr lvl="1" eaLnBrk="1" hangingPunct="1"/>
            <a:r>
              <a:rPr lang="fr-FR" altLang="ro-RO" sz="1800" dirty="0">
                <a:cs typeface="Arial" panose="020B0604020202020204" pitchFamily="34" charset="0"/>
              </a:rPr>
              <a:t>décès après neutropénie fébrile persistante - 69% ont une infection </a:t>
            </a:r>
            <a:r>
              <a:rPr lang="fr-FR" altLang="ro-RO" sz="1800" dirty="0" err="1">
                <a:cs typeface="Arial" panose="020B0604020202020204" pitchFamily="34" charset="0"/>
              </a:rPr>
              <a:t>mycotique</a:t>
            </a:r>
            <a:endParaRPr lang="fr-FR" altLang="ro-RO" sz="1800" dirty="0">
              <a:cs typeface="Arial" panose="020B0604020202020204" pitchFamily="34" charset="0"/>
            </a:endParaRPr>
          </a:p>
          <a:p>
            <a:pPr lvl="1" eaLnBrk="1" hangingPunct="1"/>
            <a:r>
              <a:rPr lang="fr-FR" altLang="ro-RO" sz="1800" dirty="0" err="1">
                <a:cs typeface="Arial" panose="020B0604020202020204" pitchFamily="34" charset="0"/>
              </a:rPr>
              <a:t>amphotericine</a:t>
            </a:r>
            <a:r>
              <a:rPr lang="fr-FR" altLang="ro-RO" sz="1800" dirty="0">
                <a:cs typeface="Arial" panose="020B0604020202020204" pitchFamily="34" charset="0"/>
              </a:rPr>
              <a:t> B (liposome), </a:t>
            </a:r>
            <a:r>
              <a:rPr lang="fr-FR" altLang="ro-RO" sz="1800" dirty="0" err="1">
                <a:cs typeface="Arial" panose="020B0604020202020204" pitchFamily="34" charset="0"/>
              </a:rPr>
              <a:t>caspofungin</a:t>
            </a:r>
            <a:r>
              <a:rPr lang="fr-FR" altLang="ro-RO" sz="1800" dirty="0">
                <a:cs typeface="Arial" panose="020B0604020202020204" pitchFamily="34" charset="0"/>
              </a:rPr>
              <a:t>, </a:t>
            </a:r>
            <a:r>
              <a:rPr lang="fr-FR" altLang="ro-RO" sz="1800" dirty="0" err="1">
                <a:cs typeface="Arial" panose="020B0604020202020204" pitchFamily="34" charset="0"/>
              </a:rPr>
              <a:t>voriconazole</a:t>
            </a:r>
            <a:endParaRPr lang="fr-FR" altLang="ro-RO" sz="1800" dirty="0">
              <a:cs typeface="Arial" panose="020B0604020202020204" pitchFamily="34" charset="0"/>
            </a:endParaRPr>
          </a:p>
          <a:p>
            <a:pPr marL="60325" lvl="1" indent="-60325" eaLnBrk="1" hangingPunct="1">
              <a:buFont typeface="Arial" panose="020B0604020202020204" pitchFamily="34" charset="0"/>
              <a:buNone/>
            </a:pPr>
            <a:r>
              <a:rPr lang="fr-FR" altLang="ro-RO" sz="1800" b="1" dirty="0">
                <a:cs typeface="Arial" panose="020B0604020202020204" pitchFamily="34" charset="0"/>
              </a:rPr>
              <a:t>Facteurs stimulant les colonies</a:t>
            </a:r>
          </a:p>
          <a:p>
            <a:pPr lvl="1" eaLnBrk="1" hangingPunct="1"/>
            <a:r>
              <a:rPr lang="fr-FR" altLang="ro-RO" sz="1800" dirty="0">
                <a:cs typeface="Arial" panose="020B0604020202020204" pitchFamily="34" charset="0"/>
              </a:rPr>
              <a:t>préfèrent la prophylaxie</a:t>
            </a:r>
          </a:p>
          <a:p>
            <a:pPr lvl="1" eaLnBrk="1" hangingPunct="1"/>
            <a:r>
              <a:rPr lang="fr-FR" altLang="ro-RO" sz="1800" dirty="0">
                <a:cs typeface="Arial" panose="020B0604020202020204" pitchFamily="34" charset="0"/>
              </a:rPr>
              <a:t>les effets bénéfiques sont modestes une fois que la neutropénie fébrile a été installée</a:t>
            </a:r>
          </a:p>
          <a:p>
            <a:pPr lvl="1" eaLnBrk="1" hangingPunct="1"/>
            <a:r>
              <a:rPr lang="fr-FR" altLang="ro-RO" sz="1800" dirty="0">
                <a:cs typeface="Arial" panose="020B0604020202020204" pitchFamily="34" charset="0"/>
              </a:rPr>
              <a:t>utilisé dans le choc septique neutropénie (hypotension, dysfonction organique)</a:t>
            </a:r>
          </a:p>
          <a:p>
            <a:pPr lvl="1" eaLnBrk="1" hangingPunct="1"/>
            <a:r>
              <a:rPr lang="fr-FR" altLang="ro-RO" sz="1800" dirty="0">
                <a:cs typeface="Arial" panose="020B0604020202020204" pitchFamily="34" charset="0"/>
              </a:rPr>
              <a:t>patients qui devraient récupérer lentement le nombre de neutrophiles</a:t>
            </a:r>
          </a:p>
          <a:p>
            <a:pPr lvl="1" eaLnBrk="1" hangingPunct="1">
              <a:buFont typeface="Arial" panose="020B0604020202020204" pitchFamily="34" charset="0"/>
              <a:buNone/>
            </a:pPr>
            <a:endParaRPr lang="fr-FR" altLang="ro-RO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eaLnBrk="1" hangingPunct="1">
              <a:buFont typeface="Arial" panose="020B0604020202020204" pitchFamily="34" charset="0"/>
              <a:buNone/>
            </a:pPr>
            <a:endParaRPr lang="en-US" altLang="ro-RO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74638"/>
            <a:ext cx="9144000" cy="868362"/>
          </a:xfrm>
        </p:spPr>
        <p:txBody>
          <a:bodyPr/>
          <a:lstStyle/>
          <a:p>
            <a:pPr eaLnBrk="1" hangingPunct="1"/>
            <a:r>
              <a:rPr lang="en-US" sz="3600" b="1" dirty="0" err="1"/>
              <a:t>Traitement</a:t>
            </a:r>
            <a:r>
              <a:rPr lang="en-US" sz="4000" b="1" dirty="0"/>
              <a:t> de </a:t>
            </a:r>
            <a:r>
              <a:rPr lang="en-US" sz="4000" b="1" dirty="0" err="1"/>
              <a:t>neutropénie</a:t>
            </a:r>
            <a:r>
              <a:rPr lang="en-US" sz="4000" b="1" dirty="0"/>
              <a:t> </a:t>
            </a:r>
            <a:r>
              <a:rPr lang="en-US" sz="4000" b="1" dirty="0" err="1"/>
              <a:t>fébrile</a:t>
            </a:r>
            <a:endParaRPr lang="en-US" altLang="ro-RO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97263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setăText 6"/>
          <p:cNvSpPr txBox="1"/>
          <p:nvPr/>
        </p:nvSpPr>
        <p:spPr>
          <a:xfrm>
            <a:off x="0" y="304800"/>
            <a:ext cx="9144000" cy="16401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fr-FR" sz="3600" b="1" kern="0" dirty="0">
                <a:latin typeface="+mj-lt"/>
                <a:cs typeface="+mn-cs"/>
              </a:rPr>
              <a:t>Traitement de la neutropénie </a:t>
            </a:r>
          </a:p>
          <a:p>
            <a:pPr algn="ctr" fontAlgn="auto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fr-FR" sz="3600" b="1" kern="0" dirty="0">
                <a:latin typeface="+mj-lt"/>
                <a:cs typeface="+mn-cs"/>
              </a:rPr>
              <a:t>induite par la chimiothérapie</a:t>
            </a:r>
          </a:p>
          <a:p>
            <a:pPr algn="ctr" fontAlgn="auto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fr-FR" sz="3600" b="1" kern="0" dirty="0">
              <a:latin typeface="+mj-lt"/>
              <a:cs typeface="+mn-cs"/>
            </a:endParaRPr>
          </a:p>
          <a:p>
            <a:pPr algn="ctr" fontAlgn="auto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3600" b="1" kern="0" dirty="0">
              <a:latin typeface="+mj-lt"/>
              <a:cs typeface="+mn-cs"/>
            </a:endParaRPr>
          </a:p>
        </p:txBody>
      </p:sp>
      <p:sp>
        <p:nvSpPr>
          <p:cNvPr id="31749" name="Content Placeholder 1"/>
          <p:cNvSpPr>
            <a:spLocks noGrp="1"/>
          </p:cNvSpPr>
          <p:nvPr>
            <p:ph idx="1"/>
          </p:nvPr>
        </p:nvSpPr>
        <p:spPr>
          <a:xfrm>
            <a:off x="152400" y="1524000"/>
            <a:ext cx="8839200" cy="4724400"/>
          </a:xfrm>
        </p:spPr>
        <p:txBody>
          <a:bodyPr/>
          <a:lstStyle/>
          <a:p>
            <a:pPr lvl="0">
              <a:lnSpc>
                <a:spcPct val="150000"/>
              </a:lnSpc>
            </a:pPr>
            <a:r>
              <a:rPr lang="en-US" sz="1800" dirty="0"/>
              <a:t>Un patient  qui </a:t>
            </a:r>
            <a:r>
              <a:rPr lang="en-US" sz="1800" dirty="0" err="1"/>
              <a:t>est</a:t>
            </a:r>
            <a:r>
              <a:rPr lang="en-US" sz="1800" dirty="0"/>
              <a:t> </a:t>
            </a:r>
            <a:r>
              <a:rPr lang="en-US" sz="1800" dirty="0" err="1"/>
              <a:t>confronté</a:t>
            </a:r>
            <a:r>
              <a:rPr lang="en-US" sz="1800" dirty="0"/>
              <a:t>  déjà  </a:t>
            </a:r>
            <a:r>
              <a:rPr lang="en-US" sz="1800" dirty="0" err="1"/>
              <a:t>une</a:t>
            </a:r>
            <a:r>
              <a:rPr lang="en-US" sz="1800" dirty="0"/>
              <a:t> </a:t>
            </a:r>
            <a:r>
              <a:rPr lang="en-US" sz="1800" dirty="0" err="1"/>
              <a:t>neutropénie</a:t>
            </a:r>
            <a:r>
              <a:rPr lang="en-US" sz="1800" dirty="0"/>
              <a:t> </a:t>
            </a:r>
            <a:r>
              <a:rPr lang="en-US" sz="1800" dirty="0" err="1"/>
              <a:t>induite</a:t>
            </a:r>
            <a:r>
              <a:rPr lang="en-US" sz="1800" dirty="0"/>
              <a:t> par la </a:t>
            </a:r>
            <a:r>
              <a:rPr lang="en-US" sz="1800" dirty="0" err="1"/>
              <a:t>chimiothérapie</a:t>
            </a:r>
            <a:r>
              <a:rPr lang="en-US" sz="1800" dirty="0"/>
              <a:t>  </a:t>
            </a:r>
            <a:r>
              <a:rPr lang="en-US" sz="1800" dirty="0" err="1"/>
              <a:t>doit</a:t>
            </a:r>
            <a:r>
              <a:rPr lang="en-US" sz="1800" dirty="0"/>
              <a:t> </a:t>
            </a:r>
            <a:r>
              <a:rPr lang="en-US" sz="1800" dirty="0" err="1"/>
              <a:t>être</a:t>
            </a:r>
            <a:r>
              <a:rPr lang="en-US" sz="1800" dirty="0"/>
              <a:t> </a:t>
            </a:r>
            <a:r>
              <a:rPr lang="en-US" sz="1800" dirty="0" err="1"/>
              <a:t>couvert</a:t>
            </a:r>
            <a:r>
              <a:rPr lang="en-US" sz="1800" dirty="0"/>
              <a:t> par un </a:t>
            </a:r>
            <a:r>
              <a:rPr lang="en-US" sz="1800" dirty="0" err="1"/>
              <a:t>traitement</a:t>
            </a:r>
            <a:r>
              <a:rPr lang="en-US" sz="1800" dirty="0"/>
              <a:t> </a:t>
            </a:r>
            <a:r>
              <a:rPr lang="en-US" sz="1800" dirty="0" err="1"/>
              <a:t>antibiotique</a:t>
            </a:r>
            <a:r>
              <a:rPr lang="en-US" sz="1800" dirty="0"/>
              <a:t> au plus court </a:t>
            </a:r>
            <a:r>
              <a:rPr lang="en-US" sz="1800" dirty="0" err="1"/>
              <a:t>délai</a:t>
            </a:r>
            <a:r>
              <a:rPr lang="en-US" sz="1800" dirty="0"/>
              <a:t>.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800" dirty="0"/>
              <a:t>Administration des </a:t>
            </a:r>
            <a:r>
              <a:rPr lang="en-US" sz="1800" dirty="0" err="1"/>
              <a:t>antibiotique</a:t>
            </a:r>
            <a:r>
              <a:rPr lang="en-US" sz="1800" dirty="0"/>
              <a:t> par </a:t>
            </a:r>
            <a:r>
              <a:rPr lang="en-US" sz="1800" dirty="0" err="1"/>
              <a:t>voie</a:t>
            </a:r>
            <a:r>
              <a:rPr lang="en-US" sz="1800" dirty="0"/>
              <a:t> </a:t>
            </a:r>
            <a:r>
              <a:rPr lang="en-US" sz="1800" dirty="0" err="1"/>
              <a:t>veineux</a:t>
            </a:r>
            <a:r>
              <a:rPr lang="en-US" sz="1800" dirty="0"/>
              <a:t> </a:t>
            </a:r>
            <a:r>
              <a:rPr lang="en-US" sz="1800" dirty="0" err="1"/>
              <a:t>avant</a:t>
            </a:r>
            <a:r>
              <a:rPr lang="en-US" sz="1800" dirty="0"/>
              <a:t> </a:t>
            </a:r>
            <a:r>
              <a:rPr lang="en-US" sz="1800" dirty="0" err="1"/>
              <a:t>l’apparition</a:t>
            </a:r>
            <a:r>
              <a:rPr lang="en-US" sz="1800" dirty="0"/>
              <a:t> de </a:t>
            </a:r>
            <a:r>
              <a:rPr lang="en-US" sz="1800" dirty="0" err="1"/>
              <a:t>symptomatologie</a:t>
            </a:r>
            <a:r>
              <a:rPr lang="en-US" sz="1800" dirty="0"/>
              <a:t> 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800" dirty="0" err="1"/>
              <a:t>L’administration</a:t>
            </a:r>
            <a:r>
              <a:rPr lang="en-US" sz="1800" dirty="0"/>
              <a:t> de factor de  croissant(G-CSF) </a:t>
            </a:r>
            <a:r>
              <a:rPr lang="en-US" sz="1800" dirty="0" err="1"/>
              <a:t>comme</a:t>
            </a:r>
            <a:r>
              <a:rPr lang="en-US" sz="1800" dirty="0"/>
              <a:t> adjuvant à la  </a:t>
            </a:r>
            <a:r>
              <a:rPr lang="en-US" sz="1800" dirty="0" err="1"/>
              <a:t>neutropénie</a:t>
            </a:r>
            <a:r>
              <a:rPr lang="en-US" sz="1800" dirty="0"/>
              <a:t>, </a:t>
            </a:r>
            <a:r>
              <a:rPr lang="en-US" sz="1800" dirty="0" err="1"/>
              <a:t>n'est</a:t>
            </a:r>
            <a:r>
              <a:rPr lang="en-US" sz="1800" dirty="0"/>
              <a:t> pas </a:t>
            </a:r>
            <a:r>
              <a:rPr lang="en-US" sz="1800" dirty="0" err="1"/>
              <a:t>recommandée</a:t>
            </a:r>
            <a:r>
              <a:rPr lang="en-US" sz="1800" dirty="0"/>
              <a:t>. 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800" dirty="0"/>
              <a:t>G-CSF </a:t>
            </a:r>
            <a:r>
              <a:rPr lang="en-US" sz="1800" dirty="0" err="1"/>
              <a:t>est</a:t>
            </a:r>
            <a:r>
              <a:rPr lang="en-US" sz="1800" dirty="0"/>
              <a:t> </a:t>
            </a:r>
            <a:r>
              <a:rPr lang="en-US" sz="1800" dirty="0" err="1"/>
              <a:t>recommandé</a:t>
            </a:r>
            <a:r>
              <a:rPr lang="en-US" sz="1800" dirty="0"/>
              <a:t> chez les </a:t>
            </a:r>
            <a:r>
              <a:rPr lang="en-US" sz="1800" dirty="0" err="1"/>
              <a:t>pacients</a:t>
            </a:r>
            <a:r>
              <a:rPr lang="en-US" sz="1800" dirty="0"/>
              <a:t> qui ne </a:t>
            </a:r>
            <a:r>
              <a:rPr lang="en-US" sz="1800" dirty="0" err="1"/>
              <a:t>répondent</a:t>
            </a:r>
            <a:r>
              <a:rPr lang="en-US" sz="1800" dirty="0"/>
              <a:t> pas l’ </a:t>
            </a:r>
            <a:r>
              <a:rPr lang="en-US" sz="1800" dirty="0" err="1"/>
              <a:t>antibiothérapie</a:t>
            </a:r>
            <a:r>
              <a:rPr lang="en-US" sz="1800" dirty="0"/>
              <a:t> </a:t>
            </a:r>
            <a:r>
              <a:rPr lang="en-US" sz="1800" dirty="0" err="1"/>
              <a:t>empirique</a:t>
            </a:r>
            <a:r>
              <a:rPr lang="en-US" sz="1800" dirty="0"/>
              <a:t> .</a:t>
            </a:r>
          </a:p>
          <a:p>
            <a:pPr lvl="0">
              <a:lnSpc>
                <a:spcPct val="150000"/>
              </a:lnSpc>
            </a:pPr>
            <a:r>
              <a:rPr lang="en-US" sz="1800" dirty="0"/>
              <a:t>Pour la </a:t>
            </a:r>
            <a:r>
              <a:rPr lang="en-US" sz="1800" dirty="0" err="1"/>
              <a:t>neutropénie</a:t>
            </a:r>
            <a:r>
              <a:rPr lang="en-US" sz="1800" dirty="0"/>
              <a:t> </a:t>
            </a:r>
            <a:r>
              <a:rPr lang="en-US" sz="1800" dirty="0" err="1"/>
              <a:t>fébrile</a:t>
            </a:r>
            <a:r>
              <a:rPr lang="en-US" sz="1800" dirty="0"/>
              <a:t> </a:t>
            </a:r>
            <a:r>
              <a:rPr lang="en-US" sz="1800" dirty="0" err="1"/>
              <a:t>persistante</a:t>
            </a:r>
            <a:r>
              <a:rPr lang="en-US" sz="1800" dirty="0"/>
              <a:t>, </a:t>
            </a:r>
            <a:r>
              <a:rPr lang="en-US" sz="1800" dirty="0" err="1"/>
              <a:t>il</a:t>
            </a:r>
            <a:r>
              <a:rPr lang="en-US" sz="1800" dirty="0"/>
              <a:t> </a:t>
            </a:r>
            <a:r>
              <a:rPr lang="en-US" sz="1800" dirty="0" err="1"/>
              <a:t>est</a:t>
            </a:r>
            <a:r>
              <a:rPr lang="en-US" sz="1800" dirty="0"/>
              <a:t> </a:t>
            </a:r>
            <a:r>
              <a:rPr lang="en-US" sz="1800" dirty="0" err="1"/>
              <a:t>nécessaire</a:t>
            </a:r>
            <a:r>
              <a:rPr lang="en-US" sz="1800" dirty="0"/>
              <a:t> à </a:t>
            </a:r>
            <a:r>
              <a:rPr lang="en-US" sz="1800" dirty="0" err="1"/>
              <a:t>une</a:t>
            </a:r>
            <a:r>
              <a:rPr lang="en-US" sz="1800" dirty="0"/>
              <a:t> </a:t>
            </a:r>
            <a:r>
              <a:rPr lang="en-US" sz="1800" dirty="0" err="1"/>
              <a:t>réduction</a:t>
            </a:r>
            <a:r>
              <a:rPr lang="en-US" sz="1800" dirty="0"/>
              <a:t> de dose retarder </a:t>
            </a:r>
            <a:r>
              <a:rPr lang="en-US" sz="1800" dirty="0" err="1"/>
              <a:t>diffère</a:t>
            </a:r>
            <a:r>
              <a:rPr lang="en-US" sz="1800" dirty="0"/>
              <a:t> la </a:t>
            </a:r>
            <a:r>
              <a:rPr lang="en-US" sz="1800" dirty="0" err="1"/>
              <a:t>chimiothérapie</a:t>
            </a:r>
            <a:r>
              <a:rPr lang="en-US" sz="1800" dirty="0"/>
              <a:t> </a:t>
            </a:r>
            <a:r>
              <a:rPr lang="en-US" sz="1800" dirty="0" err="1"/>
              <a:t>jusqu’à</a:t>
            </a:r>
            <a:r>
              <a:rPr lang="en-US" sz="1800" dirty="0"/>
              <a:t> la </a:t>
            </a:r>
            <a:r>
              <a:rPr lang="en-US" sz="1800" dirty="0" err="1"/>
              <a:t>récupération</a:t>
            </a:r>
            <a:r>
              <a:rPr lang="en-US" sz="1800" dirty="0"/>
              <a:t> de </a:t>
            </a:r>
            <a:r>
              <a:rPr lang="en-US" sz="1800" dirty="0" err="1"/>
              <a:t>nombre</a:t>
            </a:r>
            <a:r>
              <a:rPr lang="en-US" sz="1800" dirty="0"/>
              <a:t> de </a:t>
            </a:r>
            <a:r>
              <a:rPr lang="en-US" sz="1800" dirty="0" err="1"/>
              <a:t>neutrophiles</a:t>
            </a:r>
            <a:r>
              <a:rPr lang="en-US" sz="1800" dirty="0"/>
              <a:t>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060988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setăText 6"/>
          <p:cNvSpPr txBox="1"/>
          <p:nvPr/>
        </p:nvSpPr>
        <p:spPr>
          <a:xfrm>
            <a:off x="0" y="304800"/>
            <a:ext cx="9144000" cy="1902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0" hangingPunct="0">
              <a:spcAft>
                <a:spcPct val="20000"/>
              </a:spcAft>
            </a:pPr>
            <a:r>
              <a:rPr lang="en-US" sz="2800" b="1" dirty="0"/>
              <a:t>Les </a:t>
            </a:r>
            <a:r>
              <a:rPr lang="en-US" sz="2800" b="1" dirty="0" err="1"/>
              <a:t>recommandations</a:t>
            </a:r>
            <a:r>
              <a:rPr lang="en-US" sz="2800" b="1" dirty="0"/>
              <a:t> </a:t>
            </a:r>
            <a:r>
              <a:rPr lang="en-US" sz="2800" b="1" dirty="0" err="1"/>
              <a:t>sur</a:t>
            </a:r>
            <a:r>
              <a:rPr lang="en-US" sz="2800" b="1" dirty="0"/>
              <a:t> la </a:t>
            </a:r>
            <a:r>
              <a:rPr lang="en-US" sz="2800" b="1" dirty="0" err="1"/>
              <a:t>prophylaxie</a:t>
            </a:r>
            <a:r>
              <a:rPr lang="en-US" sz="2800" b="1" dirty="0"/>
              <a:t> </a:t>
            </a:r>
            <a:r>
              <a:rPr lang="en-US" sz="2800" b="1" dirty="0" err="1"/>
              <a:t>primaire</a:t>
            </a:r>
            <a:r>
              <a:rPr lang="en-US" sz="2800" b="1" dirty="0"/>
              <a:t> et </a:t>
            </a:r>
            <a:r>
              <a:rPr lang="en-US" sz="2800" b="1" dirty="0" err="1"/>
              <a:t>secondaire</a:t>
            </a:r>
            <a:r>
              <a:rPr lang="en-US" sz="2800" b="1" dirty="0"/>
              <a:t> de la </a:t>
            </a:r>
            <a:r>
              <a:rPr lang="en-US" sz="2800" b="1" dirty="0" err="1"/>
              <a:t>neutropénie</a:t>
            </a:r>
            <a:r>
              <a:rPr lang="en-US" sz="2800" b="1" dirty="0"/>
              <a:t> </a:t>
            </a:r>
            <a:r>
              <a:rPr lang="en-US" sz="2800" b="1" dirty="0" err="1"/>
              <a:t>fébrile</a:t>
            </a:r>
            <a:r>
              <a:rPr lang="en-US" sz="2800" b="1" dirty="0"/>
              <a:t> </a:t>
            </a:r>
            <a:r>
              <a:rPr lang="en-US" sz="2800" b="1" dirty="0" err="1"/>
              <a:t>induite</a:t>
            </a:r>
            <a:r>
              <a:rPr lang="en-US" sz="2800" b="1" dirty="0"/>
              <a:t>  par la </a:t>
            </a:r>
            <a:r>
              <a:rPr lang="en-US" sz="2800" b="1" dirty="0" err="1"/>
              <a:t>chimiothérapie</a:t>
            </a:r>
            <a:r>
              <a:rPr lang="en-US" sz="2800" b="1" dirty="0"/>
              <a:t>.</a:t>
            </a:r>
            <a:endParaRPr lang="en-US" sz="2800" dirty="0"/>
          </a:p>
          <a:p>
            <a:pPr lvl="0" algn="ctr" eaLnBrk="0" hangingPunct="0">
              <a:spcAft>
                <a:spcPct val="20000"/>
              </a:spcAft>
            </a:pPr>
            <a:endParaRPr lang="en-US" sz="2800" b="1" kern="0" dirty="0">
              <a:latin typeface="+mj-lt"/>
              <a:ea typeface="Arial" charset="0"/>
              <a:cs typeface="Arial"/>
            </a:endParaRPr>
          </a:p>
        </p:txBody>
      </p:sp>
      <p:pic>
        <p:nvPicPr>
          <p:cNvPr id="23555" name="Imagine 11" descr="Sandoz-01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62000" y="6172200"/>
            <a:ext cx="1327150" cy="155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" y="1828800"/>
            <a:ext cx="8933333" cy="468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7242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9" name="Content Placeholder 1"/>
          <p:cNvSpPr>
            <a:spLocks noGrp="1"/>
          </p:cNvSpPr>
          <p:nvPr>
            <p:ph idx="1"/>
          </p:nvPr>
        </p:nvSpPr>
        <p:spPr>
          <a:xfrm>
            <a:off x="96838" y="1455738"/>
            <a:ext cx="8915400" cy="4602162"/>
          </a:xfrm>
        </p:spPr>
        <p:txBody>
          <a:bodyPr/>
          <a:lstStyle/>
          <a:p>
            <a:pPr marL="0" indent="0" algn="ctr">
              <a:buFontTx/>
              <a:buNone/>
            </a:pPr>
            <a:r>
              <a:rPr lang="fr-FR" sz="2000" dirty="0">
                <a:cs typeface="Arial" charset="0"/>
              </a:rPr>
              <a:t>Administration recommandée 24 à 72 heures après la chimiothérapie</a:t>
            </a:r>
            <a:endParaRPr lang="en-US" sz="2000" dirty="0">
              <a:cs typeface="Arial" charset="0"/>
            </a:endParaRPr>
          </a:p>
        </p:txBody>
      </p:sp>
      <p:pic>
        <p:nvPicPr>
          <p:cNvPr id="317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0" y="2362200"/>
            <a:ext cx="7669213" cy="3844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extBox 1"/>
          <p:cNvSpPr txBox="1"/>
          <p:nvPr/>
        </p:nvSpPr>
        <p:spPr>
          <a:xfrm>
            <a:off x="0" y="443678"/>
            <a:ext cx="9067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/>
              <a:t>Le calendrier de l’administration du G-CSF est essentiel</a:t>
            </a:r>
          </a:p>
          <a:p>
            <a:pPr algn="ctr"/>
            <a:endParaRPr lang="fr-FR" sz="2800" b="1" dirty="0"/>
          </a:p>
          <a:p>
            <a:pPr algn="ctr"/>
            <a:endParaRPr lang="en-US" sz="2800" b="1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setăText 6"/>
          <p:cNvSpPr txBox="1"/>
          <p:nvPr/>
        </p:nvSpPr>
        <p:spPr>
          <a:xfrm>
            <a:off x="0" y="553342"/>
            <a:ext cx="914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/>
              <a:t>Cas clinique 1</a:t>
            </a:r>
            <a:endParaRPr lang="en-US" sz="3600"/>
          </a:p>
        </p:txBody>
      </p:sp>
      <p:sp>
        <p:nvSpPr>
          <p:cNvPr id="31749" name="Content Placeholder 1"/>
          <p:cNvSpPr>
            <a:spLocks noGrp="1"/>
          </p:cNvSpPr>
          <p:nvPr>
            <p:ph idx="1"/>
          </p:nvPr>
        </p:nvSpPr>
        <p:spPr>
          <a:xfrm>
            <a:off x="381000" y="1752600"/>
            <a:ext cx="8763000" cy="4648200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sz="2000" dirty="0">
                <a:cs typeface="Arial" charset="0"/>
              </a:rPr>
              <a:t> </a:t>
            </a:r>
            <a:r>
              <a:rPr lang="en-US" sz="2000" dirty="0" err="1"/>
              <a:t>Malade</a:t>
            </a:r>
            <a:r>
              <a:rPr lang="en-US" sz="2000" dirty="0"/>
              <a:t> de 45 </a:t>
            </a:r>
            <a:r>
              <a:rPr lang="en-US" sz="2000" dirty="0" err="1"/>
              <a:t>ans</a:t>
            </a:r>
            <a:r>
              <a:rPr lang="en-US" sz="2000" dirty="0"/>
              <a:t> d </a:t>
            </a:r>
            <a:r>
              <a:rPr lang="en-US" sz="2000" dirty="0" err="1"/>
              <a:t>âge</a:t>
            </a:r>
            <a:r>
              <a:rPr lang="en-US" sz="2000" dirty="0"/>
              <a:t>, </a:t>
            </a:r>
            <a:r>
              <a:rPr lang="en-US" sz="2000" dirty="0" err="1"/>
              <a:t>homme,mécanicien</a:t>
            </a:r>
            <a:r>
              <a:rPr lang="en-US" sz="2000" dirty="0"/>
              <a:t>,  sans </a:t>
            </a:r>
            <a:r>
              <a:rPr lang="en-US" sz="2000" dirty="0" err="1"/>
              <a:t>comorbidité</a:t>
            </a:r>
            <a:r>
              <a:rPr lang="en-US" sz="2000" dirty="0"/>
              <a:t> </a:t>
            </a:r>
            <a:r>
              <a:rPr lang="en-US" sz="2000" dirty="0" err="1"/>
              <a:t>associé</a:t>
            </a:r>
            <a:r>
              <a:rPr lang="en-US" sz="2000" dirty="0"/>
              <a:t> , non </a:t>
            </a:r>
            <a:r>
              <a:rPr lang="en-US" sz="2000" dirty="0" err="1"/>
              <a:t>fumeur</a:t>
            </a:r>
            <a:r>
              <a:rPr lang="en-US" sz="2000" dirty="0"/>
              <a:t> 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Il </a:t>
            </a:r>
            <a:r>
              <a:rPr lang="en-US" sz="2000" dirty="0" err="1"/>
              <a:t>est</a:t>
            </a:r>
            <a:r>
              <a:rPr lang="en-US" sz="2000" dirty="0"/>
              <a:t> </a:t>
            </a:r>
            <a:r>
              <a:rPr lang="en-US" sz="2000" dirty="0" err="1"/>
              <a:t>récemment</a:t>
            </a:r>
            <a:r>
              <a:rPr lang="en-US" sz="2000" dirty="0"/>
              <a:t> </a:t>
            </a:r>
            <a:r>
              <a:rPr lang="en-US" sz="2000" dirty="0" err="1"/>
              <a:t>diagnostiqué</a:t>
            </a:r>
            <a:r>
              <a:rPr lang="en-US" sz="2000" dirty="0"/>
              <a:t> de cancer </a:t>
            </a:r>
            <a:r>
              <a:rPr lang="en-US" sz="2000" dirty="0" err="1"/>
              <a:t>testiculaire</a:t>
            </a:r>
            <a:r>
              <a:rPr lang="en-US" sz="2000" dirty="0"/>
              <a:t> </a:t>
            </a:r>
            <a:r>
              <a:rPr lang="en-US" sz="2000" dirty="0" err="1"/>
              <a:t>droit</a:t>
            </a:r>
            <a:r>
              <a:rPr lang="en-US" sz="2000" dirty="0"/>
              <a:t> p T1N0M0 STD I </a:t>
            </a:r>
          </a:p>
          <a:p>
            <a:pPr>
              <a:lnSpc>
                <a:spcPct val="200000"/>
              </a:lnSpc>
            </a:pPr>
            <a:r>
              <a:rPr lang="en-US" sz="2000" dirty="0" err="1"/>
              <a:t>Opéré</a:t>
            </a:r>
            <a:r>
              <a:rPr lang="en-US" sz="2000" dirty="0"/>
              <a:t> (</a:t>
            </a:r>
            <a:r>
              <a:rPr lang="en-US" sz="2000" dirty="0" err="1"/>
              <a:t>orchidectmie</a:t>
            </a:r>
            <a:r>
              <a:rPr lang="en-US" sz="2000" dirty="0"/>
              <a:t> haute – 01.03.19 ) 	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Il se </a:t>
            </a:r>
            <a:r>
              <a:rPr lang="en-US" sz="2000" dirty="0" err="1"/>
              <a:t>présente</a:t>
            </a:r>
            <a:r>
              <a:rPr lang="en-US" sz="2000" dirty="0"/>
              <a:t> au service de  consultation </a:t>
            </a:r>
            <a:r>
              <a:rPr lang="en-US" sz="2000" dirty="0" err="1"/>
              <a:t>d’oncologie</a:t>
            </a:r>
            <a:r>
              <a:rPr lang="en-US" sz="2000" dirty="0"/>
              <a:t>  pour </a:t>
            </a:r>
            <a:r>
              <a:rPr lang="en-US" sz="2000" dirty="0" err="1"/>
              <a:t>bilan</a:t>
            </a:r>
            <a:r>
              <a:rPr lang="en-US" sz="2000" dirty="0"/>
              <a:t> pre-</a:t>
            </a:r>
            <a:r>
              <a:rPr lang="en-US" sz="2000" dirty="0" err="1"/>
              <a:t>thérapeutique</a:t>
            </a:r>
            <a:r>
              <a:rPr lang="en-US" sz="2000" dirty="0"/>
              <a:t>   et </a:t>
            </a:r>
            <a:r>
              <a:rPr lang="en-US" sz="2000" dirty="0" err="1"/>
              <a:t>traitement</a:t>
            </a:r>
            <a:r>
              <a:rPr lang="en-US" sz="2000" b="1" dirty="0"/>
              <a:t>. </a:t>
            </a:r>
            <a:endParaRPr lang="en-US" sz="2000" dirty="0"/>
          </a:p>
          <a:p>
            <a:pPr marL="0" indent="0"/>
            <a:endParaRPr lang="en-US" sz="2000" dirty="0">
              <a:cs typeface="Arial" charset="0"/>
            </a:endParaRPr>
          </a:p>
        </p:txBody>
      </p:sp>
      <p:sp>
        <p:nvSpPr>
          <p:cNvPr id="31751" name="Rectangle 2"/>
          <p:cNvSpPr>
            <a:spLocks noChangeArrowheads="1"/>
          </p:cNvSpPr>
          <p:nvPr/>
        </p:nvSpPr>
        <p:spPr bwMode="auto">
          <a:xfrm>
            <a:off x="120650" y="6530975"/>
            <a:ext cx="18473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fr-FR" sz="1200" i="1" dirty="0">
              <a:latin typeface="AGaramond-Italic"/>
            </a:endParaRPr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060988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setăText 6"/>
          <p:cNvSpPr txBox="1"/>
          <p:nvPr/>
        </p:nvSpPr>
        <p:spPr>
          <a:xfrm>
            <a:off x="-381000" y="304800"/>
            <a:ext cx="9144000" cy="870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dirty="0" err="1"/>
              <a:t>Pronostique</a:t>
            </a:r>
            <a:r>
              <a:rPr lang="en-US" sz="3600" b="1" dirty="0"/>
              <a:t>, </a:t>
            </a:r>
            <a:r>
              <a:rPr lang="en-US" sz="3600" b="1" dirty="0" err="1"/>
              <a:t>Traitement</a:t>
            </a:r>
            <a:r>
              <a:rPr lang="en-US" sz="3600" b="1" dirty="0"/>
              <a:t> </a:t>
            </a:r>
            <a:endParaRPr lang="en-US" sz="3600" dirty="0"/>
          </a:p>
          <a:p>
            <a:pPr algn="ctr" fontAlgn="auto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3600" b="1" kern="0" dirty="0">
              <a:latin typeface="+mn-lt"/>
              <a:cs typeface="+mn-cs"/>
            </a:endParaRPr>
          </a:p>
        </p:txBody>
      </p:sp>
      <p:sp>
        <p:nvSpPr>
          <p:cNvPr id="31749" name="Content Placeholder 1"/>
          <p:cNvSpPr>
            <a:spLocks noGrp="1"/>
          </p:cNvSpPr>
          <p:nvPr>
            <p:ph idx="1"/>
          </p:nvPr>
        </p:nvSpPr>
        <p:spPr>
          <a:xfrm>
            <a:off x="609600" y="1752600"/>
            <a:ext cx="8534400" cy="4110950"/>
          </a:xfrm>
        </p:spPr>
        <p:txBody>
          <a:bodyPr>
            <a:norm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 err="1"/>
              <a:t>Maladie</a:t>
            </a:r>
            <a:r>
              <a:rPr lang="en-US" sz="2000" dirty="0"/>
              <a:t> curable 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 err="1"/>
              <a:t>Chimiothérapie</a:t>
            </a:r>
            <a:r>
              <a:rPr lang="en-US" sz="2000" dirty="0"/>
              <a:t> PEB+ FACTOR DE CROISSANCE G-CSF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Debut de </a:t>
            </a:r>
            <a:r>
              <a:rPr lang="en-US" sz="2000" dirty="0" err="1"/>
              <a:t>traitement</a:t>
            </a:r>
            <a:r>
              <a:rPr lang="en-US" sz="2000" dirty="0"/>
              <a:t> le 02-04-19-j1-05.04.19 -j5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PEGFILGRASTIUM le 07-04-19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 err="1"/>
              <a:t>Neutropénie</a:t>
            </a:r>
            <a:r>
              <a:rPr lang="en-US" sz="2000" dirty="0"/>
              <a:t> de 3ème </a:t>
            </a:r>
            <a:r>
              <a:rPr lang="en-US" sz="2000" dirty="0" err="1"/>
              <a:t>degré</a:t>
            </a:r>
            <a:r>
              <a:rPr lang="en-US" sz="2000" dirty="0"/>
              <a:t> ( gr=600/mm°3 ) le 09.04.19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sz="2000" dirty="0">
              <a:cs typeface="Arial" charset="0"/>
            </a:endParaRPr>
          </a:p>
        </p:txBody>
      </p:sp>
      <p:sp>
        <p:nvSpPr>
          <p:cNvPr id="31751" name="Rectangle 2"/>
          <p:cNvSpPr>
            <a:spLocks noChangeArrowheads="1"/>
          </p:cNvSpPr>
          <p:nvPr/>
        </p:nvSpPr>
        <p:spPr bwMode="auto">
          <a:xfrm>
            <a:off x="120650" y="6530975"/>
            <a:ext cx="18473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fr-FR" sz="1200" i="1" dirty="0">
              <a:latin typeface="AGaramond-Italic"/>
            </a:endParaRPr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060988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setăText 6"/>
          <p:cNvSpPr txBox="1"/>
          <p:nvPr/>
        </p:nvSpPr>
        <p:spPr>
          <a:xfrm>
            <a:off x="0" y="533400"/>
            <a:ext cx="9144000" cy="870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dirty="0" err="1"/>
              <a:t>Évolution</a:t>
            </a:r>
            <a:r>
              <a:rPr lang="en-US" sz="3600" b="1" dirty="0"/>
              <a:t> de la </a:t>
            </a:r>
            <a:r>
              <a:rPr lang="en-US" sz="3600" b="1" dirty="0" err="1"/>
              <a:t>neutropénie</a:t>
            </a:r>
            <a:r>
              <a:rPr lang="en-US" sz="3600" dirty="0"/>
              <a:t> </a:t>
            </a:r>
          </a:p>
          <a:p>
            <a:pPr algn="ctr" fontAlgn="auto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3600" b="1" kern="0" dirty="0">
              <a:latin typeface="+mn-lt"/>
              <a:cs typeface="+mn-cs"/>
            </a:endParaRPr>
          </a:p>
        </p:txBody>
      </p:sp>
      <p:sp>
        <p:nvSpPr>
          <p:cNvPr id="31749" name="Content Placeholder 1"/>
          <p:cNvSpPr>
            <a:spLocks noGrp="1"/>
          </p:cNvSpPr>
          <p:nvPr>
            <p:ph idx="1"/>
          </p:nvPr>
        </p:nvSpPr>
        <p:spPr>
          <a:xfrm>
            <a:off x="305381" y="1404088"/>
            <a:ext cx="8763000" cy="5029200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US" sz="1600" dirty="0"/>
              <a:t>J 10  Gr= 400/mm3 (</a:t>
            </a:r>
            <a:r>
              <a:rPr lang="en-US" sz="1600" dirty="0" err="1"/>
              <a:t>neutropénie</a:t>
            </a:r>
            <a:r>
              <a:rPr lang="en-US" sz="1600" dirty="0"/>
              <a:t> </a:t>
            </a:r>
            <a:r>
              <a:rPr lang="en-US" sz="1600" dirty="0" err="1"/>
              <a:t>asymptomatique</a:t>
            </a:r>
            <a:r>
              <a:rPr lang="en-US" sz="1600" dirty="0"/>
              <a:t> )</a:t>
            </a:r>
          </a:p>
          <a:p>
            <a:pPr marL="0" lvl="0" indent="0">
              <a:buNone/>
            </a:pPr>
            <a:r>
              <a:rPr lang="en-US" sz="1600" dirty="0"/>
              <a:t>J12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Fièvre</a:t>
            </a:r>
            <a:endParaRPr lang="en-US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Mucosités</a:t>
            </a:r>
            <a:r>
              <a:rPr lang="en-US" sz="1600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État</a:t>
            </a:r>
            <a:r>
              <a:rPr lang="en-US" sz="1600" dirty="0"/>
              <a:t> </a:t>
            </a:r>
            <a:r>
              <a:rPr lang="en-US" sz="1600" dirty="0" err="1"/>
              <a:t>général</a:t>
            </a:r>
            <a:r>
              <a:rPr lang="en-US" sz="1600" dirty="0"/>
              <a:t> </a:t>
            </a:r>
            <a:r>
              <a:rPr lang="en-US" sz="1600" dirty="0" err="1"/>
              <a:t>altéré</a:t>
            </a:r>
            <a:r>
              <a:rPr lang="en-US" sz="1600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/>
              <a:t>Trouble d alimentation </a:t>
            </a:r>
          </a:p>
          <a:p>
            <a:pPr marL="0" lvl="0" indent="0">
              <a:buNone/>
            </a:pPr>
            <a:r>
              <a:rPr lang="en-US" sz="1600" dirty="0" err="1"/>
              <a:t>Mise</a:t>
            </a:r>
            <a:r>
              <a:rPr lang="en-US" sz="1600" dirty="0"/>
              <a:t> en route de </a:t>
            </a:r>
            <a:r>
              <a:rPr lang="en-US" sz="1600" dirty="0" err="1"/>
              <a:t>traitement</a:t>
            </a:r>
            <a:r>
              <a:rPr lang="en-US" sz="1600" dirty="0"/>
              <a:t> </a:t>
            </a:r>
            <a:r>
              <a:rPr lang="en-US" sz="1600" dirty="0" err="1"/>
              <a:t>antibiotique</a:t>
            </a:r>
            <a:r>
              <a:rPr lang="en-US" sz="1600" dirty="0"/>
              <a:t> </a:t>
            </a:r>
            <a:r>
              <a:rPr lang="en-US" sz="1600" dirty="0" err="1"/>
              <a:t>po</a:t>
            </a:r>
            <a:r>
              <a:rPr lang="en-US" sz="1600" dirty="0"/>
              <a:t> +AINS </a:t>
            </a:r>
          </a:p>
          <a:p>
            <a:pPr marL="0" lvl="0" indent="0">
              <a:buNone/>
            </a:pPr>
            <a:r>
              <a:rPr lang="en-US" sz="1600" dirty="0" err="1"/>
              <a:t>Amélioration</a:t>
            </a:r>
            <a:r>
              <a:rPr lang="en-US" sz="1600" dirty="0"/>
              <a:t> </a:t>
            </a:r>
            <a:r>
              <a:rPr lang="en-US" sz="1600" dirty="0" err="1"/>
              <a:t>partielle</a:t>
            </a:r>
            <a:r>
              <a:rPr lang="en-US" sz="1600" dirty="0"/>
              <a:t> et </a:t>
            </a:r>
            <a:r>
              <a:rPr lang="en-US" sz="1600" dirty="0" err="1"/>
              <a:t>incomplète</a:t>
            </a:r>
            <a:r>
              <a:rPr lang="en-US" sz="1600" dirty="0"/>
              <a:t> </a:t>
            </a:r>
          </a:p>
          <a:p>
            <a:pPr marL="0" lvl="0" indent="0">
              <a:buNone/>
            </a:pPr>
            <a:r>
              <a:rPr lang="en-US" sz="1600" dirty="0"/>
              <a:t>J 13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Hospitalisation</a:t>
            </a:r>
            <a:r>
              <a:rPr lang="en-US" sz="1600" dirty="0"/>
              <a:t> avec </a:t>
            </a:r>
            <a:r>
              <a:rPr lang="en-US" sz="1600" dirty="0" err="1"/>
              <a:t>neutropénie</a:t>
            </a:r>
            <a:r>
              <a:rPr lang="en-US" sz="1600" dirty="0"/>
              <a:t> </a:t>
            </a:r>
            <a:r>
              <a:rPr lang="en-US" sz="1600" dirty="0" err="1"/>
              <a:t>fébrile</a:t>
            </a:r>
            <a:r>
              <a:rPr lang="en-US" sz="1600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/>
              <a:t>ECOG 2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Deshidratation</a:t>
            </a:r>
            <a:r>
              <a:rPr lang="en-US" sz="1600" dirty="0"/>
              <a:t> 10%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Diarrhée</a:t>
            </a:r>
            <a:r>
              <a:rPr lang="en-US" sz="1600" dirty="0"/>
              <a:t> </a:t>
            </a:r>
          </a:p>
          <a:p>
            <a:pPr marL="0" indent="0">
              <a:buNone/>
            </a:pPr>
            <a:endParaRPr lang="en-US" sz="1600" dirty="0">
              <a:cs typeface="Arial" charset="0"/>
            </a:endParaRPr>
          </a:p>
        </p:txBody>
      </p:sp>
      <p:sp>
        <p:nvSpPr>
          <p:cNvPr id="31751" name="Rectangle 2"/>
          <p:cNvSpPr>
            <a:spLocks noChangeArrowheads="1"/>
          </p:cNvSpPr>
          <p:nvPr/>
        </p:nvSpPr>
        <p:spPr bwMode="auto">
          <a:xfrm>
            <a:off x="120650" y="6530975"/>
            <a:ext cx="18473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fr-FR" sz="1200" i="1" dirty="0">
              <a:latin typeface="AGaramond-Italic"/>
            </a:endParaRPr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060988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setăText 6"/>
          <p:cNvSpPr txBox="1"/>
          <p:nvPr/>
        </p:nvSpPr>
        <p:spPr>
          <a:xfrm>
            <a:off x="0" y="553342"/>
            <a:ext cx="9144000" cy="870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dirty="0" err="1"/>
              <a:t>Traitement</a:t>
            </a:r>
            <a:r>
              <a:rPr lang="en-US" sz="3600" b="1" dirty="0"/>
              <a:t>,  </a:t>
            </a:r>
            <a:r>
              <a:rPr lang="en-US" sz="3600" b="1" dirty="0" err="1"/>
              <a:t>évolution</a:t>
            </a:r>
            <a:r>
              <a:rPr lang="en-US" sz="3600" b="1" dirty="0"/>
              <a:t> </a:t>
            </a:r>
            <a:endParaRPr lang="en-US" sz="3600" dirty="0"/>
          </a:p>
          <a:p>
            <a:pPr algn="ctr" fontAlgn="auto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3600" b="1" kern="0" dirty="0">
              <a:latin typeface="+mn-lt"/>
              <a:cs typeface="+mn-cs"/>
            </a:endParaRPr>
          </a:p>
        </p:txBody>
      </p:sp>
      <p:sp>
        <p:nvSpPr>
          <p:cNvPr id="31749" name="Content Placeholder 1"/>
          <p:cNvSpPr>
            <a:spLocks noGrp="1"/>
          </p:cNvSpPr>
          <p:nvPr>
            <p:ph idx="1"/>
          </p:nvPr>
        </p:nvSpPr>
        <p:spPr>
          <a:xfrm>
            <a:off x="304800" y="1752599"/>
            <a:ext cx="8839200" cy="4778375"/>
          </a:xfrm>
          <a:ln>
            <a:noFill/>
          </a:ln>
        </p:spPr>
        <p:txBody>
          <a:bodyPr>
            <a:normAutofit lnSpcReduction="10000"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/>
              <a:t>Asociation</a:t>
            </a:r>
            <a:r>
              <a:rPr lang="en-US" sz="2000" dirty="0"/>
              <a:t> </a:t>
            </a:r>
            <a:r>
              <a:rPr lang="en-US" sz="2000" dirty="0" err="1"/>
              <a:t>antibiotiques</a:t>
            </a:r>
            <a:r>
              <a:rPr lang="en-US" sz="2000" dirty="0"/>
              <a:t> IV- ceftriaxone + </a:t>
            </a:r>
            <a:r>
              <a:rPr lang="en-US" sz="2000" dirty="0" err="1"/>
              <a:t>ciprofloxacine</a:t>
            </a:r>
            <a:r>
              <a:rPr lang="en-US" sz="2000" dirty="0"/>
              <a:t>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/>
              <a:t>Antipyrétiques</a:t>
            </a:r>
            <a:r>
              <a:rPr lang="en-US" sz="2000" dirty="0"/>
              <a:t>,  AINS iv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Correction de </a:t>
            </a:r>
            <a:r>
              <a:rPr lang="en-US" sz="2000" dirty="0" err="1"/>
              <a:t>déséquilibre</a:t>
            </a:r>
            <a:r>
              <a:rPr lang="en-US" sz="2000" dirty="0"/>
              <a:t> H-E en </a:t>
            </a:r>
            <a:r>
              <a:rPr lang="en-US" sz="2000" dirty="0" err="1"/>
              <a:t>pev</a:t>
            </a:r>
            <a:r>
              <a:rPr lang="en-US" sz="2000" dirty="0"/>
              <a:t> + nutrition </a:t>
            </a:r>
            <a:r>
              <a:rPr lang="en-US" sz="2000" dirty="0" err="1"/>
              <a:t>parentérale</a:t>
            </a:r>
            <a:r>
              <a:rPr lang="en-US" sz="2000" dirty="0"/>
              <a:t> </a:t>
            </a:r>
            <a:r>
              <a:rPr lang="en-US" sz="2000" dirty="0" err="1"/>
              <a:t>durant</a:t>
            </a:r>
            <a:r>
              <a:rPr lang="en-US" sz="2000" dirty="0"/>
              <a:t> 2J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La </a:t>
            </a:r>
            <a:r>
              <a:rPr lang="en-US" sz="2000" dirty="0" err="1"/>
              <a:t>fièvre</a:t>
            </a:r>
            <a:r>
              <a:rPr lang="en-US" sz="2000" dirty="0"/>
              <a:t> et l </a:t>
            </a:r>
            <a:r>
              <a:rPr lang="en-US" sz="2000" dirty="0" err="1"/>
              <a:t>l’ensemble</a:t>
            </a:r>
            <a:r>
              <a:rPr lang="en-US" sz="2000" dirty="0"/>
              <a:t> de </a:t>
            </a:r>
            <a:r>
              <a:rPr lang="en-US" sz="2000" dirty="0" err="1"/>
              <a:t>symptomatologie</a:t>
            </a:r>
            <a:r>
              <a:rPr lang="en-US" sz="2000" dirty="0"/>
              <a:t> se </a:t>
            </a:r>
            <a:r>
              <a:rPr lang="en-US" sz="2000" dirty="0" err="1"/>
              <a:t>sont</a:t>
            </a:r>
            <a:r>
              <a:rPr lang="en-US" sz="2000" dirty="0"/>
              <a:t> </a:t>
            </a:r>
            <a:r>
              <a:rPr lang="en-US" sz="2000" dirty="0" err="1"/>
              <a:t>améliorés</a:t>
            </a:r>
            <a:r>
              <a:rPr lang="en-US" sz="2000" dirty="0"/>
              <a:t> après 2 </a:t>
            </a:r>
            <a:r>
              <a:rPr lang="en-US" sz="2000" dirty="0" err="1"/>
              <a:t>jours</a:t>
            </a:r>
            <a:r>
              <a:rPr lang="en-US" sz="2000" dirty="0"/>
              <a:t>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G-CSF </a:t>
            </a:r>
            <a:r>
              <a:rPr lang="en-US" sz="2000" dirty="0" err="1"/>
              <a:t>adm</a:t>
            </a:r>
            <a:r>
              <a:rPr lang="en-US" sz="2000" dirty="0"/>
              <a:t> </a:t>
            </a:r>
            <a:r>
              <a:rPr lang="en-US" sz="2000" dirty="0" err="1"/>
              <a:t>sc</a:t>
            </a:r>
            <a:r>
              <a:rPr lang="en-US" sz="2000" dirty="0"/>
              <a:t>  </a:t>
            </a:r>
            <a:r>
              <a:rPr lang="en-US" sz="2000" dirty="0" err="1"/>
              <a:t>dès</a:t>
            </a:r>
            <a:r>
              <a:rPr lang="en-US" sz="2000" dirty="0"/>
              <a:t> l </a:t>
            </a:r>
            <a:r>
              <a:rPr lang="en-US" sz="2000" dirty="0" err="1"/>
              <a:t>hospitalisation</a:t>
            </a:r>
            <a:r>
              <a:rPr lang="en-US" sz="2000" dirty="0"/>
              <a:t>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/>
              <a:t>Anamnestique</a:t>
            </a:r>
            <a:r>
              <a:rPr lang="en-US" sz="2000" dirty="0"/>
              <a:t> G-CSF  </a:t>
            </a:r>
            <a:r>
              <a:rPr lang="en-US" sz="2000" dirty="0" err="1"/>
              <a:t>administré</a:t>
            </a:r>
            <a:r>
              <a:rPr lang="en-US" sz="2000" dirty="0"/>
              <a:t> </a:t>
            </a:r>
            <a:r>
              <a:rPr lang="en-US" sz="2000" dirty="0" err="1"/>
              <a:t>prophlylactique</a:t>
            </a:r>
            <a:r>
              <a:rPr lang="en-US" sz="2000" dirty="0"/>
              <a:t>  </a:t>
            </a:r>
            <a:r>
              <a:rPr lang="en-US" sz="2000" dirty="0" err="1"/>
              <a:t>jusqu’à</a:t>
            </a:r>
            <a:r>
              <a:rPr lang="en-US" sz="2000" dirty="0"/>
              <a:t> 8j !!!!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/>
              <a:t>Évolution</a:t>
            </a:r>
            <a:r>
              <a:rPr lang="en-US" sz="2000" dirty="0"/>
              <a:t> favorable – 7 </a:t>
            </a:r>
            <a:r>
              <a:rPr lang="en-US" sz="2000" dirty="0" err="1"/>
              <a:t>jours</a:t>
            </a:r>
            <a:r>
              <a:rPr lang="en-US" sz="2000" dirty="0"/>
              <a:t> de </a:t>
            </a:r>
            <a:r>
              <a:rPr lang="en-US" sz="2000" dirty="0" err="1"/>
              <a:t>traitement</a:t>
            </a:r>
            <a:r>
              <a:rPr lang="en-US" sz="2000" dirty="0"/>
              <a:t>, avec </a:t>
            </a:r>
            <a:r>
              <a:rPr lang="en-US" sz="2000" dirty="0" err="1"/>
              <a:t>rémission</a:t>
            </a:r>
            <a:r>
              <a:rPr lang="en-US" sz="2000" dirty="0"/>
              <a:t> </a:t>
            </a:r>
            <a:r>
              <a:rPr lang="en-US" sz="2000" dirty="0" err="1"/>
              <a:t>clinique</a:t>
            </a:r>
            <a:r>
              <a:rPr lang="en-US" sz="2000" dirty="0"/>
              <a:t> et </a:t>
            </a:r>
            <a:r>
              <a:rPr lang="en-US" sz="2000" dirty="0" err="1"/>
              <a:t>biologique</a:t>
            </a:r>
            <a:r>
              <a:rPr lang="en-US" sz="2000" dirty="0"/>
              <a:t> </a:t>
            </a:r>
          </a:p>
          <a:p>
            <a:pPr marL="0" indent="0">
              <a:buFont typeface="Arial" pitchFamily="34" charset="0"/>
              <a:buChar char="•"/>
            </a:pPr>
            <a:endParaRPr lang="en-US" sz="2000" dirty="0">
              <a:cs typeface="Arial" charset="0"/>
            </a:endParaRPr>
          </a:p>
        </p:txBody>
      </p:sp>
      <p:sp>
        <p:nvSpPr>
          <p:cNvPr id="31751" name="Rectangle 2"/>
          <p:cNvSpPr>
            <a:spLocks noChangeArrowheads="1"/>
          </p:cNvSpPr>
          <p:nvPr/>
        </p:nvSpPr>
        <p:spPr bwMode="auto">
          <a:xfrm>
            <a:off x="120650" y="6530975"/>
            <a:ext cx="18473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fr-FR" sz="1200" i="1" dirty="0">
              <a:latin typeface="AGaramond-Italic"/>
            </a:endParaRPr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060988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setăText 6"/>
          <p:cNvSpPr txBox="1"/>
          <p:nvPr/>
        </p:nvSpPr>
        <p:spPr>
          <a:xfrm>
            <a:off x="0" y="553342"/>
            <a:ext cx="9144000" cy="870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dirty="0" err="1"/>
              <a:t>Cas</a:t>
            </a:r>
            <a:r>
              <a:rPr lang="en-US" sz="3600" b="1" dirty="0"/>
              <a:t> </a:t>
            </a:r>
            <a:r>
              <a:rPr lang="en-US" sz="3600" b="1" dirty="0" err="1"/>
              <a:t>clinique</a:t>
            </a:r>
            <a:r>
              <a:rPr lang="en-US" sz="3600" b="1" dirty="0"/>
              <a:t> 2</a:t>
            </a:r>
            <a:endParaRPr lang="en-US" sz="3600" dirty="0"/>
          </a:p>
          <a:p>
            <a:pPr algn="ctr" fontAlgn="auto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3600" b="1" kern="0" dirty="0">
              <a:latin typeface="+mn-lt"/>
              <a:cs typeface="+mn-cs"/>
            </a:endParaRPr>
          </a:p>
        </p:txBody>
      </p:sp>
      <p:sp>
        <p:nvSpPr>
          <p:cNvPr id="31749" name="Content Placeholder 1"/>
          <p:cNvSpPr>
            <a:spLocks noGrp="1"/>
          </p:cNvSpPr>
          <p:nvPr>
            <p:ph idx="1"/>
          </p:nvPr>
        </p:nvSpPr>
        <p:spPr>
          <a:xfrm>
            <a:off x="533400" y="1752600"/>
            <a:ext cx="8610600" cy="4110950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cs typeface="Arial" charset="0"/>
              </a:rPr>
              <a:t> </a:t>
            </a:r>
            <a:r>
              <a:rPr lang="en-US" sz="2000" dirty="0" err="1"/>
              <a:t>Patiente</a:t>
            </a:r>
            <a:r>
              <a:rPr lang="en-US" sz="2000" dirty="0"/>
              <a:t> de 45 </a:t>
            </a:r>
            <a:r>
              <a:rPr lang="en-US" sz="2000" dirty="0" err="1"/>
              <a:t>ans</a:t>
            </a:r>
            <a:r>
              <a:rPr lang="en-US" sz="2000" dirty="0"/>
              <a:t> </a:t>
            </a:r>
            <a:r>
              <a:rPr lang="en-US" sz="2000" dirty="0" err="1"/>
              <a:t>d’âge</a:t>
            </a:r>
            <a:r>
              <a:rPr lang="en-US" sz="2000" dirty="0"/>
              <a:t>,  APP de HTA </a:t>
            </a:r>
            <a:r>
              <a:rPr lang="en-US" sz="2000" dirty="0" err="1"/>
              <a:t>secondaire</a:t>
            </a:r>
            <a:r>
              <a:rPr lang="en-US" sz="2000" dirty="0"/>
              <a:t> </a:t>
            </a:r>
            <a:r>
              <a:rPr lang="en-US" sz="2000" dirty="0" err="1"/>
              <a:t>rénale</a:t>
            </a:r>
            <a:r>
              <a:rPr lang="en-US" sz="2000" dirty="0"/>
              <a:t>,  </a:t>
            </a:r>
            <a:r>
              <a:rPr lang="en-US" sz="2000" dirty="0" err="1"/>
              <a:t>fumeuse</a:t>
            </a:r>
            <a:r>
              <a:rPr lang="en-US" sz="2000" dirty="0"/>
              <a:t> 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 err="1"/>
              <a:t>Diagnostiquée</a:t>
            </a:r>
            <a:r>
              <a:rPr lang="en-US" sz="2000" dirty="0"/>
              <a:t>, </a:t>
            </a:r>
            <a:r>
              <a:rPr lang="en-US" sz="2000" dirty="0" err="1"/>
              <a:t>il</a:t>
            </a:r>
            <a:r>
              <a:rPr lang="en-US" sz="2000" dirty="0"/>
              <a:t> y a  1 an de </a:t>
            </a:r>
            <a:r>
              <a:rPr lang="en-US" sz="2000" dirty="0" err="1"/>
              <a:t>cela</a:t>
            </a:r>
            <a:r>
              <a:rPr lang="en-US" sz="2000" dirty="0"/>
              <a:t>,  de </a:t>
            </a:r>
            <a:r>
              <a:rPr lang="en-US" sz="2000" dirty="0" err="1"/>
              <a:t>carcinome</a:t>
            </a:r>
            <a:r>
              <a:rPr lang="en-US" sz="2000" dirty="0"/>
              <a:t> </a:t>
            </a:r>
            <a:r>
              <a:rPr lang="en-US" sz="2000" dirty="0" err="1"/>
              <a:t>rénal</a:t>
            </a:r>
            <a:r>
              <a:rPr lang="en-US" sz="2000" dirty="0"/>
              <a:t> </a:t>
            </a:r>
            <a:r>
              <a:rPr lang="en-US" sz="2000" dirty="0" err="1"/>
              <a:t>droit</a:t>
            </a:r>
            <a:r>
              <a:rPr lang="en-US" sz="2000" dirty="0"/>
              <a:t>  avec </a:t>
            </a:r>
            <a:r>
              <a:rPr lang="en-US" sz="2000" dirty="0" err="1"/>
              <a:t>métastases</a:t>
            </a:r>
            <a:r>
              <a:rPr lang="en-US" sz="2000" dirty="0"/>
              <a:t> </a:t>
            </a:r>
            <a:r>
              <a:rPr lang="en-US" sz="2000" dirty="0" err="1"/>
              <a:t>osseuses</a:t>
            </a:r>
            <a:r>
              <a:rPr lang="en-US" sz="2000" dirty="0"/>
              <a:t> ( </a:t>
            </a:r>
            <a:r>
              <a:rPr lang="en-US" sz="2000" dirty="0" err="1"/>
              <a:t>colonne</a:t>
            </a:r>
            <a:r>
              <a:rPr lang="en-US" sz="2000" dirty="0"/>
              <a:t> </a:t>
            </a:r>
            <a:r>
              <a:rPr lang="en-US" sz="2000" dirty="0" err="1"/>
              <a:t>vertébrale</a:t>
            </a:r>
            <a:r>
              <a:rPr lang="en-US" sz="2000" dirty="0"/>
              <a:t>). 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 err="1"/>
              <a:t>Traitement</a:t>
            </a:r>
            <a:r>
              <a:rPr lang="en-US" sz="2000" dirty="0"/>
              <a:t> avec </a:t>
            </a:r>
            <a:r>
              <a:rPr lang="en-US" sz="2000" dirty="0" err="1"/>
              <a:t>Sunitinic</a:t>
            </a:r>
            <a:r>
              <a:rPr lang="en-US" sz="2000" dirty="0"/>
              <a:t> 1 </a:t>
            </a:r>
            <a:r>
              <a:rPr lang="en-US" sz="2000" dirty="0" err="1"/>
              <a:t>anne</a:t>
            </a:r>
            <a:endParaRPr lang="en-US" sz="2000" dirty="0"/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18 03.19 </a:t>
            </a:r>
            <a:r>
              <a:rPr lang="en-US" sz="2000" dirty="0" err="1"/>
              <a:t>virose</a:t>
            </a:r>
            <a:r>
              <a:rPr lang="en-US" sz="2000" dirty="0"/>
              <a:t> </a:t>
            </a:r>
            <a:r>
              <a:rPr lang="en-US" sz="2000" dirty="0" err="1"/>
              <a:t>respiratoire</a:t>
            </a:r>
            <a:r>
              <a:rPr lang="en-US" sz="2000" dirty="0"/>
              <a:t> avec </a:t>
            </a:r>
            <a:r>
              <a:rPr lang="en-US" sz="2000" dirty="0" err="1"/>
              <a:t>fièvre</a:t>
            </a:r>
            <a:r>
              <a:rPr lang="en-US" sz="2000" dirty="0"/>
              <a:t>  </a:t>
            </a:r>
            <a:r>
              <a:rPr lang="en-US" sz="2000" dirty="0" err="1"/>
              <a:t>traitée</a:t>
            </a:r>
            <a:r>
              <a:rPr lang="en-US" sz="2000" dirty="0"/>
              <a:t>  </a:t>
            </a:r>
            <a:r>
              <a:rPr lang="en-US" sz="2000" dirty="0" err="1"/>
              <a:t>symptomatique</a:t>
            </a:r>
            <a:r>
              <a:rPr lang="en-US" sz="2000" dirty="0"/>
              <a:t>. 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sz="2000" dirty="0">
              <a:cs typeface="Arial" charset="0"/>
            </a:endParaRPr>
          </a:p>
        </p:txBody>
      </p:sp>
      <p:sp>
        <p:nvSpPr>
          <p:cNvPr id="31751" name="Rectangle 2"/>
          <p:cNvSpPr>
            <a:spLocks noChangeArrowheads="1"/>
          </p:cNvSpPr>
          <p:nvPr/>
        </p:nvSpPr>
        <p:spPr bwMode="auto">
          <a:xfrm>
            <a:off x="120650" y="6530975"/>
            <a:ext cx="18473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fr-FR" sz="1200" i="1" dirty="0">
              <a:latin typeface="AGaramond-Italic"/>
            </a:endParaRPr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060988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setăText 6"/>
          <p:cNvSpPr txBox="1"/>
          <p:nvPr/>
        </p:nvSpPr>
        <p:spPr>
          <a:xfrm>
            <a:off x="0" y="762000"/>
            <a:ext cx="9144000" cy="870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dirty="0" err="1"/>
              <a:t>Évolution</a:t>
            </a:r>
            <a:r>
              <a:rPr lang="en-US" sz="3600" b="1" dirty="0"/>
              <a:t> de </a:t>
            </a:r>
            <a:r>
              <a:rPr lang="en-US" sz="3600" b="1" dirty="0" err="1"/>
              <a:t>symptômes</a:t>
            </a:r>
            <a:endParaRPr lang="en-US" sz="3600" dirty="0"/>
          </a:p>
          <a:p>
            <a:pPr algn="ctr" fontAlgn="auto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3600" b="1" kern="0" dirty="0">
              <a:latin typeface="+mn-lt"/>
              <a:cs typeface="+mn-cs"/>
            </a:endParaRPr>
          </a:p>
        </p:txBody>
      </p:sp>
      <p:sp>
        <p:nvSpPr>
          <p:cNvPr id="31749" name="Content Placeholder 1"/>
          <p:cNvSpPr>
            <a:spLocks noGrp="1"/>
          </p:cNvSpPr>
          <p:nvPr>
            <p:ph idx="1"/>
          </p:nvPr>
        </p:nvSpPr>
        <p:spPr>
          <a:xfrm>
            <a:off x="381000" y="2209800"/>
            <a:ext cx="8382000" cy="4110950"/>
          </a:xfrm>
        </p:spPr>
        <p:txBody>
          <a:bodyPr>
            <a:norm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Après  7 </a:t>
            </a:r>
            <a:r>
              <a:rPr lang="en-US" sz="1800" dirty="0" err="1"/>
              <a:t>jours</a:t>
            </a:r>
            <a:r>
              <a:rPr lang="en-US" sz="1800" dirty="0"/>
              <a:t> de </a:t>
            </a:r>
            <a:r>
              <a:rPr lang="en-US" sz="1800" dirty="0" err="1"/>
              <a:t>traitement</a:t>
            </a:r>
            <a:r>
              <a:rPr lang="en-US" sz="1800" dirty="0"/>
              <a:t> </a:t>
            </a:r>
            <a:r>
              <a:rPr lang="en-US" sz="1800" dirty="0" err="1"/>
              <a:t>symptomatique</a:t>
            </a:r>
            <a:r>
              <a:rPr lang="en-US" sz="1800" dirty="0"/>
              <a:t>, </a:t>
            </a:r>
            <a:r>
              <a:rPr lang="en-US" sz="1800" dirty="0" err="1"/>
              <a:t>il</a:t>
            </a:r>
            <a:r>
              <a:rPr lang="en-US" sz="1800" dirty="0"/>
              <a:t> </a:t>
            </a:r>
            <a:r>
              <a:rPr lang="en-US" sz="1800" dirty="0" err="1"/>
              <a:t>vient</a:t>
            </a:r>
            <a:r>
              <a:rPr lang="en-US" sz="1800" dirty="0"/>
              <a:t>  au service  UPU avec </a:t>
            </a:r>
            <a:r>
              <a:rPr lang="en-US" sz="1800" dirty="0" err="1"/>
              <a:t>une</a:t>
            </a:r>
            <a:r>
              <a:rPr lang="en-US" sz="1800" dirty="0"/>
              <a:t>  </a:t>
            </a:r>
            <a:r>
              <a:rPr lang="en-US" sz="1800" dirty="0" err="1"/>
              <a:t>poussée</a:t>
            </a:r>
            <a:r>
              <a:rPr lang="en-US" sz="1800" dirty="0"/>
              <a:t>  HTA et aggravation des </a:t>
            </a:r>
            <a:r>
              <a:rPr lang="en-US" sz="1800" dirty="0" err="1"/>
              <a:t>symptômes</a:t>
            </a:r>
            <a:r>
              <a:rPr lang="en-US" sz="1800" dirty="0"/>
              <a:t> </a:t>
            </a:r>
            <a:r>
              <a:rPr lang="en-US" sz="1800" dirty="0" err="1"/>
              <a:t>virales</a:t>
            </a:r>
            <a:r>
              <a:rPr lang="en-US" sz="1800" dirty="0"/>
              <a:t> </a:t>
            </a:r>
            <a:r>
              <a:rPr lang="en-US" sz="1800" dirty="0" err="1"/>
              <a:t>respiratoires</a:t>
            </a:r>
            <a:r>
              <a:rPr lang="en-US" sz="1800" dirty="0"/>
              <a:t>,  y </a:t>
            </a:r>
            <a:r>
              <a:rPr lang="en-US" sz="1800" dirty="0" err="1"/>
              <a:t>compris</a:t>
            </a:r>
            <a:r>
              <a:rPr lang="en-US" sz="1800" dirty="0"/>
              <a:t> la </a:t>
            </a:r>
            <a:r>
              <a:rPr lang="en-US" sz="1800" dirty="0" err="1"/>
              <a:t>fièvre</a:t>
            </a:r>
            <a:r>
              <a:rPr lang="en-US" sz="1800" dirty="0"/>
              <a:t>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 err="1"/>
              <a:t>Biologiquement</a:t>
            </a:r>
            <a:r>
              <a:rPr lang="en-US" sz="1800" dirty="0"/>
              <a:t> : L=1400/</a:t>
            </a:r>
            <a:r>
              <a:rPr lang="en-US" sz="1800" dirty="0" err="1"/>
              <a:t>Mme</a:t>
            </a:r>
            <a:r>
              <a:rPr lang="en-US" sz="1800" dirty="0"/>
              <a:t>, Gr=900/mm3, </a:t>
            </a:r>
            <a:r>
              <a:rPr lang="en-US" sz="1800" dirty="0" err="1"/>
              <a:t>Tr</a:t>
            </a:r>
            <a:r>
              <a:rPr lang="en-US" sz="1800" dirty="0"/>
              <a:t>=29000/mm3, </a:t>
            </a:r>
            <a:r>
              <a:rPr lang="en-US" sz="1800" dirty="0" err="1"/>
              <a:t>cr</a:t>
            </a:r>
            <a:r>
              <a:rPr lang="en-US" sz="1800" dirty="0"/>
              <a:t>=1.7 mg%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 err="1"/>
              <a:t>Recommandation</a:t>
            </a:r>
            <a:r>
              <a:rPr lang="en-US" sz="1800" dirty="0"/>
              <a:t> de UPU : </a:t>
            </a:r>
            <a:r>
              <a:rPr lang="en-US" sz="1800" dirty="0" err="1"/>
              <a:t>zinnat</a:t>
            </a:r>
            <a:r>
              <a:rPr lang="en-US" sz="1800" dirty="0"/>
              <a:t> </a:t>
            </a:r>
            <a:r>
              <a:rPr lang="en-US" sz="1800" dirty="0" err="1"/>
              <a:t>po</a:t>
            </a:r>
            <a:r>
              <a:rPr lang="en-US" sz="1800" dirty="0"/>
              <a:t> + continuer le </a:t>
            </a:r>
            <a:r>
              <a:rPr lang="en-US" sz="1800" dirty="0" err="1"/>
              <a:t>traitement</a:t>
            </a:r>
            <a:r>
              <a:rPr lang="en-US" sz="1800" dirty="0"/>
              <a:t> </a:t>
            </a:r>
            <a:r>
              <a:rPr lang="en-US" sz="1800" dirty="0" err="1"/>
              <a:t>symptomatique</a:t>
            </a:r>
            <a:r>
              <a:rPr lang="en-US" sz="1800" dirty="0"/>
              <a:t> + </a:t>
            </a:r>
            <a:r>
              <a:rPr lang="en-US" sz="1800" dirty="0" err="1"/>
              <a:t>diurétique</a:t>
            </a:r>
            <a:r>
              <a:rPr lang="en-US" sz="1800" dirty="0"/>
              <a:t> + anti-HTA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 err="1"/>
              <a:t>Recommandation</a:t>
            </a:r>
            <a:r>
              <a:rPr lang="en-US" sz="1800" dirty="0"/>
              <a:t> </a:t>
            </a:r>
            <a:r>
              <a:rPr lang="en-US" sz="1800" dirty="0" err="1"/>
              <a:t>d'oncologue</a:t>
            </a:r>
            <a:r>
              <a:rPr lang="en-US" sz="1800" dirty="0"/>
              <a:t> – </a:t>
            </a:r>
            <a:r>
              <a:rPr lang="en-US" sz="1800" dirty="0" err="1"/>
              <a:t>arrêt</a:t>
            </a:r>
            <a:r>
              <a:rPr lang="en-US" sz="1800" dirty="0"/>
              <a:t> d </a:t>
            </a:r>
            <a:r>
              <a:rPr lang="en-US" sz="1800" dirty="0" err="1"/>
              <a:t>une</a:t>
            </a:r>
            <a:r>
              <a:rPr lang="en-US" sz="1800" dirty="0"/>
              <a:t> </a:t>
            </a:r>
            <a:r>
              <a:rPr lang="en-US" sz="1800" dirty="0" err="1"/>
              <a:t>semaine</a:t>
            </a:r>
            <a:r>
              <a:rPr lang="en-US" sz="1800" dirty="0"/>
              <a:t> de </a:t>
            </a:r>
            <a:r>
              <a:rPr lang="en-US" sz="1800" dirty="0" err="1"/>
              <a:t>traitement</a:t>
            </a:r>
            <a:r>
              <a:rPr lang="en-US" sz="1800" dirty="0"/>
              <a:t> avec </a:t>
            </a:r>
            <a:r>
              <a:rPr lang="en-US" sz="1800" dirty="0" err="1"/>
              <a:t>Sunitinib</a:t>
            </a:r>
            <a:r>
              <a:rPr lang="en-US" sz="1800" dirty="0"/>
              <a:t>  </a:t>
            </a:r>
            <a:r>
              <a:rPr lang="en-US" sz="1800" dirty="0" err="1"/>
              <a:t>jusqu’à</a:t>
            </a:r>
            <a:r>
              <a:rPr lang="en-US" sz="1800" dirty="0"/>
              <a:t> l </a:t>
            </a:r>
            <a:r>
              <a:rPr lang="en-US" sz="1800" dirty="0" err="1"/>
              <a:t>amélioration</a:t>
            </a:r>
            <a:r>
              <a:rPr lang="en-US" sz="1800" dirty="0"/>
              <a:t> </a:t>
            </a:r>
            <a:r>
              <a:rPr lang="en-US" sz="1800" dirty="0" err="1"/>
              <a:t>clinique</a:t>
            </a:r>
            <a:r>
              <a:rPr lang="en-US" sz="1800" dirty="0"/>
              <a:t> et </a:t>
            </a:r>
            <a:r>
              <a:rPr lang="en-US" sz="1800" dirty="0" err="1"/>
              <a:t>biologique</a:t>
            </a:r>
            <a:r>
              <a:rPr lang="en-US" sz="1800" dirty="0"/>
              <a:t>. </a:t>
            </a:r>
          </a:p>
          <a:p>
            <a:pPr marL="0" indent="0">
              <a:buFont typeface="Arial" pitchFamily="34" charset="0"/>
              <a:buChar char="•"/>
            </a:pPr>
            <a:endParaRPr lang="en-US" sz="1800" dirty="0">
              <a:cs typeface="Arial" charset="0"/>
            </a:endParaRPr>
          </a:p>
        </p:txBody>
      </p:sp>
      <p:sp>
        <p:nvSpPr>
          <p:cNvPr id="31751" name="Rectangle 2"/>
          <p:cNvSpPr>
            <a:spLocks noChangeArrowheads="1"/>
          </p:cNvSpPr>
          <p:nvPr/>
        </p:nvSpPr>
        <p:spPr bwMode="auto">
          <a:xfrm>
            <a:off x="120650" y="6530975"/>
            <a:ext cx="18473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fr-FR" sz="1200" i="1" dirty="0">
              <a:latin typeface="AGaramond-Italic"/>
            </a:endParaRPr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060988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setăText 6"/>
          <p:cNvSpPr txBox="1"/>
          <p:nvPr/>
        </p:nvSpPr>
        <p:spPr>
          <a:xfrm>
            <a:off x="93756" y="553342"/>
            <a:ext cx="9050244" cy="1255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fr-FR" sz="3600" b="1" kern="0" dirty="0">
                <a:latin typeface="+mn-lt"/>
                <a:cs typeface="+mn-cs"/>
              </a:rPr>
              <a:t>Pronostic, évolution de la neutropénie </a:t>
            </a:r>
          </a:p>
          <a:p>
            <a:pPr algn="ctr" fontAlgn="auto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fr-FR" sz="3600" b="1" kern="0" dirty="0">
              <a:latin typeface="+mn-lt"/>
              <a:cs typeface="+mn-cs"/>
            </a:endParaRPr>
          </a:p>
          <a:p>
            <a:pPr algn="ctr" fontAlgn="auto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3600" b="1" kern="0" dirty="0">
              <a:latin typeface="+mn-lt"/>
              <a:cs typeface="+mn-cs"/>
            </a:endParaRPr>
          </a:p>
        </p:txBody>
      </p:sp>
      <p:sp>
        <p:nvSpPr>
          <p:cNvPr id="31749" name="Content Placeholder 1"/>
          <p:cNvSpPr>
            <a:spLocks noGrp="1"/>
          </p:cNvSpPr>
          <p:nvPr>
            <p:ph idx="1"/>
          </p:nvPr>
        </p:nvSpPr>
        <p:spPr>
          <a:xfrm>
            <a:off x="304800" y="1752600"/>
            <a:ext cx="8458200" cy="4648200"/>
          </a:xfrm>
        </p:spPr>
        <p:txBody>
          <a:bodyPr>
            <a:noAutofit/>
          </a:bodyPr>
          <a:lstStyle/>
          <a:p>
            <a:pPr marL="0" indent="0">
              <a:buFont typeface="Arial" pitchFamily="34" charset="0"/>
              <a:buChar char="•"/>
            </a:pPr>
            <a:r>
              <a:rPr lang="en-US" sz="1800" dirty="0">
                <a:cs typeface="Arial" charset="0"/>
              </a:rPr>
              <a:t> </a:t>
            </a:r>
            <a:r>
              <a:rPr lang="en-US" sz="1800" dirty="0" err="1">
                <a:cs typeface="Arial" charset="0"/>
              </a:rPr>
              <a:t>maladie</a:t>
            </a:r>
            <a:r>
              <a:rPr lang="en-US" sz="1800" dirty="0">
                <a:cs typeface="Arial" charset="0"/>
              </a:rPr>
              <a:t> </a:t>
            </a:r>
            <a:r>
              <a:rPr lang="en-US" sz="1800" dirty="0" err="1">
                <a:cs typeface="Arial" charset="0"/>
              </a:rPr>
              <a:t>osseuse</a:t>
            </a:r>
            <a:r>
              <a:rPr lang="en-US" sz="1800" dirty="0">
                <a:cs typeface="Arial" charset="0"/>
              </a:rPr>
              <a:t> </a:t>
            </a:r>
            <a:r>
              <a:rPr lang="en-US" sz="1800" dirty="0" err="1">
                <a:cs typeface="Arial" charset="0"/>
              </a:rPr>
              <a:t>métastatique</a:t>
            </a:r>
            <a:r>
              <a:rPr lang="en-US" sz="1800" dirty="0">
                <a:cs typeface="Arial" charset="0"/>
              </a:rPr>
              <a:t>, </a:t>
            </a:r>
            <a:r>
              <a:rPr lang="en-US" sz="1800" dirty="0" err="1">
                <a:cs typeface="Arial" charset="0"/>
              </a:rPr>
              <a:t>mauvais</a:t>
            </a:r>
            <a:r>
              <a:rPr lang="en-US" sz="1800" dirty="0">
                <a:cs typeface="Arial" charset="0"/>
              </a:rPr>
              <a:t> </a:t>
            </a:r>
            <a:r>
              <a:rPr lang="en-US" sz="1800" dirty="0" err="1">
                <a:cs typeface="Arial" charset="0"/>
              </a:rPr>
              <a:t>pronostic</a:t>
            </a:r>
            <a:r>
              <a:rPr lang="en-US" sz="1800" dirty="0">
                <a:cs typeface="Arial" charset="0"/>
              </a:rPr>
              <a:t> </a:t>
            </a:r>
          </a:p>
          <a:p>
            <a:pPr marL="0" indent="0">
              <a:buFont typeface="Arial" pitchFamily="34" charset="0"/>
              <a:buChar char="•"/>
            </a:pPr>
            <a:r>
              <a:rPr lang="en-US" sz="1800" dirty="0" err="1">
                <a:cs typeface="Arial" charset="0"/>
              </a:rPr>
              <a:t>traitement</a:t>
            </a:r>
            <a:r>
              <a:rPr lang="en-US" sz="1800" dirty="0">
                <a:cs typeface="Arial" charset="0"/>
              </a:rPr>
              <a:t> </a:t>
            </a:r>
            <a:r>
              <a:rPr lang="en-US" sz="1800" dirty="0" err="1">
                <a:cs typeface="Arial" charset="0"/>
              </a:rPr>
              <a:t>palliatif</a:t>
            </a:r>
            <a:r>
              <a:rPr lang="en-US" sz="1800" dirty="0">
                <a:cs typeface="Arial" charset="0"/>
              </a:rPr>
              <a:t> avec bisphosphonates et </a:t>
            </a:r>
            <a:r>
              <a:rPr lang="en-US" sz="1800" dirty="0" err="1">
                <a:cs typeface="Arial" charset="0"/>
              </a:rPr>
              <a:t>thérapie</a:t>
            </a:r>
            <a:r>
              <a:rPr lang="en-US" sz="1800" dirty="0">
                <a:cs typeface="Arial" charset="0"/>
              </a:rPr>
              <a:t> </a:t>
            </a:r>
            <a:r>
              <a:rPr lang="en-US" sz="1800" dirty="0" err="1">
                <a:cs typeface="Arial" charset="0"/>
              </a:rPr>
              <a:t>ciblée</a:t>
            </a:r>
            <a:r>
              <a:rPr lang="en-US" sz="1800" dirty="0">
                <a:cs typeface="Arial" charset="0"/>
              </a:rPr>
              <a:t>; </a:t>
            </a:r>
            <a:r>
              <a:rPr lang="en-US" sz="1800" dirty="0" err="1">
                <a:cs typeface="Arial" charset="0"/>
              </a:rPr>
              <a:t>neutropénie</a:t>
            </a:r>
            <a:r>
              <a:rPr lang="en-US" sz="1800" dirty="0">
                <a:cs typeface="Arial" charset="0"/>
              </a:rPr>
              <a:t> </a:t>
            </a:r>
            <a:r>
              <a:rPr lang="en-US" sz="1800" dirty="0" err="1">
                <a:cs typeface="Arial" charset="0"/>
              </a:rPr>
              <a:t>modérée</a:t>
            </a:r>
            <a:r>
              <a:rPr lang="en-US" sz="1800" dirty="0">
                <a:cs typeface="Arial" charset="0"/>
              </a:rPr>
              <a:t> </a:t>
            </a:r>
          </a:p>
          <a:p>
            <a:pPr marL="0" indent="0">
              <a:buFont typeface="Arial" pitchFamily="34" charset="0"/>
              <a:buChar char="•"/>
            </a:pPr>
            <a:r>
              <a:rPr lang="en-US" sz="1800" dirty="0">
                <a:cs typeface="Arial" charset="0"/>
              </a:rPr>
              <a:t>après 5 </a:t>
            </a:r>
            <a:r>
              <a:rPr lang="en-US" sz="1800" dirty="0" err="1">
                <a:cs typeface="Arial" charset="0"/>
              </a:rPr>
              <a:t>jours</a:t>
            </a:r>
            <a:r>
              <a:rPr lang="en-US" sz="1800" dirty="0">
                <a:cs typeface="Arial" charset="0"/>
              </a:rPr>
              <a:t> de </a:t>
            </a:r>
            <a:r>
              <a:rPr lang="en-US" sz="1800" dirty="0" err="1">
                <a:cs typeface="Arial" charset="0"/>
              </a:rPr>
              <a:t>traitement</a:t>
            </a:r>
            <a:r>
              <a:rPr lang="en-US" sz="1800" dirty="0">
                <a:cs typeface="Arial" charset="0"/>
              </a:rPr>
              <a:t>. la </a:t>
            </a:r>
            <a:r>
              <a:rPr lang="en-US" sz="1800" dirty="0" err="1">
                <a:cs typeface="Arial" charset="0"/>
              </a:rPr>
              <a:t>fièvre</a:t>
            </a:r>
            <a:r>
              <a:rPr lang="en-US" sz="1800" dirty="0">
                <a:cs typeface="Arial" charset="0"/>
              </a:rPr>
              <a:t> </a:t>
            </a:r>
            <a:r>
              <a:rPr lang="en-US" sz="1800" dirty="0" err="1">
                <a:cs typeface="Arial" charset="0"/>
              </a:rPr>
              <a:t>antibiotique</a:t>
            </a:r>
            <a:r>
              <a:rPr lang="en-US" sz="1800" dirty="0">
                <a:cs typeface="Arial" charset="0"/>
              </a:rPr>
              <a:t> </a:t>
            </a:r>
            <a:r>
              <a:rPr lang="en-US" sz="1800" dirty="0" err="1">
                <a:cs typeface="Arial" charset="0"/>
              </a:rPr>
              <a:t>orale</a:t>
            </a:r>
            <a:r>
              <a:rPr lang="en-US" sz="1800" dirty="0">
                <a:cs typeface="Arial" charset="0"/>
              </a:rPr>
              <a:t> </a:t>
            </a:r>
            <a:r>
              <a:rPr lang="en-US" sz="1800" dirty="0" err="1">
                <a:cs typeface="Arial" charset="0"/>
              </a:rPr>
              <a:t>conservatrice</a:t>
            </a:r>
            <a:r>
              <a:rPr lang="en-US" sz="1800" dirty="0">
                <a:cs typeface="Arial" charset="0"/>
              </a:rPr>
              <a:t> &gt; 38 </a:t>
            </a:r>
            <a:r>
              <a:rPr lang="en-US" sz="1800" dirty="0" err="1">
                <a:cs typeface="Arial" charset="0"/>
              </a:rPr>
              <a:t>persiste</a:t>
            </a:r>
            <a:r>
              <a:rPr lang="en-US" sz="1800" dirty="0">
                <a:cs typeface="Arial" charset="0"/>
              </a:rPr>
              <a:t> et les </a:t>
            </a:r>
            <a:r>
              <a:rPr lang="en-US" sz="1800" dirty="0" err="1">
                <a:cs typeface="Arial" charset="0"/>
              </a:rPr>
              <a:t>symptômes</a:t>
            </a:r>
            <a:r>
              <a:rPr lang="en-US" sz="1800" dirty="0">
                <a:cs typeface="Arial" charset="0"/>
              </a:rPr>
              <a:t> </a:t>
            </a:r>
            <a:r>
              <a:rPr lang="en-US" sz="1800" dirty="0" err="1">
                <a:cs typeface="Arial" charset="0"/>
              </a:rPr>
              <a:t>infectieux</a:t>
            </a:r>
            <a:r>
              <a:rPr lang="en-US" sz="1800" dirty="0">
                <a:cs typeface="Arial" charset="0"/>
              </a:rPr>
              <a:t> </a:t>
            </a:r>
            <a:r>
              <a:rPr lang="en-US" sz="1800" dirty="0" err="1">
                <a:cs typeface="Arial" charset="0"/>
              </a:rPr>
              <a:t>s’aggravent</a:t>
            </a:r>
            <a:r>
              <a:rPr lang="en-US" sz="1800" dirty="0">
                <a:cs typeface="Arial" charset="0"/>
              </a:rPr>
              <a:t>, ECOG 2, </a:t>
            </a:r>
            <a:r>
              <a:rPr lang="en-US" sz="1800" dirty="0" err="1">
                <a:cs typeface="Arial" charset="0"/>
              </a:rPr>
              <a:t>déshydratation</a:t>
            </a:r>
            <a:r>
              <a:rPr lang="en-US" sz="1800" dirty="0">
                <a:cs typeface="Arial" charset="0"/>
              </a:rPr>
              <a:t>, </a:t>
            </a:r>
            <a:r>
              <a:rPr lang="en-US" sz="1800" dirty="0" err="1">
                <a:cs typeface="Arial" charset="0"/>
              </a:rPr>
              <a:t>œdème</a:t>
            </a:r>
            <a:endParaRPr lang="en-US" sz="1800" dirty="0">
              <a:cs typeface="Arial" charset="0"/>
            </a:endParaRPr>
          </a:p>
          <a:p>
            <a:pPr marL="0" indent="0">
              <a:buFont typeface="Arial" pitchFamily="34" charset="0"/>
              <a:buChar char="•"/>
            </a:pPr>
            <a:r>
              <a:rPr lang="en-US" sz="1800" dirty="0">
                <a:cs typeface="Arial" charset="0"/>
              </a:rPr>
              <a:t>6e jour - admission en </a:t>
            </a:r>
            <a:r>
              <a:rPr lang="en-US" sz="1800" dirty="0" err="1">
                <a:cs typeface="Arial" charset="0"/>
              </a:rPr>
              <a:t>oncologie</a:t>
            </a:r>
            <a:r>
              <a:rPr lang="en-US" sz="1800" dirty="0">
                <a:cs typeface="Arial" charset="0"/>
              </a:rPr>
              <a:t> – Cr=2,3 mg%, Gr=80/mm3, </a:t>
            </a:r>
            <a:r>
              <a:rPr lang="en-US" sz="1800" dirty="0" err="1">
                <a:cs typeface="Arial" charset="0"/>
              </a:rPr>
              <a:t>Tr</a:t>
            </a:r>
            <a:r>
              <a:rPr lang="en-US" sz="1800" dirty="0">
                <a:cs typeface="Arial" charset="0"/>
              </a:rPr>
              <a:t>=30 000/mm3</a:t>
            </a:r>
          </a:p>
          <a:p>
            <a:pPr marL="0" indent="0">
              <a:buFont typeface="Arial" pitchFamily="34" charset="0"/>
              <a:buChar char="•"/>
            </a:pPr>
            <a:r>
              <a:rPr lang="en-US" sz="1800" dirty="0" err="1">
                <a:cs typeface="Arial" charset="0"/>
              </a:rPr>
              <a:t>cliniquement</a:t>
            </a:r>
            <a:r>
              <a:rPr lang="en-US" sz="1800" dirty="0">
                <a:cs typeface="Arial" charset="0"/>
              </a:rPr>
              <a:t> à </a:t>
            </a:r>
            <a:r>
              <a:rPr lang="en-US" sz="1800" dirty="0" err="1">
                <a:cs typeface="Arial" charset="0"/>
              </a:rPr>
              <a:t>l’admission</a:t>
            </a:r>
            <a:r>
              <a:rPr lang="en-US" sz="1800" dirty="0">
                <a:cs typeface="Arial" charset="0"/>
              </a:rPr>
              <a:t>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800" dirty="0">
                <a:cs typeface="Arial" charset="0"/>
              </a:rPr>
              <a:t> ECOG 2/3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800" dirty="0">
                <a:cs typeface="Arial" charset="0"/>
              </a:rPr>
              <a:t> </a:t>
            </a:r>
            <a:r>
              <a:rPr lang="en-US" sz="1800" dirty="0" err="1">
                <a:cs typeface="Arial" charset="0"/>
              </a:rPr>
              <a:t>déshydratation</a:t>
            </a:r>
            <a:r>
              <a:rPr lang="en-US" sz="1800" dirty="0">
                <a:cs typeface="Arial" charset="0"/>
              </a:rPr>
              <a:t> 15%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800" dirty="0">
                <a:cs typeface="Arial" charset="0"/>
              </a:rPr>
              <a:t> augmentation des </a:t>
            </a:r>
            <a:r>
              <a:rPr lang="en-US" sz="1800" dirty="0" err="1">
                <a:cs typeface="Arial" charset="0"/>
              </a:rPr>
              <a:t>valeurs</a:t>
            </a:r>
            <a:r>
              <a:rPr lang="en-US" sz="1800" dirty="0">
                <a:cs typeface="Arial" charset="0"/>
              </a:rPr>
              <a:t> TA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800" dirty="0">
                <a:cs typeface="Arial" charset="0"/>
              </a:rPr>
              <a:t> </a:t>
            </a:r>
            <a:r>
              <a:rPr lang="en-US" sz="1800" dirty="0" err="1">
                <a:cs typeface="Arial" charset="0"/>
              </a:rPr>
              <a:t>fièvre</a:t>
            </a:r>
            <a:r>
              <a:rPr lang="en-US" sz="1800" dirty="0">
                <a:cs typeface="Arial" charset="0"/>
              </a:rPr>
              <a:t> 39</a:t>
            </a:r>
          </a:p>
          <a:p>
            <a:pPr marL="0" indent="0">
              <a:buFont typeface="Arial" pitchFamily="34" charset="0"/>
              <a:buChar char="•"/>
            </a:pPr>
            <a:endParaRPr lang="en-US" sz="1800" dirty="0">
              <a:cs typeface="Arial" charset="0"/>
            </a:endParaRPr>
          </a:p>
          <a:p>
            <a:pPr marL="0" indent="0">
              <a:buFont typeface="Arial" pitchFamily="34" charset="0"/>
              <a:buChar char="•"/>
            </a:pPr>
            <a:endParaRPr lang="en-US" sz="1800" dirty="0">
              <a:cs typeface="Arial" charset="0"/>
            </a:endParaRPr>
          </a:p>
        </p:txBody>
      </p:sp>
      <p:sp>
        <p:nvSpPr>
          <p:cNvPr id="31751" name="Rectangle 2"/>
          <p:cNvSpPr>
            <a:spLocks noChangeArrowheads="1"/>
          </p:cNvSpPr>
          <p:nvPr/>
        </p:nvSpPr>
        <p:spPr bwMode="auto">
          <a:xfrm>
            <a:off x="120650" y="6530975"/>
            <a:ext cx="18473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fr-FR" sz="1200" i="1" dirty="0">
              <a:latin typeface="AGaramond-Italic"/>
            </a:endParaRPr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060988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setăText 6"/>
          <p:cNvSpPr txBox="1"/>
          <p:nvPr/>
        </p:nvSpPr>
        <p:spPr>
          <a:xfrm>
            <a:off x="0" y="553342"/>
            <a:ext cx="9144000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fr-FR" sz="3200" b="1" kern="0" dirty="0">
                <a:latin typeface="+mn-lt"/>
                <a:cs typeface="+mn-cs"/>
              </a:rPr>
              <a:t>Traitement de la neutropénie fébrile, évolution</a:t>
            </a:r>
          </a:p>
          <a:p>
            <a:pPr algn="ctr" fontAlgn="auto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fr-FR" sz="3200" b="1" kern="0" dirty="0">
              <a:latin typeface="+mn-lt"/>
              <a:cs typeface="+mn-cs"/>
            </a:endParaRPr>
          </a:p>
          <a:p>
            <a:pPr algn="ctr" fontAlgn="auto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3200" b="1" kern="0" dirty="0">
              <a:latin typeface="+mn-lt"/>
              <a:cs typeface="+mn-cs"/>
            </a:endParaRPr>
          </a:p>
        </p:txBody>
      </p:sp>
      <p:sp>
        <p:nvSpPr>
          <p:cNvPr id="31749" name="Content Placeholder 1"/>
          <p:cNvSpPr>
            <a:spLocks noGrp="1"/>
          </p:cNvSpPr>
          <p:nvPr>
            <p:ph idx="1"/>
          </p:nvPr>
        </p:nvSpPr>
        <p:spPr>
          <a:xfrm>
            <a:off x="457200" y="1752600"/>
            <a:ext cx="8305800" cy="4110950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buFont typeface="Arial" pitchFamily="34" charset="0"/>
              <a:buChar char="•"/>
            </a:pPr>
            <a:r>
              <a:rPr lang="en-US" sz="1800" dirty="0">
                <a:cs typeface="Arial" charset="0"/>
              </a:rPr>
              <a:t>  </a:t>
            </a:r>
            <a:r>
              <a:rPr lang="fr-FR" sz="1800" dirty="0">
                <a:cs typeface="Arial" charset="0"/>
              </a:rPr>
              <a:t>combinaison antibiotique iv - </a:t>
            </a:r>
            <a:r>
              <a:rPr lang="fr-FR" sz="1800" dirty="0" err="1">
                <a:cs typeface="Arial" charset="0"/>
              </a:rPr>
              <a:t>Ceftriaxone</a:t>
            </a:r>
            <a:r>
              <a:rPr lang="fr-FR" sz="1800" dirty="0">
                <a:cs typeface="Arial" charset="0"/>
              </a:rPr>
              <a:t> + Ciprofloxacine</a:t>
            </a:r>
          </a:p>
          <a:p>
            <a:pPr marL="0" indent="0">
              <a:buFont typeface="Arial" pitchFamily="34" charset="0"/>
              <a:buChar char="•"/>
            </a:pPr>
            <a:r>
              <a:rPr lang="fr-FR" sz="1800" dirty="0">
                <a:cs typeface="Arial" charset="0"/>
              </a:rPr>
              <a:t>  antipyrétiques, AINS iv, anti HTA, diurétiques, transfusion de masse </a:t>
            </a:r>
            <a:r>
              <a:rPr lang="fr-FR" sz="1800" dirty="0" err="1">
                <a:cs typeface="Arial" charset="0"/>
              </a:rPr>
              <a:t>plaquettette</a:t>
            </a:r>
            <a:endParaRPr lang="fr-FR" sz="1800" dirty="0">
              <a:cs typeface="Arial" charset="0"/>
            </a:endParaRPr>
          </a:p>
          <a:p>
            <a:pPr marL="0" indent="0">
              <a:buFont typeface="Arial" pitchFamily="34" charset="0"/>
              <a:buChar char="•"/>
            </a:pPr>
            <a:r>
              <a:rPr lang="fr-FR" sz="1800" dirty="0">
                <a:cs typeface="Arial" charset="0"/>
              </a:rPr>
              <a:t>  correction des déséquilibres du </a:t>
            </a:r>
            <a:r>
              <a:rPr lang="fr-FR" sz="1800" dirty="0" err="1">
                <a:cs typeface="Arial" charset="0"/>
              </a:rPr>
              <a:t>pev</a:t>
            </a:r>
            <a:r>
              <a:rPr lang="fr-FR" sz="1800" dirty="0">
                <a:cs typeface="Arial" charset="0"/>
              </a:rPr>
              <a:t> H-E et de la nutrition parentérale </a:t>
            </a:r>
          </a:p>
          <a:p>
            <a:pPr marL="0" indent="0">
              <a:buFont typeface="Arial" pitchFamily="34" charset="0"/>
              <a:buChar char="•"/>
            </a:pPr>
            <a:endParaRPr lang="fr-FR" sz="1800" dirty="0">
              <a:cs typeface="Arial" charset="0"/>
            </a:endParaRPr>
          </a:p>
          <a:p>
            <a:pPr marL="0" indent="0">
              <a:buFont typeface="Arial" pitchFamily="34" charset="0"/>
              <a:buChar char="•"/>
            </a:pPr>
            <a:r>
              <a:rPr lang="fr-FR" sz="1800" dirty="0">
                <a:cs typeface="Arial" charset="0"/>
              </a:rPr>
              <a:t>fièvre et l’ensemble de la symptomatologie ne s’est améliorée qu’après 4 jours</a:t>
            </a:r>
          </a:p>
          <a:p>
            <a:pPr marL="0" indent="0">
              <a:buFont typeface="Arial" pitchFamily="34" charset="0"/>
              <a:buChar char="•"/>
            </a:pPr>
            <a:r>
              <a:rPr lang="fr-FR" sz="1800" dirty="0">
                <a:cs typeface="Arial" charset="0"/>
              </a:rPr>
              <a:t>  C-GSF administré </a:t>
            </a:r>
            <a:r>
              <a:rPr lang="fr-FR" sz="1800" dirty="0" err="1">
                <a:cs typeface="Arial" charset="0"/>
              </a:rPr>
              <a:t>sc</a:t>
            </a:r>
            <a:r>
              <a:rPr lang="fr-FR" sz="1800" dirty="0">
                <a:cs typeface="Arial" charset="0"/>
              </a:rPr>
              <a:t> de l’admission 14 jours </a:t>
            </a:r>
          </a:p>
          <a:p>
            <a:pPr marL="0" indent="0">
              <a:buFont typeface="Arial" pitchFamily="34" charset="0"/>
              <a:buChar char="•"/>
            </a:pPr>
            <a:r>
              <a:rPr lang="fr-FR" sz="1800" dirty="0">
                <a:cs typeface="Arial" charset="0"/>
              </a:rPr>
              <a:t>  Gr = 5/mm3 à l’entrée et est resté à cette valeur maximale 7 jours</a:t>
            </a:r>
          </a:p>
          <a:p>
            <a:pPr marL="0" indent="0">
              <a:buFont typeface="Arial" pitchFamily="34" charset="0"/>
              <a:buChar char="•"/>
            </a:pPr>
            <a:r>
              <a:rPr lang="fr-FR" sz="1800" dirty="0">
                <a:cs typeface="Arial" charset="0"/>
              </a:rPr>
              <a:t>  évolution - après 7 jours de traitement neutrophiles ont commencé à augmenter; 14 jours ont atteint la valeur normale</a:t>
            </a:r>
          </a:p>
          <a:p>
            <a:pPr marL="0" indent="0">
              <a:buFont typeface="Arial" pitchFamily="34" charset="0"/>
              <a:buChar char="•"/>
            </a:pPr>
            <a:endParaRPr lang="fr-FR" sz="1800" dirty="0">
              <a:cs typeface="Arial" charset="0"/>
            </a:endParaRPr>
          </a:p>
          <a:p>
            <a:pPr marL="0" indent="0">
              <a:buFont typeface="Arial" pitchFamily="34" charset="0"/>
              <a:buChar char="•"/>
            </a:pPr>
            <a:endParaRPr lang="en-US" sz="1800" dirty="0">
              <a:cs typeface="Arial" charset="0"/>
            </a:endParaRPr>
          </a:p>
        </p:txBody>
      </p:sp>
      <p:sp>
        <p:nvSpPr>
          <p:cNvPr id="31751" name="Rectangle 2"/>
          <p:cNvSpPr>
            <a:spLocks noChangeArrowheads="1"/>
          </p:cNvSpPr>
          <p:nvPr/>
        </p:nvSpPr>
        <p:spPr bwMode="auto">
          <a:xfrm>
            <a:off x="120650" y="6530975"/>
            <a:ext cx="18473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fr-FR" sz="1200" i="1" dirty="0">
              <a:latin typeface="AGaramond-Italic"/>
            </a:endParaRPr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060988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setăText 6"/>
          <p:cNvSpPr txBox="1"/>
          <p:nvPr/>
        </p:nvSpPr>
        <p:spPr>
          <a:xfrm>
            <a:off x="0" y="553342"/>
            <a:ext cx="9144000" cy="1255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fr-FR" sz="3600" b="1" kern="0" dirty="0">
                <a:latin typeface="+mn-lt"/>
                <a:cs typeface="+mn-cs"/>
              </a:rPr>
              <a:t>Conclusions dans les cas cliniques</a:t>
            </a:r>
          </a:p>
          <a:p>
            <a:pPr algn="ctr" fontAlgn="auto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fr-FR" sz="3600" b="1" kern="0" dirty="0">
              <a:latin typeface="+mn-lt"/>
              <a:cs typeface="+mn-cs"/>
            </a:endParaRPr>
          </a:p>
          <a:p>
            <a:pPr algn="ctr" fontAlgn="auto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3600" b="1" kern="0" dirty="0">
              <a:latin typeface="+mn-lt"/>
              <a:cs typeface="+mn-cs"/>
            </a:endParaRPr>
          </a:p>
        </p:txBody>
      </p:sp>
      <p:sp>
        <p:nvSpPr>
          <p:cNvPr id="31749" name="Content Placeholder 1"/>
          <p:cNvSpPr>
            <a:spLocks noGrp="1"/>
          </p:cNvSpPr>
          <p:nvPr>
            <p:ph idx="1"/>
          </p:nvPr>
        </p:nvSpPr>
        <p:spPr>
          <a:xfrm>
            <a:off x="0" y="1828800"/>
            <a:ext cx="9144000" cy="4705291"/>
          </a:xfrm>
        </p:spPr>
        <p:txBody>
          <a:bodyPr>
            <a:normAutofit/>
          </a:bodyPr>
          <a:lstStyle/>
          <a:p>
            <a:pPr marL="468000" indent="-144000">
              <a:lnSpc>
                <a:spcPct val="150000"/>
              </a:lnSpc>
              <a:spcBef>
                <a:spcPts val="0"/>
              </a:spcBef>
              <a:buFont typeface="Arial" pitchFamily="34" charset="0"/>
              <a:buChar char="•"/>
            </a:pPr>
            <a:r>
              <a:rPr lang="en-US" sz="2000" dirty="0">
                <a:cs typeface="Arial" charset="0"/>
              </a:rPr>
              <a:t>  </a:t>
            </a:r>
            <a:r>
              <a:rPr lang="fr-FR" sz="2000" dirty="0">
                <a:cs typeface="Arial" charset="0"/>
              </a:rPr>
              <a:t>l’administration prophylactique du G-CSF est effectuée selon le</a:t>
            </a:r>
          </a:p>
          <a:p>
            <a:pPr marL="468000" indent="-144000">
              <a:lnSpc>
                <a:spcPct val="150000"/>
              </a:lnSpc>
              <a:spcBef>
                <a:spcPts val="0"/>
              </a:spcBef>
              <a:buFont typeface="Arial" pitchFamily="34" charset="0"/>
              <a:buChar char="•"/>
            </a:pPr>
            <a:endParaRPr lang="fr-FR" sz="2000" dirty="0">
              <a:cs typeface="Arial" charset="0"/>
            </a:endParaRPr>
          </a:p>
          <a:p>
            <a:pPr marL="468000" indent="-144000">
              <a:lnSpc>
                <a:spcPct val="150000"/>
              </a:lnSpc>
              <a:spcBef>
                <a:spcPts val="0"/>
              </a:spcBef>
              <a:buFont typeface="Arial" pitchFamily="34" charset="0"/>
              <a:buChar char="•"/>
            </a:pPr>
            <a:r>
              <a:rPr lang="fr-FR" sz="2000" dirty="0">
                <a:cs typeface="Arial" charset="0"/>
              </a:rPr>
              <a:t>l’expérience, le « sens » clinique du médecin et les connaissances des patients ajoutent des avantages à l’individualisation du traitement</a:t>
            </a:r>
          </a:p>
          <a:p>
            <a:pPr marL="468000" indent="-144000">
              <a:lnSpc>
                <a:spcPct val="150000"/>
              </a:lnSpc>
              <a:spcBef>
                <a:spcPts val="0"/>
              </a:spcBef>
              <a:buFont typeface="Arial" pitchFamily="34" charset="0"/>
              <a:buChar char="•"/>
            </a:pPr>
            <a:endParaRPr lang="fr-FR" sz="2000" dirty="0">
              <a:cs typeface="Arial" charset="0"/>
            </a:endParaRPr>
          </a:p>
          <a:p>
            <a:pPr marL="468000" indent="-144000">
              <a:lnSpc>
                <a:spcPct val="150000"/>
              </a:lnSpc>
              <a:spcBef>
                <a:spcPts val="0"/>
              </a:spcBef>
              <a:buFont typeface="Arial" pitchFamily="34" charset="0"/>
              <a:buChar char="•"/>
            </a:pPr>
            <a:r>
              <a:rPr lang="fr-FR" sz="2000" dirty="0">
                <a:cs typeface="Arial" charset="0"/>
              </a:rPr>
              <a:t>G-CSF optimal est 24 heures après chimiothérapie.</a:t>
            </a:r>
          </a:p>
          <a:p>
            <a:pPr marL="468000" indent="-144000">
              <a:lnSpc>
                <a:spcPct val="150000"/>
              </a:lnSpc>
              <a:spcBef>
                <a:spcPts val="0"/>
              </a:spcBef>
              <a:buFont typeface="Arial" pitchFamily="34" charset="0"/>
              <a:buChar char="•"/>
            </a:pPr>
            <a:endParaRPr lang="fr-FR" sz="2000" dirty="0">
              <a:cs typeface="Arial" charset="0"/>
            </a:endParaRPr>
          </a:p>
          <a:p>
            <a:pPr marL="468000" indent="-144000">
              <a:lnSpc>
                <a:spcPct val="150000"/>
              </a:lnSpc>
              <a:spcBef>
                <a:spcPts val="0"/>
              </a:spcBef>
              <a:buFont typeface="Arial" pitchFamily="34" charset="0"/>
              <a:buChar char="•"/>
            </a:pPr>
            <a:r>
              <a:rPr lang="fr-FR" sz="2000" dirty="0">
                <a:cs typeface="Arial" charset="0"/>
              </a:rPr>
              <a:t>communication avec le patient et les infirmières sont importantes</a:t>
            </a:r>
          </a:p>
          <a:p>
            <a:pPr marL="468000" indent="-144000">
              <a:lnSpc>
                <a:spcPct val="150000"/>
              </a:lnSpc>
              <a:spcBef>
                <a:spcPts val="0"/>
              </a:spcBef>
              <a:buFont typeface="Arial" pitchFamily="34" charset="0"/>
              <a:buChar char="•"/>
            </a:pPr>
            <a:endParaRPr lang="fr-FR" sz="2000" dirty="0">
              <a:cs typeface="Arial" charset="0"/>
            </a:endParaRPr>
          </a:p>
          <a:p>
            <a:pPr marL="468000" indent="-144000">
              <a:lnSpc>
                <a:spcPct val="150000"/>
              </a:lnSpc>
              <a:spcBef>
                <a:spcPts val="0"/>
              </a:spcBef>
              <a:buFont typeface="Arial" pitchFamily="34" charset="0"/>
              <a:buChar char="•"/>
            </a:pPr>
            <a:endParaRPr lang="en-US" sz="2000" dirty="0">
              <a:cs typeface="Arial" charset="0"/>
            </a:endParaRPr>
          </a:p>
        </p:txBody>
      </p:sp>
      <p:sp>
        <p:nvSpPr>
          <p:cNvPr id="31751" name="Rectangle 2"/>
          <p:cNvSpPr>
            <a:spLocks noChangeArrowheads="1"/>
          </p:cNvSpPr>
          <p:nvPr/>
        </p:nvSpPr>
        <p:spPr bwMode="auto">
          <a:xfrm>
            <a:off x="120650" y="6530975"/>
            <a:ext cx="18473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fr-FR" sz="1200" i="1" dirty="0">
              <a:latin typeface="AGaramond-Italic"/>
            </a:endParaRPr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060988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9" name="Content Placeholder 1"/>
          <p:cNvSpPr>
            <a:spLocks noGrp="1"/>
          </p:cNvSpPr>
          <p:nvPr>
            <p:ph idx="1"/>
          </p:nvPr>
        </p:nvSpPr>
        <p:spPr>
          <a:xfrm>
            <a:off x="0" y="2057400"/>
            <a:ext cx="9144000" cy="4705291"/>
          </a:xfrm>
        </p:spPr>
        <p:txBody>
          <a:bodyPr>
            <a:normAutofit/>
          </a:bodyPr>
          <a:lstStyle/>
          <a:p>
            <a:pPr marL="452438" lvl="1" indent="0" algn="ctr">
              <a:spcBef>
                <a:spcPct val="20000"/>
              </a:spcBef>
              <a:buNone/>
            </a:pPr>
            <a:r>
              <a:rPr lang="fr-FR" altLang="ro-RO" sz="3200" b="1" dirty="0">
                <a:latin typeface="Arial" panose="020B0604020202020204" pitchFamily="34" charset="0"/>
                <a:cs typeface="Arial" panose="020B0604020202020204" pitchFamily="34" charset="0"/>
              </a:rPr>
              <a:t>Éduquer le patient à demander de l’aide médicale </a:t>
            </a:r>
          </a:p>
          <a:p>
            <a:pPr marL="452438" lvl="1" indent="0" algn="ctr">
              <a:spcBef>
                <a:spcPct val="20000"/>
              </a:spcBef>
              <a:buNone/>
            </a:pPr>
            <a:r>
              <a:rPr lang="fr-FR" altLang="ro-RO" sz="3200" b="1" dirty="0">
                <a:latin typeface="Arial" panose="020B0604020202020204" pitchFamily="34" charset="0"/>
                <a:cs typeface="Arial" panose="020B0604020202020204" pitchFamily="34" charset="0"/>
              </a:rPr>
              <a:t>à tout signe de fièvre </a:t>
            </a:r>
          </a:p>
          <a:p>
            <a:pPr marL="452438" lvl="1" indent="0" algn="ctr">
              <a:spcBef>
                <a:spcPct val="20000"/>
              </a:spcBef>
              <a:buNone/>
            </a:pPr>
            <a:r>
              <a:rPr lang="fr-FR" altLang="ro-RO" sz="3200" b="1" dirty="0">
                <a:latin typeface="Arial" panose="020B0604020202020204" pitchFamily="34" charset="0"/>
                <a:cs typeface="Arial" panose="020B0604020202020204" pitchFamily="34" charset="0"/>
              </a:rPr>
              <a:t>dans la période de risque après la chimiothérapie!</a:t>
            </a:r>
          </a:p>
          <a:p>
            <a:pPr marL="452438" lvl="1" indent="0" algn="ctr">
              <a:spcBef>
                <a:spcPct val="20000"/>
              </a:spcBef>
              <a:buNone/>
            </a:pPr>
            <a:endParaRPr lang="fr-FR" altLang="ro-RO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2438" lvl="1" indent="0" algn="ctr">
              <a:spcBef>
                <a:spcPct val="20000"/>
              </a:spcBef>
              <a:buNone/>
            </a:pPr>
            <a:endParaRPr lang="ro-RO" altLang="ro-RO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751" name="Rectangle 2"/>
          <p:cNvSpPr>
            <a:spLocks noChangeArrowheads="1"/>
          </p:cNvSpPr>
          <p:nvPr/>
        </p:nvSpPr>
        <p:spPr bwMode="auto">
          <a:xfrm>
            <a:off x="120650" y="6530975"/>
            <a:ext cx="18473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fr-FR" sz="1200" i="1" dirty="0">
              <a:latin typeface="AGaramond-Italic"/>
            </a:endParaRPr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064660505"/>
      </p:ext>
    </p:extLst>
  </p:cSld>
  <p:clrMapOvr>
    <a:masterClrMapping/>
  </p:clrMapOvr>
</p:sld>
</file>

<file path=ppt/theme/theme1.xml><?xml version="1.0" encoding="utf-8"?>
<a:theme xmlns:a="http://schemas.openxmlformats.org/drawingml/2006/main" name="Model implicit">
  <a:themeElements>
    <a:clrScheme name="Model implici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Model implici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Model implici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el implici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el implici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el implici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el implici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el implici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el implici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el implici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el implici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el implici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el implici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el implici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blank">
  <a:themeElements>
    <a:clrScheme name="Novartis 2016">
      <a:dk1>
        <a:srgbClr val="000000"/>
      </a:dk1>
      <a:lt1>
        <a:srgbClr val="FFFFFF"/>
      </a:lt1>
      <a:dk2>
        <a:srgbClr val="404040"/>
      </a:dk2>
      <a:lt2>
        <a:srgbClr val="CCCCCC"/>
      </a:lt2>
      <a:accent1>
        <a:srgbClr val="0460A9"/>
      </a:accent1>
      <a:accent2>
        <a:srgbClr val="E74A21"/>
      </a:accent2>
      <a:accent3>
        <a:srgbClr val="EC9A1E"/>
      </a:accent3>
      <a:accent4>
        <a:srgbClr val="8D1F1B"/>
      </a:accent4>
      <a:accent5>
        <a:srgbClr val="7F7F7F"/>
      </a:accent5>
      <a:accent6>
        <a:srgbClr val="404040"/>
      </a:accent6>
      <a:hlink>
        <a:srgbClr val="0460A9"/>
      </a:hlink>
      <a:folHlink>
        <a:srgbClr val="0460A9"/>
      </a:folHlink>
    </a:clrScheme>
    <a:fontScheme name="Novartis 2016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Novartis 2016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sq" cmpd="sng" algn="ctr">
          <a:solidFill>
            <a:schemeClr val="phClr"/>
          </a:solidFill>
          <a:prstDash val="solid"/>
        </a:ln>
        <a:ln w="12700" cap="sq" cmpd="sng" algn="ctr">
          <a:solidFill>
            <a:schemeClr val="phClr"/>
          </a:solidFill>
          <a:prstDash val="solid"/>
        </a:ln>
        <a:ln w="12700" cap="sq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Temă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683</TotalTime>
  <Words>1454</Words>
  <Application>Microsoft Office PowerPoint</Application>
  <PresentationFormat>Affichage à l'écran (4:3)</PresentationFormat>
  <Paragraphs>221</Paragraphs>
  <Slides>26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26</vt:i4>
      </vt:variant>
    </vt:vector>
  </HeadingPairs>
  <TitlesOfParts>
    <vt:vector size="34" baseType="lpstr">
      <vt:lpstr>AGaramond-Italic</vt:lpstr>
      <vt:lpstr>Arial</vt:lpstr>
      <vt:lpstr>Arial Black</vt:lpstr>
      <vt:lpstr>Arial Unicode MS</vt:lpstr>
      <vt:lpstr>Courier New</vt:lpstr>
      <vt:lpstr>Wingdings</vt:lpstr>
      <vt:lpstr>Model implicit</vt:lpstr>
      <vt:lpstr>blank</vt:lpstr>
      <vt:lpstr>Neutropénie fébrile </vt:lpstr>
      <vt:lpstr>Incidence et mortalité de la neutropénie fébrile (NF)</vt:lpstr>
      <vt:lpstr>Présentation PowerPoint</vt:lpstr>
      <vt:lpstr>Protocol de la chimiothérapie et le risque de neutropénie fébrile </vt:lpstr>
      <vt:lpstr>La principale Complication consiste  l’Infection  </vt:lpstr>
      <vt:lpstr>Présentation PowerPoint</vt:lpstr>
      <vt:lpstr>  Diagnostique de la neutropénie fébrile </vt:lpstr>
      <vt:lpstr>Examen paracliniques </vt:lpstr>
      <vt:lpstr>Patients à moindre risque (Low risk patients) </vt:lpstr>
      <vt:lpstr>Patients à baut risque  (hight risk patients) </vt:lpstr>
      <vt:lpstr>Traitement de neutropénie fébrile  </vt:lpstr>
      <vt:lpstr>Traitement de neutropénie fébrile  </vt:lpstr>
      <vt:lpstr>Traitement de neutropénie fébrile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DECORPORATE MEDIA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Diapozitivul 1</dc:title>
  <dc:creator>Cosmin MORAR</dc:creator>
  <cp:lastModifiedBy>Cornelia STANCIU</cp:lastModifiedBy>
  <cp:revision>1179</cp:revision>
  <dcterms:created xsi:type="dcterms:W3CDTF">2006-11-28T09:25:15Z</dcterms:created>
  <dcterms:modified xsi:type="dcterms:W3CDTF">2024-06-15T12:42:44Z</dcterms:modified>
</cp:coreProperties>
</file>