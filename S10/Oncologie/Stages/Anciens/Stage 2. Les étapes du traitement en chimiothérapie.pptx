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66" r:id="rId3"/>
    <p:sldId id="257" r:id="rId4"/>
    <p:sldId id="258" r:id="rId5"/>
    <p:sldId id="270" r:id="rId6"/>
    <p:sldId id="259" r:id="rId7"/>
    <p:sldId id="271" r:id="rId8"/>
    <p:sldId id="272" r:id="rId9"/>
    <p:sldId id="269" r:id="rId10"/>
    <p:sldId id="267" r:id="rId11"/>
    <p:sldId id="260" r:id="rId12"/>
    <p:sldId id="261" r:id="rId13"/>
    <p:sldId id="262" r:id="rId14"/>
    <p:sldId id="263" r:id="rId15"/>
    <p:sldId id="264" r:id="rId16"/>
    <p:sldId id="265" r:id="rId17"/>
  </p:sldIdLst>
  <p:sldSz cx="9144000" cy="6858000" type="screen4x3"/>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4660"/>
  </p:normalViewPr>
  <p:slideViewPr>
    <p:cSldViewPr snapToGrid="0">
      <p:cViewPr varScale="1">
        <p:scale>
          <a:sx n="50" d="100"/>
          <a:sy n="50" d="100"/>
        </p:scale>
        <p:origin x="48"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F305F-EB49-41B9-B140-951BE73EDEED}" type="datetimeFigureOut">
              <a:rPr lang="en-US" smtClean="0"/>
              <a:t>3/3/2022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8D7FF-8A80-4E5E-BED2-B3C60E8AFD4E}" type="slidenum">
              <a:rPr lang="en-US" smtClean="0"/>
              <a:t>‹#›</a:t>
            </a:fld>
            <a:endParaRPr lang="en-US"/>
          </a:p>
        </p:txBody>
      </p:sp>
    </p:spTree>
    <p:extLst>
      <p:ext uri="{BB962C8B-B14F-4D97-AF65-F5344CB8AC3E}">
        <p14:creationId xmlns:p14="http://schemas.microsoft.com/office/powerpoint/2010/main" val="3097509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Maintenant, nous allons enfin parler des étapes du traitement de chimiothérapie.</a:t>
            </a:r>
          </a:p>
          <a:p>
            <a:r>
              <a:rPr lang="fr-FR" dirty="0" smtClean="0"/>
              <a:t>Le diagnostic est le processus d'identification de la cause d'un problème de santé. Si le patient présente des symptômes de cancer ou si quelque chose a été vu lors d'un contrôle de routine ou d'un test de dépistage suggérant qu'il a un cancer, l'équipe médicale découvrira si c'est la cause du cancer ou d'autres problèmes de santé. Le médecin posera des questions sur lors antécédents médicaux personnels et familiaux et effectuera un examen physique.</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1</a:t>
            </a:fld>
            <a:endParaRPr lang="en-US"/>
          </a:p>
        </p:txBody>
      </p:sp>
    </p:spTree>
    <p:extLst>
      <p:ext uri="{BB962C8B-B14F-4D97-AF65-F5344CB8AC3E}">
        <p14:creationId xmlns:p14="http://schemas.microsoft.com/office/powerpoint/2010/main" val="2378845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L'évaluation pré-thérapeutique comprend la confirmer la présence d’un cancer, identifier le type de cancer et trouver l’emplacement où le cancer a pris naissance; déterminer le grade du cancer; établir le stade du cancer; état de performance ; et les situations particulières.</a:t>
            </a:r>
          </a:p>
          <a:p>
            <a:r>
              <a:rPr lang="fr-FR" dirty="0" smtClean="0"/>
              <a:t>Après avoir évalué toutes nos informations, nous établissons une indication de traitement</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2</a:t>
            </a:fld>
            <a:endParaRPr lang="en-US"/>
          </a:p>
        </p:txBody>
      </p:sp>
    </p:spTree>
    <p:extLst>
      <p:ext uri="{BB962C8B-B14F-4D97-AF65-F5344CB8AC3E}">
        <p14:creationId xmlns:p14="http://schemas.microsoft.com/office/powerpoint/2010/main" val="3600850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Le type de traitement que ils le reçoivent  dépend de plusieurs facteurs</a:t>
            </a:r>
          </a:p>
          <a:p>
            <a:r>
              <a:rPr lang="fr-FR" dirty="0" smtClean="0"/>
              <a:t>En fonction de la tumeur : schémas établis en fonction de la sensibilité de certains types de cellules / localisations tumorales à certains agents </a:t>
            </a:r>
            <a:r>
              <a:rPr lang="fr-FR" dirty="0" err="1" smtClean="0"/>
              <a:t>chimiothérapeutiques</a:t>
            </a:r>
            <a:r>
              <a:rPr lang="fr-FR" dirty="0" smtClean="0"/>
              <a:t> ; propagation de la maladie (locale, </a:t>
            </a:r>
            <a:r>
              <a:rPr lang="fr-FR" dirty="0" err="1" smtClean="0"/>
              <a:t>loco-régionale</a:t>
            </a:r>
            <a:r>
              <a:rPr lang="fr-FR" dirty="0" smtClean="0"/>
              <a:t> et éloignée) ; type de traitement envisagé (adjuvant / palliatif) ; adaptation selon la biologie tumorale</a:t>
            </a:r>
          </a:p>
          <a:p>
            <a:r>
              <a:rPr lang="fr-FR" dirty="0" smtClean="0"/>
              <a:t>Selon le patient : âge ; statut de performance ; l'état nutritionnel ; maladies concomitantes ; problèmes psychologiques (chute de cheveux, etc.) ; maintenir la qualité de vie .</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3</a:t>
            </a:fld>
            <a:endParaRPr lang="en-US"/>
          </a:p>
        </p:txBody>
      </p:sp>
    </p:spTree>
    <p:extLst>
      <p:ext uri="{BB962C8B-B14F-4D97-AF65-F5344CB8AC3E}">
        <p14:creationId xmlns:p14="http://schemas.microsoft.com/office/powerpoint/2010/main" val="22468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Avant chaque traitement, l'oncologue est tenu de vérifier que toutes les conditions de sécurité sont remplies. Ceux-ci consistent en Tests de laboratoire</a:t>
            </a:r>
          </a:p>
          <a:p>
            <a:r>
              <a:rPr lang="fr-FR" dirty="0" smtClean="0"/>
              <a:t>Numération sanguine (conditions minimales)</a:t>
            </a:r>
          </a:p>
          <a:p>
            <a:r>
              <a:rPr lang="fr-FR" dirty="0" smtClean="0"/>
              <a:t>Leucocytes&gt; 3000 / mm3</a:t>
            </a:r>
          </a:p>
          <a:p>
            <a:r>
              <a:rPr lang="fr-FR" dirty="0" smtClean="0"/>
              <a:t>Neutrophiles&gt; 1500 / mm3</a:t>
            </a:r>
          </a:p>
          <a:p>
            <a:r>
              <a:rPr lang="fr-FR" dirty="0" smtClean="0"/>
              <a:t>Plaquettes&gt; 100 000 / mm3</a:t>
            </a:r>
          </a:p>
          <a:p>
            <a:r>
              <a:rPr lang="fr-FR" dirty="0" smtClean="0"/>
              <a:t>Biochimie (conditions minimales)</a:t>
            </a:r>
          </a:p>
          <a:p>
            <a:r>
              <a:rPr lang="fr-FR" dirty="0" smtClean="0"/>
              <a:t>Créatinine&gt; 1,5 x LSN</a:t>
            </a:r>
          </a:p>
          <a:p>
            <a:r>
              <a:rPr lang="fr-FR" dirty="0" smtClean="0"/>
              <a:t>Transaminases&gt; 1,5 x LSN ou&gt; 5 x LSN (métastases hépatiques)</a:t>
            </a:r>
          </a:p>
          <a:p>
            <a:r>
              <a:rPr lang="fr-FR" dirty="0" smtClean="0"/>
              <a:t>Bilirubine&gt; 1,5 x LSN</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4</a:t>
            </a:fld>
            <a:endParaRPr lang="en-US"/>
          </a:p>
        </p:txBody>
      </p:sp>
    </p:spTree>
    <p:extLst>
      <p:ext uri="{BB962C8B-B14F-4D97-AF65-F5344CB8AC3E}">
        <p14:creationId xmlns:p14="http://schemas.microsoft.com/office/powerpoint/2010/main" val="4249863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L'état clinique du patient</a:t>
            </a:r>
          </a:p>
          <a:p>
            <a:r>
              <a:rPr lang="fr-FR" dirty="0" smtClean="0"/>
              <a:t>Médicaments concomitants (interactions médicamenteuses)</a:t>
            </a:r>
          </a:p>
          <a:p>
            <a:r>
              <a:rPr lang="fr-FR" dirty="0" smtClean="0"/>
              <a:t>Conditions qui contre-indiquent l'administration</a:t>
            </a:r>
          </a:p>
          <a:p>
            <a:r>
              <a:rPr lang="fr-FR" dirty="0" smtClean="0"/>
              <a:t>infection</a:t>
            </a:r>
          </a:p>
          <a:p>
            <a:r>
              <a:rPr lang="fr-FR" dirty="0" smtClean="0"/>
              <a:t>neutropénie</a:t>
            </a:r>
          </a:p>
          <a:p>
            <a:r>
              <a:rPr lang="fr-FR" dirty="0" err="1" smtClean="0"/>
              <a:t>thrombocytopénie</a:t>
            </a:r>
            <a:endParaRPr lang="fr-FR" dirty="0" smtClean="0"/>
          </a:p>
          <a:p>
            <a:r>
              <a:rPr lang="fr-FR" dirty="0" smtClean="0"/>
              <a:t>atteinte clinique sévère</a:t>
            </a:r>
          </a:p>
          <a:p>
            <a:r>
              <a:rPr lang="fr-FR" dirty="0" smtClean="0"/>
              <a:t>grossesse (surtout le premier trimestre)</a:t>
            </a:r>
          </a:p>
          <a:p>
            <a:r>
              <a:rPr lang="fr-FR" dirty="0" smtClean="0"/>
              <a:t>chirurgie majeure au cours des 2 dernières semaines</a:t>
            </a:r>
          </a:p>
          <a:p>
            <a:r>
              <a:rPr lang="fr-FR" dirty="0" smtClean="0"/>
              <a:t>patient difficile, peu coopératif, non conforme au traitement (surtout oral)</a:t>
            </a:r>
          </a:p>
          <a:p>
            <a:r>
              <a:rPr lang="fr-FR" dirty="0" smtClean="0"/>
              <a:t>problèmes psychologiques</a:t>
            </a:r>
          </a:p>
          <a:p>
            <a:r>
              <a:rPr lang="fr-FR" dirty="0" smtClean="0"/>
              <a:t>maladie en phase terminale</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5</a:t>
            </a:fld>
            <a:endParaRPr lang="en-US"/>
          </a:p>
        </p:txBody>
      </p:sp>
    </p:spTree>
    <p:extLst>
      <p:ext uri="{BB962C8B-B14F-4D97-AF65-F5344CB8AC3E}">
        <p14:creationId xmlns:p14="http://schemas.microsoft.com/office/powerpoint/2010/main" val="2309942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est le rôle de l'oncologue pour calculer la dose de chimiothérapie :</a:t>
            </a:r>
          </a:p>
          <a:p>
            <a:r>
              <a:rPr lang="fr-FR" dirty="0" smtClean="0"/>
              <a:t>The dose of the </a:t>
            </a:r>
            <a:r>
              <a:rPr lang="fr-FR" dirty="0" err="1" smtClean="0"/>
              <a:t>treatment</a:t>
            </a:r>
            <a:r>
              <a:rPr lang="fr-FR" dirty="0" smtClean="0"/>
              <a:t> </a:t>
            </a:r>
            <a:r>
              <a:rPr lang="fr-FR" dirty="0" err="1" smtClean="0"/>
              <a:t>depends</a:t>
            </a:r>
            <a:r>
              <a:rPr lang="fr-FR" dirty="0" smtClean="0"/>
              <a:t> on </a:t>
            </a:r>
            <a:r>
              <a:rPr lang="fr-FR" dirty="0" err="1" smtClean="0"/>
              <a:t>various</a:t>
            </a:r>
            <a:r>
              <a:rPr lang="fr-FR" dirty="0" smtClean="0"/>
              <a:t> </a:t>
            </a:r>
            <a:r>
              <a:rPr lang="fr-FR" dirty="0" err="1" smtClean="0"/>
              <a:t>factors</a:t>
            </a:r>
            <a:r>
              <a:rPr lang="fr-FR" dirty="0" smtClean="0"/>
              <a:t> as:</a:t>
            </a:r>
          </a:p>
          <a:p>
            <a:r>
              <a:rPr lang="fr-FR" dirty="0" smtClean="0"/>
              <a:t>•	En fonction de la surface corporelle (BSA) : la surface du corps est un compromis entre la taille et le poids ; il est utilisé car il est moins affecté par une masse graisseuse anormale ; il est généralement calculé à l'aide de règles de calcul ou, plus récemment, d'un logiciel spécial</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6</a:t>
            </a:fld>
            <a:endParaRPr lang="en-US"/>
          </a:p>
        </p:txBody>
      </p:sp>
    </p:spTree>
    <p:extLst>
      <p:ext uri="{BB962C8B-B14F-4D97-AF65-F5344CB8AC3E}">
        <p14:creationId xmlns:p14="http://schemas.microsoft.com/office/powerpoint/2010/main" val="3858373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en pratique, nous utilisons une calculatrice spéciale ou une application</a:t>
            </a:r>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7</a:t>
            </a:fld>
            <a:endParaRPr lang="en-US"/>
          </a:p>
        </p:txBody>
      </p:sp>
    </p:spTree>
    <p:extLst>
      <p:ext uri="{BB962C8B-B14F-4D97-AF65-F5344CB8AC3E}">
        <p14:creationId xmlns:p14="http://schemas.microsoft.com/office/powerpoint/2010/main" val="2396621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	En fonction de la capacité d'excrétion rénale (ASC)</a:t>
            </a:r>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8</a:t>
            </a:fld>
            <a:endParaRPr lang="en-US"/>
          </a:p>
        </p:txBody>
      </p:sp>
    </p:spTree>
    <p:extLst>
      <p:ext uri="{BB962C8B-B14F-4D97-AF65-F5344CB8AC3E}">
        <p14:creationId xmlns:p14="http://schemas.microsoft.com/office/powerpoint/2010/main" val="1232948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nous utilisons une calculatrice spéciale ou une application aussi</a:t>
            </a:r>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9</a:t>
            </a:fld>
            <a:endParaRPr lang="en-US"/>
          </a:p>
        </p:txBody>
      </p:sp>
    </p:spTree>
    <p:extLst>
      <p:ext uri="{BB962C8B-B14F-4D97-AF65-F5344CB8AC3E}">
        <p14:creationId xmlns:p14="http://schemas.microsoft.com/office/powerpoint/2010/main" val="3301225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	En fonction du poids (kg)</a:t>
            </a:r>
          </a:p>
          <a:p>
            <a:r>
              <a:rPr lang="fr-FR" dirty="0" smtClean="0"/>
              <a:t>•	méthode utilisée pour calculer les doses d'anticorps monoclonaux</a:t>
            </a:r>
          </a:p>
          <a:p>
            <a:r>
              <a:rPr lang="fr-FR" dirty="0" smtClean="0"/>
              <a:t>•	Dose plate</a:t>
            </a:r>
          </a:p>
          <a:p>
            <a:r>
              <a:rPr lang="fr-FR" dirty="0" smtClean="0"/>
              <a:t>•	certains médicaments ont une pharmacocinétique non influencée par la taille corporelle</a:t>
            </a:r>
            <a:endParaRPr lang="fr-FR" dirty="0"/>
          </a:p>
        </p:txBody>
      </p:sp>
      <p:sp>
        <p:nvSpPr>
          <p:cNvPr id="4" name="Slide Number Placeholder 3"/>
          <p:cNvSpPr>
            <a:spLocks noGrp="1"/>
          </p:cNvSpPr>
          <p:nvPr>
            <p:ph type="sldNum" sz="quarter" idx="10"/>
          </p:nvPr>
        </p:nvSpPr>
        <p:spPr/>
        <p:txBody>
          <a:bodyPr/>
          <a:lstStyle/>
          <a:p>
            <a:fld id="{8ED8D7FF-8A80-4E5E-BED2-B3C60E8AFD4E}" type="slidenum">
              <a:rPr lang="en-US" smtClean="0"/>
              <a:t>10</a:t>
            </a:fld>
            <a:endParaRPr lang="en-US"/>
          </a:p>
        </p:txBody>
      </p:sp>
    </p:spTree>
    <p:extLst>
      <p:ext uri="{BB962C8B-B14F-4D97-AF65-F5344CB8AC3E}">
        <p14:creationId xmlns:p14="http://schemas.microsoft.com/office/powerpoint/2010/main" val="2093196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Les ajustements de dose sont effectués au début du traitement ou entre les cycles de traitement :</a:t>
            </a:r>
          </a:p>
          <a:p>
            <a:r>
              <a:rPr lang="fr-FR" dirty="0" smtClean="0"/>
              <a:t>Au début : gros(</a:t>
            </a:r>
            <a:r>
              <a:rPr lang="fr-FR" dirty="0" err="1" smtClean="0"/>
              <a:t>obesité</a:t>
            </a:r>
            <a:r>
              <a:rPr lang="fr-FR" dirty="0" smtClean="0"/>
              <a:t>) ; avec des épanchements malins ; âgé ; autres situations biologiques</a:t>
            </a:r>
          </a:p>
          <a:p>
            <a:r>
              <a:rPr lang="fr-FR" dirty="0" smtClean="0"/>
              <a:t>Dans les prochains cycles : après une précédente neutropénie fébrile ; faible numération globulaire ou biochimie (</a:t>
            </a:r>
            <a:r>
              <a:rPr lang="fr-FR" dirty="0" err="1" smtClean="0"/>
              <a:t>gemcitabine</a:t>
            </a:r>
            <a:r>
              <a:rPr lang="fr-FR" dirty="0" smtClean="0"/>
              <a:t>, </a:t>
            </a:r>
            <a:r>
              <a:rPr lang="fr-FR" dirty="0" err="1" smtClean="0"/>
              <a:t>oxaliplatine</a:t>
            </a:r>
            <a:r>
              <a:rPr lang="fr-FR" dirty="0" smtClean="0"/>
              <a:t>, etc.) ; autres situations</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11</a:t>
            </a:fld>
            <a:endParaRPr lang="en-US"/>
          </a:p>
        </p:txBody>
      </p:sp>
    </p:spTree>
    <p:extLst>
      <p:ext uri="{BB962C8B-B14F-4D97-AF65-F5344CB8AC3E}">
        <p14:creationId xmlns:p14="http://schemas.microsoft.com/office/powerpoint/2010/main" val="513082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Le médecin émet le programme de traitement avec les doses calculées nécessaires. Celles-ci sont ensuite écrites sur l'ordinateur, dans le programme interne de l'hôpital. La pharmacie prend en charge les informations et prépare les traitements selon les indications. </a:t>
            </a:r>
          </a:p>
          <a:p>
            <a:r>
              <a:rPr lang="fr-FR" dirty="0" smtClean="0"/>
              <a:t>la commande de chimiothérapie est terminée</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12</a:t>
            </a:fld>
            <a:endParaRPr lang="en-US"/>
          </a:p>
        </p:txBody>
      </p:sp>
    </p:spTree>
    <p:extLst>
      <p:ext uri="{BB962C8B-B14F-4D97-AF65-F5344CB8AC3E}">
        <p14:creationId xmlns:p14="http://schemas.microsoft.com/office/powerpoint/2010/main" val="836923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Administration des cytostatiques (infirmière)</a:t>
            </a:r>
          </a:p>
          <a:p>
            <a:r>
              <a:rPr lang="fr-FR" dirty="0" smtClean="0"/>
              <a:t>•	Contrôle de la prescription (double contrôle)</a:t>
            </a:r>
          </a:p>
          <a:p>
            <a:r>
              <a:rPr lang="fr-FR" dirty="0" smtClean="0"/>
              <a:t>•	identité du patient</a:t>
            </a:r>
          </a:p>
          <a:p>
            <a:r>
              <a:rPr lang="fr-FR" dirty="0" smtClean="0"/>
              <a:t>•	calcul de dose</a:t>
            </a:r>
          </a:p>
          <a:p>
            <a:r>
              <a:rPr lang="fr-FR" dirty="0" smtClean="0"/>
              <a:t>•	Assurer une ligne de perfusion fonctionnelle</a:t>
            </a:r>
          </a:p>
          <a:p>
            <a:r>
              <a:rPr lang="fr-FR" dirty="0" smtClean="0"/>
              <a:t>•	ponction veineuse périphérique et installation du dispositif d'administration</a:t>
            </a:r>
          </a:p>
          <a:p>
            <a:r>
              <a:rPr lang="fr-FR" dirty="0" smtClean="0"/>
              <a:t>•	vérification de la fonctionnalité de la ligne de perfusion</a:t>
            </a:r>
          </a:p>
          <a:p>
            <a:r>
              <a:rPr lang="fr-FR" dirty="0" smtClean="0"/>
              <a:t>•	Évitez l'extravasation</a:t>
            </a:r>
          </a:p>
          <a:p>
            <a:r>
              <a:rPr lang="fr-FR" dirty="0" smtClean="0"/>
              <a:t>•	vérification périodique du lieu d'administration</a:t>
            </a:r>
          </a:p>
          <a:p>
            <a:r>
              <a:rPr lang="fr-FR" dirty="0" smtClean="0"/>
              <a:t>•	éduquer le patient pour signaler toute anomalie (douleur au site d'administration, érythème, gonflement de la région)</a:t>
            </a:r>
          </a:p>
          <a:p>
            <a:r>
              <a:rPr lang="fr-FR" dirty="0" smtClean="0"/>
              <a:t>•	mesures de réponse à l'extravasation</a:t>
            </a:r>
          </a:p>
          <a:p>
            <a:endParaRPr lang="en-US" dirty="0"/>
          </a:p>
        </p:txBody>
      </p:sp>
      <p:sp>
        <p:nvSpPr>
          <p:cNvPr id="4" name="Slide Number Placeholder 3"/>
          <p:cNvSpPr>
            <a:spLocks noGrp="1"/>
          </p:cNvSpPr>
          <p:nvPr>
            <p:ph type="sldNum" sz="quarter" idx="10"/>
          </p:nvPr>
        </p:nvSpPr>
        <p:spPr/>
        <p:txBody>
          <a:bodyPr/>
          <a:lstStyle/>
          <a:p>
            <a:fld id="{8ED8D7FF-8A80-4E5E-BED2-B3C60E8AFD4E}" type="slidenum">
              <a:rPr lang="en-US" smtClean="0"/>
              <a:t>14</a:t>
            </a:fld>
            <a:endParaRPr lang="en-US"/>
          </a:p>
        </p:txBody>
      </p:sp>
    </p:spTree>
    <p:extLst>
      <p:ext uri="{BB962C8B-B14F-4D97-AF65-F5344CB8AC3E}">
        <p14:creationId xmlns:p14="http://schemas.microsoft.com/office/powerpoint/2010/main" val="3042440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u diapozitiv">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ro-RO" smtClean="0"/>
              <a:t>Clic pentru editare stil titlu</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smtClean="0"/>
              <a:t>Clic pentru a edita stilul de subtitlu</a:t>
            </a:r>
            <a:endParaRPr lang="en-US" dirty="0"/>
          </a:p>
        </p:txBody>
      </p:sp>
      <p:sp>
        <p:nvSpPr>
          <p:cNvPr id="4" name="Date Placeholder 3"/>
          <p:cNvSpPr>
            <a:spLocks noGrp="1"/>
          </p:cNvSpPr>
          <p:nvPr>
            <p:ph type="dt" sz="half" idx="10"/>
          </p:nvPr>
        </p:nvSpPr>
        <p:spPr/>
        <p:txBody>
          <a:bodyPr/>
          <a:lstStyle/>
          <a:p>
            <a:fld id="{E001AA8D-0E47-49F6-B584-C6CCA04C2005}" type="datetimeFigureOut">
              <a:rPr lang="ro-RO" smtClean="0"/>
              <a:t>03.03.2022</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2820213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mtClean="0"/>
              <a:t>Clic pentru editare stil titlu</a:t>
            </a:r>
            <a:endParaRPr lang="en-US" dirty="0"/>
          </a:p>
        </p:txBody>
      </p:sp>
      <p:sp>
        <p:nvSpPr>
          <p:cNvPr id="3" name="Content Placeholder 2"/>
          <p:cNvSpPr>
            <a:spLocks noGrp="1"/>
          </p:cNvSpPr>
          <p:nvPr>
            <p:ph idx="1"/>
          </p:nvPr>
        </p:nvSpPr>
        <p:spPr/>
        <p:txBody>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4" name="Date Placeholder 3"/>
          <p:cNvSpPr>
            <a:spLocks noGrp="1"/>
          </p:cNvSpPr>
          <p:nvPr>
            <p:ph type="dt" sz="half" idx="10"/>
          </p:nvPr>
        </p:nvSpPr>
        <p:spPr/>
        <p:txBody>
          <a:bodyPr/>
          <a:lstStyle/>
          <a:p>
            <a:fld id="{E001AA8D-0E47-49F6-B584-C6CCA04C2005}" type="datetimeFigureOut">
              <a:rPr lang="ro-RO" smtClean="0"/>
              <a:t>03.03.2022</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77254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ro-RO" smtClean="0"/>
              <a:t>Clic pentru editare stil titlu</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o-RO" smtClean="0"/>
              <a:t>Clic pentru editare stiluri text Coordonator</a:t>
            </a:r>
          </a:p>
        </p:txBody>
      </p:sp>
      <p:sp>
        <p:nvSpPr>
          <p:cNvPr id="4" name="Date Placeholder 3"/>
          <p:cNvSpPr>
            <a:spLocks noGrp="1"/>
          </p:cNvSpPr>
          <p:nvPr>
            <p:ph type="dt" sz="half" idx="10"/>
          </p:nvPr>
        </p:nvSpPr>
        <p:spPr/>
        <p:txBody>
          <a:bodyPr/>
          <a:lstStyle/>
          <a:p>
            <a:fld id="{E001AA8D-0E47-49F6-B584-C6CCA04C2005}" type="datetimeFigureOut">
              <a:rPr lang="ro-RO" smtClean="0"/>
              <a:t>03.03.2022</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3049198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mtClean="0"/>
              <a:t>Clic pentru editare stil titlu</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5" name="Date Placeholder 4"/>
          <p:cNvSpPr>
            <a:spLocks noGrp="1"/>
          </p:cNvSpPr>
          <p:nvPr>
            <p:ph type="dt" sz="half" idx="10"/>
          </p:nvPr>
        </p:nvSpPr>
        <p:spPr/>
        <p:txBody>
          <a:bodyPr/>
          <a:lstStyle/>
          <a:p>
            <a:fld id="{E001AA8D-0E47-49F6-B584-C6CCA04C2005}" type="datetimeFigureOut">
              <a:rPr lang="ro-RO" smtClean="0"/>
              <a:t>03.03.2022</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2535260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ro-RO" smtClean="0"/>
              <a:t>Clic pentru editare stil titlu</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smtClean="0"/>
              <a:t>Clic pentru editare stiluri text Coordonator</a:t>
            </a:r>
          </a:p>
        </p:txBody>
      </p:sp>
      <p:sp>
        <p:nvSpPr>
          <p:cNvPr id="4" name="Content Placeholder 3"/>
          <p:cNvSpPr>
            <a:spLocks noGrp="1"/>
          </p:cNvSpPr>
          <p:nvPr>
            <p:ph sz="half" idx="2"/>
          </p:nvPr>
        </p:nvSpPr>
        <p:spPr>
          <a:xfrm>
            <a:off x="629842" y="2505075"/>
            <a:ext cx="3868340" cy="3684588"/>
          </a:xfrm>
        </p:spPr>
        <p:txBody>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smtClean="0"/>
              <a:t>Clic pentru editare stiluri text Coordonator</a:t>
            </a:r>
          </a:p>
        </p:txBody>
      </p:sp>
      <p:sp>
        <p:nvSpPr>
          <p:cNvPr id="6" name="Content Placeholder 5"/>
          <p:cNvSpPr>
            <a:spLocks noGrp="1"/>
          </p:cNvSpPr>
          <p:nvPr>
            <p:ph sz="quarter" idx="4"/>
          </p:nvPr>
        </p:nvSpPr>
        <p:spPr>
          <a:xfrm>
            <a:off x="4629150" y="2505075"/>
            <a:ext cx="3887391" cy="3684588"/>
          </a:xfrm>
        </p:spPr>
        <p:txBody>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7" name="Date Placeholder 6"/>
          <p:cNvSpPr>
            <a:spLocks noGrp="1"/>
          </p:cNvSpPr>
          <p:nvPr>
            <p:ph type="dt" sz="half" idx="10"/>
          </p:nvPr>
        </p:nvSpPr>
        <p:spPr/>
        <p:txBody>
          <a:bodyPr/>
          <a:lstStyle/>
          <a:p>
            <a:fld id="{E001AA8D-0E47-49F6-B584-C6CCA04C2005}" type="datetimeFigureOut">
              <a:rPr lang="ro-RO" smtClean="0"/>
              <a:t>03.03.2022</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2067909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mtClean="0"/>
              <a:t>Clic pentru editare stil titlu</a:t>
            </a:r>
            <a:endParaRPr lang="en-US" dirty="0"/>
          </a:p>
        </p:txBody>
      </p:sp>
      <p:sp>
        <p:nvSpPr>
          <p:cNvPr id="3" name="Date Placeholder 2"/>
          <p:cNvSpPr>
            <a:spLocks noGrp="1"/>
          </p:cNvSpPr>
          <p:nvPr>
            <p:ph type="dt" sz="half" idx="10"/>
          </p:nvPr>
        </p:nvSpPr>
        <p:spPr/>
        <p:txBody>
          <a:bodyPr/>
          <a:lstStyle/>
          <a:p>
            <a:fld id="{E001AA8D-0E47-49F6-B584-C6CCA04C2005}" type="datetimeFigureOut">
              <a:rPr lang="ro-RO" smtClean="0"/>
              <a:t>03.03.2022</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3728795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01AA8D-0E47-49F6-B584-C6CCA04C2005}" type="datetimeFigureOut">
              <a:rPr lang="ro-RO" smtClean="0"/>
              <a:t>03.03.2022</a:t>
            </a:fld>
            <a:endParaRPr lang="ro-RO"/>
          </a:p>
        </p:txBody>
      </p:sp>
      <p:sp>
        <p:nvSpPr>
          <p:cNvPr id="3" name="Footer Placeholder 2"/>
          <p:cNvSpPr>
            <a:spLocks noGrp="1"/>
          </p:cNvSpPr>
          <p:nvPr>
            <p:ph type="ftr" sz="quarter" idx="11"/>
          </p:nvPr>
        </p:nvSpPr>
        <p:spPr/>
        <p:txBody>
          <a:bodyPr/>
          <a:lstStyle/>
          <a:p>
            <a:endParaRPr lang="ro-RO"/>
          </a:p>
        </p:txBody>
      </p:sp>
      <p:sp>
        <p:nvSpPr>
          <p:cNvPr id="4" name="Slide Number Placeholder 3"/>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740968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o-RO" smtClean="0"/>
              <a:t>Clic pentru editare stil titlu</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smtClean="0"/>
              <a:t>Clic pentru editare stiluri text Coordonator</a:t>
            </a:r>
          </a:p>
        </p:txBody>
      </p:sp>
      <p:sp>
        <p:nvSpPr>
          <p:cNvPr id="5" name="Date Placeholder 4"/>
          <p:cNvSpPr>
            <a:spLocks noGrp="1"/>
          </p:cNvSpPr>
          <p:nvPr>
            <p:ph type="dt" sz="half" idx="10"/>
          </p:nvPr>
        </p:nvSpPr>
        <p:spPr/>
        <p:txBody>
          <a:bodyPr/>
          <a:lstStyle/>
          <a:p>
            <a:fld id="{E001AA8D-0E47-49F6-B584-C6CCA04C2005}" type="datetimeFigureOut">
              <a:rPr lang="ro-RO" smtClean="0"/>
              <a:t>03.03.2022</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690212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o-RO" smtClean="0"/>
              <a:t>Clic pentru editare stil titlu</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o-RO" smtClean="0"/>
              <a:t>Faceți clic pe pictogramă pentru a adăuga o imagine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smtClean="0"/>
              <a:t>Clic pentru editare stiluri text Coordonator</a:t>
            </a:r>
          </a:p>
        </p:txBody>
      </p:sp>
      <p:sp>
        <p:nvSpPr>
          <p:cNvPr id="5" name="Date Placeholder 4"/>
          <p:cNvSpPr>
            <a:spLocks noGrp="1"/>
          </p:cNvSpPr>
          <p:nvPr>
            <p:ph type="dt" sz="half" idx="10"/>
          </p:nvPr>
        </p:nvSpPr>
        <p:spPr/>
        <p:txBody>
          <a:bodyPr/>
          <a:lstStyle/>
          <a:p>
            <a:fld id="{E001AA8D-0E47-49F6-B584-C6CCA04C2005}" type="datetimeFigureOut">
              <a:rPr lang="ro-RO" smtClean="0"/>
              <a:t>03.03.2022</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1731304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mtClean="0"/>
              <a:t>Clic pentru editare stil titlu</a:t>
            </a:r>
            <a:endParaRPr lang="en-US" dirty="0"/>
          </a:p>
        </p:txBody>
      </p:sp>
      <p:sp>
        <p:nvSpPr>
          <p:cNvPr id="3" name="Vertical Text Placeholder 2"/>
          <p:cNvSpPr>
            <a:spLocks noGrp="1"/>
          </p:cNvSpPr>
          <p:nvPr>
            <p:ph type="body" orient="vert" idx="1"/>
          </p:nvPr>
        </p:nvSpPr>
        <p:spPr/>
        <p:txBody>
          <a:bodyPr vert="eaVert"/>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4" name="Date Placeholder 3"/>
          <p:cNvSpPr>
            <a:spLocks noGrp="1"/>
          </p:cNvSpPr>
          <p:nvPr>
            <p:ph type="dt" sz="half" idx="10"/>
          </p:nvPr>
        </p:nvSpPr>
        <p:spPr/>
        <p:txBody>
          <a:bodyPr/>
          <a:lstStyle/>
          <a:p>
            <a:fld id="{E001AA8D-0E47-49F6-B584-C6CCA04C2005}" type="datetimeFigureOut">
              <a:rPr lang="ro-RO" smtClean="0"/>
              <a:t>03.03.2022</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1786923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ro-RO" smtClean="0"/>
              <a:t>Clic pentru editare stil titlu</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4" name="Date Placeholder 3"/>
          <p:cNvSpPr>
            <a:spLocks noGrp="1"/>
          </p:cNvSpPr>
          <p:nvPr>
            <p:ph type="dt" sz="half" idx="10"/>
          </p:nvPr>
        </p:nvSpPr>
        <p:spPr/>
        <p:txBody>
          <a:bodyPr/>
          <a:lstStyle/>
          <a:p>
            <a:fld id="{E001AA8D-0E47-49F6-B584-C6CCA04C2005}" type="datetimeFigureOut">
              <a:rPr lang="ro-RO" smtClean="0"/>
              <a:t>03.03.2022</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60249529-40D8-4BB7-8D2A-0A4D90540192}" type="slidenum">
              <a:rPr lang="ro-RO" smtClean="0"/>
              <a:t>‹#›</a:t>
            </a:fld>
            <a:endParaRPr lang="ro-RO"/>
          </a:p>
        </p:txBody>
      </p:sp>
    </p:spTree>
    <p:extLst>
      <p:ext uri="{BB962C8B-B14F-4D97-AF65-F5344CB8AC3E}">
        <p14:creationId xmlns:p14="http://schemas.microsoft.com/office/powerpoint/2010/main" val="2362887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o-RO" smtClean="0"/>
              <a:t>Clic pentru editare stil titlu</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o-RO" smtClean="0"/>
              <a:t>Clic pentru editare stiluri text Coordonator</a:t>
            </a:r>
          </a:p>
          <a:p>
            <a:pPr lvl="1"/>
            <a:r>
              <a:rPr lang="ro-RO" smtClean="0"/>
              <a:t>Al doilea nivel</a:t>
            </a:r>
          </a:p>
          <a:p>
            <a:pPr lvl="2"/>
            <a:r>
              <a:rPr lang="ro-RO" smtClean="0"/>
              <a:t>Al treilea nivel</a:t>
            </a:r>
          </a:p>
          <a:p>
            <a:pPr lvl="3"/>
            <a:r>
              <a:rPr lang="ro-RO" smtClean="0"/>
              <a:t>Al patrulea nivel</a:t>
            </a:r>
          </a:p>
          <a:p>
            <a:pPr lvl="4"/>
            <a:r>
              <a:rPr lang="ro-RO" smtClean="0"/>
              <a:t>Al cincilea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1AA8D-0E47-49F6-B584-C6CCA04C2005}" type="datetimeFigureOut">
              <a:rPr lang="ro-RO" smtClean="0"/>
              <a:t>03.03.2022</a:t>
            </a:fld>
            <a:endParaRPr lang="ro-RO"/>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249529-40D8-4BB7-8D2A-0A4D90540192}" type="slidenum">
              <a:rPr lang="ro-RO" smtClean="0"/>
              <a:t>‹#›</a:t>
            </a:fld>
            <a:endParaRPr lang="ro-RO"/>
          </a:p>
        </p:txBody>
      </p:sp>
    </p:spTree>
    <p:extLst>
      <p:ext uri="{BB962C8B-B14F-4D97-AF65-F5344CB8AC3E}">
        <p14:creationId xmlns:p14="http://schemas.microsoft.com/office/powerpoint/2010/main" val="3263220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VoXeY0TuU7c&amp;list=PLtZkTsSZZB73278yHvzkQyqiKv2XcNtxG&amp;index=2&amp;t=241s"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a:xfrm>
            <a:off x="0" y="1990725"/>
            <a:ext cx="9144000" cy="1862138"/>
          </a:xfrm>
        </p:spPr>
        <p:txBody>
          <a:bodyPr>
            <a:normAutofit/>
          </a:bodyPr>
          <a:lstStyle/>
          <a:p>
            <a:r>
              <a:rPr lang="fr-FR" sz="4400" b="1" dirty="0">
                <a:solidFill>
                  <a:srgbClr val="000000"/>
                </a:solidFill>
                <a:latin typeface="Arial" panose="020B0604020202020204" pitchFamily="34" charset="0"/>
                <a:cs typeface="Arial" panose="020B0604020202020204" pitchFamily="34" charset="0"/>
              </a:rPr>
              <a:t>Étapes du traitement de </a:t>
            </a:r>
            <a:r>
              <a:rPr lang="fr-FR" sz="4400" b="1" dirty="0" smtClean="0">
                <a:solidFill>
                  <a:srgbClr val="000000"/>
                </a:solidFill>
                <a:latin typeface="Arial" panose="020B0604020202020204" pitchFamily="34" charset="0"/>
                <a:cs typeface="Arial" panose="020B0604020202020204" pitchFamily="34" charset="0"/>
              </a:rPr>
              <a:t>chimiothérapie</a:t>
            </a:r>
            <a:endParaRPr lang="ro-RO" sz="4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26988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a:normAutofit fontScale="90000"/>
          </a:bodyPr>
          <a:lstStyle/>
          <a:p>
            <a:pPr algn="ctr"/>
            <a:r>
              <a:rPr lang="fr-FR" sz="4900" dirty="0">
                <a:latin typeface="Arial" panose="020B0604020202020204" pitchFamily="34" charset="0"/>
                <a:cs typeface="Arial" panose="020B0604020202020204" pitchFamily="34" charset="0"/>
              </a:rPr>
              <a:t>Étapes du traitement de chimiothérapie</a:t>
            </a:r>
            <a:r>
              <a:rPr lang="fr-FR" sz="3600" b="1" dirty="0"/>
              <a:t/>
            </a:r>
            <a:br>
              <a:rPr lang="fr-FR" sz="3600" b="1" dirty="0"/>
            </a:br>
            <a:endParaRPr lang="ro-RO" sz="3600" b="1" dirty="0">
              <a:solidFill>
                <a:srgbClr val="0070C0"/>
              </a:solidFill>
              <a:latin typeface="Arial" panose="020B0604020202020204" pitchFamily="34" charset="0"/>
              <a:cs typeface="Arial" panose="020B0604020202020204" pitchFamily="34" charset="0"/>
            </a:endParaRPr>
          </a:p>
        </p:txBody>
      </p:sp>
      <p:sp>
        <p:nvSpPr>
          <p:cNvPr id="4" name="Substituent conținut 2"/>
          <p:cNvSpPr>
            <a:spLocks noGrp="1"/>
          </p:cNvSpPr>
          <p:nvPr>
            <p:ph idx="1"/>
          </p:nvPr>
        </p:nvSpPr>
        <p:spPr>
          <a:xfrm>
            <a:off x="628650" y="2105025"/>
            <a:ext cx="7886700" cy="4400550"/>
          </a:xfrm>
        </p:spPr>
        <p:txBody>
          <a:bodyPr>
            <a:normAutofit/>
          </a:bodyPr>
          <a:lstStyle/>
          <a:p>
            <a:pPr>
              <a:lnSpc>
                <a:spcPct val="200000"/>
              </a:lnSpc>
            </a:pPr>
            <a:r>
              <a:rPr lang="fr-FR" sz="1800" b="1" dirty="0">
                <a:solidFill>
                  <a:srgbClr val="000000"/>
                </a:solidFill>
                <a:latin typeface="Arial" panose="020B0604020202020204" pitchFamily="34" charset="0"/>
                <a:cs typeface="Arial" panose="020B0604020202020204" pitchFamily="34" charset="0"/>
              </a:rPr>
              <a:t>Évaluation pré-thérapeutique</a:t>
            </a:r>
          </a:p>
          <a:p>
            <a:pPr marL="742950" lvl="1" indent="-285750">
              <a:lnSpc>
                <a:spcPct val="200000"/>
              </a:lnSpc>
            </a:pPr>
            <a:r>
              <a:rPr lang="fr-FR" sz="1800" dirty="0" smtClean="0">
                <a:solidFill>
                  <a:srgbClr val="000000"/>
                </a:solidFill>
                <a:latin typeface="Arial" panose="020B0604020202020204" pitchFamily="34" charset="0"/>
                <a:cs typeface="Arial" panose="020B0604020202020204" pitchFamily="34" charset="0"/>
              </a:rPr>
              <a:t>Stade de la maladie</a:t>
            </a:r>
          </a:p>
          <a:p>
            <a:pPr marL="742950" lvl="1" indent="-285750">
              <a:lnSpc>
                <a:spcPct val="200000"/>
              </a:lnSpc>
            </a:pPr>
            <a:r>
              <a:rPr lang="fr-FR" sz="1800" dirty="0" err="1" smtClean="0">
                <a:solidFill>
                  <a:srgbClr val="000000"/>
                </a:solidFill>
                <a:latin typeface="Arial" panose="020B0604020202020204" pitchFamily="34" charset="0"/>
                <a:cs typeface="Arial" panose="020B0604020202020204" pitchFamily="34" charset="0"/>
              </a:rPr>
              <a:t>grading</a:t>
            </a:r>
            <a:endParaRPr lang="fr-FR" sz="1800" dirty="0">
              <a:solidFill>
                <a:srgbClr val="000000"/>
              </a:solidFill>
              <a:latin typeface="Arial" panose="020B0604020202020204" pitchFamily="34" charset="0"/>
              <a:cs typeface="Arial" panose="020B0604020202020204" pitchFamily="34" charset="0"/>
            </a:endParaRPr>
          </a:p>
          <a:p>
            <a:pPr marL="742950" lvl="1" indent="-285750">
              <a:lnSpc>
                <a:spcPct val="200000"/>
              </a:lnSpc>
            </a:pPr>
            <a:r>
              <a:rPr lang="fr-FR" sz="1800" dirty="0">
                <a:solidFill>
                  <a:srgbClr val="000000"/>
                </a:solidFill>
                <a:latin typeface="Arial" panose="020B0604020202020204" pitchFamily="34" charset="0"/>
                <a:cs typeface="Arial" panose="020B0604020202020204" pitchFamily="34" charset="0"/>
              </a:rPr>
              <a:t>état de performance (ECOG)</a:t>
            </a:r>
          </a:p>
          <a:p>
            <a:pPr marL="742950" lvl="1" indent="-285750">
              <a:lnSpc>
                <a:spcPct val="200000"/>
              </a:lnSpc>
            </a:pPr>
            <a:r>
              <a:rPr lang="fr-FR" sz="1800" dirty="0">
                <a:solidFill>
                  <a:srgbClr val="000000"/>
                </a:solidFill>
                <a:latin typeface="Arial" panose="020B0604020202020204" pitchFamily="34" charset="0"/>
                <a:cs typeface="Arial" panose="020B0604020202020204" pitchFamily="34" charset="0"/>
              </a:rPr>
              <a:t>situations particulières (maladies associées, âge, etc.)</a:t>
            </a:r>
          </a:p>
          <a:p>
            <a:pPr>
              <a:lnSpc>
                <a:spcPct val="200000"/>
              </a:lnSpc>
            </a:pPr>
            <a:r>
              <a:rPr lang="fr-FR" sz="1800" b="1" dirty="0">
                <a:solidFill>
                  <a:srgbClr val="000000"/>
                </a:solidFill>
                <a:latin typeface="Arial" panose="020B0604020202020204" pitchFamily="34" charset="0"/>
                <a:cs typeface="Arial" panose="020B0604020202020204" pitchFamily="34" charset="0"/>
              </a:rPr>
              <a:t>Indication du traitement</a:t>
            </a:r>
          </a:p>
          <a:p>
            <a:pPr marL="742950" lvl="1" indent="-285750">
              <a:lnSpc>
                <a:spcPct val="200000"/>
              </a:lnSpc>
            </a:pPr>
            <a:r>
              <a:rPr lang="fr-FR" sz="1800" dirty="0">
                <a:solidFill>
                  <a:srgbClr val="000000"/>
                </a:solidFill>
                <a:latin typeface="Arial" panose="020B0604020202020204" pitchFamily="34" charset="0"/>
                <a:cs typeface="Arial" panose="020B0604020202020204" pitchFamily="34" charset="0"/>
              </a:rPr>
              <a:t>préparation de la présentation dans le tableau des tumeurs</a:t>
            </a:r>
          </a:p>
          <a:p>
            <a:endParaRPr lang="ro-RO"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4726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a:noAutofit/>
          </a:bodyPr>
          <a:lstStyle/>
          <a:p>
            <a:r>
              <a:rPr lang="fr-FR" sz="4000" b="1" dirty="0">
                <a:solidFill>
                  <a:srgbClr val="000000"/>
                </a:solidFill>
                <a:latin typeface="Arial" panose="020B0604020202020204" pitchFamily="34" charset="0"/>
                <a:cs typeface="Arial" panose="020B0604020202020204" pitchFamily="34" charset="0"/>
              </a:rPr>
              <a:t>Choix du schéma de traitement (commission d'oncologie</a:t>
            </a:r>
            <a:r>
              <a:rPr lang="fr-FR" sz="4000" b="1" dirty="0" smtClean="0">
                <a:solidFill>
                  <a:srgbClr val="000000"/>
                </a:solidFill>
                <a:latin typeface="Arial" panose="020B0604020202020204" pitchFamily="34" charset="0"/>
                <a:cs typeface="Arial" panose="020B0604020202020204" pitchFamily="34" charset="0"/>
              </a:rPr>
              <a:t>)</a:t>
            </a:r>
            <a:endParaRPr lang="ro-RO" sz="4000" b="1" dirty="0">
              <a:solidFill>
                <a:srgbClr val="0070C0"/>
              </a:solidFill>
              <a:latin typeface="Arial" panose="020B0604020202020204" pitchFamily="34" charset="0"/>
              <a:cs typeface="Arial" panose="020B0604020202020204" pitchFamily="34" charset="0"/>
            </a:endParaRPr>
          </a:p>
        </p:txBody>
      </p:sp>
      <p:sp>
        <p:nvSpPr>
          <p:cNvPr id="4" name="Substituent conținut 2"/>
          <p:cNvSpPr>
            <a:spLocks noGrp="1"/>
          </p:cNvSpPr>
          <p:nvPr>
            <p:ph idx="1"/>
          </p:nvPr>
        </p:nvSpPr>
        <p:spPr>
          <a:xfrm>
            <a:off x="590550" y="2295524"/>
            <a:ext cx="8410574" cy="4324351"/>
          </a:xfrm>
        </p:spPr>
        <p:txBody>
          <a:bodyPr>
            <a:normAutofit fontScale="85000" lnSpcReduction="20000"/>
          </a:bodyPr>
          <a:lstStyle/>
          <a:p>
            <a:pPr>
              <a:lnSpc>
                <a:spcPct val="110000"/>
              </a:lnSpc>
            </a:pPr>
            <a:r>
              <a:rPr lang="fr-FR" sz="2100" b="1" dirty="0">
                <a:solidFill>
                  <a:srgbClr val="000000"/>
                </a:solidFill>
                <a:latin typeface="Arial" panose="020B0604020202020204" pitchFamily="34" charset="0"/>
                <a:cs typeface="Arial" panose="020B0604020202020204" pitchFamily="34" charset="0"/>
              </a:rPr>
              <a:t>En fonction de la tumeur</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schémas établis en fonction de la sensibilité de certains types de cellules / localisations tumorales à certains agents </a:t>
            </a:r>
            <a:r>
              <a:rPr lang="fr-FR" sz="2100" dirty="0" err="1">
                <a:solidFill>
                  <a:srgbClr val="000000"/>
                </a:solidFill>
                <a:latin typeface="Arial" panose="020B0604020202020204" pitchFamily="34" charset="0"/>
                <a:cs typeface="Arial" panose="020B0604020202020204" pitchFamily="34" charset="0"/>
              </a:rPr>
              <a:t>chimiothérapeutiques</a:t>
            </a:r>
            <a:endParaRPr lang="fr-FR" sz="2100" dirty="0">
              <a:solidFill>
                <a:srgbClr val="000000"/>
              </a:solidFill>
              <a:latin typeface="Arial" panose="020B0604020202020204" pitchFamily="34" charset="0"/>
              <a:cs typeface="Arial" panose="020B0604020202020204" pitchFamily="34" charset="0"/>
            </a:endParaRP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propagation de la maladie (locale, </a:t>
            </a:r>
            <a:r>
              <a:rPr lang="fr-FR" sz="2100" dirty="0" err="1">
                <a:solidFill>
                  <a:srgbClr val="000000"/>
                </a:solidFill>
                <a:latin typeface="Arial" panose="020B0604020202020204" pitchFamily="34" charset="0"/>
                <a:cs typeface="Arial" panose="020B0604020202020204" pitchFamily="34" charset="0"/>
              </a:rPr>
              <a:t>loco-régionale</a:t>
            </a:r>
            <a:r>
              <a:rPr lang="fr-FR" sz="2100" dirty="0">
                <a:solidFill>
                  <a:srgbClr val="000000"/>
                </a:solidFill>
                <a:latin typeface="Arial" panose="020B0604020202020204" pitchFamily="34" charset="0"/>
                <a:cs typeface="Arial" panose="020B0604020202020204" pitchFamily="34" charset="0"/>
              </a:rPr>
              <a:t> et éloignée)</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type de traitement envisagé (adjuvant / palliatif)</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adaptation selon la biologie tumorale</a:t>
            </a:r>
          </a:p>
          <a:p>
            <a:pPr>
              <a:lnSpc>
                <a:spcPct val="110000"/>
              </a:lnSpc>
            </a:pPr>
            <a:r>
              <a:rPr lang="fr-FR" sz="2100" b="1" dirty="0">
                <a:solidFill>
                  <a:srgbClr val="000000"/>
                </a:solidFill>
                <a:latin typeface="Arial" panose="020B0604020202020204" pitchFamily="34" charset="0"/>
                <a:cs typeface="Arial" panose="020B0604020202020204" pitchFamily="34" charset="0"/>
              </a:rPr>
              <a:t>Selon le patient</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âge</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statut de performance</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l'état nutritionnel</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maladies concomitantes</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problèmes psychologiques (chute de cheveux, etc.)</a:t>
            </a:r>
          </a:p>
          <a:p>
            <a:pPr marL="742950" lvl="1" indent="-285750">
              <a:lnSpc>
                <a:spcPct val="110000"/>
              </a:lnSpc>
            </a:pPr>
            <a:r>
              <a:rPr lang="fr-FR" sz="2100" dirty="0">
                <a:solidFill>
                  <a:srgbClr val="000000"/>
                </a:solidFill>
                <a:latin typeface="Arial" panose="020B0604020202020204" pitchFamily="34" charset="0"/>
                <a:cs typeface="Arial" panose="020B0604020202020204" pitchFamily="34" charset="0"/>
              </a:rPr>
              <a:t>maintenir la qualité de vie</a:t>
            </a:r>
          </a:p>
          <a:p>
            <a:pPr marL="0" indent="0">
              <a:buNone/>
            </a:pPr>
            <a:endParaRPr lang="ro-RO"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251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p:cTn id="42"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4">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p:cTn id="49" dur="500" fill="hold"/>
                                        <p:tgtEl>
                                          <p:spTgt spid="4">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4">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 calcmode="lin" valueType="num">
                                      <p:cBhvr>
                                        <p:cTn id="56" dur="500" fill="hold"/>
                                        <p:tgtEl>
                                          <p:spTgt spid="4">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4">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4">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4">
                                            <p:txEl>
                                              <p:pRg st="8" end="8"/>
                                            </p:txEl>
                                          </p:spTgt>
                                        </p:tgtEl>
                                        <p:attrNameLst>
                                          <p:attrName>style.visibility</p:attrName>
                                        </p:attrNameLst>
                                      </p:cBhvr>
                                      <p:to>
                                        <p:strVal val="visible"/>
                                      </p:to>
                                    </p:set>
                                    <p:anim calcmode="lin" valueType="num">
                                      <p:cBhvr>
                                        <p:cTn id="63" dur="500" fill="hold"/>
                                        <p:tgtEl>
                                          <p:spTgt spid="4">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4">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4">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4">
                                            <p:txEl>
                                              <p:pRg st="9" end="9"/>
                                            </p:txEl>
                                          </p:spTgt>
                                        </p:tgtEl>
                                        <p:attrNameLst>
                                          <p:attrName>style.visibility</p:attrName>
                                        </p:attrNameLst>
                                      </p:cBhvr>
                                      <p:to>
                                        <p:strVal val="visible"/>
                                      </p:to>
                                    </p:set>
                                    <p:anim calcmode="lin" valueType="num">
                                      <p:cBhvr>
                                        <p:cTn id="70" dur="500" fill="hold"/>
                                        <p:tgtEl>
                                          <p:spTgt spid="4">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4">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4">
                                            <p:txEl>
                                              <p:pRg st="9" end="9"/>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4">
                                            <p:txEl>
                                              <p:pRg st="10" end="10"/>
                                            </p:txEl>
                                          </p:spTgt>
                                        </p:tgtEl>
                                        <p:attrNameLst>
                                          <p:attrName>style.visibility</p:attrName>
                                        </p:attrNameLst>
                                      </p:cBhvr>
                                      <p:to>
                                        <p:strVal val="visible"/>
                                      </p:to>
                                    </p:set>
                                    <p:anim calcmode="lin" valueType="num">
                                      <p:cBhvr>
                                        <p:cTn id="77" dur="500" fill="hold"/>
                                        <p:tgtEl>
                                          <p:spTgt spid="4">
                                            <p:txEl>
                                              <p:pRg st="10" end="10"/>
                                            </p:txEl>
                                          </p:spTgt>
                                        </p:tgtEl>
                                        <p:attrNameLst>
                                          <p:attrName>ppt_w</p:attrName>
                                        </p:attrNameLst>
                                      </p:cBhvr>
                                      <p:tavLst>
                                        <p:tav tm="0">
                                          <p:val>
                                            <p:fltVal val="0"/>
                                          </p:val>
                                        </p:tav>
                                        <p:tav tm="100000">
                                          <p:val>
                                            <p:strVal val="#ppt_w"/>
                                          </p:val>
                                        </p:tav>
                                      </p:tavLst>
                                    </p:anim>
                                    <p:anim calcmode="lin" valueType="num">
                                      <p:cBhvr>
                                        <p:cTn id="78" dur="500" fill="hold"/>
                                        <p:tgtEl>
                                          <p:spTgt spid="4">
                                            <p:txEl>
                                              <p:pRg st="10" end="10"/>
                                            </p:txEl>
                                          </p:spTgt>
                                        </p:tgtEl>
                                        <p:attrNameLst>
                                          <p:attrName>ppt_h</p:attrName>
                                        </p:attrNameLst>
                                      </p:cBhvr>
                                      <p:tavLst>
                                        <p:tav tm="0">
                                          <p:val>
                                            <p:fltVal val="0"/>
                                          </p:val>
                                        </p:tav>
                                        <p:tav tm="100000">
                                          <p:val>
                                            <p:strVal val="#ppt_h"/>
                                          </p:val>
                                        </p:tav>
                                      </p:tavLst>
                                    </p:anim>
                                    <p:animEffect transition="in" filter="fade">
                                      <p:cBhvr>
                                        <p:cTn id="79" dur="500"/>
                                        <p:tgtEl>
                                          <p:spTgt spid="4">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4">
                                            <p:txEl>
                                              <p:pRg st="11" end="11"/>
                                            </p:txEl>
                                          </p:spTgt>
                                        </p:tgtEl>
                                        <p:attrNameLst>
                                          <p:attrName>style.visibility</p:attrName>
                                        </p:attrNameLst>
                                      </p:cBhvr>
                                      <p:to>
                                        <p:strVal val="visible"/>
                                      </p:to>
                                    </p:set>
                                    <p:anim calcmode="lin" valueType="num">
                                      <p:cBhvr>
                                        <p:cTn id="84" dur="500" fill="hold"/>
                                        <p:tgtEl>
                                          <p:spTgt spid="4">
                                            <p:txEl>
                                              <p:pRg st="11" end="11"/>
                                            </p:txEl>
                                          </p:spTgt>
                                        </p:tgtEl>
                                        <p:attrNameLst>
                                          <p:attrName>ppt_w</p:attrName>
                                        </p:attrNameLst>
                                      </p:cBhvr>
                                      <p:tavLst>
                                        <p:tav tm="0">
                                          <p:val>
                                            <p:fltVal val="0"/>
                                          </p:val>
                                        </p:tav>
                                        <p:tav tm="100000">
                                          <p:val>
                                            <p:strVal val="#ppt_w"/>
                                          </p:val>
                                        </p:tav>
                                      </p:tavLst>
                                    </p:anim>
                                    <p:anim calcmode="lin" valueType="num">
                                      <p:cBhvr>
                                        <p:cTn id="85" dur="500" fill="hold"/>
                                        <p:tgtEl>
                                          <p:spTgt spid="4">
                                            <p:txEl>
                                              <p:pRg st="11" end="11"/>
                                            </p:txEl>
                                          </p:spTgt>
                                        </p:tgtEl>
                                        <p:attrNameLst>
                                          <p:attrName>ppt_h</p:attrName>
                                        </p:attrNameLst>
                                      </p:cBhvr>
                                      <p:tavLst>
                                        <p:tav tm="0">
                                          <p:val>
                                            <p:fltVal val="0"/>
                                          </p:val>
                                        </p:tav>
                                        <p:tav tm="100000">
                                          <p:val>
                                            <p:strVal val="#ppt_h"/>
                                          </p:val>
                                        </p:tav>
                                      </p:tavLst>
                                    </p:anim>
                                    <p:animEffect transition="in" filter="fade">
                                      <p:cBhvr>
                                        <p:cTn id="86"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fontScale="90000"/>
          </a:bodyPr>
          <a:lstStyle/>
          <a:p>
            <a:r>
              <a:rPr lang="fr-FR" sz="3600" b="1" dirty="0">
                <a:solidFill>
                  <a:srgbClr val="000000"/>
                </a:solidFill>
                <a:latin typeface="Arial" panose="020B0604020202020204" pitchFamily="34" charset="0"/>
                <a:cs typeface="Arial" panose="020B0604020202020204" pitchFamily="34" charset="0"/>
              </a:rPr>
              <a:t>Vérification des conditions qui permettent / contre-indiquent l'administration (oncologue</a:t>
            </a:r>
            <a:r>
              <a:rPr lang="fr-FR" sz="3600" b="1" dirty="0" smtClean="0">
                <a:solidFill>
                  <a:srgbClr val="000000"/>
                </a:solidFill>
                <a:latin typeface="Arial" panose="020B0604020202020204" pitchFamily="34" charset="0"/>
                <a:cs typeface="Arial" panose="020B0604020202020204" pitchFamily="34" charset="0"/>
              </a:rPr>
              <a:t>)</a:t>
            </a:r>
            <a:endParaRPr lang="ro-RO" sz="3600" b="1" dirty="0">
              <a:solidFill>
                <a:srgbClr val="0070C0"/>
              </a:solidFill>
              <a:latin typeface="Arial" panose="020B0604020202020204" pitchFamily="34" charset="0"/>
              <a:cs typeface="Arial" panose="020B0604020202020204" pitchFamily="34" charset="0"/>
            </a:endParaRPr>
          </a:p>
        </p:txBody>
      </p:sp>
      <p:sp>
        <p:nvSpPr>
          <p:cNvPr id="3" name="Substituent conținut 2"/>
          <p:cNvSpPr>
            <a:spLocks noGrp="1"/>
          </p:cNvSpPr>
          <p:nvPr>
            <p:ph idx="1"/>
          </p:nvPr>
        </p:nvSpPr>
        <p:spPr>
          <a:xfrm>
            <a:off x="628650" y="2628899"/>
            <a:ext cx="7886700" cy="3929063"/>
          </a:xfrm>
        </p:spPr>
        <p:txBody>
          <a:bodyPr>
            <a:normAutofit/>
          </a:bodyPr>
          <a:lstStyle/>
          <a:p>
            <a:r>
              <a:rPr lang="fr-FR" b="1" dirty="0">
                <a:solidFill>
                  <a:srgbClr val="000000"/>
                </a:solidFill>
                <a:latin typeface="Arial" panose="020B0604020202020204" pitchFamily="34" charset="0"/>
                <a:cs typeface="Arial" panose="020B0604020202020204" pitchFamily="34" charset="0"/>
              </a:rPr>
              <a:t>Tests de laboratoire</a:t>
            </a:r>
            <a:endParaRPr lang="fr-FR" dirty="0">
              <a:solidFill>
                <a:srgbClr val="000000"/>
              </a:solidFill>
              <a:latin typeface="Arial" panose="020B0604020202020204" pitchFamily="34" charset="0"/>
              <a:cs typeface="Arial" panose="020B0604020202020204" pitchFamily="34" charset="0"/>
            </a:endParaRPr>
          </a:p>
          <a:p>
            <a:pPr marL="742950" lvl="1" indent="-285750"/>
            <a:r>
              <a:rPr lang="fr-FR" dirty="0">
                <a:solidFill>
                  <a:srgbClr val="000000"/>
                </a:solidFill>
                <a:latin typeface="Arial" panose="020B0604020202020204" pitchFamily="34" charset="0"/>
                <a:cs typeface="Arial" panose="020B0604020202020204" pitchFamily="34" charset="0"/>
              </a:rPr>
              <a:t>Numération sanguine (conditions minimales)</a:t>
            </a:r>
          </a:p>
          <a:p>
            <a:pPr lvl="2"/>
            <a:r>
              <a:rPr lang="fr-FR" dirty="0">
                <a:solidFill>
                  <a:srgbClr val="000000"/>
                </a:solidFill>
                <a:latin typeface="Arial" panose="020B0604020202020204" pitchFamily="34" charset="0"/>
                <a:cs typeface="Arial" panose="020B0604020202020204" pitchFamily="34" charset="0"/>
              </a:rPr>
              <a:t>Leucocytes&gt; 3000 / mm3</a:t>
            </a:r>
          </a:p>
          <a:p>
            <a:pPr lvl="2"/>
            <a:r>
              <a:rPr lang="fr-FR" dirty="0">
                <a:solidFill>
                  <a:srgbClr val="000000"/>
                </a:solidFill>
                <a:latin typeface="Arial" panose="020B0604020202020204" pitchFamily="34" charset="0"/>
                <a:cs typeface="Arial" panose="020B0604020202020204" pitchFamily="34" charset="0"/>
              </a:rPr>
              <a:t>Neutrophiles&gt; 1500 / mm3</a:t>
            </a:r>
          </a:p>
          <a:p>
            <a:pPr lvl="2"/>
            <a:r>
              <a:rPr lang="fr-FR" dirty="0">
                <a:solidFill>
                  <a:srgbClr val="000000"/>
                </a:solidFill>
                <a:latin typeface="Arial" panose="020B0604020202020204" pitchFamily="34" charset="0"/>
                <a:cs typeface="Arial" panose="020B0604020202020204" pitchFamily="34" charset="0"/>
              </a:rPr>
              <a:t>Plaquettes&gt; 100 000 / mm3</a:t>
            </a:r>
          </a:p>
          <a:p>
            <a:pPr marL="742950" lvl="1" indent="-285750"/>
            <a:r>
              <a:rPr lang="fr-FR" dirty="0">
                <a:solidFill>
                  <a:srgbClr val="000000"/>
                </a:solidFill>
                <a:latin typeface="Arial" panose="020B0604020202020204" pitchFamily="34" charset="0"/>
                <a:cs typeface="Arial" panose="020B0604020202020204" pitchFamily="34" charset="0"/>
              </a:rPr>
              <a:t>Biochimie (conditions minimales)</a:t>
            </a:r>
          </a:p>
          <a:p>
            <a:pPr lvl="2"/>
            <a:r>
              <a:rPr lang="fr-FR" dirty="0">
                <a:solidFill>
                  <a:srgbClr val="000000"/>
                </a:solidFill>
                <a:latin typeface="Arial" panose="020B0604020202020204" pitchFamily="34" charset="0"/>
                <a:cs typeface="Arial" panose="020B0604020202020204" pitchFamily="34" charset="0"/>
              </a:rPr>
              <a:t>Créatinine&gt; 1,5 x LSN</a:t>
            </a:r>
          </a:p>
          <a:p>
            <a:pPr lvl="2"/>
            <a:r>
              <a:rPr lang="fr-FR" dirty="0">
                <a:solidFill>
                  <a:srgbClr val="000000"/>
                </a:solidFill>
                <a:latin typeface="Arial" panose="020B0604020202020204" pitchFamily="34" charset="0"/>
                <a:cs typeface="Arial" panose="020B0604020202020204" pitchFamily="34" charset="0"/>
              </a:rPr>
              <a:t>Transaminases&gt; 1,5 x LSN ou&gt; 5 x LSN (métastases hépatiques)</a:t>
            </a:r>
          </a:p>
          <a:p>
            <a:pPr lvl="2"/>
            <a:r>
              <a:rPr lang="fr-FR" dirty="0">
                <a:solidFill>
                  <a:srgbClr val="000000"/>
                </a:solidFill>
                <a:latin typeface="Arial" panose="020B0604020202020204" pitchFamily="34" charset="0"/>
                <a:cs typeface="Arial" panose="020B0604020202020204" pitchFamily="34" charset="0"/>
              </a:rPr>
              <a:t>Bilirubine&gt; 1,5 x LSN</a:t>
            </a:r>
          </a:p>
          <a:p>
            <a:endParaRPr lang="ro-RO" sz="12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80786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fontScale="90000"/>
          </a:bodyPr>
          <a:lstStyle/>
          <a:p>
            <a:r>
              <a:rPr lang="fr-FR" sz="3600" b="1" dirty="0">
                <a:solidFill>
                  <a:srgbClr val="000000"/>
                </a:solidFill>
                <a:latin typeface="Arial" panose="020B0604020202020204" pitchFamily="34" charset="0"/>
                <a:cs typeface="Arial" panose="020B0604020202020204" pitchFamily="34" charset="0"/>
              </a:rPr>
              <a:t>Vérification des conditions qui permettent / contre-indiquent l'administration (oncologue</a:t>
            </a:r>
            <a:r>
              <a:rPr lang="fr-FR" sz="3600" b="1" dirty="0" smtClean="0">
                <a:solidFill>
                  <a:srgbClr val="000000"/>
                </a:solidFill>
                <a:latin typeface="Arial" panose="020B0604020202020204" pitchFamily="34" charset="0"/>
                <a:cs typeface="Arial" panose="020B0604020202020204" pitchFamily="34" charset="0"/>
              </a:rPr>
              <a:t>)</a:t>
            </a:r>
            <a:endParaRPr lang="ro-RO" sz="3600" b="1" dirty="0">
              <a:solidFill>
                <a:srgbClr val="0070C0"/>
              </a:solidFill>
              <a:latin typeface="Arial" panose="020B0604020202020204" pitchFamily="34" charset="0"/>
              <a:cs typeface="Arial" panose="020B0604020202020204" pitchFamily="34" charset="0"/>
            </a:endParaRPr>
          </a:p>
        </p:txBody>
      </p:sp>
      <p:sp>
        <p:nvSpPr>
          <p:cNvPr id="3" name="Substituent conținut 2"/>
          <p:cNvSpPr>
            <a:spLocks noGrp="1"/>
          </p:cNvSpPr>
          <p:nvPr>
            <p:ph idx="1"/>
          </p:nvPr>
        </p:nvSpPr>
        <p:spPr>
          <a:xfrm>
            <a:off x="628650" y="2206624"/>
            <a:ext cx="7886700" cy="4651375"/>
          </a:xfrm>
        </p:spPr>
        <p:txBody>
          <a:bodyPr>
            <a:normAutofit/>
          </a:bodyPr>
          <a:lstStyle/>
          <a:p>
            <a:r>
              <a:rPr lang="fr-FR" sz="1900" b="1" dirty="0">
                <a:solidFill>
                  <a:srgbClr val="000000"/>
                </a:solidFill>
                <a:latin typeface="Arial" panose="020B0604020202020204" pitchFamily="34" charset="0"/>
                <a:cs typeface="Arial" panose="020B0604020202020204" pitchFamily="34" charset="0"/>
              </a:rPr>
              <a:t>L'état clinique du patient</a:t>
            </a:r>
            <a:endParaRPr lang="fr-FR" sz="1900" dirty="0">
              <a:solidFill>
                <a:srgbClr val="000000"/>
              </a:solidFill>
              <a:latin typeface="Arial" panose="020B0604020202020204" pitchFamily="34" charset="0"/>
              <a:cs typeface="Arial" panose="020B0604020202020204" pitchFamily="34" charset="0"/>
            </a:endParaRPr>
          </a:p>
          <a:p>
            <a:r>
              <a:rPr lang="fr-FR" sz="1900" b="1" dirty="0">
                <a:solidFill>
                  <a:srgbClr val="000000"/>
                </a:solidFill>
                <a:latin typeface="Arial" panose="020B0604020202020204" pitchFamily="34" charset="0"/>
                <a:cs typeface="Arial" panose="020B0604020202020204" pitchFamily="34" charset="0"/>
              </a:rPr>
              <a:t>Médicaments concomitants</a:t>
            </a:r>
            <a:r>
              <a:rPr lang="fr-FR" sz="1900" dirty="0">
                <a:solidFill>
                  <a:srgbClr val="000000"/>
                </a:solidFill>
                <a:latin typeface="Arial" panose="020B0604020202020204" pitchFamily="34" charset="0"/>
                <a:cs typeface="Arial" panose="020B0604020202020204" pitchFamily="34" charset="0"/>
              </a:rPr>
              <a:t> (interactions médicamenteuses)</a:t>
            </a:r>
          </a:p>
          <a:p>
            <a:r>
              <a:rPr lang="fr-FR" sz="1900" b="1" dirty="0">
                <a:solidFill>
                  <a:srgbClr val="000000"/>
                </a:solidFill>
                <a:latin typeface="Arial" panose="020B0604020202020204" pitchFamily="34" charset="0"/>
                <a:cs typeface="Arial" panose="020B0604020202020204" pitchFamily="34" charset="0"/>
              </a:rPr>
              <a:t>Conditions qui contre-indiquent l'administration</a:t>
            </a:r>
            <a:endParaRPr lang="fr-FR" sz="1900" dirty="0">
              <a:solidFill>
                <a:srgbClr val="000000"/>
              </a:solidFill>
              <a:latin typeface="Arial" panose="020B0604020202020204" pitchFamily="34" charset="0"/>
              <a:cs typeface="Arial" panose="020B0604020202020204" pitchFamily="34" charset="0"/>
            </a:endParaRPr>
          </a:p>
          <a:p>
            <a:pPr marL="742950" lvl="1" indent="-285750"/>
            <a:r>
              <a:rPr lang="fr-FR" sz="1900" dirty="0">
                <a:solidFill>
                  <a:srgbClr val="000000"/>
                </a:solidFill>
                <a:latin typeface="Arial" panose="020B0604020202020204" pitchFamily="34" charset="0"/>
                <a:cs typeface="Arial" panose="020B0604020202020204" pitchFamily="34" charset="0"/>
              </a:rPr>
              <a:t>infection</a:t>
            </a:r>
          </a:p>
          <a:p>
            <a:pPr marL="742950" lvl="1" indent="-285750"/>
            <a:r>
              <a:rPr lang="fr-FR" sz="1900" dirty="0">
                <a:solidFill>
                  <a:srgbClr val="000000"/>
                </a:solidFill>
                <a:latin typeface="Arial" panose="020B0604020202020204" pitchFamily="34" charset="0"/>
                <a:cs typeface="Arial" panose="020B0604020202020204" pitchFamily="34" charset="0"/>
              </a:rPr>
              <a:t>neutropénie</a:t>
            </a:r>
          </a:p>
          <a:p>
            <a:pPr marL="742950" lvl="1" indent="-285750"/>
            <a:r>
              <a:rPr lang="fr-FR" sz="1900" dirty="0" err="1">
                <a:solidFill>
                  <a:srgbClr val="000000"/>
                </a:solidFill>
                <a:latin typeface="Arial" panose="020B0604020202020204" pitchFamily="34" charset="0"/>
                <a:cs typeface="Arial" panose="020B0604020202020204" pitchFamily="34" charset="0"/>
              </a:rPr>
              <a:t>thrombocytopénie</a:t>
            </a:r>
            <a:endParaRPr lang="fr-FR" sz="1900" dirty="0">
              <a:solidFill>
                <a:srgbClr val="000000"/>
              </a:solidFill>
              <a:latin typeface="Arial" panose="020B0604020202020204" pitchFamily="34" charset="0"/>
              <a:cs typeface="Arial" panose="020B0604020202020204" pitchFamily="34" charset="0"/>
            </a:endParaRPr>
          </a:p>
          <a:p>
            <a:pPr marL="742950" lvl="1" indent="-285750"/>
            <a:r>
              <a:rPr lang="fr-FR" sz="1900" dirty="0">
                <a:solidFill>
                  <a:srgbClr val="000000"/>
                </a:solidFill>
                <a:latin typeface="Arial" panose="020B0604020202020204" pitchFamily="34" charset="0"/>
                <a:cs typeface="Arial" panose="020B0604020202020204" pitchFamily="34" charset="0"/>
              </a:rPr>
              <a:t>atteinte clinique sévère</a:t>
            </a:r>
          </a:p>
          <a:p>
            <a:pPr marL="742950" lvl="1" indent="-285750"/>
            <a:r>
              <a:rPr lang="fr-FR" sz="1900" dirty="0">
                <a:solidFill>
                  <a:srgbClr val="000000"/>
                </a:solidFill>
                <a:latin typeface="Arial" panose="020B0604020202020204" pitchFamily="34" charset="0"/>
                <a:cs typeface="Arial" panose="020B0604020202020204" pitchFamily="34" charset="0"/>
              </a:rPr>
              <a:t>grossesse (surtout le premier trimestre)</a:t>
            </a:r>
          </a:p>
          <a:p>
            <a:pPr marL="742950" lvl="1" indent="-285750"/>
            <a:r>
              <a:rPr lang="fr-FR" sz="1900" dirty="0">
                <a:solidFill>
                  <a:srgbClr val="000000"/>
                </a:solidFill>
                <a:latin typeface="Arial" panose="020B0604020202020204" pitchFamily="34" charset="0"/>
                <a:cs typeface="Arial" panose="020B0604020202020204" pitchFamily="34" charset="0"/>
              </a:rPr>
              <a:t>chirurgie majeure au cours des 2 dernières semaines</a:t>
            </a:r>
          </a:p>
          <a:p>
            <a:pPr marL="742950" lvl="1" indent="-285750"/>
            <a:r>
              <a:rPr lang="fr-FR" sz="1900" dirty="0">
                <a:solidFill>
                  <a:srgbClr val="000000"/>
                </a:solidFill>
                <a:latin typeface="Arial" panose="020B0604020202020204" pitchFamily="34" charset="0"/>
                <a:cs typeface="Arial" panose="020B0604020202020204" pitchFamily="34" charset="0"/>
              </a:rPr>
              <a:t>patient difficile, peu coopératif, non conforme au traitement (surtout oral)</a:t>
            </a:r>
          </a:p>
          <a:p>
            <a:pPr marL="742950" lvl="1" indent="-285750"/>
            <a:r>
              <a:rPr lang="fr-FR" sz="1900" dirty="0">
                <a:solidFill>
                  <a:srgbClr val="000000"/>
                </a:solidFill>
                <a:latin typeface="Arial" panose="020B0604020202020204" pitchFamily="34" charset="0"/>
                <a:cs typeface="Arial" panose="020B0604020202020204" pitchFamily="34" charset="0"/>
              </a:rPr>
              <a:t>problèmes psychologiques</a:t>
            </a:r>
          </a:p>
          <a:p>
            <a:pPr marL="742950" lvl="1" indent="-285750"/>
            <a:r>
              <a:rPr lang="fr-FR" sz="1900" dirty="0">
                <a:solidFill>
                  <a:srgbClr val="000000"/>
                </a:solidFill>
                <a:latin typeface="Arial" panose="020B0604020202020204" pitchFamily="34" charset="0"/>
                <a:cs typeface="Arial" panose="020B0604020202020204" pitchFamily="34" charset="0"/>
              </a:rPr>
              <a:t>maladie en phase terminale</a:t>
            </a:r>
          </a:p>
          <a:p>
            <a:endParaRPr lang="ro-RO"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85990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r>
              <a:rPr lang="fr-FR" sz="3600" b="1" dirty="0">
                <a:solidFill>
                  <a:srgbClr val="000000"/>
                </a:solidFill>
                <a:latin typeface="Arial" panose="020B0604020202020204" pitchFamily="34" charset="0"/>
                <a:cs typeface="Arial" panose="020B0604020202020204" pitchFamily="34" charset="0"/>
              </a:rPr>
              <a:t>Calcul de dose de cytostatiques (oncologue</a:t>
            </a:r>
            <a:r>
              <a:rPr lang="fr-FR" sz="3600" b="1" dirty="0" smtClean="0">
                <a:solidFill>
                  <a:srgbClr val="000000"/>
                </a:solidFill>
                <a:latin typeface="Arial" panose="020B0604020202020204" pitchFamily="34" charset="0"/>
                <a:cs typeface="Arial" panose="020B0604020202020204" pitchFamily="34" charset="0"/>
              </a:rPr>
              <a:t>)</a:t>
            </a:r>
            <a:endParaRPr lang="ro-RO" sz="3600" b="1" dirty="0">
              <a:latin typeface="Arial" panose="020B0604020202020204" pitchFamily="34" charset="0"/>
              <a:cs typeface="Arial" panose="020B0604020202020204" pitchFamily="34" charset="0"/>
            </a:endParaRPr>
          </a:p>
        </p:txBody>
      </p:sp>
      <p:sp>
        <p:nvSpPr>
          <p:cNvPr id="3" name="Substituent conținut 2"/>
          <p:cNvSpPr>
            <a:spLocks noGrp="1"/>
          </p:cNvSpPr>
          <p:nvPr>
            <p:ph idx="1"/>
          </p:nvPr>
        </p:nvSpPr>
        <p:spPr>
          <a:xfrm>
            <a:off x="200025" y="1690688"/>
            <a:ext cx="8743950" cy="5004025"/>
          </a:xfrm>
        </p:spPr>
        <p:txBody>
          <a:bodyPr>
            <a:noAutofit/>
          </a:bodyPr>
          <a:lstStyle/>
          <a:p>
            <a:r>
              <a:rPr lang="fr-FR" sz="1800" b="1" dirty="0">
                <a:solidFill>
                  <a:srgbClr val="000000"/>
                </a:solidFill>
                <a:latin typeface="Arial" panose="020B0604020202020204" pitchFamily="34" charset="0"/>
                <a:cs typeface="Arial" panose="020B0604020202020204" pitchFamily="34" charset="0"/>
              </a:rPr>
              <a:t>En fonction de la surface corporelle (BSA)</a:t>
            </a:r>
          </a:p>
          <a:p>
            <a:pPr marL="742950" lvl="1" indent="-285750"/>
            <a:r>
              <a:rPr lang="fr-FR" sz="1800" i="1" dirty="0">
                <a:solidFill>
                  <a:srgbClr val="000000"/>
                </a:solidFill>
                <a:latin typeface="Arial" panose="020B0604020202020204" pitchFamily="34" charset="0"/>
                <a:cs typeface="Arial" panose="020B0604020202020204" pitchFamily="34" charset="0"/>
              </a:rPr>
              <a:t>la surface du corps est un compromis entre la taille et le poids</a:t>
            </a:r>
          </a:p>
          <a:p>
            <a:pPr marL="742950" lvl="1" indent="-285750"/>
            <a:r>
              <a:rPr lang="fr-FR" sz="1800" i="1" dirty="0">
                <a:solidFill>
                  <a:srgbClr val="000000"/>
                </a:solidFill>
                <a:latin typeface="Arial" panose="020B0604020202020204" pitchFamily="34" charset="0"/>
                <a:cs typeface="Arial" panose="020B0604020202020204" pitchFamily="34" charset="0"/>
              </a:rPr>
              <a:t>il est utilisé car il est moins affecté par une masse graisseuse anormale</a:t>
            </a:r>
          </a:p>
          <a:p>
            <a:r>
              <a:rPr lang="fr-FR" sz="1600" dirty="0">
                <a:solidFill>
                  <a:srgbClr val="000000"/>
                </a:solidFill>
                <a:latin typeface="Arial" panose="020B0604020202020204" pitchFamily="34" charset="0"/>
                <a:cs typeface="Arial" panose="020B0604020202020204" pitchFamily="34" charset="0"/>
              </a:rPr>
              <a:t>Surface corporelle (BSA) (Dubois) = 0,007184 x (taille du patient en cm) 0,725 x (poids du patient en kg) 0,425</a:t>
            </a:r>
          </a:p>
          <a:p>
            <a:pPr marL="742950" lvl="1" indent="-285750"/>
            <a:r>
              <a:rPr lang="fr-FR" sz="1800" i="1" dirty="0">
                <a:solidFill>
                  <a:srgbClr val="000000"/>
                </a:solidFill>
                <a:latin typeface="Arial" panose="020B0604020202020204" pitchFamily="34" charset="0"/>
                <a:cs typeface="Arial" panose="020B0604020202020204" pitchFamily="34" charset="0"/>
              </a:rPr>
              <a:t>il est généralement calculé à l'aide de règles de calcul ou, plus récemment, d'un logiciel spécial</a:t>
            </a:r>
          </a:p>
          <a:p>
            <a:pPr marL="742950" lvl="1" indent="-285750"/>
            <a:r>
              <a:rPr lang="fr-FR" sz="1800" i="1" dirty="0">
                <a:solidFill>
                  <a:srgbClr val="000000"/>
                </a:solidFill>
                <a:latin typeface="Arial" panose="020B0604020202020204" pitchFamily="34" charset="0"/>
                <a:cs typeface="Arial" panose="020B0604020202020204" pitchFamily="34" charset="0"/>
              </a:rPr>
              <a:t>situations particulières</a:t>
            </a:r>
          </a:p>
          <a:p>
            <a:pPr lvl="2"/>
            <a:r>
              <a:rPr lang="fr-FR" sz="1600" i="1" dirty="0">
                <a:solidFill>
                  <a:srgbClr val="000000"/>
                </a:solidFill>
                <a:latin typeface="Arial" panose="020B0604020202020204" pitchFamily="34" charset="0"/>
                <a:cs typeface="Arial" panose="020B0604020202020204" pitchFamily="34" charset="0"/>
              </a:rPr>
              <a:t>obésité</a:t>
            </a:r>
          </a:p>
          <a:p>
            <a:r>
              <a:rPr lang="fr-FR" sz="1600" i="1" dirty="0">
                <a:solidFill>
                  <a:srgbClr val="000000"/>
                </a:solidFill>
                <a:latin typeface="Arial" panose="020B0604020202020204" pitchFamily="34" charset="0"/>
                <a:cs typeface="Arial" panose="020B0604020202020204" pitchFamily="34" charset="0"/>
              </a:rPr>
              <a:t>Poids corporel idéal pour les hommes = 50 kg + 0,9 kg pour chaque cm au-dessus de 152 cm</a:t>
            </a:r>
            <a:endParaRPr lang="fr-FR" sz="1600" dirty="0">
              <a:solidFill>
                <a:srgbClr val="000000"/>
              </a:solidFill>
              <a:latin typeface="Arial" panose="020B0604020202020204" pitchFamily="34" charset="0"/>
              <a:cs typeface="Arial" panose="020B0604020202020204" pitchFamily="34" charset="0"/>
            </a:endParaRPr>
          </a:p>
          <a:p>
            <a:r>
              <a:rPr lang="fr-FR" sz="1600" i="1" dirty="0">
                <a:solidFill>
                  <a:srgbClr val="000000"/>
                </a:solidFill>
                <a:latin typeface="Arial" panose="020B0604020202020204" pitchFamily="34" charset="0"/>
                <a:cs typeface="Arial" panose="020B0604020202020204" pitchFamily="34" charset="0"/>
              </a:rPr>
              <a:t>Poids corporel idéal pour les femmes = 45,5 kg + 0,9 kg pour chaque cm au-dessus de 152 cm</a:t>
            </a:r>
            <a:endParaRPr lang="fr-FR" sz="1600" dirty="0">
              <a:solidFill>
                <a:srgbClr val="000000"/>
              </a:solidFill>
              <a:latin typeface="Arial" panose="020B0604020202020204" pitchFamily="34" charset="0"/>
              <a:cs typeface="Arial" panose="020B0604020202020204" pitchFamily="34" charset="0"/>
            </a:endParaRPr>
          </a:p>
          <a:p>
            <a:r>
              <a:rPr lang="fr-FR" sz="1600" i="1" dirty="0">
                <a:solidFill>
                  <a:srgbClr val="000000"/>
                </a:solidFill>
                <a:latin typeface="Arial" panose="020B0604020202020204" pitchFamily="34" charset="0"/>
                <a:cs typeface="Arial" panose="020B0604020202020204" pitchFamily="34" charset="0"/>
              </a:rPr>
              <a:t>Poids corporel ajusté = IBW + 0,4 (poids corporel réel - IBW)</a:t>
            </a:r>
            <a:endParaRPr lang="fr-FR" sz="1600" dirty="0">
              <a:solidFill>
                <a:srgbClr val="000000"/>
              </a:solidFill>
              <a:latin typeface="Arial" panose="020B0604020202020204" pitchFamily="34" charset="0"/>
              <a:cs typeface="Arial" panose="020B0604020202020204" pitchFamily="34" charset="0"/>
            </a:endParaRPr>
          </a:p>
          <a:p>
            <a:pPr lvl="2"/>
            <a:r>
              <a:rPr lang="fr-FR" sz="1600" i="1" dirty="0">
                <a:solidFill>
                  <a:srgbClr val="000000"/>
                </a:solidFill>
                <a:latin typeface="Arial" panose="020B0604020202020204" pitchFamily="34" charset="0"/>
                <a:cs typeface="Arial" panose="020B0604020202020204" pitchFamily="34" charset="0"/>
              </a:rPr>
              <a:t>épanchements malins (ascite, moins souvent pleurésie massive)</a:t>
            </a:r>
          </a:p>
          <a:p>
            <a:pPr marL="742950" lvl="1" indent="-285750"/>
            <a:r>
              <a:rPr lang="fr-FR" sz="1800" i="1" dirty="0">
                <a:solidFill>
                  <a:srgbClr val="000000"/>
                </a:solidFill>
                <a:latin typeface="Arial" panose="020B0604020202020204" pitchFamily="34" charset="0"/>
                <a:cs typeface="Arial" panose="020B0604020202020204" pitchFamily="34" charset="0"/>
              </a:rPr>
              <a:t>plafonnement de la dose (par exemple, vincristine)</a:t>
            </a:r>
          </a:p>
          <a:p>
            <a:endParaRPr lang="ro-RO" sz="20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88230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ine 6"/>
          <p:cNvPicPr>
            <a:picLocks noChangeAspect="1"/>
          </p:cNvPicPr>
          <p:nvPr/>
        </p:nvPicPr>
        <p:blipFill>
          <a:blip r:embed="rId3"/>
          <a:stretch>
            <a:fillRect/>
          </a:stretch>
        </p:blipFill>
        <p:spPr>
          <a:xfrm>
            <a:off x="468969" y="590549"/>
            <a:ext cx="3965310" cy="5601253"/>
          </a:xfrm>
          <a:prstGeom prst="rect">
            <a:avLst/>
          </a:prstGeom>
        </p:spPr>
      </p:pic>
      <p:pic>
        <p:nvPicPr>
          <p:cNvPr id="8" name="Imagine 7"/>
          <p:cNvPicPr>
            <a:picLocks noChangeAspect="1"/>
          </p:cNvPicPr>
          <p:nvPr/>
        </p:nvPicPr>
        <p:blipFill>
          <a:blip r:embed="rId4"/>
          <a:stretch>
            <a:fillRect/>
          </a:stretch>
        </p:blipFill>
        <p:spPr>
          <a:xfrm>
            <a:off x="4931884" y="2105024"/>
            <a:ext cx="3897906" cy="3171825"/>
          </a:xfrm>
          <a:prstGeom prst="rect">
            <a:avLst/>
          </a:prstGeom>
        </p:spPr>
      </p:pic>
    </p:spTree>
    <p:extLst>
      <p:ext uri="{BB962C8B-B14F-4D97-AF65-F5344CB8AC3E}">
        <p14:creationId xmlns:p14="http://schemas.microsoft.com/office/powerpoint/2010/main" val="296978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stituent conținut 2"/>
          <p:cNvSpPr>
            <a:spLocks noGrp="1"/>
          </p:cNvSpPr>
          <p:nvPr>
            <p:ph idx="1"/>
          </p:nvPr>
        </p:nvSpPr>
        <p:spPr>
          <a:xfrm>
            <a:off x="600075" y="2092325"/>
            <a:ext cx="7886700" cy="4351338"/>
          </a:xfrm>
        </p:spPr>
        <p:txBody>
          <a:bodyPr>
            <a:normAutofit fontScale="92500" lnSpcReduction="10000"/>
          </a:bodyPr>
          <a:lstStyle/>
          <a:p>
            <a:r>
              <a:rPr lang="fr-FR" sz="2000" b="1" dirty="0">
                <a:solidFill>
                  <a:srgbClr val="000000"/>
                </a:solidFill>
                <a:latin typeface="Times New Roman" panose="02020603050405020304" pitchFamily="18" charset="0"/>
              </a:rPr>
              <a:t>En fonction de la capacité d'excrétion rénale (ASC</a:t>
            </a:r>
            <a:r>
              <a:rPr lang="fr-FR" sz="2000" b="1" dirty="0" smtClean="0">
                <a:solidFill>
                  <a:srgbClr val="000000"/>
                </a:solidFill>
                <a:latin typeface="Times New Roman" panose="02020603050405020304" pitchFamily="18" charset="0"/>
              </a:rPr>
              <a:t>)</a:t>
            </a:r>
            <a:endParaRPr lang="ro-RO" sz="2000" b="1" dirty="0">
              <a:latin typeface="Arial" panose="020B0604020202020204" pitchFamily="34" charset="0"/>
              <a:cs typeface="Arial" panose="020B0604020202020204" pitchFamily="34" charset="0"/>
            </a:endParaRPr>
          </a:p>
          <a:p>
            <a:pPr lvl="1"/>
            <a:r>
              <a:rPr lang="ro-RO" sz="1600" dirty="0" smtClean="0">
                <a:latin typeface="Arial" panose="020B0604020202020204" pitchFamily="34" charset="0"/>
                <a:cs typeface="Arial" panose="020B0604020202020204" pitchFamily="34" charset="0"/>
              </a:rPr>
              <a:t>AUC – </a:t>
            </a:r>
            <a:r>
              <a:rPr lang="ro-RO" b="1" dirty="0" smtClean="0">
                <a:solidFill>
                  <a:srgbClr val="FF0000"/>
                </a:solidFill>
                <a:latin typeface="Arial" panose="020B0604020202020204" pitchFamily="34" charset="0"/>
                <a:cs typeface="Arial" panose="020B0604020202020204" pitchFamily="34" charset="0"/>
              </a:rPr>
              <a:t>A</a:t>
            </a:r>
            <a:r>
              <a:rPr lang="ro-RO" sz="1600" dirty="0" smtClean="0">
                <a:latin typeface="Arial" panose="020B0604020202020204" pitchFamily="34" charset="0"/>
                <a:cs typeface="Arial" panose="020B0604020202020204" pitchFamily="34" charset="0"/>
              </a:rPr>
              <a:t>rea </a:t>
            </a:r>
            <a:r>
              <a:rPr lang="ro-RO" b="1" dirty="0" smtClean="0">
                <a:solidFill>
                  <a:srgbClr val="FF0000"/>
                </a:solidFill>
                <a:latin typeface="Arial" panose="020B0604020202020204" pitchFamily="34" charset="0"/>
                <a:cs typeface="Arial" panose="020B0604020202020204" pitchFamily="34" charset="0"/>
              </a:rPr>
              <a:t>U</a:t>
            </a:r>
            <a:r>
              <a:rPr lang="ro-RO" sz="1600" dirty="0" smtClean="0">
                <a:latin typeface="Arial" panose="020B0604020202020204" pitchFamily="34" charset="0"/>
                <a:cs typeface="Arial" panose="020B0604020202020204" pitchFamily="34" charset="0"/>
              </a:rPr>
              <a:t>nder the </a:t>
            </a:r>
            <a:r>
              <a:rPr lang="en-US" sz="1600" dirty="0">
                <a:latin typeface="Arial" panose="020B0604020202020204" pitchFamily="34" charset="0"/>
                <a:cs typeface="Arial" panose="020B0604020202020204" pitchFamily="34" charset="0"/>
              </a:rPr>
              <a:t>plasma drug concentration-time </a:t>
            </a:r>
            <a:r>
              <a:rPr lang="ro-RO" b="1" dirty="0" smtClean="0">
                <a:solidFill>
                  <a:srgbClr val="FF0000"/>
                </a:solidFill>
                <a:latin typeface="Arial" panose="020B0604020202020204" pitchFamily="34" charset="0"/>
                <a:cs typeface="Arial" panose="020B0604020202020204" pitchFamily="34" charset="0"/>
              </a:rPr>
              <a:t>C</a:t>
            </a:r>
            <a:r>
              <a:rPr lang="en-US" sz="1600" dirty="0" err="1" smtClean="0">
                <a:latin typeface="Arial" panose="020B0604020202020204" pitchFamily="34" charset="0"/>
                <a:cs typeface="Arial" panose="020B0604020202020204" pitchFamily="34" charset="0"/>
              </a:rPr>
              <a:t>urve</a:t>
            </a:r>
            <a:r>
              <a:rPr lang="en-US" sz="1600" dirty="0" smtClean="0">
                <a:latin typeface="Arial" panose="020B0604020202020204" pitchFamily="34" charset="0"/>
                <a:cs typeface="Arial" panose="020B0604020202020204" pitchFamily="34" charset="0"/>
              </a:rPr>
              <a:t> </a:t>
            </a:r>
            <a:endParaRPr lang="ro-RO" sz="1600" dirty="0" smtClean="0">
              <a:latin typeface="Arial" panose="020B0604020202020204" pitchFamily="34" charset="0"/>
              <a:cs typeface="Arial" panose="020B0604020202020204" pitchFamily="34" charset="0"/>
            </a:endParaRPr>
          </a:p>
          <a:p>
            <a:pPr lvl="1"/>
            <a:endParaRPr lang="ro-RO" sz="1600" dirty="0" smtClean="0">
              <a:latin typeface="Arial" panose="020B0604020202020204" pitchFamily="34" charset="0"/>
              <a:cs typeface="Arial" panose="020B0604020202020204" pitchFamily="34" charset="0"/>
            </a:endParaRPr>
          </a:p>
          <a:p>
            <a:pPr lvl="1"/>
            <a:endParaRPr lang="ro-RO" sz="1600" dirty="0">
              <a:latin typeface="Arial" panose="020B0604020202020204" pitchFamily="34" charset="0"/>
              <a:cs typeface="Arial" panose="020B0604020202020204" pitchFamily="34" charset="0"/>
            </a:endParaRPr>
          </a:p>
          <a:p>
            <a:pPr lvl="1"/>
            <a:endParaRPr lang="ro-RO" sz="1600" dirty="0" smtClean="0">
              <a:latin typeface="Arial" panose="020B0604020202020204" pitchFamily="34" charset="0"/>
              <a:cs typeface="Arial" panose="020B0604020202020204" pitchFamily="34" charset="0"/>
            </a:endParaRPr>
          </a:p>
          <a:p>
            <a:pPr lvl="1"/>
            <a:endParaRPr lang="ro-RO" sz="1600" dirty="0">
              <a:latin typeface="Arial" panose="020B0604020202020204" pitchFamily="34" charset="0"/>
              <a:cs typeface="Arial" panose="020B0604020202020204" pitchFamily="34" charset="0"/>
            </a:endParaRPr>
          </a:p>
          <a:p>
            <a:pPr lvl="1"/>
            <a:endParaRPr lang="ro-RO" sz="1600" dirty="0" smtClean="0">
              <a:latin typeface="Arial" panose="020B0604020202020204" pitchFamily="34" charset="0"/>
              <a:cs typeface="Arial" panose="020B0604020202020204" pitchFamily="34" charset="0"/>
            </a:endParaRPr>
          </a:p>
          <a:p>
            <a:pPr lvl="1"/>
            <a:endParaRPr lang="ro-RO" sz="1600" dirty="0" smtClean="0">
              <a:latin typeface="Arial" panose="020B0604020202020204" pitchFamily="34" charset="0"/>
              <a:cs typeface="Arial" panose="020B0604020202020204" pitchFamily="34" charset="0"/>
            </a:endParaRPr>
          </a:p>
          <a:p>
            <a:pPr lvl="1"/>
            <a:endParaRPr lang="ro-RO" sz="1600" dirty="0">
              <a:latin typeface="Arial" panose="020B0604020202020204" pitchFamily="34" charset="0"/>
              <a:cs typeface="Arial" panose="020B0604020202020204" pitchFamily="34" charset="0"/>
            </a:endParaRPr>
          </a:p>
          <a:p>
            <a:r>
              <a:rPr lang="fr-FR" sz="1700" dirty="0">
                <a:solidFill>
                  <a:srgbClr val="000000"/>
                </a:solidFill>
                <a:latin typeface="Arial" panose="020B0604020202020204" pitchFamily="34" charset="0"/>
                <a:cs typeface="Arial" panose="020B0604020202020204" pitchFamily="34" charset="0"/>
              </a:rPr>
              <a:t>AUC - </a:t>
            </a:r>
            <a:r>
              <a:rPr lang="fr-FR" sz="1700" b="1" dirty="0">
                <a:solidFill>
                  <a:srgbClr val="000000"/>
                </a:solidFill>
                <a:latin typeface="Arial" panose="020B0604020202020204" pitchFamily="34" charset="0"/>
                <a:cs typeface="Arial" panose="020B0604020202020204" pitchFamily="34" charset="0"/>
              </a:rPr>
              <a:t>A</a:t>
            </a:r>
            <a:r>
              <a:rPr lang="fr-FR" sz="1700" dirty="0">
                <a:solidFill>
                  <a:srgbClr val="000000"/>
                </a:solidFill>
                <a:latin typeface="Arial" panose="020B0604020202020204" pitchFamily="34" charset="0"/>
                <a:cs typeface="Arial" panose="020B0604020202020204" pitchFamily="34" charset="0"/>
              </a:rPr>
              <a:t> </a:t>
            </a:r>
            <a:r>
              <a:rPr lang="fr-FR" sz="1700" dirty="0" err="1">
                <a:solidFill>
                  <a:srgbClr val="000000"/>
                </a:solidFill>
                <a:latin typeface="Arial" panose="020B0604020202020204" pitchFamily="34" charset="0"/>
                <a:cs typeface="Arial" panose="020B0604020202020204" pitchFamily="34" charset="0"/>
              </a:rPr>
              <a:t>rea</a:t>
            </a:r>
            <a:r>
              <a:rPr lang="fr-FR" sz="1700" dirty="0">
                <a:solidFill>
                  <a:srgbClr val="000000"/>
                </a:solidFill>
                <a:latin typeface="Arial" panose="020B0604020202020204" pitchFamily="34" charset="0"/>
                <a:cs typeface="Arial" panose="020B0604020202020204" pitchFamily="34" charset="0"/>
              </a:rPr>
              <a:t> </a:t>
            </a:r>
            <a:r>
              <a:rPr lang="fr-FR" sz="1700" b="1" dirty="0">
                <a:solidFill>
                  <a:srgbClr val="000000"/>
                </a:solidFill>
                <a:latin typeface="Arial" panose="020B0604020202020204" pitchFamily="34" charset="0"/>
                <a:cs typeface="Arial" panose="020B0604020202020204" pitchFamily="34" charset="0"/>
              </a:rPr>
              <a:t>U</a:t>
            </a:r>
            <a:r>
              <a:rPr lang="fr-FR" sz="1700" dirty="0">
                <a:solidFill>
                  <a:srgbClr val="000000"/>
                </a:solidFill>
                <a:latin typeface="Arial" panose="020B0604020202020204" pitchFamily="34" charset="0"/>
                <a:cs typeface="Arial" panose="020B0604020202020204" pitchFamily="34" charset="0"/>
              </a:rPr>
              <a:t> </a:t>
            </a:r>
            <a:r>
              <a:rPr lang="fr-FR" sz="1700" dirty="0" err="1">
                <a:solidFill>
                  <a:srgbClr val="000000"/>
                </a:solidFill>
                <a:latin typeface="Arial" panose="020B0604020202020204" pitchFamily="34" charset="0"/>
                <a:cs typeface="Arial" panose="020B0604020202020204" pitchFamily="34" charset="0"/>
              </a:rPr>
              <a:t>nder</a:t>
            </a:r>
            <a:r>
              <a:rPr lang="fr-FR" sz="1700" dirty="0">
                <a:solidFill>
                  <a:srgbClr val="000000"/>
                </a:solidFill>
                <a:latin typeface="Arial" panose="020B0604020202020204" pitchFamily="34" charset="0"/>
                <a:cs typeface="Arial" panose="020B0604020202020204" pitchFamily="34" charset="0"/>
              </a:rPr>
              <a:t> le médicament concentration plasmatique-temps </a:t>
            </a:r>
            <a:r>
              <a:rPr lang="fr-FR" sz="1700" b="1" dirty="0">
                <a:solidFill>
                  <a:srgbClr val="000000"/>
                </a:solidFill>
                <a:latin typeface="Arial" panose="020B0604020202020204" pitchFamily="34" charset="0"/>
                <a:cs typeface="Arial" panose="020B0604020202020204" pitchFamily="34" charset="0"/>
              </a:rPr>
              <a:t>C</a:t>
            </a:r>
            <a:r>
              <a:rPr lang="fr-FR" sz="1700" dirty="0">
                <a:solidFill>
                  <a:srgbClr val="000000"/>
                </a:solidFill>
                <a:latin typeface="Arial" panose="020B0604020202020204" pitchFamily="34" charset="0"/>
                <a:cs typeface="Arial" panose="020B0604020202020204" pitchFamily="34" charset="0"/>
              </a:rPr>
              <a:t> </a:t>
            </a:r>
            <a:r>
              <a:rPr lang="fr-FR" sz="1700" dirty="0" err="1">
                <a:solidFill>
                  <a:srgbClr val="000000"/>
                </a:solidFill>
                <a:latin typeface="Arial" panose="020B0604020202020204" pitchFamily="34" charset="0"/>
                <a:cs typeface="Arial" panose="020B0604020202020204" pitchFamily="34" charset="0"/>
              </a:rPr>
              <a:t>Urve</a:t>
            </a:r>
            <a:endParaRPr lang="fr-FR" sz="1700" dirty="0">
              <a:solidFill>
                <a:srgbClr val="000000"/>
              </a:solidFill>
              <a:latin typeface="Arial" panose="020B0604020202020204" pitchFamily="34" charset="0"/>
              <a:cs typeface="Arial" panose="020B0604020202020204" pitchFamily="34" charset="0"/>
            </a:endParaRPr>
          </a:p>
          <a:p>
            <a:r>
              <a:rPr lang="fr-FR" sz="1700" dirty="0">
                <a:solidFill>
                  <a:srgbClr val="000000"/>
                </a:solidFill>
                <a:latin typeface="Arial" panose="020B0604020202020204" pitchFamily="34" charset="0"/>
                <a:cs typeface="Arial" panose="020B0604020202020204" pitchFamily="34" charset="0"/>
              </a:rPr>
              <a:t>L'AUC reflète l'exposition d'un organisme à une dose spécifique du médicament</a:t>
            </a:r>
          </a:p>
          <a:p>
            <a:r>
              <a:rPr lang="fr-FR" sz="1700" dirty="0">
                <a:solidFill>
                  <a:srgbClr val="000000"/>
                </a:solidFill>
                <a:latin typeface="Arial" panose="020B0604020202020204" pitchFamily="34" charset="0"/>
                <a:cs typeface="Arial" panose="020B0604020202020204" pitchFamily="34" charset="0"/>
              </a:rPr>
              <a:t>ça dépend de</a:t>
            </a:r>
          </a:p>
          <a:p>
            <a:pPr marL="742950" lvl="1" indent="-285750"/>
            <a:r>
              <a:rPr lang="fr-FR" sz="1500" dirty="0">
                <a:solidFill>
                  <a:srgbClr val="000000"/>
                </a:solidFill>
                <a:latin typeface="Arial" panose="020B0604020202020204" pitchFamily="34" charset="0"/>
                <a:cs typeface="Arial" panose="020B0604020202020204" pitchFamily="34" charset="0"/>
              </a:rPr>
              <a:t>le taux d'élimination du médicament du corps</a:t>
            </a:r>
          </a:p>
          <a:p>
            <a:pPr marL="742950" lvl="1" indent="-285750"/>
            <a:r>
              <a:rPr lang="fr-FR" sz="1500" dirty="0">
                <a:solidFill>
                  <a:srgbClr val="000000"/>
                </a:solidFill>
                <a:latin typeface="Arial" panose="020B0604020202020204" pitchFamily="34" charset="0"/>
                <a:cs typeface="Arial" panose="020B0604020202020204" pitchFamily="34" charset="0"/>
              </a:rPr>
              <a:t>la dose administrée</a:t>
            </a:r>
          </a:p>
          <a:p>
            <a:r>
              <a:rPr lang="fr-FR" sz="1700" dirty="0">
                <a:solidFill>
                  <a:srgbClr val="000000"/>
                </a:solidFill>
                <a:latin typeface="Arial" panose="020B0604020202020204" pitchFamily="34" charset="0"/>
                <a:cs typeface="Arial" panose="020B0604020202020204" pitchFamily="34" charset="0"/>
              </a:rPr>
              <a:t>il est calculé avec des formules mathématiques</a:t>
            </a:r>
          </a:p>
          <a:p>
            <a:pPr lvl="1"/>
            <a:endParaRPr lang="ro-RO" sz="1600" dirty="0" smtClean="0">
              <a:latin typeface="Arial" panose="020B0604020202020204" pitchFamily="34" charset="0"/>
              <a:cs typeface="Arial" panose="020B0604020202020204" pitchFamily="34" charset="0"/>
            </a:endParaRPr>
          </a:p>
        </p:txBody>
      </p:sp>
      <p:pic>
        <p:nvPicPr>
          <p:cNvPr id="4" name="Imagine 3"/>
          <p:cNvPicPr>
            <a:picLocks noChangeAspect="1"/>
          </p:cNvPicPr>
          <p:nvPr/>
        </p:nvPicPr>
        <p:blipFill>
          <a:blip r:embed="rId3"/>
          <a:stretch>
            <a:fillRect/>
          </a:stretch>
        </p:blipFill>
        <p:spPr>
          <a:xfrm>
            <a:off x="2988128" y="2911336"/>
            <a:ext cx="2163749" cy="1491777"/>
          </a:xfrm>
          <a:prstGeom prst="rect">
            <a:avLst/>
          </a:prstGeom>
        </p:spPr>
      </p:pic>
      <p:sp>
        <p:nvSpPr>
          <p:cNvPr id="2" name="Titlu 1"/>
          <p:cNvSpPr>
            <a:spLocks noGrp="1"/>
          </p:cNvSpPr>
          <p:nvPr>
            <p:ph type="title"/>
          </p:nvPr>
        </p:nvSpPr>
        <p:spPr>
          <a:xfrm>
            <a:off x="0" y="365126"/>
            <a:ext cx="9144000" cy="1325563"/>
          </a:xfrm>
        </p:spPr>
        <p:txBody>
          <a:bodyPr>
            <a:normAutofit/>
          </a:bodyPr>
          <a:lstStyle/>
          <a:p>
            <a:r>
              <a:rPr lang="fr-FR" sz="3600" b="1" dirty="0">
                <a:solidFill>
                  <a:srgbClr val="000000"/>
                </a:solidFill>
                <a:latin typeface="Times New Roman" panose="02020603050405020304" pitchFamily="18" charset="0"/>
              </a:rPr>
              <a:t>Calcul de dose de cytostatiques (oncologue</a:t>
            </a:r>
            <a:r>
              <a:rPr lang="fr-FR" sz="3600" b="1" dirty="0" smtClean="0">
                <a:solidFill>
                  <a:srgbClr val="000000"/>
                </a:solidFill>
                <a:latin typeface="Times New Roman" panose="02020603050405020304" pitchFamily="18" charset="0"/>
              </a:rPr>
              <a:t>)</a:t>
            </a:r>
            <a:endParaRPr lang="ro-RO"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5800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 calcmode="lin" valueType="num">
                                      <p:cBhvr>
                                        <p:cTn id="14"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16" dur="500"/>
                                        <p:tgtEl>
                                          <p:spTgt spid="3">
                                            <p:txEl>
                                              <p:pRg st="9" end="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anim calcmode="lin" valueType="num">
                                      <p:cBhvr>
                                        <p:cTn id="21"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23" dur="500"/>
                                        <p:tgtEl>
                                          <p:spTgt spid="3">
                                            <p:txEl>
                                              <p:pRg st="10" end="1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11" end="11"/>
                                            </p:txEl>
                                          </p:spTgt>
                                        </p:tgtEl>
                                        <p:attrNameLst>
                                          <p:attrName>style.visibility</p:attrName>
                                        </p:attrNameLst>
                                      </p:cBhvr>
                                      <p:to>
                                        <p:strVal val="visible"/>
                                      </p:to>
                                    </p:set>
                                    <p:anim calcmode="lin" valueType="num">
                                      <p:cBhvr>
                                        <p:cTn id="28" dur="5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30" dur="500"/>
                                        <p:tgtEl>
                                          <p:spTgt spid="3">
                                            <p:txEl>
                                              <p:pRg st="11" end="1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p:cTn id="35" dur="500" fill="hold"/>
                                        <p:tgtEl>
                                          <p:spTgt spid="3">
                                            <p:txEl>
                                              <p:pRg st="12" end="12"/>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12" end="12"/>
                                            </p:txEl>
                                          </p:spTgt>
                                        </p:tgtEl>
                                        <p:attrNameLst>
                                          <p:attrName>ppt_h</p:attrName>
                                        </p:attrNameLst>
                                      </p:cBhvr>
                                      <p:tavLst>
                                        <p:tav tm="0">
                                          <p:val>
                                            <p:fltVal val="0"/>
                                          </p:val>
                                        </p:tav>
                                        <p:tav tm="100000">
                                          <p:val>
                                            <p:strVal val="#ppt_h"/>
                                          </p:val>
                                        </p:tav>
                                      </p:tavLst>
                                    </p:anim>
                                    <p:animEffect transition="in" filter="fade">
                                      <p:cBhvr>
                                        <p:cTn id="37" dur="500"/>
                                        <p:tgtEl>
                                          <p:spTgt spid="3">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 calcmode="lin" valueType="num">
                                      <p:cBhvr>
                                        <p:cTn id="42" dur="500" fill="hold"/>
                                        <p:tgtEl>
                                          <p:spTgt spid="3">
                                            <p:txEl>
                                              <p:pRg st="13" end="13"/>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13" end="13"/>
                                            </p:txEl>
                                          </p:spTgt>
                                        </p:tgtEl>
                                        <p:attrNameLst>
                                          <p:attrName>ppt_h</p:attrName>
                                        </p:attrNameLst>
                                      </p:cBhvr>
                                      <p:tavLst>
                                        <p:tav tm="0">
                                          <p:val>
                                            <p:fltVal val="0"/>
                                          </p:val>
                                        </p:tav>
                                        <p:tav tm="100000">
                                          <p:val>
                                            <p:strVal val="#ppt_h"/>
                                          </p:val>
                                        </p:tav>
                                      </p:tavLst>
                                    </p:anim>
                                    <p:animEffect transition="in" filter="fade">
                                      <p:cBhvr>
                                        <p:cTn id="44" dur="500"/>
                                        <p:tgtEl>
                                          <p:spTgt spid="3">
                                            <p:txEl>
                                              <p:pRg st="13" end="1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 calcmode="lin" valueType="num">
                                      <p:cBhvr>
                                        <p:cTn id="49" dur="500" fill="hold"/>
                                        <p:tgtEl>
                                          <p:spTgt spid="3">
                                            <p:txEl>
                                              <p:pRg st="14" end="14"/>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14" end="14"/>
                                            </p:txEl>
                                          </p:spTgt>
                                        </p:tgtEl>
                                        <p:attrNameLst>
                                          <p:attrName>ppt_h</p:attrName>
                                        </p:attrNameLst>
                                      </p:cBhvr>
                                      <p:tavLst>
                                        <p:tav tm="0">
                                          <p:val>
                                            <p:fltVal val="0"/>
                                          </p:val>
                                        </p:tav>
                                        <p:tav tm="100000">
                                          <p:val>
                                            <p:strVal val="#ppt_h"/>
                                          </p:val>
                                        </p:tav>
                                      </p:tavLst>
                                    </p:anim>
                                    <p:animEffect transition="in" filter="fade">
                                      <p:cBhvr>
                                        <p:cTn id="51" dur="500"/>
                                        <p:tgtEl>
                                          <p:spTgt spid="3">
                                            <p:txEl>
                                              <p:pRg st="14" end="1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3">
                                            <p:txEl>
                                              <p:pRg st="0" end="0"/>
                                            </p:txEl>
                                          </p:spTgt>
                                        </p:tgtEl>
                                        <p:attrNameLst>
                                          <p:attrName>style.visibility</p:attrName>
                                        </p:attrNameLst>
                                      </p:cBhvr>
                                      <p:to>
                                        <p:strVal val="visible"/>
                                      </p:to>
                                    </p:set>
                                    <p:anim calcmode="lin" valueType="num">
                                      <p:cBhvr>
                                        <p:cTn id="56"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8" dur="500"/>
                                        <p:tgtEl>
                                          <p:spTgt spid="3">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p:cTn id="63" dur="500" fill="hold"/>
                                        <p:tgtEl>
                                          <p:spTgt spid="4"/>
                                        </p:tgtEl>
                                        <p:attrNameLst>
                                          <p:attrName>ppt_w</p:attrName>
                                        </p:attrNameLst>
                                      </p:cBhvr>
                                      <p:tavLst>
                                        <p:tav tm="0">
                                          <p:val>
                                            <p:fltVal val="0"/>
                                          </p:val>
                                        </p:tav>
                                        <p:tav tm="100000">
                                          <p:val>
                                            <p:strVal val="#ppt_w"/>
                                          </p:val>
                                        </p:tav>
                                      </p:tavLst>
                                    </p:anim>
                                    <p:anim calcmode="lin" valueType="num">
                                      <p:cBhvr>
                                        <p:cTn id="64" dur="500" fill="hold"/>
                                        <p:tgtEl>
                                          <p:spTgt spid="4"/>
                                        </p:tgtEl>
                                        <p:attrNameLst>
                                          <p:attrName>ppt_h</p:attrName>
                                        </p:attrNameLst>
                                      </p:cBhvr>
                                      <p:tavLst>
                                        <p:tav tm="0">
                                          <p:val>
                                            <p:fltVal val="0"/>
                                          </p:val>
                                        </p:tav>
                                        <p:tav tm="100000">
                                          <p:val>
                                            <p:strVal val="#ppt_h"/>
                                          </p:val>
                                        </p:tav>
                                      </p:tavLst>
                                    </p:anim>
                                    <p:animEffect transition="in" filter="fade">
                                      <p:cBhvr>
                                        <p:cTn id="6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ine 5"/>
          <p:cNvPicPr>
            <a:picLocks noChangeAspect="1"/>
          </p:cNvPicPr>
          <p:nvPr/>
        </p:nvPicPr>
        <p:blipFill>
          <a:blip r:embed="rId3"/>
          <a:stretch>
            <a:fillRect/>
          </a:stretch>
        </p:blipFill>
        <p:spPr>
          <a:xfrm>
            <a:off x="152400" y="304800"/>
            <a:ext cx="4811200" cy="3943350"/>
          </a:xfrm>
          <a:prstGeom prst="rect">
            <a:avLst/>
          </a:prstGeom>
        </p:spPr>
      </p:pic>
      <p:pic>
        <p:nvPicPr>
          <p:cNvPr id="7" name="Imagine 6"/>
          <p:cNvPicPr>
            <a:picLocks noChangeAspect="1"/>
          </p:cNvPicPr>
          <p:nvPr/>
        </p:nvPicPr>
        <p:blipFill>
          <a:blip r:embed="rId4"/>
          <a:stretch>
            <a:fillRect/>
          </a:stretch>
        </p:blipFill>
        <p:spPr>
          <a:xfrm>
            <a:off x="3976436" y="2819399"/>
            <a:ext cx="4982341" cy="3786579"/>
          </a:xfrm>
          <a:prstGeom prst="rect">
            <a:avLst/>
          </a:prstGeom>
        </p:spPr>
      </p:pic>
    </p:spTree>
    <p:extLst>
      <p:ext uri="{BB962C8B-B14F-4D97-AF65-F5344CB8AC3E}">
        <p14:creationId xmlns:p14="http://schemas.microsoft.com/office/powerpoint/2010/main" val="9452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r>
              <a:rPr lang="fr-FR" sz="3600" b="1" dirty="0">
                <a:solidFill>
                  <a:srgbClr val="000000"/>
                </a:solidFill>
                <a:latin typeface="Times New Roman" panose="02020603050405020304" pitchFamily="18" charset="0"/>
              </a:rPr>
              <a:t>Calcul de dose de cytostatiques (oncologue</a:t>
            </a:r>
            <a:r>
              <a:rPr lang="fr-FR" sz="3600" b="1" dirty="0" smtClean="0">
                <a:solidFill>
                  <a:srgbClr val="000000"/>
                </a:solidFill>
                <a:latin typeface="Times New Roman" panose="02020603050405020304" pitchFamily="18" charset="0"/>
              </a:rPr>
              <a:t>)</a:t>
            </a:r>
            <a:endParaRPr lang="ro-RO" sz="3600" b="1" dirty="0">
              <a:latin typeface="Arial" panose="020B0604020202020204" pitchFamily="34" charset="0"/>
              <a:cs typeface="Arial" panose="020B0604020202020204" pitchFamily="34" charset="0"/>
            </a:endParaRPr>
          </a:p>
        </p:txBody>
      </p:sp>
      <p:sp>
        <p:nvSpPr>
          <p:cNvPr id="3" name="Substituent conținut 2"/>
          <p:cNvSpPr>
            <a:spLocks noGrp="1"/>
          </p:cNvSpPr>
          <p:nvPr>
            <p:ph idx="1"/>
          </p:nvPr>
        </p:nvSpPr>
        <p:spPr>
          <a:xfrm>
            <a:off x="600074" y="2352675"/>
            <a:ext cx="8543925" cy="4090988"/>
          </a:xfrm>
        </p:spPr>
        <p:txBody>
          <a:bodyPr>
            <a:normAutofit/>
          </a:bodyPr>
          <a:lstStyle/>
          <a:p>
            <a:r>
              <a:rPr lang="fr-FR" b="1" dirty="0">
                <a:solidFill>
                  <a:srgbClr val="000000"/>
                </a:solidFill>
                <a:latin typeface="Times New Roman" panose="02020603050405020304" pitchFamily="18" charset="0"/>
              </a:rPr>
              <a:t>En fonction du poids (kg)</a:t>
            </a:r>
          </a:p>
          <a:p>
            <a:pPr marL="742950" lvl="1" indent="-285750"/>
            <a:r>
              <a:rPr lang="fr-FR" dirty="0">
                <a:solidFill>
                  <a:srgbClr val="000000"/>
                </a:solidFill>
                <a:latin typeface="Times New Roman" panose="02020603050405020304" pitchFamily="18" charset="0"/>
              </a:rPr>
              <a:t>méthode utilisée pour calculer les doses d'anticorps monoclonaux</a:t>
            </a:r>
          </a:p>
          <a:p>
            <a:r>
              <a:rPr lang="fr-FR" b="1" dirty="0">
                <a:solidFill>
                  <a:srgbClr val="000000"/>
                </a:solidFill>
                <a:latin typeface="Times New Roman" panose="02020603050405020304" pitchFamily="18" charset="0"/>
              </a:rPr>
              <a:t>Dose plate</a:t>
            </a:r>
          </a:p>
          <a:p>
            <a:pPr marL="742950" lvl="1" indent="-285750"/>
            <a:r>
              <a:rPr lang="fr-FR" dirty="0">
                <a:solidFill>
                  <a:srgbClr val="000000"/>
                </a:solidFill>
                <a:latin typeface="Times New Roman" panose="02020603050405020304" pitchFamily="18" charset="0"/>
              </a:rPr>
              <a:t>certains médicaments ont une pharmacocinétique non influencée par la taille corporelle</a:t>
            </a:r>
          </a:p>
          <a:p>
            <a:pPr marL="0" indent="0">
              <a:buNone/>
            </a:pPr>
            <a:endParaRPr lang="ro-RO"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57803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r>
              <a:rPr lang="fr-FR" sz="3600" b="1" dirty="0">
                <a:solidFill>
                  <a:srgbClr val="000000"/>
                </a:solidFill>
                <a:latin typeface="Times New Roman" panose="02020603050405020304" pitchFamily="18" charset="0"/>
              </a:rPr>
              <a:t>Calcul de dose de cytostatiques (oncologue</a:t>
            </a:r>
            <a:r>
              <a:rPr lang="fr-FR" sz="3600" b="1" dirty="0" smtClean="0">
                <a:solidFill>
                  <a:srgbClr val="000000"/>
                </a:solidFill>
                <a:latin typeface="Times New Roman" panose="02020603050405020304" pitchFamily="18" charset="0"/>
              </a:rPr>
              <a:t>)</a:t>
            </a:r>
            <a:endParaRPr lang="ro-RO" sz="3600" b="1" dirty="0">
              <a:latin typeface="Arial" panose="020B0604020202020204" pitchFamily="34" charset="0"/>
              <a:cs typeface="Arial" panose="020B0604020202020204" pitchFamily="34" charset="0"/>
            </a:endParaRPr>
          </a:p>
        </p:txBody>
      </p:sp>
      <p:sp>
        <p:nvSpPr>
          <p:cNvPr id="3" name="Substituent conținut 2"/>
          <p:cNvSpPr>
            <a:spLocks noGrp="1"/>
          </p:cNvSpPr>
          <p:nvPr>
            <p:ph idx="1"/>
          </p:nvPr>
        </p:nvSpPr>
        <p:spPr>
          <a:xfrm>
            <a:off x="600075" y="2400299"/>
            <a:ext cx="7886700" cy="4043363"/>
          </a:xfrm>
        </p:spPr>
        <p:txBody>
          <a:bodyPr>
            <a:normAutofit/>
          </a:bodyPr>
          <a:lstStyle/>
          <a:p>
            <a:r>
              <a:rPr lang="fr-FR" b="1" dirty="0">
                <a:solidFill>
                  <a:srgbClr val="000000"/>
                </a:solidFill>
                <a:latin typeface="Times New Roman" panose="02020603050405020304" pitchFamily="18" charset="0"/>
              </a:rPr>
              <a:t>Ajustements de dose</a:t>
            </a:r>
          </a:p>
          <a:p>
            <a:pPr marL="742950" lvl="1" indent="-285750"/>
            <a:r>
              <a:rPr lang="fr-FR" dirty="0">
                <a:solidFill>
                  <a:srgbClr val="000000"/>
                </a:solidFill>
                <a:latin typeface="Times New Roman" panose="02020603050405020304" pitchFamily="18" charset="0"/>
              </a:rPr>
              <a:t>Au début</a:t>
            </a:r>
          </a:p>
          <a:p>
            <a:pPr lvl="2"/>
            <a:r>
              <a:rPr lang="fr-FR" dirty="0">
                <a:solidFill>
                  <a:srgbClr val="000000"/>
                </a:solidFill>
                <a:latin typeface="Times New Roman" panose="02020603050405020304" pitchFamily="18" charset="0"/>
              </a:rPr>
              <a:t>gros</a:t>
            </a:r>
          </a:p>
          <a:p>
            <a:pPr lvl="2"/>
            <a:r>
              <a:rPr lang="fr-FR" dirty="0">
                <a:solidFill>
                  <a:srgbClr val="000000"/>
                </a:solidFill>
                <a:latin typeface="Times New Roman" panose="02020603050405020304" pitchFamily="18" charset="0"/>
              </a:rPr>
              <a:t>Avec des épanchements malins</a:t>
            </a:r>
          </a:p>
          <a:p>
            <a:pPr lvl="2"/>
            <a:r>
              <a:rPr lang="fr-FR" dirty="0">
                <a:solidFill>
                  <a:srgbClr val="000000"/>
                </a:solidFill>
                <a:latin typeface="Times New Roman" panose="02020603050405020304" pitchFamily="18" charset="0"/>
              </a:rPr>
              <a:t>âgé</a:t>
            </a:r>
          </a:p>
          <a:p>
            <a:pPr lvl="2"/>
            <a:r>
              <a:rPr lang="fr-FR" dirty="0">
                <a:solidFill>
                  <a:srgbClr val="000000"/>
                </a:solidFill>
                <a:latin typeface="Times New Roman" panose="02020603050405020304" pitchFamily="18" charset="0"/>
              </a:rPr>
              <a:t>Autres situations biologiques</a:t>
            </a:r>
          </a:p>
          <a:p>
            <a:pPr marL="742950" lvl="1" indent="-285750"/>
            <a:r>
              <a:rPr lang="fr-FR" dirty="0">
                <a:solidFill>
                  <a:srgbClr val="000000"/>
                </a:solidFill>
                <a:latin typeface="Times New Roman" panose="02020603050405020304" pitchFamily="18" charset="0"/>
              </a:rPr>
              <a:t>Dans les prochains cycles</a:t>
            </a:r>
          </a:p>
          <a:p>
            <a:pPr lvl="2"/>
            <a:r>
              <a:rPr lang="fr-FR" dirty="0">
                <a:solidFill>
                  <a:srgbClr val="000000"/>
                </a:solidFill>
                <a:latin typeface="Times New Roman" panose="02020603050405020304" pitchFamily="18" charset="0"/>
              </a:rPr>
              <a:t>Après une précédente neutropénie fébrile</a:t>
            </a:r>
          </a:p>
          <a:p>
            <a:pPr lvl="2"/>
            <a:r>
              <a:rPr lang="fr-FR" dirty="0">
                <a:solidFill>
                  <a:srgbClr val="000000"/>
                </a:solidFill>
                <a:latin typeface="Times New Roman" panose="02020603050405020304" pitchFamily="18" charset="0"/>
              </a:rPr>
              <a:t>Faible numération globulaire ou biochimie (</a:t>
            </a:r>
            <a:r>
              <a:rPr lang="fr-FR" dirty="0" err="1">
                <a:solidFill>
                  <a:srgbClr val="000000"/>
                </a:solidFill>
                <a:latin typeface="Times New Roman" panose="02020603050405020304" pitchFamily="18" charset="0"/>
              </a:rPr>
              <a:t>gemcitabine</a:t>
            </a:r>
            <a:r>
              <a:rPr lang="fr-FR" dirty="0">
                <a:solidFill>
                  <a:srgbClr val="000000"/>
                </a:solidFill>
                <a:latin typeface="Times New Roman" panose="02020603050405020304" pitchFamily="18" charset="0"/>
              </a:rPr>
              <a:t>, </a:t>
            </a:r>
            <a:r>
              <a:rPr lang="fr-FR" dirty="0" err="1">
                <a:solidFill>
                  <a:srgbClr val="000000"/>
                </a:solidFill>
                <a:latin typeface="Times New Roman" panose="02020603050405020304" pitchFamily="18" charset="0"/>
              </a:rPr>
              <a:t>oxaliplatine</a:t>
            </a:r>
            <a:r>
              <a:rPr lang="fr-FR" dirty="0">
                <a:solidFill>
                  <a:srgbClr val="000000"/>
                </a:solidFill>
                <a:latin typeface="Times New Roman" panose="02020603050405020304" pitchFamily="18" charset="0"/>
              </a:rPr>
              <a:t>, etc.)</a:t>
            </a:r>
          </a:p>
          <a:p>
            <a:pPr lvl="2"/>
            <a:r>
              <a:rPr lang="fr-FR" dirty="0">
                <a:solidFill>
                  <a:srgbClr val="000000"/>
                </a:solidFill>
                <a:latin typeface="Times New Roman" panose="02020603050405020304" pitchFamily="18" charset="0"/>
              </a:rPr>
              <a:t>Autres situations</a:t>
            </a:r>
          </a:p>
          <a:p>
            <a:pPr marL="0" indent="0">
              <a:buNone/>
            </a:pPr>
            <a:endParaRPr lang="ro-RO"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59185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pPr algn="ctr"/>
            <a:r>
              <a:rPr lang="fr-FR" sz="3600" b="1" dirty="0"/>
              <a:t>Compléter l'ordonnance de chimiothérapie (oncologue</a:t>
            </a:r>
            <a:r>
              <a:rPr lang="fr-FR" sz="3600" b="1" dirty="0" smtClean="0"/>
              <a:t>)</a:t>
            </a:r>
            <a:endParaRPr lang="ro-RO" sz="3600" b="1" dirty="0">
              <a:latin typeface="Arial" panose="020B0604020202020204" pitchFamily="34" charset="0"/>
              <a:cs typeface="Arial" panose="020B0604020202020204" pitchFamily="34" charset="0"/>
            </a:endParaRPr>
          </a:p>
        </p:txBody>
      </p:sp>
      <p:pic>
        <p:nvPicPr>
          <p:cNvPr id="6" name="Imagine 5"/>
          <p:cNvPicPr>
            <a:picLocks noChangeAspect="1"/>
          </p:cNvPicPr>
          <p:nvPr/>
        </p:nvPicPr>
        <p:blipFill>
          <a:blip r:embed="rId3"/>
          <a:stretch>
            <a:fillRect/>
          </a:stretch>
        </p:blipFill>
        <p:spPr>
          <a:xfrm>
            <a:off x="2571749" y="1685924"/>
            <a:ext cx="3934121" cy="5095875"/>
          </a:xfrm>
          <a:prstGeom prst="rect">
            <a:avLst/>
          </a:prstGeom>
        </p:spPr>
      </p:pic>
    </p:spTree>
    <p:extLst>
      <p:ext uri="{BB962C8B-B14F-4D97-AF65-F5344CB8AC3E}">
        <p14:creationId xmlns:p14="http://schemas.microsoft.com/office/powerpoint/2010/main" val="27067510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r>
              <a:rPr lang="en-US" sz="3600" b="1" dirty="0" err="1">
                <a:solidFill>
                  <a:srgbClr val="000000"/>
                </a:solidFill>
                <a:latin typeface="Times New Roman" panose="02020603050405020304" pitchFamily="18" charset="0"/>
              </a:rPr>
              <a:t>Préparation</a:t>
            </a:r>
            <a:r>
              <a:rPr lang="en-US" sz="3600" b="1" dirty="0">
                <a:solidFill>
                  <a:srgbClr val="000000"/>
                </a:solidFill>
                <a:latin typeface="Times New Roman" panose="02020603050405020304" pitchFamily="18" charset="0"/>
              </a:rPr>
              <a:t> de </a:t>
            </a:r>
            <a:r>
              <a:rPr lang="en-US" sz="3600" b="1" dirty="0" err="1">
                <a:solidFill>
                  <a:srgbClr val="000000"/>
                </a:solidFill>
                <a:latin typeface="Times New Roman" panose="02020603050405020304" pitchFamily="18" charset="0"/>
              </a:rPr>
              <a:t>cytostatiques</a:t>
            </a:r>
            <a:r>
              <a:rPr lang="en-US" sz="3600" b="1" dirty="0">
                <a:solidFill>
                  <a:srgbClr val="000000"/>
                </a:solidFill>
                <a:latin typeface="Times New Roman" panose="02020603050405020304" pitchFamily="18" charset="0"/>
              </a:rPr>
              <a:t> (</a:t>
            </a:r>
            <a:r>
              <a:rPr lang="en-US" sz="3600" b="1" dirty="0" err="1">
                <a:solidFill>
                  <a:srgbClr val="000000"/>
                </a:solidFill>
                <a:latin typeface="Times New Roman" panose="02020603050405020304" pitchFamily="18" charset="0"/>
              </a:rPr>
              <a:t>pharmacien</a:t>
            </a:r>
            <a:r>
              <a:rPr lang="en-US" sz="3600" b="1" dirty="0" smtClean="0">
                <a:solidFill>
                  <a:srgbClr val="000000"/>
                </a:solidFill>
                <a:latin typeface="Times New Roman" panose="02020603050405020304" pitchFamily="18" charset="0"/>
              </a:rPr>
              <a:t>)</a:t>
            </a:r>
            <a:endParaRPr lang="ro-RO" sz="3600" b="1" dirty="0">
              <a:latin typeface="Arial" panose="020B0604020202020204" pitchFamily="34" charset="0"/>
              <a:cs typeface="Arial" panose="020B0604020202020204" pitchFamily="34" charset="0"/>
            </a:endParaRPr>
          </a:p>
        </p:txBody>
      </p:sp>
      <p:pic>
        <p:nvPicPr>
          <p:cNvPr id="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9223" y="2206624"/>
            <a:ext cx="4410077" cy="294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028700" y="5816378"/>
            <a:ext cx="4572000" cy="646331"/>
          </a:xfrm>
          <a:prstGeom prst="rect">
            <a:avLst/>
          </a:prstGeom>
        </p:spPr>
        <p:txBody>
          <a:bodyPr>
            <a:spAutoFit/>
          </a:bodyPr>
          <a:lstStyle/>
          <a:p>
            <a:r>
              <a:rPr lang="fr-FR" u="sng" dirty="0">
                <a:solidFill>
                  <a:srgbClr val="0000FF"/>
                </a:solidFill>
                <a:latin typeface="Calibri" panose="020F0502020204030204" pitchFamily="34" charset="0"/>
                <a:ea typeface="Calibri" panose="020F0502020204030204" pitchFamily="34" charset="0"/>
                <a:cs typeface="Times New Roman" panose="02020603050405020304" pitchFamily="18" charset="0"/>
                <a:hlinkClick r:id="rId3"/>
              </a:rPr>
              <a:t>(51) Dans les coulisses de la préparation d'une chimiothérapie - YouTube</a:t>
            </a:r>
            <a:endParaRPr lang="en-US" dirty="0"/>
          </a:p>
        </p:txBody>
      </p:sp>
    </p:spTree>
    <p:extLst>
      <p:ext uri="{BB962C8B-B14F-4D97-AF65-F5344CB8AC3E}">
        <p14:creationId xmlns:p14="http://schemas.microsoft.com/office/powerpoint/2010/main" val="20107257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r>
              <a:rPr lang="en-US" sz="3600" b="1" dirty="0">
                <a:solidFill>
                  <a:srgbClr val="000000"/>
                </a:solidFill>
                <a:latin typeface="Times New Roman" panose="02020603050405020304" pitchFamily="18" charset="0"/>
              </a:rPr>
              <a:t>Administration des </a:t>
            </a:r>
            <a:r>
              <a:rPr lang="en-US" sz="3600" b="1" dirty="0" err="1">
                <a:solidFill>
                  <a:srgbClr val="000000"/>
                </a:solidFill>
                <a:latin typeface="Times New Roman" panose="02020603050405020304" pitchFamily="18" charset="0"/>
              </a:rPr>
              <a:t>cytostatiques</a:t>
            </a:r>
            <a:r>
              <a:rPr lang="en-US" sz="3600" b="1" dirty="0">
                <a:solidFill>
                  <a:srgbClr val="000000"/>
                </a:solidFill>
                <a:latin typeface="Times New Roman" panose="02020603050405020304" pitchFamily="18" charset="0"/>
              </a:rPr>
              <a:t> (</a:t>
            </a:r>
            <a:r>
              <a:rPr lang="en-US" sz="3600" b="1" dirty="0" err="1">
                <a:solidFill>
                  <a:srgbClr val="000000"/>
                </a:solidFill>
                <a:latin typeface="Times New Roman" panose="02020603050405020304" pitchFamily="18" charset="0"/>
              </a:rPr>
              <a:t>infirmière</a:t>
            </a:r>
            <a:r>
              <a:rPr lang="en-US" sz="3600" b="1" dirty="0" smtClean="0">
                <a:solidFill>
                  <a:srgbClr val="000000"/>
                </a:solidFill>
                <a:latin typeface="Times New Roman" panose="02020603050405020304" pitchFamily="18" charset="0"/>
              </a:rPr>
              <a:t>)</a:t>
            </a:r>
            <a:endParaRPr lang="ro-RO" sz="3600" b="1" dirty="0">
              <a:latin typeface="Arial" panose="020B0604020202020204" pitchFamily="34" charset="0"/>
              <a:cs typeface="Arial" panose="020B0604020202020204" pitchFamily="34" charset="0"/>
            </a:endParaRPr>
          </a:p>
        </p:txBody>
      </p:sp>
      <p:sp>
        <p:nvSpPr>
          <p:cNvPr id="3" name="Substituent conținut 2"/>
          <p:cNvSpPr>
            <a:spLocks noGrp="1"/>
          </p:cNvSpPr>
          <p:nvPr>
            <p:ph idx="1"/>
          </p:nvPr>
        </p:nvSpPr>
        <p:spPr>
          <a:xfrm>
            <a:off x="600075" y="2400299"/>
            <a:ext cx="7886700" cy="4457701"/>
          </a:xfrm>
        </p:spPr>
        <p:txBody>
          <a:bodyPr>
            <a:normAutofit fontScale="92500" lnSpcReduction="10000"/>
          </a:bodyPr>
          <a:lstStyle/>
          <a:p>
            <a:r>
              <a:rPr lang="fr-FR" b="1" dirty="0">
                <a:solidFill>
                  <a:srgbClr val="000000"/>
                </a:solidFill>
                <a:latin typeface="Times New Roman" panose="02020603050405020304" pitchFamily="18" charset="0"/>
              </a:rPr>
              <a:t>Contrôle de la prescription (double contrôle)</a:t>
            </a:r>
            <a:endParaRPr lang="fr-FR" dirty="0">
              <a:solidFill>
                <a:srgbClr val="000000"/>
              </a:solidFill>
              <a:latin typeface="Times New Roman" panose="02020603050405020304" pitchFamily="18" charset="0"/>
            </a:endParaRPr>
          </a:p>
          <a:p>
            <a:pPr marL="742950" lvl="1" indent="-285750"/>
            <a:r>
              <a:rPr lang="fr-FR" dirty="0">
                <a:solidFill>
                  <a:srgbClr val="000000"/>
                </a:solidFill>
                <a:latin typeface="Times New Roman" panose="02020603050405020304" pitchFamily="18" charset="0"/>
              </a:rPr>
              <a:t>identité du patient</a:t>
            </a:r>
          </a:p>
          <a:p>
            <a:pPr marL="742950" lvl="1" indent="-285750"/>
            <a:r>
              <a:rPr lang="fr-FR" dirty="0">
                <a:solidFill>
                  <a:srgbClr val="000000"/>
                </a:solidFill>
                <a:latin typeface="Times New Roman" panose="02020603050405020304" pitchFamily="18" charset="0"/>
              </a:rPr>
              <a:t>calcul de dose</a:t>
            </a:r>
          </a:p>
          <a:p>
            <a:r>
              <a:rPr lang="fr-FR" b="1" dirty="0">
                <a:solidFill>
                  <a:srgbClr val="000000"/>
                </a:solidFill>
                <a:latin typeface="Times New Roman" panose="02020603050405020304" pitchFamily="18" charset="0"/>
              </a:rPr>
              <a:t>Assurer une ligne de perfusion fonctionnelle</a:t>
            </a:r>
            <a:endParaRPr lang="fr-FR" dirty="0">
              <a:solidFill>
                <a:srgbClr val="000000"/>
              </a:solidFill>
              <a:latin typeface="Times New Roman" panose="02020603050405020304" pitchFamily="18" charset="0"/>
            </a:endParaRPr>
          </a:p>
          <a:p>
            <a:pPr marL="742950" lvl="1" indent="-285750"/>
            <a:r>
              <a:rPr lang="fr-FR" dirty="0">
                <a:solidFill>
                  <a:srgbClr val="000000"/>
                </a:solidFill>
                <a:latin typeface="Times New Roman" panose="02020603050405020304" pitchFamily="18" charset="0"/>
              </a:rPr>
              <a:t>ponction veineuse périphérique et installation du dispositif d'administration</a:t>
            </a:r>
          </a:p>
          <a:p>
            <a:pPr marL="742950" lvl="1" indent="-285750"/>
            <a:r>
              <a:rPr lang="fr-FR" dirty="0">
                <a:solidFill>
                  <a:srgbClr val="000000"/>
                </a:solidFill>
                <a:latin typeface="Times New Roman" panose="02020603050405020304" pitchFamily="18" charset="0"/>
              </a:rPr>
              <a:t>vérification de la fonctionnalité de la ligne de perfusion</a:t>
            </a:r>
          </a:p>
          <a:p>
            <a:r>
              <a:rPr lang="fr-FR" b="1" dirty="0">
                <a:solidFill>
                  <a:srgbClr val="000000"/>
                </a:solidFill>
                <a:latin typeface="Times New Roman" panose="02020603050405020304" pitchFamily="18" charset="0"/>
              </a:rPr>
              <a:t>Évitez l'extravasation</a:t>
            </a:r>
            <a:endParaRPr lang="fr-FR" dirty="0">
              <a:solidFill>
                <a:srgbClr val="000000"/>
              </a:solidFill>
              <a:latin typeface="Times New Roman" panose="02020603050405020304" pitchFamily="18" charset="0"/>
            </a:endParaRPr>
          </a:p>
          <a:p>
            <a:pPr marL="742950" lvl="1" indent="-285750"/>
            <a:r>
              <a:rPr lang="fr-FR" dirty="0">
                <a:solidFill>
                  <a:srgbClr val="000000"/>
                </a:solidFill>
                <a:latin typeface="Times New Roman" panose="02020603050405020304" pitchFamily="18" charset="0"/>
              </a:rPr>
              <a:t>vérification périodique du lieu d'administration</a:t>
            </a:r>
          </a:p>
          <a:p>
            <a:pPr marL="742950" lvl="1" indent="-285750"/>
            <a:r>
              <a:rPr lang="fr-FR" dirty="0">
                <a:solidFill>
                  <a:srgbClr val="000000"/>
                </a:solidFill>
                <a:latin typeface="Times New Roman" panose="02020603050405020304" pitchFamily="18" charset="0"/>
              </a:rPr>
              <a:t>éduquer le patient pour signaler toute anomalie (douleur au site d'administration, érythème, gonflement de la région)</a:t>
            </a:r>
          </a:p>
          <a:p>
            <a:pPr marL="742950" lvl="1" indent="-285750"/>
            <a:r>
              <a:rPr lang="fr-FR" dirty="0">
                <a:solidFill>
                  <a:srgbClr val="000000"/>
                </a:solidFill>
                <a:latin typeface="Times New Roman" panose="02020603050405020304" pitchFamily="18" charset="0"/>
              </a:rPr>
              <a:t>mesures de réponse à l'extravasation</a:t>
            </a:r>
          </a:p>
          <a:p>
            <a:endParaRPr lang="ro-RO"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06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0" y="365126"/>
            <a:ext cx="9144000" cy="1325563"/>
          </a:xfrm>
        </p:spPr>
        <p:txBody>
          <a:bodyPr>
            <a:normAutofit/>
          </a:bodyPr>
          <a:lstStyle/>
          <a:p>
            <a:r>
              <a:rPr lang="fr-FR" sz="3600" b="1" dirty="0">
                <a:solidFill>
                  <a:srgbClr val="000000"/>
                </a:solidFill>
                <a:latin typeface="Times New Roman" panose="02020603050405020304" pitchFamily="18" charset="0"/>
              </a:rPr>
              <a:t>Élimination / recyclage des déchets (infirmière / pharmacien</a:t>
            </a:r>
            <a:r>
              <a:rPr lang="fr-FR" sz="3600" b="1" dirty="0" smtClean="0">
                <a:solidFill>
                  <a:srgbClr val="000000"/>
                </a:solidFill>
                <a:latin typeface="Times New Roman" panose="02020603050405020304" pitchFamily="18" charset="0"/>
              </a:rPr>
              <a:t>)</a:t>
            </a:r>
            <a:endParaRPr lang="ro-RO" sz="3600" b="1" dirty="0">
              <a:latin typeface="Arial" panose="020B0604020202020204" pitchFamily="34" charset="0"/>
              <a:cs typeface="Arial" panose="020B0604020202020204" pitchFamily="34" charset="0"/>
            </a:endParaRPr>
          </a:p>
        </p:txBody>
      </p:sp>
      <p:pic>
        <p:nvPicPr>
          <p:cNvPr id="4" name="Picture 1031" descr="C:\Documents and Settings\klefebvre\Local Settings\Temporary Internet Files\OLK4\spill kit contents.jpg"/>
          <p:cNvPicPr>
            <a:picLocks noGrp="1" noChangeAspect="1" noChangeArrowheads="1"/>
          </p:cNvPicPr>
          <p:nvPr/>
        </p:nvPicPr>
        <p:blipFill>
          <a:blip r:embed="rId2" cstate="print">
            <a:extLst>
              <a:ext uri="{28A0092B-C50C-407E-A947-70E740481C1C}">
                <a14:useLocalDpi xmlns:a14="http://schemas.microsoft.com/office/drawing/2010/main" val="0"/>
              </a:ext>
            </a:extLst>
          </a:blip>
          <a:srcRect l="7692" r="7692"/>
          <a:stretch>
            <a:fillRect/>
          </a:stretch>
        </p:blipFill>
        <p:spPr bwMode="auto">
          <a:xfrm>
            <a:off x="5172074" y="2740819"/>
            <a:ext cx="3838575" cy="258365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5" name="Imagine 4"/>
          <p:cNvPicPr>
            <a:picLocks noChangeAspect="1"/>
          </p:cNvPicPr>
          <p:nvPr/>
        </p:nvPicPr>
        <p:blipFill>
          <a:blip r:embed="rId3"/>
          <a:stretch>
            <a:fillRect/>
          </a:stretch>
        </p:blipFill>
        <p:spPr>
          <a:xfrm>
            <a:off x="3654669" y="2733675"/>
            <a:ext cx="1407868" cy="2600325"/>
          </a:xfrm>
          <a:prstGeom prst="rect">
            <a:avLst/>
          </a:prstGeom>
        </p:spPr>
      </p:pic>
      <p:pic>
        <p:nvPicPr>
          <p:cNvPr id="6" name="Imagine 5"/>
          <p:cNvPicPr>
            <a:picLocks noChangeAspect="1"/>
          </p:cNvPicPr>
          <p:nvPr/>
        </p:nvPicPr>
        <p:blipFill>
          <a:blip r:embed="rId4"/>
          <a:stretch>
            <a:fillRect/>
          </a:stretch>
        </p:blipFill>
        <p:spPr>
          <a:xfrm>
            <a:off x="114300" y="2743200"/>
            <a:ext cx="3454400" cy="2590800"/>
          </a:xfrm>
          <a:prstGeom prst="rect">
            <a:avLst/>
          </a:prstGeom>
        </p:spPr>
      </p:pic>
    </p:spTree>
    <p:extLst>
      <p:ext uri="{BB962C8B-B14F-4D97-AF65-F5344CB8AC3E}">
        <p14:creationId xmlns:p14="http://schemas.microsoft.com/office/powerpoint/2010/main" val="131490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bwMode="auto">
          <a:xfrm>
            <a:off x="1590675" y="705643"/>
            <a:ext cx="6315075" cy="87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endParaRPr lang="en-US" altLang="ro-RO" b="1" dirty="0" smtClean="0">
              <a:latin typeface="Arial" panose="020B0604020202020204" pitchFamily="34" charset="0"/>
              <a:cs typeface="Arial" panose="020B0604020202020204" pitchFamily="34" charset="0"/>
            </a:endParaRPr>
          </a:p>
        </p:txBody>
      </p:sp>
      <p:sp>
        <p:nvSpPr>
          <p:cNvPr id="6" name="Text Placeholder 2"/>
          <p:cNvSpPr>
            <a:spLocks noGrp="1"/>
          </p:cNvSpPr>
          <p:nvPr/>
        </p:nvSpPr>
        <p:spPr bwMode="auto">
          <a:xfrm>
            <a:off x="598487" y="3105943"/>
            <a:ext cx="38100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800">
                <a:solidFill>
                  <a:srgbClr val="000000"/>
                </a:solidFill>
                <a:latin typeface="Times New Roman" panose="02020603050405020304" pitchFamily="18" charset="0"/>
              </a:rPr>
              <a:t>… Sécurité de la chimiothérapie rassemblant les pièces du puzzle…</a:t>
            </a:r>
            <a:endParaRPr lang="en-US" altLang="ro-RO" sz="2800" dirty="0" smtClean="0"/>
          </a:p>
        </p:txBody>
      </p:sp>
      <p:grpSp>
        <p:nvGrpSpPr>
          <p:cNvPr id="7" name="Group 2"/>
          <p:cNvGrpSpPr>
            <a:grpSpLocks noGrp="1"/>
          </p:cNvGrpSpPr>
          <p:nvPr/>
        </p:nvGrpSpPr>
        <p:grpSpPr bwMode="auto">
          <a:xfrm rot="677480">
            <a:off x="4729162" y="2372517"/>
            <a:ext cx="3930651" cy="3271838"/>
            <a:chOff x="1824" y="633"/>
            <a:chExt cx="2834" cy="2849"/>
          </a:xfrm>
        </p:grpSpPr>
        <p:sp>
          <p:nvSpPr>
            <p:cNvPr id="8" name="Puzzle3"/>
            <p:cNvSpPr>
              <a:spLocks noEditPoints="1" noChangeArrowheads="1"/>
            </p:cNvSpPr>
            <p:nvPr/>
          </p:nvSpPr>
          <p:spPr bwMode="auto">
            <a:xfrm>
              <a:off x="3204" y="633"/>
              <a:ext cx="1114" cy="151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2269 w 21600"/>
                <a:gd name="T25" fmla="*/ 7718 h 21600"/>
                <a:gd name="T26" fmla="*/ 19157 w 21600"/>
                <a:gd name="T27" fmla="*/ 2023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w="28575">
              <a:solidFill>
                <a:srgbClr val="000000"/>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ro-RO"/>
            </a:p>
          </p:txBody>
        </p:sp>
        <p:sp>
          <p:nvSpPr>
            <p:cNvPr id="9" name="Puzzle2"/>
            <p:cNvSpPr>
              <a:spLocks noEditPoints="1" noChangeArrowheads="1"/>
            </p:cNvSpPr>
            <p:nvPr/>
          </p:nvSpPr>
          <p:spPr bwMode="auto">
            <a:xfrm>
              <a:off x="2880" y="1736"/>
              <a:ext cx="1778" cy="1379"/>
            </a:xfrm>
            <a:custGeom>
              <a:avLst/>
              <a:gdLst>
                <a:gd name="T0" fmla="*/ 11 w 21600"/>
                <a:gd name="T1" fmla="*/ 13386 h 21600"/>
                <a:gd name="T2" fmla="*/ 4202 w 21600"/>
                <a:gd name="T3" fmla="*/ 21161 h 21600"/>
                <a:gd name="T4" fmla="*/ 10400 w 21600"/>
                <a:gd name="T5" fmla="*/ 13909 h 21600"/>
                <a:gd name="T6" fmla="*/ 16821 w 21600"/>
                <a:gd name="T7" fmla="*/ 21190 h 21600"/>
                <a:gd name="T8" fmla="*/ 21600 w 21600"/>
                <a:gd name="T9" fmla="*/ 15083 h 21600"/>
                <a:gd name="T10" fmla="*/ 16889 w 21600"/>
                <a:gd name="T11" fmla="*/ 5739 h 21600"/>
                <a:gd name="T12" fmla="*/ 10800 w 21600"/>
                <a:gd name="T13" fmla="*/ 28 h 21600"/>
                <a:gd name="T14" fmla="*/ 4202 w 21600"/>
                <a:gd name="T15" fmla="*/ 5894 h 21600"/>
                <a:gd name="T16" fmla="*/ 5388 w 21600"/>
                <a:gd name="T17" fmla="*/ 6742 h 21600"/>
                <a:gd name="T18" fmla="*/ 16177 w 21600"/>
                <a:gd name="T19" fmla="*/ 20441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w="28575">
              <a:solidFill>
                <a:srgbClr val="000000"/>
              </a:solidFill>
              <a:miter lim="800000"/>
              <a:headEnd/>
              <a:tailEnd/>
            </a:ln>
            <a:effectLst>
              <a:glow rad="228600">
                <a:srgbClr val="FF0000">
                  <a:alpha val="40000"/>
                </a:srgbClr>
              </a:glow>
            </a:effec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fontAlgn="auto">
                <a:spcBef>
                  <a:spcPts val="0"/>
                </a:spcBef>
                <a:spcAft>
                  <a:spcPts val="0"/>
                </a:spcAft>
                <a:defRPr/>
              </a:pPr>
              <a:endParaRPr lang="en-US">
                <a:latin typeface="+mn-lt"/>
                <a:ea typeface="ＭＳ Ｐゴシック" pitchFamily="30" charset="-128"/>
              </a:endParaRPr>
            </a:p>
          </p:txBody>
        </p:sp>
        <p:sp>
          <p:nvSpPr>
            <p:cNvPr id="10" name="Puzzle4"/>
            <p:cNvSpPr>
              <a:spLocks noEditPoints="1" noChangeArrowheads="1"/>
            </p:cNvSpPr>
            <p:nvPr/>
          </p:nvSpPr>
          <p:spPr bwMode="auto">
            <a:xfrm>
              <a:off x="2192" y="1719"/>
              <a:ext cx="1072" cy="17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2075 w 21600"/>
                <a:gd name="T25" fmla="*/ 5660 h 21600"/>
                <a:gd name="T26" fmla="*/ 20210 w 21600"/>
                <a:gd name="T27" fmla="*/ 1597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w="28575">
              <a:solidFill>
                <a:srgbClr val="000000"/>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ro-RO"/>
            </a:p>
          </p:txBody>
        </p:sp>
        <p:sp>
          <p:nvSpPr>
            <p:cNvPr id="11" name="Puzzle1"/>
            <p:cNvSpPr>
              <a:spLocks noEditPoints="1" noChangeArrowheads="1"/>
            </p:cNvSpPr>
            <p:nvPr/>
          </p:nvSpPr>
          <p:spPr bwMode="auto">
            <a:xfrm>
              <a:off x="1824" y="1091"/>
              <a:ext cx="1800" cy="10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6084 w 21600"/>
                <a:gd name="T25" fmla="*/ 2569 h 21600"/>
                <a:gd name="T26" fmla="*/ 16128 w 21600"/>
                <a:gd name="T27" fmla="*/ 1954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w="28575">
              <a:solidFill>
                <a:srgbClr val="000000"/>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ro-RO"/>
            </a:p>
          </p:txBody>
        </p:sp>
      </p:grpSp>
      <p:sp>
        <p:nvSpPr>
          <p:cNvPr id="2" name="Rectangle 1"/>
          <p:cNvSpPr/>
          <p:nvPr/>
        </p:nvSpPr>
        <p:spPr>
          <a:xfrm>
            <a:off x="3069985" y="898552"/>
            <a:ext cx="2056973" cy="369332"/>
          </a:xfrm>
          <a:prstGeom prst="rect">
            <a:avLst/>
          </a:prstGeom>
        </p:spPr>
        <p:txBody>
          <a:bodyPr wrap="none">
            <a:spAutoFit/>
          </a:bodyPr>
          <a:lstStyle/>
          <a:p>
            <a:r>
              <a:rPr lang="en-US" b="1" dirty="0" err="1">
                <a:solidFill>
                  <a:srgbClr val="000000"/>
                </a:solidFill>
                <a:latin typeface="Times New Roman" panose="02020603050405020304" pitchFamily="18" charset="0"/>
              </a:rPr>
              <a:t>Sécurité</a:t>
            </a:r>
            <a:r>
              <a:rPr lang="en-US" b="1" dirty="0">
                <a:solidFill>
                  <a:srgbClr val="000000"/>
                </a:solidFill>
                <a:latin typeface="Times New Roman" panose="02020603050405020304" pitchFamily="18" charset="0"/>
              </a:rPr>
              <a:t> du patient</a:t>
            </a:r>
            <a:endParaRPr lang="en-US" dirty="0"/>
          </a:p>
        </p:txBody>
      </p:sp>
    </p:spTree>
    <p:extLst>
      <p:ext uri="{BB962C8B-B14F-4D97-AF65-F5344CB8AC3E}">
        <p14:creationId xmlns:p14="http://schemas.microsoft.com/office/powerpoint/2010/main" val="14345519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ă Office">
  <a:themeElements>
    <a:clrScheme name="Temă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ă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ă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326</TotalTime>
  <Words>1160</Words>
  <Application>Microsoft Office PowerPoint</Application>
  <PresentationFormat>On-screen Show (4:3)</PresentationFormat>
  <Paragraphs>174</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ＭＳ Ｐゴシック</vt:lpstr>
      <vt:lpstr>Arial</vt:lpstr>
      <vt:lpstr>Calibri</vt:lpstr>
      <vt:lpstr>Calibri Light</vt:lpstr>
      <vt:lpstr>Times New Roman</vt:lpstr>
      <vt:lpstr>Temă Office</vt:lpstr>
      <vt:lpstr>Étapes du traitement de chimiothérapie</vt:lpstr>
      <vt:lpstr>Étapes du traitement de chimiothérapie </vt:lpstr>
      <vt:lpstr>Choix du schéma de traitement (commission d'oncologie)</vt:lpstr>
      <vt:lpstr>Vérification des conditions qui permettent / contre-indiquent l'administration (oncologue)</vt:lpstr>
      <vt:lpstr>Vérification des conditions qui permettent / contre-indiquent l'administration (oncologue)</vt:lpstr>
      <vt:lpstr>Calcul de dose de cytostatiques (oncologue)</vt:lpstr>
      <vt:lpstr>PowerPoint Presentation</vt:lpstr>
      <vt:lpstr>Calcul de dose de cytostatiques (oncologue)</vt:lpstr>
      <vt:lpstr>PowerPoint Presentation</vt:lpstr>
      <vt:lpstr>Calcul de dose de cytostatiques (oncologue)</vt:lpstr>
      <vt:lpstr>Calcul de dose de cytostatiques (oncologue)</vt:lpstr>
      <vt:lpstr>Compléter l'ordonnance de chimiothérapie (oncologue)</vt:lpstr>
      <vt:lpstr>Préparation de cytostatiques (pharmacien)</vt:lpstr>
      <vt:lpstr>Administration des cytostatiques (infirmière)</vt:lpstr>
      <vt:lpstr>Élimination / recyclage des déchets (infirmière / pharmacien)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Etapele tratamentului chimioterapic</dc:title>
  <dc:creator>Windows User</dc:creator>
  <cp:lastModifiedBy>useru</cp:lastModifiedBy>
  <cp:revision>26</cp:revision>
  <dcterms:created xsi:type="dcterms:W3CDTF">2019-09-18T04:03:28Z</dcterms:created>
  <dcterms:modified xsi:type="dcterms:W3CDTF">2022-03-03T03:53:06Z</dcterms:modified>
</cp:coreProperties>
</file>