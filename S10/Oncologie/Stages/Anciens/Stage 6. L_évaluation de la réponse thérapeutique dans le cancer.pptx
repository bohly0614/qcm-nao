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28"/>
  </p:notesMasterIdLst>
  <p:sldIdLst>
    <p:sldId id="319" r:id="rId2"/>
    <p:sldId id="320" r:id="rId3"/>
    <p:sldId id="291" r:id="rId4"/>
    <p:sldId id="259" r:id="rId5"/>
    <p:sldId id="301" r:id="rId6"/>
    <p:sldId id="302" r:id="rId7"/>
    <p:sldId id="303" r:id="rId8"/>
    <p:sldId id="277" r:id="rId9"/>
    <p:sldId id="304" r:id="rId10"/>
    <p:sldId id="317" r:id="rId11"/>
    <p:sldId id="305" r:id="rId12"/>
    <p:sldId id="306" r:id="rId13"/>
    <p:sldId id="318" r:id="rId14"/>
    <p:sldId id="307" r:id="rId15"/>
    <p:sldId id="311" r:id="rId16"/>
    <p:sldId id="308" r:id="rId17"/>
    <p:sldId id="316" r:id="rId18"/>
    <p:sldId id="312" r:id="rId19"/>
    <p:sldId id="314" r:id="rId20"/>
    <p:sldId id="309" r:id="rId21"/>
    <p:sldId id="313" r:id="rId22"/>
    <p:sldId id="280" r:id="rId23"/>
    <p:sldId id="267" r:id="rId24"/>
    <p:sldId id="294" r:id="rId25"/>
    <p:sldId id="295" r:id="rId26"/>
    <p:sldId id="315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96" y="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53076-B5B0-46B2-B6B3-A410E55EC3ED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3E056-4B49-4BAB-BE2E-3CF6345600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771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23E056-4B49-4BAB-BE2E-3CF6345600C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98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23E056-4B49-4BAB-BE2E-3CF6345600C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000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C884-D000-4374-B6AD-642F565E153D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244BD-D9A5-42EC-9D30-5702E03213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729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C884-D000-4374-B6AD-642F565E153D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244BD-D9A5-42EC-9D30-5702E03213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36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C884-D000-4374-B6AD-642F565E153D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244BD-D9A5-42EC-9D30-5702E03213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7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C884-D000-4374-B6AD-642F565E153D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244BD-D9A5-42EC-9D30-5702E03213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90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C884-D000-4374-B6AD-642F565E153D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244BD-D9A5-42EC-9D30-5702E03213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003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C884-D000-4374-B6AD-642F565E153D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244BD-D9A5-42EC-9D30-5702E03213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03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C884-D000-4374-B6AD-642F565E153D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244BD-D9A5-42EC-9D30-5702E03213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911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C884-D000-4374-B6AD-642F565E153D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244BD-D9A5-42EC-9D30-5702E03213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62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C884-D000-4374-B6AD-642F565E153D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244BD-D9A5-42EC-9D30-5702E03213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9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C884-D000-4374-B6AD-642F565E153D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244BD-D9A5-42EC-9D30-5702E03213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818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C884-D000-4374-B6AD-642F565E153D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244BD-D9A5-42EC-9D30-5702E03213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550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3C884-D000-4374-B6AD-642F565E153D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244BD-D9A5-42EC-9D30-5702E03213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61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emf"/><Relationship Id="rId7" Type="http://schemas.openxmlformats.org/officeDocument/2006/relationships/image" Target="../media/image35.emf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11" Type="http://schemas.openxmlformats.org/officeDocument/2006/relationships/image" Target="../media/image39.png"/><Relationship Id="rId5" Type="http://schemas.openxmlformats.org/officeDocument/2006/relationships/image" Target="../media/image33.emf"/><Relationship Id="rId10" Type="http://schemas.openxmlformats.org/officeDocument/2006/relationships/image" Target="../media/image38.png"/><Relationship Id="rId4" Type="http://schemas.openxmlformats.org/officeDocument/2006/relationships/image" Target="../media/image32.emf"/><Relationship Id="rId9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76400"/>
            <a:ext cx="91440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500" b="1" dirty="0">
                <a:solidFill>
                  <a:srgbClr val="000000"/>
                </a:solidFill>
                <a:latin typeface="+mj-lt"/>
              </a:rPr>
              <a:t>Évaluation de la réponse thérapeutique dans le cancer</a:t>
            </a:r>
            <a:endParaRPr lang="en-US" sz="3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71497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0" y="-228600"/>
            <a:ext cx="9144000" cy="1524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+mn-lt"/>
              </a:rPr>
              <a:t/>
            </a:r>
            <a:br>
              <a:rPr lang="en-US" b="1" dirty="0" smtClean="0">
                <a:latin typeface="+mn-lt"/>
              </a:rPr>
            </a:br>
            <a:r>
              <a:rPr lang="fr-FR" sz="3900" b="1" dirty="0">
                <a:solidFill>
                  <a:srgbClr val="000000"/>
                </a:solidFill>
              </a:rPr>
              <a:t>Critères d'évaluation de la réponse thérapeutique</a:t>
            </a:r>
            <a:r>
              <a:rPr lang="fr-FR" b="1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br>
              <a:rPr lang="fr-FR" b="1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153400" cy="6172200"/>
          </a:xfrm>
        </p:spPr>
        <p:txBody>
          <a:bodyPr>
            <a:noAutofit/>
          </a:bodyPr>
          <a:lstStyle/>
          <a:p>
            <a:endParaRPr lang="ro-RO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1800" dirty="0">
                <a:solidFill>
                  <a:srgbClr val="000000"/>
                </a:solidFill>
              </a:rPr>
              <a:t>Afin d'optimiser le résultat thérapeutique, il est essentiel d'évaluer la réponse au traitement</a:t>
            </a:r>
          </a:p>
          <a:p>
            <a:pPr>
              <a:lnSpc>
                <a:spcPct val="150000"/>
              </a:lnSpc>
            </a:pPr>
            <a:r>
              <a:rPr lang="fr-FR" sz="1800" dirty="0">
                <a:solidFill>
                  <a:srgbClr val="000000"/>
                </a:solidFill>
              </a:rPr>
              <a:t>Les critères utilisés pour évaluer la réponse sont: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000000"/>
                </a:solidFill>
              </a:rPr>
              <a:t>Subjective - liée à la qualité de vie des patients (</a:t>
            </a:r>
            <a:r>
              <a:rPr lang="fr-FR" sz="1800" dirty="0" err="1">
                <a:solidFill>
                  <a:srgbClr val="000000"/>
                </a:solidFill>
              </a:rPr>
              <a:t>QdV</a:t>
            </a:r>
            <a:r>
              <a:rPr lang="fr-FR" sz="1800" dirty="0">
                <a:solidFill>
                  <a:srgbClr val="000000"/>
                </a:solidFill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lang="fr-FR" sz="1800" dirty="0">
                <a:solidFill>
                  <a:srgbClr val="000000"/>
                </a:solidFill>
              </a:rPr>
              <a:t>Diminution de la douleur</a:t>
            </a:r>
          </a:p>
          <a:p>
            <a:pPr lvl="2">
              <a:lnSpc>
                <a:spcPct val="150000"/>
              </a:lnSpc>
            </a:pPr>
            <a:r>
              <a:rPr lang="fr-FR" sz="1800" dirty="0">
                <a:solidFill>
                  <a:srgbClr val="000000"/>
                </a:solidFill>
              </a:rPr>
              <a:t>Augmentation de l'appétit</a:t>
            </a:r>
          </a:p>
          <a:p>
            <a:pPr lvl="2">
              <a:lnSpc>
                <a:spcPct val="150000"/>
              </a:lnSpc>
            </a:pPr>
            <a:r>
              <a:rPr lang="fr-FR" sz="1800" dirty="0">
                <a:solidFill>
                  <a:srgbClr val="000000"/>
                </a:solidFill>
              </a:rPr>
              <a:t>Soulagement de symptômes spécifiques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800" dirty="0" smtClean="0">
                <a:solidFill>
                  <a:srgbClr val="000000"/>
                </a:solidFill>
              </a:rPr>
              <a:t>Objective</a:t>
            </a:r>
            <a:endParaRPr lang="fr-FR" sz="1800" dirty="0">
              <a:solidFill>
                <a:srgbClr val="000000"/>
              </a:solidFill>
            </a:endParaRPr>
          </a:p>
          <a:p>
            <a:pPr lvl="2">
              <a:lnSpc>
                <a:spcPct val="150000"/>
              </a:lnSpc>
            </a:pPr>
            <a:r>
              <a:rPr lang="fr-FR" sz="1800" dirty="0">
                <a:solidFill>
                  <a:srgbClr val="000000"/>
                </a:solidFill>
              </a:rPr>
              <a:t>Critères d'imagerie (RECIST)</a:t>
            </a:r>
          </a:p>
          <a:p>
            <a:pPr lvl="2">
              <a:lnSpc>
                <a:spcPct val="150000"/>
              </a:lnSpc>
            </a:pPr>
            <a:r>
              <a:rPr lang="fr-FR" sz="1800" dirty="0">
                <a:solidFill>
                  <a:srgbClr val="000000"/>
                </a:solidFill>
              </a:rPr>
              <a:t>Critères biochimiques (marqueurs tumoraux, autres tests de laboratoire)</a:t>
            </a:r>
          </a:p>
          <a:p>
            <a:pPr lvl="2">
              <a:lnSpc>
                <a:spcPct val="150000"/>
              </a:lnSpc>
            </a:pPr>
            <a:r>
              <a:rPr lang="fr-FR" sz="1800" dirty="0">
                <a:solidFill>
                  <a:srgbClr val="000000"/>
                </a:solidFill>
              </a:rPr>
              <a:t>Critères cliniques (évolution des critères neurologiques, ascite, etc.)</a:t>
            </a:r>
            <a:endParaRPr lang="fr-FR" sz="1800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04198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19400" y="117693"/>
            <a:ext cx="44958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7200" b="1" dirty="0">
                <a:solidFill>
                  <a:srgbClr val="FF0000"/>
                </a:solidFill>
              </a:rPr>
              <a:t>R</a:t>
            </a:r>
            <a:r>
              <a:rPr lang="en-US" sz="5400" dirty="0">
                <a:solidFill>
                  <a:prstClr val="black"/>
                </a:solidFill>
              </a:rPr>
              <a:t>esponse </a:t>
            </a:r>
            <a:endParaRPr lang="ro-RO" sz="5400" dirty="0" smtClean="0">
              <a:solidFill>
                <a:prstClr val="black"/>
              </a:solidFill>
            </a:endParaRPr>
          </a:p>
          <a:p>
            <a:pPr lvl="0"/>
            <a:r>
              <a:rPr lang="en-US" sz="7200" b="1" dirty="0" smtClean="0">
                <a:solidFill>
                  <a:srgbClr val="FF0000"/>
                </a:solidFill>
              </a:rPr>
              <a:t>E</a:t>
            </a:r>
            <a:r>
              <a:rPr lang="en-US" sz="5400" dirty="0" smtClean="0">
                <a:solidFill>
                  <a:prstClr val="black"/>
                </a:solidFill>
              </a:rPr>
              <a:t>valuation </a:t>
            </a:r>
          </a:p>
          <a:p>
            <a:pPr lvl="0"/>
            <a:r>
              <a:rPr lang="en-US" sz="7200" b="1" dirty="0" smtClean="0">
                <a:solidFill>
                  <a:srgbClr val="FF0000"/>
                </a:solidFill>
              </a:rPr>
              <a:t>C</a:t>
            </a:r>
            <a:r>
              <a:rPr lang="en-US" sz="5400" dirty="0" smtClean="0">
                <a:solidFill>
                  <a:prstClr val="black"/>
                </a:solidFill>
              </a:rPr>
              <a:t>riteria </a:t>
            </a:r>
          </a:p>
          <a:p>
            <a:pPr lvl="0"/>
            <a:r>
              <a:rPr lang="ro-RO" sz="4400" b="1" dirty="0" smtClean="0">
                <a:solidFill>
                  <a:srgbClr val="FF0000"/>
                </a:solidFill>
              </a:rPr>
              <a:t> </a:t>
            </a:r>
            <a:r>
              <a:rPr lang="en-US" sz="7200" b="1" dirty="0" smtClean="0">
                <a:solidFill>
                  <a:srgbClr val="FF0000"/>
                </a:solidFill>
              </a:rPr>
              <a:t>I</a:t>
            </a:r>
            <a:r>
              <a:rPr lang="en-US" sz="5400" dirty="0" smtClean="0">
                <a:solidFill>
                  <a:prstClr val="black"/>
                </a:solidFill>
              </a:rPr>
              <a:t>n </a:t>
            </a:r>
          </a:p>
          <a:p>
            <a:pPr lvl="0"/>
            <a:r>
              <a:rPr lang="en-US" sz="7200" b="1" dirty="0" smtClean="0">
                <a:solidFill>
                  <a:srgbClr val="FF0000"/>
                </a:solidFill>
              </a:rPr>
              <a:t>S</a:t>
            </a:r>
            <a:r>
              <a:rPr lang="en-US" sz="5400" dirty="0" smtClean="0">
                <a:solidFill>
                  <a:prstClr val="black"/>
                </a:solidFill>
              </a:rPr>
              <a:t>olid</a:t>
            </a:r>
          </a:p>
          <a:p>
            <a:pPr lvl="0"/>
            <a:r>
              <a:rPr lang="en-US" sz="7200" b="1" dirty="0" smtClean="0">
                <a:solidFill>
                  <a:srgbClr val="FF0000"/>
                </a:solidFill>
              </a:rPr>
              <a:t>T</a:t>
            </a:r>
            <a:r>
              <a:rPr lang="en-US" sz="5400" dirty="0" smtClean="0">
                <a:solidFill>
                  <a:prstClr val="black"/>
                </a:solidFill>
              </a:rPr>
              <a:t>umors </a:t>
            </a:r>
            <a:endParaRPr lang="en-US" sz="5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972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9144000" cy="1524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R</a:t>
            </a:r>
            <a:r>
              <a:rPr lang="en-US" sz="1300" dirty="0"/>
              <a:t>esponse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E</a:t>
            </a:r>
            <a:r>
              <a:rPr lang="en-US" sz="1300" dirty="0"/>
              <a:t>valuation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sz="1300" dirty="0"/>
              <a:t>riteria</a:t>
            </a:r>
            <a:r>
              <a:rPr lang="en-US" dirty="0"/>
              <a:t> </a:t>
            </a:r>
            <a:r>
              <a:rPr lang="ro-RO" dirty="0" smtClean="0"/>
              <a:t>  </a:t>
            </a:r>
            <a:r>
              <a:rPr lang="en-US" dirty="0" smtClean="0">
                <a:solidFill>
                  <a:srgbClr val="FF0000"/>
                </a:solidFill>
              </a:rPr>
              <a:t>I</a:t>
            </a:r>
            <a:r>
              <a:rPr lang="en-US" sz="1200" dirty="0" smtClean="0"/>
              <a:t>n</a:t>
            </a:r>
            <a:r>
              <a:rPr lang="en-US" dirty="0" smtClean="0"/>
              <a:t> </a:t>
            </a:r>
            <a:r>
              <a:rPr lang="ro-RO" dirty="0" smtClean="0"/>
              <a:t>     </a:t>
            </a:r>
            <a:r>
              <a:rPr lang="en-US" dirty="0" smtClean="0">
                <a:solidFill>
                  <a:srgbClr val="FF0000"/>
                </a:solidFill>
              </a:rPr>
              <a:t>S</a:t>
            </a:r>
            <a:r>
              <a:rPr lang="en-US" sz="1200" dirty="0" smtClean="0"/>
              <a:t>olid</a:t>
            </a:r>
            <a:r>
              <a:rPr lang="en-US" dirty="0" smtClean="0"/>
              <a:t> </a:t>
            </a:r>
            <a:r>
              <a:rPr lang="ro-RO" dirty="0" smtClean="0"/>
              <a:t>   </a:t>
            </a:r>
            <a:r>
              <a:rPr lang="en-US" dirty="0" err="1" smtClean="0">
                <a:solidFill>
                  <a:srgbClr val="FF0000"/>
                </a:solidFill>
              </a:rPr>
              <a:t>T</a:t>
            </a:r>
            <a:r>
              <a:rPr lang="en-US" sz="1200" dirty="0" err="1" smtClean="0"/>
              <a:t>umours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fr-FR" sz="3500" dirty="0"/>
              <a:t>Critères d'évaluation de la réponse dans les tumeurs solides</a:t>
            </a:r>
            <a:endParaRPr lang="en-US" sz="35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514600"/>
            <a:ext cx="8458200" cy="388620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fr-FR" sz="1800" dirty="0">
                <a:solidFill>
                  <a:srgbClr val="000000"/>
                </a:solidFill>
              </a:rPr>
              <a:t>Le critère utilisé pour évaluer la réponse au traitement de la maladie</a:t>
            </a:r>
          </a:p>
          <a:p>
            <a:pPr>
              <a:lnSpc>
                <a:spcPct val="200000"/>
              </a:lnSpc>
            </a:pPr>
            <a:r>
              <a:rPr lang="fr-FR" sz="1800" dirty="0">
                <a:solidFill>
                  <a:srgbClr val="000000"/>
                </a:solidFill>
              </a:rPr>
              <a:t>Il y a trois composants:</a:t>
            </a: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000000"/>
                </a:solidFill>
              </a:rPr>
              <a:t>Lésions cibles</a:t>
            </a: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000000"/>
                </a:solidFill>
              </a:rPr>
              <a:t>Lésions non cibles</a:t>
            </a: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000000"/>
                </a:solidFill>
              </a:rPr>
              <a:t>Nouvelles blessure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15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3500" b="1" dirty="0" err="1">
                <a:solidFill>
                  <a:srgbClr val="000000"/>
                </a:solidFill>
              </a:rPr>
              <a:t>Lésions</a:t>
            </a:r>
            <a:r>
              <a:rPr lang="en-US" sz="3500" b="1" dirty="0">
                <a:solidFill>
                  <a:srgbClr val="000000"/>
                </a:solidFill>
              </a:rPr>
              <a:t> </a:t>
            </a:r>
            <a:r>
              <a:rPr lang="en-US" sz="3500" b="1" dirty="0" err="1">
                <a:solidFill>
                  <a:srgbClr val="000000"/>
                </a:solidFill>
              </a:rPr>
              <a:t>cibles</a:t>
            </a:r>
            <a:endParaRPr lang="en-US" sz="3500" b="1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8400"/>
            <a:ext cx="8229600" cy="368776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fr-FR" sz="1800" dirty="0" smtClean="0">
                <a:solidFill>
                  <a:srgbClr val="000000"/>
                </a:solidFill>
              </a:rPr>
              <a:t>Jusqu'à </a:t>
            </a:r>
            <a:r>
              <a:rPr lang="fr-FR" sz="1800" b="1" dirty="0" smtClean="0">
                <a:solidFill>
                  <a:srgbClr val="000000"/>
                </a:solidFill>
              </a:rPr>
              <a:t>2</a:t>
            </a:r>
            <a:r>
              <a:rPr lang="fr-FR" sz="1800" dirty="0" smtClean="0">
                <a:solidFill>
                  <a:srgbClr val="000000"/>
                </a:solidFill>
              </a:rPr>
              <a:t> lésions par organe</a:t>
            </a:r>
          </a:p>
          <a:p>
            <a:pPr>
              <a:lnSpc>
                <a:spcPct val="200000"/>
              </a:lnSpc>
            </a:pPr>
            <a:r>
              <a:rPr lang="fr-FR" sz="1800" dirty="0" smtClean="0">
                <a:solidFill>
                  <a:srgbClr val="000000"/>
                </a:solidFill>
              </a:rPr>
              <a:t>Jusqu'à </a:t>
            </a:r>
            <a:r>
              <a:rPr lang="fr-FR" sz="1800" b="1" dirty="0" smtClean="0">
                <a:solidFill>
                  <a:srgbClr val="000000"/>
                </a:solidFill>
              </a:rPr>
              <a:t>5</a:t>
            </a:r>
            <a:r>
              <a:rPr lang="fr-FR" sz="1800" dirty="0" smtClean="0">
                <a:solidFill>
                  <a:srgbClr val="000000"/>
                </a:solidFill>
              </a:rPr>
              <a:t> blessures au total</a:t>
            </a:r>
          </a:p>
          <a:p>
            <a:pPr>
              <a:lnSpc>
                <a:spcPct val="200000"/>
              </a:lnSpc>
            </a:pPr>
            <a:r>
              <a:rPr lang="fr-FR" sz="1800" b="1" dirty="0" smtClean="0">
                <a:solidFill>
                  <a:srgbClr val="000000"/>
                </a:solidFill>
              </a:rPr>
              <a:t>Lésions non nodulaires</a:t>
            </a:r>
            <a:r>
              <a:rPr lang="fr-FR" sz="1800" dirty="0" smtClean="0">
                <a:solidFill>
                  <a:srgbClr val="000000"/>
                </a:solidFill>
              </a:rPr>
              <a:t> (axe </a:t>
            </a:r>
            <a:r>
              <a:rPr lang="fr-FR" sz="1800" b="1" dirty="0" smtClean="0">
                <a:solidFill>
                  <a:srgbClr val="000000"/>
                </a:solidFill>
              </a:rPr>
              <a:t>long</a:t>
            </a:r>
            <a:r>
              <a:rPr lang="fr-FR" sz="1800" dirty="0" smtClean="0">
                <a:solidFill>
                  <a:srgbClr val="000000"/>
                </a:solidFill>
              </a:rPr>
              <a:t> &gt; 10 mm)</a:t>
            </a:r>
          </a:p>
          <a:p>
            <a:pPr>
              <a:lnSpc>
                <a:spcPct val="200000"/>
              </a:lnSpc>
            </a:pPr>
            <a:r>
              <a:rPr lang="fr-FR" sz="1800" b="1" dirty="0" smtClean="0">
                <a:solidFill>
                  <a:srgbClr val="000000"/>
                </a:solidFill>
              </a:rPr>
              <a:t>Ganglions lymphatiques</a:t>
            </a:r>
            <a:r>
              <a:rPr lang="fr-FR" sz="1800" dirty="0" smtClean="0">
                <a:solidFill>
                  <a:srgbClr val="000000"/>
                </a:solidFill>
              </a:rPr>
              <a:t> (axe </a:t>
            </a:r>
            <a:r>
              <a:rPr lang="fr-FR" sz="1800" b="1" dirty="0" smtClean="0">
                <a:solidFill>
                  <a:srgbClr val="000000"/>
                </a:solidFill>
              </a:rPr>
              <a:t>court</a:t>
            </a:r>
            <a:r>
              <a:rPr lang="fr-FR" sz="1800" dirty="0" smtClean="0">
                <a:solidFill>
                  <a:srgbClr val="000000"/>
                </a:solidFill>
              </a:rPr>
              <a:t> &gt; 15 mm)</a:t>
            </a:r>
          </a:p>
          <a:p>
            <a:pPr>
              <a:lnSpc>
                <a:spcPct val="200000"/>
              </a:lnSpc>
            </a:pPr>
            <a:r>
              <a:rPr lang="fr-FR" sz="1800" b="1" dirty="0" smtClean="0">
                <a:solidFill>
                  <a:srgbClr val="000000"/>
                </a:solidFill>
              </a:rPr>
              <a:t>Lésions osseuses</a:t>
            </a:r>
            <a:r>
              <a:rPr lang="fr-FR" sz="1800" dirty="0" smtClean="0">
                <a:solidFill>
                  <a:srgbClr val="000000"/>
                </a:solidFill>
              </a:rPr>
              <a:t> avec une composante lithique et une masse de tissus mous mesurable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1066800"/>
          </a:xfrm>
        </p:spPr>
        <p:txBody>
          <a:bodyPr>
            <a:noAutofit/>
          </a:bodyPr>
          <a:lstStyle/>
          <a:p>
            <a:r>
              <a:rPr lang="fr-FR" sz="3500" b="1" dirty="0">
                <a:solidFill>
                  <a:srgbClr val="000000"/>
                </a:solidFill>
              </a:rPr>
              <a:t>Exemple de lésions cibles non </a:t>
            </a:r>
            <a:r>
              <a:rPr lang="fr-FR" sz="3500" b="1" dirty="0" smtClean="0">
                <a:solidFill>
                  <a:srgbClr val="000000"/>
                </a:solidFill>
              </a:rPr>
              <a:t>nodulaires</a:t>
            </a:r>
            <a:endParaRPr lang="en-US" sz="35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457200"/>
          </a:xfrm>
        </p:spPr>
        <p:txBody>
          <a:bodyPr>
            <a:normAutofit/>
          </a:bodyPr>
          <a:lstStyle/>
          <a:p>
            <a:r>
              <a:rPr lang="fr-FR" sz="1800" dirty="0">
                <a:solidFill>
                  <a:srgbClr val="000000"/>
                </a:solidFill>
              </a:rPr>
              <a:t>Mesuré axialement dans l'axe le plus long.</a:t>
            </a:r>
          </a:p>
          <a:p>
            <a:endParaRPr lang="vi-VN" sz="2000" dirty="0"/>
          </a:p>
        </p:txBody>
      </p:sp>
      <p:pic>
        <p:nvPicPr>
          <p:cNvPr id="1027" name="Picture 3" descr="C:\Users\medic-ct\Desktop\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91000" y="3124200"/>
            <a:ext cx="4448175" cy="2981325"/>
          </a:xfrm>
          <a:prstGeom prst="rect">
            <a:avLst/>
          </a:prstGeom>
          <a:noFill/>
        </p:spPr>
      </p:pic>
      <p:pic>
        <p:nvPicPr>
          <p:cNvPr id="7" name="Imagin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24200"/>
            <a:ext cx="3441462" cy="29724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9144000" cy="1066800"/>
          </a:xfrm>
        </p:spPr>
        <p:txBody>
          <a:bodyPr>
            <a:noAutofit/>
          </a:bodyPr>
          <a:lstStyle/>
          <a:p>
            <a:pPr algn="l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3500" b="1" dirty="0">
                <a:solidFill>
                  <a:srgbClr val="000000"/>
                </a:solidFill>
              </a:rPr>
              <a:t>Exemple </a:t>
            </a:r>
            <a:r>
              <a:rPr lang="fr-FR" sz="3500" b="1" dirty="0" smtClean="0">
                <a:solidFill>
                  <a:srgbClr val="000000"/>
                </a:solidFill>
              </a:rPr>
              <a:t/>
            </a:r>
            <a:br>
              <a:rPr lang="fr-FR" sz="3500" b="1" dirty="0" smtClean="0">
                <a:solidFill>
                  <a:srgbClr val="000000"/>
                </a:solidFill>
              </a:rPr>
            </a:br>
            <a:r>
              <a:rPr lang="fr-FR" sz="3500" b="1" dirty="0" smtClean="0">
                <a:solidFill>
                  <a:srgbClr val="000000"/>
                </a:solidFill>
              </a:rPr>
              <a:t>Les</a:t>
            </a:r>
            <a:r>
              <a:rPr lang="fr-FR" sz="3500" b="1" dirty="0">
                <a:solidFill>
                  <a:srgbClr val="000000"/>
                </a:solidFill>
              </a:rPr>
              <a:t> caractéristiques des ganglions lymphatiques</a:t>
            </a:r>
            <a:r>
              <a:rPr lang="fr-FR" b="1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br>
              <a:rPr lang="fr-FR" b="1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1752600"/>
            <a:ext cx="9144000" cy="129540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200000"/>
              </a:lnSpc>
            </a:pPr>
            <a:r>
              <a:rPr lang="fr-FR" sz="7200" dirty="0"/>
              <a:t>&gt; 15 mm - lésions cibles</a:t>
            </a:r>
          </a:p>
          <a:p>
            <a:pPr>
              <a:lnSpc>
                <a:spcPct val="200000"/>
              </a:lnSpc>
            </a:pPr>
            <a:r>
              <a:rPr lang="fr-FR" sz="7200" dirty="0"/>
              <a:t>10-15 mm - lésions non cibles</a:t>
            </a:r>
          </a:p>
          <a:p>
            <a:pPr>
              <a:lnSpc>
                <a:spcPct val="200000"/>
              </a:lnSpc>
            </a:pPr>
            <a:r>
              <a:rPr lang="fr-FR" sz="7200" dirty="0"/>
              <a:t>&lt;10 mm - normal</a:t>
            </a:r>
          </a:p>
          <a:p>
            <a:pPr marL="0" indent="0" algn="ctr">
              <a:buNone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C:\Users\medic-ct\Desktop\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3429000"/>
            <a:ext cx="3379558" cy="3105150"/>
          </a:xfrm>
          <a:prstGeom prst="rect">
            <a:avLst/>
          </a:prstGeom>
          <a:noFill/>
        </p:spPr>
      </p:pic>
      <p:pic>
        <p:nvPicPr>
          <p:cNvPr id="2051" name="Picture 3" descr="C:\Users\medic-ct\Desktop\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3429000"/>
            <a:ext cx="3276600" cy="308728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1524000"/>
          </a:xfrm>
        </p:spPr>
        <p:txBody>
          <a:bodyPr>
            <a:normAutofit/>
          </a:bodyPr>
          <a:lstStyle/>
          <a:p>
            <a:r>
              <a:rPr lang="en-US" sz="3500" b="1" dirty="0" err="1"/>
              <a:t>Lésions</a:t>
            </a:r>
            <a:r>
              <a:rPr lang="en-US" sz="3500" b="1" dirty="0"/>
              <a:t> non </a:t>
            </a:r>
            <a:r>
              <a:rPr lang="en-US" sz="3500" b="1" dirty="0" err="1" smtClean="0"/>
              <a:t>cibles</a:t>
            </a:r>
            <a:endParaRPr lang="en-US" sz="35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153400" cy="5181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fr-FR" sz="1800" dirty="0"/>
              <a:t>Toutes les autres lésions doivent être identifiées comme des lésions non cibles et doivent également être enregistrées depuis le début (ligne de base).</a:t>
            </a:r>
          </a:p>
          <a:p>
            <a:pPr>
              <a:lnSpc>
                <a:spcPct val="150000"/>
              </a:lnSpc>
            </a:pPr>
            <a:r>
              <a:rPr lang="fr-FR" sz="1800" dirty="0"/>
              <a:t>exemples</a:t>
            </a:r>
          </a:p>
          <a:p>
            <a:pPr lvl="1">
              <a:lnSpc>
                <a:spcPct val="150000"/>
              </a:lnSpc>
            </a:pPr>
            <a:r>
              <a:rPr lang="fr-FR" sz="1800" dirty="0"/>
              <a:t>ascite</a:t>
            </a:r>
          </a:p>
          <a:p>
            <a:pPr lvl="1">
              <a:lnSpc>
                <a:spcPct val="150000"/>
              </a:lnSpc>
            </a:pPr>
            <a:r>
              <a:rPr lang="fr-FR" sz="1800" dirty="0"/>
              <a:t>pleurésie</a:t>
            </a:r>
          </a:p>
          <a:p>
            <a:pPr lvl="1">
              <a:lnSpc>
                <a:spcPct val="150000"/>
              </a:lnSpc>
            </a:pPr>
            <a:r>
              <a:rPr lang="fr-FR" sz="1800" dirty="0"/>
              <a:t>métastases osseuses et lésions </a:t>
            </a:r>
            <a:r>
              <a:rPr lang="fr-FR" sz="1800" dirty="0" err="1"/>
              <a:t>leptoméningées</a:t>
            </a:r>
            <a:endParaRPr lang="fr-FR" sz="1800" dirty="0"/>
          </a:p>
          <a:p>
            <a:pPr lvl="1">
              <a:lnSpc>
                <a:spcPct val="150000"/>
              </a:lnSpc>
            </a:pPr>
            <a:r>
              <a:rPr lang="fr-FR" sz="1800" dirty="0"/>
              <a:t>lymphangite</a:t>
            </a:r>
          </a:p>
          <a:p>
            <a:pPr lvl="1">
              <a:lnSpc>
                <a:spcPct val="150000"/>
              </a:lnSpc>
            </a:pPr>
            <a:r>
              <a:rPr lang="fr-FR" sz="1800" dirty="0"/>
              <a:t>petites lésions (&lt;10 mm)</a:t>
            </a:r>
          </a:p>
          <a:p>
            <a:pPr lvl="1">
              <a:lnSpc>
                <a:spcPct val="150000"/>
              </a:lnSpc>
            </a:pPr>
            <a:r>
              <a:rPr lang="fr-FR" sz="1800" dirty="0"/>
              <a:t>lésions préalablement irradiées</a:t>
            </a:r>
          </a:p>
          <a:p>
            <a:pPr>
              <a:lnSpc>
                <a:spcPct val="150000"/>
              </a:lnSpc>
            </a:pPr>
            <a:r>
              <a:rPr lang="fr-FR" sz="1800" dirty="0"/>
              <a:t>Aucune mesure de ces lésions n'est requise, mais la présence ou l'absence de chacune doit être notée lors de la surveillance.</a:t>
            </a:r>
          </a:p>
          <a:p>
            <a:pPr>
              <a:lnSpc>
                <a:spcPct val="150000"/>
              </a:lnSpc>
            </a:pPr>
            <a:endParaRPr lang="en-US" sz="18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367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3400"/>
            <a:ext cx="9144000" cy="1066800"/>
          </a:xfrm>
        </p:spPr>
        <p:txBody>
          <a:bodyPr>
            <a:noAutofit/>
          </a:bodyPr>
          <a:lstStyle/>
          <a:p>
            <a:r>
              <a:rPr lang="fr-FR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Exemple de lésions non cibles</a:t>
            </a:r>
            <a:br>
              <a:rPr lang="fr-FR" b="1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6" name="Picture 4" descr="C:\Users\medic-ct\Desktop\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00600" y="2895600"/>
            <a:ext cx="3733800" cy="2730090"/>
          </a:xfrm>
          <a:prstGeom prst="rect">
            <a:avLst/>
          </a:prstGeom>
          <a:noFill/>
        </p:spPr>
      </p:pic>
      <p:pic>
        <p:nvPicPr>
          <p:cNvPr id="3" name="Imagin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895600"/>
            <a:ext cx="3699785" cy="2716157"/>
          </a:xfrm>
          <a:prstGeom prst="rect">
            <a:avLst/>
          </a:prstGeom>
        </p:spPr>
      </p:pic>
      <p:sp>
        <p:nvSpPr>
          <p:cNvPr id="8" name="CasetăText 7"/>
          <p:cNvSpPr txBox="1"/>
          <p:nvPr/>
        </p:nvSpPr>
        <p:spPr>
          <a:xfrm>
            <a:off x="1524000" y="57912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accent1"/>
                </a:solidFill>
              </a:rPr>
              <a:t>Nodule </a:t>
            </a:r>
            <a:r>
              <a:rPr lang="ro-RO" b="1" dirty="0" smtClean="0">
                <a:solidFill>
                  <a:schemeClr val="accent1"/>
                </a:solidFill>
              </a:rPr>
              <a:t>9 mm </a:t>
            </a:r>
          </a:p>
        </p:txBody>
      </p:sp>
      <p:sp>
        <p:nvSpPr>
          <p:cNvPr id="9" name="CasetăText 8"/>
          <p:cNvSpPr txBox="1"/>
          <p:nvPr/>
        </p:nvSpPr>
        <p:spPr>
          <a:xfrm>
            <a:off x="5486400" y="5791200"/>
            <a:ext cx="251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accent1"/>
                </a:solidFill>
              </a:rPr>
              <a:t>Nodules </a:t>
            </a:r>
            <a:r>
              <a:rPr lang="en-US" b="1" dirty="0" smtClean="0">
                <a:solidFill>
                  <a:schemeClr val="accent1"/>
                </a:solidFill>
              </a:rPr>
              <a:t>entre</a:t>
            </a:r>
            <a:r>
              <a:rPr lang="ro-RO" b="1" dirty="0" smtClean="0">
                <a:solidFill>
                  <a:schemeClr val="accent1"/>
                </a:solidFill>
              </a:rPr>
              <a:t> </a:t>
            </a:r>
            <a:r>
              <a:rPr lang="ro-RO" b="1" dirty="0" smtClean="0">
                <a:solidFill>
                  <a:schemeClr val="accent1"/>
                </a:solidFill>
              </a:rPr>
              <a:t>10 </a:t>
            </a:r>
            <a:r>
              <a:rPr lang="en-US" b="1" dirty="0" smtClean="0">
                <a:solidFill>
                  <a:schemeClr val="accent1"/>
                </a:solidFill>
              </a:rPr>
              <a:t>et </a:t>
            </a:r>
            <a:r>
              <a:rPr lang="ro-RO" b="1" dirty="0" smtClean="0">
                <a:solidFill>
                  <a:schemeClr val="accent1"/>
                </a:solidFill>
              </a:rPr>
              <a:t>15 </a:t>
            </a:r>
            <a:r>
              <a:rPr lang="ro-RO" b="1" dirty="0" smtClean="0">
                <a:solidFill>
                  <a:schemeClr val="accent1"/>
                </a:solidFill>
              </a:rPr>
              <a:t>mm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8382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900" b="1" dirty="0" err="1">
                <a:solidFill>
                  <a:srgbClr val="000000"/>
                </a:solidFill>
              </a:rPr>
              <a:t>Méthodes</a:t>
            </a:r>
            <a:r>
              <a:rPr lang="en-US" sz="3900" b="1" dirty="0">
                <a:solidFill>
                  <a:srgbClr val="000000"/>
                </a:solidFill>
              </a:rPr>
              <a:t> </a:t>
            </a:r>
            <a:r>
              <a:rPr lang="en-US" sz="3900" b="1" dirty="0" err="1">
                <a:solidFill>
                  <a:srgbClr val="000000"/>
                </a:solidFill>
              </a:rPr>
              <a:t>d'évaluation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b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26" y="5906058"/>
            <a:ext cx="9300669" cy="457200"/>
          </a:xfrm>
        </p:spPr>
        <p:txBody>
          <a:bodyPr>
            <a:normAutofit fontScale="85000" lnSpcReduction="10000"/>
          </a:bodyPr>
          <a:lstStyle/>
          <a:p>
            <a:r>
              <a:rPr lang="fr-FR" sz="2100" b="1" dirty="0">
                <a:solidFill>
                  <a:srgbClr val="000000"/>
                </a:solidFill>
              </a:rPr>
              <a:t>Il est important d'utiliser la même méthode d'imagerie pour un suivi correct des lésions!</a:t>
            </a:r>
          </a:p>
          <a:p>
            <a:pPr marL="0" indent="0" algn="ctr">
              <a:buNone/>
            </a:pPr>
            <a:endParaRPr lang="ro-RO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828800"/>
            <a:ext cx="7078063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53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838200"/>
          </a:xfrm>
        </p:spPr>
        <p:txBody>
          <a:bodyPr>
            <a:normAutofit/>
          </a:bodyPr>
          <a:lstStyle/>
          <a:p>
            <a:r>
              <a:rPr lang="en-US" sz="3500" b="1" dirty="0" err="1">
                <a:solidFill>
                  <a:srgbClr val="000000"/>
                </a:solidFill>
              </a:rPr>
              <a:t>Suivi</a:t>
            </a:r>
            <a:r>
              <a:rPr lang="en-US" sz="3500" b="1" dirty="0">
                <a:solidFill>
                  <a:srgbClr val="000000"/>
                </a:solidFill>
              </a:rPr>
              <a:t> des </a:t>
            </a:r>
            <a:r>
              <a:rPr lang="en-US" sz="3500" b="1" dirty="0" err="1" smtClean="0">
                <a:solidFill>
                  <a:srgbClr val="000000"/>
                </a:solidFill>
              </a:rPr>
              <a:t>blessures</a:t>
            </a:r>
            <a:endParaRPr lang="en-US" sz="3500" b="1" dirty="0"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05000"/>
            <a:ext cx="9144000" cy="24384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1800" dirty="0">
                <a:cs typeface="Arial" panose="020B0604020202020204" pitchFamily="34" charset="0"/>
              </a:rPr>
              <a:t>Rassemblez les mesures des lésions cibles dès le début (ligne de base) ainsi que dans le suivi </a:t>
            </a:r>
            <a:r>
              <a:rPr lang="fr-FR" sz="1800" dirty="0" smtClean="0">
                <a:cs typeface="Arial" panose="020B0604020202020204" pitchFamily="34" charset="0"/>
              </a:rPr>
              <a:t>pour </a:t>
            </a:r>
            <a:r>
              <a:rPr lang="fr-FR" sz="1800" dirty="0">
                <a:cs typeface="Arial" panose="020B0604020202020204" pitchFamily="34" charset="0"/>
              </a:rPr>
              <a:t>obtenir </a:t>
            </a:r>
            <a:r>
              <a:rPr lang="fr-FR" sz="1800" b="1" dirty="0">
                <a:cs typeface="Arial" panose="020B0604020202020204" pitchFamily="34" charset="0"/>
              </a:rPr>
              <a:t>la somme des diamètres les plus longs (SOD).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1800" dirty="0">
                <a:cs typeface="Arial" panose="020B0604020202020204" pitchFamily="34" charset="0"/>
              </a:rPr>
              <a:t>Calculez le% avec lequel changer la SOD depuis le début (ligne de base) ou depuis le nadir.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1800" b="1" dirty="0">
                <a:cs typeface="Arial" panose="020B0604020202020204" pitchFamily="34" charset="0"/>
              </a:rPr>
              <a:t>Il détermine la réponse à la thérapie.</a:t>
            </a:r>
            <a:endParaRPr lang="en-US" sz="1800" b="1" dirty="0">
              <a:cs typeface="Arial" panose="020B0604020202020204" pitchFamily="34" charset="0"/>
            </a:endParaRPr>
          </a:p>
        </p:txBody>
      </p:sp>
      <p:pic>
        <p:nvPicPr>
          <p:cNvPr id="5123" name="Picture 3" descr="C:\Users\Alina Istrate\Desktop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114800"/>
            <a:ext cx="497205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1066800"/>
          </a:xfrm>
        </p:spPr>
        <p:txBody>
          <a:bodyPr>
            <a:noAutofit/>
          </a:bodyPr>
          <a:lstStyle/>
          <a:p>
            <a:r>
              <a:rPr lang="en-US" sz="3500" b="1" dirty="0" err="1">
                <a:solidFill>
                  <a:srgbClr val="000000"/>
                </a:solidFill>
              </a:rPr>
              <a:t>Réponse</a:t>
            </a:r>
            <a:r>
              <a:rPr lang="en-US" sz="3500" b="1" dirty="0">
                <a:solidFill>
                  <a:srgbClr val="000000"/>
                </a:solidFill>
              </a:rPr>
              <a:t> </a:t>
            </a:r>
            <a:r>
              <a:rPr lang="en-US" sz="3500" b="1" dirty="0" err="1">
                <a:solidFill>
                  <a:srgbClr val="000000"/>
                </a:solidFill>
              </a:rPr>
              <a:t>complète</a:t>
            </a:r>
            <a:r>
              <a:rPr lang="en-US" sz="3500" b="1" dirty="0">
                <a:solidFill>
                  <a:srgbClr val="000000"/>
                </a:solidFill>
              </a:rPr>
              <a:t> (CR)</a:t>
            </a:r>
            <a:br>
              <a:rPr lang="en-US" sz="3500" b="1" dirty="0">
                <a:solidFill>
                  <a:srgbClr val="000000"/>
                </a:solidFill>
              </a:rPr>
            </a:br>
            <a:endParaRPr lang="en-US" sz="3500" b="1" dirty="0">
              <a:cs typeface="Arial" panose="020B06040202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33600" y="5791200"/>
            <a:ext cx="5105400" cy="90618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fr-FR" sz="1800" b="1" dirty="0"/>
              <a:t>La somme des diamètres les plus longs = 0</a:t>
            </a:r>
          </a:p>
          <a:p>
            <a:pPr algn="ctr">
              <a:buNone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None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057400"/>
            <a:ext cx="6444726" cy="35342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>
            <a:noAutofit/>
          </a:bodyPr>
          <a:lstStyle/>
          <a:p>
            <a:r>
              <a:rPr lang="fr-FR" sz="3500" b="1" dirty="0">
                <a:solidFill>
                  <a:srgbClr val="000000"/>
                </a:solidFill>
              </a:rPr>
              <a:t>Exemple de réponse complète (CR)</a:t>
            </a:r>
            <a:br>
              <a:rPr lang="fr-FR" sz="3500" b="1" dirty="0">
                <a:solidFill>
                  <a:srgbClr val="000000"/>
                </a:solidFill>
              </a:rPr>
            </a:br>
            <a:endParaRPr lang="en-US" sz="3500" dirty="0"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2" r="-1"/>
          <a:stretch/>
        </p:blipFill>
        <p:spPr bwMode="auto">
          <a:xfrm>
            <a:off x="381000" y="2667000"/>
            <a:ext cx="3851855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667000"/>
            <a:ext cx="3725991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ight Arrow 3"/>
          <p:cNvSpPr/>
          <p:nvPr/>
        </p:nvSpPr>
        <p:spPr>
          <a:xfrm>
            <a:off x="4343400" y="3886200"/>
            <a:ext cx="5334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setăText 8"/>
          <p:cNvSpPr txBox="1"/>
          <p:nvPr/>
        </p:nvSpPr>
        <p:spPr>
          <a:xfrm>
            <a:off x="990600" y="586740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Ligne</a:t>
            </a:r>
            <a:r>
              <a:rPr lang="en-US" b="1" dirty="0"/>
              <a:t> de base</a:t>
            </a:r>
            <a:r>
              <a:rPr lang="en-US" b="1" dirty="0" smtClean="0">
                <a:cs typeface="Arial" panose="020B0604020202020204" pitchFamily="34" charset="0"/>
              </a:rPr>
              <a:t> </a:t>
            </a:r>
            <a:r>
              <a:rPr lang="en-US" b="1" dirty="0" smtClean="0">
                <a:cs typeface="Arial" panose="020B0604020202020204" pitchFamily="34" charset="0"/>
              </a:rPr>
              <a:t>(</a:t>
            </a:r>
            <a:r>
              <a:rPr lang="ro-RO" b="1" dirty="0" smtClean="0">
                <a:cs typeface="Arial" panose="020B0604020202020204" pitchFamily="34" charset="0"/>
              </a:rPr>
              <a:t>Baseline</a:t>
            </a:r>
            <a:r>
              <a:rPr lang="en-US" b="1" dirty="0" smtClean="0">
                <a:cs typeface="Arial" panose="020B0604020202020204" pitchFamily="34" charset="0"/>
              </a:rPr>
              <a:t>)</a:t>
            </a:r>
            <a:endParaRPr lang="ro-RO" b="1" dirty="0" smtClean="0">
              <a:cs typeface="Arial" panose="020B0604020202020204" pitchFamily="34" charset="0"/>
            </a:endParaRPr>
          </a:p>
        </p:txBody>
      </p:sp>
      <p:sp>
        <p:nvSpPr>
          <p:cNvPr id="10" name="CasetăText 9"/>
          <p:cNvSpPr txBox="1"/>
          <p:nvPr/>
        </p:nvSpPr>
        <p:spPr>
          <a:xfrm>
            <a:off x="4876800" y="5867399"/>
            <a:ext cx="3802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cs typeface="Arial" panose="020B0604020202020204" pitchFamily="34" charset="0"/>
              </a:rPr>
              <a:t>S</a:t>
            </a:r>
            <a:r>
              <a:rPr lang="en-US" b="1" dirty="0" err="1" smtClean="0">
                <a:cs typeface="Arial" panose="020B0604020202020204" pitchFamily="34" charset="0"/>
              </a:rPr>
              <a:t>uivre</a:t>
            </a:r>
            <a:r>
              <a:rPr lang="en-US" b="1" dirty="0" smtClean="0">
                <a:cs typeface="Arial" panose="020B0604020202020204" pitchFamily="34" charset="0"/>
              </a:rPr>
              <a:t> </a:t>
            </a:r>
            <a:r>
              <a:rPr lang="en-US" b="1" dirty="0" smtClean="0">
                <a:cs typeface="Arial" panose="020B0604020202020204" pitchFamily="34" charset="0"/>
              </a:rPr>
              <a:t>(</a:t>
            </a:r>
            <a:r>
              <a:rPr lang="ro-RO" b="1" dirty="0" smtClean="0">
                <a:cs typeface="Arial" panose="020B0604020202020204" pitchFamily="34" charset="0"/>
              </a:rPr>
              <a:t>Follow-up</a:t>
            </a:r>
            <a:r>
              <a:rPr lang="en-US" b="1" dirty="0" smtClean="0">
                <a:cs typeface="Arial" panose="020B0604020202020204" pitchFamily="34" charset="0"/>
              </a:rPr>
              <a:t>)</a:t>
            </a:r>
            <a:endParaRPr lang="ro-RO" b="1" dirty="0" smtClean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05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1066800"/>
          </a:xfrm>
        </p:spPr>
        <p:txBody>
          <a:bodyPr>
            <a:normAutofit/>
          </a:bodyPr>
          <a:lstStyle/>
          <a:p>
            <a:r>
              <a:rPr lang="en-US" sz="3900" b="1" dirty="0" err="1"/>
              <a:t>Réponse</a:t>
            </a:r>
            <a:r>
              <a:rPr lang="en-US" sz="3900" b="1" dirty="0"/>
              <a:t> </a:t>
            </a:r>
            <a:r>
              <a:rPr lang="en-US" sz="3900" b="1" dirty="0" err="1"/>
              <a:t>partielle</a:t>
            </a:r>
            <a:r>
              <a:rPr lang="en-US" sz="3900" b="1" dirty="0"/>
              <a:t> (RP</a:t>
            </a:r>
            <a:r>
              <a:rPr lang="en-US" sz="3900" b="1" dirty="0" smtClean="0"/>
              <a:t>)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905000"/>
            <a:ext cx="6339008" cy="38537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9144000" cy="762000"/>
          </a:xfrm>
        </p:spPr>
        <p:txBody>
          <a:bodyPr>
            <a:noAutofit/>
          </a:bodyPr>
          <a:lstStyle/>
          <a:p>
            <a:r>
              <a:rPr lang="fr-FR" sz="3500" b="1" dirty="0"/>
              <a:t>Exemple de réponse partielle (PR</a:t>
            </a:r>
            <a:r>
              <a:rPr lang="fr-FR" sz="3500" b="1" dirty="0" smtClean="0"/>
              <a:t>)</a:t>
            </a:r>
            <a:endParaRPr lang="en-US" sz="3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r="51628"/>
          <a:stretch>
            <a:fillRect/>
          </a:stretch>
        </p:blipFill>
        <p:spPr bwMode="auto">
          <a:xfrm>
            <a:off x="1905000" y="1828800"/>
            <a:ext cx="2895600" cy="2033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81600" y="1828800"/>
            <a:ext cx="3018817" cy="2033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05001" y="4114800"/>
            <a:ext cx="2895600" cy="2042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81600" y="4114801"/>
            <a:ext cx="3048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676400" y="6324600"/>
            <a:ext cx="6776936" cy="377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CasetăText 11"/>
          <p:cNvSpPr txBox="1"/>
          <p:nvPr/>
        </p:nvSpPr>
        <p:spPr>
          <a:xfrm>
            <a:off x="79948" y="2559279"/>
            <a:ext cx="1752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Ligne</a:t>
            </a:r>
            <a:r>
              <a:rPr lang="en-US" b="1" dirty="0" smtClean="0"/>
              <a:t> de base</a:t>
            </a:r>
            <a:r>
              <a:rPr lang="en-US" b="1" dirty="0" smtClean="0"/>
              <a:t> </a:t>
            </a:r>
            <a:endParaRPr lang="en-US" b="1" dirty="0" smtClean="0"/>
          </a:p>
          <a:p>
            <a:pPr algn="ctr"/>
            <a:r>
              <a:rPr lang="en-US" b="1" dirty="0" smtClean="0"/>
              <a:t>(</a:t>
            </a:r>
            <a:r>
              <a:rPr lang="ro-RO" b="1" dirty="0" smtClean="0"/>
              <a:t>Baseline</a:t>
            </a:r>
            <a:r>
              <a:rPr lang="en-US" b="1" dirty="0" smtClean="0"/>
              <a:t>)</a:t>
            </a:r>
            <a:endParaRPr lang="ro-RO" b="1" dirty="0" smtClean="0"/>
          </a:p>
          <a:p>
            <a:pPr algn="ctr"/>
            <a:endParaRPr lang="ro-RO" b="1" dirty="0"/>
          </a:p>
          <a:p>
            <a:pPr algn="ctr"/>
            <a:r>
              <a:rPr lang="ro-RO" b="1" dirty="0" smtClean="0"/>
              <a:t>SOD = 10 cm</a:t>
            </a:r>
          </a:p>
        </p:txBody>
      </p:sp>
      <p:sp>
        <p:nvSpPr>
          <p:cNvPr id="13" name="CasetăText 12"/>
          <p:cNvSpPr txBox="1"/>
          <p:nvPr/>
        </p:nvSpPr>
        <p:spPr>
          <a:xfrm>
            <a:off x="152400" y="4800600"/>
            <a:ext cx="1600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S</a:t>
            </a:r>
            <a:r>
              <a:rPr lang="en-US" b="1" dirty="0" err="1" smtClean="0"/>
              <a:t>uivre</a:t>
            </a:r>
            <a:r>
              <a:rPr lang="en-US" b="1" dirty="0" smtClean="0"/>
              <a:t> </a:t>
            </a:r>
            <a:r>
              <a:rPr lang="en-US" b="1" dirty="0" smtClean="0"/>
              <a:t>(</a:t>
            </a:r>
            <a:r>
              <a:rPr lang="ro-RO" b="1" dirty="0" smtClean="0"/>
              <a:t>Follow-up</a:t>
            </a:r>
            <a:r>
              <a:rPr lang="en-US" b="1" dirty="0" smtClean="0"/>
              <a:t>)</a:t>
            </a:r>
            <a:endParaRPr lang="ro-RO" b="1" dirty="0" smtClean="0"/>
          </a:p>
          <a:p>
            <a:pPr algn="ctr"/>
            <a:endParaRPr lang="ro-RO" b="1" dirty="0"/>
          </a:p>
          <a:p>
            <a:pPr algn="ctr"/>
            <a:r>
              <a:rPr lang="ro-RO" b="1" dirty="0" smtClean="0"/>
              <a:t>SOD = 6 cm</a:t>
            </a:r>
          </a:p>
        </p:txBody>
      </p:sp>
      <p:sp>
        <p:nvSpPr>
          <p:cNvPr id="3" name="Săgeată în jos 2"/>
          <p:cNvSpPr/>
          <p:nvPr/>
        </p:nvSpPr>
        <p:spPr>
          <a:xfrm>
            <a:off x="3048000" y="3886200"/>
            <a:ext cx="685800" cy="152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5" name="Săgeată în jos 14"/>
          <p:cNvSpPr/>
          <p:nvPr/>
        </p:nvSpPr>
        <p:spPr>
          <a:xfrm>
            <a:off x="6324600" y="3886200"/>
            <a:ext cx="685800" cy="152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3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9144000" cy="1066800"/>
          </a:xfrm>
        </p:spPr>
        <p:txBody>
          <a:bodyPr>
            <a:normAutofit fontScale="90000"/>
          </a:bodyPr>
          <a:lstStyle/>
          <a:p>
            <a:r>
              <a:rPr lang="en-US" sz="3900" b="1" dirty="0" err="1"/>
              <a:t>Maladie</a:t>
            </a:r>
            <a:r>
              <a:rPr lang="en-US" sz="3900" b="1" dirty="0"/>
              <a:t> progressive (MP)</a:t>
            </a:r>
            <a:r>
              <a:rPr lang="en-US" b="1" dirty="0"/>
              <a:t/>
            </a:r>
            <a:br>
              <a:rPr lang="en-US" b="1" dirty="0"/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19800"/>
            <a:ext cx="9144000" cy="685800"/>
          </a:xfrm>
        </p:spPr>
        <p:txBody>
          <a:bodyPr>
            <a:normAutofit/>
          </a:bodyPr>
          <a:lstStyle/>
          <a:p>
            <a:r>
              <a:rPr lang="fr-FR" sz="1800" b="1" dirty="0"/>
              <a:t>Par rapport à la plus petite somme des diamètres les plus longs ( SOD </a:t>
            </a:r>
            <a:r>
              <a:rPr lang="fr-FR" sz="1800" b="1" dirty="0" smtClean="0"/>
              <a:t>), jamais </a:t>
            </a:r>
            <a:r>
              <a:rPr lang="fr-FR" sz="1800" b="1" dirty="0"/>
              <a:t>mesuré</a:t>
            </a:r>
          </a:p>
          <a:p>
            <a:pPr marL="0" indent="0" algn="ctr"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057400"/>
            <a:ext cx="5796314" cy="35829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r>
              <a:rPr lang="fr-FR" sz="3500" b="1" dirty="0"/>
              <a:t>Exemple de maladie progressive (MP</a:t>
            </a:r>
            <a:r>
              <a:rPr lang="fr-FR" sz="3500" b="1" dirty="0" smtClean="0"/>
              <a:t>)</a:t>
            </a:r>
            <a:endParaRPr lang="en-US" sz="3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81200"/>
            <a:ext cx="86868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ight Arrow 5"/>
          <p:cNvSpPr/>
          <p:nvPr/>
        </p:nvSpPr>
        <p:spPr>
          <a:xfrm>
            <a:off x="4191000" y="2286000"/>
            <a:ext cx="83820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33400" y="3400197"/>
            <a:ext cx="1676400" cy="18576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471" y="2819400"/>
            <a:ext cx="1700213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1181100" y="6444734"/>
            <a:ext cx="6781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dirty="0"/>
              <a:t>Certaines maladies évolutives - </a:t>
            </a:r>
            <a:r>
              <a:rPr lang="fr-FR" b="1" dirty="0"/>
              <a:t>Nouvelles métastases hépatiques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481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133600"/>
            <a:ext cx="2668563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ight Arrow 3"/>
          <p:cNvSpPr/>
          <p:nvPr/>
        </p:nvSpPr>
        <p:spPr>
          <a:xfrm>
            <a:off x="3962400" y="3124200"/>
            <a:ext cx="6858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133600"/>
            <a:ext cx="2791792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r>
              <a:rPr lang="fr-FR" b="1" dirty="0"/>
              <a:t>Exemple de maladie progressive (MP)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setăText 5"/>
          <p:cNvSpPr txBox="1"/>
          <p:nvPr/>
        </p:nvSpPr>
        <p:spPr>
          <a:xfrm>
            <a:off x="7391400" y="5715000"/>
            <a:ext cx="1695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Nouvelle </a:t>
            </a:r>
            <a:r>
              <a:rPr lang="en-US" b="1" dirty="0" err="1" smtClean="0"/>
              <a:t>blessure</a:t>
            </a:r>
            <a:endParaRPr lang="ro-RO" b="1" dirty="0" smtClean="0"/>
          </a:p>
        </p:txBody>
      </p:sp>
      <p:sp>
        <p:nvSpPr>
          <p:cNvPr id="11" name="CasetăText 10"/>
          <p:cNvSpPr txBox="1"/>
          <p:nvPr/>
        </p:nvSpPr>
        <p:spPr>
          <a:xfrm>
            <a:off x="1447800" y="4648200"/>
            <a:ext cx="228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Ligne</a:t>
            </a:r>
            <a:r>
              <a:rPr lang="en-US" b="1" dirty="0" smtClean="0"/>
              <a:t> de base</a:t>
            </a:r>
            <a:r>
              <a:rPr lang="en-US" b="1" dirty="0" smtClean="0"/>
              <a:t> </a:t>
            </a:r>
            <a:r>
              <a:rPr lang="en-US" b="1" dirty="0" smtClean="0"/>
              <a:t>(</a:t>
            </a:r>
            <a:r>
              <a:rPr lang="ro-RO" b="1" dirty="0" smtClean="0"/>
              <a:t>Baseline</a:t>
            </a:r>
            <a:r>
              <a:rPr lang="en-US" b="1" dirty="0" smtClean="0"/>
              <a:t>)</a:t>
            </a:r>
            <a:endParaRPr lang="ro-RO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Arrow 3"/>
          <p:cNvSpPr/>
          <p:nvPr/>
        </p:nvSpPr>
        <p:spPr>
          <a:xfrm>
            <a:off x="4343400" y="3657600"/>
            <a:ext cx="4572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8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514600"/>
            <a:ext cx="401951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514600"/>
            <a:ext cx="4038599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asetăText 7"/>
          <p:cNvSpPr txBox="1"/>
          <p:nvPr/>
        </p:nvSpPr>
        <p:spPr>
          <a:xfrm>
            <a:off x="457200" y="5562600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Ligne</a:t>
            </a:r>
            <a:r>
              <a:rPr lang="en-US" b="1" dirty="0" smtClean="0"/>
              <a:t> de base</a:t>
            </a:r>
            <a:r>
              <a:rPr lang="en-US" b="1" dirty="0" smtClean="0"/>
              <a:t> </a:t>
            </a:r>
            <a:r>
              <a:rPr lang="en-US" b="1" dirty="0" smtClean="0"/>
              <a:t>(</a:t>
            </a:r>
            <a:r>
              <a:rPr lang="ro-RO" b="1" dirty="0" smtClean="0"/>
              <a:t>Baseline</a:t>
            </a:r>
            <a:r>
              <a:rPr lang="en-US" b="1" dirty="0" smtClean="0"/>
              <a:t>)</a:t>
            </a:r>
            <a:endParaRPr lang="ro-RO" b="1" dirty="0" smtClean="0"/>
          </a:p>
        </p:txBody>
      </p:sp>
      <p:sp>
        <p:nvSpPr>
          <p:cNvPr id="9" name="CasetăText 8"/>
          <p:cNvSpPr txBox="1"/>
          <p:nvPr/>
        </p:nvSpPr>
        <p:spPr>
          <a:xfrm>
            <a:off x="5715000" y="56388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b="1" dirty="0" smtClean="0"/>
              <a:t>˃ 20% ↑ </a:t>
            </a:r>
            <a:r>
              <a:rPr lang="en-US" b="1" dirty="0" smtClean="0"/>
              <a:t>en</a:t>
            </a:r>
            <a:r>
              <a:rPr lang="ro-RO" b="1" dirty="0" smtClean="0"/>
              <a:t> </a:t>
            </a:r>
            <a:r>
              <a:rPr lang="ro-RO" b="1" dirty="0" smtClean="0"/>
              <a:t>SOD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1143000"/>
          </a:xfrm>
        </p:spPr>
        <p:txBody>
          <a:bodyPr>
            <a:noAutofit/>
          </a:bodyPr>
          <a:lstStyle/>
          <a:p>
            <a:r>
              <a:rPr lang="fr-FR" sz="3500" b="1" dirty="0"/>
              <a:t>Exemple de maladie progressive (MP)</a:t>
            </a:r>
            <a:br>
              <a:rPr lang="fr-FR" sz="3500" b="1" dirty="0"/>
            </a:br>
            <a:endParaRPr lang="en-US" sz="3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31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Maladie</a:t>
            </a:r>
            <a:r>
              <a:rPr lang="en-US" b="1" dirty="0"/>
              <a:t> stable (SD)</a:t>
            </a:r>
            <a:br>
              <a:rPr lang="en-US" b="1" dirty="0"/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890" y="1413519"/>
            <a:ext cx="6708220" cy="394369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5357218"/>
            <a:ext cx="8229600" cy="1122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fr-FR" dirty="0">
                <a:solidFill>
                  <a:srgbClr val="000000"/>
                </a:solidFill>
              </a:rPr>
              <a:t>Rétrécissement de la tumeur insuffisant pour quantifier une </a:t>
            </a:r>
            <a:r>
              <a:rPr lang="fr-FR" b="1" dirty="0">
                <a:solidFill>
                  <a:srgbClr val="000000"/>
                </a:solidFill>
              </a:rPr>
              <a:t>réponse partielle</a:t>
            </a:r>
            <a:r>
              <a:rPr lang="fr-FR" dirty="0">
                <a:solidFill>
                  <a:srgbClr val="000000"/>
                </a:solidFill>
              </a:rPr>
              <a:t> ,</a:t>
            </a:r>
          </a:p>
          <a:p>
            <a:pPr>
              <a:lnSpc>
                <a:spcPct val="200000"/>
              </a:lnSpc>
            </a:pPr>
            <a:r>
              <a:rPr lang="fr-FR" dirty="0">
                <a:solidFill>
                  <a:srgbClr val="000000"/>
                </a:solidFill>
              </a:rPr>
              <a:t>mais pas d'augmentation suffisante pour le placer dans la </a:t>
            </a:r>
            <a:r>
              <a:rPr lang="fr-FR" b="1" dirty="0">
                <a:solidFill>
                  <a:srgbClr val="000000"/>
                </a:solidFill>
              </a:rPr>
              <a:t>maladie progressive</a:t>
            </a:r>
            <a:endParaRPr lang="fr-FR" b="0" i="0" dirty="0">
              <a:solidFill>
                <a:srgbClr val="000000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524000"/>
          </a:xfrm>
        </p:spPr>
        <p:txBody>
          <a:bodyPr>
            <a:normAutofit/>
          </a:bodyPr>
          <a:lstStyle/>
          <a:p>
            <a:r>
              <a:rPr lang="fr-FR" sz="3500" b="1" dirty="0"/>
              <a:t>Exemple de maladie stable (SD)</a:t>
            </a:r>
            <a:r>
              <a:rPr lang="fr-FR" b="1" dirty="0"/>
              <a:t/>
            </a:r>
            <a:br>
              <a:rPr lang="fr-FR" b="1" dirty="0"/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2819400"/>
            <a:ext cx="2903371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819400"/>
            <a:ext cx="29718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199" y="2819401"/>
            <a:ext cx="2873235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CasetăText 12"/>
          <p:cNvSpPr txBox="1"/>
          <p:nvPr/>
        </p:nvSpPr>
        <p:spPr>
          <a:xfrm>
            <a:off x="3124200" y="5562600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S</a:t>
            </a:r>
            <a:r>
              <a:rPr lang="en-US" b="1" dirty="0" err="1" smtClean="0"/>
              <a:t>uivi</a:t>
            </a:r>
            <a:r>
              <a:rPr lang="en-US" b="1" dirty="0" smtClean="0"/>
              <a:t> </a:t>
            </a:r>
            <a:r>
              <a:rPr lang="en-US" b="1" dirty="0" smtClean="0"/>
              <a:t>(</a:t>
            </a:r>
            <a:r>
              <a:rPr lang="ro-RO" b="1" dirty="0" smtClean="0"/>
              <a:t>Follow up 1</a:t>
            </a:r>
            <a:r>
              <a:rPr lang="en-US" b="1" dirty="0" smtClean="0"/>
              <a:t>)</a:t>
            </a:r>
            <a:endParaRPr lang="ro-RO" b="1" dirty="0" smtClean="0"/>
          </a:p>
          <a:p>
            <a:pPr algn="ctr"/>
            <a:r>
              <a:rPr lang="ro-RO" b="1" dirty="0" smtClean="0"/>
              <a:t>SOD = 95 mm</a:t>
            </a:r>
          </a:p>
        </p:txBody>
      </p:sp>
      <p:sp>
        <p:nvSpPr>
          <p:cNvPr id="14" name="CasetăText 13"/>
          <p:cNvSpPr txBox="1"/>
          <p:nvPr/>
        </p:nvSpPr>
        <p:spPr>
          <a:xfrm>
            <a:off x="533400" y="5562600"/>
            <a:ext cx="198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Ligne</a:t>
            </a:r>
            <a:r>
              <a:rPr lang="en-US" b="1" dirty="0" smtClean="0"/>
              <a:t> de base</a:t>
            </a:r>
            <a:r>
              <a:rPr lang="en-US" b="1" dirty="0" smtClean="0"/>
              <a:t> </a:t>
            </a:r>
            <a:r>
              <a:rPr lang="en-US" b="1" dirty="0" smtClean="0"/>
              <a:t>(</a:t>
            </a:r>
            <a:r>
              <a:rPr lang="ro-RO" b="1" dirty="0" smtClean="0"/>
              <a:t>Baseline</a:t>
            </a:r>
            <a:r>
              <a:rPr lang="en-US" b="1" dirty="0" smtClean="0"/>
              <a:t>)</a:t>
            </a:r>
            <a:endParaRPr lang="ro-RO" b="1" dirty="0" smtClean="0"/>
          </a:p>
          <a:p>
            <a:pPr algn="ctr"/>
            <a:r>
              <a:rPr lang="ro-RO" b="1" dirty="0" smtClean="0"/>
              <a:t>SOD = 75 mm</a:t>
            </a:r>
          </a:p>
        </p:txBody>
      </p:sp>
      <p:sp>
        <p:nvSpPr>
          <p:cNvPr id="15" name="CasetăText 14"/>
          <p:cNvSpPr txBox="1"/>
          <p:nvPr/>
        </p:nvSpPr>
        <p:spPr>
          <a:xfrm>
            <a:off x="6487886" y="5562600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S</a:t>
            </a:r>
            <a:r>
              <a:rPr lang="en-US" b="1" dirty="0" err="1" smtClean="0"/>
              <a:t>uivi</a:t>
            </a:r>
            <a:r>
              <a:rPr lang="en-US" b="1" dirty="0" smtClean="0"/>
              <a:t> </a:t>
            </a:r>
            <a:r>
              <a:rPr lang="en-US" b="1" dirty="0" smtClean="0"/>
              <a:t>(</a:t>
            </a:r>
            <a:r>
              <a:rPr lang="ro-RO" b="1" dirty="0" smtClean="0"/>
              <a:t>Follow up 2</a:t>
            </a:r>
            <a:r>
              <a:rPr lang="en-US" b="1" dirty="0" smtClean="0"/>
              <a:t>)</a:t>
            </a:r>
            <a:endParaRPr lang="ro-RO" b="1" dirty="0" smtClean="0"/>
          </a:p>
          <a:p>
            <a:pPr algn="ctr"/>
            <a:r>
              <a:rPr lang="ro-RO" b="1" dirty="0" smtClean="0"/>
              <a:t>SOD = 65 mm</a:t>
            </a:r>
          </a:p>
        </p:txBody>
      </p:sp>
      <p:sp>
        <p:nvSpPr>
          <p:cNvPr id="3" name="Săgeată curbată în jos 2"/>
          <p:cNvSpPr/>
          <p:nvPr/>
        </p:nvSpPr>
        <p:spPr>
          <a:xfrm>
            <a:off x="2514600" y="2209800"/>
            <a:ext cx="1219200" cy="4572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>
              <a:solidFill>
                <a:schemeClr val="tx1"/>
              </a:solidFill>
            </a:endParaRPr>
          </a:p>
        </p:txBody>
      </p:sp>
      <p:sp>
        <p:nvSpPr>
          <p:cNvPr id="17" name="Săgeată curbată în jos 16"/>
          <p:cNvSpPr/>
          <p:nvPr/>
        </p:nvSpPr>
        <p:spPr>
          <a:xfrm>
            <a:off x="5562600" y="2209800"/>
            <a:ext cx="1219200" cy="4572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3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6239" y="457200"/>
            <a:ext cx="9144000" cy="1143000"/>
          </a:xfrm>
        </p:spPr>
        <p:txBody>
          <a:bodyPr>
            <a:normAutofit/>
          </a:bodyPr>
          <a:lstStyle/>
          <a:p>
            <a:r>
              <a:rPr lang="en-US" sz="3900" b="1" dirty="0" err="1" smtClean="0"/>
              <a:t>Avantages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438400"/>
            <a:ext cx="8001000" cy="36877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50000"/>
              </a:lnSpc>
            </a:pPr>
            <a:r>
              <a:rPr lang="fr-FR" sz="1800" dirty="0">
                <a:solidFill>
                  <a:srgbClr val="000000"/>
                </a:solidFill>
              </a:rPr>
              <a:t>Critère standard dans les essais cliniques</a:t>
            </a:r>
          </a:p>
          <a:p>
            <a:pPr>
              <a:lnSpc>
                <a:spcPct val="250000"/>
              </a:lnSpc>
            </a:pPr>
            <a:r>
              <a:rPr lang="fr-FR" sz="1800" dirty="0">
                <a:solidFill>
                  <a:srgbClr val="000000"/>
                </a:solidFill>
              </a:rPr>
              <a:t>Facile et rapide à jouer</a:t>
            </a:r>
          </a:p>
          <a:p>
            <a:pPr>
              <a:lnSpc>
                <a:spcPct val="250000"/>
              </a:lnSpc>
            </a:pPr>
            <a:r>
              <a:rPr lang="fr-FR" sz="1800" dirty="0">
                <a:solidFill>
                  <a:srgbClr val="000000"/>
                </a:solidFill>
              </a:rPr>
              <a:t>Propagation généralement valide</a:t>
            </a:r>
          </a:p>
          <a:p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305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3900" b="1" dirty="0" smtClean="0"/>
              <a:t>Limitation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3916363"/>
          </a:xfrm>
        </p:spPr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fr-FR" sz="1800" dirty="0" smtClean="0"/>
              <a:t>Il </a:t>
            </a:r>
            <a:r>
              <a:rPr lang="fr-FR" sz="1800" dirty="0"/>
              <a:t>doit être soigneusement analysé</a:t>
            </a:r>
          </a:p>
          <a:p>
            <a:pPr>
              <a:lnSpc>
                <a:spcPct val="250000"/>
              </a:lnSpc>
            </a:pPr>
            <a:r>
              <a:rPr lang="fr-FR" sz="1800" dirty="0"/>
              <a:t>L'apparition de nouvelles lésions - PROGRESSION</a:t>
            </a:r>
          </a:p>
          <a:p>
            <a:pPr>
              <a:lnSpc>
                <a:spcPct val="250000"/>
              </a:lnSpc>
            </a:pPr>
            <a:r>
              <a:rPr lang="fr-FR" sz="1800" b="1" i="1" dirty="0"/>
              <a:t>Maladie progressive (MP</a:t>
            </a:r>
            <a:r>
              <a:rPr lang="fr-FR" sz="1800" dirty="0"/>
              <a:t> ) = changement de traitement</a:t>
            </a:r>
          </a:p>
          <a:p>
            <a:pPr>
              <a:lnSpc>
                <a:spcPct val="250000"/>
              </a:lnSpc>
            </a:pPr>
            <a:r>
              <a:rPr lang="fr-FR" sz="1800" b="1" i="1" dirty="0"/>
              <a:t>La maladie stable (DS)</a:t>
            </a:r>
            <a:r>
              <a:rPr lang="fr-FR" sz="1800" dirty="0"/>
              <a:t> n'est pas considérée comme une véritable activité </a:t>
            </a:r>
            <a:r>
              <a:rPr lang="fr-FR" sz="1800" dirty="0" err="1"/>
              <a:t>antitumorale</a:t>
            </a:r>
            <a:endParaRPr lang="fr-FR" sz="1800" dirty="0"/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667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744" y="533400"/>
            <a:ext cx="9144000" cy="914400"/>
          </a:xfrm>
        </p:spPr>
        <p:txBody>
          <a:bodyPr>
            <a:normAutofit/>
          </a:bodyPr>
          <a:lstStyle/>
          <a:p>
            <a:r>
              <a:rPr lang="en-US" sz="3500" b="1" dirty="0" err="1" smtClean="0"/>
              <a:t>Pseudoprogression</a:t>
            </a:r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8400"/>
            <a:ext cx="8001000" cy="4136136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fr-FR" sz="1800" dirty="0"/>
              <a:t>Un type particulier de réponse thérapeutique a été identifié chez les patients traités par immunothérapie.</a:t>
            </a:r>
          </a:p>
          <a:p>
            <a:pPr>
              <a:lnSpc>
                <a:spcPct val="200000"/>
              </a:lnSpc>
            </a:pPr>
            <a:r>
              <a:rPr lang="fr-FR" sz="1800" dirty="0"/>
              <a:t>Il est normalement considéré comme un échec thérapeutique si une augmentation de la tumeur est constatée après le traitement mais dans certains cas une augmentation de la tumeur a été observée suivie de sa régression chez les patients traités par immunothérapie</a:t>
            </a:r>
            <a:r>
              <a:rPr lang="fr-FR" sz="2400" dirty="0"/>
              <a:t>.</a:t>
            </a:r>
          </a:p>
          <a:p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003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 descr="C:\Users\Alina Istrate\Desktop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57400"/>
            <a:ext cx="7967824" cy="4570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err="1" smtClean="0"/>
              <a:t>Pseudoprogression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50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47800"/>
            <a:ext cx="2646805" cy="2343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064" y="4184702"/>
            <a:ext cx="2667001" cy="2256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660" y="1422400"/>
            <a:ext cx="2614191" cy="2392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62" y="4184702"/>
            <a:ext cx="2633637" cy="2206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0277" y="1422401"/>
            <a:ext cx="2567588" cy="242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ight Arrow 3"/>
          <p:cNvSpPr/>
          <p:nvPr/>
        </p:nvSpPr>
        <p:spPr>
          <a:xfrm>
            <a:off x="2971800" y="5105400"/>
            <a:ext cx="228600" cy="3259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222750"/>
            <a:ext cx="2527066" cy="2223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914400" y="6476227"/>
            <a:ext cx="11833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5/11/2012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038600" y="6400800"/>
            <a:ext cx="11833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5/02/2013</a:t>
            </a:r>
          </a:p>
        </p:txBody>
      </p:sp>
      <p:sp>
        <p:nvSpPr>
          <p:cNvPr id="9" name="Rectangle 8"/>
          <p:cNvSpPr/>
          <p:nvPr/>
        </p:nvSpPr>
        <p:spPr>
          <a:xfrm>
            <a:off x="7162800" y="6474672"/>
            <a:ext cx="11833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5/03/2013</a:t>
            </a:r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747" y="1638300"/>
            <a:ext cx="598017" cy="66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524000"/>
            <a:ext cx="598017" cy="66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1524000"/>
            <a:ext cx="571321" cy="5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56" y="4495801"/>
            <a:ext cx="550027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335442"/>
            <a:ext cx="731644" cy="808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4419600"/>
            <a:ext cx="581223" cy="64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Right Arrow 3"/>
          <p:cNvSpPr/>
          <p:nvPr/>
        </p:nvSpPr>
        <p:spPr>
          <a:xfrm>
            <a:off x="2971800" y="2514600"/>
            <a:ext cx="228600" cy="3259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3"/>
          <p:cNvSpPr/>
          <p:nvPr/>
        </p:nvSpPr>
        <p:spPr>
          <a:xfrm>
            <a:off x="6019800" y="5105400"/>
            <a:ext cx="228600" cy="3259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3"/>
          <p:cNvSpPr/>
          <p:nvPr/>
        </p:nvSpPr>
        <p:spPr>
          <a:xfrm>
            <a:off x="6019800" y="2514600"/>
            <a:ext cx="228600" cy="3259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900" b="1" dirty="0" err="1">
                <a:solidFill>
                  <a:srgbClr val="000000"/>
                </a:solidFill>
              </a:rPr>
              <a:t>Exemple</a:t>
            </a:r>
            <a:r>
              <a:rPr lang="en-US" sz="3900" b="1" dirty="0">
                <a:solidFill>
                  <a:srgbClr val="000000"/>
                </a:solidFill>
              </a:rPr>
              <a:t> de </a:t>
            </a:r>
            <a:r>
              <a:rPr lang="en-US" sz="3900" b="1" dirty="0" err="1">
                <a:solidFill>
                  <a:srgbClr val="000000"/>
                </a:solidFill>
              </a:rPr>
              <a:t>mélanome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b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812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8" grpId="0"/>
      <p:bldP spid="9" grpId="0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1049</TotalTime>
  <Words>587</Words>
  <Application>Microsoft Office PowerPoint</Application>
  <PresentationFormat>On-screen Show (4:3)</PresentationFormat>
  <Paragraphs>115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Times New Roman</vt:lpstr>
      <vt:lpstr>Office Theme</vt:lpstr>
      <vt:lpstr>PowerPoint Presentation</vt:lpstr>
      <vt:lpstr> Critères d'évaluation de la réponse thérapeutique </vt:lpstr>
      <vt:lpstr>PowerPoint Presentation</vt:lpstr>
      <vt:lpstr>Response Evaluation Criteria   In      Solid    Tumours Critères d'évaluation de la réponse dans les tumeurs solides</vt:lpstr>
      <vt:lpstr>Lésions cibles</vt:lpstr>
      <vt:lpstr>Exemple de lésions cibles non nodulaires</vt:lpstr>
      <vt:lpstr>  Exemple  Les caractéristiques des ganglions lymphatiques   </vt:lpstr>
      <vt:lpstr>Lésions non cibles</vt:lpstr>
      <vt:lpstr>Exemple de lésions non cibles </vt:lpstr>
      <vt:lpstr> Méthodes d'évaluation  </vt:lpstr>
      <vt:lpstr>Suivi des blessures</vt:lpstr>
      <vt:lpstr>Réponse complète (CR) </vt:lpstr>
      <vt:lpstr>Exemple de réponse complète (CR) </vt:lpstr>
      <vt:lpstr>Réponse partielle (RP)</vt:lpstr>
      <vt:lpstr>Exemple de réponse partielle (PR)</vt:lpstr>
      <vt:lpstr>Maladie progressive (MP) </vt:lpstr>
      <vt:lpstr>Exemple de maladie progressive (MP)</vt:lpstr>
      <vt:lpstr>Exemple de maladie progressive (MP)</vt:lpstr>
      <vt:lpstr>Exemple de maladie progressive (MP) </vt:lpstr>
      <vt:lpstr>Maladie stable (SD) </vt:lpstr>
      <vt:lpstr>Exemple de maladie stable (SD) </vt:lpstr>
      <vt:lpstr>Avantages</vt:lpstr>
      <vt:lpstr>Limitation</vt:lpstr>
      <vt:lpstr>Pseudoprogression</vt:lpstr>
      <vt:lpstr>Pseudoprogression</vt:lpstr>
      <vt:lpstr>Exemple de mélanome 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Alina Istrate</dc:creator>
  <cp:lastModifiedBy>useru</cp:lastModifiedBy>
  <cp:revision>156</cp:revision>
  <dcterms:created xsi:type="dcterms:W3CDTF">2019-09-18T14:36:27Z</dcterms:created>
  <dcterms:modified xsi:type="dcterms:W3CDTF">2021-03-03T19:32:42Z</dcterms:modified>
</cp:coreProperties>
</file>