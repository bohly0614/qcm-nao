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5"/>
  </p:notesMasterIdLst>
  <p:sldIdLst>
    <p:sldId id="256" r:id="rId2"/>
    <p:sldId id="295" r:id="rId3"/>
    <p:sldId id="296" r:id="rId4"/>
    <p:sldId id="297" r:id="rId5"/>
    <p:sldId id="294" r:id="rId6"/>
    <p:sldId id="261" r:id="rId7"/>
    <p:sldId id="260" r:id="rId8"/>
    <p:sldId id="280" r:id="rId9"/>
    <p:sldId id="268" r:id="rId10"/>
    <p:sldId id="269" r:id="rId11"/>
    <p:sldId id="270" r:id="rId12"/>
    <p:sldId id="271" r:id="rId13"/>
    <p:sldId id="298" r:id="rId14"/>
    <p:sldId id="281" r:id="rId15"/>
    <p:sldId id="275" r:id="rId16"/>
    <p:sldId id="277" r:id="rId17"/>
    <p:sldId id="278" r:id="rId18"/>
    <p:sldId id="287" r:id="rId19"/>
    <p:sldId id="288" r:id="rId20"/>
    <p:sldId id="293" r:id="rId21"/>
    <p:sldId id="291" r:id="rId22"/>
    <p:sldId id="284" r:id="rId23"/>
    <p:sldId id="292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8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CB271-AE2C-4294-9886-612CA91DDB6F}" type="datetimeFigureOut">
              <a:rPr lang="en-US" smtClean="0"/>
              <a:pPr/>
              <a:t>3/20/2020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49EC2-FA40-4507-9A36-0FC64BA01C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964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95000"/>
              </a:lnSpc>
            </a:pPr>
            <a:fld id="{B2BD6595-EF6D-4549-A1DB-D82DE7B0473B}" type="slidenum">
              <a:rPr lang="en-US" altLang="ro-RO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2</a:t>
            </a:fld>
            <a:endParaRPr lang="en-US" altLang="ro-RO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2060018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95000"/>
              </a:lnSpc>
            </a:pPr>
            <a:fld id="{6E60B5BE-92AE-4699-B621-C6F9E3110937}" type="slidenum">
              <a:rPr lang="en-US" altLang="ro-RO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3</a:t>
            </a:fld>
            <a:endParaRPr lang="en-US" altLang="ro-RO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342174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95000"/>
              </a:lnSpc>
            </a:pPr>
            <a:fld id="{A45CA29E-AC98-4E1E-847A-1C4E38F2A0F9}" type="slidenum">
              <a:rPr lang="en-US" altLang="ro-RO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</a:t>
            </a:fld>
            <a:endParaRPr lang="en-US" altLang="ro-RO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3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933514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449EC2-FA40-4507-9A36-0FC64BA01C4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624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Beam evaluation</a:t>
            </a:r>
          </a:p>
          <a:p>
            <a:pPr marL="228600" indent="-228600">
              <a:buAutoNum type="arabicPeriod"/>
            </a:pPr>
            <a:r>
              <a:rPr lang="en-US" dirty="0"/>
              <a:t>Evaluation of target coverage (</a:t>
            </a:r>
            <a:r>
              <a:rPr lang="en-US" dirty="0" err="1"/>
              <a:t>DVH+evaluation</a:t>
            </a:r>
            <a:r>
              <a:rPr lang="en-US" dirty="0"/>
              <a:t> of dose distribution on each CT slice)</a:t>
            </a:r>
          </a:p>
          <a:p>
            <a:pPr marL="228600" indent="-228600">
              <a:buAutoNum type="arabicPeriod"/>
            </a:pPr>
            <a:r>
              <a:rPr lang="en-US" dirty="0"/>
              <a:t>Evaluation of the OARs</a:t>
            </a:r>
          </a:p>
          <a:p>
            <a:pPr marL="228600" indent="-228600">
              <a:buAutoNum type="arabicPeriod"/>
            </a:pPr>
            <a:r>
              <a:rPr lang="en-US" dirty="0"/>
              <a:t>Solutions for improving coverage and minimizing OAR dose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C9157A-52CD-43DC-BBD9-D34012407F0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26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Am</a:t>
            </a:r>
            <a:r>
              <a:rPr lang="en-US" baseline="0" dirty="0" smtClean="0"/>
              <a:t> pus o imagine cu o </a:t>
            </a:r>
            <a:r>
              <a:rPr lang="en-US" baseline="0" dirty="0" err="1" smtClean="0"/>
              <a:t>instalatie</a:t>
            </a:r>
            <a:r>
              <a:rPr lang="en-US" baseline="0" dirty="0" smtClean="0"/>
              <a:t> de Cobalt – 60 </a:t>
            </a:r>
            <a:r>
              <a:rPr lang="en-US" baseline="0" dirty="0" err="1" smtClean="0"/>
              <a:t>si</a:t>
            </a:r>
            <a:r>
              <a:rPr lang="en-US" baseline="0" dirty="0" smtClean="0"/>
              <a:t> le </a:t>
            </a:r>
            <a:r>
              <a:rPr lang="en-US" baseline="0" dirty="0" err="1" smtClean="0"/>
              <a:t>voi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explica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despre</a:t>
            </a:r>
            <a:r>
              <a:rPr lang="en-US" baseline="0" dirty="0" smtClean="0"/>
              <a:t> cum </a:t>
            </a:r>
            <a:r>
              <a:rPr lang="en-US" baseline="0" dirty="0" err="1" smtClean="0"/>
              <a:t>functioneaza</a:t>
            </a:r>
            <a:r>
              <a:rPr lang="en-US" baseline="0" dirty="0" smtClean="0"/>
              <a:t> (</a:t>
            </a:r>
            <a:r>
              <a:rPr lang="en-US" baseline="0" dirty="0" err="1" smtClean="0"/>
              <a:t>partea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nucleara</a:t>
            </a:r>
            <a:r>
              <a:rPr lang="en-US" baseline="0" dirty="0" smtClean="0"/>
              <a:t>). </a:t>
            </a:r>
            <a:r>
              <a:rPr lang="en-US" baseline="0" dirty="0" err="1" smtClean="0"/>
              <a:t>Desigur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voi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vorbi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despre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partile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componente</a:t>
            </a:r>
            <a:r>
              <a:rPr lang="en-US" baseline="0" dirty="0" smtClean="0"/>
              <a:t> (gantry, </a:t>
            </a:r>
            <a:r>
              <a:rPr lang="en-US" baseline="0" dirty="0" err="1" smtClean="0"/>
              <a:t>masa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contragreutatea</a:t>
            </a:r>
            <a:r>
              <a:rPr lang="en-US" baseline="0" dirty="0" smtClean="0"/>
              <a:t>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533A6-782D-4244-951D-2435C0975AC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77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 </a:t>
            </a:r>
            <a:r>
              <a:rPr lang="en-US" dirty="0" err="1" smtClean="0"/>
              <a:t>aici</a:t>
            </a:r>
            <a:r>
              <a:rPr lang="en-US" dirty="0" smtClean="0"/>
              <a:t> am </a:t>
            </a:r>
            <a:r>
              <a:rPr lang="en-US" dirty="0" err="1" smtClean="0"/>
              <a:t>completat</a:t>
            </a:r>
            <a:r>
              <a:rPr lang="en-US" dirty="0" smtClean="0"/>
              <a:t> cu o</a:t>
            </a:r>
            <a:r>
              <a:rPr lang="en-US" baseline="0" dirty="0" smtClean="0"/>
              <a:t> imagine cu un accelerator </a:t>
            </a:r>
            <a:r>
              <a:rPr lang="en-US" baseline="0" dirty="0" err="1" smtClean="0"/>
              <a:t>liniar</a:t>
            </a:r>
            <a:r>
              <a:rPr lang="en-US" baseline="0" dirty="0" smtClean="0"/>
              <a:t> (</a:t>
            </a:r>
            <a:r>
              <a:rPr lang="en-US" baseline="0" dirty="0" err="1" smtClean="0"/>
              <a:t>partea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extranucleara</a:t>
            </a:r>
            <a:r>
              <a:rPr lang="en-US" baseline="0" dirty="0" smtClean="0"/>
              <a:t>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533A6-782D-4244-951D-2435C0975AC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09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tx1"/>
            </a:gs>
            <a:gs pos="100000">
              <a:schemeClr val="bg2">
                <a:tint val="83000"/>
                <a:satMod val="320000"/>
                <a:lumMod val="0"/>
                <a:lumOff val="100000"/>
                <a:alpha val="0"/>
              </a:schemeClr>
            </a:gs>
            <a:gs pos="100000">
              <a:schemeClr val="bg2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752600"/>
            <a:ext cx="9144000" cy="1828800"/>
          </a:xfrm>
        </p:spPr>
        <p:txBody>
          <a:bodyPr>
            <a:normAutofit/>
          </a:bodyPr>
          <a:lstStyle/>
          <a:p>
            <a:pPr algn="ctr"/>
            <a:r>
              <a:rPr lang="fr-FR" sz="4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Étapes du traitement de radiothérapie</a:t>
            </a:r>
            <a:r>
              <a:rPr lang="fr-FR" dirty="0"/>
              <a:t/>
            </a:r>
            <a:br>
              <a:rPr lang="fr-FR" dirty="0"/>
            </a:b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title"/>
          </p:nvPr>
        </p:nvSpPr>
        <p:spPr>
          <a:xfrm>
            <a:off x="456977" y="624423"/>
            <a:ext cx="8228555" cy="1016995"/>
          </a:xfrm>
        </p:spPr>
        <p:txBody>
          <a:bodyPr vert="horz" lIns="0" tIns="33188" rIns="0" bIns="0" anchor="b">
            <a:normAutofit fontScale="90000"/>
          </a:bodyPr>
          <a:lstStyle/>
          <a:p>
            <a:pPr algn="ctr">
              <a:tabLst>
                <a:tab pos="680973" algn="l"/>
                <a:tab pos="1361945" algn="l"/>
                <a:tab pos="2042918" algn="l"/>
                <a:tab pos="2723891" algn="l"/>
                <a:tab pos="3404864" algn="l"/>
                <a:tab pos="4085836" algn="l"/>
                <a:tab pos="4766809" algn="l"/>
                <a:tab pos="5447782" algn="l"/>
                <a:tab pos="6128755" algn="l"/>
                <a:tab pos="6809727" algn="l"/>
                <a:tab pos="7490700" algn="l"/>
                <a:tab pos="8171673" algn="l"/>
              </a:tabLst>
            </a:pPr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Qu'est-ce</a:t>
            </a: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la </a:t>
            </a:r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radiothérapie</a:t>
            </a: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lang="en-US" sz="4000" b="1" dirty="0"/>
              <a:t/>
            </a:r>
            <a:br>
              <a:rPr lang="en-US" sz="4000" b="1" dirty="0"/>
            </a:br>
            <a:endParaRPr lang="en-US" altLang="ro-RO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915" y="3264728"/>
            <a:ext cx="2007110" cy="2364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14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133600"/>
            <a:ext cx="4580204" cy="4204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93646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" y="2133600"/>
            <a:ext cx="8228555" cy="3449721"/>
          </a:xfrm>
        </p:spPr>
        <p:txBody>
          <a:bodyPr/>
          <a:lstStyle/>
          <a:p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Anatomie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radiologique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sectionel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topographique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1548" indent="0">
              <a:buClrTx/>
              <a:buSzPct val="45000"/>
              <a:buNone/>
              <a:tabLst>
                <a:tab pos="680973" algn="l"/>
                <a:tab pos="1361945" algn="l"/>
                <a:tab pos="2042918" algn="l"/>
                <a:tab pos="2723891" algn="l"/>
                <a:tab pos="3404864" algn="l"/>
                <a:tab pos="4085836" algn="l"/>
                <a:tab pos="4766809" algn="l"/>
                <a:tab pos="5447782" algn="l"/>
                <a:tab pos="6128755" algn="l"/>
                <a:tab pos="6809727" algn="l"/>
                <a:tab pos="7490700" algn="l"/>
                <a:tab pos="8171673" algn="l"/>
              </a:tabLst>
            </a:pPr>
            <a:endParaRPr lang="en-US" altLang="ro-RO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914400"/>
            <a:ext cx="5336676" cy="5182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33305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ChangeArrowheads="1"/>
          </p:cNvSpPr>
          <p:nvPr>
            <p:ph type="title"/>
          </p:nvPr>
        </p:nvSpPr>
        <p:spPr>
          <a:xfrm>
            <a:off x="456977" y="624423"/>
            <a:ext cx="8228555" cy="823377"/>
          </a:xfrm>
        </p:spPr>
        <p:txBody>
          <a:bodyPr vert="horz" lIns="0" tIns="33188" rIns="0" bIns="0" anchor="b">
            <a:normAutofit fontScale="90000"/>
          </a:bodyPr>
          <a:lstStyle/>
          <a:p>
            <a:pPr algn="ctr">
              <a:tabLst>
                <a:tab pos="680973" algn="l"/>
                <a:tab pos="1361945" algn="l"/>
                <a:tab pos="2042918" algn="l"/>
                <a:tab pos="2723891" algn="l"/>
                <a:tab pos="3404864" algn="l"/>
                <a:tab pos="4085836" algn="l"/>
                <a:tab pos="4766809" algn="l"/>
                <a:tab pos="5447782" algn="l"/>
                <a:tab pos="6128755" algn="l"/>
                <a:tab pos="6809727" algn="l"/>
                <a:tab pos="7490700" algn="l"/>
                <a:tab pos="8171673" algn="l"/>
              </a:tabLst>
            </a:pPr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Qu'est-ce</a:t>
            </a: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le </a:t>
            </a:r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radiothérapeute</a:t>
            </a: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lang="en-US" sz="4000" b="1" dirty="0"/>
              <a:t/>
            </a:r>
            <a:br>
              <a:rPr lang="en-US" sz="4000" b="1" dirty="0"/>
            </a:br>
            <a:endParaRPr lang="en-US" altLang="ro-RO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6977" y="2126769"/>
            <a:ext cx="8228555" cy="3449721"/>
          </a:xfrm>
        </p:spPr>
        <p:txBody>
          <a:bodyPr/>
          <a:lstStyle/>
          <a:p>
            <a:pPr marL="406194" indent="-304646">
              <a:buClr>
                <a:srgbClr val="FFFF00"/>
              </a:buClr>
              <a:buSzPct val="45000"/>
              <a:buNone/>
              <a:tabLst>
                <a:tab pos="680973" algn="l"/>
                <a:tab pos="1361945" algn="l"/>
                <a:tab pos="2042918" algn="l"/>
                <a:tab pos="2723891" algn="l"/>
                <a:tab pos="3404864" algn="l"/>
                <a:tab pos="4085836" algn="l"/>
                <a:tab pos="4766809" algn="l"/>
                <a:tab pos="5447782" algn="l"/>
                <a:tab pos="6128755" algn="l"/>
                <a:tab pos="6809727" algn="l"/>
                <a:tab pos="7490700" algn="l"/>
                <a:tab pos="8171673" algn="l"/>
              </a:tabLst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Membre de l'équipe multidisciplinaire dans le traitement du cancer super-spécialisée dans l'utilisation en médecine des rayonnements ionisants</a:t>
            </a:r>
          </a:p>
          <a:p>
            <a:pPr marL="406194" indent="-304646">
              <a:buClr>
                <a:srgbClr val="FFFF00"/>
              </a:buClr>
              <a:buSzPct val="45000"/>
              <a:buNone/>
              <a:tabLst>
                <a:tab pos="680973" algn="l"/>
                <a:tab pos="1361945" algn="l"/>
                <a:tab pos="2042918" algn="l"/>
                <a:tab pos="2723891" algn="l"/>
                <a:tab pos="3404864" algn="l"/>
                <a:tab pos="4085836" algn="l"/>
                <a:tab pos="4766809" algn="l"/>
                <a:tab pos="5447782" algn="l"/>
                <a:tab pos="6128755" algn="l"/>
                <a:tab pos="6809727" algn="l"/>
                <a:tab pos="7490700" algn="l"/>
                <a:tab pos="8171673" algn="l"/>
              </a:tabLst>
            </a:pPr>
            <a:endParaRPr lang="en-US" altLang="ro-RO" sz="2070" dirty="0"/>
          </a:p>
          <a:p>
            <a:pPr marL="406194" indent="-304646">
              <a:buClr>
                <a:srgbClr val="FFFF00"/>
              </a:buClr>
              <a:buSzPct val="45000"/>
              <a:buNone/>
              <a:tabLst>
                <a:tab pos="680973" algn="l"/>
                <a:tab pos="1361945" algn="l"/>
                <a:tab pos="2042918" algn="l"/>
                <a:tab pos="2723891" algn="l"/>
                <a:tab pos="3404864" algn="l"/>
                <a:tab pos="4085836" algn="l"/>
                <a:tab pos="4766809" algn="l"/>
                <a:tab pos="5447782" algn="l"/>
                <a:tab pos="6128755" algn="l"/>
                <a:tab pos="6809727" algn="l"/>
                <a:tab pos="7490700" algn="l"/>
                <a:tab pos="8171673" algn="l"/>
              </a:tabLst>
            </a:pPr>
            <a:r>
              <a:rPr lang="en-US" altLang="ro-RO" sz="2070" dirty="0"/>
              <a:t>           </a:t>
            </a:r>
            <a:endParaRPr lang="en-US" altLang="ro-RO" dirty="0" smtClean="0"/>
          </a:p>
        </p:txBody>
      </p:sp>
      <p:pic>
        <p:nvPicPr>
          <p:cNvPr id="1434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276600"/>
            <a:ext cx="4593654" cy="3170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43544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Imagini pentru radiotherapy clinical workfl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4" name="Picture 3" descr="radiotherapy workf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Consultation </a:t>
            </a:r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initiale</a:t>
            </a: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radiothérapeute</a:t>
            </a: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stituent conținut 2"/>
          <p:cNvSpPr txBox="1">
            <a:spLocks/>
          </p:cNvSpPr>
          <p:nvPr/>
        </p:nvSpPr>
        <p:spPr>
          <a:xfrm>
            <a:off x="685800" y="2434123"/>
            <a:ext cx="7886700" cy="440055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Données essentielles pour la décision thérapeutique</a:t>
            </a:r>
          </a:p>
          <a:p>
            <a:r>
              <a:rPr lang="fr-FR" sz="2200" b="1" dirty="0">
                <a:latin typeface="Arial" panose="020B0604020202020204" pitchFamily="34" charset="0"/>
                <a:cs typeface="Arial" panose="020B0604020202020204" pitchFamily="34" charset="0"/>
              </a:rPr>
              <a:t>patient</a:t>
            </a:r>
          </a:p>
          <a:p>
            <a:pPr lvl="1"/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âge</a:t>
            </a:r>
          </a:p>
          <a:p>
            <a:pPr lvl="1"/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statut de performance </a:t>
            </a:r>
          </a:p>
          <a:p>
            <a:pPr lvl="1"/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antécédents médicaux</a:t>
            </a:r>
          </a:p>
          <a:p>
            <a:r>
              <a:rPr lang="fr-FR" sz="2200" b="1" dirty="0">
                <a:latin typeface="Arial" panose="020B0604020202020204" pitchFamily="34" charset="0"/>
                <a:cs typeface="Arial" panose="020B0604020202020204" pitchFamily="34" charset="0"/>
              </a:rPr>
              <a:t>tumeur</a:t>
            </a:r>
          </a:p>
          <a:p>
            <a:pPr lvl="1"/>
            <a:r>
              <a:rPr lang="fr-FR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type 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histologique</a:t>
            </a:r>
          </a:p>
          <a:p>
            <a:pPr lvl="1"/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fr-FR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lassement 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histologique</a:t>
            </a:r>
          </a:p>
          <a:p>
            <a:pPr lvl="1"/>
            <a:r>
              <a:rPr lang="fr-FR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stade 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TNM</a:t>
            </a:r>
          </a:p>
          <a:p>
            <a:pPr lvl="1"/>
            <a:r>
              <a:rPr lang="fr-FR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bilan 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d'imagerie</a:t>
            </a:r>
          </a:p>
          <a:p>
            <a:pPr marL="0" indent="0">
              <a:buNone/>
            </a:pPr>
            <a:endParaRPr lang="ro-RO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simulare</a:t>
            </a:r>
            <a:endParaRPr lang="en-US" dirty="0"/>
          </a:p>
        </p:txBody>
      </p:sp>
      <p:pic>
        <p:nvPicPr>
          <p:cNvPr id="4" name="Content Placeholder 3" descr="drs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143000"/>
            <a:ext cx="3143250" cy="2352675"/>
          </a:xfrm>
        </p:spPr>
      </p:pic>
      <p:sp>
        <p:nvSpPr>
          <p:cNvPr id="6" name="TextBox 5"/>
          <p:cNvSpPr txBox="1"/>
          <p:nvPr/>
        </p:nvSpPr>
        <p:spPr>
          <a:xfrm>
            <a:off x="3429000" y="1752600"/>
            <a:ext cx="57150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2D vs 3D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position confortable / reproductible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définit les champs de traitement (marquages ​​cutanés)</a:t>
            </a: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80076-83615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3477209"/>
            <a:ext cx="3381273" cy="33527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228600"/>
            <a:ext cx="9144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Acquisition/Simulation </a:t>
            </a:r>
            <a:r>
              <a:rPr lang="en-US" sz="3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d’images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in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3609522"/>
            <a:ext cx="5486400" cy="32484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Imagini pentru brachytherapy treatmen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3276600"/>
            <a:ext cx="6781800" cy="3581400"/>
          </a:xfrm>
          <a:prstGeom prst="rect">
            <a:avLst/>
          </a:prstGeom>
          <a:noFill/>
        </p:spPr>
      </p:pic>
      <p:pic>
        <p:nvPicPr>
          <p:cNvPr id="24578" name="Picture 2" descr="Imagine similarÄ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0"/>
            <a:ext cx="6781800" cy="3228976"/>
          </a:xfrm>
          <a:prstGeom prst="rect">
            <a:avLst/>
          </a:prstGeom>
          <a:solidFill>
            <a:schemeClr val="tx2"/>
          </a:solidFill>
        </p:spPr>
      </p:pic>
    </p:spTree>
    <p:extLst>
      <p:ext uri="{BB962C8B-B14F-4D97-AF65-F5344CB8AC3E}">
        <p14:creationId xmlns:p14="http://schemas.microsoft.com/office/powerpoint/2010/main" val="2434688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8" name="Picture 2" descr="Imagini pentru GTV CTV PT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09800"/>
            <a:ext cx="5562600" cy="3613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ight Arrow 8"/>
          <p:cNvSpPr/>
          <p:nvPr/>
        </p:nvSpPr>
        <p:spPr>
          <a:xfrm flipV="1">
            <a:off x="5791200" y="2971800"/>
            <a:ext cx="228600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096000" y="2667000"/>
            <a:ext cx="914400" cy="201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T</a:t>
            </a:r>
          </a:p>
          <a:p>
            <a:endParaRPr lang="en-US" sz="4000" dirty="0"/>
          </a:p>
          <a:p>
            <a:r>
              <a:rPr lang="en-US" sz="4000" dirty="0" smtClean="0"/>
              <a:t>N</a:t>
            </a:r>
            <a:endParaRPr lang="en-US" sz="40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381000"/>
            <a:ext cx="9144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Conturajul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radiothérapeute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4B166405-60DA-4668-8FD2-59DE089E8D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314"/>
          <a:stretch/>
        </p:blipFill>
        <p:spPr>
          <a:xfrm>
            <a:off x="6386855" y="4572000"/>
            <a:ext cx="2757146" cy="2286000"/>
          </a:xfrm>
          <a:prstGeom prst="rect">
            <a:avLst/>
          </a:prstGeom>
        </p:spPr>
      </p:pic>
      <p:sp>
        <p:nvSpPr>
          <p:cNvPr id="14" name="Right Arrow 8"/>
          <p:cNvSpPr/>
          <p:nvPr/>
        </p:nvSpPr>
        <p:spPr>
          <a:xfrm flipV="1">
            <a:off x="5791200" y="4267200"/>
            <a:ext cx="228600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54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-typical-IMRT-plan-with-the-parotid-sparing-technique-for-a-carcinoma-of-the-oral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87620"/>
            <a:ext cx="9144000" cy="5542407"/>
          </a:xfrm>
        </p:spPr>
      </p:pic>
      <p:sp>
        <p:nvSpPr>
          <p:cNvPr id="5" name="TextBox 11"/>
          <p:cNvSpPr txBox="1"/>
          <p:nvPr/>
        </p:nvSpPr>
        <p:spPr>
          <a:xfrm>
            <a:off x="0" y="381000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Contour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tlas-predicted-contouring-for-high-risk-breast-cancer-post-lumpectomy-Representativ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9400" y="0"/>
            <a:ext cx="6051176" cy="6858000"/>
          </a:xfrm>
        </p:spPr>
      </p:pic>
      <p:sp>
        <p:nvSpPr>
          <p:cNvPr id="5" name="TextBox 11"/>
          <p:cNvSpPr txBox="1"/>
          <p:nvPr/>
        </p:nvSpPr>
        <p:spPr>
          <a:xfrm>
            <a:off x="-76200" y="2819400"/>
            <a:ext cx="2971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Contou</a:t>
            </a:r>
            <a:r>
              <a:rPr lang="ro-RO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4088"/>
            <a:ext cx="9144000" cy="74371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Planification</a:t>
            </a: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traitement</a:t>
            </a:r>
            <a:r>
              <a:rPr lang="en-US" sz="4000" b="1" dirty="0"/>
              <a:t/>
            </a:r>
            <a:br>
              <a:rPr lang="en-US" sz="4000" b="1" dirty="0"/>
            </a:br>
            <a:endParaRPr lang="en-US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Physicien médical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radiothérapie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Logiciels spécialisés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4088"/>
            <a:ext cx="9144000" cy="74371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Planification</a:t>
            </a: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traitement</a:t>
            </a:r>
            <a:r>
              <a:rPr lang="en-US" sz="4000" b="1" dirty="0"/>
              <a:t/>
            </a:r>
            <a:br>
              <a:rPr lang="en-US" sz="4000" b="1" dirty="0"/>
            </a:br>
            <a:endParaRPr lang="en-US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Physicien médical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Oncologue radiologue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Système de planification du traitement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1200"/>
            <a:ext cx="4612176" cy="407620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981200"/>
            <a:ext cx="4495800" cy="407620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704088"/>
            <a:ext cx="9144000" cy="74371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Planification</a:t>
            </a: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traitement</a:t>
            </a:r>
            <a:r>
              <a:rPr lang="en-US" sz="4000" b="1" dirty="0"/>
              <a:t/>
            </a:r>
            <a:br>
              <a:rPr lang="en-US" sz="4000" b="1" dirty="0"/>
            </a:br>
            <a:endParaRPr lang="en-US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48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1B2D0C0-795E-496C-905C-A2F3132E2B52}"/>
              </a:ext>
            </a:extLst>
          </p:cNvPr>
          <p:cNvSpPr txBox="1"/>
          <p:nvPr/>
        </p:nvSpPr>
        <p:spPr>
          <a:xfrm>
            <a:off x="0" y="762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Planification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physicien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médical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38200"/>
            <a:ext cx="9144000" cy="5730846"/>
          </a:xfrm>
        </p:spPr>
      </p:pic>
    </p:spTree>
    <p:extLst>
      <p:ext uri="{BB962C8B-B14F-4D97-AF65-F5344CB8AC3E}">
        <p14:creationId xmlns:p14="http://schemas.microsoft.com/office/powerpoint/2010/main" val="2270325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8F3B347-5EDB-415B-BE79-32F12613C188}"/>
              </a:ext>
            </a:extLst>
          </p:cNvPr>
          <p:cNvSpPr txBox="1"/>
          <p:nvPr/>
        </p:nvSpPr>
        <p:spPr>
          <a:xfrm>
            <a:off x="-93345" y="80689"/>
            <a:ext cx="86868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Le traitement lui-même</a:t>
            </a:r>
          </a:p>
          <a:p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(technicien en radiothérapie)</a:t>
            </a:r>
          </a:p>
          <a:p>
            <a:pPr algn="ctr"/>
            <a:endParaRPr lang="en-US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ADE5515-C69D-4A82-BDA7-4FF740AEB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57907"/>
            <a:ext cx="7434101" cy="57000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63055FC-B98C-438A-A94A-5E1D072DF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447800"/>
            <a:ext cx="7800975" cy="487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856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4088"/>
            <a:ext cx="9144000" cy="81991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Appareil</a:t>
            </a: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utilisé</a:t>
            </a: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radiothérapie</a:t>
            </a:r>
            <a:r>
              <a:rPr lang="en-US" sz="4000" b="1" dirty="0"/>
              <a:t/>
            </a:r>
            <a:br>
              <a:rPr lang="en-US" sz="4000" b="1" dirty="0"/>
            </a:br>
            <a:endParaRPr lang="en-US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442443"/>
            <a:ext cx="8229600" cy="438912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Co - 60</a:t>
            </a:r>
          </a:p>
          <a:p>
            <a:pPr>
              <a:lnSpc>
                <a:spcPct val="200000"/>
              </a:lnSpc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Accélérateur linéaire</a:t>
            </a:r>
          </a:p>
          <a:p>
            <a:pPr>
              <a:lnSpc>
                <a:spcPct val="200000"/>
              </a:lnSpc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Cyclotron 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protonthérapie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/ ions lourds)</a:t>
            </a:r>
          </a:p>
          <a:p>
            <a:pPr>
              <a:lnSpc>
                <a:spcPct val="200000"/>
              </a:lnSpc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curiethérapie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</a:p>
        </p:txBody>
      </p:sp>
      <p:pic>
        <p:nvPicPr>
          <p:cNvPr id="45062" name="Picture 6" descr="Imagini pentru COBALT RADIOTHERAP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810000"/>
            <a:ext cx="6293351" cy="3048000"/>
          </a:xfrm>
          <a:prstGeom prst="rect">
            <a:avLst/>
          </a:prstGeom>
          <a:noFill/>
        </p:spPr>
      </p:pic>
      <p:pic>
        <p:nvPicPr>
          <p:cNvPr id="45060" name="Picture 4" descr="Imagini pentru COBALT RADIOTHERAP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3000" y="0"/>
            <a:ext cx="6248400" cy="35783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7" name="Picture 2" descr="Imagini pentru LINEAR ACCELERAT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"/>
            <a:ext cx="5562600" cy="3428999"/>
          </a:xfrm>
          <a:prstGeom prst="rect">
            <a:avLst/>
          </a:prstGeom>
          <a:noFill/>
        </p:spPr>
      </p:pic>
      <p:pic>
        <p:nvPicPr>
          <p:cNvPr id="8" name="Picture 7" descr="australia-install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5562600" cy="3429000"/>
          </a:xfrm>
          <a:prstGeom prst="rect">
            <a:avLst/>
          </a:prstGeom>
        </p:spPr>
      </p:pic>
      <p:pic>
        <p:nvPicPr>
          <p:cNvPr id="4098" name="Picture 2" descr="Imagini pentru cyberknife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57750" y="0"/>
            <a:ext cx="4286250" cy="3429000"/>
          </a:xfrm>
          <a:prstGeom prst="rect">
            <a:avLst/>
          </a:prstGeom>
          <a:noFill/>
        </p:spPr>
      </p:pic>
      <p:pic>
        <p:nvPicPr>
          <p:cNvPr id="4100" name="Picture 4" descr="https://www.oncologysystems.com/wp-content/uploads/2019/02/1-94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800600" y="3429000"/>
            <a:ext cx="4343399" cy="3429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8" name="Picture 4" descr="Imagini pentru proton therap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-219075"/>
            <a:ext cx="7620000" cy="7077075"/>
          </a:xfrm>
          <a:prstGeom prst="rect">
            <a:avLst/>
          </a:prstGeom>
          <a:noFill/>
        </p:spPr>
      </p:pic>
      <p:pic>
        <p:nvPicPr>
          <p:cNvPr id="1026" name="Picture 2" descr="Imagini pentru proton therap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4495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990600"/>
          </a:xfrm>
        </p:spPr>
        <p:txBody>
          <a:bodyPr>
            <a:normAutofit/>
          </a:bodyPr>
          <a:lstStyle/>
          <a:p>
            <a:pPr algn="ctr"/>
            <a:r>
              <a:rPr lang="en-US" altLang="ro-RO" sz="36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Brachythérapie</a:t>
            </a:r>
            <a:endParaRPr lang="en-US" sz="3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178" name="Picture 2" descr="Imagine similară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47800"/>
            <a:ext cx="4648200" cy="4648200"/>
          </a:xfrm>
          <a:prstGeom prst="rect">
            <a:avLst/>
          </a:prstGeom>
          <a:noFill/>
        </p:spPr>
      </p:pic>
      <p:pic>
        <p:nvPicPr>
          <p:cNvPr id="50180" name="Picture 4" descr="Imagine similară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1447800"/>
            <a:ext cx="4495800" cy="4648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3400"/>
            <a:ext cx="9144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Contrôle</a:t>
            </a:r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positionnement</a:t>
            </a:r>
            <a:r>
              <a:rPr lang="en-US" sz="4000" b="1" dirty="0"/>
              <a:t/>
            </a:r>
            <a:br>
              <a:rPr lang="en-US" sz="4000" b="1" dirty="0"/>
            </a:br>
            <a:endParaRPr lang="en-US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33601"/>
            <a:ext cx="4976453" cy="43434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2133599"/>
            <a:ext cx="4114800" cy="435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4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4088"/>
            <a:ext cx="9144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Suivi</a:t>
            </a:r>
            <a:r>
              <a:rPr lang="en-US" sz="4000" b="1" dirty="0"/>
              <a:t/>
            </a:r>
            <a:br>
              <a:rPr lang="en-US" sz="4000" b="1" dirty="0"/>
            </a:br>
            <a:endParaRPr lang="en-US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200000"/>
              </a:lnSpc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Toxicité aiguë / chronique</a:t>
            </a:r>
          </a:p>
          <a:p>
            <a:pPr>
              <a:lnSpc>
                <a:spcPct val="200000"/>
              </a:lnSpc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Récidive locale / métastase</a:t>
            </a:r>
          </a:p>
          <a:p>
            <a:pPr>
              <a:lnSpc>
                <a:spcPct val="200000"/>
              </a:lnSpc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Qualité de vie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1206</TotalTime>
  <Words>251</Words>
  <Application>Microsoft Office PowerPoint</Application>
  <PresentationFormat>Expunere pe ecran (4:3)</PresentationFormat>
  <Paragraphs>77</Paragraphs>
  <Slides>23</Slides>
  <Notes>7</Notes>
  <HiddenSlides>1</HiddenSlides>
  <MMClips>0</MMClips>
  <ScaleCrop>false</ScaleCrop>
  <HeadingPairs>
    <vt:vector size="6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23</vt:i4>
      </vt:variant>
    </vt:vector>
  </HeadingPairs>
  <TitlesOfParts>
    <vt:vector size="30" baseType="lpstr">
      <vt:lpstr>Microsoft YaHei</vt:lpstr>
      <vt:lpstr>Arial</vt:lpstr>
      <vt:lpstr>Calibri</vt:lpstr>
      <vt:lpstr>Constantia</vt:lpstr>
      <vt:lpstr>Times New Roman</vt:lpstr>
      <vt:lpstr>Wingdings 2</vt:lpstr>
      <vt:lpstr>Flow</vt:lpstr>
      <vt:lpstr>Étapes du traitement de radiothérapie </vt:lpstr>
      <vt:lpstr>Qu'est-ce que la radiothérapie? </vt:lpstr>
      <vt:lpstr>Prezentare PowerPoint</vt:lpstr>
      <vt:lpstr>Qu'est-ce que le radiothérapeute? </vt:lpstr>
      <vt:lpstr>Prezentare PowerPoint</vt:lpstr>
      <vt:lpstr>Consultation initiale (radiothérapeute) </vt:lpstr>
      <vt:lpstr>simulare</vt:lpstr>
      <vt:lpstr>Prezentare PowerPoint</vt:lpstr>
      <vt:lpstr>Prezentare PowerPoint</vt:lpstr>
      <vt:lpstr>Prezentare PowerPoint</vt:lpstr>
      <vt:lpstr>Prezentare PowerPoint</vt:lpstr>
      <vt:lpstr>Planification du traitement </vt:lpstr>
      <vt:lpstr>Planification du traitement </vt:lpstr>
      <vt:lpstr>Planification du traitement </vt:lpstr>
      <vt:lpstr>Prezentare PowerPoint</vt:lpstr>
      <vt:lpstr>Prezentare PowerPoint</vt:lpstr>
      <vt:lpstr>Appareil utilisé en radiothérapie </vt:lpstr>
      <vt:lpstr>Prezentare PowerPoint</vt:lpstr>
      <vt:lpstr>Prezentare PowerPoint</vt:lpstr>
      <vt:lpstr>Prezentare PowerPoint</vt:lpstr>
      <vt:lpstr>Brachythérapie</vt:lpstr>
      <vt:lpstr>Contrôle de positionnement </vt:lpstr>
      <vt:lpstr>Suivi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Radioterapia</dc:title>
  <dc:creator>ovidiu bunta</dc:creator>
  <cp:lastModifiedBy>cameraet2</cp:lastModifiedBy>
  <cp:revision>63</cp:revision>
  <dcterms:created xsi:type="dcterms:W3CDTF">2006-08-16T00:00:00Z</dcterms:created>
  <dcterms:modified xsi:type="dcterms:W3CDTF">2020-03-20T09:33:15Z</dcterms:modified>
</cp:coreProperties>
</file>