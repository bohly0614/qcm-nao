
<file path=[Content_Types].xml><?xml version="1.0" encoding="utf-8"?>
<Types xmlns="http://schemas.openxmlformats.org/package/2006/content-types">
  <Default ContentType="application/vnd.openxmlformats-officedocument.oleObject" Extension="bin"/>
  <Default ContentType="image/jpeg" Extension="jpeg"/>
  <Default ContentType="image/png" Extension="png"/>
  <Default ContentType="application/vnd.openxmlformats-package.relationships+xml" Extension="rels"/>
  <Default ContentType="application/vnd.openxmlformats-officedocument.vmlDrawing" Extension="vml"/>
  <Default ContentType="image/x-wmf" Extension="wmf"/>
  <Default ContentType="application/xml" Extension="xml"/>
  <Override ContentType="application/vnd.openxmlformats-officedocument.presentationml.notesMaster+xml" PartName="/ppt/notesMasters/notesMaster1.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Props+xml" PartName="/ppt/presProps2.xml"/>
  <Override ContentType="application/vnd.openxmlformats-officedocument.presentationml.presentation.main+xml" PartName="/ppt/presentation.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gs+xml" PartName="/ppt/tags/tag2.xml"/>
  <Override ContentType="application/vnd.openxmlformats-officedocument.presentationml.viewProps+xml" PartName="/ppt/viewProps2.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custDataLst>
    <p:tags r:id="rId27"/>
  </p:custDataLst>
  <p:defaultTextStyle>
    <a:defPPr lvl="0">
      <a:defRPr lang="en-US"/>
    </a:defPPr>
    <a:lvl1pPr lvl="0" rtl="0" algn="l" fontAlgn="base">
      <a:spcBef>
        <a:spcPct val="0"/>
      </a:spcBef>
      <a:spcAft>
        <a:spcPct val="0"/>
      </a:spcAft>
      <a:defRPr kern="1200" sz="2400">
        <a:solidFill>
          <a:schemeClr val="tx1"/>
        </a:solidFill>
        <a:latin typeface="Times New Roman" charset="0"/>
        <a:ea typeface="+mn-ea"/>
        <a:cs typeface="+mn-cs"/>
      </a:defRPr>
    </a:lvl1pPr>
    <a:lvl2pPr lvl="1" marL="457200" rtl="0" algn="l" fontAlgn="base">
      <a:spcBef>
        <a:spcPct val="0"/>
      </a:spcBef>
      <a:spcAft>
        <a:spcPct val="0"/>
      </a:spcAft>
      <a:defRPr kern="1200" sz="2400">
        <a:solidFill>
          <a:schemeClr val="tx1"/>
        </a:solidFill>
        <a:latin typeface="Times New Roman" charset="0"/>
        <a:ea typeface="+mn-ea"/>
        <a:cs typeface="+mn-cs"/>
      </a:defRPr>
    </a:lvl2pPr>
    <a:lvl3pPr lvl="2" marL="914400" rtl="0" algn="l" fontAlgn="base">
      <a:spcBef>
        <a:spcPct val="0"/>
      </a:spcBef>
      <a:spcAft>
        <a:spcPct val="0"/>
      </a:spcAft>
      <a:defRPr kern="1200" sz="2400">
        <a:solidFill>
          <a:schemeClr val="tx1"/>
        </a:solidFill>
        <a:latin typeface="Times New Roman" charset="0"/>
        <a:ea typeface="+mn-ea"/>
        <a:cs typeface="+mn-cs"/>
      </a:defRPr>
    </a:lvl3pPr>
    <a:lvl4pPr lvl="3" marL="1371600" rtl="0" algn="l" fontAlgn="base">
      <a:spcBef>
        <a:spcPct val="0"/>
      </a:spcBef>
      <a:spcAft>
        <a:spcPct val="0"/>
      </a:spcAft>
      <a:defRPr kern="1200" sz="2400">
        <a:solidFill>
          <a:schemeClr val="tx1"/>
        </a:solidFill>
        <a:latin typeface="Times New Roman" charset="0"/>
        <a:ea typeface="+mn-ea"/>
        <a:cs typeface="+mn-cs"/>
      </a:defRPr>
    </a:lvl4pPr>
    <a:lvl5pPr lvl="4" marL="1828800" rtl="0" algn="l" fontAlgn="base">
      <a:spcBef>
        <a:spcPct val="0"/>
      </a:spcBef>
      <a:spcAft>
        <a:spcPct val="0"/>
      </a:spcAft>
      <a:defRPr kern="1200" sz="2400">
        <a:solidFill>
          <a:schemeClr val="tx1"/>
        </a:solidFill>
        <a:latin typeface="Times New Roman" charset="0"/>
        <a:ea typeface="+mn-ea"/>
        <a:cs typeface="+mn-cs"/>
      </a:defRPr>
    </a:lvl5pPr>
    <a:lvl6pPr defTabSz="914400" eaLnBrk="1" hangingPunct="1" latinLnBrk="0" lvl="5" marL="2286000" rtl="0" algn="l">
      <a:defRPr kern="1200" sz="2400">
        <a:solidFill>
          <a:schemeClr val="tx1"/>
        </a:solidFill>
        <a:latin typeface="Times New Roman" charset="0"/>
        <a:ea typeface="+mn-ea"/>
        <a:cs typeface="+mn-cs"/>
      </a:defRPr>
    </a:lvl6pPr>
    <a:lvl7pPr defTabSz="914400" eaLnBrk="1" hangingPunct="1" latinLnBrk="0" lvl="6" marL="2743200" rtl="0" algn="l">
      <a:defRPr kern="1200" sz="2400">
        <a:solidFill>
          <a:schemeClr val="tx1"/>
        </a:solidFill>
        <a:latin typeface="Times New Roman" charset="0"/>
        <a:ea typeface="+mn-ea"/>
        <a:cs typeface="+mn-cs"/>
      </a:defRPr>
    </a:lvl7pPr>
    <a:lvl8pPr defTabSz="914400" eaLnBrk="1" hangingPunct="1" latinLnBrk="0" lvl="7" marL="3200400" rtl="0" algn="l">
      <a:defRPr kern="1200" sz="2400">
        <a:solidFill>
          <a:schemeClr val="tx1"/>
        </a:solidFill>
        <a:latin typeface="Times New Roman" charset="0"/>
        <a:ea typeface="+mn-ea"/>
        <a:cs typeface="+mn-cs"/>
      </a:defRPr>
    </a:lvl8pPr>
    <a:lvl9pPr defTabSz="914400" eaLnBrk="1" hangingPunct="1" latinLnBrk="0" lvl="8" marL="3657600" rtl="0" algn="l">
      <a:defRPr kern="1200" sz="2400">
        <a:solidFill>
          <a:schemeClr val="tx1"/>
        </a:solidFill>
        <a:latin typeface="Times New Roman" charset="0"/>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2.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2.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2" Type="http://schemas.openxmlformats.org/officeDocument/2006/relationships/slide" Target="slides/slide7.xml"/><Relationship Id="rId16" Type="http://schemas.openxmlformats.org/officeDocument/2006/relationships/slide" Target="slides/slide11.xml"/><Relationship Id="rId20" Type="http://schemas.openxmlformats.org/officeDocument/2006/relationships/slide" Target="slides/slide15.xml"/><Relationship Id="rId15" Type="http://schemas.openxmlformats.org/officeDocument/2006/relationships/slide" Target="slides/slide10.xml"/><Relationship Id="rId11" Type="http://schemas.openxmlformats.org/officeDocument/2006/relationships/slide" Target="slides/slide6.xml"/><Relationship Id="rId25" Type="http://schemas.openxmlformats.org/officeDocument/2006/relationships/slide" Target="slides/slide20.xml"/><Relationship Id="rId7" Type="http://schemas.openxmlformats.org/officeDocument/2006/relationships/slide" Target="slides/slide2.xml"/><Relationship Id="rId14" Type="http://schemas.openxmlformats.org/officeDocument/2006/relationships/slide" Target="slides/slide9.xml"/><Relationship Id="rId27" Type="http://schemas.openxmlformats.org/officeDocument/2006/relationships/tags" Target="tags/tag2.xml"/><Relationship Id="rId8" Type="http://schemas.openxmlformats.org/officeDocument/2006/relationships/slide" Target="slides/slide3.xml"/><Relationship Id="rId13"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 Target="slides/slide4.xml"/><Relationship Id="rId1" Type="http://schemas.openxmlformats.org/officeDocument/2006/relationships/theme" Target="theme/theme1.xml"/><Relationship Id="rId22" Type="http://schemas.openxmlformats.org/officeDocument/2006/relationships/slide" Target="slides/slide17.xml"/><Relationship Id="rId18" Type="http://schemas.openxmlformats.org/officeDocument/2006/relationships/slide" Target="slides/slide13.xml"/><Relationship Id="rId5" Type="http://schemas.openxmlformats.org/officeDocument/2006/relationships/notesMaster" Target="notesMasters/notesMaster1.xml"/><Relationship Id="rId26" Type="http://schemas.openxmlformats.org/officeDocument/2006/relationships/slide" Target="slides/slide21.xml"/><Relationship Id="rId24" Type="http://schemas.openxmlformats.org/officeDocument/2006/relationships/slide" Target="slides/slide19.xml"/><Relationship Id="rId2" Type="http://schemas.openxmlformats.org/officeDocument/2006/relationships/viewProps" Target="viewProps2.xml"/><Relationship Id="rId21" Type="http://schemas.openxmlformats.org/officeDocument/2006/relationships/slide" Target="slides/slide16.xml"/><Relationship Id="rId23" Type="http://schemas.openxmlformats.org/officeDocument/2006/relationships/slide" Target="slides/slide18.xml"/><Relationship Id="rId10" Type="http://schemas.openxmlformats.org/officeDocument/2006/relationships/slide" Target="slides/slide5.xml"/><Relationship Id="rId19" Type="http://schemas.openxmlformats.org/officeDocument/2006/relationships/slide" Target="slides/slide14.xml"/><Relationship Id="rId17" Type="http://schemas.openxmlformats.org/officeDocument/2006/relationships/slide" Target="slides/slide12.xml"/><Relationship Id="rId3" Type="http://schemas.openxmlformats.org/officeDocument/2006/relationships/presProps" Target="presProps2.xml"/><Relationship Id="rId6"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800" smtClean="0">
                <a:latin typeface="Arial" charset="0"/>
              </a:defRPr>
            </a:lvl1pPr>
          </a:lstStyle>
          <a:p>
            <a:pPr>
              <a:defRPr/>
            </a:pPr>
            <a:r>
              <a:rPr lang="en-US" altLang="en-US"/>
              <a:t>Part No 3, Lesson No 2</a:t>
            </a:r>
          </a:p>
        </p:txBody>
      </p:sp>
      <p:sp>
        <p:nvSpPr>
          <p:cNvPr id="512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00" smtClean="0">
                <a:latin typeface="Arial" charset="0"/>
              </a:defRPr>
            </a:lvl1pPr>
          </a:lstStyle>
          <a:p>
            <a:pPr>
              <a:defRPr/>
            </a:pPr>
            <a:r>
              <a:rPr lang="en-US" altLang="en-US"/>
              <a:t>Biology</a:t>
            </a:r>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0"/>
            <a:r>
              <a:rPr lang="en-US" altLang="en-US" noProof="0" smtClean="0"/>
              <a:t>Second level</a:t>
            </a:r>
          </a:p>
          <a:p>
            <a:pPr lvl="0"/>
            <a:r>
              <a:rPr lang="en-US" altLang="en-US" noProof="0" smtClean="0"/>
              <a:t>Third level</a:t>
            </a:r>
          </a:p>
          <a:p>
            <a:pPr lvl="0"/>
            <a:r>
              <a:rPr lang="en-US" altLang="en-US" noProof="0" smtClean="0"/>
              <a:t>Fourth level</a:t>
            </a:r>
          </a:p>
          <a:p>
            <a:pPr lvl="0"/>
            <a:r>
              <a:rPr lang="en-US" altLang="en-US" noProof="0" smtClean="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800" smtClean="0">
                <a:latin typeface="Arial" charset="0"/>
              </a:defRPr>
            </a:lvl1pPr>
          </a:lstStyle>
          <a:p>
            <a:pPr>
              <a:defRPr/>
            </a:pPr>
            <a:r>
              <a:rPr lang="en-US" altLang="en-US"/>
              <a:t>IAEA Training Material: Radiation Protection in Radiotherapy</a:t>
            </a:r>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000" b="1" smtClean="0">
                <a:latin typeface="Times New Roman" charset="0"/>
              </a:defRPr>
            </a:lvl1pPr>
          </a:lstStyle>
          <a:p>
            <a:pPr>
              <a:defRPr/>
            </a:pPr>
            <a:fld id="{E1B38D25-4053-4C66-A9AB-14361CD32478}" type="slidenum">
              <a:rPr lang="en-US" altLang="en-US"/>
              <a:pPr>
                <a:defRPr/>
              </a:pPr>
              <a:t>‹#›</a:t>
            </a:fld>
            <a:endParaRPr lang="en-US" altLang="en-US"/>
          </a:p>
        </p:txBody>
      </p:sp>
    </p:spTree>
    <p:extLst>
      <p:ext uri="{BB962C8B-B14F-4D97-AF65-F5344CB8AC3E}">
        <p14:creationId xmlns:p14="http://schemas.microsoft.com/office/powerpoint/2010/main" val="1710421149"/>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359ACCAE-F51C-4A97-8FD4-06D7CDA4CF99}" type="slidenum">
              <a:rPr lang="en-US" altLang="ro-RO">
                <a:solidFill>
                  <a:srgbClr val="FFFFFF"/>
                </a:solidFill>
                <a:latin typeface="Times New Roman" panose="02020603050405020304" pitchFamily="18" charset="0"/>
              </a:rPr>
              <a:pPr>
                <a:lnSpc>
                  <a:spcPct val="95000"/>
                </a:lnSpc>
              </a:pPr>
              <a:t>2</a:t>
            </a:fld>
            <a:endParaRPr lang="en-US" altLang="ro-RO">
              <a:solidFill>
                <a:srgbClr val="FFFFFF"/>
              </a:solidFill>
              <a:latin typeface="Times New Roman" panose="02020603050405020304" pitchFamily="18" charset="0"/>
            </a:endParaRPr>
          </a:p>
        </p:txBody>
      </p:sp>
      <p:sp>
        <p:nvSpPr>
          <p:cNvPr id="1331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713185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AEDE5EBE-057C-4212-9DCF-B41487CC6519}" type="slidenum">
              <a:rPr lang="en-US" altLang="ro-RO">
                <a:solidFill>
                  <a:srgbClr val="FFFFFF"/>
                </a:solidFill>
                <a:latin typeface="Times New Roman" panose="02020603050405020304" pitchFamily="18" charset="0"/>
              </a:rPr>
              <a:pPr>
                <a:lnSpc>
                  <a:spcPct val="95000"/>
                </a:lnSpc>
              </a:pPr>
              <a:t>3</a:t>
            </a:fld>
            <a:endParaRPr lang="en-US" altLang="ro-RO">
              <a:solidFill>
                <a:srgbClr val="FFFFFF"/>
              </a:solidFill>
              <a:latin typeface="Times New Roman" panose="02020603050405020304" pitchFamily="18" charset="0"/>
            </a:endParaRPr>
          </a:p>
        </p:txBody>
      </p:sp>
      <p:sp>
        <p:nvSpPr>
          <p:cNvPr id="1741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dirty="0" smtClean="0"/>
          </a:p>
        </p:txBody>
      </p:sp>
    </p:spTree>
    <p:extLst>
      <p:ext uri="{BB962C8B-B14F-4D97-AF65-F5344CB8AC3E}">
        <p14:creationId xmlns:p14="http://schemas.microsoft.com/office/powerpoint/2010/main" val="891732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41486A42-E7ED-4405-A0AE-32A1843EA8E8}" type="slidenum">
              <a:rPr lang="en-US" altLang="ro-RO">
                <a:solidFill>
                  <a:srgbClr val="FFFFFF"/>
                </a:solidFill>
                <a:latin typeface="Times New Roman" panose="02020603050405020304" pitchFamily="18" charset="0"/>
              </a:rPr>
              <a:pPr>
                <a:lnSpc>
                  <a:spcPct val="95000"/>
                </a:lnSpc>
              </a:pPr>
              <a:t>4</a:t>
            </a:fld>
            <a:endParaRPr lang="en-US" altLang="ro-RO">
              <a:solidFill>
                <a:srgbClr val="FFFFFF"/>
              </a:solidFill>
              <a:latin typeface="Times New Roman" panose="02020603050405020304" pitchFamily="18" charset="0"/>
            </a:endParaRPr>
          </a:p>
        </p:txBody>
      </p:sp>
      <p:sp>
        <p:nvSpPr>
          <p:cNvPr id="1945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60"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2706611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B6AF4119-1EE6-484D-9F67-7E11628E8B8A}" type="slidenum">
              <a:rPr lang="en-US" altLang="ro-RO">
                <a:solidFill>
                  <a:srgbClr val="FFFFFF"/>
                </a:solidFill>
                <a:latin typeface="Times New Roman" panose="02020603050405020304" pitchFamily="18" charset="0"/>
              </a:rPr>
              <a:pPr>
                <a:lnSpc>
                  <a:spcPct val="95000"/>
                </a:lnSpc>
              </a:pPr>
              <a:t>5</a:t>
            </a:fld>
            <a:endParaRPr lang="en-US" altLang="ro-RO">
              <a:solidFill>
                <a:srgbClr val="FFFFFF"/>
              </a:solidFill>
              <a:latin typeface="Times New Roman" panose="02020603050405020304" pitchFamily="18" charset="0"/>
            </a:endParaRPr>
          </a:p>
        </p:txBody>
      </p:sp>
      <p:sp>
        <p:nvSpPr>
          <p:cNvPr id="2355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2742434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16F22A31-A8A2-49B7-BF81-231F856A9B21}" type="slidenum">
              <a:rPr lang="en-US" altLang="ro-RO">
                <a:solidFill>
                  <a:srgbClr val="FFFFFF"/>
                </a:solidFill>
                <a:latin typeface="Times New Roman" panose="02020603050405020304" pitchFamily="18" charset="0"/>
              </a:rPr>
              <a:pPr>
                <a:lnSpc>
                  <a:spcPct val="95000"/>
                </a:lnSpc>
              </a:pPr>
              <a:t>6</a:t>
            </a:fld>
            <a:endParaRPr lang="en-US" altLang="ro-RO">
              <a:solidFill>
                <a:srgbClr val="FFFFFF"/>
              </a:solidFill>
              <a:latin typeface="Times New Roman" panose="02020603050405020304" pitchFamily="18" charset="0"/>
            </a:endParaRPr>
          </a:p>
        </p:txBody>
      </p:sp>
      <p:sp>
        <p:nvSpPr>
          <p:cNvPr id="2560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4"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1802668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24F8253F-F367-46E3-85CB-5FB53EE6DADD}" type="slidenum">
              <a:rPr lang="en-US" altLang="ro-RO">
                <a:solidFill>
                  <a:srgbClr val="FFFFFF"/>
                </a:solidFill>
                <a:latin typeface="Times New Roman" panose="02020603050405020304" pitchFamily="18" charset="0"/>
              </a:rPr>
              <a:pPr>
                <a:lnSpc>
                  <a:spcPct val="95000"/>
                </a:lnSpc>
              </a:pPr>
              <a:t>7</a:t>
            </a:fld>
            <a:endParaRPr lang="en-US" altLang="ro-RO">
              <a:solidFill>
                <a:srgbClr val="FFFFFF"/>
              </a:solidFill>
              <a:latin typeface="Times New Roman" panose="02020603050405020304" pitchFamily="18" charset="0"/>
            </a:endParaRPr>
          </a:p>
        </p:txBody>
      </p:sp>
      <p:sp>
        <p:nvSpPr>
          <p:cNvPr id="2765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195874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19B3376E-6AA8-4048-B737-582AEAEFC6E0}" type="slidenum">
              <a:rPr lang="en-US" altLang="ro-RO">
                <a:solidFill>
                  <a:srgbClr val="FFFFFF"/>
                </a:solidFill>
                <a:latin typeface="Times New Roman" panose="02020603050405020304" pitchFamily="18" charset="0"/>
              </a:rPr>
              <a:pPr>
                <a:lnSpc>
                  <a:spcPct val="95000"/>
                </a:lnSpc>
              </a:pPr>
              <a:t>8</a:t>
            </a:fld>
            <a:endParaRPr lang="en-US" altLang="ro-RO">
              <a:solidFill>
                <a:srgbClr val="FFFFFF"/>
              </a:solidFill>
              <a:latin typeface="Times New Roman" panose="02020603050405020304" pitchFamily="18" charset="0"/>
            </a:endParaRPr>
          </a:p>
        </p:txBody>
      </p:sp>
      <p:sp>
        <p:nvSpPr>
          <p:cNvPr id="2969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700"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4020316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BA13B93E-5E84-474C-9EA5-B389ED0B7B6A}" type="slidenum">
              <a:rPr lang="en-US" altLang="ro-RO">
                <a:solidFill>
                  <a:srgbClr val="FFFFFF"/>
                </a:solidFill>
                <a:latin typeface="Times New Roman" panose="02020603050405020304" pitchFamily="18" charset="0"/>
              </a:rPr>
              <a:pPr>
                <a:lnSpc>
                  <a:spcPct val="95000"/>
                </a:lnSpc>
              </a:pPr>
              <a:t>9</a:t>
            </a:fld>
            <a:endParaRPr lang="en-US" altLang="ro-RO">
              <a:solidFill>
                <a:srgbClr val="FFFFFF"/>
              </a:solidFill>
              <a:latin typeface="Times New Roman" panose="02020603050405020304" pitchFamily="18" charset="0"/>
            </a:endParaRPr>
          </a:p>
        </p:txBody>
      </p:sp>
      <p:sp>
        <p:nvSpPr>
          <p:cNvPr id="3174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3773014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3C89C65E-0DCC-40ED-A3B1-8E2082E97145}" type="slidenum">
              <a:rPr lang="en-US" altLang="ro-RO">
                <a:solidFill>
                  <a:srgbClr val="FFFFFF"/>
                </a:solidFill>
                <a:latin typeface="Times New Roman" panose="02020603050405020304" pitchFamily="18" charset="0"/>
              </a:rPr>
              <a:pPr>
                <a:lnSpc>
                  <a:spcPct val="95000"/>
                </a:lnSpc>
              </a:pPr>
              <a:t>10</a:t>
            </a:fld>
            <a:endParaRPr lang="en-US" altLang="ro-RO">
              <a:solidFill>
                <a:srgbClr val="FFFFFF"/>
              </a:solidFill>
              <a:latin typeface="Times New Roman" panose="02020603050405020304" pitchFamily="18" charset="0"/>
            </a:endParaRPr>
          </a:p>
        </p:txBody>
      </p:sp>
      <p:sp>
        <p:nvSpPr>
          <p:cNvPr id="3379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29450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72707"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72708"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72709" name="Rectangle 7"/>
          <p:cNvSpPr>
            <a:spLocks noGrp="1" noChangeArrowheads="1"/>
          </p:cNvSpPr>
          <p:nvPr>
            <p:ph type="sldNum" sz="quarter" idx="5"/>
          </p:nvPr>
        </p:nvSpPr>
        <p:spPr>
          <a:noFill/>
          <a:ln>
            <a:miter lim="800000"/>
            <a:headEnd/>
            <a:tailEnd/>
          </a:ln>
        </p:spPr>
        <p:txBody>
          <a:bodyPr/>
          <a:lstStyle/>
          <a:p>
            <a:fld id="{A1A63A25-FEC8-465A-9CB5-52BF6F6B2833}" type="slidenum">
              <a:rPr lang="en-US" altLang="en-US"/>
              <a:pPr/>
              <a:t>12</a:t>
            </a:fld>
            <a:endParaRPr lang="en-US" altLang="en-US"/>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p:spPr>
        <p:txBody>
          <a:bodyPr/>
          <a:lstStyle/>
          <a:p>
            <a:endParaRPr lang="ro-RO" altLang="en-US" smtClean="0"/>
          </a:p>
        </p:txBody>
      </p:sp>
    </p:spTree>
    <p:extLst>
      <p:ext uri="{BB962C8B-B14F-4D97-AF65-F5344CB8AC3E}">
        <p14:creationId xmlns:p14="http://schemas.microsoft.com/office/powerpoint/2010/main" val="3199236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75779"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75780"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75781" name="Rectangle 7"/>
          <p:cNvSpPr>
            <a:spLocks noGrp="1" noChangeArrowheads="1"/>
          </p:cNvSpPr>
          <p:nvPr>
            <p:ph type="sldNum" sz="quarter" idx="5"/>
          </p:nvPr>
        </p:nvSpPr>
        <p:spPr>
          <a:noFill/>
          <a:ln>
            <a:miter lim="800000"/>
            <a:headEnd/>
            <a:tailEnd/>
          </a:ln>
        </p:spPr>
        <p:txBody>
          <a:bodyPr/>
          <a:lstStyle/>
          <a:p>
            <a:fld id="{D9E43E24-DC30-416E-943C-41A8942D8405}" type="slidenum">
              <a:rPr lang="en-US" altLang="en-US"/>
              <a:pPr/>
              <a:t>13</a:t>
            </a:fld>
            <a:endParaRPr lang="en-US" altLang="en-US"/>
          </a:p>
        </p:txBody>
      </p:sp>
      <p:sp>
        <p:nvSpPr>
          <p:cNvPr id="75782" name="Rectangle 2"/>
          <p:cNvSpPr>
            <a:spLocks noGrp="1" noRot="1" noChangeAspect="1" noChangeArrowheads="1" noTextEdit="1"/>
          </p:cNvSpPr>
          <p:nvPr>
            <p:ph type="sldImg"/>
          </p:nvPr>
        </p:nvSpPr>
        <p:spPr>
          <a:ln/>
        </p:spPr>
      </p:sp>
      <p:sp>
        <p:nvSpPr>
          <p:cNvPr id="75783" name="Rectangle 3"/>
          <p:cNvSpPr>
            <a:spLocks noGrp="1" noChangeArrowheads="1"/>
          </p:cNvSpPr>
          <p:nvPr>
            <p:ph type="body" idx="1"/>
          </p:nvPr>
        </p:nvSpPr>
        <p:spPr>
          <a:noFill/>
        </p:spPr>
        <p:txBody>
          <a:bodyPr/>
          <a:lstStyle/>
          <a:p>
            <a:r>
              <a:rPr lang="en-US" altLang="en-US" smtClean="0"/>
              <a:t>This is just a graphical illustration for the participants to appreciate the dilemma that one cannot give doe to one part of the body without giving some also to other parts. Therefore one must consider always both:</a:t>
            </a:r>
          </a:p>
          <a:p>
            <a:r>
              <a:rPr lang="en-US" altLang="en-US" smtClean="0"/>
              <a:t>normal tissue and target</a:t>
            </a:r>
          </a:p>
        </p:txBody>
      </p:sp>
    </p:spTree>
    <p:extLst>
      <p:ext uri="{BB962C8B-B14F-4D97-AF65-F5344CB8AC3E}">
        <p14:creationId xmlns:p14="http://schemas.microsoft.com/office/powerpoint/2010/main" val="4023369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76803"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76804"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76805" name="Rectangle 7"/>
          <p:cNvSpPr>
            <a:spLocks noGrp="1" noChangeArrowheads="1"/>
          </p:cNvSpPr>
          <p:nvPr>
            <p:ph type="sldNum" sz="quarter" idx="5"/>
          </p:nvPr>
        </p:nvSpPr>
        <p:spPr>
          <a:noFill/>
          <a:ln>
            <a:miter lim="800000"/>
            <a:headEnd/>
            <a:tailEnd/>
          </a:ln>
        </p:spPr>
        <p:txBody>
          <a:bodyPr/>
          <a:lstStyle/>
          <a:p>
            <a:fld id="{E473E700-CC9C-4653-A4DA-EE6AC9423AF7}" type="slidenum">
              <a:rPr lang="en-US" altLang="en-US"/>
              <a:pPr/>
              <a:t>14</a:t>
            </a:fld>
            <a:endParaRPr lang="en-US" altLang="en-US"/>
          </a:p>
        </p:txBody>
      </p:sp>
      <p:sp>
        <p:nvSpPr>
          <p:cNvPr id="76806" name="Rectangle 2"/>
          <p:cNvSpPr>
            <a:spLocks noGrp="1" noRot="1" noChangeAspect="1" noChangeArrowheads="1" noTextEdit="1"/>
          </p:cNvSpPr>
          <p:nvPr>
            <p:ph type="sldImg"/>
          </p:nvPr>
        </p:nvSpPr>
        <p:spPr>
          <a:ln/>
        </p:spPr>
      </p:sp>
      <p:sp>
        <p:nvSpPr>
          <p:cNvPr id="76807" name="Rectangle 3"/>
          <p:cNvSpPr>
            <a:spLocks noGrp="1" noChangeArrowheads="1"/>
          </p:cNvSpPr>
          <p:nvPr>
            <p:ph type="body" idx="1"/>
          </p:nvPr>
        </p:nvSpPr>
        <p:spPr>
          <a:noFill/>
        </p:spPr>
        <p:txBody>
          <a:bodyPr/>
          <a:lstStyle/>
          <a:p>
            <a:r>
              <a:rPr lang="en-US" altLang="en-US" smtClean="0"/>
              <a:t>This slide summarizes many important factors of radiobiology - none is dealt with in great detail as it would be beyond the scope of the present course. However, it appears to be important to at least mention concepts such as apoptosis and chemotherapy.</a:t>
            </a:r>
          </a:p>
          <a:p>
            <a:r>
              <a:rPr lang="en-US" altLang="en-US" smtClean="0"/>
              <a:t>The complexity of tumor biology is a useful reminder to emphasize the need for a trained oncologist to head a radiotherapy program.</a:t>
            </a:r>
          </a:p>
        </p:txBody>
      </p:sp>
    </p:spTree>
    <p:extLst>
      <p:ext uri="{BB962C8B-B14F-4D97-AF65-F5344CB8AC3E}">
        <p14:creationId xmlns:p14="http://schemas.microsoft.com/office/powerpoint/2010/main" val="1449791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80899"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80900"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80901" name="Rectangle 7"/>
          <p:cNvSpPr>
            <a:spLocks noGrp="1" noChangeArrowheads="1"/>
          </p:cNvSpPr>
          <p:nvPr>
            <p:ph type="sldNum" sz="quarter" idx="5"/>
          </p:nvPr>
        </p:nvSpPr>
        <p:spPr>
          <a:noFill/>
          <a:ln>
            <a:miter lim="800000"/>
            <a:headEnd/>
            <a:tailEnd/>
          </a:ln>
        </p:spPr>
        <p:txBody>
          <a:bodyPr/>
          <a:lstStyle/>
          <a:p>
            <a:fld id="{737CAC31-B6B2-4B55-BC0D-A68D75B3A7A7}" type="slidenum">
              <a:rPr lang="en-US" altLang="en-US"/>
              <a:pPr/>
              <a:t>15</a:t>
            </a:fld>
            <a:endParaRPr lang="en-US" altLang="en-US"/>
          </a:p>
        </p:txBody>
      </p:sp>
      <p:sp>
        <p:nvSpPr>
          <p:cNvPr id="80902" name="Rectangle 2"/>
          <p:cNvSpPr>
            <a:spLocks noGrp="1" noRot="1" noChangeAspect="1" noChangeArrowheads="1" noTextEdit="1"/>
          </p:cNvSpPr>
          <p:nvPr>
            <p:ph type="sldImg"/>
          </p:nvPr>
        </p:nvSpPr>
        <p:spPr>
          <a:ln/>
        </p:spPr>
      </p:sp>
      <p:sp>
        <p:nvSpPr>
          <p:cNvPr id="80903" name="Rectangle 3"/>
          <p:cNvSpPr>
            <a:spLocks noGrp="1" noChangeArrowheads="1"/>
          </p:cNvSpPr>
          <p:nvPr>
            <p:ph type="body" idx="1"/>
          </p:nvPr>
        </p:nvSpPr>
        <p:spPr>
          <a:noFill/>
        </p:spPr>
        <p:txBody>
          <a:bodyPr/>
          <a:lstStyle/>
          <a:p>
            <a:r>
              <a:rPr lang="en-US" altLang="en-US" smtClean="0"/>
              <a:t>The differentiation of different parts of the tumor can be done with modern imaging technology - in particular PET scanning has shown some promise.</a:t>
            </a:r>
          </a:p>
          <a:p>
            <a:r>
              <a:rPr lang="en-US" altLang="en-US" smtClean="0"/>
              <a:t>The lecturer can point out that </a:t>
            </a:r>
          </a:p>
          <a:p>
            <a:r>
              <a:rPr lang="en-US" altLang="en-US" smtClean="0"/>
              <a:t>a) different target areas may require different dose</a:t>
            </a:r>
          </a:p>
          <a:p>
            <a:r>
              <a:rPr lang="en-US" altLang="en-US" smtClean="0"/>
              <a:t>b) some target areas are just suspected tumor</a:t>
            </a:r>
          </a:p>
        </p:txBody>
      </p:sp>
    </p:spTree>
    <p:extLst>
      <p:ext uri="{BB962C8B-B14F-4D97-AF65-F5344CB8AC3E}">
        <p14:creationId xmlns:p14="http://schemas.microsoft.com/office/powerpoint/2010/main" val="2533614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81923"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81924"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81925" name="Rectangle 7"/>
          <p:cNvSpPr>
            <a:spLocks noGrp="1" noChangeArrowheads="1"/>
          </p:cNvSpPr>
          <p:nvPr>
            <p:ph type="sldNum" sz="quarter" idx="5"/>
          </p:nvPr>
        </p:nvSpPr>
        <p:spPr>
          <a:noFill/>
          <a:ln>
            <a:miter lim="800000"/>
            <a:headEnd/>
            <a:tailEnd/>
          </a:ln>
        </p:spPr>
        <p:txBody>
          <a:bodyPr/>
          <a:lstStyle/>
          <a:p>
            <a:fld id="{51811FAE-CD73-49E0-A49C-F9D2389A6DAF}" type="slidenum">
              <a:rPr lang="en-US" altLang="en-US"/>
              <a:pPr/>
              <a:t>16</a:t>
            </a:fld>
            <a:endParaRPr lang="en-US" altLang="en-US"/>
          </a:p>
        </p:txBody>
      </p:sp>
      <p:sp>
        <p:nvSpPr>
          <p:cNvPr id="81926" name="Rectangle 2"/>
          <p:cNvSpPr>
            <a:spLocks noGrp="1" noRot="1" noChangeAspect="1" noChangeArrowheads="1" noTextEdit="1"/>
          </p:cNvSpPr>
          <p:nvPr>
            <p:ph type="sldImg"/>
          </p:nvPr>
        </p:nvSpPr>
        <p:spPr>
          <a:ln/>
        </p:spPr>
      </p:sp>
      <p:sp>
        <p:nvSpPr>
          <p:cNvPr id="81927" name="Rectangle 3"/>
          <p:cNvSpPr>
            <a:spLocks noGrp="1" noChangeArrowheads="1"/>
          </p:cNvSpPr>
          <p:nvPr>
            <p:ph type="body" idx="1"/>
          </p:nvPr>
        </p:nvSpPr>
        <p:spPr>
          <a:noFill/>
        </p:spPr>
        <p:txBody>
          <a:bodyPr/>
          <a:lstStyle/>
          <a:p>
            <a:r>
              <a:rPr lang="en-US" altLang="en-US" smtClean="0"/>
              <a:t>It is always important to get a feel for the order of magnitude. A bulky head and neck or lung tumor can have more than 10E12 cells</a:t>
            </a:r>
          </a:p>
        </p:txBody>
      </p:sp>
    </p:spTree>
    <p:extLst>
      <p:ext uri="{BB962C8B-B14F-4D97-AF65-F5344CB8AC3E}">
        <p14:creationId xmlns:p14="http://schemas.microsoft.com/office/powerpoint/2010/main" val="3245465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82947"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82948"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82949" name="Rectangle 7"/>
          <p:cNvSpPr>
            <a:spLocks noGrp="1" noChangeArrowheads="1"/>
          </p:cNvSpPr>
          <p:nvPr>
            <p:ph type="sldNum" sz="quarter" idx="5"/>
          </p:nvPr>
        </p:nvSpPr>
        <p:spPr>
          <a:noFill/>
          <a:ln>
            <a:miter lim="800000"/>
            <a:headEnd/>
            <a:tailEnd/>
          </a:ln>
        </p:spPr>
        <p:txBody>
          <a:bodyPr/>
          <a:lstStyle/>
          <a:p>
            <a:fld id="{FED79F9F-25FD-4E86-A84A-CB37C45A423C}" type="slidenum">
              <a:rPr lang="en-US" altLang="en-US"/>
              <a:pPr/>
              <a:t>17</a:t>
            </a:fld>
            <a:endParaRPr lang="en-US" altLang="en-US"/>
          </a:p>
        </p:txBody>
      </p:sp>
      <p:sp>
        <p:nvSpPr>
          <p:cNvPr id="82950" name="Rectangle 2"/>
          <p:cNvSpPr>
            <a:spLocks noGrp="1" noRot="1" noChangeAspect="1" noChangeArrowheads="1" noTextEdit="1"/>
          </p:cNvSpPr>
          <p:nvPr>
            <p:ph type="sldImg"/>
          </p:nvPr>
        </p:nvSpPr>
        <p:spPr>
          <a:ln/>
        </p:spPr>
      </p:sp>
      <p:sp>
        <p:nvSpPr>
          <p:cNvPr id="82951" name="Rectangle 3"/>
          <p:cNvSpPr>
            <a:spLocks noGrp="1" noChangeArrowheads="1"/>
          </p:cNvSpPr>
          <p:nvPr>
            <p:ph type="body" idx="1"/>
          </p:nvPr>
        </p:nvSpPr>
        <p:spPr>
          <a:noFill/>
        </p:spPr>
        <p:txBody>
          <a:bodyPr/>
          <a:lstStyle/>
          <a:p>
            <a:endParaRPr lang="ro-RO" altLang="en-US" smtClean="0"/>
          </a:p>
        </p:txBody>
      </p:sp>
    </p:spTree>
    <p:extLst>
      <p:ext uri="{BB962C8B-B14F-4D97-AF65-F5344CB8AC3E}">
        <p14:creationId xmlns:p14="http://schemas.microsoft.com/office/powerpoint/2010/main" val="29125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84995"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84996"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84997" name="Rectangle 7"/>
          <p:cNvSpPr>
            <a:spLocks noGrp="1" noChangeArrowheads="1"/>
          </p:cNvSpPr>
          <p:nvPr>
            <p:ph type="sldNum" sz="quarter" idx="5"/>
          </p:nvPr>
        </p:nvSpPr>
        <p:spPr>
          <a:noFill/>
          <a:ln>
            <a:miter lim="800000"/>
            <a:headEnd/>
            <a:tailEnd/>
          </a:ln>
        </p:spPr>
        <p:txBody>
          <a:bodyPr/>
          <a:lstStyle/>
          <a:p>
            <a:fld id="{C07BC439-9D95-4216-9ECC-4ECC046702F6}" type="slidenum">
              <a:rPr lang="en-US" altLang="en-US"/>
              <a:pPr/>
              <a:t>18</a:t>
            </a:fld>
            <a:endParaRPr lang="en-US" altLang="en-US"/>
          </a:p>
        </p:txBody>
      </p:sp>
      <p:sp>
        <p:nvSpPr>
          <p:cNvPr id="84998" name="Rectangle 2"/>
          <p:cNvSpPr>
            <a:spLocks noGrp="1" noRot="1" noChangeAspect="1" noChangeArrowheads="1" noTextEdit="1"/>
          </p:cNvSpPr>
          <p:nvPr>
            <p:ph type="sldImg"/>
          </p:nvPr>
        </p:nvSpPr>
        <p:spPr>
          <a:ln/>
        </p:spPr>
      </p:sp>
      <p:sp>
        <p:nvSpPr>
          <p:cNvPr id="84999" name="Rectangle 3"/>
          <p:cNvSpPr>
            <a:spLocks noGrp="1" noChangeArrowheads="1"/>
          </p:cNvSpPr>
          <p:nvPr>
            <p:ph type="body" idx="1"/>
          </p:nvPr>
        </p:nvSpPr>
        <p:spPr>
          <a:noFill/>
        </p:spPr>
        <p:txBody>
          <a:bodyPr/>
          <a:lstStyle/>
          <a:p>
            <a:endParaRPr lang="ro-RO" altLang="en-US" smtClean="0"/>
          </a:p>
        </p:txBody>
      </p:sp>
    </p:spTree>
    <p:extLst>
      <p:ext uri="{BB962C8B-B14F-4D97-AF65-F5344CB8AC3E}">
        <p14:creationId xmlns:p14="http://schemas.microsoft.com/office/powerpoint/2010/main" val="2517288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86019"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86020"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86021" name="Rectangle 7"/>
          <p:cNvSpPr>
            <a:spLocks noGrp="1" noChangeArrowheads="1"/>
          </p:cNvSpPr>
          <p:nvPr>
            <p:ph type="sldNum" sz="quarter" idx="5"/>
          </p:nvPr>
        </p:nvSpPr>
        <p:spPr>
          <a:noFill/>
          <a:ln>
            <a:miter lim="800000"/>
            <a:headEnd/>
            <a:tailEnd/>
          </a:ln>
        </p:spPr>
        <p:txBody>
          <a:bodyPr/>
          <a:lstStyle/>
          <a:p>
            <a:fld id="{0C851817-D80C-4AD7-840E-2340B52AEDB9}" type="slidenum">
              <a:rPr lang="en-US" altLang="en-US"/>
              <a:pPr/>
              <a:t>19</a:t>
            </a:fld>
            <a:endParaRPr lang="en-US" altLang="en-US"/>
          </a:p>
        </p:txBody>
      </p:sp>
      <p:sp>
        <p:nvSpPr>
          <p:cNvPr id="86022" name="Rectangle 2"/>
          <p:cNvSpPr>
            <a:spLocks noGrp="1" noRot="1" noChangeAspect="1" noChangeArrowheads="1" noTextEdit="1"/>
          </p:cNvSpPr>
          <p:nvPr>
            <p:ph type="sldImg"/>
          </p:nvPr>
        </p:nvSpPr>
        <p:spPr>
          <a:ln/>
        </p:spPr>
      </p:sp>
      <p:sp>
        <p:nvSpPr>
          <p:cNvPr id="86023" name="Rectangle 3"/>
          <p:cNvSpPr>
            <a:spLocks noGrp="1" noChangeArrowheads="1"/>
          </p:cNvSpPr>
          <p:nvPr>
            <p:ph type="body" idx="1"/>
          </p:nvPr>
        </p:nvSpPr>
        <p:spPr>
          <a:noFill/>
        </p:spPr>
        <p:txBody>
          <a:bodyPr/>
          <a:lstStyle/>
          <a:p>
            <a:endParaRPr lang="ro-RO" altLang="en-US" smtClean="0"/>
          </a:p>
        </p:txBody>
      </p:sp>
    </p:spTree>
    <p:extLst>
      <p:ext uri="{BB962C8B-B14F-4D97-AF65-F5344CB8AC3E}">
        <p14:creationId xmlns:p14="http://schemas.microsoft.com/office/powerpoint/2010/main" val="696112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6"/>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Microsoft YaHei" panose="020B0503020204020204" pitchFamily="34" charset="-122"/>
              </a:defRPr>
            </a:lvl9pPr>
          </a:lstStyle>
          <a:p>
            <a:pPr>
              <a:lnSpc>
                <a:spcPct val="95000"/>
              </a:lnSpc>
            </a:pPr>
            <a:fld id="{7B9A52A4-C12B-48E4-9734-C381BC5B6305}" type="slidenum">
              <a:rPr lang="en-US" altLang="ro-RO">
                <a:solidFill>
                  <a:srgbClr val="FFFFFF"/>
                </a:solidFill>
                <a:latin typeface="Times New Roman" panose="02020603050405020304" pitchFamily="18" charset="0"/>
              </a:rPr>
              <a:pPr>
                <a:lnSpc>
                  <a:spcPct val="95000"/>
                </a:lnSpc>
              </a:pPr>
              <a:t>20</a:t>
            </a:fld>
            <a:endParaRPr lang="en-US" altLang="ro-RO">
              <a:solidFill>
                <a:srgbClr val="FFFFFF"/>
              </a:solidFill>
              <a:latin typeface="Times New Roman" panose="02020603050405020304" pitchFamily="18" charset="0"/>
            </a:endParaRPr>
          </a:p>
        </p:txBody>
      </p:sp>
      <p:sp>
        <p:nvSpPr>
          <p:cNvPr id="3584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4" name="Rectangle 2"/>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o-RO" altLang="ro-RO" smtClean="0"/>
          </a:p>
        </p:txBody>
      </p:sp>
    </p:spTree>
    <p:extLst>
      <p:ext uri="{BB962C8B-B14F-4D97-AF65-F5344CB8AC3E}">
        <p14:creationId xmlns:p14="http://schemas.microsoft.com/office/powerpoint/2010/main" val="605733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a:noFill/>
          <a:ln>
            <a:miter lim="800000"/>
            <a:headEnd/>
            <a:tailEnd/>
          </a:ln>
        </p:spPr>
        <p:txBody>
          <a:bodyPr/>
          <a:lstStyle/>
          <a:p>
            <a:r>
              <a:rPr lang="en-US" altLang="en-US"/>
              <a:t>Part No 3, Lesson No 2</a:t>
            </a:r>
          </a:p>
        </p:txBody>
      </p:sp>
      <p:sp>
        <p:nvSpPr>
          <p:cNvPr id="129027" name="Rectangle 3"/>
          <p:cNvSpPr>
            <a:spLocks noGrp="1" noChangeArrowheads="1"/>
          </p:cNvSpPr>
          <p:nvPr>
            <p:ph type="dt" sz="quarter" idx="1"/>
          </p:nvPr>
        </p:nvSpPr>
        <p:spPr>
          <a:noFill/>
          <a:ln>
            <a:miter lim="800000"/>
            <a:headEnd/>
            <a:tailEnd/>
          </a:ln>
        </p:spPr>
        <p:txBody>
          <a:bodyPr/>
          <a:lstStyle/>
          <a:p>
            <a:r>
              <a:rPr lang="en-US" altLang="en-US"/>
              <a:t>Biology</a:t>
            </a:r>
          </a:p>
        </p:txBody>
      </p:sp>
      <p:sp>
        <p:nvSpPr>
          <p:cNvPr id="129028" name="Rectangle 6"/>
          <p:cNvSpPr>
            <a:spLocks noGrp="1" noChangeArrowheads="1"/>
          </p:cNvSpPr>
          <p:nvPr>
            <p:ph type="ftr" sz="quarter" idx="4"/>
          </p:nvPr>
        </p:nvSpPr>
        <p:spPr>
          <a:noFill/>
          <a:ln>
            <a:miter lim="800000"/>
            <a:headEnd/>
            <a:tailEnd/>
          </a:ln>
        </p:spPr>
        <p:txBody>
          <a:bodyPr/>
          <a:lstStyle/>
          <a:p>
            <a:r>
              <a:rPr lang="en-US" altLang="en-US"/>
              <a:t>IAEA Training Material: Radiation Protection in Radiotherapy</a:t>
            </a:r>
          </a:p>
        </p:txBody>
      </p:sp>
      <p:sp>
        <p:nvSpPr>
          <p:cNvPr id="129029" name="Rectangle 7"/>
          <p:cNvSpPr>
            <a:spLocks noGrp="1" noChangeArrowheads="1"/>
          </p:cNvSpPr>
          <p:nvPr>
            <p:ph type="sldNum" sz="quarter" idx="5"/>
          </p:nvPr>
        </p:nvSpPr>
        <p:spPr>
          <a:noFill/>
          <a:ln>
            <a:miter lim="800000"/>
            <a:headEnd/>
            <a:tailEnd/>
          </a:ln>
        </p:spPr>
        <p:txBody>
          <a:bodyPr/>
          <a:lstStyle/>
          <a:p>
            <a:fld id="{86794C9E-A791-4509-AD54-856690C6FE20}" type="slidenum">
              <a:rPr lang="en-US" altLang="en-US"/>
              <a:pPr/>
              <a:t>21</a:t>
            </a:fld>
            <a:endParaRPr lang="en-US" altLang="en-US"/>
          </a:p>
        </p:txBody>
      </p:sp>
      <p:sp>
        <p:nvSpPr>
          <p:cNvPr id="129030" name="Rectangle 2"/>
          <p:cNvSpPr>
            <a:spLocks noGrp="1" noRot="1" noChangeAspect="1" noChangeArrowheads="1" noTextEdit="1"/>
          </p:cNvSpPr>
          <p:nvPr>
            <p:ph type="sldImg"/>
          </p:nvPr>
        </p:nvSpPr>
        <p:spPr>
          <a:ln/>
        </p:spPr>
      </p:sp>
      <p:sp>
        <p:nvSpPr>
          <p:cNvPr id="129031" name="Rectangle 3"/>
          <p:cNvSpPr>
            <a:spLocks noGrp="1" noChangeArrowheads="1"/>
          </p:cNvSpPr>
          <p:nvPr>
            <p:ph type="body" idx="1"/>
          </p:nvPr>
        </p:nvSpPr>
        <p:spPr>
          <a:noFill/>
        </p:spPr>
        <p:txBody>
          <a:bodyPr/>
          <a:lstStyle/>
          <a:p>
            <a:r>
              <a:rPr lang="en-US" altLang="en-US" smtClean="0">
                <a:cs typeface="Times New Roman" charset="0"/>
              </a:rPr>
              <a:t>Let’s summarize the main subjects we did cover in this session. </a:t>
            </a:r>
            <a:endParaRPr lang="en-US" altLang="en-US" smtClean="0"/>
          </a:p>
        </p:txBody>
      </p:sp>
    </p:spTree>
    <p:extLst>
      <p:ext uri="{BB962C8B-B14F-4D97-AF65-F5344CB8AC3E}">
        <p14:creationId xmlns:p14="http://schemas.microsoft.com/office/powerpoint/2010/main" val="19768058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2.w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4" name="Object 2"/>
          <p:cNvGraphicFramePr>
            <a:graphicFrameLocks/>
          </p:cNvGraphicFramePr>
          <p:nvPr/>
        </p:nvGraphicFramePr>
        <p:xfrm>
          <a:off x="215900" y="84138"/>
          <a:ext cx="8693150" cy="6670675"/>
        </p:xfrm>
        <a:graphic>
          <a:graphicData uri="http://schemas.openxmlformats.org/presentationml/2006/ole">
            <mc:AlternateContent xmlns:mc="http://schemas.openxmlformats.org/markup-compatibility/2006">
              <mc:Choice xmlns:v="urn:schemas-microsoft-com:vml" Requires="v">
                <p:oleObj spid="_x0000_s137257" name="CorelDRAW" r:id="rId3" imgW="8708136" imgH="6684264" progId="">
                  <p:embed/>
                </p:oleObj>
              </mc:Choice>
              <mc:Fallback>
                <p:oleObj name="CorelDRAW" r:id="rId3" imgW="8708136" imgH="6684264" progId="">
                  <p:embed/>
                  <p:pic>
                    <p:nvPicPr>
                      <p:cNvPr id="0" name="Picture 3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84138"/>
                        <a:ext cx="8693150" cy="667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3" name="Rectangle 3"/>
          <p:cNvSpPr>
            <a:spLocks noGrp="1" noChangeArrowheads="1"/>
          </p:cNvSpPr>
          <p:nvPr>
            <p:ph type="ctrTitle" sz="quarter"/>
          </p:nvPr>
        </p:nvSpPr>
        <p:spPr>
          <a:xfrm>
            <a:off x="685800" y="249238"/>
            <a:ext cx="7772400" cy="2009775"/>
          </a:xfrm>
        </p:spPr>
        <p:txBody>
          <a:bodyPr/>
          <a:lstStyle>
            <a:lvl1pPr>
              <a:defRPr/>
            </a:lvl1pPr>
          </a:lstStyle>
          <a:p>
            <a:pPr lvl="0"/>
            <a:r>
              <a:rPr lang="en-US" altLang="en-US" noProof="0" smtClean="0"/>
              <a:t>Click to edit Master title style</a:t>
            </a:r>
          </a:p>
        </p:txBody>
      </p:sp>
      <p:sp>
        <p:nvSpPr>
          <p:cNvPr id="30724" name="Rectangle 4"/>
          <p:cNvSpPr>
            <a:spLocks noGrp="1" noChangeArrowheads="1"/>
          </p:cNvSpPr>
          <p:nvPr>
            <p:ph type="subTitle" sz="quarter" idx="1"/>
          </p:nvPr>
        </p:nvSpPr>
        <p:spPr>
          <a:xfrm>
            <a:off x="742950" y="4452938"/>
            <a:ext cx="7675563" cy="1958975"/>
          </a:xfrm>
        </p:spPr>
        <p:txBody>
          <a:bodyPr anchor="ctr"/>
          <a:lstStyle>
            <a:lvl1pPr marL="0" indent="0" algn="ctr">
              <a:buFont typeface="Monotype Sorts" pitchFamily="2" charset="2"/>
              <a:buNone/>
              <a:defRPr/>
            </a:lvl1pPr>
          </a:lstStyle>
          <a:p>
            <a:pPr lvl="0"/>
            <a:r>
              <a:rPr lang="en-US" altLang="en-US" noProof="0" smtClean="0"/>
              <a:t>Click to edit Master subtitle style</a:t>
            </a:r>
          </a:p>
        </p:txBody>
      </p:sp>
      <p:sp>
        <p:nvSpPr>
          <p:cNvPr id="5" name="Rectangle 5"/>
          <p:cNvSpPr>
            <a:spLocks noGrp="1" noChangeArrowheads="1"/>
          </p:cNvSpPr>
          <p:nvPr>
            <p:ph type="dt" sz="quarter" idx="10"/>
          </p:nvPr>
        </p:nvSpPr>
        <p:spPr>
          <a:xfrm>
            <a:off x="739775" y="6477000"/>
            <a:ext cx="1927225" cy="228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mtClean="0">
                <a:solidFill>
                  <a:schemeClr val="tx1"/>
                </a:solidFill>
              </a:defRPr>
            </a:lvl1pPr>
          </a:lstStyle>
          <a:p>
            <a:pPr>
              <a:defRPr/>
            </a:pPr>
            <a:endParaRPr lang="en-US" altLang="en-US"/>
          </a:p>
        </p:txBody>
      </p:sp>
      <p:sp>
        <p:nvSpPr>
          <p:cNvPr id="6" name="Rectangle 6"/>
          <p:cNvSpPr>
            <a:spLocks noGrp="1" noChangeArrowheads="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mtClean="0">
                <a:solidFill>
                  <a:schemeClr val="tx1"/>
                </a:solidFill>
              </a:defRPr>
            </a:lvl1pPr>
          </a:lstStyle>
          <a:p>
            <a:pPr>
              <a:defRPr/>
            </a:pPr>
            <a:r>
              <a:rPr lang="en-US" altLang="en-US"/>
              <a:t>IAEA Training Course: Radiation Protection in Radiotherapy</a:t>
            </a:r>
          </a:p>
        </p:txBody>
      </p:sp>
      <p:sp>
        <p:nvSpPr>
          <p:cNvPr id="7" name="Rectangle 7"/>
          <p:cNvSpPr>
            <a:spLocks noGrp="1" noChangeArrowheads="1"/>
          </p:cNvSpPr>
          <p:nvPr>
            <p:ph type="sldNum" sz="quarter" idx="12"/>
          </p:nvPr>
        </p:nvSpPr>
        <p:spPr>
          <a:xfrm>
            <a:off x="6553200" y="6477000"/>
            <a:ext cx="1905000" cy="228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mtClean="0">
                <a:solidFill>
                  <a:schemeClr val="tx1"/>
                </a:solidFill>
              </a:defRPr>
            </a:lvl1pPr>
          </a:lstStyle>
          <a:p>
            <a:pPr>
              <a:defRPr/>
            </a:pPr>
            <a:fld id="{472ECBDB-747C-44DA-A5E9-2712AD43B09B}"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slide </a:t>
            </a:r>
            <a:fld id="{E9B0F1A9-E07B-4EDF-960F-11DC747D4253}" type="slidenum">
              <a:rPr lang="en-US" altLang="en-US"/>
              <a:pPr>
                <a:defRPr/>
              </a:pPr>
              <a:t>‹#›</a:t>
            </a:fld>
            <a:endParaRPr lang="en-US" altLang="en-US">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slide </a:t>
            </a:r>
            <a:fld id="{71E63F1C-0177-49BB-8B89-F3FD52465296}" type="slidenum">
              <a:rPr lang="en-US" altLang="en-US"/>
              <a:pPr>
                <a:defRPr/>
              </a:pPr>
              <a:t>‹#›</a:t>
            </a:fld>
            <a:endParaRPr lang="en-US" alt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8975" y="1938338"/>
            <a:ext cx="38068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38338"/>
            <a:ext cx="38068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ltLang="en-US"/>
              <a:t>slide </a:t>
            </a:r>
            <a:fld id="{C309AEAC-D7E7-470C-9134-BC615EA4E381}" type="slidenum">
              <a:rPr lang="en-US" altLang="en-US"/>
              <a:pPr>
                <a:defRPr/>
              </a:pPr>
              <a:t>‹#›</a:t>
            </a:fld>
            <a:endParaRPr lang="en-US" alt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9" name="Rectangle 6"/>
          <p:cNvSpPr>
            <a:spLocks noGrp="1" noChangeArrowheads="1"/>
          </p:cNvSpPr>
          <p:nvPr>
            <p:ph type="sldNum" sz="quarter" idx="12"/>
          </p:nvPr>
        </p:nvSpPr>
        <p:spPr>
          <a:ln/>
        </p:spPr>
        <p:txBody>
          <a:bodyPr/>
          <a:lstStyle>
            <a:lvl1pPr>
              <a:defRPr/>
            </a:lvl1pPr>
          </a:lstStyle>
          <a:p>
            <a:pPr>
              <a:defRPr/>
            </a:pPr>
            <a:r>
              <a:rPr lang="en-US" altLang="en-US"/>
              <a:t>slide </a:t>
            </a:r>
            <a:fld id="{65472D95-632A-46E3-92D9-C58F3A864E04}" type="slidenum">
              <a:rPr lang="en-US" altLang="en-US"/>
              <a:pPr>
                <a:defRPr/>
              </a:pPr>
              <a:t>‹#›</a:t>
            </a:fld>
            <a:endParaRPr lang="en-US" altLang="en-US">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5" name="Rectangle 6"/>
          <p:cNvSpPr>
            <a:spLocks noGrp="1" noChangeArrowheads="1"/>
          </p:cNvSpPr>
          <p:nvPr>
            <p:ph type="sldNum" sz="quarter" idx="12"/>
          </p:nvPr>
        </p:nvSpPr>
        <p:spPr>
          <a:ln/>
        </p:spPr>
        <p:txBody>
          <a:bodyPr/>
          <a:lstStyle>
            <a:lvl1pPr>
              <a:defRPr/>
            </a:lvl1pPr>
          </a:lstStyle>
          <a:p>
            <a:pPr>
              <a:defRPr/>
            </a:pPr>
            <a:r>
              <a:rPr lang="en-US" altLang="en-US"/>
              <a:t>slide </a:t>
            </a:r>
            <a:fld id="{65367536-F189-4536-87D4-FAE7AE1885BC}" type="slidenum">
              <a:rPr lang="en-US" altLang="en-US"/>
              <a:pPr>
                <a:defRPr/>
              </a:pPr>
              <a:t>‹#›</a:t>
            </a:fld>
            <a:endParaRPr lang="en-US" altLang="en-US">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4" name="Rectangle 6"/>
          <p:cNvSpPr>
            <a:spLocks noGrp="1" noChangeArrowheads="1"/>
          </p:cNvSpPr>
          <p:nvPr>
            <p:ph type="sldNum" sz="quarter" idx="12"/>
          </p:nvPr>
        </p:nvSpPr>
        <p:spPr>
          <a:ln/>
        </p:spPr>
        <p:txBody>
          <a:bodyPr/>
          <a:lstStyle>
            <a:lvl1pPr>
              <a:defRPr/>
            </a:lvl1pPr>
          </a:lstStyle>
          <a:p>
            <a:pPr>
              <a:defRPr/>
            </a:pPr>
            <a:r>
              <a:rPr lang="en-US" altLang="en-US"/>
              <a:t>slide </a:t>
            </a:r>
            <a:fld id="{82116968-30B0-4FD8-890F-CF915AD1988F}" type="slidenum">
              <a:rPr lang="en-US" altLang="en-US"/>
              <a:pPr>
                <a:defRPr/>
              </a:pPr>
              <a:t>‹#›</a:t>
            </a:fld>
            <a:endParaRPr lang="en-US" altLang="en-US">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ltLang="en-US"/>
              <a:t>slide </a:t>
            </a:r>
            <a:fld id="{3992A5E9-A9E7-4AFA-A09F-0DA80AC347C8}" type="slidenum">
              <a:rPr lang="en-US" altLang="en-US"/>
              <a:pPr>
                <a:defRPr/>
              </a:pPr>
              <a:t>‹#›</a:t>
            </a:fld>
            <a:endParaRPr lang="en-US" altLang="en-US">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ltLang="en-US"/>
              <a:t>slide </a:t>
            </a:r>
            <a:fld id="{C8B551E9-1732-4687-A49A-2B9446311C59}" type="slidenum">
              <a:rPr lang="en-US" altLang="en-US"/>
              <a:pPr>
                <a:defRPr/>
              </a:pPr>
              <a:t>‹#›</a:t>
            </a:fld>
            <a:endParaRPr lang="en-US" alt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slide </a:t>
            </a:r>
            <a:fld id="{2CD27421-C377-47ED-ABE3-03957447F60E}" type="slidenum">
              <a:rPr lang="en-US" altLang="en-US"/>
              <a:pPr>
                <a:defRPr/>
              </a:pPr>
              <a:t>‹#›</a:t>
            </a:fld>
            <a:endParaRPr lang="en-US" altLang="en-US">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55197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55197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ltLang="en-US"/>
              <a:t>slide </a:t>
            </a:r>
            <a:fld id="{FC42EE88-ACDE-42F3-B20C-ACB4DED54C02}" type="slidenum">
              <a:rPr lang="en-US" altLang="en-US"/>
              <a:pPr>
                <a:defRPr/>
              </a:pPr>
              <a:t>‹#›</a:t>
            </a:fld>
            <a:endParaRPr lang="en-US" altLang="en-US">
              <a:solidFill>
                <a:schemeClr val="tx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8975" y="1938338"/>
            <a:ext cx="776605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88975" y="4071938"/>
            <a:ext cx="776605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r>
              <a:rPr lang="en-US" altLang="en-US"/>
              <a:t>Module ...</a:t>
            </a:r>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IAEA Training Course: Radiation Protection in Radiotherapy</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ltLang="en-US"/>
              <a:t>slide </a:t>
            </a:r>
            <a:fld id="{D698B700-0497-42B1-B3AD-89F2AEA6B10B}" type="slidenum">
              <a:rPr lang="en-US" altLang="en-US"/>
              <a:pPr>
                <a:defRPr/>
              </a:pPr>
              <a:t>‹#›</a:t>
            </a:fld>
            <a:endParaRPr lang="en-US" altLang="en-US">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w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alpha val="0"/>
              </a:schemeClr>
            </a:gs>
            <a:gs pos="100000">
              <a:schemeClr val="bg2">
                <a:tint val="83000"/>
                <a:satMod val="320000"/>
                <a:lumMod val="0"/>
                <a:lumOff val="100000"/>
                <a:alpha val="0"/>
              </a:schemeClr>
            </a:gs>
            <a:gs pos="100000">
              <a:schemeClr val="bg2">
                <a:shade val="15000"/>
                <a:satMod val="320000"/>
              </a:schemeClr>
            </a:gs>
          </a:gsLst>
          <a:path path="circle">
            <a:fillToRect l="10000" t="110000" r="10000" b="100000"/>
          </a:path>
          <a:tileRect/>
        </a:gradFill>
        <a:effectLst/>
      </p:bgPr>
    </p:bg>
    <p:spTree>
      <p:nvGrpSpPr>
        <p:cNvPr id="1" name=""/>
        <p:cNvGrpSpPr/>
        <p:nvPr/>
      </p:nvGrpSpPr>
      <p:grpSpPr>
        <a:xfrm>
          <a:off x="0" y="0"/>
          <a:ext cx="0" cy="0"/>
          <a:chOff x="0" y="0"/>
          <a:chExt cx="0" cy="0"/>
        </a:xfrm>
      </p:grpSpPr>
      <p:graphicFrame>
        <p:nvGraphicFramePr>
          <p:cNvPr id="1026" name="Object 2"/>
          <p:cNvGraphicFramePr>
            <a:graphicFrameLocks/>
          </p:cNvGraphicFramePr>
          <p:nvPr/>
        </p:nvGraphicFramePr>
        <p:xfrm>
          <a:off x="457200" y="304800"/>
          <a:ext cx="8229600" cy="6172200"/>
        </p:xfrm>
        <a:graphic>
          <a:graphicData uri="http://schemas.openxmlformats.org/presentationml/2006/ole">
            <mc:AlternateContent xmlns:mc="http://schemas.openxmlformats.org/markup-compatibility/2006">
              <mc:Choice xmlns:v="urn:schemas-microsoft-com:vml" Requires="v">
                <p:oleObj spid="_x0000_s1065" name="CorelDRAW" r:id="rId15" imgW="8708136" imgH="6684264" progId="">
                  <p:embed/>
                </p:oleObj>
              </mc:Choice>
              <mc:Fallback>
                <p:oleObj name="CorelDRAW" r:id="rId15" imgW="8708136" imgH="6684264" progId="">
                  <p:embed/>
                  <p:pic>
                    <p:nvPicPr>
                      <p:cNvPr id="0" name="Picture 3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7200" y="304800"/>
                        <a:ext cx="8229600" cy="6172200"/>
                      </a:xfrm>
                      <a:prstGeom prst="rect">
                        <a:avLst/>
                      </a:prstGeom>
                      <a:noFill/>
                      <a:ln>
                        <a:noFill/>
                      </a:ln>
                      <a:effectLst/>
                      <a:extLst>
                        <a:ext uri="{909E8E84-426E-40DD-AFC4-6F175D3DCCD1}">
                          <a14:hiddenFill xmlns:a14="http://schemas.microsoft.com/office/drawing/2010/main">
                            <a:solidFill>
                              <a:srgbClr val="6666B4"/>
                            </a:solidFill>
                          </a14:hiddenFill>
                        </a:ex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pic>
                </p:oleObj>
              </mc:Fallback>
            </mc:AlternateContent>
          </a:graphicData>
        </a:graphic>
      </p:graphicFrame>
      <p:sp>
        <p:nvSpPr>
          <p:cNvPr id="29699" name="Rectangle 3"/>
          <p:cNvSpPr>
            <a:spLocks noGrp="1" noChangeArrowheads="1"/>
          </p:cNvSpPr>
          <p:nvPr>
            <p:ph type="title"/>
          </p:nvPr>
        </p:nvSpPr>
        <p:spPr bwMode="auto">
          <a:xfrm>
            <a:off x="685800" y="5334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smtClean="0"/>
              <a:t>Click to edit Master title style</a:t>
            </a:r>
          </a:p>
        </p:txBody>
      </p:sp>
      <p:sp>
        <p:nvSpPr>
          <p:cNvPr id="29700" name="Rectangle 4"/>
          <p:cNvSpPr>
            <a:spLocks noGrp="1" noChangeArrowheads="1"/>
          </p:cNvSpPr>
          <p:nvPr>
            <p:ph type="dt" sz="half" idx="2"/>
          </p:nvPr>
        </p:nvSpPr>
        <p:spPr bwMode="auto">
          <a:xfrm>
            <a:off x="609600" y="64770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800" smtClean="0">
                <a:solidFill>
                  <a:srgbClr val="CCFFFF"/>
                </a:solidFill>
                <a:latin typeface="+mn-lt"/>
              </a:defRPr>
            </a:lvl1pPr>
          </a:lstStyle>
          <a:p>
            <a:pPr>
              <a:defRPr/>
            </a:pPr>
            <a:r>
              <a:rPr lang="en-US" altLang="en-US"/>
              <a:t>Module ...</a:t>
            </a:r>
          </a:p>
        </p:txBody>
      </p:sp>
      <p:sp>
        <p:nvSpPr>
          <p:cNvPr id="29701" name="Rectangle 5"/>
          <p:cNvSpPr>
            <a:spLocks noGrp="1" noChangeArrowheads="1"/>
          </p:cNvSpPr>
          <p:nvPr>
            <p:ph type="ftr" sz="quarter" idx="3"/>
          </p:nvPr>
        </p:nvSpPr>
        <p:spPr bwMode="auto">
          <a:xfrm>
            <a:off x="3124200" y="64770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smtClean="0">
                <a:solidFill>
                  <a:srgbClr val="CCFFFF"/>
                </a:solidFill>
                <a:latin typeface="+mn-lt"/>
              </a:defRPr>
            </a:lvl1pPr>
          </a:lstStyle>
          <a:p>
            <a:pPr>
              <a:defRPr/>
            </a:pPr>
            <a:r>
              <a:rPr lang="en-US" altLang="en-US"/>
              <a:t>IAEA Training Course: Radiation Protection in Radiotherapy</a:t>
            </a:r>
          </a:p>
        </p:txBody>
      </p:sp>
      <p:sp>
        <p:nvSpPr>
          <p:cNvPr id="29702" name="Rectangle 6"/>
          <p:cNvSpPr>
            <a:spLocks noGrp="1" noChangeArrowheads="1"/>
          </p:cNvSpPr>
          <p:nvPr>
            <p:ph type="sldNum" sz="quarter" idx="4"/>
          </p:nvPr>
        </p:nvSpPr>
        <p:spPr bwMode="auto">
          <a:xfrm>
            <a:off x="6203950" y="64770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800" smtClean="0">
                <a:solidFill>
                  <a:srgbClr val="CCFFFF"/>
                </a:solidFill>
                <a:latin typeface="+mn-lt"/>
              </a:defRPr>
            </a:lvl1pPr>
          </a:lstStyle>
          <a:p>
            <a:pPr>
              <a:defRPr/>
            </a:pPr>
            <a:r>
              <a:rPr lang="en-US" altLang="en-US"/>
              <a:t>slide </a:t>
            </a:r>
            <a:fld id="{4E8F63B3-AD0B-4148-8903-37F17A639D16}" type="slidenum">
              <a:rPr lang="en-US" altLang="en-US"/>
              <a:pPr>
                <a:defRPr/>
              </a:pPr>
              <a:t>‹#›</a:t>
            </a:fld>
            <a:endParaRPr lang="en-US" altLang="en-US">
              <a:solidFill>
                <a:schemeClr val="tx1"/>
              </a:solidFill>
            </a:endParaRPr>
          </a:p>
        </p:txBody>
      </p:sp>
      <p:sp>
        <p:nvSpPr>
          <p:cNvPr id="29703" name="Rectangle 7"/>
          <p:cNvSpPr>
            <a:spLocks noGrp="1" noChangeArrowheads="1"/>
          </p:cNvSpPr>
          <p:nvPr>
            <p:ph type="body" idx="1"/>
          </p:nvPr>
        </p:nvSpPr>
        <p:spPr bwMode="auto">
          <a:xfrm>
            <a:off x="688975" y="1938338"/>
            <a:ext cx="77660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mj-lt"/>
          <a:ea typeface="+mj-ea"/>
          <a:cs typeface="+mj-cs"/>
        </a:defRPr>
      </a:lvl1pPr>
      <a:lvl2pPr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2pPr>
      <a:lvl3pPr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3pPr>
      <a:lvl4pPr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4pPr>
      <a:lvl5pPr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5pPr>
      <a:lvl6pPr marL="457200"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6pPr>
      <a:lvl7pPr marL="914400"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7pPr>
      <a:lvl8pPr marL="1371600"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8pPr>
      <a:lvl9pPr marL="1828800" algn="l" rtl="0" eaLnBrk="1" fontAlgn="base" hangingPunct="1">
        <a:spcBef>
          <a:spcPct val="0"/>
        </a:spcBef>
        <a:spcAft>
          <a:spcPct val="0"/>
        </a:spcAft>
        <a:defRPr sz="4400">
          <a:solidFill>
            <a:srgbClr val="FFFF00"/>
          </a:solidFill>
          <a:effectLst>
            <a:outerShdw blurRad="38100" dist="38100" dir="2700000" algn="tl">
              <a:srgbClr val="000000"/>
            </a:outerShdw>
          </a:effectLst>
          <a:latin typeface="Arial" charset="0"/>
        </a:defRPr>
      </a:lvl9pPr>
    </p:titleStyle>
    <p:bodyStyle>
      <a:lvl1pPr marL="342900" indent="-342900" algn="l" rtl="0" eaLnBrk="1" fontAlgn="base" hangingPunct="1">
        <a:spcBef>
          <a:spcPct val="20000"/>
        </a:spcBef>
        <a:spcAft>
          <a:spcPct val="0"/>
        </a:spcAft>
        <a:buClr>
          <a:srgbClr val="FFFF00"/>
        </a:buClr>
        <a:buSzPct val="75000"/>
        <a:buFont typeface="Monotype Sorts" pitchFamily="2" charset="2"/>
        <a:buChar char="l"/>
        <a:defRPr sz="3200">
          <a:solidFill>
            <a:srgbClr val="FFCC00"/>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rgbClr val="FFFF00"/>
        </a:buClr>
        <a:buSzPct val="75000"/>
        <a:buFont typeface="Monotype Sorts" pitchFamily="2" charset="2"/>
        <a:buChar char="n"/>
        <a:defRPr sz="2800">
          <a:solidFill>
            <a:srgbClr val="FFCC00"/>
          </a:solidFill>
          <a:effectLst>
            <a:outerShdw blurRad="38100" dist="38100" dir="2700000" algn="tl">
              <a:srgbClr val="000000"/>
            </a:outerShdw>
          </a:effectLst>
          <a:latin typeface="+mn-lt"/>
        </a:defRPr>
      </a:lvl2pPr>
      <a:lvl3pPr marL="1257300" indent="-342900" algn="l" rtl="0" eaLnBrk="1" fontAlgn="base" hangingPunct="1">
        <a:spcBef>
          <a:spcPct val="20000"/>
        </a:spcBef>
        <a:spcAft>
          <a:spcPct val="0"/>
        </a:spcAft>
        <a:buClr>
          <a:srgbClr val="FFFF00"/>
        </a:buClr>
        <a:buSzPct val="100000"/>
        <a:buFont typeface="Monotype Sorts" pitchFamily="2" charset="2"/>
        <a:buChar char="s"/>
        <a:defRPr sz="2400">
          <a:solidFill>
            <a:srgbClr val="FFCC00"/>
          </a:solidFill>
          <a:effectLst>
            <a:outerShdw blurRad="38100" dist="38100" dir="2700000" algn="tl">
              <a:srgbClr val="000000"/>
            </a:outerShdw>
          </a:effectLst>
          <a:latin typeface="+mn-lt"/>
        </a:defRPr>
      </a:lvl3pPr>
      <a:lvl4pPr marL="1706563" indent="-334963" algn="l" rtl="0" eaLnBrk="1" fontAlgn="base" hangingPunct="1">
        <a:spcBef>
          <a:spcPct val="20000"/>
        </a:spcBef>
        <a:spcAft>
          <a:spcPct val="0"/>
        </a:spcAft>
        <a:buClr>
          <a:srgbClr val="FFFF00"/>
        </a:buClr>
        <a:buSzPct val="100000"/>
        <a:buFont typeface="Monotype Sorts" pitchFamily="2" charset="2"/>
        <a:buChar char="u"/>
        <a:defRPr sz="2400">
          <a:solidFill>
            <a:srgbClr val="FFCC00"/>
          </a:solidFill>
          <a:effectLst>
            <a:outerShdw blurRad="38100" dist="38100" dir="2700000" algn="tl">
              <a:srgbClr val="000000"/>
            </a:outerShdw>
          </a:effectLst>
          <a:latin typeface="+mn-lt"/>
        </a:defRPr>
      </a:lvl4pPr>
      <a:lvl5pPr marL="2228850" indent="-400050" algn="l" rtl="0" eaLnBrk="1" fontAlgn="base" hangingPunct="1">
        <a:spcBef>
          <a:spcPct val="20000"/>
        </a:spcBef>
        <a:spcAft>
          <a:spcPct val="0"/>
        </a:spcAft>
        <a:buClr>
          <a:srgbClr val="FFFF00"/>
        </a:buClr>
        <a:buSzPct val="100000"/>
        <a:buFont typeface="Monotype Sorts" pitchFamily="2" charset="2"/>
        <a:buChar char="è"/>
        <a:defRPr sz="2400">
          <a:solidFill>
            <a:srgbClr val="FFCC00"/>
          </a:solidFill>
          <a:effectLst>
            <a:outerShdw blurRad="38100" dist="38100" dir="2700000" algn="tl">
              <a:srgbClr val="000000"/>
            </a:outerShdw>
          </a:effectLst>
          <a:latin typeface="+mn-lt"/>
        </a:defRPr>
      </a:lvl5pPr>
      <a:lvl6pPr marL="2686050" indent="-400050" algn="l" rtl="0" eaLnBrk="1" fontAlgn="base" hangingPunct="1">
        <a:spcBef>
          <a:spcPct val="20000"/>
        </a:spcBef>
        <a:spcAft>
          <a:spcPct val="0"/>
        </a:spcAft>
        <a:buClr>
          <a:srgbClr val="FFFF00"/>
        </a:buClr>
        <a:buSzPct val="100000"/>
        <a:buFont typeface="Monotype Sorts" pitchFamily="2" charset="2"/>
        <a:buChar char="è"/>
        <a:defRPr sz="2400">
          <a:solidFill>
            <a:srgbClr val="FFCC00"/>
          </a:solidFill>
          <a:effectLst>
            <a:outerShdw blurRad="38100" dist="38100" dir="2700000" algn="tl">
              <a:srgbClr val="000000"/>
            </a:outerShdw>
          </a:effectLst>
          <a:latin typeface="+mn-lt"/>
        </a:defRPr>
      </a:lvl6pPr>
      <a:lvl7pPr marL="3143250" indent="-400050" algn="l" rtl="0" eaLnBrk="1" fontAlgn="base" hangingPunct="1">
        <a:spcBef>
          <a:spcPct val="20000"/>
        </a:spcBef>
        <a:spcAft>
          <a:spcPct val="0"/>
        </a:spcAft>
        <a:buClr>
          <a:srgbClr val="FFFF00"/>
        </a:buClr>
        <a:buSzPct val="100000"/>
        <a:buFont typeface="Monotype Sorts" pitchFamily="2" charset="2"/>
        <a:buChar char="è"/>
        <a:defRPr sz="2400">
          <a:solidFill>
            <a:srgbClr val="FFCC00"/>
          </a:solidFill>
          <a:effectLst>
            <a:outerShdw blurRad="38100" dist="38100" dir="2700000" algn="tl">
              <a:srgbClr val="000000"/>
            </a:outerShdw>
          </a:effectLst>
          <a:latin typeface="+mn-lt"/>
        </a:defRPr>
      </a:lvl7pPr>
      <a:lvl8pPr marL="3600450" indent="-400050" algn="l" rtl="0" eaLnBrk="1" fontAlgn="base" hangingPunct="1">
        <a:spcBef>
          <a:spcPct val="20000"/>
        </a:spcBef>
        <a:spcAft>
          <a:spcPct val="0"/>
        </a:spcAft>
        <a:buClr>
          <a:srgbClr val="FFFF00"/>
        </a:buClr>
        <a:buSzPct val="100000"/>
        <a:buFont typeface="Monotype Sorts" pitchFamily="2" charset="2"/>
        <a:buChar char="è"/>
        <a:defRPr sz="2400">
          <a:solidFill>
            <a:srgbClr val="FFCC00"/>
          </a:solidFill>
          <a:effectLst>
            <a:outerShdw blurRad="38100" dist="38100" dir="2700000" algn="tl">
              <a:srgbClr val="000000"/>
            </a:outerShdw>
          </a:effectLst>
          <a:latin typeface="+mn-lt"/>
        </a:defRPr>
      </a:lvl8pPr>
      <a:lvl9pPr marL="4057650" indent="-400050" algn="l" rtl="0" eaLnBrk="1" fontAlgn="base" hangingPunct="1">
        <a:spcBef>
          <a:spcPct val="20000"/>
        </a:spcBef>
        <a:spcAft>
          <a:spcPct val="0"/>
        </a:spcAft>
        <a:buClr>
          <a:srgbClr val="FFFF00"/>
        </a:buClr>
        <a:buSzPct val="100000"/>
        <a:buFont typeface="Monotype Sorts" pitchFamily="2" charset="2"/>
        <a:buChar char="è"/>
        <a:defRPr sz="2400">
          <a:solidFill>
            <a:srgbClr val="FFCC00"/>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0" y="609600"/>
            <a:ext cx="91440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defRPr/>
            </a:pPr>
            <a:r>
              <a:rPr lang="en-US" sz="3600" b="1" dirty="0">
                <a:solidFill>
                  <a:srgbClr val="000000"/>
                </a:solidFill>
                <a:effectLst/>
              </a:rPr>
              <a:t>Notions de </a:t>
            </a:r>
            <a:r>
              <a:rPr lang="en-US" sz="3600" b="1" dirty="0" err="1">
                <a:solidFill>
                  <a:srgbClr val="000000"/>
                </a:solidFill>
                <a:effectLst/>
              </a:rPr>
              <a:t>radiobiologie</a:t>
            </a:r>
            <a:r>
              <a:rPr lang="en-US" sz="5400" b="1" dirty="0"/>
              <a:t/>
            </a:r>
            <a:br>
              <a:rPr lang="en-US" sz="5400" b="1" dirty="0"/>
            </a:br>
            <a:endParaRPr lang="en-US" altLang="en-US" sz="5400" dirty="0" smtClean="0">
              <a:solidFill>
                <a:srgbClr val="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254978" name="Picture 2" descr="C:\Users\marius-pc\Pictures\dna-strand.jpg"/>
          <p:cNvPicPr>
            <a:picLocks noChangeAspect="1" noChangeArrowheads="1"/>
          </p:cNvPicPr>
          <p:nvPr/>
        </p:nvPicPr>
        <p:blipFill>
          <a:blip r:embed="rId2" cstate="print"/>
          <a:srcRect/>
          <a:stretch>
            <a:fillRect/>
          </a:stretch>
        </p:blipFill>
        <p:spPr bwMode="auto">
          <a:xfrm>
            <a:off x="2133600" y="2590800"/>
            <a:ext cx="4649313" cy="34290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980" name="Shape 254980"/>
        <p:cNvGrpSpPr/>
        <p:nvPr/>
      </p:nvGrpSpPr>
      <p:grpSpPr>
        <a:xfrm>
          <a:off x="0" y="0"/>
          <a:ext cx="0" cy="0"/>
          <a:chOff x="0" y="0"/>
          <a:chExt cx="0" cy="0"/>
        </a:xfrm>
      </p:grpSpPr>
      <p:sp>
        <p:nvSpPr>
          <p:cNvPr id="254981" name="Google Shape;254981;p1"/>
          <p:cNvSpPr txBox="1"/>
          <p:nvPr>
            <p:ph type="title"/>
          </p:nvPr>
        </p:nvSpPr>
        <p:spPr>
          <a:xfrm>
            <a:off x="456977" y="624423"/>
            <a:ext cx="8228700" cy="1017000"/>
          </a:xfrm>
          <a:prstGeom prst="rect">
            <a:avLst/>
          </a:prstGeom>
          <a:noFill/>
          <a:ln>
            <a:noFill/>
          </a:ln>
        </p:spPr>
        <p:txBody>
          <a:bodyPr anchorCtr="0" anchor="ctr" bIns="46025" lIns="92075" spcFirstLastPara="1" rIns="92075" wrap="square" tIns="33175">
            <a:noAutofit/>
          </a:bodyPr>
          <a:lstStyle/>
          <a:p>
            <a:pPr indent="0" lvl="0" marL="0" rtl="0" algn="ctr">
              <a:spcBef>
                <a:spcPts val="0"/>
              </a:spcBef>
              <a:spcAft>
                <a:spcPts val="0"/>
              </a:spcAft>
              <a:buNone/>
            </a:pPr>
            <a:r>
              <a:rPr b="1" lang="fr-FR" sz="3600">
                <a:solidFill>
                  <a:srgbClr val="000000"/>
                </a:solidFill>
              </a:rPr>
              <a:t>Physique des rayonnements</a:t>
            </a:r>
            <a:br>
              <a:rPr b="1" lang="fr-FR" sz="3600">
                <a:solidFill>
                  <a:srgbClr val="000000"/>
                </a:solidFill>
              </a:rPr>
            </a:br>
            <a:endParaRPr b="1" sz="3600">
              <a:solidFill>
                <a:srgbClr val="000000"/>
              </a:solidFill>
            </a:endParaRPr>
          </a:p>
        </p:txBody>
      </p:sp>
      <p:pic>
        <p:nvPicPr>
          <p:cNvPr id="254982" name="Google Shape;254982;p1"/>
          <p:cNvPicPr preferRelativeResize="0"/>
          <p:nvPr/>
        </p:nvPicPr>
        <p:blipFill rotWithShape="1">
          <a:blip r:embed="rId3">
            <a:alphaModFix/>
          </a:blip>
          <a:srcRect b="0" l="0" r="0" t="0"/>
          <a:stretch/>
        </p:blipFill>
        <p:spPr>
          <a:xfrm>
            <a:off x="3784240" y="2703215"/>
            <a:ext cx="5247758" cy="2550703"/>
          </a:xfrm>
          <a:prstGeom prst="rect">
            <a:avLst/>
          </a:prstGeom>
          <a:noFill/>
          <a:ln>
            <a:noFill/>
          </a:ln>
        </p:spPr>
      </p:pic>
      <p:sp>
        <p:nvSpPr>
          <p:cNvPr id="254983" name="Google Shape;254983;p1"/>
          <p:cNvSpPr/>
          <p:nvPr/>
        </p:nvSpPr>
        <p:spPr>
          <a:xfrm>
            <a:off x="9331" y="3124200"/>
            <a:ext cx="4419600" cy="205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342900" lvl="1" marL="800100" marR="0" rtl="0" algn="l">
              <a:spcBef>
                <a:spcPts val="0"/>
              </a:spcBef>
              <a:spcAft>
                <a:spcPts val="0"/>
              </a:spcAft>
              <a:buClr>
                <a:srgbClr val="000000"/>
              </a:buClr>
              <a:buSzPts val="2400"/>
              <a:buFont typeface="Arial"/>
              <a:buChar char="•"/>
            </a:pPr>
            <a:r>
              <a:rPr b="0" i="0" lang="fr-FR" sz="2400" u="none" cap="none" strike="noStrike">
                <a:solidFill>
                  <a:srgbClr val="000000"/>
                </a:solidFill>
                <a:latin typeface="Arial"/>
                <a:ea typeface="Arial"/>
                <a:cs typeface="Arial"/>
                <a:sym typeface="Arial"/>
              </a:rPr>
              <a:t>type</a:t>
            </a:r>
            <a:endParaRPr/>
          </a:p>
          <a:p>
            <a:pPr indent="-342900" lvl="1" marL="800100" marR="0" rtl="0" algn="l">
              <a:spcBef>
                <a:spcPts val="0"/>
              </a:spcBef>
              <a:spcAft>
                <a:spcPts val="0"/>
              </a:spcAft>
              <a:buClr>
                <a:srgbClr val="000000"/>
              </a:buClr>
              <a:buSzPts val="2400"/>
              <a:buFont typeface="Arial"/>
              <a:buChar char="•"/>
            </a:pPr>
            <a:r>
              <a:rPr b="0" i="0" lang="fr-FR" sz="2400" u="none" cap="none" strike="noStrike">
                <a:solidFill>
                  <a:srgbClr val="000000"/>
                </a:solidFill>
                <a:latin typeface="Arial"/>
                <a:ea typeface="Arial"/>
                <a:cs typeface="Arial"/>
                <a:sym typeface="Arial"/>
              </a:rPr>
              <a:t>interactions </a:t>
            </a:r>
            <a:endParaRPr/>
          </a:p>
          <a:p>
            <a:pPr indent="-342900" lvl="1" marL="800100" marR="0" rtl="0" algn="l">
              <a:spcBef>
                <a:spcPts val="0"/>
              </a:spcBef>
              <a:spcAft>
                <a:spcPts val="0"/>
              </a:spcAft>
              <a:buClr>
                <a:srgbClr val="000000"/>
              </a:buClr>
              <a:buSzPts val="2400"/>
              <a:buFont typeface="Arial"/>
              <a:buChar char="•"/>
            </a:pPr>
            <a:r>
              <a:rPr lang="fr-FR" sz="2400"/>
              <a:t>Caracteristique</a:t>
            </a:r>
            <a:endParaRPr/>
          </a:p>
          <a:p>
            <a:pPr indent="-190500" lvl="1" marL="1350919" marR="0" rtl="0" algn="l">
              <a:lnSpc>
                <a:spcPct val="15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456977" y="624423"/>
            <a:ext cx="8228555" cy="1016995"/>
          </a:xfrm>
        </p:spPr>
        <p:txBody>
          <a:bodyPr vert="horz" wrap="square" lIns="92075" tIns="33188" rIns="92075" bIns="46038" numCol="1" anchor="ctr" anchorCtr="0" compatLnSpc="1">
            <a:prstTxWarp prst="textNoShape">
              <a:avLst/>
            </a:prstTxWarp>
          </a:bodyPr>
          <a:lstStyle/>
          <a:p>
            <a:pPr algn="ct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r>
              <a:rPr lang="en-US" sz="3600" b="1" dirty="0">
                <a:solidFill>
                  <a:srgbClr val="000000"/>
                </a:solidFill>
                <a:effectLst/>
              </a:rPr>
              <a:t>2 types de </a:t>
            </a:r>
            <a:r>
              <a:rPr lang="en-US" sz="3600" b="1" dirty="0" err="1">
                <a:solidFill>
                  <a:srgbClr val="000000"/>
                </a:solidFill>
                <a:effectLst/>
              </a:rPr>
              <a:t>rayonnement</a:t>
            </a:r>
            <a:r>
              <a:rPr lang="en-US" sz="4000" b="1" dirty="0">
                <a:effectLst/>
              </a:rPr>
              <a:t/>
            </a:r>
            <a:br>
              <a:rPr lang="en-US" sz="4000" b="1" dirty="0">
                <a:effectLst/>
              </a:rPr>
            </a:br>
            <a:endParaRPr lang="en-US" altLang="ro-RO" sz="4000" b="1" dirty="0">
              <a:solidFill>
                <a:srgbClr val="000000"/>
              </a:solidFill>
              <a:effectLst/>
            </a:endParaRPr>
          </a:p>
        </p:txBody>
      </p:sp>
      <p:sp>
        <p:nvSpPr>
          <p:cNvPr id="16387" name="Rectangle 2"/>
          <p:cNvSpPr>
            <a:spLocks noGrp="1" noChangeArrowheads="1"/>
          </p:cNvSpPr>
          <p:nvPr>
            <p:ph type="body" idx="1"/>
          </p:nvPr>
        </p:nvSpPr>
        <p:spPr>
          <a:xfrm>
            <a:off x="458269" y="1295400"/>
            <a:ext cx="8228555" cy="3449721"/>
          </a:xfrm>
        </p:spPr>
        <p:txBody>
          <a:bodyPr/>
          <a:lstStyle/>
          <a:p>
            <a:endParaRPr lang="fr-FR" dirty="0"/>
          </a:p>
          <a:p>
            <a:pPr lvl="1"/>
            <a:r>
              <a:rPr lang="fr-FR" sz="2400" dirty="0">
                <a:solidFill>
                  <a:srgbClr val="000000"/>
                </a:solidFill>
                <a:effectLst/>
                <a:latin typeface="+mj-lt"/>
              </a:rPr>
              <a:t>Électromagnétique (le plus utilisé en radiothérapie)</a:t>
            </a:r>
            <a:endParaRPr lang="fr-FR" sz="2400" dirty="0">
              <a:solidFill>
                <a:srgbClr val="000000"/>
              </a:solidFill>
              <a:latin typeface="+mj-lt"/>
            </a:endParaRPr>
          </a:p>
          <a:p>
            <a:pPr lvl="1"/>
            <a:r>
              <a:rPr lang="fr-FR" sz="2400" dirty="0" smtClean="0">
                <a:solidFill>
                  <a:srgbClr val="000000"/>
                </a:solidFill>
                <a:effectLst/>
                <a:latin typeface="+mj-lt"/>
              </a:rPr>
              <a:t>Corpusculaire</a:t>
            </a:r>
            <a:endParaRPr lang="fr-FR" sz="2400" dirty="0">
              <a:solidFill>
                <a:srgbClr val="000000"/>
              </a:solidFill>
              <a:latin typeface="+mj-lt"/>
            </a:endParaRPr>
          </a:p>
          <a:p>
            <a:r>
              <a:rPr lang="fr-FR" sz="2400" dirty="0">
                <a:solidFill>
                  <a:srgbClr val="000000"/>
                </a:solidFill>
                <a:effectLst/>
                <a:latin typeface="+mj-lt"/>
              </a:rPr>
              <a:t>Ils produisent 2 phénomènes importants</a:t>
            </a:r>
            <a:endParaRPr lang="fr-FR" sz="2400" dirty="0">
              <a:solidFill>
                <a:srgbClr val="000000"/>
              </a:solidFill>
              <a:latin typeface="+mj-lt"/>
            </a:endParaRPr>
          </a:p>
          <a:p>
            <a:pPr lvl="1"/>
            <a:r>
              <a:rPr lang="fr-FR" sz="2400" dirty="0">
                <a:solidFill>
                  <a:srgbClr val="000000"/>
                </a:solidFill>
                <a:effectLst/>
                <a:latin typeface="+mj-lt"/>
              </a:rPr>
              <a:t>Excitation - transfert d'énergie sous forme de chaleur </a:t>
            </a:r>
            <a:endParaRPr lang="fr-FR" sz="2400" dirty="0">
              <a:solidFill>
                <a:srgbClr val="000000"/>
              </a:solidFill>
              <a:latin typeface="+mj-lt"/>
            </a:endParaRPr>
          </a:p>
          <a:p>
            <a:pPr lvl="1"/>
            <a:r>
              <a:rPr lang="fr-FR" sz="2400" dirty="0">
                <a:solidFill>
                  <a:srgbClr val="000000"/>
                </a:solidFill>
                <a:effectLst/>
                <a:latin typeface="+mj-lt"/>
              </a:rPr>
              <a:t>Ionisation - effet biologique</a:t>
            </a:r>
            <a:endParaRPr lang="fr-FR" sz="2400" dirty="0">
              <a:solidFill>
                <a:srgbClr val="000000"/>
              </a:solidFill>
              <a:latin typeface="+mj-lt"/>
            </a:endParaRPr>
          </a:p>
          <a:p>
            <a:pPr marL="406194" lvl="1" indent="-304646">
              <a:buClrTx/>
              <a:buSzPct val="45000"/>
              <a:buFont typeface="Wingdings" panose="05000000000000000000" pitchFamily="2" charset="2"/>
              <a:buChar cha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endParaRPr lang="en-US" altLang="ro-RO" sz="2000" dirty="0" smtClean="0">
              <a:solidFill>
                <a:srgbClr val="000000"/>
              </a:solidFill>
              <a:effectLst/>
            </a:endParaRPr>
          </a:p>
        </p:txBody>
      </p:sp>
      <p:pic>
        <p:nvPicPr>
          <p:cNvPr id="16388" name="Picture 3"/>
          <p:cNvPicPr>
            <a:picLocks noChangeAspect="1" noChangeArrowheads="1"/>
          </p:cNvPicPr>
          <p:nvPr/>
        </p:nvPicPr>
        <p:blipFill>
          <a:blip r:embed="rId3">
            <a:extLst>
              <a:ext uri="{28A0092B-C50C-407E-A947-70E740481C1C}">
                <a14:useLocalDpi xmlns:a14="http://schemas.microsoft.com/office/drawing/2010/main" val="0"/>
              </a:ext>
            </a:extLst>
          </a:blip>
          <a:srcRect t="15288"/>
          <a:stretch>
            <a:fillRect/>
          </a:stretch>
        </p:blipFill>
        <p:spPr bwMode="auto">
          <a:xfrm>
            <a:off x="527166" y="4928361"/>
            <a:ext cx="8089669" cy="1548640"/>
          </a:xfrm>
          <a:prstGeom prst="rect">
            <a:avLst/>
          </a:prstGeom>
          <a:noFill/>
          <a:ln>
            <a:noFill/>
          </a:ln>
          <a:effectLst/>
          <a:extLst>
            <a:ext uri="{909E8E84-426E-40DD-AFC4-6F175D3DCCD1}">
              <a14:hiddenFill xmlns:a14="http://schemas.microsoft.com/office/drawing/2010/main">
                <a:blipFill dpi="0" rotWithShape="0">
                  <a:blip/>
                  <a:srcRect t="15288"/>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2508723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 calcmode="lin" valueType="num">
                                      <p:cBhvr>
                                        <p:cTn id="7" dur="500" fill="hold"/>
                                        <p:tgtEl>
                                          <p:spTgt spid="1638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638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6387">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387">
                                            <p:txEl>
                                              <p:pRg st="2" end="2"/>
                                            </p:txEl>
                                          </p:spTgt>
                                        </p:tgtEl>
                                        <p:attrNameLst>
                                          <p:attrName>style.visibility</p:attrName>
                                        </p:attrNameLst>
                                      </p:cBhvr>
                                      <p:to>
                                        <p:strVal val="visible"/>
                                      </p:to>
                                    </p:set>
                                    <p:anim calcmode="lin" valueType="num">
                                      <p:cBhvr>
                                        <p:cTn id="14" dur="500" fill="hold"/>
                                        <p:tgtEl>
                                          <p:spTgt spid="16387">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16387">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1638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anim calcmode="lin" valueType="num">
                                      <p:cBhvr>
                                        <p:cTn id="21" dur="500" fill="hold"/>
                                        <p:tgtEl>
                                          <p:spTgt spid="16387">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16387">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1638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6387">
                                            <p:txEl>
                                              <p:pRg st="4" end="4"/>
                                            </p:txEl>
                                          </p:spTgt>
                                        </p:tgtEl>
                                        <p:attrNameLst>
                                          <p:attrName>style.visibility</p:attrName>
                                        </p:attrNameLst>
                                      </p:cBhvr>
                                      <p:to>
                                        <p:strVal val="visible"/>
                                      </p:to>
                                    </p:set>
                                    <p:anim calcmode="lin" valueType="num">
                                      <p:cBhvr>
                                        <p:cTn id="28" dur="500" fill="hold"/>
                                        <p:tgtEl>
                                          <p:spTgt spid="16387">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16387">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1638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6387">
                                            <p:txEl>
                                              <p:pRg st="5" end="5"/>
                                            </p:txEl>
                                          </p:spTgt>
                                        </p:tgtEl>
                                        <p:attrNameLst>
                                          <p:attrName>style.visibility</p:attrName>
                                        </p:attrNameLst>
                                      </p:cBhvr>
                                      <p:to>
                                        <p:strVal val="visible"/>
                                      </p:to>
                                    </p:set>
                                    <p:anim calcmode="lin" valueType="num">
                                      <p:cBhvr>
                                        <p:cTn id="35" dur="500" fill="hold"/>
                                        <p:tgtEl>
                                          <p:spTgt spid="16387">
                                            <p:txEl>
                                              <p:pRg st="5" end="5"/>
                                            </p:txEl>
                                          </p:spTgt>
                                        </p:tgtEl>
                                        <p:attrNameLst>
                                          <p:attrName>ppt_w</p:attrName>
                                        </p:attrNameLst>
                                      </p:cBhvr>
                                      <p:tavLst>
                                        <p:tav tm="0">
                                          <p:val>
                                            <p:fltVal val="0"/>
                                          </p:val>
                                        </p:tav>
                                        <p:tav tm="100000">
                                          <p:val>
                                            <p:strVal val="#ppt_w"/>
                                          </p:val>
                                        </p:tav>
                                      </p:tavLst>
                                    </p:anim>
                                    <p:anim calcmode="lin" valueType="num">
                                      <p:cBhvr>
                                        <p:cTn id="36" dur="500" fill="hold"/>
                                        <p:tgtEl>
                                          <p:spTgt spid="16387">
                                            <p:txEl>
                                              <p:pRg st="5" end="5"/>
                                            </p:txEl>
                                          </p:spTgt>
                                        </p:tgtEl>
                                        <p:attrNameLst>
                                          <p:attrName>ppt_h</p:attrName>
                                        </p:attrNameLst>
                                      </p:cBhvr>
                                      <p:tavLst>
                                        <p:tav tm="0">
                                          <p:val>
                                            <p:fltVal val="0"/>
                                          </p:val>
                                        </p:tav>
                                        <p:tav tm="100000">
                                          <p:val>
                                            <p:strVal val="#ppt_h"/>
                                          </p:val>
                                        </p:tav>
                                      </p:tavLst>
                                    </p:anim>
                                    <p:animEffect transition="in" filter="fade">
                                      <p:cBhvr>
                                        <p:cTn id="37" dur="500"/>
                                        <p:tgtEl>
                                          <p:spTgt spid="16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304800"/>
            <a:ext cx="9134668" cy="1016995"/>
          </a:xfrm>
        </p:spPr>
        <p:txBody>
          <a:bodyPr vert="horz" wrap="square" lIns="92075" tIns="33188" rIns="92075" bIns="46038" numCol="1" anchor="ctr" anchorCtr="0" compatLnSpc="1">
            <a:prstTxWarp prst="textNoShape">
              <a:avLst/>
            </a:prstTxWarp>
          </a:bodyPr>
          <a:lstStyle/>
          <a:p>
            <a:pPr algn="ct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r>
              <a:rPr lang="en-US" sz="3600" b="1" dirty="0" err="1">
                <a:solidFill>
                  <a:srgbClr val="000000"/>
                </a:solidFill>
                <a:effectLst/>
              </a:rPr>
              <a:t>Rayonnement</a:t>
            </a:r>
            <a:r>
              <a:rPr lang="en-US" sz="3600" b="1" dirty="0">
                <a:solidFill>
                  <a:srgbClr val="000000"/>
                </a:solidFill>
                <a:effectLst/>
              </a:rPr>
              <a:t> </a:t>
            </a:r>
            <a:r>
              <a:rPr lang="en-US" sz="3600" b="1" dirty="0" err="1">
                <a:solidFill>
                  <a:srgbClr val="000000"/>
                </a:solidFill>
                <a:effectLst/>
              </a:rPr>
              <a:t>électromagnétique</a:t>
            </a:r>
            <a:r>
              <a:rPr lang="en-US" sz="3600" b="1" dirty="0">
                <a:solidFill>
                  <a:srgbClr val="000000"/>
                </a:solidFill>
                <a:effectLst/>
              </a:rPr>
              <a:t/>
            </a:r>
            <a:br>
              <a:rPr lang="en-US" sz="3600" b="1" dirty="0">
                <a:solidFill>
                  <a:srgbClr val="000000"/>
                </a:solidFill>
                <a:effectLst/>
              </a:rPr>
            </a:br>
            <a:endParaRPr lang="en-US" altLang="ro-RO" sz="3600" b="1" dirty="0">
              <a:solidFill>
                <a:srgbClr val="000000"/>
              </a:solidFill>
              <a:effectLst/>
            </a:endParaRPr>
          </a:p>
        </p:txBody>
      </p:sp>
      <p:sp>
        <p:nvSpPr>
          <p:cNvPr id="18435" name="Rectangle 2"/>
          <p:cNvSpPr>
            <a:spLocks noGrp="1" noChangeArrowheads="1"/>
          </p:cNvSpPr>
          <p:nvPr>
            <p:ph type="body" idx="1"/>
          </p:nvPr>
        </p:nvSpPr>
        <p:spPr>
          <a:xfrm>
            <a:off x="228377" y="1143000"/>
            <a:ext cx="5181823" cy="5562600"/>
          </a:xfrm>
        </p:spPr>
        <p:txBody>
          <a:bodyPr/>
          <a:lstStyle/>
          <a:p>
            <a:r>
              <a:rPr lang="fr-FR" sz="2000" dirty="0">
                <a:solidFill>
                  <a:srgbClr val="000000"/>
                </a:solidFill>
                <a:effectLst/>
                <a:latin typeface="+mj-lt"/>
              </a:rPr>
              <a:t>Il peut être de 2 types - rayonnement X et gamma</a:t>
            </a:r>
            <a:endParaRPr lang="fr-FR" sz="2000" dirty="0">
              <a:solidFill>
                <a:srgbClr val="000000"/>
              </a:solidFill>
              <a:latin typeface="+mj-lt"/>
            </a:endParaRPr>
          </a:p>
          <a:p>
            <a:r>
              <a:rPr lang="fr-FR" sz="2000" dirty="0" smtClean="0">
                <a:solidFill>
                  <a:srgbClr val="000000"/>
                </a:solidFill>
                <a:effectLst/>
                <a:latin typeface="+mj-lt"/>
              </a:rPr>
              <a:t>Cible </a:t>
            </a:r>
            <a:r>
              <a:rPr lang="fr-FR" sz="2000" dirty="0">
                <a:solidFill>
                  <a:srgbClr val="000000"/>
                </a:solidFill>
                <a:effectLst/>
                <a:latin typeface="+mj-lt"/>
              </a:rPr>
              <a:t>de rayonnement - macromolécule d'ADN (la structure la plus radiosensible de la cellule eucaryote)</a:t>
            </a:r>
            <a:endParaRPr lang="fr-FR" sz="2000" dirty="0">
              <a:solidFill>
                <a:srgbClr val="000000"/>
              </a:solidFill>
              <a:latin typeface="+mj-lt"/>
            </a:endParaRPr>
          </a:p>
          <a:p>
            <a:r>
              <a:rPr lang="fr-FR" sz="2000" dirty="0" smtClean="0">
                <a:solidFill>
                  <a:srgbClr val="000000"/>
                </a:solidFill>
                <a:effectLst/>
                <a:latin typeface="+mj-lt"/>
              </a:rPr>
              <a:t>L'énergie </a:t>
            </a:r>
            <a:r>
              <a:rPr lang="fr-FR" sz="2000" dirty="0">
                <a:solidFill>
                  <a:srgbClr val="000000"/>
                </a:solidFill>
                <a:effectLst/>
                <a:latin typeface="+mj-lt"/>
              </a:rPr>
              <a:t>augmente avec la diminution de la longueur d'onde et produit une ionisation après un seuil d'énergie</a:t>
            </a:r>
            <a:endParaRPr lang="fr-FR" sz="2000" dirty="0">
              <a:solidFill>
                <a:srgbClr val="000000"/>
              </a:solidFill>
              <a:latin typeface="+mj-lt"/>
            </a:endParaRPr>
          </a:p>
          <a:p>
            <a:r>
              <a:rPr lang="fr-FR" sz="2000" dirty="0" smtClean="0">
                <a:solidFill>
                  <a:srgbClr val="000000"/>
                </a:solidFill>
                <a:effectLst/>
                <a:latin typeface="+mj-lt"/>
              </a:rPr>
              <a:t>L'ionisation </a:t>
            </a:r>
            <a:r>
              <a:rPr lang="fr-FR" sz="2000" dirty="0">
                <a:solidFill>
                  <a:srgbClr val="000000"/>
                </a:solidFill>
                <a:effectLst/>
                <a:latin typeface="+mj-lt"/>
              </a:rPr>
              <a:t>est à la base de l'action de la radiothérapie par ses effets </a:t>
            </a:r>
            <a:endParaRPr lang="fr-FR" sz="2000" dirty="0">
              <a:solidFill>
                <a:srgbClr val="000000"/>
              </a:solidFill>
              <a:latin typeface="+mj-lt"/>
            </a:endParaRPr>
          </a:p>
          <a:p>
            <a:pPr lvl="1"/>
            <a:r>
              <a:rPr lang="fr-FR" sz="2000" dirty="0">
                <a:solidFill>
                  <a:srgbClr val="000000"/>
                </a:solidFill>
                <a:effectLst/>
                <a:latin typeface="+mj-lt"/>
              </a:rPr>
              <a:t>direct </a:t>
            </a:r>
            <a:endParaRPr lang="fr-FR" sz="2000" dirty="0">
              <a:solidFill>
                <a:srgbClr val="000000"/>
              </a:solidFill>
              <a:latin typeface="+mj-lt"/>
            </a:endParaRPr>
          </a:p>
          <a:p>
            <a:pPr lvl="2"/>
            <a:r>
              <a:rPr lang="fr-FR" sz="2000" dirty="0">
                <a:solidFill>
                  <a:srgbClr val="000000"/>
                </a:solidFill>
                <a:effectLst/>
                <a:latin typeface="+mj-lt"/>
              </a:rPr>
              <a:t>Dommages à l'ADN</a:t>
            </a:r>
            <a:endParaRPr lang="fr-FR" sz="2000" dirty="0">
              <a:solidFill>
                <a:srgbClr val="000000"/>
              </a:solidFill>
              <a:latin typeface="+mj-lt"/>
            </a:endParaRPr>
          </a:p>
          <a:p>
            <a:pPr lvl="1"/>
            <a:r>
              <a:rPr lang="fr-FR" sz="2000" dirty="0">
                <a:solidFill>
                  <a:srgbClr val="000000"/>
                </a:solidFill>
                <a:effectLst/>
                <a:latin typeface="+mj-lt"/>
              </a:rPr>
              <a:t>indirect</a:t>
            </a:r>
            <a:endParaRPr lang="fr-FR" sz="2000" dirty="0">
              <a:solidFill>
                <a:srgbClr val="000000"/>
              </a:solidFill>
              <a:latin typeface="+mj-lt"/>
            </a:endParaRPr>
          </a:p>
          <a:p>
            <a:pPr lvl="1"/>
            <a:r>
              <a:rPr lang="fr-FR" sz="2000" dirty="0">
                <a:solidFill>
                  <a:srgbClr val="000000"/>
                </a:solidFill>
                <a:effectLst/>
                <a:latin typeface="+mj-lt"/>
              </a:rPr>
              <a:t>radiolyse de l'eau</a:t>
            </a:r>
            <a:endParaRPr lang="fr-FR" sz="2000" dirty="0">
              <a:solidFill>
                <a:srgbClr val="000000"/>
              </a:solidFill>
              <a:latin typeface="+mj-lt"/>
            </a:endParaRPr>
          </a:p>
          <a:p>
            <a:pPr lvl="1"/>
            <a:r>
              <a:rPr lang="fr-FR" sz="2000" dirty="0">
                <a:solidFill>
                  <a:srgbClr val="000000"/>
                </a:solidFill>
                <a:effectLst/>
                <a:latin typeface="+mj-lt"/>
              </a:rPr>
              <a:t>formation de radicaux libres</a:t>
            </a:r>
            <a:endParaRPr lang="fr-FR" sz="2000" dirty="0">
              <a:solidFill>
                <a:srgbClr val="000000"/>
              </a:solidFill>
              <a:latin typeface="+mj-lt"/>
            </a:endParaRPr>
          </a:p>
          <a:p>
            <a:pPr lvl="1"/>
            <a:r>
              <a:rPr lang="fr-FR" sz="2000" dirty="0">
                <a:solidFill>
                  <a:srgbClr val="000000"/>
                </a:solidFill>
                <a:effectLst/>
                <a:latin typeface="+mj-lt"/>
              </a:rPr>
              <a:t>Dommages à l'ADN</a:t>
            </a:r>
            <a:endParaRPr lang="fr-FR" sz="2000" dirty="0">
              <a:solidFill>
                <a:srgbClr val="000000"/>
              </a:solidFill>
              <a:latin typeface="+mj-lt"/>
            </a:endParaRPr>
          </a:p>
          <a:p>
            <a:pPr marL="1320594" lvl="2" indent="-304646">
              <a:buClrTx/>
              <a:buSzPct val="45000"/>
              <a:buFont typeface="Wingdings" panose="05000000000000000000" pitchFamily="2" charset="2"/>
              <a:buChar cha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endParaRPr lang="en-US" altLang="ro-RO" sz="2000" dirty="0" smtClean="0">
              <a:solidFill>
                <a:srgbClr val="000000"/>
              </a:solidFill>
              <a:effectLst/>
              <a:latin typeface="+mj-lt"/>
            </a:endParaRPr>
          </a:p>
        </p:txBody>
      </p:sp>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0200" y="1752600"/>
            <a:ext cx="3569192" cy="487441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1195911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p:cTn id="7" dur="500" fill="hold"/>
                                        <p:tgtEl>
                                          <p:spTgt spid="1843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843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843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8435">
                                            <p:txEl>
                                              <p:pRg st="1" end="1"/>
                                            </p:txEl>
                                          </p:spTgt>
                                        </p:tgtEl>
                                        <p:attrNameLst>
                                          <p:attrName>style.visibility</p:attrName>
                                        </p:attrNameLst>
                                      </p:cBhvr>
                                      <p:to>
                                        <p:strVal val="visible"/>
                                      </p:to>
                                    </p:set>
                                    <p:anim calcmode="lin" valueType="num">
                                      <p:cBhvr>
                                        <p:cTn id="14" dur="500" fill="hold"/>
                                        <p:tgtEl>
                                          <p:spTgt spid="18435">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8435">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843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8435">
                                            <p:txEl>
                                              <p:pRg st="2" end="2"/>
                                            </p:txEl>
                                          </p:spTgt>
                                        </p:tgtEl>
                                        <p:attrNameLst>
                                          <p:attrName>style.visibility</p:attrName>
                                        </p:attrNameLst>
                                      </p:cBhvr>
                                      <p:to>
                                        <p:strVal val="visible"/>
                                      </p:to>
                                    </p:set>
                                    <p:anim calcmode="lin" valueType="num">
                                      <p:cBhvr>
                                        <p:cTn id="21" dur="500" fill="hold"/>
                                        <p:tgtEl>
                                          <p:spTgt spid="18435">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8435">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1843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8435">
                                            <p:txEl>
                                              <p:pRg st="3" end="3"/>
                                            </p:txEl>
                                          </p:spTgt>
                                        </p:tgtEl>
                                        <p:attrNameLst>
                                          <p:attrName>style.visibility</p:attrName>
                                        </p:attrNameLst>
                                      </p:cBhvr>
                                      <p:to>
                                        <p:strVal val="visible"/>
                                      </p:to>
                                    </p:set>
                                    <p:anim calcmode="lin" valueType="num">
                                      <p:cBhvr>
                                        <p:cTn id="28" dur="500" fill="hold"/>
                                        <p:tgtEl>
                                          <p:spTgt spid="18435">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18435">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1843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8435">
                                            <p:txEl>
                                              <p:pRg st="4" end="4"/>
                                            </p:txEl>
                                          </p:spTgt>
                                        </p:tgtEl>
                                        <p:attrNameLst>
                                          <p:attrName>style.visibility</p:attrName>
                                        </p:attrNameLst>
                                      </p:cBhvr>
                                      <p:to>
                                        <p:strVal val="visible"/>
                                      </p:to>
                                    </p:set>
                                    <p:anim calcmode="lin" valueType="num">
                                      <p:cBhvr>
                                        <p:cTn id="35" dur="500" fill="hold"/>
                                        <p:tgtEl>
                                          <p:spTgt spid="18435">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18435">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1843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8435">
                                            <p:txEl>
                                              <p:pRg st="5" end="5"/>
                                            </p:txEl>
                                          </p:spTgt>
                                        </p:tgtEl>
                                        <p:attrNameLst>
                                          <p:attrName>style.visibility</p:attrName>
                                        </p:attrNameLst>
                                      </p:cBhvr>
                                      <p:to>
                                        <p:strVal val="visible"/>
                                      </p:to>
                                    </p:set>
                                    <p:anim calcmode="lin" valueType="num">
                                      <p:cBhvr>
                                        <p:cTn id="42" dur="500" fill="hold"/>
                                        <p:tgtEl>
                                          <p:spTgt spid="18435">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18435">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18435">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8435">
                                            <p:txEl>
                                              <p:pRg st="6" end="6"/>
                                            </p:txEl>
                                          </p:spTgt>
                                        </p:tgtEl>
                                        <p:attrNameLst>
                                          <p:attrName>style.visibility</p:attrName>
                                        </p:attrNameLst>
                                      </p:cBhvr>
                                      <p:to>
                                        <p:strVal val="visible"/>
                                      </p:to>
                                    </p:set>
                                    <p:anim calcmode="lin" valueType="num">
                                      <p:cBhvr>
                                        <p:cTn id="49" dur="500" fill="hold"/>
                                        <p:tgtEl>
                                          <p:spTgt spid="18435">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18435">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18435">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8435">
                                            <p:txEl>
                                              <p:pRg st="7" end="7"/>
                                            </p:txEl>
                                          </p:spTgt>
                                        </p:tgtEl>
                                        <p:attrNameLst>
                                          <p:attrName>style.visibility</p:attrName>
                                        </p:attrNameLst>
                                      </p:cBhvr>
                                      <p:to>
                                        <p:strVal val="visible"/>
                                      </p:to>
                                    </p:set>
                                    <p:anim calcmode="lin" valueType="num">
                                      <p:cBhvr>
                                        <p:cTn id="56" dur="500" fill="hold"/>
                                        <p:tgtEl>
                                          <p:spTgt spid="18435">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18435">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18435">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18435">
                                            <p:txEl>
                                              <p:pRg st="8" end="8"/>
                                            </p:txEl>
                                          </p:spTgt>
                                        </p:tgtEl>
                                        <p:attrNameLst>
                                          <p:attrName>style.visibility</p:attrName>
                                        </p:attrNameLst>
                                      </p:cBhvr>
                                      <p:to>
                                        <p:strVal val="visible"/>
                                      </p:to>
                                    </p:set>
                                    <p:anim calcmode="lin" valueType="num">
                                      <p:cBhvr>
                                        <p:cTn id="63" dur="500" fill="hold"/>
                                        <p:tgtEl>
                                          <p:spTgt spid="18435">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18435">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18435">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8435">
                                            <p:txEl>
                                              <p:pRg st="9" end="9"/>
                                            </p:txEl>
                                          </p:spTgt>
                                        </p:tgtEl>
                                        <p:attrNameLst>
                                          <p:attrName>style.visibility</p:attrName>
                                        </p:attrNameLst>
                                      </p:cBhvr>
                                      <p:to>
                                        <p:strVal val="visible"/>
                                      </p:to>
                                    </p:set>
                                    <p:anim calcmode="lin" valueType="num">
                                      <p:cBhvr>
                                        <p:cTn id="70" dur="500" fill="hold"/>
                                        <p:tgtEl>
                                          <p:spTgt spid="18435">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18435">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184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0" y="624423"/>
            <a:ext cx="9143999" cy="1016995"/>
          </a:xfrm>
        </p:spPr>
        <p:txBody>
          <a:bodyPr vert="horz" wrap="square" lIns="92075" tIns="29870" rIns="92075" bIns="46038" numCol="1" anchor="ctr" anchorCtr="0" compatLnSpc="1">
            <a:prstTxWarp prst="textNoShape">
              <a:avLst/>
            </a:prstTxWarp>
          </a:bodyPr>
          <a:lstStyle/>
          <a:p>
            <a:pPr algn="ct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r>
              <a:rPr lang="fr-FR" sz="3600" b="1" dirty="0">
                <a:solidFill>
                  <a:srgbClr val="000000"/>
                </a:solidFill>
                <a:effectLst/>
              </a:rPr>
              <a:t>Caractéristiques de l'interaction du rayonnement avec la matière vivante</a:t>
            </a:r>
            <a:r>
              <a:rPr lang="fr-FR" sz="4000" b="1" dirty="0">
                <a:effectLst/>
              </a:rPr>
              <a:t/>
            </a:r>
            <a:br>
              <a:rPr lang="fr-FR" sz="4000" b="1" dirty="0">
                <a:effectLst/>
              </a:rPr>
            </a:br>
            <a:endParaRPr lang="en-US" altLang="ro-RO" sz="4000" b="1" dirty="0" smtClean="0">
              <a:solidFill>
                <a:srgbClr val="000000"/>
              </a:solidFill>
              <a:effectLst/>
            </a:endParaRPr>
          </a:p>
        </p:txBody>
      </p:sp>
      <p:sp>
        <p:nvSpPr>
          <p:cNvPr id="22531" name="Rectangle 2"/>
          <p:cNvSpPr>
            <a:spLocks noGrp="1" noChangeArrowheads="1"/>
          </p:cNvSpPr>
          <p:nvPr>
            <p:ph type="body" idx="1"/>
          </p:nvPr>
        </p:nvSpPr>
        <p:spPr>
          <a:xfrm>
            <a:off x="380999" y="2667000"/>
            <a:ext cx="8153401" cy="3449721"/>
          </a:xfrm>
        </p:spPr>
        <p:txBody>
          <a:bodyPr vert="horz" wrap="square" lIns="92075" tIns="19913" rIns="92075" bIns="46038" numCol="1" anchor="t" anchorCtr="0" compatLnSpc="1">
            <a:prstTxWarp prst="textNoShape">
              <a:avLst/>
            </a:prstTxWarp>
          </a:bodyPr>
          <a:lstStyle/>
          <a:p>
            <a:r>
              <a:rPr lang="fr-FR" sz="2000" dirty="0">
                <a:solidFill>
                  <a:srgbClr val="000000"/>
                </a:solidFill>
                <a:effectLst/>
                <a:latin typeface="+mj-lt"/>
              </a:rPr>
              <a:t>L'interaction est </a:t>
            </a:r>
            <a:r>
              <a:rPr lang="fr-FR" sz="2000" b="1" dirty="0">
                <a:solidFill>
                  <a:srgbClr val="000000"/>
                </a:solidFill>
                <a:effectLst/>
                <a:latin typeface="+mj-lt"/>
              </a:rPr>
              <a:t>aléatoire</a:t>
            </a:r>
            <a:r>
              <a:rPr lang="fr-FR" sz="2000" dirty="0">
                <a:solidFill>
                  <a:srgbClr val="000000"/>
                </a:solidFill>
                <a:effectLst/>
                <a:latin typeface="+mj-lt"/>
              </a:rPr>
              <a:t> , elle peut ou non se produire</a:t>
            </a:r>
            <a:endParaRPr lang="fr-FR" sz="2000" dirty="0">
              <a:solidFill>
                <a:srgbClr val="000000"/>
              </a:solidFill>
              <a:latin typeface="+mj-lt"/>
            </a:endParaRPr>
          </a:p>
          <a:p>
            <a:pPr lvl="1"/>
            <a:r>
              <a:rPr lang="fr-FR" sz="2000" dirty="0">
                <a:solidFill>
                  <a:srgbClr val="000000"/>
                </a:solidFill>
                <a:effectLst/>
                <a:latin typeface="+mj-lt"/>
              </a:rPr>
              <a:t>Si l'interaction se produit, l'apparition des lésions n'est pas obligatoire.</a:t>
            </a:r>
            <a:endParaRPr lang="fr-FR" sz="2000" dirty="0">
              <a:solidFill>
                <a:srgbClr val="000000"/>
              </a:solidFill>
              <a:latin typeface="+mj-lt"/>
            </a:endParaRPr>
          </a:p>
          <a:p>
            <a:r>
              <a:rPr lang="fr-FR" sz="2000" dirty="0">
                <a:solidFill>
                  <a:srgbClr val="000000"/>
                </a:solidFill>
                <a:effectLst/>
                <a:latin typeface="+mj-lt"/>
              </a:rPr>
              <a:t>L'action des rayonnements au niveau cellulaire </a:t>
            </a:r>
            <a:r>
              <a:rPr lang="fr-FR" sz="2000" b="1" dirty="0">
                <a:solidFill>
                  <a:srgbClr val="000000"/>
                </a:solidFill>
                <a:effectLst/>
                <a:latin typeface="+mj-lt"/>
              </a:rPr>
              <a:t>n'est pas sélective</a:t>
            </a:r>
            <a:endParaRPr lang="fr-FR" sz="2000" dirty="0">
              <a:solidFill>
                <a:srgbClr val="000000"/>
              </a:solidFill>
              <a:latin typeface="+mj-lt"/>
            </a:endParaRPr>
          </a:p>
          <a:p>
            <a:pPr lvl="1"/>
            <a:r>
              <a:rPr lang="fr-FR" sz="2000" dirty="0">
                <a:solidFill>
                  <a:srgbClr val="000000"/>
                </a:solidFill>
                <a:effectLst/>
                <a:latin typeface="+mj-lt"/>
              </a:rPr>
              <a:t>Aucune structure cellulaire n'est "exempte" de l'irradiation.</a:t>
            </a:r>
            <a:endParaRPr lang="fr-FR" sz="2000" dirty="0">
              <a:solidFill>
                <a:srgbClr val="000000"/>
              </a:solidFill>
              <a:latin typeface="+mj-lt"/>
            </a:endParaRPr>
          </a:p>
          <a:p>
            <a:r>
              <a:rPr lang="fr-FR" sz="2000" dirty="0">
                <a:solidFill>
                  <a:srgbClr val="000000"/>
                </a:solidFill>
                <a:effectLst/>
                <a:latin typeface="+mj-lt"/>
              </a:rPr>
              <a:t>Les changements biologiques se produisent après une </a:t>
            </a:r>
            <a:r>
              <a:rPr lang="fr-FR" sz="2000" b="1" dirty="0">
                <a:solidFill>
                  <a:srgbClr val="000000"/>
                </a:solidFill>
                <a:effectLst/>
                <a:latin typeface="+mj-lt"/>
              </a:rPr>
              <a:t>période de latence</a:t>
            </a:r>
            <a:r>
              <a:rPr lang="fr-FR" sz="2000" dirty="0">
                <a:solidFill>
                  <a:srgbClr val="000000"/>
                </a:solidFill>
                <a:effectLst/>
                <a:latin typeface="+mj-lt"/>
              </a:rPr>
              <a:t> très variable, de quelques semaines à plusieurs années.</a:t>
            </a:r>
            <a:endParaRPr lang="fr-FR" sz="2000" dirty="0">
              <a:solidFill>
                <a:srgbClr val="000000"/>
              </a:solidFill>
              <a:latin typeface="+mj-lt"/>
            </a:endParaRPr>
          </a:p>
          <a:p>
            <a:pPr marL="101548" indent="0">
              <a:buClrTx/>
              <a:buSzPct val="45000"/>
              <a:buNone/>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endParaRPr lang="en-US" altLang="ro-RO" sz="2000" dirty="0">
              <a:solidFill>
                <a:srgbClr val="000000"/>
              </a:solidFill>
              <a:effectLst/>
            </a:endParaRPr>
          </a:p>
        </p:txBody>
      </p:sp>
    </p:spTree>
    <p:extLst>
      <p:ext uri="{BB962C8B-B14F-4D97-AF65-F5344CB8AC3E}">
        <p14:creationId xmlns:p14="http://schemas.microsoft.com/office/powerpoint/2010/main" val="134668482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p:cTn id="7" dur="500" fill="hold"/>
                                        <p:tgtEl>
                                          <p:spTgt spid="2253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253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253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2531">
                                            <p:txEl>
                                              <p:pRg st="1" end="1"/>
                                            </p:txEl>
                                          </p:spTgt>
                                        </p:tgtEl>
                                        <p:attrNameLst>
                                          <p:attrName>style.visibility</p:attrName>
                                        </p:attrNameLst>
                                      </p:cBhvr>
                                      <p:to>
                                        <p:strVal val="visible"/>
                                      </p:to>
                                    </p:set>
                                    <p:anim calcmode="lin" valueType="num">
                                      <p:cBhvr>
                                        <p:cTn id="14" dur="500" fill="hold"/>
                                        <p:tgtEl>
                                          <p:spTgt spid="2253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253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253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2531">
                                            <p:txEl>
                                              <p:pRg st="2" end="2"/>
                                            </p:txEl>
                                          </p:spTgt>
                                        </p:tgtEl>
                                        <p:attrNameLst>
                                          <p:attrName>style.visibility</p:attrName>
                                        </p:attrNameLst>
                                      </p:cBhvr>
                                      <p:to>
                                        <p:strVal val="visible"/>
                                      </p:to>
                                    </p:set>
                                    <p:anim calcmode="lin" valueType="num">
                                      <p:cBhvr>
                                        <p:cTn id="21" dur="500" fill="hold"/>
                                        <p:tgtEl>
                                          <p:spTgt spid="2253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2253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2253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2531">
                                            <p:txEl>
                                              <p:pRg st="3" end="3"/>
                                            </p:txEl>
                                          </p:spTgt>
                                        </p:tgtEl>
                                        <p:attrNameLst>
                                          <p:attrName>style.visibility</p:attrName>
                                        </p:attrNameLst>
                                      </p:cBhvr>
                                      <p:to>
                                        <p:strVal val="visible"/>
                                      </p:to>
                                    </p:set>
                                    <p:anim calcmode="lin" valueType="num">
                                      <p:cBhvr>
                                        <p:cTn id="28" dur="500" fill="hold"/>
                                        <p:tgtEl>
                                          <p:spTgt spid="22531">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22531">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2253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2531">
                                            <p:txEl>
                                              <p:pRg st="4" end="4"/>
                                            </p:txEl>
                                          </p:spTgt>
                                        </p:tgtEl>
                                        <p:attrNameLst>
                                          <p:attrName>style.visibility</p:attrName>
                                        </p:attrNameLst>
                                      </p:cBhvr>
                                      <p:to>
                                        <p:strVal val="visible"/>
                                      </p:to>
                                    </p:set>
                                    <p:anim calcmode="lin" valueType="num">
                                      <p:cBhvr>
                                        <p:cTn id="35" dur="500" fill="hold"/>
                                        <p:tgtEl>
                                          <p:spTgt spid="22531">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22531">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984" name="Shape 254984"/>
        <p:cNvGrpSpPr/>
        <p:nvPr/>
      </p:nvGrpSpPr>
      <p:grpSpPr>
        <a:xfrm>
          <a:off x="0" y="0"/>
          <a:ext cx="0" cy="0"/>
          <a:chOff x="0" y="0"/>
          <a:chExt cx="0" cy="0"/>
        </a:xfrm>
      </p:grpSpPr>
      <p:sp>
        <p:nvSpPr>
          <p:cNvPr id="254985" name="Google Shape;254985;p2"/>
          <p:cNvSpPr txBox="1"/>
          <p:nvPr>
            <p:ph type="title"/>
          </p:nvPr>
        </p:nvSpPr>
        <p:spPr>
          <a:xfrm>
            <a:off x="456977" y="624423"/>
            <a:ext cx="8228700" cy="1017000"/>
          </a:xfrm>
          <a:prstGeom prst="rect">
            <a:avLst/>
          </a:prstGeom>
          <a:noFill/>
          <a:ln>
            <a:noFill/>
          </a:ln>
        </p:spPr>
        <p:txBody>
          <a:bodyPr anchorCtr="0" anchor="ctr" bIns="46025" lIns="92075" spcFirstLastPara="1" rIns="92075" wrap="square" tIns="33175">
            <a:noAutofit/>
          </a:bodyPr>
          <a:lstStyle/>
          <a:p>
            <a:pPr indent="0" lvl="0" marL="0" rtl="0" algn="ctr">
              <a:spcBef>
                <a:spcPts val="0"/>
              </a:spcBef>
              <a:spcAft>
                <a:spcPts val="0"/>
              </a:spcAft>
              <a:buNone/>
            </a:pPr>
            <a:r>
              <a:rPr b="1" lang="fr-FR" sz="3600">
                <a:solidFill>
                  <a:srgbClr val="000000"/>
                </a:solidFill>
              </a:rPr>
              <a:t>Radiobiologie</a:t>
            </a:r>
            <a:br>
              <a:rPr b="1" lang="fr-FR" sz="3600">
                <a:solidFill>
                  <a:srgbClr val="000000"/>
                </a:solidFill>
              </a:rPr>
            </a:br>
            <a:endParaRPr b="1" sz="3600">
              <a:solidFill>
                <a:srgbClr val="000000"/>
              </a:solidFill>
            </a:endParaRPr>
          </a:p>
        </p:txBody>
      </p:sp>
      <p:sp>
        <p:nvSpPr>
          <p:cNvPr id="254986" name="Google Shape;254986;p2"/>
          <p:cNvSpPr txBox="1"/>
          <p:nvPr>
            <p:ph idx="1" type="body"/>
          </p:nvPr>
        </p:nvSpPr>
        <p:spPr>
          <a:xfrm>
            <a:off x="304800" y="2590800"/>
            <a:ext cx="8839200" cy="2985600"/>
          </a:xfrm>
          <a:prstGeom prst="rect">
            <a:avLst/>
          </a:prstGeom>
          <a:noFill/>
          <a:ln>
            <a:noFill/>
          </a:ln>
        </p:spPr>
        <p:txBody>
          <a:bodyPr anchorCtr="0" anchor="t" bIns="46025" lIns="92075" spcFirstLastPara="1" rIns="92075" wrap="square" tIns="46025">
            <a:noAutofit/>
          </a:bodyPr>
          <a:lstStyle/>
          <a:p>
            <a:pPr indent="-342900" lvl="0" marL="342900" rtl="0" algn="l">
              <a:spcBef>
                <a:spcPts val="0"/>
              </a:spcBef>
              <a:spcAft>
                <a:spcPts val="0"/>
              </a:spcAft>
              <a:buSzPts val="1500"/>
              <a:buChar char="●"/>
            </a:pPr>
            <a:r>
              <a:rPr lang="fr-FR" sz="2000">
                <a:solidFill>
                  <a:srgbClr val="000000"/>
                </a:solidFill>
              </a:rPr>
              <a:t>pour une meilleure compréhension de l'effet du rayonnement sur la matière vivante - 5 "R"</a:t>
            </a:r>
            <a:endParaRPr sz="2000">
              <a:solidFill>
                <a:srgbClr val="000000"/>
              </a:solidFill>
            </a:endParaRPr>
          </a:p>
          <a:p>
            <a:pPr indent="-457200" lvl="0" marL="457200" rtl="0" algn="l">
              <a:spcBef>
                <a:spcPts val="400"/>
              </a:spcBef>
              <a:spcAft>
                <a:spcPts val="0"/>
              </a:spcAft>
              <a:buSzPts val="1500"/>
              <a:buFont typeface="Arial"/>
              <a:buAutoNum type="arabicPeriod"/>
            </a:pPr>
            <a:r>
              <a:rPr lang="fr-FR" sz="2000">
                <a:solidFill>
                  <a:srgbClr val="000000"/>
                </a:solidFill>
              </a:rPr>
              <a:t>réparation</a:t>
            </a:r>
            <a:endParaRPr sz="2000">
              <a:solidFill>
                <a:srgbClr val="000000"/>
              </a:solidFill>
            </a:endParaRPr>
          </a:p>
          <a:p>
            <a:pPr indent="-457200" lvl="0" marL="457200" rtl="0" algn="l">
              <a:spcBef>
                <a:spcPts val="400"/>
              </a:spcBef>
              <a:spcAft>
                <a:spcPts val="0"/>
              </a:spcAft>
              <a:buSzPts val="1500"/>
              <a:buFont typeface="Arial"/>
              <a:buAutoNum type="arabicPeriod"/>
            </a:pPr>
            <a:r>
              <a:rPr lang="fr-FR" sz="2000">
                <a:solidFill>
                  <a:srgbClr val="000000"/>
                </a:solidFill>
              </a:rPr>
              <a:t>repopulation</a:t>
            </a:r>
            <a:endParaRPr sz="2000">
              <a:solidFill>
                <a:srgbClr val="000000"/>
              </a:solidFill>
            </a:endParaRPr>
          </a:p>
          <a:p>
            <a:pPr indent="-457200" lvl="0" marL="457200" rtl="0" algn="l">
              <a:spcBef>
                <a:spcPts val="400"/>
              </a:spcBef>
              <a:spcAft>
                <a:spcPts val="0"/>
              </a:spcAft>
              <a:buSzPts val="1500"/>
              <a:buFont typeface="Arial"/>
              <a:buAutoNum type="arabicPeriod"/>
            </a:pPr>
            <a:r>
              <a:rPr lang="fr-FR" sz="2000">
                <a:solidFill>
                  <a:srgbClr val="000000"/>
                </a:solidFill>
              </a:rPr>
              <a:t>réoxygénation</a:t>
            </a:r>
            <a:endParaRPr sz="2000">
              <a:solidFill>
                <a:srgbClr val="000000"/>
              </a:solidFill>
            </a:endParaRPr>
          </a:p>
          <a:p>
            <a:pPr indent="-457200" lvl="0" marL="457200" rtl="0" algn="l">
              <a:spcBef>
                <a:spcPts val="400"/>
              </a:spcBef>
              <a:spcAft>
                <a:spcPts val="0"/>
              </a:spcAft>
              <a:buSzPts val="1500"/>
              <a:buFont typeface="Arial"/>
              <a:buAutoNum type="arabicPeriod"/>
            </a:pPr>
            <a:r>
              <a:rPr lang="fr-FR" sz="2000">
                <a:solidFill>
                  <a:srgbClr val="000000"/>
                </a:solidFill>
              </a:rPr>
              <a:t>Resynchronisation des cellules dans le cycle cellulaire</a:t>
            </a:r>
            <a:endParaRPr sz="2000">
              <a:solidFill>
                <a:srgbClr val="000000"/>
              </a:solidFill>
            </a:endParaRPr>
          </a:p>
          <a:p>
            <a:pPr indent="-457200" lvl="0" marL="457200" rtl="0" algn="l">
              <a:spcBef>
                <a:spcPts val="400"/>
              </a:spcBef>
              <a:spcAft>
                <a:spcPts val="0"/>
              </a:spcAft>
              <a:buSzPts val="1500"/>
              <a:buFont typeface="Arial"/>
              <a:buAutoNum type="arabicPeriod"/>
            </a:pPr>
            <a:r>
              <a:rPr lang="fr-FR" sz="2000">
                <a:solidFill>
                  <a:srgbClr val="000000"/>
                </a:solidFill>
              </a:rPr>
              <a:t>Radiosensibilité intrinsèque</a:t>
            </a:r>
            <a:endParaRPr sz="2000">
              <a:solidFill>
                <a:srgbClr val="000000"/>
              </a:solidFill>
            </a:endParaRPr>
          </a:p>
          <a:p>
            <a:pPr indent="-400050" lvl="0" marL="558747" rtl="0" algn="l">
              <a:spcBef>
                <a:spcPts val="400"/>
              </a:spcBef>
              <a:spcAft>
                <a:spcPts val="0"/>
              </a:spcAft>
              <a:buClr>
                <a:srgbClr val="FFCC00"/>
              </a:buClr>
              <a:buSzPts val="900"/>
              <a:buFont typeface="Arial"/>
              <a:buNone/>
            </a:pPr>
            <a:r>
              <a:t/>
            </a:r>
            <a:endParaRPr sz="20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a:xfrm>
            <a:off x="456977" y="624423"/>
            <a:ext cx="8228555" cy="1016995"/>
          </a:xfrm>
        </p:spPr>
        <p:txBody>
          <a:bodyPr vert="horz" wrap="square" lIns="92075" tIns="33188" rIns="92075" bIns="46038" numCol="1" anchor="ctr" anchorCtr="0" compatLnSpc="1">
            <a:prstTxWarp prst="textNoShape">
              <a:avLst/>
            </a:prstTxWarp>
          </a:bodyPr>
          <a:lstStyle/>
          <a:p>
            <a:pPr algn="ct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r>
              <a:rPr lang="en-US" sz="3600" b="1" dirty="0" err="1" smtClean="0">
                <a:solidFill>
                  <a:srgbClr val="000000"/>
                </a:solidFill>
                <a:effectLst/>
              </a:rPr>
              <a:t>Réparation</a:t>
            </a:r>
            <a:r>
              <a:rPr lang="en-US" sz="3600" b="1" dirty="0">
                <a:solidFill>
                  <a:srgbClr val="000000"/>
                </a:solidFill>
                <a:effectLst/>
              </a:rPr>
              <a:t/>
            </a:r>
            <a:br>
              <a:rPr lang="en-US" sz="3600" b="1" dirty="0">
                <a:solidFill>
                  <a:srgbClr val="000000"/>
                </a:solidFill>
                <a:effectLst/>
              </a:rPr>
            </a:br>
            <a:endParaRPr lang="en-US" altLang="ro-RO" sz="3600" b="1" dirty="0">
              <a:solidFill>
                <a:srgbClr val="000000"/>
              </a:solidFill>
              <a:effectLst/>
            </a:endParaRPr>
          </a:p>
        </p:txBody>
      </p:sp>
      <p:sp>
        <p:nvSpPr>
          <p:cNvPr id="26627" name="Rectangle 2"/>
          <p:cNvSpPr>
            <a:spLocks noGrp="1" noChangeArrowheads="1"/>
          </p:cNvSpPr>
          <p:nvPr>
            <p:ph type="body" idx="1"/>
          </p:nvPr>
        </p:nvSpPr>
        <p:spPr>
          <a:xfrm>
            <a:off x="29705" y="1524000"/>
            <a:ext cx="8762999" cy="3366690"/>
          </a:xfrm>
        </p:spPr>
        <p:txBody>
          <a:bodyPr vert="horz" wrap="square" lIns="92075" tIns="16594" rIns="92075" bIns="46038" numCol="1" anchor="t" anchorCtr="0" compatLnSpc="1">
            <a:prstTxWarp prst="textNoShape">
              <a:avLst/>
            </a:prstTxWarp>
          </a:bodyPr>
          <a:lstStyle/>
          <a:p>
            <a:r>
              <a:rPr lang="fr-FR" sz="2000" dirty="0">
                <a:solidFill>
                  <a:srgbClr val="000000"/>
                </a:solidFill>
                <a:effectLst/>
                <a:latin typeface="+mj-lt"/>
              </a:rPr>
              <a:t>Caractéristique des tissus normaux et tumoraux</a:t>
            </a:r>
            <a:endParaRPr lang="fr-FR" sz="2000" dirty="0">
              <a:solidFill>
                <a:srgbClr val="000000"/>
              </a:solidFill>
              <a:latin typeface="+mj-lt"/>
            </a:endParaRPr>
          </a:p>
          <a:p>
            <a:r>
              <a:rPr lang="fr-FR" sz="2000" dirty="0">
                <a:solidFill>
                  <a:srgbClr val="000000"/>
                </a:solidFill>
                <a:effectLst/>
                <a:latin typeface="+mj-lt"/>
              </a:rPr>
              <a:t>Les mécanismes de réparation des tumeurs sont déficients, entraînant ainsi un effet biologique plus prononcé avec une lyse des tissus plus élevée que dans les tissus normaux</a:t>
            </a:r>
            <a:endParaRPr lang="fr-FR" sz="2000" dirty="0">
              <a:solidFill>
                <a:srgbClr val="000000"/>
              </a:solidFill>
              <a:latin typeface="+mj-lt"/>
            </a:endParaRPr>
          </a:p>
          <a:p>
            <a:pPr marL="406194" indent="-304646">
              <a:buClrTx/>
              <a:buSzPct val="45000"/>
              <a:buFont typeface="Wingdings" panose="05000000000000000000" pitchFamily="2" charset="2"/>
              <a:buChar cha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endParaRPr lang="en-US" altLang="ro-RO" sz="1800" dirty="0">
              <a:solidFill>
                <a:srgbClr val="000000"/>
              </a:solidFill>
              <a:effectLst/>
            </a:endParaRPr>
          </a:p>
        </p:txBody>
      </p:sp>
      <p:pic>
        <p:nvPicPr>
          <p:cNvPr id="2662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9000"/>
            <a:ext cx="6757570" cy="325707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6755994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987" name="Shape 254987"/>
        <p:cNvGrpSpPr/>
        <p:nvPr/>
      </p:nvGrpSpPr>
      <p:grpSpPr>
        <a:xfrm>
          <a:off x="0" y="0"/>
          <a:ext cx="0" cy="0"/>
          <a:chOff x="0" y="0"/>
          <a:chExt cx="0" cy="0"/>
        </a:xfrm>
      </p:grpSpPr>
      <p:pic>
        <p:nvPicPr>
          <p:cNvPr id="254988" name="Google Shape;254988;p3"/>
          <p:cNvPicPr preferRelativeResize="0"/>
          <p:nvPr/>
        </p:nvPicPr>
        <p:blipFill rotWithShape="1">
          <a:blip r:embed="rId3">
            <a:alphaModFix/>
          </a:blip>
          <a:srcRect b="0" l="0" r="0" t="0"/>
          <a:stretch/>
        </p:blipFill>
        <p:spPr>
          <a:xfrm>
            <a:off x="5410200" y="2362200"/>
            <a:ext cx="3461817" cy="3294787"/>
          </a:xfrm>
          <a:prstGeom prst="rect">
            <a:avLst/>
          </a:prstGeom>
          <a:noFill/>
          <a:ln>
            <a:noFill/>
          </a:ln>
        </p:spPr>
      </p:pic>
      <p:sp>
        <p:nvSpPr>
          <p:cNvPr id="254989" name="Google Shape;254989;p3"/>
          <p:cNvSpPr txBox="1"/>
          <p:nvPr>
            <p:ph type="title"/>
          </p:nvPr>
        </p:nvSpPr>
        <p:spPr>
          <a:xfrm>
            <a:off x="456977" y="624423"/>
            <a:ext cx="8228700" cy="1017000"/>
          </a:xfrm>
          <a:prstGeom prst="rect">
            <a:avLst/>
          </a:prstGeom>
          <a:noFill/>
          <a:ln>
            <a:noFill/>
          </a:ln>
        </p:spPr>
        <p:txBody>
          <a:bodyPr anchorCtr="0" anchor="ctr" bIns="46025" lIns="92075" spcFirstLastPara="1" rIns="92075" wrap="square" tIns="33175">
            <a:noAutofit/>
          </a:bodyPr>
          <a:lstStyle/>
          <a:p>
            <a:pPr indent="0" lvl="0" marL="0" rtl="0" algn="ctr">
              <a:spcBef>
                <a:spcPts val="0"/>
              </a:spcBef>
              <a:spcAft>
                <a:spcPts val="0"/>
              </a:spcAft>
              <a:buNone/>
            </a:pPr>
            <a:r>
              <a:rPr b="1" lang="fr-FR" sz="3600">
                <a:solidFill>
                  <a:srgbClr val="000000"/>
                </a:solidFill>
              </a:rPr>
              <a:t>Ré-oxygénation</a:t>
            </a:r>
            <a:br>
              <a:rPr b="1" lang="fr-FR" sz="3600">
                <a:solidFill>
                  <a:srgbClr val="000000"/>
                </a:solidFill>
              </a:rPr>
            </a:br>
            <a:endParaRPr b="1" sz="3600">
              <a:solidFill>
                <a:srgbClr val="000000"/>
              </a:solidFill>
            </a:endParaRPr>
          </a:p>
        </p:txBody>
      </p:sp>
      <p:sp>
        <p:nvSpPr>
          <p:cNvPr id="254990" name="Google Shape;254990;p3"/>
          <p:cNvSpPr txBox="1"/>
          <p:nvPr>
            <p:ph idx="1" type="body"/>
          </p:nvPr>
        </p:nvSpPr>
        <p:spPr>
          <a:xfrm>
            <a:off x="152400" y="2133600"/>
            <a:ext cx="5562600" cy="3886200"/>
          </a:xfrm>
          <a:prstGeom prst="rect">
            <a:avLst/>
          </a:prstGeom>
          <a:noFill/>
          <a:ln>
            <a:noFill/>
          </a:ln>
        </p:spPr>
        <p:txBody>
          <a:bodyPr anchorCtr="0" anchor="t" bIns="46025" lIns="92075" spcFirstLastPara="1" rIns="92075" wrap="square" tIns="16575">
            <a:noAutofit/>
          </a:bodyPr>
          <a:lstStyle/>
          <a:p>
            <a:pPr indent="-342900" lvl="0" marL="342900" rtl="0" algn="l">
              <a:spcBef>
                <a:spcPts val="0"/>
              </a:spcBef>
              <a:spcAft>
                <a:spcPts val="0"/>
              </a:spcAft>
              <a:buSzPts val="1500"/>
              <a:buChar char="●"/>
            </a:pPr>
            <a:r>
              <a:rPr lang="fr-FR" sz="2000">
                <a:solidFill>
                  <a:srgbClr val="000000"/>
                </a:solidFill>
              </a:rPr>
              <a:t>Caractérisation des tissus tumoraux hypoxiques.</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Les tissus normaux avec une architecture tissulaire normale sont normoxiques.</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La lyse tumorale des cellules dans les couches périphériques produit une réoxygénation des tissus hypoxiques.</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La réaction est en cascade.</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La formation de radicaux libres et l'effet radiobiologique dépendent de la quantité d'oxygène tissulaire.</a:t>
            </a:r>
            <a:endParaRPr sz="2000">
              <a:solidFill>
                <a:srgbClr val="000000"/>
              </a:solidFill>
            </a:endParaRPr>
          </a:p>
          <a:p>
            <a:pPr indent="-253211" lvl="0" marL="406194" rtl="0" algn="l">
              <a:spcBef>
                <a:spcPts val="360"/>
              </a:spcBef>
              <a:spcAft>
                <a:spcPts val="0"/>
              </a:spcAft>
              <a:buClr>
                <a:srgbClr val="FFCC00"/>
              </a:buClr>
              <a:buSzPts val="810"/>
              <a:buFont typeface="Noto Sans Symbols"/>
              <a:buNone/>
            </a:pPr>
            <a:r>
              <a:t/>
            </a:r>
            <a:endParaRPr sz="1800">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0">
                                            <p:txEl>
                                              <p:pRg end="0" st="0"/>
                                            </p:txEl>
                                          </p:spTgt>
                                        </p:tgtEl>
                                        <p:attrNameLst>
                                          <p:attrName>style.visibility</p:attrName>
                                        </p:attrNameLst>
                                      </p:cBhvr>
                                      <p:to>
                                        <p:strVal val="visible"/>
                                      </p:to>
                                    </p:set>
                                    <p:anim calcmode="lin" valueType="num">
                                      <p:cBhvr additive="base">
                                        <p:cTn dur="500"/>
                                        <p:tgtEl>
                                          <p:spTgt spid="254990">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54990">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0">
                                            <p:txEl>
                                              <p:pRg end="1" st="1"/>
                                            </p:txEl>
                                          </p:spTgt>
                                        </p:tgtEl>
                                        <p:attrNameLst>
                                          <p:attrName>style.visibility</p:attrName>
                                        </p:attrNameLst>
                                      </p:cBhvr>
                                      <p:to>
                                        <p:strVal val="visible"/>
                                      </p:to>
                                    </p:set>
                                    <p:anim calcmode="lin" valueType="num">
                                      <p:cBhvr additive="base">
                                        <p:cTn dur="500"/>
                                        <p:tgtEl>
                                          <p:spTgt spid="254990">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54990">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0">
                                            <p:txEl>
                                              <p:pRg end="2" st="2"/>
                                            </p:txEl>
                                          </p:spTgt>
                                        </p:tgtEl>
                                        <p:attrNameLst>
                                          <p:attrName>style.visibility</p:attrName>
                                        </p:attrNameLst>
                                      </p:cBhvr>
                                      <p:to>
                                        <p:strVal val="visible"/>
                                      </p:to>
                                    </p:set>
                                    <p:anim calcmode="lin" valueType="num">
                                      <p:cBhvr additive="base">
                                        <p:cTn dur="500"/>
                                        <p:tgtEl>
                                          <p:spTgt spid="254990">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254990">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0">
                                            <p:txEl>
                                              <p:pRg end="3" st="3"/>
                                            </p:txEl>
                                          </p:spTgt>
                                        </p:tgtEl>
                                        <p:attrNameLst>
                                          <p:attrName>style.visibility</p:attrName>
                                        </p:attrNameLst>
                                      </p:cBhvr>
                                      <p:to>
                                        <p:strVal val="visible"/>
                                      </p:to>
                                    </p:set>
                                    <p:anim calcmode="lin" valueType="num">
                                      <p:cBhvr additive="base">
                                        <p:cTn dur="500"/>
                                        <p:tgtEl>
                                          <p:spTgt spid="254990">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254990">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0">
                                            <p:txEl>
                                              <p:pRg end="4" st="4"/>
                                            </p:txEl>
                                          </p:spTgt>
                                        </p:tgtEl>
                                        <p:attrNameLst>
                                          <p:attrName>style.visibility</p:attrName>
                                        </p:attrNameLst>
                                      </p:cBhvr>
                                      <p:to>
                                        <p:strVal val="visible"/>
                                      </p:to>
                                    </p:set>
                                    <p:anim calcmode="lin" valueType="num">
                                      <p:cBhvr additive="base">
                                        <p:cTn dur="500"/>
                                        <p:tgtEl>
                                          <p:spTgt spid="254990">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254990">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0">
                                            <p:txEl>
                                              <p:pRg end="5" st="5"/>
                                            </p:txEl>
                                          </p:spTgt>
                                        </p:tgtEl>
                                        <p:attrNameLst>
                                          <p:attrName>style.visibility</p:attrName>
                                        </p:attrNameLst>
                                      </p:cBhvr>
                                      <p:to>
                                        <p:strVal val="visible"/>
                                      </p:to>
                                    </p:set>
                                    <p:anim calcmode="lin" valueType="num">
                                      <p:cBhvr additive="base">
                                        <p:cTn dur="500"/>
                                        <p:tgtEl>
                                          <p:spTgt spid="254990">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254990">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a:xfrm>
            <a:off x="456977" y="624423"/>
            <a:ext cx="8228555" cy="1016995"/>
          </a:xfrm>
        </p:spPr>
        <p:txBody>
          <a:bodyPr vert="horz" wrap="square" lIns="92075" tIns="33188" rIns="92075" bIns="46038" numCol="1" anchor="ctr" anchorCtr="0" compatLnSpc="1">
            <a:prstTxWarp prst="textNoShape">
              <a:avLst/>
            </a:prstTxWarp>
          </a:bodyPr>
          <a:lstStyle/>
          <a:p>
            <a:pPr algn="ct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r>
              <a:rPr lang="en-US" sz="3600" b="1" dirty="0" err="1" smtClean="0">
                <a:solidFill>
                  <a:srgbClr val="000000"/>
                </a:solidFill>
                <a:effectLst/>
              </a:rPr>
              <a:t>Resynchronisation</a:t>
            </a:r>
            <a:r>
              <a:rPr lang="en-US" sz="3600" b="1" dirty="0">
                <a:solidFill>
                  <a:srgbClr val="000000"/>
                </a:solidFill>
                <a:effectLst/>
              </a:rPr>
              <a:t/>
            </a:r>
            <a:br>
              <a:rPr lang="en-US" sz="3600" b="1" dirty="0">
                <a:solidFill>
                  <a:srgbClr val="000000"/>
                </a:solidFill>
                <a:effectLst/>
              </a:rPr>
            </a:br>
            <a:endParaRPr lang="en-US" altLang="ro-RO" sz="3600" b="1" dirty="0">
              <a:solidFill>
                <a:srgbClr val="000000"/>
              </a:solidFill>
              <a:effectLst/>
            </a:endParaRPr>
          </a:p>
        </p:txBody>
      </p:sp>
      <p:sp>
        <p:nvSpPr>
          <p:cNvPr id="30723" name="Rectangle 2"/>
          <p:cNvSpPr>
            <a:spLocks noGrp="1" noChangeArrowheads="1"/>
          </p:cNvSpPr>
          <p:nvPr>
            <p:ph type="body" idx="1"/>
          </p:nvPr>
        </p:nvSpPr>
        <p:spPr>
          <a:xfrm>
            <a:off x="152400" y="2590800"/>
            <a:ext cx="4923453" cy="3989048"/>
          </a:xfrm>
        </p:spPr>
        <p:txBody>
          <a:bodyPr vert="horz" wrap="square" lIns="92075" tIns="16594" rIns="92075" bIns="46038" numCol="1" anchor="t" anchorCtr="0" compatLnSpc="1">
            <a:prstTxWarp prst="textNoShape">
              <a:avLst/>
            </a:prstTxWarp>
          </a:bodyPr>
          <a:lstStyle/>
          <a:p>
            <a:r>
              <a:rPr lang="fr-FR" sz="2000" dirty="0">
                <a:solidFill>
                  <a:srgbClr val="000000"/>
                </a:solidFill>
                <a:effectLst/>
              </a:rPr>
              <a:t>Il y a des phases dans le cycle cellulaire</a:t>
            </a:r>
            <a:endParaRPr lang="fr-FR" sz="2000" dirty="0">
              <a:solidFill>
                <a:srgbClr val="000000"/>
              </a:solidFill>
            </a:endParaRPr>
          </a:p>
          <a:p>
            <a:pPr lvl="1"/>
            <a:r>
              <a:rPr lang="fr-FR" sz="2000" dirty="0">
                <a:solidFill>
                  <a:srgbClr val="000000"/>
                </a:solidFill>
                <a:effectLst/>
              </a:rPr>
              <a:t>radiosensible (G2, M) </a:t>
            </a:r>
            <a:endParaRPr lang="fr-FR" sz="2000" dirty="0">
              <a:solidFill>
                <a:srgbClr val="000000"/>
              </a:solidFill>
            </a:endParaRPr>
          </a:p>
          <a:p>
            <a:pPr lvl="1"/>
            <a:r>
              <a:rPr lang="fr-FR" sz="2000" dirty="0">
                <a:solidFill>
                  <a:srgbClr val="000000"/>
                </a:solidFill>
                <a:effectLst/>
              </a:rPr>
              <a:t>résistant aux radiations (G1, S)</a:t>
            </a:r>
            <a:endParaRPr lang="fr-FR" sz="2000" dirty="0">
              <a:solidFill>
                <a:srgbClr val="000000"/>
              </a:solidFill>
            </a:endParaRPr>
          </a:p>
          <a:p>
            <a:r>
              <a:rPr lang="fr-FR" sz="2000" dirty="0">
                <a:solidFill>
                  <a:srgbClr val="000000"/>
                </a:solidFill>
                <a:effectLst/>
              </a:rPr>
              <a:t>Une population cellulaire est asynchrone par rapport aux phases du cycle cellulaire.</a:t>
            </a:r>
            <a:endParaRPr lang="fr-FR" sz="2000" dirty="0">
              <a:solidFill>
                <a:srgbClr val="000000"/>
              </a:solidFill>
            </a:endParaRPr>
          </a:p>
          <a:p>
            <a:r>
              <a:rPr lang="fr-FR" sz="2000" dirty="0">
                <a:solidFill>
                  <a:srgbClr val="000000"/>
                </a:solidFill>
                <a:effectLst/>
              </a:rPr>
              <a:t>La destruction sélective des cellules des phases radiosensibles produit une synchronisation relative des cellules tumorales.</a:t>
            </a:r>
            <a:endParaRPr lang="fr-FR" sz="2000" dirty="0">
              <a:solidFill>
                <a:srgbClr val="000000"/>
              </a:solidFill>
            </a:endParaRPr>
          </a:p>
          <a:p>
            <a:pPr marL="101548" indent="0">
              <a:buClrTx/>
              <a:buSzPct val="45000"/>
              <a:buNone/>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endParaRPr lang="en-US" altLang="ro-RO" sz="1800" dirty="0">
              <a:solidFill>
                <a:srgbClr val="000000"/>
              </a:solidFill>
              <a:effectLst/>
            </a:endParaRPr>
          </a:p>
        </p:txBody>
      </p:sp>
      <p:pic>
        <p:nvPicPr>
          <p:cNvPr id="307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057400"/>
            <a:ext cx="4221902" cy="410646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42209551"/>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991" name="Shape 254991"/>
        <p:cNvGrpSpPr/>
        <p:nvPr/>
      </p:nvGrpSpPr>
      <p:grpSpPr>
        <a:xfrm>
          <a:off x="0" y="0"/>
          <a:ext cx="0" cy="0"/>
          <a:chOff x="0" y="0"/>
          <a:chExt cx="0" cy="0"/>
        </a:xfrm>
      </p:grpSpPr>
      <p:sp>
        <p:nvSpPr>
          <p:cNvPr id="254992" name="Google Shape;254992;p4"/>
          <p:cNvSpPr txBox="1"/>
          <p:nvPr>
            <p:ph type="title"/>
          </p:nvPr>
        </p:nvSpPr>
        <p:spPr>
          <a:xfrm>
            <a:off x="456977" y="624423"/>
            <a:ext cx="8228700" cy="1017000"/>
          </a:xfrm>
          <a:prstGeom prst="rect">
            <a:avLst/>
          </a:prstGeom>
          <a:noFill/>
          <a:ln>
            <a:noFill/>
          </a:ln>
        </p:spPr>
        <p:txBody>
          <a:bodyPr anchorCtr="0" anchor="ctr" bIns="46025" lIns="92075" spcFirstLastPara="1" rIns="92075" wrap="square" tIns="33175">
            <a:noAutofit/>
          </a:bodyPr>
          <a:lstStyle/>
          <a:p>
            <a:pPr indent="0" lvl="0" marL="0" rtl="0" algn="ctr">
              <a:spcBef>
                <a:spcPts val="0"/>
              </a:spcBef>
              <a:spcAft>
                <a:spcPts val="0"/>
              </a:spcAft>
              <a:buNone/>
            </a:pPr>
            <a:r>
              <a:rPr b="1" lang="fr-FR" sz="3600">
                <a:solidFill>
                  <a:srgbClr val="000000"/>
                </a:solidFill>
              </a:rPr>
              <a:t>Repopulation</a:t>
            </a:r>
            <a:br>
              <a:rPr b="1" lang="fr-FR" sz="3600">
                <a:solidFill>
                  <a:srgbClr val="000000"/>
                </a:solidFill>
              </a:rPr>
            </a:br>
            <a:endParaRPr b="1" sz="3600">
              <a:solidFill>
                <a:srgbClr val="000000"/>
              </a:solidFill>
            </a:endParaRPr>
          </a:p>
        </p:txBody>
      </p:sp>
      <p:sp>
        <p:nvSpPr>
          <p:cNvPr id="254993" name="Google Shape;254993;p4"/>
          <p:cNvSpPr txBox="1"/>
          <p:nvPr>
            <p:ph idx="1" type="body"/>
          </p:nvPr>
        </p:nvSpPr>
        <p:spPr>
          <a:xfrm>
            <a:off x="456976" y="2057400"/>
            <a:ext cx="8228700" cy="3449700"/>
          </a:xfrm>
          <a:prstGeom prst="rect">
            <a:avLst/>
          </a:prstGeom>
          <a:noFill/>
          <a:ln>
            <a:noFill/>
          </a:ln>
        </p:spPr>
        <p:txBody>
          <a:bodyPr anchorCtr="0" anchor="t" bIns="46025" lIns="92075" spcFirstLastPara="1" rIns="92075" wrap="square" tIns="16575">
            <a:noAutofit/>
          </a:bodyPr>
          <a:lstStyle/>
          <a:p>
            <a:pPr indent="-342900" lvl="0" marL="342900" rtl="0" algn="l">
              <a:spcBef>
                <a:spcPts val="0"/>
              </a:spcBef>
              <a:spcAft>
                <a:spcPts val="0"/>
              </a:spcAft>
              <a:buSzPts val="1500"/>
              <a:buChar char="●"/>
            </a:pPr>
            <a:r>
              <a:rPr lang="fr-FR" sz="2000">
                <a:solidFill>
                  <a:srgbClr val="000000"/>
                </a:solidFill>
              </a:rPr>
              <a:t>Phénomène caractéristique des tissus normaux et tumoraux.</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La repopulation des tissus normaux atténue les effets secondaires de l'irradiation.</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La repopulation des tissus tumoraux provoque une rechute en recrutant des cellules dormantes dans la phase G0 du cycle cellulaire.</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Phénomène sous-jacent à l'inefficacité de la radiothérapie.</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Elle apparaît tardivement, 5 à 8 semaines après le début de l'irradiation.</a:t>
            </a:r>
            <a:endParaRPr sz="2000">
              <a:solidFill>
                <a:srgbClr val="000000"/>
              </a:solidFill>
            </a:endParaRPr>
          </a:p>
          <a:p>
            <a:pPr indent="-304646" lvl="0" marL="406194" rtl="0" algn="l">
              <a:spcBef>
                <a:spcPts val="400"/>
              </a:spcBef>
              <a:spcAft>
                <a:spcPts val="0"/>
              </a:spcAft>
              <a:buClr>
                <a:srgbClr val="FFCC00"/>
              </a:buClr>
              <a:buSzPts val="900"/>
              <a:buNone/>
            </a:pPr>
            <a:r>
              <a:t/>
            </a:r>
            <a:endParaRPr sz="2000">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3">
                                            <p:txEl>
                                              <p:pRg end="0" st="0"/>
                                            </p:txEl>
                                          </p:spTgt>
                                        </p:tgtEl>
                                        <p:attrNameLst>
                                          <p:attrName>style.visibility</p:attrName>
                                        </p:attrNameLst>
                                      </p:cBhvr>
                                      <p:to>
                                        <p:strVal val="visible"/>
                                      </p:to>
                                    </p:set>
                                    <p:anim calcmode="lin" valueType="num">
                                      <p:cBhvr additive="base">
                                        <p:cTn dur="500"/>
                                        <p:tgtEl>
                                          <p:spTgt spid="254993">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54993">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3">
                                            <p:txEl>
                                              <p:pRg end="1" st="1"/>
                                            </p:txEl>
                                          </p:spTgt>
                                        </p:tgtEl>
                                        <p:attrNameLst>
                                          <p:attrName>style.visibility</p:attrName>
                                        </p:attrNameLst>
                                      </p:cBhvr>
                                      <p:to>
                                        <p:strVal val="visible"/>
                                      </p:to>
                                    </p:set>
                                    <p:anim calcmode="lin" valueType="num">
                                      <p:cBhvr additive="base">
                                        <p:cTn dur="500"/>
                                        <p:tgtEl>
                                          <p:spTgt spid="254993">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54993">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3">
                                            <p:txEl>
                                              <p:pRg end="2" st="2"/>
                                            </p:txEl>
                                          </p:spTgt>
                                        </p:tgtEl>
                                        <p:attrNameLst>
                                          <p:attrName>style.visibility</p:attrName>
                                        </p:attrNameLst>
                                      </p:cBhvr>
                                      <p:to>
                                        <p:strVal val="visible"/>
                                      </p:to>
                                    </p:set>
                                    <p:anim calcmode="lin" valueType="num">
                                      <p:cBhvr additive="base">
                                        <p:cTn dur="500"/>
                                        <p:tgtEl>
                                          <p:spTgt spid="254993">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254993">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3">
                                            <p:txEl>
                                              <p:pRg end="3" st="3"/>
                                            </p:txEl>
                                          </p:spTgt>
                                        </p:tgtEl>
                                        <p:attrNameLst>
                                          <p:attrName>style.visibility</p:attrName>
                                        </p:attrNameLst>
                                      </p:cBhvr>
                                      <p:to>
                                        <p:strVal val="visible"/>
                                      </p:to>
                                    </p:set>
                                    <p:anim calcmode="lin" valueType="num">
                                      <p:cBhvr additive="base">
                                        <p:cTn dur="500"/>
                                        <p:tgtEl>
                                          <p:spTgt spid="254993">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254993">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3">
                                            <p:txEl>
                                              <p:pRg end="4" st="4"/>
                                            </p:txEl>
                                          </p:spTgt>
                                        </p:tgtEl>
                                        <p:attrNameLst>
                                          <p:attrName>style.visibility</p:attrName>
                                        </p:attrNameLst>
                                      </p:cBhvr>
                                      <p:to>
                                        <p:strVal val="visible"/>
                                      </p:to>
                                    </p:set>
                                    <p:anim calcmode="lin" valueType="num">
                                      <p:cBhvr additive="base">
                                        <p:cTn dur="500"/>
                                        <p:tgtEl>
                                          <p:spTgt spid="254993">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254993">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3">
                                            <p:txEl>
                                              <p:pRg end="5" st="5"/>
                                            </p:txEl>
                                          </p:spTgt>
                                        </p:tgtEl>
                                        <p:attrNameLst>
                                          <p:attrName>style.visibility</p:attrName>
                                        </p:attrNameLst>
                                      </p:cBhvr>
                                      <p:to>
                                        <p:strVal val="visible"/>
                                      </p:to>
                                    </p:set>
                                    <p:anim calcmode="lin" valueType="num">
                                      <p:cBhvr additive="base">
                                        <p:cTn dur="500"/>
                                        <p:tgtEl>
                                          <p:spTgt spid="254993">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254993">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err="1">
                <a:solidFill>
                  <a:srgbClr val="000000"/>
                </a:solidFill>
                <a:effectLst/>
              </a:rPr>
              <a:t>Radiosensibilité</a:t>
            </a:r>
            <a:r>
              <a:rPr lang="en-US" sz="3600" b="1" dirty="0">
                <a:solidFill>
                  <a:srgbClr val="000000"/>
                </a:solidFill>
                <a:effectLst/>
              </a:rPr>
              <a:t> </a:t>
            </a:r>
            <a:r>
              <a:rPr lang="en-US" sz="3600" b="1" dirty="0" err="1">
                <a:solidFill>
                  <a:srgbClr val="000000"/>
                </a:solidFill>
                <a:effectLst/>
              </a:rPr>
              <a:t>intrinsèque</a:t>
            </a:r>
            <a:r>
              <a:rPr lang="en-US" b="1" dirty="0">
                <a:effectLst/>
              </a:rPr>
              <a:t/>
            </a:r>
            <a:br>
              <a:rPr lang="en-US" b="1" dirty="0">
                <a:effectLst/>
              </a:rPr>
            </a:br>
            <a:endParaRPr lang="en-US" dirty="0">
              <a:solidFill>
                <a:srgbClr val="000000"/>
              </a:solidFill>
            </a:endParaRPr>
          </a:p>
        </p:txBody>
      </p:sp>
      <p:sp>
        <p:nvSpPr>
          <p:cNvPr id="4" name="Footer Placeholder 3"/>
          <p:cNvSpPr>
            <a:spLocks noGrp="1"/>
          </p:cNvSpPr>
          <p:nvPr>
            <p:ph type="ftr" sz="quarter" idx="11"/>
          </p:nvPr>
        </p:nvSpPr>
        <p:spPr/>
        <p:txBody>
          <a:bodyPr/>
          <a:lstStyle/>
          <a:p>
            <a:pPr>
              <a:defRPr/>
            </a:pPr>
            <a:r>
              <a:rPr lang="en-US" altLang="en-US" smtClean="0"/>
              <a:t>IAEA Training Course: Radiation Protection in Radiotherapy</a:t>
            </a:r>
            <a:endParaRPr lang="en-US" altLang="en-US"/>
          </a:p>
        </p:txBody>
      </p:sp>
      <p:sp>
        <p:nvSpPr>
          <p:cNvPr id="5" name="Slide Number Placeholder 4"/>
          <p:cNvSpPr>
            <a:spLocks noGrp="1"/>
          </p:cNvSpPr>
          <p:nvPr>
            <p:ph type="sldNum" sz="quarter" idx="12"/>
          </p:nvPr>
        </p:nvSpPr>
        <p:spPr/>
        <p:txBody>
          <a:bodyPr/>
          <a:lstStyle/>
          <a:p>
            <a:pPr>
              <a:defRPr/>
            </a:pPr>
            <a:r>
              <a:rPr lang="en-US" altLang="en-US" smtClean="0"/>
              <a:t>slide </a:t>
            </a:r>
            <a:fld id="{E9B0F1A9-E07B-4EDF-960F-11DC747D4253}" type="slidenum">
              <a:rPr lang="en-US" altLang="en-US" smtClean="0"/>
              <a:pPr>
                <a:defRPr/>
              </a:pPr>
              <a:t>11</a:t>
            </a:fld>
            <a:endParaRPr lang="en-US" altLang="en-US">
              <a:solidFill>
                <a:schemeClr val="tx1"/>
              </a:solidFill>
            </a:endParaRPr>
          </a:p>
        </p:txBody>
      </p:sp>
      <p:sp>
        <p:nvSpPr>
          <p:cNvPr id="6" name="Content Placeholder 5"/>
          <p:cNvSpPr>
            <a:spLocks noGrp="1"/>
          </p:cNvSpPr>
          <p:nvPr>
            <p:ph idx="1"/>
          </p:nvPr>
        </p:nvSpPr>
        <p:spPr/>
        <p:txBody>
          <a:bodyPr/>
          <a:lstStyle/>
          <a:p>
            <a:r>
              <a:rPr lang="fr-FR" sz="2000" dirty="0">
                <a:solidFill>
                  <a:srgbClr val="000000"/>
                </a:solidFill>
                <a:effectLst/>
              </a:rPr>
              <a:t>Il existe des différences significatives entre la radiosensibilité de différentes tumeurs</a:t>
            </a:r>
            <a:endParaRPr lang="fr-FR" sz="2000" dirty="0">
              <a:solidFill>
                <a:srgbClr val="000000"/>
              </a:solidFill>
            </a:endParaRPr>
          </a:p>
          <a:p>
            <a:r>
              <a:rPr lang="fr-FR" sz="2000" dirty="0">
                <a:solidFill>
                  <a:srgbClr val="000000"/>
                </a:solidFill>
                <a:effectLst/>
              </a:rPr>
              <a:t>Fraction de survie cellulaire à 2Gy:</a:t>
            </a:r>
            <a:endParaRPr lang="fr-FR" sz="2000" dirty="0">
              <a:solidFill>
                <a:srgbClr val="000000"/>
              </a:solidFill>
            </a:endParaRPr>
          </a:p>
          <a:p>
            <a:r>
              <a:rPr lang="fr-FR" sz="2000" b="1" dirty="0">
                <a:solidFill>
                  <a:srgbClr val="000000"/>
                </a:solidFill>
                <a:effectLst/>
              </a:rPr>
              <a:t>- 0,2 pour les tumeurs radiosensibles (lymphomes, myélomes) </a:t>
            </a:r>
            <a:endParaRPr lang="fr-FR" sz="2000" b="1" dirty="0">
              <a:solidFill>
                <a:srgbClr val="000000"/>
              </a:solidFill>
            </a:endParaRPr>
          </a:p>
          <a:p>
            <a:r>
              <a:rPr lang="fr-FR" sz="2000" b="1" dirty="0">
                <a:solidFill>
                  <a:srgbClr val="000000"/>
                </a:solidFill>
                <a:effectLst/>
              </a:rPr>
              <a:t>- 0,5 pour les tumeurs </a:t>
            </a:r>
            <a:r>
              <a:rPr lang="fr-FR" sz="2000" b="1" dirty="0" err="1">
                <a:solidFill>
                  <a:srgbClr val="000000"/>
                </a:solidFill>
                <a:effectLst/>
              </a:rPr>
              <a:t>radiorésistantes</a:t>
            </a:r>
            <a:r>
              <a:rPr lang="fr-FR" sz="2000" b="1" dirty="0">
                <a:solidFill>
                  <a:srgbClr val="000000"/>
                </a:solidFill>
                <a:effectLst/>
              </a:rPr>
              <a:t> (</a:t>
            </a:r>
            <a:r>
              <a:rPr lang="fr-FR" sz="2000" b="1" dirty="0" err="1">
                <a:solidFill>
                  <a:srgbClr val="000000"/>
                </a:solidFill>
                <a:effectLst/>
              </a:rPr>
              <a:t>myélooma</a:t>
            </a:r>
            <a:r>
              <a:rPr lang="fr-FR" sz="2000" b="1" dirty="0">
                <a:solidFill>
                  <a:srgbClr val="000000"/>
                </a:solidFill>
                <a:effectLst/>
              </a:rPr>
              <a:t>, ostéosarcome)</a:t>
            </a:r>
            <a:endParaRPr lang="fr-FR" sz="2000" b="1" dirty="0">
              <a:solidFill>
                <a:srgbClr val="000000"/>
              </a:solidFill>
            </a:endParaRPr>
          </a:p>
          <a:p>
            <a:pPr marL="0" indent="0">
              <a:buNone/>
            </a:pPr>
            <a:endParaRPr lang="en-US" dirty="0">
              <a:solidFill>
                <a:srgbClr val="000000"/>
              </a:solidFill>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a:xfrm>
            <a:off x="228600" y="609600"/>
            <a:ext cx="9144000" cy="1143000"/>
          </a:xfrm>
        </p:spPr>
        <p:txBody>
          <a:bodyPr/>
          <a:lstStyle/>
          <a:p>
            <a:pPr algn="ctr">
              <a:defRPr/>
            </a:pPr>
            <a:r>
              <a:rPr lang="fr-FR" sz="3600" dirty="0">
                <a:solidFill>
                  <a:srgbClr val="000000"/>
                </a:solidFill>
                <a:effectLst/>
              </a:rPr>
              <a:t>Applications pratiques de la radiobiologie</a:t>
            </a:r>
            <a:r>
              <a:rPr lang="fr-FR" sz="4000" b="1" dirty="0">
                <a:effectLst/>
              </a:rPr>
              <a:t/>
            </a:r>
            <a:br>
              <a:rPr lang="fr-FR" sz="4000" b="1" dirty="0">
                <a:effectLst/>
              </a:rPr>
            </a:br>
            <a:endParaRPr lang="en-US" altLang="en-US" sz="4000" b="1" dirty="0" smtClean="0">
              <a:solidFill>
                <a:srgbClr val="000000"/>
              </a:solidFill>
              <a:effectLst/>
            </a:endParaRPr>
          </a:p>
        </p:txBody>
      </p:sp>
      <p:sp>
        <p:nvSpPr>
          <p:cNvPr id="11269" name="Rectangle 5"/>
          <p:cNvSpPr>
            <a:spLocks noGrp="1" noChangeArrowheads="1"/>
          </p:cNvSpPr>
          <p:nvPr>
            <p:ph type="body" idx="1"/>
          </p:nvPr>
        </p:nvSpPr>
        <p:spPr>
          <a:xfrm>
            <a:off x="685800" y="2438400"/>
            <a:ext cx="8001000" cy="3810000"/>
          </a:xfrm>
        </p:spPr>
        <p:txBody>
          <a:bodyPr/>
          <a:lstStyle/>
          <a:p>
            <a:r>
              <a:rPr lang="fr-FR" sz="2000" dirty="0">
                <a:solidFill>
                  <a:srgbClr val="000000"/>
                </a:solidFill>
                <a:effectLst/>
              </a:rPr>
              <a:t>La radiobiologie est la base de la compréhension de la pratique de la radiothérapie. </a:t>
            </a:r>
            <a:endParaRPr lang="fr-FR" sz="2000" dirty="0">
              <a:solidFill>
                <a:srgbClr val="000000"/>
              </a:solidFill>
            </a:endParaRPr>
          </a:p>
          <a:p>
            <a:r>
              <a:rPr lang="fr-FR" sz="2000" dirty="0">
                <a:solidFill>
                  <a:srgbClr val="000000"/>
                </a:solidFill>
                <a:effectLst/>
              </a:rPr>
              <a:t>Il permet d'optimiser le plan de traitement en termes de</a:t>
            </a:r>
            <a:endParaRPr lang="fr-FR" sz="2000" dirty="0">
              <a:solidFill>
                <a:srgbClr val="000000"/>
              </a:solidFill>
            </a:endParaRPr>
          </a:p>
          <a:p>
            <a:pPr lvl="1"/>
            <a:r>
              <a:rPr lang="fr-FR" sz="2000" dirty="0">
                <a:solidFill>
                  <a:srgbClr val="000000"/>
                </a:solidFill>
                <a:effectLst/>
              </a:rPr>
              <a:t>dose totale </a:t>
            </a:r>
            <a:endParaRPr lang="fr-FR" sz="2000" dirty="0">
              <a:solidFill>
                <a:srgbClr val="000000"/>
              </a:solidFill>
            </a:endParaRPr>
          </a:p>
          <a:p>
            <a:pPr lvl="1"/>
            <a:r>
              <a:rPr lang="fr-FR" sz="2000" dirty="0">
                <a:solidFill>
                  <a:srgbClr val="000000"/>
                </a:solidFill>
                <a:effectLst/>
              </a:rPr>
              <a:t>fractionnement (divisant la dose en plusieurs séances de traitement)</a:t>
            </a:r>
            <a:endParaRPr lang="fr-FR" sz="2000" dirty="0">
              <a:solidFill>
                <a:srgbClr val="000000"/>
              </a:solidFill>
            </a:endParaRPr>
          </a:p>
          <a:p>
            <a:pPr lvl="1"/>
            <a:r>
              <a:rPr lang="fr-FR" sz="2000" dirty="0">
                <a:solidFill>
                  <a:srgbClr val="000000"/>
                </a:solidFill>
                <a:effectLst/>
              </a:rPr>
              <a:t>affichage (durée totale du traitement)</a:t>
            </a:r>
            <a:endParaRPr lang="fr-FR" sz="2000" dirty="0">
              <a:solidFill>
                <a:srgbClr val="000000"/>
              </a:solidFill>
            </a:endParaRPr>
          </a:p>
          <a:p>
            <a:pPr lvl="1"/>
            <a:r>
              <a:rPr lang="fr-FR" sz="2000" dirty="0">
                <a:solidFill>
                  <a:srgbClr val="000000"/>
                </a:solidFill>
                <a:effectLst/>
              </a:rPr>
              <a:t>contrôle des tumeurs </a:t>
            </a:r>
            <a:endParaRPr lang="fr-FR" sz="2000" dirty="0">
              <a:solidFill>
                <a:srgbClr val="000000"/>
              </a:solidFill>
            </a:endParaRPr>
          </a:p>
          <a:p>
            <a:pPr lvl="1"/>
            <a:r>
              <a:rPr lang="fr-FR" sz="2000" dirty="0">
                <a:solidFill>
                  <a:srgbClr val="000000"/>
                </a:solidFill>
                <a:effectLst/>
              </a:rPr>
              <a:t>apparition d'effets secondaires aigus et tardifs</a:t>
            </a:r>
            <a:endParaRPr lang="fr-FR" sz="2000" dirty="0">
              <a:solidFill>
                <a:srgbClr val="000000"/>
              </a:solidFill>
            </a:endParaRPr>
          </a:p>
          <a:p>
            <a:pPr>
              <a:buClr>
                <a:srgbClr val="000000"/>
              </a:buClr>
              <a:buSzPct val="50000"/>
              <a:defRPr/>
            </a:pPr>
            <a:endParaRPr lang="en-US" altLang="en-US" sz="1600" dirty="0" smtClean="0">
              <a:solidFill>
                <a:srgbClr val="000000"/>
              </a:solidFill>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xfrm>
            <a:off x="304800" y="1828800"/>
            <a:ext cx="8367332" cy="4572000"/>
          </a:xfrm>
        </p:spPr>
        <p:txBody>
          <a:bodyPr/>
          <a:lstStyle/>
          <a:p>
            <a:pPr>
              <a:lnSpc>
                <a:spcPct val="90000"/>
              </a:lnSpc>
              <a:buClrTx/>
              <a:buFont typeface="Arial" panose="020B0604020202020204" pitchFamily="34" charset="0"/>
              <a:buChar char="•"/>
              <a:defRPr/>
            </a:pPr>
            <a:r>
              <a:rPr lang="fr-FR" sz="2800" dirty="0">
                <a:solidFill>
                  <a:srgbClr val="000000"/>
                </a:solidFill>
                <a:effectLst/>
              </a:rPr>
              <a:t>radiothérapie externe vs </a:t>
            </a:r>
            <a:r>
              <a:rPr lang="fr-FR" sz="2800" dirty="0" err="1" smtClean="0">
                <a:solidFill>
                  <a:srgbClr val="000000"/>
                </a:solidFill>
                <a:effectLst/>
              </a:rPr>
              <a:t>brachythérapie</a:t>
            </a:r>
            <a:endParaRPr lang="fr-FR" sz="2800" dirty="0">
              <a:solidFill>
                <a:srgbClr val="000000"/>
              </a:solidFill>
            </a:endParaRPr>
          </a:p>
          <a:p>
            <a:pPr>
              <a:lnSpc>
                <a:spcPct val="90000"/>
              </a:lnSpc>
              <a:buClrTx/>
              <a:buFont typeface="Arial" panose="020B0604020202020204" pitchFamily="34" charset="0"/>
              <a:buChar char="•"/>
              <a:defRPr/>
            </a:pPr>
            <a:endParaRPr lang="ro-RO" altLang="en-US" sz="2800" dirty="0" smtClean="0">
              <a:solidFill>
                <a:srgbClr val="000000"/>
              </a:solidFill>
              <a:effectLst/>
            </a:endParaRPr>
          </a:p>
          <a:p>
            <a:pPr>
              <a:lnSpc>
                <a:spcPct val="90000"/>
              </a:lnSpc>
              <a:buClrTx/>
              <a:buFont typeface="Arial" panose="020B0604020202020204" pitchFamily="34" charset="0"/>
              <a:buChar char="•"/>
              <a:defRPr/>
            </a:pPr>
            <a:endParaRPr lang="en-US" altLang="en-US" sz="2800" dirty="0" smtClean="0">
              <a:solidFill>
                <a:srgbClr val="000000"/>
              </a:solidFill>
              <a:effectLst/>
            </a:endParaRPr>
          </a:p>
          <a:p>
            <a:pPr>
              <a:lnSpc>
                <a:spcPct val="90000"/>
              </a:lnSpc>
              <a:buClrTx/>
              <a:buFont typeface="Arial" panose="020B0604020202020204" pitchFamily="34" charset="0"/>
              <a:buChar char="•"/>
              <a:defRPr/>
            </a:pPr>
            <a:endParaRPr lang="en-US" altLang="en-US" sz="2800" dirty="0" smtClean="0">
              <a:solidFill>
                <a:srgbClr val="000000"/>
              </a:solidFill>
              <a:effectLst/>
            </a:endParaRPr>
          </a:p>
          <a:p>
            <a:pPr>
              <a:lnSpc>
                <a:spcPct val="90000"/>
              </a:lnSpc>
              <a:buClrTx/>
              <a:buFont typeface="Arial" panose="020B0604020202020204" pitchFamily="34" charset="0"/>
              <a:buChar char="•"/>
              <a:defRPr/>
            </a:pPr>
            <a:endParaRPr lang="en-US" altLang="en-US" sz="2800" dirty="0" smtClean="0">
              <a:solidFill>
                <a:srgbClr val="000000"/>
              </a:solidFill>
              <a:effectLst/>
            </a:endParaRPr>
          </a:p>
          <a:p>
            <a:pPr>
              <a:lnSpc>
                <a:spcPct val="90000"/>
              </a:lnSpc>
              <a:buClrTx/>
              <a:buFont typeface="Arial" panose="020B0604020202020204" pitchFamily="34" charset="0"/>
              <a:buChar char="•"/>
              <a:defRPr/>
            </a:pPr>
            <a:endParaRPr lang="en-US" altLang="en-US" sz="2800" dirty="0" smtClean="0">
              <a:solidFill>
                <a:srgbClr val="000000"/>
              </a:solidFill>
              <a:effectLst/>
            </a:endParaRPr>
          </a:p>
          <a:p>
            <a:pPr>
              <a:lnSpc>
                <a:spcPct val="90000"/>
              </a:lnSpc>
              <a:buClrTx/>
              <a:buFont typeface="Arial" panose="020B0604020202020204" pitchFamily="34" charset="0"/>
              <a:buChar char="•"/>
              <a:defRPr/>
            </a:pPr>
            <a:endParaRPr lang="en-US" altLang="en-US" sz="2800" dirty="0" smtClean="0">
              <a:solidFill>
                <a:srgbClr val="000000"/>
              </a:solidFill>
              <a:effectLst/>
            </a:endParaRPr>
          </a:p>
          <a:p>
            <a:pPr>
              <a:lnSpc>
                <a:spcPct val="90000"/>
              </a:lnSpc>
              <a:buClrTx/>
              <a:buFont typeface="Arial" panose="020B0604020202020204" pitchFamily="34" charset="0"/>
              <a:buChar char="•"/>
              <a:defRPr/>
            </a:pPr>
            <a:endParaRPr lang="en-US" altLang="en-US" sz="2800" dirty="0" smtClean="0">
              <a:solidFill>
                <a:srgbClr val="000000"/>
              </a:solidFill>
              <a:effectLst/>
            </a:endParaRPr>
          </a:p>
          <a:p>
            <a:r>
              <a:rPr lang="fr-FR" sz="2000" dirty="0" smtClean="0">
                <a:solidFill>
                  <a:srgbClr val="000000"/>
                </a:solidFill>
                <a:effectLst/>
              </a:rPr>
              <a:t>En </a:t>
            </a:r>
            <a:r>
              <a:rPr lang="fr-FR" sz="2000" dirty="0" err="1">
                <a:solidFill>
                  <a:srgbClr val="000000"/>
                </a:solidFill>
                <a:effectLst/>
              </a:rPr>
              <a:t>b</a:t>
            </a:r>
            <a:r>
              <a:rPr lang="fr-FR" sz="2000" dirty="0" err="1" smtClean="0">
                <a:solidFill>
                  <a:srgbClr val="000000"/>
                </a:solidFill>
                <a:effectLst/>
              </a:rPr>
              <a:t>rachythérapie</a:t>
            </a:r>
            <a:r>
              <a:rPr lang="fr-FR" sz="2000" dirty="0" smtClean="0">
                <a:solidFill>
                  <a:srgbClr val="000000"/>
                </a:solidFill>
                <a:effectLst/>
              </a:rPr>
              <a:t> </a:t>
            </a:r>
            <a:r>
              <a:rPr lang="fr-FR" sz="2000" dirty="0">
                <a:solidFill>
                  <a:srgbClr val="000000"/>
                </a:solidFill>
                <a:effectLst/>
              </a:rPr>
              <a:t>, de très fortes doses sont délivrées directement au volume tumoral, à l'aide de petites sources </a:t>
            </a:r>
            <a:endParaRPr lang="fr-FR" sz="2000" dirty="0">
              <a:solidFill>
                <a:srgbClr val="000000"/>
              </a:solidFill>
            </a:endParaRPr>
          </a:p>
          <a:p>
            <a:pPr>
              <a:lnSpc>
                <a:spcPct val="90000"/>
              </a:lnSpc>
              <a:buClrTx/>
              <a:buFont typeface="Arial" panose="020B0604020202020204" pitchFamily="34" charset="0"/>
              <a:buChar char="•"/>
              <a:defRPr/>
            </a:pPr>
            <a:endParaRPr lang="ro-RO" altLang="en-US" sz="2000" dirty="0" smtClean="0">
              <a:solidFill>
                <a:srgbClr val="000000"/>
              </a:solidFill>
              <a:effectLst/>
            </a:endParaRPr>
          </a:p>
        </p:txBody>
      </p:sp>
      <p:sp>
        <p:nvSpPr>
          <p:cNvPr id="7174" name="Rectangle 4"/>
          <p:cNvSpPr>
            <a:spLocks noChangeArrowheads="1"/>
          </p:cNvSpPr>
          <p:nvPr/>
        </p:nvSpPr>
        <p:spPr bwMode="auto">
          <a:xfrm>
            <a:off x="2111375" y="3889375"/>
            <a:ext cx="971550" cy="847725"/>
          </a:xfrm>
          <a:prstGeom prst="rect">
            <a:avLst/>
          </a:prstGeom>
          <a:solidFill>
            <a:schemeClr val="accent1"/>
          </a:solidFill>
          <a:ln w="57150">
            <a:solidFill>
              <a:srgbClr val="FF6600"/>
            </a:solidFill>
            <a:miter lim="800000"/>
            <a:headEnd type="none" w="sm" len="sm"/>
            <a:tailEnd type="none" w="sm" len="sm"/>
          </a:ln>
          <a:effectLst/>
        </p:spPr>
        <p:txBody>
          <a:bodyPr wrap="none" anchor="ctr"/>
          <a:lstStyle/>
          <a:p>
            <a:endParaRPr lang="en-US"/>
          </a:p>
        </p:txBody>
      </p:sp>
      <p:sp>
        <p:nvSpPr>
          <p:cNvPr id="7175" name="Rectangle 5"/>
          <p:cNvSpPr>
            <a:spLocks noChangeArrowheads="1"/>
          </p:cNvSpPr>
          <p:nvPr/>
        </p:nvSpPr>
        <p:spPr bwMode="auto">
          <a:xfrm>
            <a:off x="2327275" y="3302000"/>
            <a:ext cx="347663" cy="1271588"/>
          </a:xfrm>
          <a:prstGeom prst="rect">
            <a:avLst/>
          </a:prstGeom>
          <a:solidFill>
            <a:srgbClr val="FFFF00"/>
          </a:solidFill>
          <a:ln w="12700">
            <a:solidFill>
              <a:srgbClr val="66FF33"/>
            </a:solidFill>
            <a:miter lim="800000"/>
            <a:headEnd type="none" w="sm" len="sm"/>
            <a:tailEnd type="none" w="sm" len="sm"/>
          </a:ln>
          <a:effectLst/>
        </p:spPr>
        <p:txBody>
          <a:bodyPr wrap="none" anchor="ctr"/>
          <a:lstStyle/>
          <a:p>
            <a:endParaRPr lang="en-US"/>
          </a:p>
        </p:txBody>
      </p:sp>
      <p:sp>
        <p:nvSpPr>
          <p:cNvPr id="7176" name="Rectangle 6"/>
          <p:cNvSpPr>
            <a:spLocks noChangeArrowheads="1"/>
          </p:cNvSpPr>
          <p:nvPr/>
        </p:nvSpPr>
        <p:spPr bwMode="auto">
          <a:xfrm rot="-4782761">
            <a:off x="1697831" y="3440907"/>
            <a:ext cx="327025" cy="1630362"/>
          </a:xfrm>
          <a:prstGeom prst="rect">
            <a:avLst/>
          </a:prstGeom>
          <a:solidFill>
            <a:srgbClr val="FFFF00"/>
          </a:solidFill>
          <a:ln w="12700">
            <a:solidFill>
              <a:srgbClr val="66FF33"/>
            </a:solidFill>
            <a:miter lim="800000"/>
            <a:headEnd type="none" w="sm" len="sm"/>
            <a:tailEnd type="none" w="sm" len="sm"/>
          </a:ln>
          <a:effectLst/>
        </p:spPr>
        <p:txBody>
          <a:bodyPr wrap="none" anchor="ctr"/>
          <a:lstStyle/>
          <a:p>
            <a:endParaRPr lang="en-US"/>
          </a:p>
        </p:txBody>
      </p:sp>
      <p:sp>
        <p:nvSpPr>
          <p:cNvPr id="7177" name="Rectangle 7"/>
          <p:cNvSpPr>
            <a:spLocks noChangeArrowheads="1"/>
          </p:cNvSpPr>
          <p:nvPr/>
        </p:nvSpPr>
        <p:spPr bwMode="auto">
          <a:xfrm rot="4309219">
            <a:off x="2988469" y="3336132"/>
            <a:ext cx="327025" cy="1665287"/>
          </a:xfrm>
          <a:prstGeom prst="rect">
            <a:avLst/>
          </a:prstGeom>
          <a:solidFill>
            <a:srgbClr val="FFFF00"/>
          </a:solidFill>
          <a:ln w="12700">
            <a:solidFill>
              <a:srgbClr val="66FF33"/>
            </a:solidFill>
            <a:miter lim="800000"/>
            <a:headEnd type="none" w="sm" len="sm"/>
            <a:tailEnd type="none" w="sm" len="sm"/>
          </a:ln>
          <a:effectLst/>
        </p:spPr>
        <p:txBody>
          <a:bodyPr wrap="none" anchor="ctr"/>
          <a:lstStyle/>
          <a:p>
            <a:endParaRPr lang="en-US"/>
          </a:p>
        </p:txBody>
      </p:sp>
      <p:sp>
        <p:nvSpPr>
          <p:cNvPr id="7178" name="Oval 8"/>
          <p:cNvSpPr>
            <a:spLocks noChangeArrowheads="1"/>
          </p:cNvSpPr>
          <p:nvPr/>
        </p:nvSpPr>
        <p:spPr bwMode="auto">
          <a:xfrm>
            <a:off x="2327275" y="4214813"/>
            <a:ext cx="347663" cy="325437"/>
          </a:xfrm>
          <a:prstGeom prst="ellipse">
            <a:avLst/>
          </a:prstGeom>
          <a:solidFill>
            <a:schemeClr val="folHlink"/>
          </a:solidFill>
          <a:ln w="12700">
            <a:solidFill>
              <a:schemeClr val="tx1"/>
            </a:solidFill>
            <a:round/>
            <a:headEnd type="none" w="sm" len="sm"/>
            <a:tailEnd type="none" w="sm" len="sm"/>
          </a:ln>
          <a:effectLst/>
        </p:spPr>
        <p:txBody>
          <a:bodyPr wrap="none" anchor="ctr"/>
          <a:lstStyle/>
          <a:p>
            <a:endParaRPr lang="en-US"/>
          </a:p>
        </p:txBody>
      </p:sp>
      <p:sp>
        <p:nvSpPr>
          <p:cNvPr id="7179" name="Line 9"/>
          <p:cNvSpPr>
            <a:spLocks noChangeShapeType="1"/>
          </p:cNvSpPr>
          <p:nvPr/>
        </p:nvSpPr>
        <p:spPr bwMode="auto">
          <a:xfrm>
            <a:off x="2500313" y="3432175"/>
            <a:ext cx="0" cy="293688"/>
          </a:xfrm>
          <a:prstGeom prst="line">
            <a:avLst/>
          </a:prstGeom>
          <a:noFill/>
          <a:ln w="57150">
            <a:solidFill>
              <a:schemeClr val="tx1"/>
            </a:solidFill>
            <a:round/>
            <a:headEnd type="none" w="sm" len="sm"/>
            <a:tailEnd type="triangle" w="sm" len="sm"/>
          </a:ln>
          <a:effectLst/>
        </p:spPr>
        <p:txBody>
          <a:bodyPr wrap="none" anchor="ctr"/>
          <a:lstStyle/>
          <a:p>
            <a:endParaRPr lang="en-US"/>
          </a:p>
        </p:txBody>
      </p:sp>
      <p:sp>
        <p:nvSpPr>
          <p:cNvPr id="7180" name="Text Box 10"/>
          <p:cNvSpPr txBox="1">
            <a:spLocks noChangeArrowheads="1"/>
          </p:cNvSpPr>
          <p:nvPr/>
        </p:nvSpPr>
        <p:spPr bwMode="auto">
          <a:xfrm>
            <a:off x="4092575" y="4498975"/>
            <a:ext cx="882650" cy="404813"/>
          </a:xfrm>
          <a:prstGeom prst="rect">
            <a:avLst/>
          </a:prstGeom>
          <a:solidFill>
            <a:schemeClr val="folHlink"/>
          </a:solidFill>
          <a:ln w="38100">
            <a:solidFill>
              <a:srgbClr val="66FF33"/>
            </a:solidFill>
            <a:miter lim="800000"/>
            <a:headEnd type="none" w="sm" len="sm"/>
            <a:tailEnd type="none" w="sm" len="sm"/>
          </a:ln>
          <a:effectLst/>
        </p:spPr>
        <p:txBody>
          <a:bodyPr wrap="none">
            <a:spAutoFit/>
          </a:bodyPr>
          <a:lstStyle/>
          <a:p>
            <a:r>
              <a:rPr lang="en-US" altLang="en-US" sz="1800" dirty="0" err="1"/>
              <a:t>pacient</a:t>
            </a:r>
            <a:endParaRPr lang="en-US" altLang="en-US" sz="1800" dirty="0"/>
          </a:p>
        </p:txBody>
      </p:sp>
      <p:sp>
        <p:nvSpPr>
          <p:cNvPr id="7181" name="Line 11"/>
          <p:cNvSpPr>
            <a:spLocks noChangeShapeType="1"/>
          </p:cNvSpPr>
          <p:nvPr/>
        </p:nvSpPr>
        <p:spPr bwMode="auto">
          <a:xfrm flipH="1" flipV="1">
            <a:off x="3021013" y="4638675"/>
            <a:ext cx="1071562" cy="12700"/>
          </a:xfrm>
          <a:prstGeom prst="line">
            <a:avLst/>
          </a:prstGeom>
          <a:noFill/>
          <a:ln w="28575">
            <a:solidFill>
              <a:srgbClr val="66FF33"/>
            </a:solidFill>
            <a:round/>
            <a:headEnd type="none" w="sm" len="sm"/>
            <a:tailEnd type="triangle" w="med" len="med"/>
          </a:ln>
          <a:effectLst/>
        </p:spPr>
        <p:txBody>
          <a:bodyPr wrap="none" anchor="ctr"/>
          <a:lstStyle/>
          <a:p>
            <a:endParaRPr lang="en-US"/>
          </a:p>
        </p:txBody>
      </p:sp>
      <p:sp>
        <p:nvSpPr>
          <p:cNvPr id="7182" name="Line 12"/>
          <p:cNvSpPr>
            <a:spLocks noChangeShapeType="1"/>
          </p:cNvSpPr>
          <p:nvPr/>
        </p:nvSpPr>
        <p:spPr bwMode="auto">
          <a:xfrm>
            <a:off x="1217613" y="4149725"/>
            <a:ext cx="485775" cy="96838"/>
          </a:xfrm>
          <a:prstGeom prst="line">
            <a:avLst/>
          </a:prstGeom>
          <a:noFill/>
          <a:ln w="57150">
            <a:solidFill>
              <a:schemeClr val="tx1"/>
            </a:solidFill>
            <a:round/>
            <a:headEnd type="none" w="sm" len="sm"/>
            <a:tailEnd type="triangle" w="sm" len="sm"/>
          </a:ln>
          <a:effectLst/>
        </p:spPr>
        <p:txBody>
          <a:bodyPr wrap="none" anchor="ctr"/>
          <a:lstStyle/>
          <a:p>
            <a:endParaRPr lang="en-US"/>
          </a:p>
        </p:txBody>
      </p:sp>
      <p:sp>
        <p:nvSpPr>
          <p:cNvPr id="7183" name="Line 13"/>
          <p:cNvSpPr>
            <a:spLocks noChangeShapeType="1"/>
          </p:cNvSpPr>
          <p:nvPr/>
        </p:nvSpPr>
        <p:spPr bwMode="auto">
          <a:xfrm flipH="1">
            <a:off x="3471863" y="3986213"/>
            <a:ext cx="312737" cy="98425"/>
          </a:xfrm>
          <a:prstGeom prst="line">
            <a:avLst/>
          </a:prstGeom>
          <a:noFill/>
          <a:ln w="57150">
            <a:solidFill>
              <a:schemeClr val="tx1"/>
            </a:solidFill>
            <a:round/>
            <a:headEnd type="none" w="sm" len="sm"/>
            <a:tailEnd type="triangle" w="sm" len="sm"/>
          </a:ln>
          <a:effectLst/>
        </p:spPr>
        <p:txBody>
          <a:bodyPr wrap="none" anchor="ctr"/>
          <a:lstStyle/>
          <a:p>
            <a:endParaRPr lang="en-US"/>
          </a:p>
        </p:txBody>
      </p:sp>
      <p:sp>
        <p:nvSpPr>
          <p:cNvPr id="7184" name="Text Box 14"/>
          <p:cNvSpPr txBox="1">
            <a:spLocks noChangeArrowheads="1"/>
          </p:cNvSpPr>
          <p:nvPr/>
        </p:nvSpPr>
        <p:spPr bwMode="auto">
          <a:xfrm>
            <a:off x="1598613" y="4678363"/>
            <a:ext cx="869950" cy="404812"/>
          </a:xfrm>
          <a:prstGeom prst="rect">
            <a:avLst/>
          </a:prstGeom>
          <a:solidFill>
            <a:schemeClr val="folHlink"/>
          </a:solidFill>
          <a:ln w="38100">
            <a:solidFill>
              <a:srgbClr val="66FF33"/>
            </a:solidFill>
            <a:miter lim="800000"/>
            <a:headEnd type="none" w="sm" len="sm"/>
            <a:tailEnd type="none" w="sm" len="sm"/>
          </a:ln>
          <a:effectLst/>
        </p:spPr>
        <p:txBody>
          <a:bodyPr wrap="none">
            <a:spAutoFit/>
          </a:bodyPr>
          <a:lstStyle/>
          <a:p>
            <a:r>
              <a:rPr lang="en-US" altLang="en-US" sz="1800"/>
              <a:t>tumora</a:t>
            </a:r>
          </a:p>
        </p:txBody>
      </p:sp>
      <p:sp>
        <p:nvSpPr>
          <p:cNvPr id="7185" name="Text Box 15"/>
          <p:cNvSpPr txBox="1">
            <a:spLocks noChangeArrowheads="1"/>
          </p:cNvSpPr>
          <p:nvPr/>
        </p:nvSpPr>
        <p:spPr bwMode="auto">
          <a:xfrm>
            <a:off x="3784600" y="3536950"/>
            <a:ext cx="1155700" cy="404813"/>
          </a:xfrm>
          <a:prstGeom prst="rect">
            <a:avLst/>
          </a:prstGeom>
          <a:solidFill>
            <a:schemeClr val="folHlink"/>
          </a:solidFill>
          <a:ln w="38100">
            <a:solidFill>
              <a:srgbClr val="66FF33"/>
            </a:solidFill>
            <a:miter lim="800000"/>
            <a:headEnd type="none" w="sm" len="sm"/>
            <a:tailEnd type="none" w="sm" len="sm"/>
          </a:ln>
          <a:effectLst/>
        </p:spPr>
        <p:txBody>
          <a:bodyPr wrap="none">
            <a:spAutoFit/>
          </a:bodyPr>
          <a:lstStyle/>
          <a:p>
            <a:r>
              <a:rPr lang="en-US" altLang="en-US" sz="1800"/>
              <a:t>Fascicul 3</a:t>
            </a:r>
          </a:p>
        </p:txBody>
      </p:sp>
      <p:sp>
        <p:nvSpPr>
          <p:cNvPr id="7186" name="Text Box 16"/>
          <p:cNvSpPr txBox="1">
            <a:spLocks noChangeArrowheads="1"/>
          </p:cNvSpPr>
          <p:nvPr/>
        </p:nvSpPr>
        <p:spPr bwMode="auto">
          <a:xfrm>
            <a:off x="2743200" y="3276600"/>
            <a:ext cx="1155700" cy="404813"/>
          </a:xfrm>
          <a:prstGeom prst="rect">
            <a:avLst/>
          </a:prstGeom>
          <a:solidFill>
            <a:schemeClr val="folHlink"/>
          </a:solidFill>
          <a:ln w="38100">
            <a:solidFill>
              <a:srgbClr val="66FF33"/>
            </a:solidFill>
            <a:miter lim="800000"/>
            <a:headEnd type="none" w="sm" len="sm"/>
            <a:tailEnd type="none" w="sm" len="sm"/>
          </a:ln>
          <a:effectLst/>
        </p:spPr>
        <p:txBody>
          <a:bodyPr wrap="none">
            <a:spAutoFit/>
          </a:bodyPr>
          <a:lstStyle/>
          <a:p>
            <a:r>
              <a:rPr lang="en-US" altLang="en-US" sz="1800"/>
              <a:t>Fascicul 2</a:t>
            </a:r>
          </a:p>
        </p:txBody>
      </p:sp>
      <p:sp>
        <p:nvSpPr>
          <p:cNvPr id="7187" name="Text Box 17"/>
          <p:cNvSpPr txBox="1">
            <a:spLocks noChangeArrowheads="1"/>
          </p:cNvSpPr>
          <p:nvPr/>
        </p:nvSpPr>
        <p:spPr bwMode="auto">
          <a:xfrm>
            <a:off x="892175" y="3508375"/>
            <a:ext cx="1155700" cy="404813"/>
          </a:xfrm>
          <a:prstGeom prst="rect">
            <a:avLst/>
          </a:prstGeom>
          <a:solidFill>
            <a:schemeClr val="folHlink"/>
          </a:solidFill>
          <a:ln w="38100">
            <a:solidFill>
              <a:srgbClr val="66FF33"/>
            </a:solidFill>
            <a:miter lim="800000"/>
            <a:headEnd type="none" w="sm" len="sm"/>
            <a:tailEnd type="none" w="sm" len="sm"/>
          </a:ln>
          <a:effectLst/>
        </p:spPr>
        <p:txBody>
          <a:bodyPr wrap="none">
            <a:spAutoFit/>
          </a:bodyPr>
          <a:lstStyle/>
          <a:p>
            <a:r>
              <a:rPr lang="en-US" altLang="en-US" sz="1800"/>
              <a:t>Fascicul 1</a:t>
            </a:r>
          </a:p>
        </p:txBody>
      </p:sp>
      <p:sp>
        <p:nvSpPr>
          <p:cNvPr id="7188" name="Line 18"/>
          <p:cNvSpPr>
            <a:spLocks noChangeShapeType="1"/>
          </p:cNvSpPr>
          <p:nvPr/>
        </p:nvSpPr>
        <p:spPr bwMode="auto">
          <a:xfrm flipV="1">
            <a:off x="2049463" y="4443413"/>
            <a:ext cx="382587" cy="195262"/>
          </a:xfrm>
          <a:prstGeom prst="line">
            <a:avLst/>
          </a:prstGeom>
          <a:noFill/>
          <a:ln w="28575">
            <a:solidFill>
              <a:srgbClr val="66FF33"/>
            </a:solidFill>
            <a:round/>
            <a:headEnd type="none" w="sm" len="sm"/>
            <a:tailEnd type="triangle" w="med" len="med"/>
          </a:ln>
          <a:effectLst/>
        </p:spPr>
        <p:txBody>
          <a:bodyPr wrap="none" anchor="ctr"/>
          <a:lstStyle/>
          <a:p>
            <a:endParaRPr lang="en-US"/>
          </a:p>
        </p:txBody>
      </p:sp>
      <p:sp>
        <p:nvSpPr>
          <p:cNvPr id="7189" name="Rectangle 20"/>
          <p:cNvSpPr>
            <a:spLocks noChangeArrowheads="1"/>
          </p:cNvSpPr>
          <p:nvPr/>
        </p:nvSpPr>
        <p:spPr bwMode="auto">
          <a:xfrm>
            <a:off x="5921375" y="3889375"/>
            <a:ext cx="971550" cy="847725"/>
          </a:xfrm>
          <a:prstGeom prst="rect">
            <a:avLst/>
          </a:prstGeom>
          <a:solidFill>
            <a:schemeClr val="accent1"/>
          </a:solidFill>
          <a:ln w="57150">
            <a:solidFill>
              <a:srgbClr val="FF6600"/>
            </a:solidFill>
            <a:miter lim="800000"/>
            <a:headEnd type="none" w="sm" len="sm"/>
            <a:tailEnd type="none" w="sm" len="sm"/>
          </a:ln>
          <a:effectLst/>
        </p:spPr>
        <p:txBody>
          <a:bodyPr wrap="none" anchor="ctr"/>
          <a:lstStyle/>
          <a:p>
            <a:endParaRPr lang="en-US"/>
          </a:p>
        </p:txBody>
      </p:sp>
      <p:sp>
        <p:nvSpPr>
          <p:cNvPr id="7190" name="Oval 24"/>
          <p:cNvSpPr>
            <a:spLocks noChangeArrowheads="1"/>
          </p:cNvSpPr>
          <p:nvPr/>
        </p:nvSpPr>
        <p:spPr bwMode="auto">
          <a:xfrm>
            <a:off x="5921375" y="3965575"/>
            <a:ext cx="838200" cy="762000"/>
          </a:xfrm>
          <a:prstGeom prst="ellipse">
            <a:avLst/>
          </a:prstGeom>
          <a:solidFill>
            <a:srgbClr val="FFFF00"/>
          </a:solidFill>
          <a:ln w="12700">
            <a:solidFill>
              <a:schemeClr val="tx1"/>
            </a:solidFill>
            <a:round/>
            <a:headEnd type="none" w="sm" len="sm"/>
            <a:tailEnd type="none" w="sm" len="sm"/>
          </a:ln>
          <a:effectLst/>
        </p:spPr>
        <p:txBody>
          <a:bodyPr wrap="none" anchor="ctr"/>
          <a:lstStyle/>
          <a:p>
            <a:endParaRPr lang="en-US"/>
          </a:p>
        </p:txBody>
      </p:sp>
      <p:sp>
        <p:nvSpPr>
          <p:cNvPr id="7191" name="Oval 23"/>
          <p:cNvSpPr>
            <a:spLocks noChangeArrowheads="1"/>
          </p:cNvSpPr>
          <p:nvPr/>
        </p:nvSpPr>
        <p:spPr bwMode="auto">
          <a:xfrm>
            <a:off x="5997575" y="4041775"/>
            <a:ext cx="685800" cy="609600"/>
          </a:xfrm>
          <a:prstGeom prst="ellipse">
            <a:avLst/>
          </a:prstGeom>
          <a:solidFill>
            <a:srgbClr val="FFCC00"/>
          </a:solidFill>
          <a:ln w="12700">
            <a:solidFill>
              <a:schemeClr val="tx1"/>
            </a:solidFill>
            <a:round/>
            <a:headEnd type="none" w="sm" len="sm"/>
            <a:tailEnd type="none" w="sm" len="sm"/>
          </a:ln>
          <a:effectLst/>
        </p:spPr>
        <p:txBody>
          <a:bodyPr wrap="none" anchor="ctr"/>
          <a:lstStyle/>
          <a:p>
            <a:endParaRPr lang="en-US"/>
          </a:p>
        </p:txBody>
      </p:sp>
      <p:sp>
        <p:nvSpPr>
          <p:cNvPr id="7192" name="Oval 22"/>
          <p:cNvSpPr>
            <a:spLocks noChangeArrowheads="1"/>
          </p:cNvSpPr>
          <p:nvPr/>
        </p:nvSpPr>
        <p:spPr bwMode="auto">
          <a:xfrm>
            <a:off x="6073775" y="4117975"/>
            <a:ext cx="533400" cy="457200"/>
          </a:xfrm>
          <a:prstGeom prst="ellipse">
            <a:avLst/>
          </a:prstGeom>
          <a:solidFill>
            <a:srgbClr val="FF6600"/>
          </a:solidFill>
          <a:ln w="12700">
            <a:solidFill>
              <a:schemeClr val="tx1"/>
            </a:solidFill>
            <a:round/>
            <a:headEnd type="none" w="sm" len="sm"/>
            <a:tailEnd type="none" w="sm" len="sm"/>
          </a:ln>
          <a:effectLst/>
        </p:spPr>
        <p:txBody>
          <a:bodyPr wrap="none" anchor="ctr"/>
          <a:lstStyle/>
          <a:p>
            <a:endParaRPr lang="en-US"/>
          </a:p>
        </p:txBody>
      </p:sp>
      <p:sp>
        <p:nvSpPr>
          <p:cNvPr id="7193" name="Oval 21"/>
          <p:cNvSpPr>
            <a:spLocks noChangeArrowheads="1"/>
          </p:cNvSpPr>
          <p:nvPr/>
        </p:nvSpPr>
        <p:spPr bwMode="auto">
          <a:xfrm>
            <a:off x="6164263" y="4214813"/>
            <a:ext cx="347662" cy="325437"/>
          </a:xfrm>
          <a:prstGeom prst="ellipse">
            <a:avLst/>
          </a:prstGeom>
          <a:solidFill>
            <a:schemeClr val="folHlink"/>
          </a:solidFill>
          <a:ln w="12700">
            <a:solidFill>
              <a:schemeClr val="tx1"/>
            </a:solidFill>
            <a:round/>
            <a:headEnd type="none" w="sm" len="sm"/>
            <a:tailEnd type="none" w="sm" len="sm"/>
          </a:ln>
          <a:effectLst/>
        </p:spPr>
        <p:txBody>
          <a:bodyPr wrap="none" anchor="ctr"/>
          <a:lstStyle/>
          <a:p>
            <a:endParaRPr lang="en-US"/>
          </a:p>
        </p:txBody>
      </p:sp>
      <p:sp>
        <p:nvSpPr>
          <p:cNvPr id="7194" name="AutoShape 25"/>
          <p:cNvSpPr>
            <a:spLocks noChangeArrowheads="1"/>
          </p:cNvSpPr>
          <p:nvPr/>
        </p:nvSpPr>
        <p:spPr bwMode="auto">
          <a:xfrm>
            <a:off x="6302375" y="4346575"/>
            <a:ext cx="76200" cy="76200"/>
          </a:xfrm>
          <a:prstGeom prst="diamond">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7195" name="AutoShape 26"/>
          <p:cNvSpPr>
            <a:spLocks noChangeArrowheads="1"/>
          </p:cNvSpPr>
          <p:nvPr/>
        </p:nvSpPr>
        <p:spPr bwMode="auto">
          <a:xfrm>
            <a:off x="6378575" y="4270375"/>
            <a:ext cx="76200" cy="76200"/>
          </a:xfrm>
          <a:prstGeom prst="diamond">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7196" name="AutoShape 27"/>
          <p:cNvSpPr>
            <a:spLocks noChangeArrowheads="1"/>
          </p:cNvSpPr>
          <p:nvPr/>
        </p:nvSpPr>
        <p:spPr bwMode="auto">
          <a:xfrm>
            <a:off x="6226175" y="4270375"/>
            <a:ext cx="76200" cy="76200"/>
          </a:xfrm>
          <a:prstGeom prst="diamond">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7197" name="AutoShape 28"/>
          <p:cNvSpPr>
            <a:spLocks noChangeArrowheads="1"/>
          </p:cNvSpPr>
          <p:nvPr/>
        </p:nvSpPr>
        <p:spPr bwMode="auto">
          <a:xfrm>
            <a:off x="6226175" y="4422775"/>
            <a:ext cx="76200" cy="76200"/>
          </a:xfrm>
          <a:prstGeom prst="diamond">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7198" name="AutoShape 29"/>
          <p:cNvSpPr>
            <a:spLocks noChangeArrowheads="1"/>
          </p:cNvSpPr>
          <p:nvPr/>
        </p:nvSpPr>
        <p:spPr bwMode="auto">
          <a:xfrm>
            <a:off x="6378575" y="4422775"/>
            <a:ext cx="76200" cy="76200"/>
          </a:xfrm>
          <a:prstGeom prst="diamond">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7199" name="Text Box 32"/>
          <p:cNvSpPr txBox="1">
            <a:spLocks noChangeArrowheads="1"/>
          </p:cNvSpPr>
          <p:nvPr/>
        </p:nvSpPr>
        <p:spPr bwMode="auto">
          <a:xfrm>
            <a:off x="6073775" y="3127375"/>
            <a:ext cx="2152650" cy="404813"/>
          </a:xfrm>
          <a:prstGeom prst="rect">
            <a:avLst/>
          </a:prstGeom>
          <a:solidFill>
            <a:schemeClr val="folHlink"/>
          </a:solidFill>
          <a:ln w="38100">
            <a:solidFill>
              <a:srgbClr val="66FF33"/>
            </a:solidFill>
            <a:miter lim="800000"/>
            <a:headEnd type="none" w="sm" len="sm"/>
            <a:tailEnd type="none" w="sm" len="sm"/>
          </a:ln>
          <a:effectLst/>
        </p:spPr>
        <p:txBody>
          <a:bodyPr wrap="none">
            <a:spAutoFit/>
          </a:bodyPr>
          <a:lstStyle/>
          <a:p>
            <a:r>
              <a:rPr lang="en-US" altLang="en-US" sz="1800"/>
              <a:t>Sursa de brahiterapie</a:t>
            </a:r>
          </a:p>
        </p:txBody>
      </p:sp>
      <p:sp>
        <p:nvSpPr>
          <p:cNvPr id="7200" name="Line 33"/>
          <p:cNvSpPr>
            <a:spLocks noChangeShapeType="1"/>
          </p:cNvSpPr>
          <p:nvPr/>
        </p:nvSpPr>
        <p:spPr bwMode="auto">
          <a:xfrm flipH="1" flipV="1">
            <a:off x="4930775" y="4651375"/>
            <a:ext cx="995363" cy="12700"/>
          </a:xfrm>
          <a:prstGeom prst="line">
            <a:avLst/>
          </a:prstGeom>
          <a:noFill/>
          <a:ln w="28575">
            <a:solidFill>
              <a:srgbClr val="66FF33"/>
            </a:solidFill>
            <a:round/>
            <a:headEnd type="arrow" w="med" len="med"/>
            <a:tailEnd/>
          </a:ln>
          <a:effectLst/>
        </p:spPr>
        <p:txBody>
          <a:bodyPr wrap="none" anchor="ctr"/>
          <a:lstStyle/>
          <a:p>
            <a:endParaRPr lang="en-US"/>
          </a:p>
        </p:txBody>
      </p:sp>
      <p:sp>
        <p:nvSpPr>
          <p:cNvPr id="7201" name="Line 34"/>
          <p:cNvSpPr>
            <a:spLocks noChangeShapeType="1"/>
          </p:cNvSpPr>
          <p:nvPr/>
        </p:nvSpPr>
        <p:spPr bwMode="auto">
          <a:xfrm flipH="1">
            <a:off x="6454775" y="3508375"/>
            <a:ext cx="457200" cy="762000"/>
          </a:xfrm>
          <a:prstGeom prst="line">
            <a:avLst/>
          </a:prstGeom>
          <a:noFill/>
          <a:ln w="38100">
            <a:solidFill>
              <a:srgbClr val="99FF33"/>
            </a:solidFill>
            <a:round/>
            <a:headEnd type="none" w="sm" len="sm"/>
            <a:tailEnd type="triangle" w="sm" len="sm"/>
          </a:ln>
          <a:effectLst/>
        </p:spPr>
        <p:txBody>
          <a:bodyPr wrap="none" anchor="ctr"/>
          <a:lstStyle/>
          <a:p>
            <a:endParaRPr lang="en-US"/>
          </a:p>
        </p:txBody>
      </p:sp>
      <p:sp>
        <p:nvSpPr>
          <p:cNvPr id="2" name="Title 1"/>
          <p:cNvSpPr>
            <a:spLocks noGrp="1"/>
          </p:cNvSpPr>
          <p:nvPr>
            <p:ph type="title"/>
          </p:nvPr>
        </p:nvSpPr>
        <p:spPr>
          <a:xfrm>
            <a:off x="0" y="533400"/>
            <a:ext cx="9144000" cy="804791"/>
          </a:xfrm>
        </p:spPr>
        <p:txBody>
          <a:bodyPr/>
          <a:lstStyle/>
          <a:p>
            <a:pPr algn="ctr"/>
            <a:r>
              <a:rPr lang="en-US" sz="3600" b="1" dirty="0" err="1">
                <a:solidFill>
                  <a:srgbClr val="000000"/>
                </a:solidFill>
                <a:effectLst/>
              </a:rPr>
              <a:t>Méthodes</a:t>
            </a:r>
            <a:r>
              <a:rPr lang="en-US" sz="3600" b="1" dirty="0">
                <a:solidFill>
                  <a:srgbClr val="000000"/>
                </a:solidFill>
                <a:effectLst/>
              </a:rPr>
              <a:t> de </a:t>
            </a:r>
            <a:r>
              <a:rPr lang="en-US" sz="3600" b="1" dirty="0" err="1">
                <a:solidFill>
                  <a:srgbClr val="000000"/>
                </a:solidFill>
                <a:effectLst/>
              </a:rPr>
              <a:t>rayonnement</a:t>
            </a:r>
            <a:r>
              <a:rPr lang="en-US" sz="4000" b="1" dirty="0">
                <a:effectLst/>
              </a:rPr>
              <a:t/>
            </a:r>
            <a:br>
              <a:rPr lang="en-US" sz="4000" b="1" dirty="0">
                <a:effectLst/>
              </a:rPr>
            </a:br>
            <a:endParaRPr lang="en-US" sz="4000" b="1" dirty="0">
              <a:solidFill>
                <a:srgbClr val="000000"/>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74"/>
                                        </p:tgtEl>
                                        <p:attrNameLst>
                                          <p:attrName>style.visibility</p:attrName>
                                        </p:attrNameLst>
                                      </p:cBhvr>
                                      <p:to>
                                        <p:strVal val="visible"/>
                                      </p:to>
                                    </p:set>
                                    <p:anim calcmode="lin" valueType="num">
                                      <p:cBhvr>
                                        <p:cTn id="7" dur="500" fill="hold"/>
                                        <p:tgtEl>
                                          <p:spTgt spid="7174"/>
                                        </p:tgtEl>
                                        <p:attrNameLst>
                                          <p:attrName>ppt_w</p:attrName>
                                        </p:attrNameLst>
                                      </p:cBhvr>
                                      <p:tavLst>
                                        <p:tav tm="0">
                                          <p:val>
                                            <p:fltVal val="0"/>
                                          </p:val>
                                        </p:tav>
                                        <p:tav tm="100000">
                                          <p:val>
                                            <p:strVal val="#ppt_w"/>
                                          </p:val>
                                        </p:tav>
                                      </p:tavLst>
                                    </p:anim>
                                    <p:anim calcmode="lin" valueType="num">
                                      <p:cBhvr>
                                        <p:cTn id="8" dur="500" fill="hold"/>
                                        <p:tgtEl>
                                          <p:spTgt spid="7174"/>
                                        </p:tgtEl>
                                        <p:attrNameLst>
                                          <p:attrName>ppt_h</p:attrName>
                                        </p:attrNameLst>
                                      </p:cBhvr>
                                      <p:tavLst>
                                        <p:tav tm="0">
                                          <p:val>
                                            <p:fltVal val="0"/>
                                          </p:val>
                                        </p:tav>
                                        <p:tav tm="100000">
                                          <p:val>
                                            <p:strVal val="#ppt_h"/>
                                          </p:val>
                                        </p:tav>
                                      </p:tavLst>
                                    </p:anim>
                                    <p:animEffect transition="in" filter="fade">
                                      <p:cBhvr>
                                        <p:cTn id="9" dur="500"/>
                                        <p:tgtEl>
                                          <p:spTgt spid="717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181"/>
                                        </p:tgtEl>
                                        <p:attrNameLst>
                                          <p:attrName>style.visibility</p:attrName>
                                        </p:attrNameLst>
                                      </p:cBhvr>
                                      <p:to>
                                        <p:strVal val="visible"/>
                                      </p:to>
                                    </p:set>
                                    <p:anim calcmode="lin" valueType="num">
                                      <p:cBhvr>
                                        <p:cTn id="12" dur="500" fill="hold"/>
                                        <p:tgtEl>
                                          <p:spTgt spid="7181"/>
                                        </p:tgtEl>
                                        <p:attrNameLst>
                                          <p:attrName>ppt_w</p:attrName>
                                        </p:attrNameLst>
                                      </p:cBhvr>
                                      <p:tavLst>
                                        <p:tav tm="0">
                                          <p:val>
                                            <p:fltVal val="0"/>
                                          </p:val>
                                        </p:tav>
                                        <p:tav tm="100000">
                                          <p:val>
                                            <p:strVal val="#ppt_w"/>
                                          </p:val>
                                        </p:tav>
                                      </p:tavLst>
                                    </p:anim>
                                    <p:anim calcmode="lin" valueType="num">
                                      <p:cBhvr>
                                        <p:cTn id="13" dur="500" fill="hold"/>
                                        <p:tgtEl>
                                          <p:spTgt spid="7181"/>
                                        </p:tgtEl>
                                        <p:attrNameLst>
                                          <p:attrName>ppt_h</p:attrName>
                                        </p:attrNameLst>
                                      </p:cBhvr>
                                      <p:tavLst>
                                        <p:tav tm="0">
                                          <p:val>
                                            <p:fltVal val="0"/>
                                          </p:val>
                                        </p:tav>
                                        <p:tav tm="100000">
                                          <p:val>
                                            <p:strVal val="#ppt_h"/>
                                          </p:val>
                                        </p:tav>
                                      </p:tavLst>
                                    </p:anim>
                                    <p:animEffect transition="in" filter="fade">
                                      <p:cBhvr>
                                        <p:cTn id="14" dur="500"/>
                                        <p:tgtEl>
                                          <p:spTgt spid="7181"/>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180"/>
                                        </p:tgtEl>
                                        <p:attrNameLst>
                                          <p:attrName>style.visibility</p:attrName>
                                        </p:attrNameLst>
                                      </p:cBhvr>
                                      <p:to>
                                        <p:strVal val="visible"/>
                                      </p:to>
                                    </p:set>
                                    <p:anim calcmode="lin" valueType="num">
                                      <p:cBhvr>
                                        <p:cTn id="17" dur="500" fill="hold"/>
                                        <p:tgtEl>
                                          <p:spTgt spid="7180"/>
                                        </p:tgtEl>
                                        <p:attrNameLst>
                                          <p:attrName>ppt_w</p:attrName>
                                        </p:attrNameLst>
                                      </p:cBhvr>
                                      <p:tavLst>
                                        <p:tav tm="0">
                                          <p:val>
                                            <p:fltVal val="0"/>
                                          </p:val>
                                        </p:tav>
                                        <p:tav tm="100000">
                                          <p:val>
                                            <p:strVal val="#ppt_w"/>
                                          </p:val>
                                        </p:tav>
                                      </p:tavLst>
                                    </p:anim>
                                    <p:anim calcmode="lin" valueType="num">
                                      <p:cBhvr>
                                        <p:cTn id="18" dur="500" fill="hold"/>
                                        <p:tgtEl>
                                          <p:spTgt spid="7180"/>
                                        </p:tgtEl>
                                        <p:attrNameLst>
                                          <p:attrName>ppt_h</p:attrName>
                                        </p:attrNameLst>
                                      </p:cBhvr>
                                      <p:tavLst>
                                        <p:tav tm="0">
                                          <p:val>
                                            <p:fltVal val="0"/>
                                          </p:val>
                                        </p:tav>
                                        <p:tav tm="100000">
                                          <p:val>
                                            <p:strVal val="#ppt_h"/>
                                          </p:val>
                                        </p:tav>
                                      </p:tavLst>
                                    </p:anim>
                                    <p:animEffect transition="in" filter="fade">
                                      <p:cBhvr>
                                        <p:cTn id="19" dur="500"/>
                                        <p:tgtEl>
                                          <p:spTgt spid="718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178"/>
                                        </p:tgtEl>
                                        <p:attrNameLst>
                                          <p:attrName>style.visibility</p:attrName>
                                        </p:attrNameLst>
                                      </p:cBhvr>
                                      <p:to>
                                        <p:strVal val="visible"/>
                                      </p:to>
                                    </p:set>
                                    <p:anim calcmode="lin" valueType="num">
                                      <p:cBhvr>
                                        <p:cTn id="24" dur="500" fill="hold"/>
                                        <p:tgtEl>
                                          <p:spTgt spid="7178"/>
                                        </p:tgtEl>
                                        <p:attrNameLst>
                                          <p:attrName>ppt_w</p:attrName>
                                        </p:attrNameLst>
                                      </p:cBhvr>
                                      <p:tavLst>
                                        <p:tav tm="0">
                                          <p:val>
                                            <p:fltVal val="0"/>
                                          </p:val>
                                        </p:tav>
                                        <p:tav tm="100000">
                                          <p:val>
                                            <p:strVal val="#ppt_w"/>
                                          </p:val>
                                        </p:tav>
                                      </p:tavLst>
                                    </p:anim>
                                    <p:anim calcmode="lin" valueType="num">
                                      <p:cBhvr>
                                        <p:cTn id="25" dur="500" fill="hold"/>
                                        <p:tgtEl>
                                          <p:spTgt spid="7178"/>
                                        </p:tgtEl>
                                        <p:attrNameLst>
                                          <p:attrName>ppt_h</p:attrName>
                                        </p:attrNameLst>
                                      </p:cBhvr>
                                      <p:tavLst>
                                        <p:tav tm="0">
                                          <p:val>
                                            <p:fltVal val="0"/>
                                          </p:val>
                                        </p:tav>
                                        <p:tav tm="100000">
                                          <p:val>
                                            <p:strVal val="#ppt_h"/>
                                          </p:val>
                                        </p:tav>
                                      </p:tavLst>
                                    </p:anim>
                                    <p:animEffect transition="in" filter="fade">
                                      <p:cBhvr>
                                        <p:cTn id="26" dur="500"/>
                                        <p:tgtEl>
                                          <p:spTgt spid="717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7184"/>
                                        </p:tgtEl>
                                        <p:attrNameLst>
                                          <p:attrName>style.visibility</p:attrName>
                                        </p:attrNameLst>
                                      </p:cBhvr>
                                      <p:to>
                                        <p:strVal val="visible"/>
                                      </p:to>
                                    </p:set>
                                    <p:anim calcmode="lin" valueType="num">
                                      <p:cBhvr>
                                        <p:cTn id="29" dur="500" fill="hold"/>
                                        <p:tgtEl>
                                          <p:spTgt spid="7184"/>
                                        </p:tgtEl>
                                        <p:attrNameLst>
                                          <p:attrName>ppt_w</p:attrName>
                                        </p:attrNameLst>
                                      </p:cBhvr>
                                      <p:tavLst>
                                        <p:tav tm="0">
                                          <p:val>
                                            <p:fltVal val="0"/>
                                          </p:val>
                                        </p:tav>
                                        <p:tav tm="100000">
                                          <p:val>
                                            <p:strVal val="#ppt_w"/>
                                          </p:val>
                                        </p:tav>
                                      </p:tavLst>
                                    </p:anim>
                                    <p:anim calcmode="lin" valueType="num">
                                      <p:cBhvr>
                                        <p:cTn id="30" dur="500" fill="hold"/>
                                        <p:tgtEl>
                                          <p:spTgt spid="7184"/>
                                        </p:tgtEl>
                                        <p:attrNameLst>
                                          <p:attrName>ppt_h</p:attrName>
                                        </p:attrNameLst>
                                      </p:cBhvr>
                                      <p:tavLst>
                                        <p:tav tm="0">
                                          <p:val>
                                            <p:fltVal val="0"/>
                                          </p:val>
                                        </p:tav>
                                        <p:tav tm="100000">
                                          <p:val>
                                            <p:strVal val="#ppt_h"/>
                                          </p:val>
                                        </p:tav>
                                      </p:tavLst>
                                    </p:anim>
                                    <p:animEffect transition="in" filter="fade">
                                      <p:cBhvr>
                                        <p:cTn id="31" dur="500"/>
                                        <p:tgtEl>
                                          <p:spTgt spid="7184"/>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7188"/>
                                        </p:tgtEl>
                                        <p:attrNameLst>
                                          <p:attrName>style.visibility</p:attrName>
                                        </p:attrNameLst>
                                      </p:cBhvr>
                                      <p:to>
                                        <p:strVal val="visible"/>
                                      </p:to>
                                    </p:set>
                                    <p:anim calcmode="lin" valueType="num">
                                      <p:cBhvr>
                                        <p:cTn id="34" dur="500" fill="hold"/>
                                        <p:tgtEl>
                                          <p:spTgt spid="7188"/>
                                        </p:tgtEl>
                                        <p:attrNameLst>
                                          <p:attrName>ppt_w</p:attrName>
                                        </p:attrNameLst>
                                      </p:cBhvr>
                                      <p:tavLst>
                                        <p:tav tm="0">
                                          <p:val>
                                            <p:fltVal val="0"/>
                                          </p:val>
                                        </p:tav>
                                        <p:tav tm="100000">
                                          <p:val>
                                            <p:strVal val="#ppt_w"/>
                                          </p:val>
                                        </p:tav>
                                      </p:tavLst>
                                    </p:anim>
                                    <p:anim calcmode="lin" valueType="num">
                                      <p:cBhvr>
                                        <p:cTn id="35" dur="500" fill="hold"/>
                                        <p:tgtEl>
                                          <p:spTgt spid="7188"/>
                                        </p:tgtEl>
                                        <p:attrNameLst>
                                          <p:attrName>ppt_h</p:attrName>
                                        </p:attrNameLst>
                                      </p:cBhvr>
                                      <p:tavLst>
                                        <p:tav tm="0">
                                          <p:val>
                                            <p:fltVal val="0"/>
                                          </p:val>
                                        </p:tav>
                                        <p:tav tm="100000">
                                          <p:val>
                                            <p:strVal val="#ppt_h"/>
                                          </p:val>
                                        </p:tav>
                                      </p:tavLst>
                                    </p:anim>
                                    <p:animEffect transition="in" filter="fade">
                                      <p:cBhvr>
                                        <p:cTn id="36" dur="500"/>
                                        <p:tgtEl>
                                          <p:spTgt spid="7188"/>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7182"/>
                                        </p:tgtEl>
                                        <p:attrNameLst>
                                          <p:attrName>style.visibility</p:attrName>
                                        </p:attrNameLst>
                                      </p:cBhvr>
                                      <p:to>
                                        <p:strVal val="visible"/>
                                      </p:to>
                                    </p:set>
                                    <p:anim calcmode="lin" valueType="num">
                                      <p:cBhvr>
                                        <p:cTn id="41" dur="500" fill="hold"/>
                                        <p:tgtEl>
                                          <p:spTgt spid="7182"/>
                                        </p:tgtEl>
                                        <p:attrNameLst>
                                          <p:attrName>ppt_w</p:attrName>
                                        </p:attrNameLst>
                                      </p:cBhvr>
                                      <p:tavLst>
                                        <p:tav tm="0">
                                          <p:val>
                                            <p:fltVal val="0"/>
                                          </p:val>
                                        </p:tav>
                                        <p:tav tm="100000">
                                          <p:val>
                                            <p:strVal val="#ppt_w"/>
                                          </p:val>
                                        </p:tav>
                                      </p:tavLst>
                                    </p:anim>
                                    <p:anim calcmode="lin" valueType="num">
                                      <p:cBhvr>
                                        <p:cTn id="42" dur="500" fill="hold"/>
                                        <p:tgtEl>
                                          <p:spTgt spid="7182"/>
                                        </p:tgtEl>
                                        <p:attrNameLst>
                                          <p:attrName>ppt_h</p:attrName>
                                        </p:attrNameLst>
                                      </p:cBhvr>
                                      <p:tavLst>
                                        <p:tav tm="0">
                                          <p:val>
                                            <p:fltVal val="0"/>
                                          </p:val>
                                        </p:tav>
                                        <p:tav tm="100000">
                                          <p:val>
                                            <p:strVal val="#ppt_h"/>
                                          </p:val>
                                        </p:tav>
                                      </p:tavLst>
                                    </p:anim>
                                    <p:animEffect transition="in" filter="fade">
                                      <p:cBhvr>
                                        <p:cTn id="43" dur="500"/>
                                        <p:tgtEl>
                                          <p:spTgt spid="718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7176"/>
                                        </p:tgtEl>
                                        <p:attrNameLst>
                                          <p:attrName>style.visibility</p:attrName>
                                        </p:attrNameLst>
                                      </p:cBhvr>
                                      <p:to>
                                        <p:strVal val="visible"/>
                                      </p:to>
                                    </p:set>
                                    <p:anim calcmode="lin" valueType="num">
                                      <p:cBhvr>
                                        <p:cTn id="46" dur="500" fill="hold"/>
                                        <p:tgtEl>
                                          <p:spTgt spid="7176"/>
                                        </p:tgtEl>
                                        <p:attrNameLst>
                                          <p:attrName>ppt_w</p:attrName>
                                        </p:attrNameLst>
                                      </p:cBhvr>
                                      <p:tavLst>
                                        <p:tav tm="0">
                                          <p:val>
                                            <p:fltVal val="0"/>
                                          </p:val>
                                        </p:tav>
                                        <p:tav tm="100000">
                                          <p:val>
                                            <p:strVal val="#ppt_w"/>
                                          </p:val>
                                        </p:tav>
                                      </p:tavLst>
                                    </p:anim>
                                    <p:anim calcmode="lin" valueType="num">
                                      <p:cBhvr>
                                        <p:cTn id="47" dur="500" fill="hold"/>
                                        <p:tgtEl>
                                          <p:spTgt spid="7176"/>
                                        </p:tgtEl>
                                        <p:attrNameLst>
                                          <p:attrName>ppt_h</p:attrName>
                                        </p:attrNameLst>
                                      </p:cBhvr>
                                      <p:tavLst>
                                        <p:tav tm="0">
                                          <p:val>
                                            <p:fltVal val="0"/>
                                          </p:val>
                                        </p:tav>
                                        <p:tav tm="100000">
                                          <p:val>
                                            <p:strVal val="#ppt_h"/>
                                          </p:val>
                                        </p:tav>
                                      </p:tavLst>
                                    </p:anim>
                                    <p:animEffect transition="in" filter="fade">
                                      <p:cBhvr>
                                        <p:cTn id="48" dur="500"/>
                                        <p:tgtEl>
                                          <p:spTgt spid="7176"/>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7187"/>
                                        </p:tgtEl>
                                        <p:attrNameLst>
                                          <p:attrName>style.visibility</p:attrName>
                                        </p:attrNameLst>
                                      </p:cBhvr>
                                      <p:to>
                                        <p:strVal val="visible"/>
                                      </p:to>
                                    </p:set>
                                    <p:anim calcmode="lin" valueType="num">
                                      <p:cBhvr>
                                        <p:cTn id="51" dur="500" fill="hold"/>
                                        <p:tgtEl>
                                          <p:spTgt spid="7187"/>
                                        </p:tgtEl>
                                        <p:attrNameLst>
                                          <p:attrName>ppt_w</p:attrName>
                                        </p:attrNameLst>
                                      </p:cBhvr>
                                      <p:tavLst>
                                        <p:tav tm="0">
                                          <p:val>
                                            <p:fltVal val="0"/>
                                          </p:val>
                                        </p:tav>
                                        <p:tav tm="100000">
                                          <p:val>
                                            <p:strVal val="#ppt_w"/>
                                          </p:val>
                                        </p:tav>
                                      </p:tavLst>
                                    </p:anim>
                                    <p:anim calcmode="lin" valueType="num">
                                      <p:cBhvr>
                                        <p:cTn id="52" dur="500" fill="hold"/>
                                        <p:tgtEl>
                                          <p:spTgt spid="7187"/>
                                        </p:tgtEl>
                                        <p:attrNameLst>
                                          <p:attrName>ppt_h</p:attrName>
                                        </p:attrNameLst>
                                      </p:cBhvr>
                                      <p:tavLst>
                                        <p:tav tm="0">
                                          <p:val>
                                            <p:fltVal val="0"/>
                                          </p:val>
                                        </p:tav>
                                        <p:tav tm="100000">
                                          <p:val>
                                            <p:strVal val="#ppt_h"/>
                                          </p:val>
                                        </p:tav>
                                      </p:tavLst>
                                    </p:anim>
                                    <p:animEffect transition="in" filter="fade">
                                      <p:cBhvr>
                                        <p:cTn id="53" dur="500"/>
                                        <p:tgtEl>
                                          <p:spTgt spid="7187"/>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7175"/>
                                        </p:tgtEl>
                                        <p:attrNameLst>
                                          <p:attrName>style.visibility</p:attrName>
                                        </p:attrNameLst>
                                      </p:cBhvr>
                                      <p:to>
                                        <p:strVal val="visible"/>
                                      </p:to>
                                    </p:set>
                                    <p:anim calcmode="lin" valueType="num">
                                      <p:cBhvr>
                                        <p:cTn id="58" dur="500" fill="hold"/>
                                        <p:tgtEl>
                                          <p:spTgt spid="7175"/>
                                        </p:tgtEl>
                                        <p:attrNameLst>
                                          <p:attrName>ppt_w</p:attrName>
                                        </p:attrNameLst>
                                      </p:cBhvr>
                                      <p:tavLst>
                                        <p:tav tm="0">
                                          <p:val>
                                            <p:fltVal val="0"/>
                                          </p:val>
                                        </p:tav>
                                        <p:tav tm="100000">
                                          <p:val>
                                            <p:strVal val="#ppt_w"/>
                                          </p:val>
                                        </p:tav>
                                      </p:tavLst>
                                    </p:anim>
                                    <p:anim calcmode="lin" valueType="num">
                                      <p:cBhvr>
                                        <p:cTn id="59" dur="500" fill="hold"/>
                                        <p:tgtEl>
                                          <p:spTgt spid="7175"/>
                                        </p:tgtEl>
                                        <p:attrNameLst>
                                          <p:attrName>ppt_h</p:attrName>
                                        </p:attrNameLst>
                                      </p:cBhvr>
                                      <p:tavLst>
                                        <p:tav tm="0">
                                          <p:val>
                                            <p:fltVal val="0"/>
                                          </p:val>
                                        </p:tav>
                                        <p:tav tm="100000">
                                          <p:val>
                                            <p:strVal val="#ppt_h"/>
                                          </p:val>
                                        </p:tav>
                                      </p:tavLst>
                                    </p:anim>
                                    <p:animEffect transition="in" filter="fade">
                                      <p:cBhvr>
                                        <p:cTn id="60" dur="500"/>
                                        <p:tgtEl>
                                          <p:spTgt spid="717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7179"/>
                                        </p:tgtEl>
                                        <p:attrNameLst>
                                          <p:attrName>style.visibility</p:attrName>
                                        </p:attrNameLst>
                                      </p:cBhvr>
                                      <p:to>
                                        <p:strVal val="visible"/>
                                      </p:to>
                                    </p:set>
                                    <p:anim calcmode="lin" valueType="num">
                                      <p:cBhvr>
                                        <p:cTn id="63" dur="500" fill="hold"/>
                                        <p:tgtEl>
                                          <p:spTgt spid="7179"/>
                                        </p:tgtEl>
                                        <p:attrNameLst>
                                          <p:attrName>ppt_w</p:attrName>
                                        </p:attrNameLst>
                                      </p:cBhvr>
                                      <p:tavLst>
                                        <p:tav tm="0">
                                          <p:val>
                                            <p:fltVal val="0"/>
                                          </p:val>
                                        </p:tav>
                                        <p:tav tm="100000">
                                          <p:val>
                                            <p:strVal val="#ppt_w"/>
                                          </p:val>
                                        </p:tav>
                                      </p:tavLst>
                                    </p:anim>
                                    <p:anim calcmode="lin" valueType="num">
                                      <p:cBhvr>
                                        <p:cTn id="64" dur="500" fill="hold"/>
                                        <p:tgtEl>
                                          <p:spTgt spid="7179"/>
                                        </p:tgtEl>
                                        <p:attrNameLst>
                                          <p:attrName>ppt_h</p:attrName>
                                        </p:attrNameLst>
                                      </p:cBhvr>
                                      <p:tavLst>
                                        <p:tav tm="0">
                                          <p:val>
                                            <p:fltVal val="0"/>
                                          </p:val>
                                        </p:tav>
                                        <p:tav tm="100000">
                                          <p:val>
                                            <p:strVal val="#ppt_h"/>
                                          </p:val>
                                        </p:tav>
                                      </p:tavLst>
                                    </p:anim>
                                    <p:animEffect transition="in" filter="fade">
                                      <p:cBhvr>
                                        <p:cTn id="65" dur="500"/>
                                        <p:tgtEl>
                                          <p:spTgt spid="7179"/>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7186"/>
                                        </p:tgtEl>
                                        <p:attrNameLst>
                                          <p:attrName>style.visibility</p:attrName>
                                        </p:attrNameLst>
                                      </p:cBhvr>
                                      <p:to>
                                        <p:strVal val="visible"/>
                                      </p:to>
                                    </p:set>
                                    <p:anim calcmode="lin" valueType="num">
                                      <p:cBhvr>
                                        <p:cTn id="68" dur="500" fill="hold"/>
                                        <p:tgtEl>
                                          <p:spTgt spid="7186"/>
                                        </p:tgtEl>
                                        <p:attrNameLst>
                                          <p:attrName>ppt_w</p:attrName>
                                        </p:attrNameLst>
                                      </p:cBhvr>
                                      <p:tavLst>
                                        <p:tav tm="0">
                                          <p:val>
                                            <p:fltVal val="0"/>
                                          </p:val>
                                        </p:tav>
                                        <p:tav tm="100000">
                                          <p:val>
                                            <p:strVal val="#ppt_w"/>
                                          </p:val>
                                        </p:tav>
                                      </p:tavLst>
                                    </p:anim>
                                    <p:anim calcmode="lin" valueType="num">
                                      <p:cBhvr>
                                        <p:cTn id="69" dur="500" fill="hold"/>
                                        <p:tgtEl>
                                          <p:spTgt spid="7186"/>
                                        </p:tgtEl>
                                        <p:attrNameLst>
                                          <p:attrName>ppt_h</p:attrName>
                                        </p:attrNameLst>
                                      </p:cBhvr>
                                      <p:tavLst>
                                        <p:tav tm="0">
                                          <p:val>
                                            <p:fltVal val="0"/>
                                          </p:val>
                                        </p:tav>
                                        <p:tav tm="100000">
                                          <p:val>
                                            <p:strVal val="#ppt_h"/>
                                          </p:val>
                                        </p:tav>
                                      </p:tavLst>
                                    </p:anim>
                                    <p:animEffect transition="in" filter="fade">
                                      <p:cBhvr>
                                        <p:cTn id="70" dur="500"/>
                                        <p:tgtEl>
                                          <p:spTgt spid="7186"/>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7185"/>
                                        </p:tgtEl>
                                        <p:attrNameLst>
                                          <p:attrName>style.visibility</p:attrName>
                                        </p:attrNameLst>
                                      </p:cBhvr>
                                      <p:to>
                                        <p:strVal val="visible"/>
                                      </p:to>
                                    </p:set>
                                    <p:anim calcmode="lin" valueType="num">
                                      <p:cBhvr>
                                        <p:cTn id="75" dur="500" fill="hold"/>
                                        <p:tgtEl>
                                          <p:spTgt spid="7185"/>
                                        </p:tgtEl>
                                        <p:attrNameLst>
                                          <p:attrName>ppt_w</p:attrName>
                                        </p:attrNameLst>
                                      </p:cBhvr>
                                      <p:tavLst>
                                        <p:tav tm="0">
                                          <p:val>
                                            <p:fltVal val="0"/>
                                          </p:val>
                                        </p:tav>
                                        <p:tav tm="100000">
                                          <p:val>
                                            <p:strVal val="#ppt_w"/>
                                          </p:val>
                                        </p:tav>
                                      </p:tavLst>
                                    </p:anim>
                                    <p:anim calcmode="lin" valueType="num">
                                      <p:cBhvr>
                                        <p:cTn id="76" dur="500" fill="hold"/>
                                        <p:tgtEl>
                                          <p:spTgt spid="7185"/>
                                        </p:tgtEl>
                                        <p:attrNameLst>
                                          <p:attrName>ppt_h</p:attrName>
                                        </p:attrNameLst>
                                      </p:cBhvr>
                                      <p:tavLst>
                                        <p:tav tm="0">
                                          <p:val>
                                            <p:fltVal val="0"/>
                                          </p:val>
                                        </p:tav>
                                        <p:tav tm="100000">
                                          <p:val>
                                            <p:strVal val="#ppt_h"/>
                                          </p:val>
                                        </p:tav>
                                      </p:tavLst>
                                    </p:anim>
                                    <p:animEffect transition="in" filter="fade">
                                      <p:cBhvr>
                                        <p:cTn id="77" dur="500"/>
                                        <p:tgtEl>
                                          <p:spTgt spid="7185"/>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7183"/>
                                        </p:tgtEl>
                                        <p:attrNameLst>
                                          <p:attrName>style.visibility</p:attrName>
                                        </p:attrNameLst>
                                      </p:cBhvr>
                                      <p:to>
                                        <p:strVal val="visible"/>
                                      </p:to>
                                    </p:set>
                                    <p:anim calcmode="lin" valueType="num">
                                      <p:cBhvr>
                                        <p:cTn id="80" dur="500" fill="hold"/>
                                        <p:tgtEl>
                                          <p:spTgt spid="7183"/>
                                        </p:tgtEl>
                                        <p:attrNameLst>
                                          <p:attrName>ppt_w</p:attrName>
                                        </p:attrNameLst>
                                      </p:cBhvr>
                                      <p:tavLst>
                                        <p:tav tm="0">
                                          <p:val>
                                            <p:fltVal val="0"/>
                                          </p:val>
                                        </p:tav>
                                        <p:tav tm="100000">
                                          <p:val>
                                            <p:strVal val="#ppt_w"/>
                                          </p:val>
                                        </p:tav>
                                      </p:tavLst>
                                    </p:anim>
                                    <p:anim calcmode="lin" valueType="num">
                                      <p:cBhvr>
                                        <p:cTn id="81" dur="500" fill="hold"/>
                                        <p:tgtEl>
                                          <p:spTgt spid="7183"/>
                                        </p:tgtEl>
                                        <p:attrNameLst>
                                          <p:attrName>ppt_h</p:attrName>
                                        </p:attrNameLst>
                                      </p:cBhvr>
                                      <p:tavLst>
                                        <p:tav tm="0">
                                          <p:val>
                                            <p:fltVal val="0"/>
                                          </p:val>
                                        </p:tav>
                                        <p:tav tm="100000">
                                          <p:val>
                                            <p:strVal val="#ppt_h"/>
                                          </p:val>
                                        </p:tav>
                                      </p:tavLst>
                                    </p:anim>
                                    <p:animEffect transition="in" filter="fade">
                                      <p:cBhvr>
                                        <p:cTn id="82" dur="500"/>
                                        <p:tgtEl>
                                          <p:spTgt spid="7183"/>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7177"/>
                                        </p:tgtEl>
                                        <p:attrNameLst>
                                          <p:attrName>style.visibility</p:attrName>
                                        </p:attrNameLst>
                                      </p:cBhvr>
                                      <p:to>
                                        <p:strVal val="visible"/>
                                      </p:to>
                                    </p:set>
                                    <p:anim calcmode="lin" valueType="num">
                                      <p:cBhvr>
                                        <p:cTn id="85" dur="500" fill="hold"/>
                                        <p:tgtEl>
                                          <p:spTgt spid="7177"/>
                                        </p:tgtEl>
                                        <p:attrNameLst>
                                          <p:attrName>ppt_w</p:attrName>
                                        </p:attrNameLst>
                                      </p:cBhvr>
                                      <p:tavLst>
                                        <p:tav tm="0">
                                          <p:val>
                                            <p:fltVal val="0"/>
                                          </p:val>
                                        </p:tav>
                                        <p:tav tm="100000">
                                          <p:val>
                                            <p:strVal val="#ppt_w"/>
                                          </p:val>
                                        </p:tav>
                                      </p:tavLst>
                                    </p:anim>
                                    <p:anim calcmode="lin" valueType="num">
                                      <p:cBhvr>
                                        <p:cTn id="86" dur="500" fill="hold"/>
                                        <p:tgtEl>
                                          <p:spTgt spid="7177"/>
                                        </p:tgtEl>
                                        <p:attrNameLst>
                                          <p:attrName>ppt_h</p:attrName>
                                        </p:attrNameLst>
                                      </p:cBhvr>
                                      <p:tavLst>
                                        <p:tav tm="0">
                                          <p:val>
                                            <p:fltVal val="0"/>
                                          </p:val>
                                        </p:tav>
                                        <p:tav tm="100000">
                                          <p:val>
                                            <p:strVal val="#ppt_h"/>
                                          </p:val>
                                        </p:tav>
                                      </p:tavLst>
                                    </p:anim>
                                    <p:animEffect transition="in" filter="fade">
                                      <p:cBhvr>
                                        <p:cTn id="87" dur="500"/>
                                        <p:tgtEl>
                                          <p:spTgt spid="7177"/>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7200"/>
                                        </p:tgtEl>
                                        <p:attrNameLst>
                                          <p:attrName>style.visibility</p:attrName>
                                        </p:attrNameLst>
                                      </p:cBhvr>
                                      <p:to>
                                        <p:strVal val="visible"/>
                                      </p:to>
                                    </p:set>
                                    <p:anim calcmode="lin" valueType="num">
                                      <p:cBhvr>
                                        <p:cTn id="92" dur="500" fill="hold"/>
                                        <p:tgtEl>
                                          <p:spTgt spid="7200"/>
                                        </p:tgtEl>
                                        <p:attrNameLst>
                                          <p:attrName>ppt_w</p:attrName>
                                        </p:attrNameLst>
                                      </p:cBhvr>
                                      <p:tavLst>
                                        <p:tav tm="0">
                                          <p:val>
                                            <p:fltVal val="0"/>
                                          </p:val>
                                        </p:tav>
                                        <p:tav tm="100000">
                                          <p:val>
                                            <p:strVal val="#ppt_w"/>
                                          </p:val>
                                        </p:tav>
                                      </p:tavLst>
                                    </p:anim>
                                    <p:anim calcmode="lin" valueType="num">
                                      <p:cBhvr>
                                        <p:cTn id="93" dur="500" fill="hold"/>
                                        <p:tgtEl>
                                          <p:spTgt spid="7200"/>
                                        </p:tgtEl>
                                        <p:attrNameLst>
                                          <p:attrName>ppt_h</p:attrName>
                                        </p:attrNameLst>
                                      </p:cBhvr>
                                      <p:tavLst>
                                        <p:tav tm="0">
                                          <p:val>
                                            <p:fltVal val="0"/>
                                          </p:val>
                                        </p:tav>
                                        <p:tav tm="100000">
                                          <p:val>
                                            <p:strVal val="#ppt_h"/>
                                          </p:val>
                                        </p:tav>
                                      </p:tavLst>
                                    </p:anim>
                                    <p:animEffect transition="in" filter="fade">
                                      <p:cBhvr>
                                        <p:cTn id="94" dur="500"/>
                                        <p:tgtEl>
                                          <p:spTgt spid="7200"/>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7189"/>
                                        </p:tgtEl>
                                        <p:attrNameLst>
                                          <p:attrName>style.visibility</p:attrName>
                                        </p:attrNameLst>
                                      </p:cBhvr>
                                      <p:to>
                                        <p:strVal val="visible"/>
                                      </p:to>
                                    </p:set>
                                    <p:anim calcmode="lin" valueType="num">
                                      <p:cBhvr>
                                        <p:cTn id="97" dur="500" fill="hold"/>
                                        <p:tgtEl>
                                          <p:spTgt spid="7189"/>
                                        </p:tgtEl>
                                        <p:attrNameLst>
                                          <p:attrName>ppt_w</p:attrName>
                                        </p:attrNameLst>
                                      </p:cBhvr>
                                      <p:tavLst>
                                        <p:tav tm="0">
                                          <p:val>
                                            <p:fltVal val="0"/>
                                          </p:val>
                                        </p:tav>
                                        <p:tav tm="100000">
                                          <p:val>
                                            <p:strVal val="#ppt_w"/>
                                          </p:val>
                                        </p:tav>
                                      </p:tavLst>
                                    </p:anim>
                                    <p:anim calcmode="lin" valueType="num">
                                      <p:cBhvr>
                                        <p:cTn id="98" dur="500" fill="hold"/>
                                        <p:tgtEl>
                                          <p:spTgt spid="7189"/>
                                        </p:tgtEl>
                                        <p:attrNameLst>
                                          <p:attrName>ppt_h</p:attrName>
                                        </p:attrNameLst>
                                      </p:cBhvr>
                                      <p:tavLst>
                                        <p:tav tm="0">
                                          <p:val>
                                            <p:fltVal val="0"/>
                                          </p:val>
                                        </p:tav>
                                        <p:tav tm="100000">
                                          <p:val>
                                            <p:strVal val="#ppt_h"/>
                                          </p:val>
                                        </p:tav>
                                      </p:tavLst>
                                    </p:anim>
                                    <p:animEffect transition="in" filter="fade">
                                      <p:cBhvr>
                                        <p:cTn id="99" dur="500"/>
                                        <p:tgtEl>
                                          <p:spTgt spid="7189"/>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7193"/>
                                        </p:tgtEl>
                                        <p:attrNameLst>
                                          <p:attrName>style.visibility</p:attrName>
                                        </p:attrNameLst>
                                      </p:cBhvr>
                                      <p:to>
                                        <p:strVal val="visible"/>
                                      </p:to>
                                    </p:set>
                                    <p:anim calcmode="lin" valueType="num">
                                      <p:cBhvr>
                                        <p:cTn id="104" dur="500" fill="hold"/>
                                        <p:tgtEl>
                                          <p:spTgt spid="7193"/>
                                        </p:tgtEl>
                                        <p:attrNameLst>
                                          <p:attrName>ppt_w</p:attrName>
                                        </p:attrNameLst>
                                      </p:cBhvr>
                                      <p:tavLst>
                                        <p:tav tm="0">
                                          <p:val>
                                            <p:fltVal val="0"/>
                                          </p:val>
                                        </p:tav>
                                        <p:tav tm="100000">
                                          <p:val>
                                            <p:strVal val="#ppt_w"/>
                                          </p:val>
                                        </p:tav>
                                      </p:tavLst>
                                    </p:anim>
                                    <p:anim calcmode="lin" valueType="num">
                                      <p:cBhvr>
                                        <p:cTn id="105" dur="500" fill="hold"/>
                                        <p:tgtEl>
                                          <p:spTgt spid="7193"/>
                                        </p:tgtEl>
                                        <p:attrNameLst>
                                          <p:attrName>ppt_h</p:attrName>
                                        </p:attrNameLst>
                                      </p:cBhvr>
                                      <p:tavLst>
                                        <p:tav tm="0">
                                          <p:val>
                                            <p:fltVal val="0"/>
                                          </p:val>
                                        </p:tav>
                                        <p:tav tm="100000">
                                          <p:val>
                                            <p:strVal val="#ppt_h"/>
                                          </p:val>
                                        </p:tav>
                                      </p:tavLst>
                                    </p:anim>
                                    <p:animEffect transition="in" filter="fade">
                                      <p:cBhvr>
                                        <p:cTn id="106" dur="500"/>
                                        <p:tgtEl>
                                          <p:spTgt spid="7193"/>
                                        </p:tgtEl>
                                      </p:cBhvr>
                                    </p:animEffect>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grpId="0" nodeType="clickEffect">
                                  <p:stCondLst>
                                    <p:cond delay="0"/>
                                  </p:stCondLst>
                                  <p:childTnLst>
                                    <p:set>
                                      <p:cBhvr>
                                        <p:cTn id="110" dur="1" fill="hold">
                                          <p:stCondLst>
                                            <p:cond delay="0"/>
                                          </p:stCondLst>
                                        </p:cTn>
                                        <p:tgtEl>
                                          <p:spTgt spid="7197"/>
                                        </p:tgtEl>
                                        <p:attrNameLst>
                                          <p:attrName>style.visibility</p:attrName>
                                        </p:attrNameLst>
                                      </p:cBhvr>
                                      <p:to>
                                        <p:strVal val="visible"/>
                                      </p:to>
                                    </p:set>
                                    <p:anim calcmode="lin" valueType="num">
                                      <p:cBhvr>
                                        <p:cTn id="111" dur="500" fill="hold"/>
                                        <p:tgtEl>
                                          <p:spTgt spid="7197"/>
                                        </p:tgtEl>
                                        <p:attrNameLst>
                                          <p:attrName>ppt_w</p:attrName>
                                        </p:attrNameLst>
                                      </p:cBhvr>
                                      <p:tavLst>
                                        <p:tav tm="0">
                                          <p:val>
                                            <p:fltVal val="0"/>
                                          </p:val>
                                        </p:tav>
                                        <p:tav tm="100000">
                                          <p:val>
                                            <p:strVal val="#ppt_w"/>
                                          </p:val>
                                        </p:tav>
                                      </p:tavLst>
                                    </p:anim>
                                    <p:anim calcmode="lin" valueType="num">
                                      <p:cBhvr>
                                        <p:cTn id="112" dur="500" fill="hold"/>
                                        <p:tgtEl>
                                          <p:spTgt spid="7197"/>
                                        </p:tgtEl>
                                        <p:attrNameLst>
                                          <p:attrName>ppt_h</p:attrName>
                                        </p:attrNameLst>
                                      </p:cBhvr>
                                      <p:tavLst>
                                        <p:tav tm="0">
                                          <p:val>
                                            <p:fltVal val="0"/>
                                          </p:val>
                                        </p:tav>
                                        <p:tav tm="100000">
                                          <p:val>
                                            <p:strVal val="#ppt_h"/>
                                          </p:val>
                                        </p:tav>
                                      </p:tavLst>
                                    </p:anim>
                                    <p:animEffect transition="in" filter="fade">
                                      <p:cBhvr>
                                        <p:cTn id="113" dur="500"/>
                                        <p:tgtEl>
                                          <p:spTgt spid="7197"/>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7198"/>
                                        </p:tgtEl>
                                        <p:attrNameLst>
                                          <p:attrName>style.visibility</p:attrName>
                                        </p:attrNameLst>
                                      </p:cBhvr>
                                      <p:to>
                                        <p:strVal val="visible"/>
                                      </p:to>
                                    </p:set>
                                    <p:anim calcmode="lin" valueType="num">
                                      <p:cBhvr>
                                        <p:cTn id="116" dur="500" fill="hold"/>
                                        <p:tgtEl>
                                          <p:spTgt spid="7198"/>
                                        </p:tgtEl>
                                        <p:attrNameLst>
                                          <p:attrName>ppt_w</p:attrName>
                                        </p:attrNameLst>
                                      </p:cBhvr>
                                      <p:tavLst>
                                        <p:tav tm="0">
                                          <p:val>
                                            <p:fltVal val="0"/>
                                          </p:val>
                                        </p:tav>
                                        <p:tav tm="100000">
                                          <p:val>
                                            <p:strVal val="#ppt_w"/>
                                          </p:val>
                                        </p:tav>
                                      </p:tavLst>
                                    </p:anim>
                                    <p:anim calcmode="lin" valueType="num">
                                      <p:cBhvr>
                                        <p:cTn id="117" dur="500" fill="hold"/>
                                        <p:tgtEl>
                                          <p:spTgt spid="7198"/>
                                        </p:tgtEl>
                                        <p:attrNameLst>
                                          <p:attrName>ppt_h</p:attrName>
                                        </p:attrNameLst>
                                      </p:cBhvr>
                                      <p:tavLst>
                                        <p:tav tm="0">
                                          <p:val>
                                            <p:fltVal val="0"/>
                                          </p:val>
                                        </p:tav>
                                        <p:tav tm="100000">
                                          <p:val>
                                            <p:strVal val="#ppt_h"/>
                                          </p:val>
                                        </p:tav>
                                      </p:tavLst>
                                    </p:anim>
                                    <p:animEffect transition="in" filter="fade">
                                      <p:cBhvr>
                                        <p:cTn id="118" dur="500"/>
                                        <p:tgtEl>
                                          <p:spTgt spid="7198"/>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7194"/>
                                        </p:tgtEl>
                                        <p:attrNameLst>
                                          <p:attrName>style.visibility</p:attrName>
                                        </p:attrNameLst>
                                      </p:cBhvr>
                                      <p:to>
                                        <p:strVal val="visible"/>
                                      </p:to>
                                    </p:set>
                                    <p:anim calcmode="lin" valueType="num">
                                      <p:cBhvr>
                                        <p:cTn id="121" dur="500" fill="hold"/>
                                        <p:tgtEl>
                                          <p:spTgt spid="7194"/>
                                        </p:tgtEl>
                                        <p:attrNameLst>
                                          <p:attrName>ppt_w</p:attrName>
                                        </p:attrNameLst>
                                      </p:cBhvr>
                                      <p:tavLst>
                                        <p:tav tm="0">
                                          <p:val>
                                            <p:fltVal val="0"/>
                                          </p:val>
                                        </p:tav>
                                        <p:tav tm="100000">
                                          <p:val>
                                            <p:strVal val="#ppt_w"/>
                                          </p:val>
                                        </p:tav>
                                      </p:tavLst>
                                    </p:anim>
                                    <p:anim calcmode="lin" valueType="num">
                                      <p:cBhvr>
                                        <p:cTn id="122" dur="500" fill="hold"/>
                                        <p:tgtEl>
                                          <p:spTgt spid="7194"/>
                                        </p:tgtEl>
                                        <p:attrNameLst>
                                          <p:attrName>ppt_h</p:attrName>
                                        </p:attrNameLst>
                                      </p:cBhvr>
                                      <p:tavLst>
                                        <p:tav tm="0">
                                          <p:val>
                                            <p:fltVal val="0"/>
                                          </p:val>
                                        </p:tav>
                                        <p:tav tm="100000">
                                          <p:val>
                                            <p:strVal val="#ppt_h"/>
                                          </p:val>
                                        </p:tav>
                                      </p:tavLst>
                                    </p:anim>
                                    <p:animEffect transition="in" filter="fade">
                                      <p:cBhvr>
                                        <p:cTn id="123" dur="500"/>
                                        <p:tgtEl>
                                          <p:spTgt spid="7194"/>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7196"/>
                                        </p:tgtEl>
                                        <p:attrNameLst>
                                          <p:attrName>style.visibility</p:attrName>
                                        </p:attrNameLst>
                                      </p:cBhvr>
                                      <p:to>
                                        <p:strVal val="visible"/>
                                      </p:to>
                                    </p:set>
                                    <p:anim calcmode="lin" valueType="num">
                                      <p:cBhvr>
                                        <p:cTn id="126" dur="500" fill="hold"/>
                                        <p:tgtEl>
                                          <p:spTgt spid="7196"/>
                                        </p:tgtEl>
                                        <p:attrNameLst>
                                          <p:attrName>ppt_w</p:attrName>
                                        </p:attrNameLst>
                                      </p:cBhvr>
                                      <p:tavLst>
                                        <p:tav tm="0">
                                          <p:val>
                                            <p:fltVal val="0"/>
                                          </p:val>
                                        </p:tav>
                                        <p:tav tm="100000">
                                          <p:val>
                                            <p:strVal val="#ppt_w"/>
                                          </p:val>
                                        </p:tav>
                                      </p:tavLst>
                                    </p:anim>
                                    <p:anim calcmode="lin" valueType="num">
                                      <p:cBhvr>
                                        <p:cTn id="127" dur="500" fill="hold"/>
                                        <p:tgtEl>
                                          <p:spTgt spid="7196"/>
                                        </p:tgtEl>
                                        <p:attrNameLst>
                                          <p:attrName>ppt_h</p:attrName>
                                        </p:attrNameLst>
                                      </p:cBhvr>
                                      <p:tavLst>
                                        <p:tav tm="0">
                                          <p:val>
                                            <p:fltVal val="0"/>
                                          </p:val>
                                        </p:tav>
                                        <p:tav tm="100000">
                                          <p:val>
                                            <p:strVal val="#ppt_h"/>
                                          </p:val>
                                        </p:tav>
                                      </p:tavLst>
                                    </p:anim>
                                    <p:animEffect transition="in" filter="fade">
                                      <p:cBhvr>
                                        <p:cTn id="128" dur="500"/>
                                        <p:tgtEl>
                                          <p:spTgt spid="7196"/>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7201"/>
                                        </p:tgtEl>
                                        <p:attrNameLst>
                                          <p:attrName>style.visibility</p:attrName>
                                        </p:attrNameLst>
                                      </p:cBhvr>
                                      <p:to>
                                        <p:strVal val="visible"/>
                                      </p:to>
                                    </p:set>
                                    <p:anim calcmode="lin" valueType="num">
                                      <p:cBhvr>
                                        <p:cTn id="131" dur="500" fill="hold"/>
                                        <p:tgtEl>
                                          <p:spTgt spid="7201"/>
                                        </p:tgtEl>
                                        <p:attrNameLst>
                                          <p:attrName>ppt_w</p:attrName>
                                        </p:attrNameLst>
                                      </p:cBhvr>
                                      <p:tavLst>
                                        <p:tav tm="0">
                                          <p:val>
                                            <p:fltVal val="0"/>
                                          </p:val>
                                        </p:tav>
                                        <p:tav tm="100000">
                                          <p:val>
                                            <p:strVal val="#ppt_w"/>
                                          </p:val>
                                        </p:tav>
                                      </p:tavLst>
                                    </p:anim>
                                    <p:anim calcmode="lin" valueType="num">
                                      <p:cBhvr>
                                        <p:cTn id="132" dur="500" fill="hold"/>
                                        <p:tgtEl>
                                          <p:spTgt spid="7201"/>
                                        </p:tgtEl>
                                        <p:attrNameLst>
                                          <p:attrName>ppt_h</p:attrName>
                                        </p:attrNameLst>
                                      </p:cBhvr>
                                      <p:tavLst>
                                        <p:tav tm="0">
                                          <p:val>
                                            <p:fltVal val="0"/>
                                          </p:val>
                                        </p:tav>
                                        <p:tav tm="100000">
                                          <p:val>
                                            <p:strVal val="#ppt_h"/>
                                          </p:val>
                                        </p:tav>
                                      </p:tavLst>
                                    </p:anim>
                                    <p:animEffect transition="in" filter="fade">
                                      <p:cBhvr>
                                        <p:cTn id="133" dur="500"/>
                                        <p:tgtEl>
                                          <p:spTgt spid="7201"/>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7199"/>
                                        </p:tgtEl>
                                        <p:attrNameLst>
                                          <p:attrName>style.visibility</p:attrName>
                                        </p:attrNameLst>
                                      </p:cBhvr>
                                      <p:to>
                                        <p:strVal val="visible"/>
                                      </p:to>
                                    </p:set>
                                    <p:anim calcmode="lin" valueType="num">
                                      <p:cBhvr>
                                        <p:cTn id="136" dur="500" fill="hold"/>
                                        <p:tgtEl>
                                          <p:spTgt spid="7199"/>
                                        </p:tgtEl>
                                        <p:attrNameLst>
                                          <p:attrName>ppt_w</p:attrName>
                                        </p:attrNameLst>
                                      </p:cBhvr>
                                      <p:tavLst>
                                        <p:tav tm="0">
                                          <p:val>
                                            <p:fltVal val="0"/>
                                          </p:val>
                                        </p:tav>
                                        <p:tav tm="100000">
                                          <p:val>
                                            <p:strVal val="#ppt_w"/>
                                          </p:val>
                                        </p:tav>
                                      </p:tavLst>
                                    </p:anim>
                                    <p:anim calcmode="lin" valueType="num">
                                      <p:cBhvr>
                                        <p:cTn id="137" dur="500" fill="hold"/>
                                        <p:tgtEl>
                                          <p:spTgt spid="7199"/>
                                        </p:tgtEl>
                                        <p:attrNameLst>
                                          <p:attrName>ppt_h</p:attrName>
                                        </p:attrNameLst>
                                      </p:cBhvr>
                                      <p:tavLst>
                                        <p:tav tm="0">
                                          <p:val>
                                            <p:fltVal val="0"/>
                                          </p:val>
                                        </p:tav>
                                        <p:tav tm="100000">
                                          <p:val>
                                            <p:strVal val="#ppt_h"/>
                                          </p:val>
                                        </p:tav>
                                      </p:tavLst>
                                    </p:anim>
                                    <p:animEffect transition="in" filter="fade">
                                      <p:cBhvr>
                                        <p:cTn id="138" dur="500"/>
                                        <p:tgtEl>
                                          <p:spTgt spid="7199"/>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7195"/>
                                        </p:tgtEl>
                                        <p:attrNameLst>
                                          <p:attrName>style.visibility</p:attrName>
                                        </p:attrNameLst>
                                      </p:cBhvr>
                                      <p:to>
                                        <p:strVal val="visible"/>
                                      </p:to>
                                    </p:set>
                                    <p:anim calcmode="lin" valueType="num">
                                      <p:cBhvr>
                                        <p:cTn id="141" dur="500" fill="hold"/>
                                        <p:tgtEl>
                                          <p:spTgt spid="7195"/>
                                        </p:tgtEl>
                                        <p:attrNameLst>
                                          <p:attrName>ppt_w</p:attrName>
                                        </p:attrNameLst>
                                      </p:cBhvr>
                                      <p:tavLst>
                                        <p:tav tm="0">
                                          <p:val>
                                            <p:fltVal val="0"/>
                                          </p:val>
                                        </p:tav>
                                        <p:tav tm="100000">
                                          <p:val>
                                            <p:strVal val="#ppt_w"/>
                                          </p:val>
                                        </p:tav>
                                      </p:tavLst>
                                    </p:anim>
                                    <p:anim calcmode="lin" valueType="num">
                                      <p:cBhvr>
                                        <p:cTn id="142" dur="500" fill="hold"/>
                                        <p:tgtEl>
                                          <p:spTgt spid="7195"/>
                                        </p:tgtEl>
                                        <p:attrNameLst>
                                          <p:attrName>ppt_h</p:attrName>
                                        </p:attrNameLst>
                                      </p:cBhvr>
                                      <p:tavLst>
                                        <p:tav tm="0">
                                          <p:val>
                                            <p:fltVal val="0"/>
                                          </p:val>
                                        </p:tav>
                                        <p:tav tm="100000">
                                          <p:val>
                                            <p:strVal val="#ppt_h"/>
                                          </p:val>
                                        </p:tav>
                                      </p:tavLst>
                                    </p:anim>
                                    <p:animEffect transition="in" filter="fade">
                                      <p:cBhvr>
                                        <p:cTn id="143" dur="500"/>
                                        <p:tgtEl>
                                          <p:spTgt spid="7195"/>
                                        </p:tgtEl>
                                      </p:cBhvr>
                                    </p:animEffect>
                                  </p:childTnLst>
                                </p:cTn>
                              </p:par>
                            </p:childTnLst>
                          </p:cTn>
                        </p:par>
                      </p:childTnLst>
                    </p:cTn>
                  </p:par>
                  <p:par>
                    <p:cTn id="144" fill="hold">
                      <p:stCondLst>
                        <p:cond delay="indefinite"/>
                      </p:stCondLst>
                      <p:childTnLst>
                        <p:par>
                          <p:cTn id="145" fill="hold">
                            <p:stCondLst>
                              <p:cond delay="0"/>
                            </p:stCondLst>
                            <p:childTnLst>
                              <p:par>
                                <p:cTn id="146" presetID="53" presetClass="entr" presetSubtype="16" fill="hold" grpId="0" nodeType="clickEffect">
                                  <p:stCondLst>
                                    <p:cond delay="0"/>
                                  </p:stCondLst>
                                  <p:childTnLst>
                                    <p:set>
                                      <p:cBhvr>
                                        <p:cTn id="147" dur="1" fill="hold">
                                          <p:stCondLst>
                                            <p:cond delay="0"/>
                                          </p:stCondLst>
                                        </p:cTn>
                                        <p:tgtEl>
                                          <p:spTgt spid="7192"/>
                                        </p:tgtEl>
                                        <p:attrNameLst>
                                          <p:attrName>style.visibility</p:attrName>
                                        </p:attrNameLst>
                                      </p:cBhvr>
                                      <p:to>
                                        <p:strVal val="visible"/>
                                      </p:to>
                                    </p:set>
                                    <p:anim calcmode="lin" valueType="num">
                                      <p:cBhvr>
                                        <p:cTn id="148" dur="500" fill="hold"/>
                                        <p:tgtEl>
                                          <p:spTgt spid="7192"/>
                                        </p:tgtEl>
                                        <p:attrNameLst>
                                          <p:attrName>ppt_w</p:attrName>
                                        </p:attrNameLst>
                                      </p:cBhvr>
                                      <p:tavLst>
                                        <p:tav tm="0">
                                          <p:val>
                                            <p:fltVal val="0"/>
                                          </p:val>
                                        </p:tav>
                                        <p:tav tm="100000">
                                          <p:val>
                                            <p:strVal val="#ppt_w"/>
                                          </p:val>
                                        </p:tav>
                                      </p:tavLst>
                                    </p:anim>
                                    <p:anim calcmode="lin" valueType="num">
                                      <p:cBhvr>
                                        <p:cTn id="149" dur="500" fill="hold"/>
                                        <p:tgtEl>
                                          <p:spTgt spid="7192"/>
                                        </p:tgtEl>
                                        <p:attrNameLst>
                                          <p:attrName>ppt_h</p:attrName>
                                        </p:attrNameLst>
                                      </p:cBhvr>
                                      <p:tavLst>
                                        <p:tav tm="0">
                                          <p:val>
                                            <p:fltVal val="0"/>
                                          </p:val>
                                        </p:tav>
                                        <p:tav tm="100000">
                                          <p:val>
                                            <p:strVal val="#ppt_h"/>
                                          </p:val>
                                        </p:tav>
                                      </p:tavLst>
                                    </p:anim>
                                    <p:animEffect transition="in" filter="fade">
                                      <p:cBhvr>
                                        <p:cTn id="150" dur="500"/>
                                        <p:tgtEl>
                                          <p:spTgt spid="7192"/>
                                        </p:tgtEl>
                                      </p:cBhvr>
                                    </p:animEffect>
                                  </p:childTnLst>
                                </p:cTn>
                              </p:par>
                              <p:par>
                                <p:cTn id="151" presetID="53" presetClass="entr" presetSubtype="16" fill="hold" grpId="0" nodeType="withEffect">
                                  <p:stCondLst>
                                    <p:cond delay="0"/>
                                  </p:stCondLst>
                                  <p:childTnLst>
                                    <p:set>
                                      <p:cBhvr>
                                        <p:cTn id="152" dur="1" fill="hold">
                                          <p:stCondLst>
                                            <p:cond delay="0"/>
                                          </p:stCondLst>
                                        </p:cTn>
                                        <p:tgtEl>
                                          <p:spTgt spid="7190"/>
                                        </p:tgtEl>
                                        <p:attrNameLst>
                                          <p:attrName>style.visibility</p:attrName>
                                        </p:attrNameLst>
                                      </p:cBhvr>
                                      <p:to>
                                        <p:strVal val="visible"/>
                                      </p:to>
                                    </p:set>
                                    <p:anim calcmode="lin" valueType="num">
                                      <p:cBhvr>
                                        <p:cTn id="153" dur="500" fill="hold"/>
                                        <p:tgtEl>
                                          <p:spTgt spid="7190"/>
                                        </p:tgtEl>
                                        <p:attrNameLst>
                                          <p:attrName>ppt_w</p:attrName>
                                        </p:attrNameLst>
                                      </p:cBhvr>
                                      <p:tavLst>
                                        <p:tav tm="0">
                                          <p:val>
                                            <p:fltVal val="0"/>
                                          </p:val>
                                        </p:tav>
                                        <p:tav tm="100000">
                                          <p:val>
                                            <p:strVal val="#ppt_w"/>
                                          </p:val>
                                        </p:tav>
                                      </p:tavLst>
                                    </p:anim>
                                    <p:anim calcmode="lin" valueType="num">
                                      <p:cBhvr>
                                        <p:cTn id="154" dur="500" fill="hold"/>
                                        <p:tgtEl>
                                          <p:spTgt spid="7190"/>
                                        </p:tgtEl>
                                        <p:attrNameLst>
                                          <p:attrName>ppt_h</p:attrName>
                                        </p:attrNameLst>
                                      </p:cBhvr>
                                      <p:tavLst>
                                        <p:tav tm="0">
                                          <p:val>
                                            <p:fltVal val="0"/>
                                          </p:val>
                                        </p:tav>
                                        <p:tav tm="100000">
                                          <p:val>
                                            <p:strVal val="#ppt_h"/>
                                          </p:val>
                                        </p:tav>
                                      </p:tavLst>
                                    </p:anim>
                                    <p:animEffect transition="in" filter="fade">
                                      <p:cBhvr>
                                        <p:cTn id="155" dur="500"/>
                                        <p:tgtEl>
                                          <p:spTgt spid="7190"/>
                                        </p:tgtEl>
                                      </p:cBhvr>
                                    </p:animEffect>
                                  </p:childTnLst>
                                </p:cTn>
                              </p:par>
                              <p:par>
                                <p:cTn id="156" presetID="53" presetClass="entr" presetSubtype="16" fill="hold" grpId="0" nodeType="withEffect">
                                  <p:stCondLst>
                                    <p:cond delay="0"/>
                                  </p:stCondLst>
                                  <p:childTnLst>
                                    <p:set>
                                      <p:cBhvr>
                                        <p:cTn id="157" dur="1" fill="hold">
                                          <p:stCondLst>
                                            <p:cond delay="0"/>
                                          </p:stCondLst>
                                        </p:cTn>
                                        <p:tgtEl>
                                          <p:spTgt spid="7191"/>
                                        </p:tgtEl>
                                        <p:attrNameLst>
                                          <p:attrName>style.visibility</p:attrName>
                                        </p:attrNameLst>
                                      </p:cBhvr>
                                      <p:to>
                                        <p:strVal val="visible"/>
                                      </p:to>
                                    </p:set>
                                    <p:anim calcmode="lin" valueType="num">
                                      <p:cBhvr>
                                        <p:cTn id="158" dur="500" fill="hold"/>
                                        <p:tgtEl>
                                          <p:spTgt spid="7191"/>
                                        </p:tgtEl>
                                        <p:attrNameLst>
                                          <p:attrName>ppt_w</p:attrName>
                                        </p:attrNameLst>
                                      </p:cBhvr>
                                      <p:tavLst>
                                        <p:tav tm="0">
                                          <p:val>
                                            <p:fltVal val="0"/>
                                          </p:val>
                                        </p:tav>
                                        <p:tav tm="100000">
                                          <p:val>
                                            <p:strVal val="#ppt_w"/>
                                          </p:val>
                                        </p:tav>
                                      </p:tavLst>
                                    </p:anim>
                                    <p:anim calcmode="lin" valueType="num">
                                      <p:cBhvr>
                                        <p:cTn id="159" dur="500" fill="hold"/>
                                        <p:tgtEl>
                                          <p:spTgt spid="7191"/>
                                        </p:tgtEl>
                                        <p:attrNameLst>
                                          <p:attrName>ppt_h</p:attrName>
                                        </p:attrNameLst>
                                      </p:cBhvr>
                                      <p:tavLst>
                                        <p:tav tm="0">
                                          <p:val>
                                            <p:fltVal val="0"/>
                                          </p:val>
                                        </p:tav>
                                        <p:tav tm="100000">
                                          <p:val>
                                            <p:strVal val="#ppt_h"/>
                                          </p:val>
                                        </p:tav>
                                      </p:tavLst>
                                    </p:anim>
                                    <p:animEffect transition="in" filter="fade">
                                      <p:cBhvr>
                                        <p:cTn id="160" dur="500"/>
                                        <p:tgtEl>
                                          <p:spTgt spid="7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animBg="1"/>
      <p:bldP spid="7175" grpId="0" animBg="1"/>
      <p:bldP spid="7176" grpId="0" animBg="1"/>
      <p:bldP spid="7177" grpId="0" animBg="1"/>
      <p:bldP spid="7178" grpId="0" animBg="1"/>
      <p:bldP spid="7179" grpId="0" animBg="1"/>
      <p:bldP spid="7180" grpId="0" animBg="1"/>
      <p:bldP spid="7181" grpId="0" animBg="1"/>
      <p:bldP spid="7182" grpId="0" animBg="1"/>
      <p:bldP spid="7183" grpId="0" animBg="1"/>
      <p:bldP spid="7184" grpId="0" animBg="1"/>
      <p:bldP spid="7185" grpId="0" animBg="1"/>
      <p:bldP spid="7186" grpId="0" animBg="1"/>
      <p:bldP spid="7187" grpId="0" animBg="1"/>
      <p:bldP spid="7188" grpId="0" animBg="1"/>
      <p:bldP spid="7189" grpId="0" animBg="1"/>
      <p:bldP spid="7190" grpId="0" animBg="1"/>
      <p:bldP spid="7191" grpId="0" animBg="1"/>
      <p:bldP spid="7192" grpId="0" animBg="1"/>
      <p:bldP spid="7193" grpId="0" animBg="1"/>
      <p:bldP spid="7194" grpId="0" animBg="1"/>
      <p:bldP spid="7195" grpId="0" animBg="1"/>
      <p:bldP spid="7196" grpId="0" animBg="1"/>
      <p:bldP spid="7197" grpId="0" animBg="1"/>
      <p:bldP spid="7198" grpId="0" animBg="1"/>
      <p:bldP spid="7199" grpId="0" animBg="1"/>
      <p:bldP spid="7200" grpId="0" animBg="1"/>
      <p:bldP spid="7201"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0" y="381000"/>
            <a:ext cx="9144000" cy="1143000"/>
          </a:xfrm>
        </p:spPr>
        <p:txBody>
          <a:bodyPr/>
          <a:lstStyle/>
          <a:p>
            <a:pPr algn="ctr">
              <a:defRPr/>
            </a:pPr>
            <a:r>
              <a:rPr lang="en-US" sz="3600" b="1" dirty="0">
                <a:solidFill>
                  <a:srgbClr val="000000"/>
                </a:solidFill>
                <a:effectLst/>
              </a:rPr>
              <a:t>Volume </a:t>
            </a:r>
            <a:r>
              <a:rPr lang="en-US" sz="3600" b="1" dirty="0" err="1">
                <a:solidFill>
                  <a:srgbClr val="000000"/>
                </a:solidFill>
                <a:effectLst/>
              </a:rPr>
              <a:t>cible</a:t>
            </a:r>
            <a:r>
              <a:rPr lang="en-US" sz="3600" b="1" dirty="0">
                <a:solidFill>
                  <a:srgbClr val="000000"/>
                </a:solidFill>
                <a:effectLst/>
              </a:rPr>
              <a:t/>
            </a:r>
            <a:br>
              <a:rPr lang="en-US" sz="3600" b="1" dirty="0">
                <a:solidFill>
                  <a:srgbClr val="000000"/>
                </a:solidFill>
                <a:effectLst/>
              </a:rPr>
            </a:br>
            <a:endParaRPr lang="en-US" altLang="en-US" sz="3600" b="1" dirty="0" smtClean="0">
              <a:solidFill>
                <a:srgbClr val="000000"/>
              </a:solidFill>
              <a:effectLst/>
            </a:endParaRPr>
          </a:p>
        </p:txBody>
      </p:sp>
      <p:sp>
        <p:nvSpPr>
          <p:cNvPr id="101379" name="Rectangle 3"/>
          <p:cNvSpPr>
            <a:spLocks noGrp="1" noChangeArrowheads="1"/>
          </p:cNvSpPr>
          <p:nvPr>
            <p:ph type="body" idx="1"/>
          </p:nvPr>
        </p:nvSpPr>
        <p:spPr>
          <a:xfrm>
            <a:off x="228600" y="1981200"/>
            <a:ext cx="8915400" cy="4300538"/>
          </a:xfrm>
        </p:spPr>
        <p:txBody>
          <a:bodyPr/>
          <a:lstStyle/>
          <a:p>
            <a:r>
              <a:rPr lang="fr-FR" sz="2000" dirty="0">
                <a:solidFill>
                  <a:srgbClr val="000000"/>
                </a:solidFill>
                <a:effectLst/>
              </a:rPr>
              <a:t>Le but de la radiothérapie est d'induire l'apoptose (mort cellulaire) des cellules malignes dans la zone irradiée (volume tumoral + ganglions lymphatiques) avec un minimum de lésions dans les tissus sains.</a:t>
            </a:r>
            <a:endParaRPr lang="fr-FR" sz="2000" dirty="0">
              <a:solidFill>
                <a:srgbClr val="000000"/>
              </a:solidFill>
            </a:endParaRPr>
          </a:p>
          <a:p>
            <a:r>
              <a:rPr lang="fr-FR" sz="2000" dirty="0">
                <a:solidFill>
                  <a:srgbClr val="000000"/>
                </a:solidFill>
                <a:effectLst/>
              </a:rPr>
              <a:t>La radiobiologie de la tumeur est complexe, la réponse dépend non seulement de la dose mais aussi de </a:t>
            </a:r>
            <a:endParaRPr lang="fr-FR" sz="2000" dirty="0">
              <a:solidFill>
                <a:srgbClr val="000000"/>
              </a:solidFill>
            </a:endParaRPr>
          </a:p>
          <a:p>
            <a:pPr lvl="1"/>
            <a:r>
              <a:rPr lang="fr-FR" sz="2000" dirty="0">
                <a:solidFill>
                  <a:srgbClr val="000000"/>
                </a:solidFill>
                <a:effectLst/>
              </a:rPr>
              <a:t>radiosensibilité spécifique</a:t>
            </a:r>
            <a:endParaRPr lang="fr-FR" sz="2000" dirty="0">
              <a:solidFill>
                <a:srgbClr val="000000"/>
              </a:solidFill>
            </a:endParaRPr>
          </a:p>
          <a:p>
            <a:pPr lvl="1"/>
            <a:r>
              <a:rPr lang="fr-FR" sz="2000" dirty="0">
                <a:solidFill>
                  <a:srgbClr val="000000"/>
                </a:solidFill>
                <a:effectLst/>
              </a:rPr>
              <a:t>heure (affichage)</a:t>
            </a:r>
            <a:endParaRPr lang="fr-FR" sz="2000" dirty="0">
              <a:solidFill>
                <a:srgbClr val="000000"/>
              </a:solidFill>
            </a:endParaRPr>
          </a:p>
          <a:p>
            <a:pPr lvl="1"/>
            <a:r>
              <a:rPr lang="fr-FR" sz="2000" dirty="0">
                <a:solidFill>
                  <a:srgbClr val="000000"/>
                </a:solidFill>
                <a:effectLst/>
              </a:rPr>
              <a:t>nombre d'administrations et dose / administration (fractionnement)</a:t>
            </a:r>
            <a:endParaRPr lang="fr-FR" sz="2000" dirty="0">
              <a:solidFill>
                <a:srgbClr val="000000"/>
              </a:solidFill>
            </a:endParaRPr>
          </a:p>
          <a:p>
            <a:pPr lvl="1"/>
            <a:r>
              <a:rPr lang="fr-FR" sz="2000" dirty="0">
                <a:solidFill>
                  <a:srgbClr val="000000"/>
                </a:solidFill>
                <a:effectLst/>
              </a:rPr>
              <a:t>autres agents compétitifs (p. ex. chimiothérapie)</a:t>
            </a:r>
            <a:endParaRPr lang="fr-FR" sz="2000" dirty="0">
              <a:solidFill>
                <a:srgbClr val="000000"/>
              </a:solidFill>
            </a:endParaRPr>
          </a:p>
          <a:p>
            <a:r>
              <a:rPr lang="fr-FR" sz="2000" dirty="0">
                <a:solidFill>
                  <a:srgbClr val="000000"/>
                </a:solidFill>
                <a:effectLst/>
              </a:rPr>
              <a:t>La réduction de la taille rend la tumeur</a:t>
            </a:r>
            <a:endParaRPr lang="fr-FR" sz="2000" dirty="0">
              <a:solidFill>
                <a:srgbClr val="000000"/>
              </a:solidFill>
            </a:endParaRPr>
          </a:p>
          <a:p>
            <a:pPr lvl="1"/>
            <a:r>
              <a:rPr lang="fr-FR" sz="2000" dirty="0">
                <a:solidFill>
                  <a:srgbClr val="000000"/>
                </a:solidFill>
                <a:effectLst/>
              </a:rPr>
              <a:t>mieux oxygéné</a:t>
            </a:r>
            <a:endParaRPr lang="fr-FR" sz="2000" dirty="0">
              <a:solidFill>
                <a:srgbClr val="000000"/>
              </a:solidFill>
            </a:endParaRPr>
          </a:p>
          <a:p>
            <a:pPr lvl="1"/>
            <a:r>
              <a:rPr lang="fr-FR" sz="2000" dirty="0">
                <a:solidFill>
                  <a:srgbClr val="000000"/>
                </a:solidFill>
                <a:effectLst/>
              </a:rPr>
              <a:t>plus sensible au traitement</a:t>
            </a:r>
            <a:endParaRPr lang="fr-FR" sz="2000" dirty="0">
              <a:solidFill>
                <a:srgbClr val="000000"/>
              </a:solidFill>
            </a:endParaRPr>
          </a:p>
          <a:p>
            <a:pPr>
              <a:buClrTx/>
              <a:defRPr/>
            </a:pPr>
            <a:endParaRPr lang="en-US" altLang="en-US" sz="1600" dirty="0">
              <a:solidFill>
                <a:srgbClr val="000000"/>
              </a:solidFill>
              <a:effectLs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0" y="152400"/>
            <a:ext cx="9144000" cy="1143000"/>
          </a:xfrm>
        </p:spPr>
        <p:txBody>
          <a:bodyPr/>
          <a:lstStyle/>
          <a:p>
            <a:pPr algn="ctr">
              <a:defRPr/>
            </a:pPr>
            <a:r>
              <a:rPr lang="en-US" sz="3600" b="1" dirty="0" err="1">
                <a:solidFill>
                  <a:srgbClr val="000000"/>
                </a:solidFill>
                <a:effectLst/>
              </a:rPr>
              <a:t>Radiothérapie</a:t>
            </a:r>
            <a:r>
              <a:rPr lang="en-US" sz="3600" b="1" dirty="0">
                <a:solidFill>
                  <a:srgbClr val="000000"/>
                </a:solidFill>
                <a:effectLst/>
              </a:rPr>
              <a:t> </a:t>
            </a:r>
            <a:r>
              <a:rPr lang="en-US" sz="3600" b="1" dirty="0" err="1">
                <a:solidFill>
                  <a:srgbClr val="000000"/>
                </a:solidFill>
                <a:effectLst/>
              </a:rPr>
              <a:t>cible</a:t>
            </a:r>
            <a:r>
              <a:rPr lang="en-US" sz="3600" b="1" dirty="0">
                <a:solidFill>
                  <a:srgbClr val="000000"/>
                </a:solidFill>
                <a:effectLst/>
              </a:rPr>
              <a:t/>
            </a:r>
            <a:br>
              <a:rPr lang="en-US" sz="3600" b="1" dirty="0">
                <a:solidFill>
                  <a:srgbClr val="000000"/>
                </a:solidFill>
                <a:effectLst/>
              </a:rPr>
            </a:br>
            <a:endParaRPr lang="en-US" altLang="en-US" sz="3600" b="1" dirty="0" smtClean="0">
              <a:solidFill>
                <a:srgbClr val="000000"/>
              </a:solidFill>
              <a:effectLst/>
            </a:endParaRPr>
          </a:p>
        </p:txBody>
      </p:sp>
      <p:sp>
        <p:nvSpPr>
          <p:cNvPr id="106499" name="Rectangle 3"/>
          <p:cNvSpPr>
            <a:spLocks noGrp="1" noChangeArrowheads="1"/>
          </p:cNvSpPr>
          <p:nvPr>
            <p:ph type="body" idx="1"/>
          </p:nvPr>
        </p:nvSpPr>
        <p:spPr>
          <a:xfrm>
            <a:off x="381001" y="2631353"/>
            <a:ext cx="4800600" cy="4224338"/>
          </a:xfrm>
        </p:spPr>
        <p:txBody>
          <a:bodyPr/>
          <a:lstStyle/>
          <a:p>
            <a:r>
              <a:rPr lang="fr-FR" sz="2000" b="1" dirty="0">
                <a:solidFill>
                  <a:srgbClr val="000000"/>
                </a:solidFill>
                <a:effectLst/>
              </a:rPr>
              <a:t>Masse tumorale</a:t>
            </a:r>
            <a:r>
              <a:rPr lang="fr-FR" sz="2000" dirty="0">
                <a:solidFill>
                  <a:srgbClr val="000000"/>
                </a:solidFill>
                <a:effectLst/>
              </a:rPr>
              <a:t> - différentes parties de la tumeur peuvent être distinguées en fonction de la radiosensibilité et de l'activité </a:t>
            </a:r>
            <a:r>
              <a:rPr lang="fr-FR" sz="2000" dirty="0" err="1">
                <a:solidFill>
                  <a:srgbClr val="000000"/>
                </a:solidFill>
                <a:effectLst/>
              </a:rPr>
              <a:t>clonogénique</a:t>
            </a:r>
            <a:endParaRPr lang="fr-FR" sz="2000" dirty="0">
              <a:solidFill>
                <a:srgbClr val="000000"/>
              </a:solidFill>
            </a:endParaRPr>
          </a:p>
          <a:p>
            <a:r>
              <a:rPr lang="fr-FR" sz="2000" b="1" dirty="0">
                <a:solidFill>
                  <a:srgbClr val="000000"/>
                </a:solidFill>
                <a:effectLst/>
              </a:rPr>
              <a:t>Communiqués régionaux confirmés</a:t>
            </a:r>
            <a:endParaRPr lang="fr-FR" sz="2000" dirty="0">
              <a:solidFill>
                <a:srgbClr val="000000"/>
              </a:solidFill>
            </a:endParaRPr>
          </a:p>
          <a:p>
            <a:r>
              <a:rPr lang="fr-FR" sz="2000" b="1" dirty="0">
                <a:solidFill>
                  <a:srgbClr val="000000"/>
                </a:solidFill>
                <a:effectLst/>
              </a:rPr>
              <a:t>Disséminations tumorales potentielles </a:t>
            </a:r>
            <a:r>
              <a:rPr lang="fr-FR" sz="2000" dirty="0">
                <a:solidFill>
                  <a:srgbClr val="000000"/>
                </a:solidFill>
                <a:effectLst/>
              </a:rPr>
              <a:t>(par exemple, </a:t>
            </a:r>
            <a:r>
              <a:rPr lang="fr-FR" sz="2000" dirty="0" err="1">
                <a:solidFill>
                  <a:srgbClr val="000000"/>
                </a:solidFill>
                <a:effectLst/>
              </a:rPr>
              <a:t>ggl</a:t>
            </a:r>
            <a:r>
              <a:rPr lang="fr-FR" sz="2000" dirty="0">
                <a:solidFill>
                  <a:srgbClr val="000000"/>
                </a:solidFill>
                <a:effectLst/>
              </a:rPr>
              <a:t> régional. Dans la prostate)</a:t>
            </a:r>
            <a:endParaRPr lang="fr-FR" sz="2000" dirty="0">
              <a:solidFill>
                <a:srgbClr val="000000"/>
              </a:solidFill>
            </a:endParaRPr>
          </a:p>
          <a:p>
            <a:pPr>
              <a:lnSpc>
                <a:spcPct val="90000"/>
              </a:lnSpc>
              <a:buClrTx/>
              <a:defRPr/>
            </a:pPr>
            <a:endParaRPr lang="en-US" altLang="en-US" sz="2000" dirty="0" smtClean="0">
              <a:solidFill>
                <a:srgbClr val="000000"/>
              </a:solidFill>
              <a:effectLst/>
            </a:endParaRPr>
          </a:p>
        </p:txBody>
      </p:sp>
      <p:graphicFrame>
        <p:nvGraphicFramePr>
          <p:cNvPr id="12294" name="Object 4"/>
          <p:cNvGraphicFramePr>
            <a:graphicFrameLocks noChangeAspect="1"/>
          </p:cNvGraphicFramePr>
          <p:nvPr>
            <p:extLst>
              <p:ext uri="{D42A27DB-BD31-4B8C-83A1-F6EECF244321}">
                <p14:modId xmlns:p14="http://schemas.microsoft.com/office/powerpoint/2010/main" val="874161140"/>
              </p:ext>
            </p:extLst>
          </p:nvPr>
        </p:nvGraphicFramePr>
        <p:xfrm>
          <a:off x="5562600" y="2438400"/>
          <a:ext cx="2971800" cy="2971800"/>
        </p:xfrm>
        <a:graphic>
          <a:graphicData uri="http://schemas.openxmlformats.org/presentationml/2006/ole">
            <mc:AlternateContent xmlns:mc="http://schemas.openxmlformats.org/markup-compatibility/2006">
              <mc:Choice xmlns:v="urn:schemas-microsoft-com:vml" Requires="v">
                <p:oleObj spid="_x0000_s12335" name="Clip" r:id="rId4" imgW="3473450" imgH="3473450" progId="">
                  <p:embed/>
                </p:oleObj>
              </mc:Choice>
              <mc:Fallback>
                <p:oleObj name="Clip" r:id="rId4" imgW="3473450" imgH="3473450" progId="">
                  <p:embed/>
                  <p:pic>
                    <p:nvPicPr>
                      <p:cNvPr id="0"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2438400"/>
                        <a:ext cx="2971800"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algn="ctr">
              <a:defRPr/>
            </a:pPr>
            <a:r>
              <a:rPr lang="en-US" sz="4000" b="1" dirty="0" err="1">
                <a:solidFill>
                  <a:srgbClr val="000000"/>
                </a:solidFill>
                <a:effectLst/>
              </a:rPr>
              <a:t>N'oubliez</a:t>
            </a:r>
            <a:r>
              <a:rPr lang="en-US" sz="4000" b="1" dirty="0">
                <a:solidFill>
                  <a:srgbClr val="000000"/>
                </a:solidFill>
                <a:effectLst/>
              </a:rPr>
              <a:t> pas!</a:t>
            </a:r>
            <a:r>
              <a:rPr lang="en-US" sz="4000" b="1" dirty="0">
                <a:effectLst/>
              </a:rPr>
              <a:t/>
            </a:r>
            <a:br>
              <a:rPr lang="en-US" sz="4000" b="1" dirty="0">
                <a:effectLst/>
              </a:rPr>
            </a:br>
            <a:endParaRPr lang="en-US" altLang="en-US" sz="4000" b="1" dirty="0" smtClean="0">
              <a:solidFill>
                <a:srgbClr val="000000"/>
              </a:solidFill>
              <a:effectLst/>
            </a:endParaRPr>
          </a:p>
        </p:txBody>
      </p:sp>
      <p:sp>
        <p:nvSpPr>
          <p:cNvPr id="88067" name="Rectangle 3"/>
          <p:cNvSpPr>
            <a:spLocks noGrp="1" noChangeArrowheads="1"/>
          </p:cNvSpPr>
          <p:nvPr>
            <p:ph type="body" idx="1"/>
          </p:nvPr>
        </p:nvSpPr>
        <p:spPr>
          <a:xfrm>
            <a:off x="228600" y="2362200"/>
            <a:ext cx="8839199" cy="3690938"/>
          </a:xfrm>
        </p:spPr>
        <p:txBody>
          <a:bodyPr/>
          <a:lstStyle/>
          <a:p>
            <a:r>
              <a:rPr lang="fr-FR" sz="2000" dirty="0">
                <a:solidFill>
                  <a:srgbClr val="000000"/>
                </a:solidFill>
                <a:effectLst/>
              </a:rPr>
              <a:t>Une tumeur palpable avec diam. 1 cm (1 g) a un milliard (109) cellules</a:t>
            </a:r>
            <a:endParaRPr lang="fr-FR" sz="2000" dirty="0">
              <a:solidFill>
                <a:srgbClr val="000000"/>
              </a:solidFill>
            </a:endParaRPr>
          </a:p>
          <a:p>
            <a:r>
              <a:rPr lang="fr-FR" sz="2000" dirty="0">
                <a:solidFill>
                  <a:srgbClr val="000000"/>
                </a:solidFill>
                <a:effectLst/>
              </a:rPr>
              <a:t>Grandes tumeurs avec diam. 10 cm (1 kg) ont un milliard (1012) de cellules</a:t>
            </a:r>
            <a:endParaRPr lang="fr-FR" sz="2000" dirty="0">
              <a:solidFill>
                <a:srgbClr val="000000"/>
              </a:solidFill>
            </a:endParaRPr>
          </a:p>
          <a:p>
            <a:pPr lvl="1"/>
            <a:r>
              <a:rPr lang="fr-FR" sz="2000" dirty="0">
                <a:solidFill>
                  <a:srgbClr val="000000"/>
                </a:solidFill>
                <a:effectLst/>
              </a:rPr>
              <a:t>avec trois ordres de grandeur plus de cellules à tuer</a:t>
            </a:r>
            <a:endParaRPr lang="fr-FR" sz="2000" dirty="0">
              <a:solidFill>
                <a:srgbClr val="000000"/>
              </a:solidFill>
            </a:endParaRPr>
          </a:p>
          <a:p>
            <a:r>
              <a:rPr lang="fr-FR" sz="2000" dirty="0">
                <a:solidFill>
                  <a:srgbClr val="000000"/>
                </a:solidFill>
                <a:effectLst/>
              </a:rPr>
              <a:t>Les tumeurs microscopiques, les maladies </a:t>
            </a:r>
            <a:r>
              <a:rPr lang="fr-FR" sz="2000" dirty="0" err="1">
                <a:solidFill>
                  <a:srgbClr val="000000"/>
                </a:solidFill>
                <a:effectLst/>
              </a:rPr>
              <a:t>subcliniques</a:t>
            </a:r>
            <a:r>
              <a:rPr lang="fr-FR" sz="2000" dirty="0">
                <a:solidFill>
                  <a:srgbClr val="000000"/>
                </a:solidFill>
                <a:effectLst/>
              </a:rPr>
              <a:t>, indétectables par imagerie signifient beaucoup moins de cellules</a:t>
            </a:r>
            <a:endParaRPr lang="fr-FR" sz="2000" dirty="0">
              <a:solidFill>
                <a:srgbClr val="000000"/>
              </a:solidFill>
            </a:endParaRPr>
          </a:p>
          <a:p>
            <a:pPr lvl="1"/>
            <a:r>
              <a:rPr lang="fr-FR" sz="2000" dirty="0">
                <a:solidFill>
                  <a:srgbClr val="000000"/>
                </a:solidFill>
                <a:effectLst/>
              </a:rPr>
              <a:t>une métastase avec diam. 1 mm a 106 cellules</a:t>
            </a:r>
            <a:endParaRPr lang="fr-FR" sz="2000" dirty="0">
              <a:solidFill>
                <a:srgbClr val="000000"/>
              </a:solidFill>
            </a:endParaRPr>
          </a:p>
          <a:p>
            <a:pPr lvl="1"/>
            <a:r>
              <a:rPr lang="fr-FR" sz="2000" dirty="0">
                <a:solidFill>
                  <a:srgbClr val="000000"/>
                </a:solidFill>
                <a:effectLst/>
              </a:rPr>
              <a:t>une métastase avec diam. 0,1 mm a 103 cellules </a:t>
            </a:r>
            <a:endParaRPr lang="fr-FR" sz="2000" dirty="0">
              <a:solidFill>
                <a:srgbClr val="000000"/>
              </a:solidFill>
            </a:endParaRPr>
          </a:p>
          <a:p>
            <a:pPr>
              <a:buClrTx/>
              <a:buSzPct val="50000"/>
              <a:defRPr/>
            </a:pPr>
            <a:r>
              <a:rPr lang="en-US" altLang="en-US" sz="1400" dirty="0" smtClean="0">
                <a:solidFill>
                  <a:srgbClr val="000000"/>
                </a:solidFill>
                <a:effectLst/>
              </a:rPr>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1026"/>
          <p:cNvSpPr>
            <a:spLocks noGrp="1" noChangeArrowheads="1"/>
          </p:cNvSpPr>
          <p:nvPr>
            <p:ph type="title"/>
          </p:nvPr>
        </p:nvSpPr>
        <p:spPr>
          <a:xfrm>
            <a:off x="415925" y="304800"/>
            <a:ext cx="8305800" cy="1143000"/>
          </a:xfrm>
        </p:spPr>
        <p:txBody>
          <a:bodyPr/>
          <a:lstStyle/>
          <a:p>
            <a:pPr algn="ctr">
              <a:defRPr/>
            </a:pPr>
            <a:r>
              <a:rPr lang="en-US" sz="3600" b="1" dirty="0" err="1">
                <a:solidFill>
                  <a:srgbClr val="000000"/>
                </a:solidFill>
                <a:effectLst/>
              </a:rPr>
              <a:t>Tissus</a:t>
            </a:r>
            <a:r>
              <a:rPr lang="en-US" sz="3600" b="1" dirty="0">
                <a:solidFill>
                  <a:srgbClr val="000000"/>
                </a:solidFill>
                <a:effectLst/>
              </a:rPr>
              <a:t> </a:t>
            </a:r>
            <a:r>
              <a:rPr lang="en-US" sz="3600" b="1" dirty="0" err="1">
                <a:solidFill>
                  <a:srgbClr val="000000"/>
                </a:solidFill>
                <a:effectLst/>
              </a:rPr>
              <a:t>normaux</a:t>
            </a:r>
            <a:r>
              <a:rPr lang="en-US" sz="4000" b="1" dirty="0">
                <a:effectLst/>
              </a:rPr>
              <a:t/>
            </a:r>
            <a:br>
              <a:rPr lang="en-US" sz="4000" b="1" dirty="0">
                <a:effectLst/>
              </a:rPr>
            </a:br>
            <a:endParaRPr lang="en-US" altLang="en-US" sz="4000" b="1" dirty="0" smtClean="0">
              <a:solidFill>
                <a:srgbClr val="000000"/>
              </a:solidFill>
              <a:effectLst/>
            </a:endParaRPr>
          </a:p>
        </p:txBody>
      </p:sp>
      <p:sp>
        <p:nvSpPr>
          <p:cNvPr id="56323" name="Rectangle 1027"/>
          <p:cNvSpPr>
            <a:spLocks noGrp="1" noChangeArrowheads="1"/>
          </p:cNvSpPr>
          <p:nvPr>
            <p:ph type="body" idx="1"/>
          </p:nvPr>
        </p:nvSpPr>
        <p:spPr>
          <a:xfrm>
            <a:off x="304800" y="2438400"/>
            <a:ext cx="8382000" cy="3614738"/>
          </a:xfrm>
        </p:spPr>
        <p:txBody>
          <a:bodyPr/>
          <a:lstStyle/>
          <a:p>
            <a:r>
              <a:rPr lang="fr-FR" sz="2000" dirty="0">
                <a:solidFill>
                  <a:srgbClr val="000000"/>
                </a:solidFill>
                <a:effectLst/>
              </a:rPr>
              <a:t>La protection des tissus normaux est essentielle pour des résultats thérapeutiques optimaux.</a:t>
            </a:r>
            <a:endParaRPr lang="fr-FR" sz="2000" dirty="0">
              <a:solidFill>
                <a:srgbClr val="000000"/>
              </a:solidFill>
            </a:endParaRPr>
          </a:p>
          <a:p>
            <a:r>
              <a:rPr lang="fr-FR" sz="2000" dirty="0">
                <a:solidFill>
                  <a:srgbClr val="000000"/>
                </a:solidFill>
                <a:effectLst/>
              </a:rPr>
              <a:t>La radiobiologie des tissus normaux peut être plus complexe que la tumeur</a:t>
            </a:r>
            <a:endParaRPr lang="fr-FR" sz="2000" dirty="0">
              <a:solidFill>
                <a:srgbClr val="000000"/>
              </a:solidFill>
            </a:endParaRPr>
          </a:p>
          <a:p>
            <a:pPr lvl="1"/>
            <a:r>
              <a:rPr lang="fr-FR" sz="2000" dirty="0">
                <a:solidFill>
                  <a:srgbClr val="000000"/>
                </a:solidFill>
                <a:effectLst/>
              </a:rPr>
              <a:t>différents organes réagissent différemment</a:t>
            </a:r>
            <a:endParaRPr lang="fr-FR" sz="2000" dirty="0">
              <a:solidFill>
                <a:srgbClr val="000000"/>
              </a:solidFill>
            </a:endParaRPr>
          </a:p>
          <a:p>
            <a:pPr lvl="1"/>
            <a:r>
              <a:rPr lang="fr-FR" sz="2000" dirty="0">
                <a:solidFill>
                  <a:srgbClr val="000000"/>
                </a:solidFill>
                <a:effectLst/>
              </a:rPr>
              <a:t>la réponse est un tissu complexe, pas seulement un type de cellule unique</a:t>
            </a:r>
            <a:endParaRPr lang="fr-FR" sz="2000" dirty="0">
              <a:solidFill>
                <a:srgbClr val="000000"/>
              </a:solidFill>
            </a:endParaRPr>
          </a:p>
          <a:p>
            <a:pPr lvl="1"/>
            <a:r>
              <a:rPr lang="fr-FR" sz="2000" dirty="0">
                <a:solidFill>
                  <a:srgbClr val="000000"/>
                </a:solidFill>
                <a:effectLst/>
              </a:rPr>
              <a:t>la réparation des lésions est importante</a:t>
            </a:r>
            <a:endParaRPr lang="fr-FR" sz="2000" dirty="0">
              <a:solidFill>
                <a:srgbClr val="000000"/>
              </a:solidFill>
            </a:endParaRPr>
          </a:p>
          <a:p>
            <a:pPr>
              <a:buClrTx/>
              <a:buSzPct val="50000"/>
              <a:defRPr/>
            </a:pPr>
            <a:endParaRPr lang="en-US" altLang="en-US" sz="1600" dirty="0" smtClean="0">
              <a:solidFill>
                <a:srgbClr val="000000"/>
              </a:solidFill>
              <a:effectLs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0" y="234766"/>
            <a:ext cx="9144000" cy="1143000"/>
          </a:xfrm>
        </p:spPr>
        <p:txBody>
          <a:bodyPr/>
          <a:lstStyle/>
          <a:p>
            <a:pPr algn="ctr">
              <a:defRPr/>
            </a:pPr>
            <a:r>
              <a:rPr lang="en-US" sz="3600" b="1" dirty="0" err="1">
                <a:solidFill>
                  <a:srgbClr val="000000"/>
                </a:solidFill>
                <a:effectLst/>
              </a:rPr>
              <a:t>Différents</a:t>
            </a:r>
            <a:r>
              <a:rPr lang="en-US" sz="3600" b="1" dirty="0">
                <a:solidFill>
                  <a:srgbClr val="000000"/>
                </a:solidFill>
                <a:effectLst/>
              </a:rPr>
              <a:t> types de </a:t>
            </a:r>
            <a:r>
              <a:rPr lang="en-US" sz="3600" b="1" dirty="0" err="1">
                <a:solidFill>
                  <a:srgbClr val="000000"/>
                </a:solidFill>
                <a:effectLst/>
              </a:rPr>
              <a:t>tissus</a:t>
            </a:r>
            <a:r>
              <a:rPr lang="en-US" sz="3600" b="1" dirty="0">
                <a:solidFill>
                  <a:srgbClr val="000000"/>
                </a:solidFill>
                <a:effectLst/>
              </a:rPr>
              <a:t/>
            </a:r>
            <a:br>
              <a:rPr lang="en-US" sz="3600" b="1" dirty="0">
                <a:solidFill>
                  <a:srgbClr val="000000"/>
                </a:solidFill>
                <a:effectLst/>
              </a:rPr>
            </a:br>
            <a:endParaRPr lang="en-US" altLang="en-US" sz="3600" b="1" dirty="0" smtClean="0">
              <a:solidFill>
                <a:srgbClr val="000000"/>
              </a:solidFill>
              <a:effectLst/>
            </a:endParaRPr>
          </a:p>
        </p:txBody>
      </p:sp>
      <p:sp>
        <p:nvSpPr>
          <p:cNvPr id="58371" name="Rectangle 3"/>
          <p:cNvSpPr>
            <a:spLocks noGrp="1" noChangeArrowheads="1"/>
          </p:cNvSpPr>
          <p:nvPr>
            <p:ph type="body" sz="half" idx="1"/>
          </p:nvPr>
        </p:nvSpPr>
        <p:spPr>
          <a:xfrm>
            <a:off x="688975" y="1938338"/>
            <a:ext cx="3959225" cy="4114800"/>
          </a:xfrm>
        </p:spPr>
        <p:txBody>
          <a:bodyPr/>
          <a:lstStyle/>
          <a:p>
            <a:r>
              <a:rPr lang="fr-FR" sz="2000" dirty="0">
                <a:solidFill>
                  <a:srgbClr val="000000"/>
                </a:solidFill>
                <a:effectLst/>
              </a:rPr>
              <a:t>Organes en série </a:t>
            </a:r>
            <a:endParaRPr lang="fr-FR" sz="2000" dirty="0">
              <a:solidFill>
                <a:srgbClr val="000000"/>
              </a:solidFill>
            </a:endParaRPr>
          </a:p>
          <a:p>
            <a:pPr marL="0" indent="0">
              <a:buNone/>
            </a:pPr>
            <a:r>
              <a:rPr lang="fr-FR" sz="2000" dirty="0">
                <a:solidFill>
                  <a:srgbClr val="000000"/>
                </a:solidFill>
                <a:effectLst/>
              </a:rPr>
              <a:t>(ex colonne vertébrale)</a:t>
            </a:r>
            <a:endParaRPr lang="fr-FR" sz="2000" dirty="0">
              <a:solidFill>
                <a:srgbClr val="000000"/>
              </a:solidFill>
            </a:endParaRPr>
          </a:p>
          <a:p>
            <a:pPr marL="0" indent="0" algn="ctr">
              <a:buNone/>
              <a:defRPr/>
            </a:pPr>
            <a:endParaRPr lang="en-US" altLang="en-US" dirty="0" smtClean="0">
              <a:solidFill>
                <a:srgbClr val="FF0000"/>
              </a:solidFill>
            </a:endParaRPr>
          </a:p>
        </p:txBody>
      </p:sp>
      <p:sp>
        <p:nvSpPr>
          <p:cNvPr id="58372" name="Rectangle 4"/>
          <p:cNvSpPr>
            <a:spLocks noGrp="1" noChangeArrowheads="1"/>
          </p:cNvSpPr>
          <p:nvPr>
            <p:ph type="body" sz="half" idx="2"/>
          </p:nvPr>
        </p:nvSpPr>
        <p:spPr/>
        <p:txBody>
          <a:bodyPr/>
          <a:lstStyle/>
          <a:p>
            <a:r>
              <a:rPr lang="fr-FR" sz="2000" dirty="0">
                <a:solidFill>
                  <a:srgbClr val="000000"/>
                </a:solidFill>
                <a:effectLst/>
              </a:rPr>
              <a:t>Organes parallèles </a:t>
            </a:r>
            <a:endParaRPr lang="fr-FR" sz="2000" dirty="0">
              <a:solidFill>
                <a:srgbClr val="000000"/>
              </a:solidFill>
            </a:endParaRPr>
          </a:p>
          <a:p>
            <a:pPr marL="0" indent="0">
              <a:buNone/>
            </a:pPr>
            <a:r>
              <a:rPr lang="fr-FR" sz="2000" dirty="0">
                <a:solidFill>
                  <a:srgbClr val="000000"/>
                </a:solidFill>
                <a:effectLst/>
              </a:rPr>
              <a:t>(ex le poumon) </a:t>
            </a:r>
            <a:endParaRPr lang="fr-FR" sz="2000" dirty="0">
              <a:solidFill>
                <a:srgbClr val="000000"/>
              </a:solidFill>
            </a:endParaRPr>
          </a:p>
          <a:p>
            <a:pPr marL="0" indent="0" algn="ctr">
              <a:buNone/>
              <a:defRPr/>
            </a:pPr>
            <a:endParaRPr lang="en-US" altLang="en-US" sz="2000" dirty="0" smtClean="0">
              <a:solidFill>
                <a:srgbClr val="FF0000"/>
              </a:solidFill>
            </a:endParaRPr>
          </a:p>
        </p:txBody>
      </p:sp>
      <p:sp>
        <p:nvSpPr>
          <p:cNvPr id="16391" name="Rectangle 5"/>
          <p:cNvSpPr>
            <a:spLocks noChangeArrowheads="1"/>
          </p:cNvSpPr>
          <p:nvPr/>
        </p:nvSpPr>
        <p:spPr bwMode="auto">
          <a:xfrm>
            <a:off x="2286000" y="3124200"/>
            <a:ext cx="152400" cy="228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2" name="Rectangle 6"/>
          <p:cNvSpPr>
            <a:spLocks noChangeArrowheads="1"/>
          </p:cNvSpPr>
          <p:nvPr/>
        </p:nvSpPr>
        <p:spPr bwMode="auto">
          <a:xfrm>
            <a:off x="2286000" y="3352800"/>
            <a:ext cx="152400" cy="228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3" name="Rectangle 7"/>
          <p:cNvSpPr>
            <a:spLocks noChangeArrowheads="1"/>
          </p:cNvSpPr>
          <p:nvPr/>
        </p:nvSpPr>
        <p:spPr bwMode="auto">
          <a:xfrm>
            <a:off x="2286000" y="3581400"/>
            <a:ext cx="152400" cy="228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4" name="Rectangle 8"/>
          <p:cNvSpPr>
            <a:spLocks noChangeArrowheads="1"/>
          </p:cNvSpPr>
          <p:nvPr/>
        </p:nvSpPr>
        <p:spPr bwMode="auto">
          <a:xfrm>
            <a:off x="2286000" y="3810000"/>
            <a:ext cx="152400" cy="228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5" name="Rectangle 9"/>
          <p:cNvSpPr>
            <a:spLocks noChangeArrowheads="1"/>
          </p:cNvSpPr>
          <p:nvPr/>
        </p:nvSpPr>
        <p:spPr bwMode="auto">
          <a:xfrm>
            <a:off x="2286000" y="4038600"/>
            <a:ext cx="152400" cy="228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6" name="Rectangle 10"/>
          <p:cNvSpPr>
            <a:spLocks noChangeArrowheads="1"/>
          </p:cNvSpPr>
          <p:nvPr/>
        </p:nvSpPr>
        <p:spPr bwMode="auto">
          <a:xfrm>
            <a:off x="2286000" y="4267200"/>
            <a:ext cx="152400" cy="228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7" name="Rectangle 11"/>
          <p:cNvSpPr>
            <a:spLocks noChangeArrowheads="1"/>
          </p:cNvSpPr>
          <p:nvPr/>
        </p:nvSpPr>
        <p:spPr bwMode="auto">
          <a:xfrm>
            <a:off x="5334000" y="3581400"/>
            <a:ext cx="152400" cy="609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8" name="Rectangle 12"/>
          <p:cNvSpPr>
            <a:spLocks noChangeArrowheads="1"/>
          </p:cNvSpPr>
          <p:nvPr/>
        </p:nvSpPr>
        <p:spPr bwMode="auto">
          <a:xfrm>
            <a:off x="5622925" y="3581400"/>
            <a:ext cx="152400" cy="609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399" name="Rectangle 13"/>
          <p:cNvSpPr>
            <a:spLocks noChangeArrowheads="1"/>
          </p:cNvSpPr>
          <p:nvPr/>
        </p:nvSpPr>
        <p:spPr bwMode="auto">
          <a:xfrm>
            <a:off x="5911850" y="3581400"/>
            <a:ext cx="152400" cy="609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400" name="Rectangle 14"/>
          <p:cNvSpPr>
            <a:spLocks noChangeArrowheads="1"/>
          </p:cNvSpPr>
          <p:nvPr/>
        </p:nvSpPr>
        <p:spPr bwMode="auto">
          <a:xfrm>
            <a:off x="6202363" y="3581400"/>
            <a:ext cx="152400" cy="609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401" name="Rectangle 15"/>
          <p:cNvSpPr>
            <a:spLocks noChangeArrowheads="1"/>
          </p:cNvSpPr>
          <p:nvPr/>
        </p:nvSpPr>
        <p:spPr bwMode="auto">
          <a:xfrm>
            <a:off x="6491288" y="3581400"/>
            <a:ext cx="152400" cy="609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402" name="Rectangle 16"/>
          <p:cNvSpPr>
            <a:spLocks noChangeArrowheads="1"/>
          </p:cNvSpPr>
          <p:nvPr/>
        </p:nvSpPr>
        <p:spPr bwMode="auto">
          <a:xfrm>
            <a:off x="6781800" y="3581400"/>
            <a:ext cx="152400" cy="609600"/>
          </a:xfrm>
          <a:prstGeom prst="rect">
            <a:avLst/>
          </a:prstGeom>
          <a:solidFill>
            <a:srgbClr val="99FF33"/>
          </a:solidFill>
          <a:ln w="12700">
            <a:solidFill>
              <a:schemeClr val="tx1"/>
            </a:solidFill>
            <a:miter lim="800000"/>
            <a:headEnd type="none" w="sm" len="sm"/>
            <a:tailEnd type="none" w="sm" len="sm"/>
          </a:ln>
          <a:effectLst/>
        </p:spPr>
        <p:txBody>
          <a:bodyPr wrap="none" anchor="ctr"/>
          <a:lstStyle/>
          <a:p>
            <a:endParaRPr lang="en-US"/>
          </a:p>
        </p:txBody>
      </p:sp>
      <p:sp>
        <p:nvSpPr>
          <p:cNvPr id="16403" name="Line 17"/>
          <p:cNvSpPr>
            <a:spLocks noChangeShapeType="1"/>
          </p:cNvSpPr>
          <p:nvPr/>
        </p:nvSpPr>
        <p:spPr bwMode="auto">
          <a:xfrm flipV="1">
            <a:off x="1219200" y="3505200"/>
            <a:ext cx="2590800" cy="381000"/>
          </a:xfrm>
          <a:prstGeom prst="line">
            <a:avLst/>
          </a:prstGeom>
          <a:noFill/>
          <a:ln w="57150">
            <a:solidFill>
              <a:srgbClr val="FF6600"/>
            </a:solidFill>
            <a:round/>
            <a:headEnd type="none" w="sm" len="sm"/>
            <a:tailEnd type="triangle" w="med" len="med"/>
          </a:ln>
          <a:effectLst/>
        </p:spPr>
        <p:txBody>
          <a:bodyPr wrap="none" anchor="ctr"/>
          <a:lstStyle/>
          <a:p>
            <a:endParaRPr lang="en-US"/>
          </a:p>
        </p:txBody>
      </p:sp>
      <p:sp>
        <p:nvSpPr>
          <p:cNvPr id="16404" name="Line 18"/>
          <p:cNvSpPr>
            <a:spLocks noChangeShapeType="1"/>
          </p:cNvSpPr>
          <p:nvPr/>
        </p:nvSpPr>
        <p:spPr bwMode="auto">
          <a:xfrm rot="18221337" flipV="1">
            <a:off x="4914900" y="3771900"/>
            <a:ext cx="2590800" cy="381000"/>
          </a:xfrm>
          <a:prstGeom prst="line">
            <a:avLst/>
          </a:prstGeom>
          <a:noFill/>
          <a:ln w="57150">
            <a:solidFill>
              <a:srgbClr val="FF6600"/>
            </a:solidFill>
            <a:round/>
            <a:headEnd type="none" w="sm" len="sm"/>
            <a:tailEnd type="triangle" w="med" len="med"/>
          </a:ln>
          <a:effectLst/>
        </p:spPr>
        <p:txBody>
          <a:bodyPr wrap="none" anchor="ctr"/>
          <a:lstStyle/>
          <a:p>
            <a:endParaRPr lang="en-US"/>
          </a:p>
        </p:txBody>
      </p:sp>
      <p:sp>
        <p:nvSpPr>
          <p:cNvPr id="16405" name="Text Box 19"/>
          <p:cNvSpPr txBox="1">
            <a:spLocks noChangeArrowheads="1"/>
          </p:cNvSpPr>
          <p:nvPr/>
        </p:nvSpPr>
        <p:spPr bwMode="auto">
          <a:xfrm>
            <a:off x="466126" y="5562600"/>
            <a:ext cx="7549760" cy="461665"/>
          </a:xfrm>
          <a:prstGeom prst="rect">
            <a:avLst/>
          </a:prstGeom>
          <a:solidFill>
            <a:srgbClr val="CCECFF"/>
          </a:solidFill>
          <a:ln w="12700">
            <a:solidFill>
              <a:srgbClr val="FF6600"/>
            </a:solidFill>
            <a:miter lim="800000"/>
            <a:headEnd type="none" w="sm" len="sm"/>
            <a:tailEnd type="none" w="sm" len="sm"/>
          </a:ln>
          <a:effectLst/>
        </p:spPr>
        <p:txBody>
          <a:bodyPr wrap="none">
            <a:spAutoFit/>
          </a:bodyPr>
          <a:lstStyle/>
          <a:p>
            <a:pPr algn="ctr"/>
            <a:r>
              <a:rPr lang="fr-FR" dirty="0"/>
              <a:t>Les effets des rayonnements diffèrent selon le type d'organe</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403"/>
                                        </p:tgtEl>
                                        <p:attrNameLst>
                                          <p:attrName>style.visibility</p:attrName>
                                        </p:attrNameLst>
                                      </p:cBhvr>
                                      <p:to>
                                        <p:strVal val="visible"/>
                                      </p:to>
                                    </p:set>
                                    <p:anim calcmode="lin" valueType="num">
                                      <p:cBhvr>
                                        <p:cTn id="7" dur="500" fill="hold"/>
                                        <p:tgtEl>
                                          <p:spTgt spid="16403"/>
                                        </p:tgtEl>
                                        <p:attrNameLst>
                                          <p:attrName>ppt_w</p:attrName>
                                        </p:attrNameLst>
                                      </p:cBhvr>
                                      <p:tavLst>
                                        <p:tav tm="0">
                                          <p:val>
                                            <p:fltVal val="0"/>
                                          </p:val>
                                        </p:tav>
                                        <p:tav tm="100000">
                                          <p:val>
                                            <p:strVal val="#ppt_w"/>
                                          </p:val>
                                        </p:tav>
                                      </p:tavLst>
                                    </p:anim>
                                    <p:anim calcmode="lin" valueType="num">
                                      <p:cBhvr>
                                        <p:cTn id="8" dur="500" fill="hold"/>
                                        <p:tgtEl>
                                          <p:spTgt spid="16403"/>
                                        </p:tgtEl>
                                        <p:attrNameLst>
                                          <p:attrName>ppt_h</p:attrName>
                                        </p:attrNameLst>
                                      </p:cBhvr>
                                      <p:tavLst>
                                        <p:tav tm="0">
                                          <p:val>
                                            <p:fltVal val="0"/>
                                          </p:val>
                                        </p:tav>
                                        <p:tav tm="100000">
                                          <p:val>
                                            <p:strVal val="#ppt_h"/>
                                          </p:val>
                                        </p:tav>
                                      </p:tavLst>
                                    </p:anim>
                                    <p:animEffect transition="in" filter="fade">
                                      <p:cBhvr>
                                        <p:cTn id="9" dur="500"/>
                                        <p:tgtEl>
                                          <p:spTgt spid="1640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6404"/>
                                        </p:tgtEl>
                                        <p:attrNameLst>
                                          <p:attrName>style.visibility</p:attrName>
                                        </p:attrNameLst>
                                      </p:cBhvr>
                                      <p:to>
                                        <p:strVal val="visible"/>
                                      </p:to>
                                    </p:set>
                                    <p:anim calcmode="lin" valueType="num">
                                      <p:cBhvr>
                                        <p:cTn id="12" dur="500" fill="hold"/>
                                        <p:tgtEl>
                                          <p:spTgt spid="16404"/>
                                        </p:tgtEl>
                                        <p:attrNameLst>
                                          <p:attrName>ppt_w</p:attrName>
                                        </p:attrNameLst>
                                      </p:cBhvr>
                                      <p:tavLst>
                                        <p:tav tm="0">
                                          <p:val>
                                            <p:fltVal val="0"/>
                                          </p:val>
                                        </p:tav>
                                        <p:tav tm="100000">
                                          <p:val>
                                            <p:strVal val="#ppt_w"/>
                                          </p:val>
                                        </p:tav>
                                      </p:tavLst>
                                    </p:anim>
                                    <p:anim calcmode="lin" valueType="num">
                                      <p:cBhvr>
                                        <p:cTn id="13" dur="500" fill="hold"/>
                                        <p:tgtEl>
                                          <p:spTgt spid="16404"/>
                                        </p:tgtEl>
                                        <p:attrNameLst>
                                          <p:attrName>ppt_h</p:attrName>
                                        </p:attrNameLst>
                                      </p:cBhvr>
                                      <p:tavLst>
                                        <p:tav tm="0">
                                          <p:val>
                                            <p:fltVal val="0"/>
                                          </p:val>
                                        </p:tav>
                                        <p:tav tm="100000">
                                          <p:val>
                                            <p:strVal val="#ppt_h"/>
                                          </p:val>
                                        </p:tav>
                                      </p:tavLst>
                                    </p:anim>
                                    <p:animEffect transition="in" filter="fade">
                                      <p:cBhvr>
                                        <p:cTn id="14" dur="500"/>
                                        <p:tgtEl>
                                          <p:spTgt spid="1640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405"/>
                                        </p:tgtEl>
                                        <p:attrNameLst>
                                          <p:attrName>style.visibility</p:attrName>
                                        </p:attrNameLst>
                                      </p:cBhvr>
                                      <p:to>
                                        <p:strVal val="visible"/>
                                      </p:to>
                                    </p:set>
                                    <p:anim calcmode="lin" valueType="num">
                                      <p:cBhvr>
                                        <p:cTn id="17" dur="500" fill="hold"/>
                                        <p:tgtEl>
                                          <p:spTgt spid="16405"/>
                                        </p:tgtEl>
                                        <p:attrNameLst>
                                          <p:attrName>ppt_w</p:attrName>
                                        </p:attrNameLst>
                                      </p:cBhvr>
                                      <p:tavLst>
                                        <p:tav tm="0">
                                          <p:val>
                                            <p:fltVal val="0"/>
                                          </p:val>
                                        </p:tav>
                                        <p:tav tm="100000">
                                          <p:val>
                                            <p:strVal val="#ppt_w"/>
                                          </p:val>
                                        </p:tav>
                                      </p:tavLst>
                                    </p:anim>
                                    <p:anim calcmode="lin" valueType="num">
                                      <p:cBhvr>
                                        <p:cTn id="18" dur="500" fill="hold"/>
                                        <p:tgtEl>
                                          <p:spTgt spid="16405"/>
                                        </p:tgtEl>
                                        <p:attrNameLst>
                                          <p:attrName>ppt_h</p:attrName>
                                        </p:attrNameLst>
                                      </p:cBhvr>
                                      <p:tavLst>
                                        <p:tav tm="0">
                                          <p:val>
                                            <p:fltVal val="0"/>
                                          </p:val>
                                        </p:tav>
                                        <p:tav tm="100000">
                                          <p:val>
                                            <p:strVal val="#ppt_h"/>
                                          </p:val>
                                        </p:tav>
                                      </p:tavLst>
                                    </p:anim>
                                    <p:animEffect transition="in" filter="fade">
                                      <p:cBhvr>
                                        <p:cTn id="19" dur="500"/>
                                        <p:tgtEl>
                                          <p:spTgt spid="16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3" grpId="0" animBg="1"/>
      <p:bldP spid="16404" grpId="0" animBg="1"/>
      <p:bldP spid="16405"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0" y="457200"/>
            <a:ext cx="9144000" cy="914400"/>
          </a:xfrm>
        </p:spPr>
        <p:txBody>
          <a:bodyPr/>
          <a:lstStyle/>
          <a:p>
            <a:pPr algn="ctr">
              <a:defRPr/>
            </a:pPr>
            <a:r>
              <a:rPr lang="en-US" sz="3600" b="1" dirty="0" err="1">
                <a:solidFill>
                  <a:srgbClr val="000000"/>
                </a:solidFill>
                <a:effectLst/>
              </a:rPr>
              <a:t>Effets</a:t>
            </a:r>
            <a:r>
              <a:rPr lang="en-US" sz="3600" b="1" dirty="0">
                <a:solidFill>
                  <a:srgbClr val="000000"/>
                </a:solidFill>
                <a:effectLst/>
              </a:rPr>
              <a:t> de volume</a:t>
            </a:r>
            <a:br>
              <a:rPr lang="en-US" sz="3600" b="1" dirty="0">
                <a:solidFill>
                  <a:srgbClr val="000000"/>
                </a:solidFill>
                <a:effectLst/>
              </a:rPr>
            </a:br>
            <a:endParaRPr lang="en-US" altLang="en-US" sz="3600" b="1" dirty="0" smtClean="0">
              <a:solidFill>
                <a:srgbClr val="000000"/>
              </a:solidFill>
              <a:effectLst/>
            </a:endParaRPr>
          </a:p>
        </p:txBody>
      </p:sp>
      <p:sp>
        <p:nvSpPr>
          <p:cNvPr id="60419" name="Rectangle 3"/>
          <p:cNvSpPr>
            <a:spLocks noGrp="1" noChangeArrowheads="1"/>
          </p:cNvSpPr>
          <p:nvPr>
            <p:ph type="body" idx="1"/>
          </p:nvPr>
        </p:nvSpPr>
        <p:spPr>
          <a:xfrm>
            <a:off x="304800" y="2438400"/>
            <a:ext cx="8458200" cy="3657600"/>
          </a:xfrm>
        </p:spPr>
        <p:txBody>
          <a:bodyPr/>
          <a:lstStyle/>
          <a:p>
            <a:pPr>
              <a:lnSpc>
                <a:spcPct val="200000"/>
              </a:lnSpc>
            </a:pPr>
            <a:r>
              <a:rPr lang="fr-FR" sz="2000" dirty="0">
                <a:solidFill>
                  <a:srgbClr val="000000"/>
                </a:solidFill>
                <a:effectLst/>
              </a:rPr>
              <a:t>Au niveau des tissus sains des organes "parallèles", il est autorisé d'irradier, jusqu'à une certaine dose, un volume plus important.</a:t>
            </a:r>
            <a:endParaRPr lang="fr-FR" sz="2000" dirty="0">
              <a:solidFill>
                <a:srgbClr val="000000"/>
              </a:solidFill>
            </a:endParaRPr>
          </a:p>
          <a:p>
            <a:pPr>
              <a:lnSpc>
                <a:spcPct val="200000"/>
              </a:lnSpc>
            </a:pPr>
            <a:r>
              <a:rPr lang="fr-FR" sz="2000" dirty="0">
                <a:solidFill>
                  <a:srgbClr val="000000"/>
                </a:solidFill>
                <a:effectLst/>
              </a:rPr>
              <a:t>Dans les organes en série, même un petit volume irradié, au-dessus d'un certain seuil, peut conduire à des lésions irréversibles, invalidant toute la structure à partir de ce niveau (par exemple la colonne vertébrale).</a:t>
            </a:r>
            <a:endParaRPr lang="fr-FR" sz="2000" dirty="0">
              <a:solidFill>
                <a:srgbClr val="000000"/>
              </a:solidFill>
            </a:endParaRPr>
          </a:p>
          <a:p>
            <a:pPr>
              <a:buClrTx/>
              <a:buSzPct val="50000"/>
              <a:defRPr/>
            </a:pPr>
            <a:endParaRPr lang="en-US" altLang="en-US" sz="2000" dirty="0" smtClean="0">
              <a:solidFill>
                <a:srgbClr val="000000"/>
              </a:solidFill>
              <a:effectLs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994" name="Shape 254994"/>
        <p:cNvGrpSpPr/>
        <p:nvPr/>
      </p:nvGrpSpPr>
      <p:grpSpPr>
        <a:xfrm>
          <a:off x="0" y="0"/>
          <a:ext cx="0" cy="0"/>
          <a:chOff x="0" y="0"/>
          <a:chExt cx="0" cy="0"/>
        </a:xfrm>
      </p:grpSpPr>
      <p:sp>
        <p:nvSpPr>
          <p:cNvPr id="254995" name="Google Shape;254995;p5"/>
          <p:cNvSpPr txBox="1"/>
          <p:nvPr>
            <p:ph type="title"/>
          </p:nvPr>
        </p:nvSpPr>
        <p:spPr>
          <a:xfrm>
            <a:off x="0" y="624423"/>
            <a:ext cx="9144000" cy="1017000"/>
          </a:xfrm>
          <a:prstGeom prst="rect">
            <a:avLst/>
          </a:prstGeom>
          <a:noFill/>
          <a:ln>
            <a:noFill/>
          </a:ln>
        </p:spPr>
        <p:txBody>
          <a:bodyPr anchorCtr="0" anchor="ctr" bIns="46025" lIns="92075" spcFirstLastPara="1" rIns="92075" wrap="square" tIns="33175">
            <a:noAutofit/>
          </a:bodyPr>
          <a:lstStyle/>
          <a:p>
            <a:pPr indent="0" lvl="0" marL="0" rtl="0" algn="ctr">
              <a:spcBef>
                <a:spcPts val="0"/>
              </a:spcBef>
              <a:spcAft>
                <a:spcPts val="0"/>
              </a:spcAft>
              <a:buNone/>
            </a:pPr>
            <a:r>
              <a:rPr b="1" lang="fr-FR" sz="3600">
                <a:solidFill>
                  <a:srgbClr val="000000"/>
                </a:solidFill>
              </a:rPr>
              <a:t>Conclusions (1)</a:t>
            </a:r>
            <a:br>
              <a:rPr b="1" lang="fr-FR" sz="3600">
                <a:solidFill>
                  <a:srgbClr val="000000"/>
                </a:solidFill>
              </a:rPr>
            </a:br>
            <a:endParaRPr b="1" sz="3600">
              <a:solidFill>
                <a:srgbClr val="000000"/>
              </a:solidFill>
            </a:endParaRPr>
          </a:p>
        </p:txBody>
      </p:sp>
      <p:sp>
        <p:nvSpPr>
          <p:cNvPr id="254996" name="Google Shape;254996;p5"/>
          <p:cNvSpPr txBox="1"/>
          <p:nvPr>
            <p:ph idx="1" type="body"/>
          </p:nvPr>
        </p:nvSpPr>
        <p:spPr>
          <a:xfrm>
            <a:off x="228600" y="1929642"/>
            <a:ext cx="8839200" cy="4776000"/>
          </a:xfrm>
          <a:prstGeom prst="rect">
            <a:avLst/>
          </a:prstGeom>
          <a:noFill/>
          <a:ln>
            <a:noFill/>
          </a:ln>
        </p:spPr>
        <p:txBody>
          <a:bodyPr anchorCtr="0" anchor="t" bIns="46025" lIns="92075" spcFirstLastPara="1" rIns="92075" wrap="square" tIns="14925">
            <a:noAutofit/>
          </a:bodyPr>
          <a:lstStyle/>
          <a:p>
            <a:pPr indent="-342900" lvl="0" marL="342900" rtl="0" algn="l">
              <a:spcBef>
                <a:spcPts val="0"/>
              </a:spcBef>
              <a:spcAft>
                <a:spcPts val="0"/>
              </a:spcAft>
              <a:buSzPts val="1500"/>
              <a:buChar char="●"/>
            </a:pPr>
            <a:r>
              <a:rPr lang="fr-FR" sz="2000">
                <a:solidFill>
                  <a:srgbClr val="000000"/>
                </a:solidFill>
              </a:rPr>
              <a:t>La radiothérapie est une spécialité oncologique qui utilise les rayonnements ionisants pour traiter le cancer.</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Seuls les rayonnements ionisants produisent des effets radiobiologiques, les fréquences radio FM / TV, les micro-ondes, les rayonnements infrarouges ou le spectre lumineux </a:t>
            </a:r>
            <a:r>
              <a:rPr b="1" lang="fr-FR" sz="2000">
                <a:solidFill>
                  <a:srgbClr val="000000"/>
                </a:solidFill>
              </a:rPr>
              <a:t>NE</a:t>
            </a:r>
            <a:r>
              <a:rPr lang="fr-FR" sz="2000">
                <a:solidFill>
                  <a:srgbClr val="000000"/>
                </a:solidFill>
              </a:rPr>
              <a:t> produisent </a:t>
            </a:r>
            <a:r>
              <a:rPr b="1" lang="fr-FR" sz="2000">
                <a:solidFill>
                  <a:srgbClr val="000000"/>
                </a:solidFill>
              </a:rPr>
              <a:t>PAS d'</a:t>
            </a:r>
            <a:r>
              <a:rPr lang="fr-FR" sz="2000">
                <a:solidFill>
                  <a:srgbClr val="000000"/>
                </a:solidFill>
              </a:rPr>
              <a:t> ionisation!</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Le rayonnement ionisant est caractérisé par une énergie élevée et une faible longueur d'onde.</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La structure cellulaire la plus sensible est la macromolécule d'ADN.</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L'effet indirect est caractéristique du rayonnement électromagnétique.</a:t>
            </a:r>
            <a:endParaRPr sz="2000">
              <a:solidFill>
                <a:srgbClr val="000000"/>
              </a:solidFill>
            </a:endParaRPr>
          </a:p>
          <a:p>
            <a:pPr indent="-342900" lvl="0" marL="342900" rtl="0" algn="l">
              <a:spcBef>
                <a:spcPts val="400"/>
              </a:spcBef>
              <a:spcAft>
                <a:spcPts val="0"/>
              </a:spcAft>
              <a:buSzPts val="1500"/>
              <a:buChar char="●"/>
            </a:pPr>
            <a:r>
              <a:rPr lang="fr-FR" sz="2000">
                <a:solidFill>
                  <a:srgbClr val="000000"/>
                </a:solidFill>
              </a:rPr>
              <a:t>Les 4 R de la radiothérapie nous aident à bien comprendre l'action du rayonnement par la réparation, la ré-oxygénation,la resyncronization,la repopulation</a:t>
            </a:r>
            <a:endParaRPr sz="2000">
              <a:solidFill>
                <a:srgbClr val="000000"/>
              </a:solidFill>
            </a:endParaRPr>
          </a:p>
          <a:p>
            <a:pPr indent="-253211" lvl="0" marL="406194" rtl="0" algn="l">
              <a:spcBef>
                <a:spcPts val="360"/>
              </a:spcBef>
              <a:spcAft>
                <a:spcPts val="0"/>
              </a:spcAft>
              <a:buClr>
                <a:srgbClr val="FFCC00"/>
              </a:buClr>
              <a:buSzPts val="810"/>
              <a:buFont typeface="Noto Sans Symbols"/>
              <a:buNone/>
            </a:pPr>
            <a:r>
              <a:t/>
            </a:r>
            <a:endParaRPr sz="1800">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6">
                                            <p:txEl>
                                              <p:pRg end="0" st="0"/>
                                            </p:txEl>
                                          </p:spTgt>
                                        </p:tgtEl>
                                        <p:attrNameLst>
                                          <p:attrName>style.visibility</p:attrName>
                                        </p:attrNameLst>
                                      </p:cBhvr>
                                      <p:to>
                                        <p:strVal val="visible"/>
                                      </p:to>
                                    </p:set>
                                    <p:anim calcmode="lin" valueType="num">
                                      <p:cBhvr additive="base">
                                        <p:cTn dur="500"/>
                                        <p:tgtEl>
                                          <p:spTgt spid="254996">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54996">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6">
                                            <p:txEl>
                                              <p:pRg end="1" st="1"/>
                                            </p:txEl>
                                          </p:spTgt>
                                        </p:tgtEl>
                                        <p:attrNameLst>
                                          <p:attrName>style.visibility</p:attrName>
                                        </p:attrNameLst>
                                      </p:cBhvr>
                                      <p:to>
                                        <p:strVal val="visible"/>
                                      </p:to>
                                    </p:set>
                                    <p:anim calcmode="lin" valueType="num">
                                      <p:cBhvr additive="base">
                                        <p:cTn dur="500"/>
                                        <p:tgtEl>
                                          <p:spTgt spid="254996">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54996">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6">
                                            <p:txEl>
                                              <p:pRg end="2" st="2"/>
                                            </p:txEl>
                                          </p:spTgt>
                                        </p:tgtEl>
                                        <p:attrNameLst>
                                          <p:attrName>style.visibility</p:attrName>
                                        </p:attrNameLst>
                                      </p:cBhvr>
                                      <p:to>
                                        <p:strVal val="visible"/>
                                      </p:to>
                                    </p:set>
                                    <p:anim calcmode="lin" valueType="num">
                                      <p:cBhvr additive="base">
                                        <p:cTn dur="500"/>
                                        <p:tgtEl>
                                          <p:spTgt spid="254996">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254996">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6">
                                            <p:txEl>
                                              <p:pRg end="3" st="3"/>
                                            </p:txEl>
                                          </p:spTgt>
                                        </p:tgtEl>
                                        <p:attrNameLst>
                                          <p:attrName>style.visibility</p:attrName>
                                        </p:attrNameLst>
                                      </p:cBhvr>
                                      <p:to>
                                        <p:strVal val="visible"/>
                                      </p:to>
                                    </p:set>
                                    <p:anim calcmode="lin" valueType="num">
                                      <p:cBhvr additive="base">
                                        <p:cTn dur="500"/>
                                        <p:tgtEl>
                                          <p:spTgt spid="254996">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254996">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6">
                                            <p:txEl>
                                              <p:pRg end="4" st="4"/>
                                            </p:txEl>
                                          </p:spTgt>
                                        </p:tgtEl>
                                        <p:attrNameLst>
                                          <p:attrName>style.visibility</p:attrName>
                                        </p:attrNameLst>
                                      </p:cBhvr>
                                      <p:to>
                                        <p:strVal val="visible"/>
                                      </p:to>
                                    </p:set>
                                    <p:anim calcmode="lin" valueType="num">
                                      <p:cBhvr additive="base">
                                        <p:cTn dur="500"/>
                                        <p:tgtEl>
                                          <p:spTgt spid="254996">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254996">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6">
                                            <p:txEl>
                                              <p:pRg end="5" st="5"/>
                                            </p:txEl>
                                          </p:spTgt>
                                        </p:tgtEl>
                                        <p:attrNameLst>
                                          <p:attrName>style.visibility</p:attrName>
                                        </p:attrNameLst>
                                      </p:cBhvr>
                                      <p:to>
                                        <p:strVal val="visible"/>
                                      </p:to>
                                    </p:set>
                                    <p:anim calcmode="lin" valueType="num">
                                      <p:cBhvr additive="base">
                                        <p:cTn dur="500"/>
                                        <p:tgtEl>
                                          <p:spTgt spid="254996">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254996">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996">
                                            <p:txEl>
                                              <p:pRg end="6" st="6"/>
                                            </p:txEl>
                                          </p:spTgt>
                                        </p:tgtEl>
                                        <p:attrNameLst>
                                          <p:attrName>style.visibility</p:attrName>
                                        </p:attrNameLst>
                                      </p:cBhvr>
                                      <p:to>
                                        <p:strVal val="visible"/>
                                      </p:to>
                                    </p:set>
                                    <p:anim calcmode="lin" valueType="num">
                                      <p:cBhvr additive="base">
                                        <p:cTn dur="500"/>
                                        <p:tgtEl>
                                          <p:spTgt spid="254996">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254996">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152400" y="2286000"/>
            <a:ext cx="8991600" cy="4148138"/>
          </a:xfrm>
        </p:spPr>
        <p:txBody>
          <a:bodyPr/>
          <a:lstStyle/>
          <a:p>
            <a:pPr>
              <a:lnSpc>
                <a:spcPct val="200000"/>
              </a:lnSpc>
              <a:buClrTx/>
              <a:buSzPct val="45000"/>
              <a:defRPr/>
            </a:pPr>
            <a:r>
              <a:rPr lang="fr-FR" altLang="en-US" sz="2000" dirty="0">
                <a:solidFill>
                  <a:srgbClr val="000000"/>
                </a:solidFill>
                <a:effectLst/>
              </a:rPr>
              <a:t>La radiobiologie est essentielle pour comprendre à la fois la dynamique tumorale et les tissus sains.</a:t>
            </a:r>
          </a:p>
          <a:p>
            <a:pPr>
              <a:lnSpc>
                <a:spcPct val="200000"/>
              </a:lnSpc>
              <a:buClrTx/>
              <a:buSzPct val="45000"/>
              <a:defRPr/>
            </a:pPr>
            <a:r>
              <a:rPr lang="fr-FR" altLang="en-US" sz="2000" dirty="0">
                <a:solidFill>
                  <a:srgbClr val="000000"/>
                </a:solidFill>
                <a:effectLst/>
              </a:rPr>
              <a:t>Il joue un rôle dans la décision thérapeutique.</a:t>
            </a:r>
          </a:p>
          <a:p>
            <a:pPr>
              <a:lnSpc>
                <a:spcPct val="200000"/>
              </a:lnSpc>
              <a:buClrTx/>
              <a:buSzPct val="45000"/>
              <a:defRPr/>
            </a:pPr>
            <a:r>
              <a:rPr lang="fr-FR" altLang="en-US" sz="2000" dirty="0">
                <a:solidFill>
                  <a:srgbClr val="000000"/>
                </a:solidFill>
                <a:effectLst/>
              </a:rPr>
              <a:t>Il a un rôle dans l'établissement des doses curatives / palliatives, du fractionnement et de l'affichage.</a:t>
            </a:r>
          </a:p>
          <a:p>
            <a:pPr>
              <a:lnSpc>
                <a:spcPct val="200000"/>
              </a:lnSpc>
              <a:buClrTx/>
              <a:buSzPct val="45000"/>
              <a:defRPr/>
            </a:pPr>
            <a:r>
              <a:rPr lang="fr-FR" altLang="en-US" sz="2000" dirty="0">
                <a:solidFill>
                  <a:srgbClr val="000000"/>
                </a:solidFill>
                <a:effectLst/>
              </a:rPr>
              <a:t>Il est important de réduire la toxicité dans les tissus sains.</a:t>
            </a:r>
            <a:r>
              <a:rPr lang="ro-RO" altLang="en-US" sz="2000" dirty="0" smtClean="0">
                <a:solidFill>
                  <a:srgbClr val="000000"/>
                </a:solidFill>
                <a:effectLst/>
              </a:rPr>
              <a:t>.</a:t>
            </a:r>
            <a:endParaRPr lang="en-US" altLang="en-US" sz="2000" dirty="0" smtClean="0"/>
          </a:p>
          <a:p>
            <a:pPr>
              <a:lnSpc>
                <a:spcPct val="200000"/>
              </a:lnSpc>
              <a:defRPr/>
            </a:pPr>
            <a:endParaRPr lang="en-US" altLang="en-US" sz="2800" dirty="0" smtClean="0"/>
          </a:p>
          <a:p>
            <a:pPr marL="0" indent="0">
              <a:lnSpc>
                <a:spcPct val="200000"/>
              </a:lnSpc>
              <a:buNone/>
              <a:defRPr/>
            </a:pPr>
            <a:endParaRPr lang="en-US" altLang="en-US" sz="2800" b="1" dirty="0" smtClean="0"/>
          </a:p>
        </p:txBody>
      </p:sp>
      <p:sp>
        <p:nvSpPr>
          <p:cNvPr id="5" name="Rectangle 1"/>
          <p:cNvSpPr>
            <a:spLocks noGrp="1" noChangeArrowheads="1"/>
          </p:cNvSpPr>
          <p:nvPr>
            <p:ph type="title"/>
          </p:nvPr>
        </p:nvSpPr>
        <p:spPr>
          <a:xfrm>
            <a:off x="0" y="624423"/>
            <a:ext cx="9143999" cy="1016995"/>
          </a:xfrm>
        </p:spPr>
        <p:txBody>
          <a:bodyPr vert="horz" wrap="square" lIns="92075" tIns="33188" rIns="92075" bIns="46038" numCol="1" anchor="ctr" anchorCtr="0" compatLnSpc="1">
            <a:prstTxWarp prst="textNoShape">
              <a:avLst/>
            </a:prstTxWarp>
          </a:bodyPr>
          <a:lstStyle/>
          <a:p>
            <a:pPr algn="ctr">
              <a:tabLst>
                <a:tab pos="680973" algn="l"/>
                <a:tab pos="1361945" algn="l"/>
                <a:tab pos="2042918" algn="l"/>
                <a:tab pos="2723891" algn="l"/>
                <a:tab pos="3404864" algn="l"/>
                <a:tab pos="4085836" algn="l"/>
                <a:tab pos="4766809" algn="l"/>
                <a:tab pos="5447782" algn="l"/>
                <a:tab pos="6128755" algn="l"/>
                <a:tab pos="6809727" algn="l"/>
                <a:tab pos="7490700" algn="l"/>
                <a:tab pos="8171673" algn="l"/>
              </a:tabLst>
            </a:pPr>
            <a:r>
              <a:rPr lang="en-US" sz="3600" b="1" dirty="0">
                <a:solidFill>
                  <a:srgbClr val="000000"/>
                </a:solidFill>
                <a:effectLst/>
              </a:rPr>
              <a:t>Conclusions (2)</a:t>
            </a:r>
            <a:br>
              <a:rPr lang="en-US" sz="3600" b="1" dirty="0">
                <a:solidFill>
                  <a:srgbClr val="000000"/>
                </a:solidFill>
                <a:effectLst/>
              </a:rPr>
            </a:br>
            <a:endParaRPr lang="en-US" altLang="ro-RO" sz="3600" b="1" dirty="0">
              <a:solidFill>
                <a:srgbClr val="000000"/>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p:cTn id="7" dur="500" fill="hold"/>
                                        <p:tgtEl>
                                          <p:spTgt spid="921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21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21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219">
                                            <p:txEl>
                                              <p:pRg st="1" end="1"/>
                                            </p:txEl>
                                          </p:spTgt>
                                        </p:tgtEl>
                                        <p:attrNameLst>
                                          <p:attrName>style.visibility</p:attrName>
                                        </p:attrNameLst>
                                      </p:cBhvr>
                                      <p:to>
                                        <p:strVal val="visible"/>
                                      </p:to>
                                    </p:set>
                                    <p:anim calcmode="lin" valueType="num">
                                      <p:cBhvr>
                                        <p:cTn id="14" dur="500" fill="hold"/>
                                        <p:tgtEl>
                                          <p:spTgt spid="921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9219">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921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219">
                                            <p:txEl>
                                              <p:pRg st="2" end="2"/>
                                            </p:txEl>
                                          </p:spTgt>
                                        </p:tgtEl>
                                        <p:attrNameLst>
                                          <p:attrName>style.visibility</p:attrName>
                                        </p:attrNameLst>
                                      </p:cBhvr>
                                      <p:to>
                                        <p:strVal val="visible"/>
                                      </p:to>
                                    </p:set>
                                    <p:anim calcmode="lin" valueType="num">
                                      <p:cBhvr>
                                        <p:cTn id="21" dur="500" fill="hold"/>
                                        <p:tgtEl>
                                          <p:spTgt spid="9219">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9219">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921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9219">
                                            <p:txEl>
                                              <p:pRg st="3" end="3"/>
                                            </p:txEl>
                                          </p:spTgt>
                                        </p:tgtEl>
                                        <p:attrNameLst>
                                          <p:attrName>style.visibility</p:attrName>
                                        </p:attrNameLst>
                                      </p:cBhvr>
                                      <p:to>
                                        <p:strVal val="visible"/>
                                      </p:to>
                                    </p:set>
                                    <p:anim calcmode="lin" valueType="num">
                                      <p:cBhvr>
                                        <p:cTn id="28" dur="500" fill="hold"/>
                                        <p:tgtEl>
                                          <p:spTgt spid="9219">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9219">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2.xml><?xml version="1.0" encoding="utf-8"?>
<p:tagLst xmlns:a="http://schemas.openxmlformats.org/drawingml/2006/main" xmlns:r="http://schemas.openxmlformats.org/officeDocument/2006/relationships" xmlns:p="http://schemas.openxmlformats.org/presentationml/2006/main" xmlns:mc="http://schemas.openxmlformats.org/markup-compatibility/2006" xmlns:mv="urn:schemas-microsoft-com:mac:vml">
  <p:tag name="may_ignore_ucw" val="true"/>
  <p:tag name="ppt/slides/slide2.xml" val="2841043213"/>
  <p:tag name="ppt/slides/slide6.xml" val="2147844258"/>
  <p:tag name="ppt/slides/slide8.xml" val="2040931815"/>
  <p:tag name="ppt/slides/slide10.xml" val="4061734626"/>
  <p:tag name="ppt/slides/slide20.xml" val="1994068504"/>
  <p:tag name="ppt/slides/slide9.xml" val="648917890"/>
  <p:tag name="ppt/slides/slide7.xml" val="2019952075"/>
  <p:tag name="ppt/slides/slide5.xml" val="3027541474"/>
  <p:tag name="ppt/slides/slide4.xml" val="714856610"/>
  <p:tag name="ppt/slides/slide3.xml" val="4077519710"/>
  <p:tag name="ppt/slides/slide11.xml" val="3932117420"/>
  <p:tag name="ppt/slides/slide12.xml" val="2957399379"/>
  <p:tag name="ppt/slides/slide13.xml" val="3354044400"/>
  <p:tag name="ppt/slides/slide21.xml" val="1283308499"/>
  <p:tag name="ppt/slides/slide19.xml" val="4284766509"/>
  <p:tag name="ppt/slides/slide1.xml" val="539104726"/>
  <p:tag name="ppt/slides/slide18.xml" val="4279309343"/>
  <p:tag name="ppt/slides/slide16.xml" val="249814611"/>
  <p:tag name="ppt/slides/slide15.xml" val="1652999904"/>
  <p:tag name="ppt/slides/slide14.xml" val="3875056605"/>
  <p:tag name="ppt/slides/slide17.xml" val="2359124843"/>
  <p:tag name="ppt/slideMasters/slideMaster1.xml" val="2303538706"/>
  <p:tag name="ppt/slideLayouts/slideLayout12.xml" val="1685232713"/>
  <p:tag name="ppt/notesSlides/notesSlide7.xml" val="2666985167"/>
  <p:tag name="ppt/slideLayouts/slideLayout7.xml" val="244906372"/>
  <p:tag name="ppt/notesSlides/notesSlide8.xml" val="3831720375"/>
  <p:tag name="ppt/slideLayouts/slideLayout6.xml" val="3107340402"/>
  <p:tag name="ppt/notesSlides/notesSlide9.xml" val="1339654101"/>
  <p:tag name="ppt/slideLayouts/slideLayout8.xml" val="1687130723"/>
  <p:tag name="ppt/notesSlides/notesSlide6.xml" val="1486035136"/>
  <p:tag name="ppt/notesSlides/notesSlide5.xml" val="2933197990"/>
  <p:tag name="ppt/notesSlides/notesSlide3.xml" val="3998281292"/>
  <p:tag name="ppt/slideLayouts/slideLayout11.xml" val="2003794845"/>
  <p:tag name="ppt/slideLayouts/slideLayout10.xml" val="4121999756"/>
  <p:tag name="ppt/slideLayouts/slideLayout9.xml" val="1986819937"/>
  <p:tag name="ppt/notesSlides/notesSlide4.xml" val="2377087371"/>
  <p:tag name="ppt/notesSlides/notesSlide10.xml" val="2724947905"/>
  <p:tag name="ppt/notesSlides/notesSlide11.xml" val="1966404620"/>
  <p:tag name="ppt/notesSlides/notesSlide12.xml" val="3218974142"/>
  <p:tag name="ppt/notesSlides/notesSlide18.xml" val="4103959595"/>
  <p:tag name="ppt/notesSlides/notesSlide19.xml" val="1610986129"/>
  <p:tag name="ppt/slideLayouts/slideLayout3.xml" val="921934342"/>
  <p:tag name="ppt/slideLayouts/slideLayout2.xml" val="2118626242"/>
  <p:tag name="ppt/slideLayouts/slideLayout1.xml" val="233535181"/>
  <p:tag name="ppt/notesSlides/notesSlide17.xml" val="1241624356"/>
  <p:tag name="ppt/notesSlides/notesSlide16.xml" val="2542246415"/>
  <p:tag name="ppt/notesSlides/notesSlide15.xml" val="2672099871"/>
  <p:tag name="ppt/slideLayouts/slideLayout5.xml" val="2070040712"/>
  <p:tag name="ppt/slideLayouts/slideLayout4.xml" val="3097553457"/>
  <p:tag name="ppt/notesSlides/notesSlide13.xml" val="2064638446"/>
  <p:tag name="ppt/notesSlides/notesSlide1.xml" val="3692455817"/>
  <p:tag name="ppt/notesSlides/notesSlide14.xml" val="1824751124"/>
  <p:tag name="ppt/notesSlides/notesSlide2.xml" val="1089552608"/>
  <p:tag name="ppt/theme/theme1.xml" val="2118666501"/>
  <p:tag name="ppt/drawings/vmlDrawing2.vml" val="167589057"/>
  <p:tag name="ppt/drawings/vmlDrawing1.vml" val="4208313524"/>
  <p:tag name="ppt/media/image1.wmf" val="3361192463"/>
  <p:tag name="ppt/media/image8.png" val="3646766495"/>
  <p:tag name="ppt/media/image2.wmf" val="1601852508"/>
  <p:tag name="ppt/drawings/vmlDrawing3.vml" val="3256218012"/>
  <p:tag name="ppt/media/image10.wmf" val="3530484740"/>
  <p:tag name="ppt/notesMasters/notesMaster1.xml" val="125193617"/>
  <p:tag name="ppt/media/image7.png" val="1896610479"/>
  <p:tag name="ppt/media/image9.png" val="1091604354"/>
  <p:tag name="ppt/media/image3.jpeg" val="1511593331"/>
  <p:tag name="ppt/theme/theme2.xml" val="3908943098"/>
  <p:tag name="ppt/media/image5.jpeg" val="1634829533"/>
  <p:tag name="ppt/media/image4.jpeg" val="1738251099"/>
  <p:tag name="ppt/media/image6.jpeg" val="4238149420"/>
</p:tagLst>
</file>

<file path=ppt/theme/theme1.xml><?xml version="1.0" encoding="utf-8"?>
<a:theme xmlns:a="http://schemas.openxmlformats.org/drawingml/2006/main" name="6. Notiuni de baza-radiobiologie (1)">
  <a:themeElements>
    <a:clrScheme name="">
      <a:dk1>
        <a:srgbClr val="000080"/>
      </a:dk1>
      <a:lt1>
        <a:srgbClr val="FFFFFF"/>
      </a:lt1>
      <a:dk2>
        <a:srgbClr val="000080"/>
      </a:dk2>
      <a:lt2>
        <a:srgbClr val="969696"/>
      </a:lt2>
      <a:accent1>
        <a:srgbClr val="6666B4"/>
      </a:accent1>
      <a:accent2>
        <a:srgbClr val="DDDDDD"/>
      </a:accent2>
      <a:accent3>
        <a:srgbClr val="FFFFFF"/>
      </a:accent3>
      <a:accent4>
        <a:srgbClr val="00006C"/>
      </a:accent4>
      <a:accent5>
        <a:srgbClr val="B8B8D6"/>
      </a:accent5>
      <a:accent6>
        <a:srgbClr val="C8C8C8"/>
      </a:accent6>
      <a:hlink>
        <a:srgbClr val="435485"/>
      </a:hlink>
      <a:folHlink>
        <a:srgbClr val="EFCDE9"/>
      </a:folHlink>
    </a:clrScheme>
    <a:fontScheme name="IAEA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IAEA3 1">
        <a:dk1>
          <a:srgbClr val="000000"/>
        </a:dk1>
        <a:lt1>
          <a:srgbClr val="FFFFFF"/>
        </a:lt1>
        <a:dk2>
          <a:srgbClr val="969696"/>
        </a:dk2>
        <a:lt2>
          <a:srgbClr val="FFFFFF"/>
        </a:lt2>
        <a:accent1>
          <a:srgbClr val="0000FF"/>
        </a:accent1>
        <a:accent2>
          <a:srgbClr val="66FF33"/>
        </a:accent2>
        <a:accent3>
          <a:srgbClr val="C9C9C9"/>
        </a:accent3>
        <a:accent4>
          <a:srgbClr val="DADADA"/>
        </a:accent4>
        <a:accent5>
          <a:srgbClr val="AAAAFF"/>
        </a:accent5>
        <a:accent6>
          <a:srgbClr val="5CE72D"/>
        </a:accent6>
        <a:hlink>
          <a:srgbClr val="D60093"/>
        </a:hlink>
        <a:folHlink>
          <a:srgbClr val="B2B2B2"/>
        </a:folHlink>
      </a:clrScheme>
      <a:clrMap bg1="dk2" tx1="lt1" bg2="dk1" tx2="lt2" accent1="accent1" accent2="accent2" accent3="accent3" accent4="accent4" accent5="accent5" accent6="accent6" hlink="hlink" folHlink="folHlink"/>
    </a:extraClrScheme>
    <a:extraClrScheme>
      <a:clrScheme name="IAEA3 2">
        <a:dk1>
          <a:srgbClr val="000000"/>
        </a:dk1>
        <a:lt1>
          <a:srgbClr val="FFFFFF"/>
        </a:lt1>
        <a:dk2>
          <a:srgbClr val="000000"/>
        </a:dk2>
        <a:lt2>
          <a:srgbClr val="FFFFCC"/>
        </a:lt2>
        <a:accent1>
          <a:srgbClr val="FF00FF"/>
        </a:accent1>
        <a:accent2>
          <a:srgbClr val="00FF00"/>
        </a:accent2>
        <a:accent3>
          <a:srgbClr val="FFFFFF"/>
        </a:accent3>
        <a:accent4>
          <a:srgbClr val="000000"/>
        </a:accent4>
        <a:accent5>
          <a:srgbClr val="FFAAFF"/>
        </a:accent5>
        <a:accent6>
          <a:srgbClr val="00E700"/>
        </a:accent6>
        <a:hlink>
          <a:srgbClr val="00FFFF"/>
        </a:hlink>
        <a:folHlink>
          <a:srgbClr val="808080"/>
        </a:folHlink>
      </a:clrScheme>
      <a:clrMap bg1="lt1" tx1="dk1" bg2="lt2" tx2="dk2" accent1="accent1" accent2="accent2" accent3="accent3" accent4="accent4" accent5="accent5" accent6="accent6" hlink="hlink" folHlink="folHlink"/>
    </a:extraClrScheme>
    <a:extraClrScheme>
      <a:clrScheme name="IAEA3 3">
        <a:dk1>
          <a:srgbClr val="000000"/>
        </a:dk1>
        <a:lt1>
          <a:srgbClr val="FFFFFF"/>
        </a:lt1>
        <a:dk2>
          <a:srgbClr val="000000"/>
        </a:dk2>
        <a:lt2>
          <a:srgbClr val="DDDDDD"/>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