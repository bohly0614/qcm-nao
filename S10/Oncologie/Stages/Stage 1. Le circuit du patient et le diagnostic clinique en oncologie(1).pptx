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 id="330" r:id="rId79"/>
    <p:sldId id="331" r:id="rId80"/>
    <p:sldId id="332" r:id="rId81"/>
    <p:sldId id="333" r:id="rId82"/>
    <p:sldId id="334" r:id="rId83"/>
    <p:sldId id="335" r:id="rId84"/>
    <p:sldId id="336" r:id="rId85"/>
    <p:sldId id="337" r:id="rId8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87" roundtripDataSignature="AMtx7miQCjCyjmZRUBbOIqH6EU1cLs5Y4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84" Type="http://schemas.openxmlformats.org/officeDocument/2006/relationships/slide" Target="slides/slide80.xml"/><Relationship Id="rId83" Type="http://schemas.openxmlformats.org/officeDocument/2006/relationships/slide" Target="slides/slide79.xml"/><Relationship Id="rId42" Type="http://schemas.openxmlformats.org/officeDocument/2006/relationships/slide" Target="slides/slide38.xml"/><Relationship Id="rId86" Type="http://schemas.openxmlformats.org/officeDocument/2006/relationships/slide" Target="slides/slide82.xml"/><Relationship Id="rId41" Type="http://schemas.openxmlformats.org/officeDocument/2006/relationships/slide" Target="slides/slide37.xml"/><Relationship Id="rId85" Type="http://schemas.openxmlformats.org/officeDocument/2006/relationships/slide" Target="slides/slide81.xml"/><Relationship Id="rId44" Type="http://schemas.openxmlformats.org/officeDocument/2006/relationships/slide" Target="slides/slide40.xml"/><Relationship Id="rId43" Type="http://schemas.openxmlformats.org/officeDocument/2006/relationships/slide" Target="slides/slide39.xml"/><Relationship Id="rId87" Type="http://customschemas.google.com/relationships/presentationmetadata" Target="metadata"/><Relationship Id="rId46" Type="http://schemas.openxmlformats.org/officeDocument/2006/relationships/slide" Target="slides/slide42.xml"/><Relationship Id="rId45" Type="http://schemas.openxmlformats.org/officeDocument/2006/relationships/slide" Target="slides/slide41.xml"/><Relationship Id="rId80" Type="http://schemas.openxmlformats.org/officeDocument/2006/relationships/slide" Target="slides/slide76.xml"/><Relationship Id="rId82" Type="http://schemas.openxmlformats.org/officeDocument/2006/relationships/slide" Target="slides/slide78.xml"/><Relationship Id="rId81" Type="http://schemas.openxmlformats.org/officeDocument/2006/relationships/slide" Target="slides/slide7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73" Type="http://schemas.openxmlformats.org/officeDocument/2006/relationships/slide" Target="slides/slide69.xml"/><Relationship Id="rId72" Type="http://schemas.openxmlformats.org/officeDocument/2006/relationships/slide" Target="slides/slide68.xml"/><Relationship Id="rId31" Type="http://schemas.openxmlformats.org/officeDocument/2006/relationships/slide" Target="slides/slide27.xml"/><Relationship Id="rId75" Type="http://schemas.openxmlformats.org/officeDocument/2006/relationships/slide" Target="slides/slide71.xml"/><Relationship Id="rId30" Type="http://schemas.openxmlformats.org/officeDocument/2006/relationships/slide" Target="slides/slide26.xml"/><Relationship Id="rId74" Type="http://schemas.openxmlformats.org/officeDocument/2006/relationships/slide" Target="slides/slide70.xml"/><Relationship Id="rId33" Type="http://schemas.openxmlformats.org/officeDocument/2006/relationships/slide" Target="slides/slide29.xml"/><Relationship Id="rId77" Type="http://schemas.openxmlformats.org/officeDocument/2006/relationships/slide" Target="slides/slide73.xml"/><Relationship Id="rId32" Type="http://schemas.openxmlformats.org/officeDocument/2006/relationships/slide" Target="slides/slide28.xml"/><Relationship Id="rId76" Type="http://schemas.openxmlformats.org/officeDocument/2006/relationships/slide" Target="slides/slide72.xml"/><Relationship Id="rId35" Type="http://schemas.openxmlformats.org/officeDocument/2006/relationships/slide" Target="slides/slide31.xml"/><Relationship Id="rId79" Type="http://schemas.openxmlformats.org/officeDocument/2006/relationships/slide" Target="slides/slide75.xml"/><Relationship Id="rId34" Type="http://schemas.openxmlformats.org/officeDocument/2006/relationships/slide" Target="slides/slide30.xml"/><Relationship Id="rId78" Type="http://schemas.openxmlformats.org/officeDocument/2006/relationships/slide" Target="slides/slide74.xml"/><Relationship Id="rId71" Type="http://schemas.openxmlformats.org/officeDocument/2006/relationships/slide" Target="slides/slide67.xml"/><Relationship Id="rId70" Type="http://schemas.openxmlformats.org/officeDocument/2006/relationships/slide" Target="slides/slide66.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slide" Target="slides/slide58.xml"/><Relationship Id="rId61" Type="http://schemas.openxmlformats.org/officeDocument/2006/relationships/slide" Target="slides/slide57.xml"/><Relationship Id="rId20" Type="http://schemas.openxmlformats.org/officeDocument/2006/relationships/slide" Target="slides/slide16.xml"/><Relationship Id="rId64" Type="http://schemas.openxmlformats.org/officeDocument/2006/relationships/slide" Target="slides/slide60.xml"/><Relationship Id="rId63" Type="http://schemas.openxmlformats.org/officeDocument/2006/relationships/slide" Target="slides/slide59.xml"/><Relationship Id="rId22" Type="http://schemas.openxmlformats.org/officeDocument/2006/relationships/slide" Target="slides/slide18.xml"/><Relationship Id="rId66" Type="http://schemas.openxmlformats.org/officeDocument/2006/relationships/slide" Target="slides/slide62.xml"/><Relationship Id="rId21" Type="http://schemas.openxmlformats.org/officeDocument/2006/relationships/slide" Target="slides/slide17.xml"/><Relationship Id="rId65" Type="http://schemas.openxmlformats.org/officeDocument/2006/relationships/slide" Target="slides/slide61.xml"/><Relationship Id="rId24" Type="http://schemas.openxmlformats.org/officeDocument/2006/relationships/slide" Target="slides/slide20.xml"/><Relationship Id="rId68" Type="http://schemas.openxmlformats.org/officeDocument/2006/relationships/slide" Target="slides/slide64.xml"/><Relationship Id="rId23" Type="http://schemas.openxmlformats.org/officeDocument/2006/relationships/slide" Target="slides/slide19.xml"/><Relationship Id="rId67" Type="http://schemas.openxmlformats.org/officeDocument/2006/relationships/slide" Target="slides/slide63.xml"/><Relationship Id="rId60" Type="http://schemas.openxmlformats.org/officeDocument/2006/relationships/slide" Target="slides/slide56.xml"/><Relationship Id="rId26" Type="http://schemas.openxmlformats.org/officeDocument/2006/relationships/slide" Target="slides/slide22.xml"/><Relationship Id="rId25" Type="http://schemas.openxmlformats.org/officeDocument/2006/relationships/slide" Target="slides/slide21.xml"/><Relationship Id="rId69" Type="http://schemas.openxmlformats.org/officeDocument/2006/relationships/slide" Target="slides/slide65.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1" name="Google Shape;301;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5" name="Google Shape;325;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 name="Google Shape;333;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1" name="Google Shape;341;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9" name="Google Shape;349;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 name="Google Shape;357;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4" name="Google Shape;364;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1" name="Google Shape;371;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2" name="Google Shape;372;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 name="Google Shape;380;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7" name="Google Shape;387;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4" name="Google Shape;394;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2" name="Google Shape;402;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0" name="Google Shape;410;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8" name="Google Shape;418;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6" name="Google Shape;426;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3" name="Google Shape;433;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4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4" name="Google Shape;444;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4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1" name="Google Shape;451;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5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8" name="Google Shape;458;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5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5" name="Google Shape;465;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5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2" name="Google Shape;472;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5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9" name="Google Shape;479;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5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6" name="Google Shape;486;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5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4" name="Google Shape;494;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5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2" name="Google Shape;502;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5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0" name="Google Shape;510;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5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8" name="Google Shape;518;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5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5" name="Google Shape;525;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6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2" name="Google Shape;532;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6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9" name="Google Shape;539;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6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6" name="Google Shape;546;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6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3" name="Google Shape;553;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6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0" name="Google Shape;560;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6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7" name="Google Shape;567;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6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4" name="Google Shape;574;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6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1" name="Google Shape;581;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6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8" name="Google Shape;588;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p6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5" name="Google Shape;595;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7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2" name="Google Shape;602;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p7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9" name="Google Shape;609;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7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6" name="Google Shape;616;p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7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3" name="Google Shape;623;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7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1" name="Google Shape;631;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p7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8" name="Google Shape;638;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7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5" name="Google Shape;645;p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p7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2" name="Google Shape;652;p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p7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9" name="Google Shape;659;p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p7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6" name="Google Shape;666;p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p8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3" name="Google Shape;673;p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p8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0" name="Google Shape;680;p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p8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7" name="Google Shape;687;p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8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8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8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8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8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8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8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8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8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8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8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8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8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8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8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8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8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8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8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8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8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8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8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8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8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8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8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8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8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9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9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9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9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9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9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92"/>
          <p:cNvSpPr/>
          <p:nvPr>
            <p:ph idx="2" type="pic"/>
          </p:nvPr>
        </p:nvSpPr>
        <p:spPr>
          <a:xfrm>
            <a:off x="5183188" y="987425"/>
            <a:ext cx="6172200" cy="4873625"/>
          </a:xfrm>
          <a:prstGeom prst="rect">
            <a:avLst/>
          </a:prstGeom>
          <a:noFill/>
          <a:ln>
            <a:noFill/>
          </a:ln>
        </p:spPr>
      </p:sp>
      <p:sp>
        <p:nvSpPr>
          <p:cNvPr id="68" name="Google Shape;68;p9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9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9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9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9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9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9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9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9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9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9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9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9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9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8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8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8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8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8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9.png"/><Relationship Id="rId4" Type="http://schemas.openxmlformats.org/officeDocument/2006/relationships/image" Target="../media/image1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25.png"/><Relationship Id="rId4" Type="http://schemas.openxmlformats.org/officeDocument/2006/relationships/image" Target="../media/image1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2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2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1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2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1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22.png"/><Relationship Id="rId4" Type="http://schemas.openxmlformats.org/officeDocument/2006/relationships/image" Target="../media/image2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3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3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2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33.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28.png"/><Relationship Id="rId4" Type="http://schemas.openxmlformats.org/officeDocument/2006/relationships/image" Target="../media/image34.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7" name="Shape 87"/>
        <p:cNvGrpSpPr/>
        <p:nvPr/>
      </p:nvGrpSpPr>
      <p:grpSpPr>
        <a:xfrm>
          <a:off x="0" y="0"/>
          <a:ext cx="0" cy="0"/>
          <a:chOff x="0" y="0"/>
          <a:chExt cx="0" cy="0"/>
        </a:xfrm>
      </p:grpSpPr>
      <p:sp>
        <p:nvSpPr>
          <p:cNvPr id="88" name="Google Shape;88;p1"/>
          <p:cNvSpPr txBox="1"/>
          <p:nvPr>
            <p:ph type="ctrTitle"/>
          </p:nvPr>
        </p:nvSpPr>
        <p:spPr>
          <a:xfrm>
            <a:off x="1582994" y="2239347"/>
            <a:ext cx="9144000" cy="1668822"/>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rgbClr val="3F3F3F"/>
              </a:buClr>
              <a:buSzPct val="100000"/>
              <a:buFont typeface="Calibri"/>
              <a:buNone/>
            </a:pPr>
            <a:r>
              <a:rPr lang="en-US">
                <a:solidFill>
                  <a:srgbClr val="3F3F3F"/>
                </a:solidFill>
                <a:latin typeface="Calibri"/>
                <a:ea typeface="Calibri"/>
                <a:cs typeface="Calibri"/>
                <a:sym typeface="Calibri"/>
              </a:rPr>
              <a:t>Circuit du patient et diagnostic clinique en oncologi</a:t>
            </a:r>
            <a:r>
              <a:rPr lang="en-US">
                <a:solidFill>
                  <a:srgbClr val="3F3F3F"/>
                </a:solidFill>
                <a:latin typeface="Calibri"/>
                <a:ea typeface="Calibri"/>
                <a:cs typeface="Calibri"/>
                <a:sym typeface="Calibri"/>
              </a:rPr>
              <a:t>e</a:t>
            </a:r>
            <a:endParaRPr>
              <a:solidFill>
                <a:srgbClr val="3F3F3F"/>
              </a:solidFill>
              <a:latin typeface="Calibri"/>
              <a:ea typeface="Calibri"/>
              <a:cs typeface="Calibri"/>
              <a:sym typeface="Calibri"/>
            </a:endParaRPr>
          </a:p>
        </p:txBody>
      </p:sp>
      <p:sp>
        <p:nvSpPr>
          <p:cNvPr id="89" name="Google Shape;89;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3" name="Shape 93"/>
        <p:cNvGrpSpPr/>
        <p:nvPr/>
      </p:nvGrpSpPr>
      <p:grpSpPr>
        <a:xfrm>
          <a:off x="0" y="0"/>
          <a:ext cx="0" cy="0"/>
          <a:chOff x="0" y="0"/>
          <a:chExt cx="0" cy="0"/>
        </a:xfrm>
      </p:grpSpPr>
      <p:sp>
        <p:nvSpPr>
          <p:cNvPr id="94" name="Google Shape;94;p2"/>
          <p:cNvSpPr txBox="1"/>
          <p:nvPr>
            <p:ph type="title"/>
          </p:nvPr>
        </p:nvSpPr>
        <p:spPr>
          <a:xfrm>
            <a:off x="1028700" y="1967266"/>
            <a:ext cx="2628900" cy="2547257"/>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600"/>
              <a:buFont typeface="Calibri"/>
              <a:buNone/>
            </a:pPr>
            <a:r>
              <a:rPr lang="en-US" sz="3600">
                <a:latin typeface="Calibri"/>
                <a:ea typeface="Calibri"/>
                <a:cs typeface="Calibri"/>
                <a:sym typeface="Calibri"/>
              </a:rPr>
              <a:t>Le parcours du patient en oncologie</a:t>
            </a:r>
            <a:endParaRPr/>
          </a:p>
        </p:txBody>
      </p:sp>
      <p:sp>
        <p:nvSpPr>
          <p:cNvPr id="95" name="Google Shape;95;p2"/>
          <p:cNvSpPr txBox="1"/>
          <p:nvPr>
            <p:ph idx="12" type="sldNum"/>
          </p:nvPr>
        </p:nvSpPr>
        <p:spPr>
          <a:xfrm>
            <a:off x="11034184" y="6356350"/>
            <a:ext cx="514349"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solidFill>
                  <a:schemeClr val="dk1"/>
                </a:solidFill>
              </a:rPr>
              <a:t>‹#›</a:t>
            </a:fld>
            <a:endParaRPr>
              <a:solidFill>
                <a:schemeClr val="dk1"/>
              </a:solidFill>
            </a:endParaRPr>
          </a:p>
        </p:txBody>
      </p:sp>
      <p:pic>
        <p:nvPicPr>
          <p:cNvPr id="96" name="Google Shape;96;p2"/>
          <p:cNvPicPr preferRelativeResize="0"/>
          <p:nvPr/>
        </p:nvPicPr>
        <p:blipFill rotWithShape="1">
          <a:blip r:embed="rId3">
            <a:alphaModFix/>
          </a:blip>
          <a:srcRect b="0" l="0" r="0" t="0"/>
          <a:stretch/>
        </p:blipFill>
        <p:spPr>
          <a:xfrm>
            <a:off x="6186196" y="1522"/>
            <a:ext cx="3965509" cy="677864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102" name="Google Shape;102;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
        <p:nvSpPr>
          <p:cNvPr id="103" name="Google Shape;103;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04" name="Google Shape;104;p3"/>
          <p:cNvPicPr preferRelativeResize="0"/>
          <p:nvPr/>
        </p:nvPicPr>
        <p:blipFill rotWithShape="1">
          <a:blip r:embed="rId3">
            <a:alphaModFix/>
          </a:blip>
          <a:srcRect b="0" l="0" r="0" t="0"/>
          <a:stretch/>
        </p:blipFill>
        <p:spPr>
          <a:xfrm>
            <a:off x="1449659" y="63732"/>
            <a:ext cx="8894026" cy="664608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Les 3 démarches diagnostiques</a:t>
            </a:r>
            <a:br>
              <a:rPr lang="en-US"/>
            </a:br>
            <a:endParaRPr/>
          </a:p>
        </p:txBody>
      </p:sp>
      <p:sp>
        <p:nvSpPr>
          <p:cNvPr id="110" name="Google Shape;110;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3500"/>
              <a:buChar char="•"/>
            </a:pPr>
            <a:r>
              <a:rPr lang="en-US" sz="3500"/>
              <a:t>Le diagnostic de cancer peut se faire : </a:t>
            </a:r>
            <a:endParaRPr/>
          </a:p>
          <a:p>
            <a:pPr indent="-228600" lvl="1" marL="685800" rtl="0" algn="l">
              <a:lnSpc>
                <a:spcPct val="90000"/>
              </a:lnSpc>
              <a:spcBef>
                <a:spcPts val="500"/>
              </a:spcBef>
              <a:spcAft>
                <a:spcPts val="0"/>
              </a:spcAft>
              <a:buClr>
                <a:schemeClr val="dk1"/>
              </a:buClr>
              <a:buSzPts val="3500"/>
              <a:buChar char="•"/>
            </a:pPr>
            <a:r>
              <a:rPr lang="en-US" sz="3500"/>
              <a:t> dans le cadre d'un </a:t>
            </a:r>
            <a:r>
              <a:rPr b="1" lang="en-US" sz="3500"/>
              <a:t>dépistage organisé</a:t>
            </a:r>
            <a:r>
              <a:rPr lang="en-US" sz="3500"/>
              <a:t>, auprès d'une population non sélectionnée, dans une classe d'âge précise;</a:t>
            </a:r>
            <a:endParaRPr/>
          </a:p>
          <a:p>
            <a:pPr indent="-228600" lvl="1" marL="685800" rtl="0" algn="l">
              <a:lnSpc>
                <a:spcPct val="90000"/>
              </a:lnSpc>
              <a:spcBef>
                <a:spcPts val="500"/>
              </a:spcBef>
              <a:spcAft>
                <a:spcPts val="0"/>
              </a:spcAft>
              <a:buClr>
                <a:schemeClr val="dk1"/>
              </a:buClr>
              <a:buSzPts val="3500"/>
              <a:buChar char="•"/>
            </a:pPr>
            <a:r>
              <a:rPr lang="en-US" sz="3500"/>
              <a:t> de manière </a:t>
            </a:r>
            <a:r>
              <a:rPr b="1" lang="en-US" sz="3500"/>
              <a:t>fortuite</a:t>
            </a:r>
            <a:r>
              <a:rPr lang="en-US" sz="3500"/>
              <a:t> lors d'un examen complémentaire effectué pour une autre raison qu'un dépistage ou diagnostic de cancer ;</a:t>
            </a:r>
            <a:endParaRPr/>
          </a:p>
          <a:p>
            <a:pPr indent="-228600" lvl="1" marL="685800" rtl="0" algn="l">
              <a:lnSpc>
                <a:spcPct val="90000"/>
              </a:lnSpc>
              <a:spcBef>
                <a:spcPts val="500"/>
              </a:spcBef>
              <a:spcAft>
                <a:spcPts val="0"/>
              </a:spcAft>
              <a:buClr>
                <a:schemeClr val="dk1"/>
              </a:buClr>
              <a:buSzPts val="3500"/>
              <a:buChar char="•"/>
            </a:pPr>
            <a:r>
              <a:rPr lang="en-US" sz="3500"/>
              <a:t>dans le cadre d'une démarche initiée du fait d'une </a:t>
            </a:r>
            <a:r>
              <a:rPr b="1" lang="en-US" sz="3500"/>
              <a:t>suspicion clinique </a:t>
            </a:r>
            <a:r>
              <a:rPr lang="en-US" sz="3500"/>
              <a:t>ou radiologique.</a:t>
            </a:r>
            <a:endParaRPr sz="3500"/>
          </a:p>
        </p:txBody>
      </p:sp>
      <p:sp>
        <p:nvSpPr>
          <p:cNvPr id="111" name="Google Shape;111;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117" name="Google Shape;117;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
        <p:nvSpPr>
          <p:cNvPr id="118" name="Google Shape;118;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19" name="Google Shape;119;p5"/>
          <p:cNvPicPr preferRelativeResize="0"/>
          <p:nvPr/>
        </p:nvPicPr>
        <p:blipFill rotWithShape="1">
          <a:blip r:embed="rId3">
            <a:alphaModFix/>
          </a:blip>
          <a:srcRect b="0" l="0" r="0" t="0"/>
          <a:stretch/>
        </p:blipFill>
        <p:spPr>
          <a:xfrm>
            <a:off x="0" y="-136525"/>
            <a:ext cx="5328605" cy="6858000"/>
          </a:xfrm>
          <a:prstGeom prst="rect">
            <a:avLst/>
          </a:prstGeom>
          <a:noFill/>
          <a:ln>
            <a:noFill/>
          </a:ln>
        </p:spPr>
      </p:pic>
      <p:pic>
        <p:nvPicPr>
          <p:cNvPr id="120" name="Google Shape;120;p5"/>
          <p:cNvPicPr preferRelativeResize="0"/>
          <p:nvPr/>
        </p:nvPicPr>
        <p:blipFill rotWithShape="1">
          <a:blip r:embed="rId4">
            <a:alphaModFix/>
          </a:blip>
          <a:srcRect b="0" l="0" r="0" t="0"/>
          <a:stretch/>
        </p:blipFill>
        <p:spPr>
          <a:xfrm>
            <a:off x="6445249" y="-45251"/>
            <a:ext cx="5328605" cy="69485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126" name="Google Shape;126;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
        <p:nvSpPr>
          <p:cNvPr id="127" name="Google Shape;127;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28" name="Google Shape;128;p6"/>
          <p:cNvPicPr preferRelativeResize="0"/>
          <p:nvPr/>
        </p:nvPicPr>
        <p:blipFill rotWithShape="1">
          <a:blip r:embed="rId3">
            <a:alphaModFix/>
          </a:blip>
          <a:srcRect b="0" l="0" r="0" t="0"/>
          <a:stretch/>
        </p:blipFill>
        <p:spPr>
          <a:xfrm>
            <a:off x="2057400" y="0"/>
            <a:ext cx="7723573" cy="6858000"/>
          </a:xfrm>
          <a:prstGeom prst="rect">
            <a:avLst/>
          </a:prstGeom>
          <a:noFill/>
          <a:ln>
            <a:noFill/>
          </a:ln>
        </p:spPr>
      </p:pic>
      <p:pic>
        <p:nvPicPr>
          <p:cNvPr id="129" name="Google Shape;129;p6"/>
          <p:cNvPicPr preferRelativeResize="0"/>
          <p:nvPr/>
        </p:nvPicPr>
        <p:blipFill rotWithShape="1">
          <a:blip r:embed="rId4">
            <a:alphaModFix/>
          </a:blip>
          <a:srcRect b="0" l="0" r="0" t="0"/>
          <a:stretch/>
        </p:blipFill>
        <p:spPr>
          <a:xfrm>
            <a:off x="2057400" y="40496"/>
            <a:ext cx="7772400" cy="681750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7"/>
          <p:cNvSpPr txBox="1"/>
          <p:nvPr>
            <p:ph type="title"/>
          </p:nvPr>
        </p:nvSpPr>
        <p:spPr>
          <a:xfrm>
            <a:off x="8276492" y="365125"/>
            <a:ext cx="3077308"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FRANCE</a:t>
            </a:r>
            <a:endParaRPr/>
          </a:p>
        </p:txBody>
      </p:sp>
      <p:sp>
        <p:nvSpPr>
          <p:cNvPr id="135" name="Google Shape;135;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
        <p:nvSpPr>
          <p:cNvPr id="136" name="Google Shape;136;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37" name="Google Shape;137;p7"/>
          <p:cNvPicPr preferRelativeResize="0"/>
          <p:nvPr/>
        </p:nvPicPr>
        <p:blipFill rotWithShape="1">
          <a:blip r:embed="rId3">
            <a:alphaModFix/>
          </a:blip>
          <a:srcRect b="0" l="0" r="0" t="0"/>
          <a:stretch/>
        </p:blipFill>
        <p:spPr>
          <a:xfrm>
            <a:off x="1072661" y="52088"/>
            <a:ext cx="7203831" cy="3839973"/>
          </a:xfrm>
          <a:prstGeom prst="rect">
            <a:avLst/>
          </a:prstGeom>
          <a:noFill/>
          <a:ln>
            <a:noFill/>
          </a:ln>
        </p:spPr>
      </p:pic>
      <p:pic>
        <p:nvPicPr>
          <p:cNvPr id="138" name="Google Shape;138;p7"/>
          <p:cNvPicPr preferRelativeResize="0"/>
          <p:nvPr/>
        </p:nvPicPr>
        <p:blipFill rotWithShape="1">
          <a:blip r:embed="rId4">
            <a:alphaModFix/>
          </a:blip>
          <a:srcRect b="0" l="0" r="0" t="0"/>
          <a:stretch/>
        </p:blipFill>
        <p:spPr>
          <a:xfrm>
            <a:off x="3815861" y="2743855"/>
            <a:ext cx="7772401" cy="4114145"/>
          </a:xfrm>
          <a:prstGeom prst="rect">
            <a:avLst/>
          </a:prstGeom>
          <a:noFill/>
          <a:ln>
            <a:noFill/>
          </a:ln>
        </p:spPr>
      </p:pic>
      <p:sp>
        <p:nvSpPr>
          <p:cNvPr id="139" name="Google Shape;139;p7"/>
          <p:cNvSpPr txBox="1"/>
          <p:nvPr/>
        </p:nvSpPr>
        <p:spPr>
          <a:xfrm>
            <a:off x="1072661" y="4694109"/>
            <a:ext cx="3077308"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ROUMANIE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3" name="Shape 143"/>
        <p:cNvGrpSpPr/>
        <p:nvPr/>
      </p:nvGrpSpPr>
      <p:grpSpPr>
        <a:xfrm>
          <a:off x="0" y="0"/>
          <a:ext cx="0" cy="0"/>
          <a:chOff x="0" y="0"/>
          <a:chExt cx="0" cy="0"/>
        </a:xfrm>
      </p:grpSpPr>
      <p:sp>
        <p:nvSpPr>
          <p:cNvPr id="144" name="Google Shape;144;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3A3838"/>
              </a:buClr>
              <a:buSzPts val="4400"/>
              <a:buFont typeface="Calibri"/>
              <a:buNone/>
            </a:pPr>
            <a:r>
              <a:rPr lang="en-US">
                <a:solidFill>
                  <a:srgbClr val="3A3838"/>
                </a:solidFill>
                <a:latin typeface="Calibri"/>
                <a:ea typeface="Calibri"/>
                <a:cs typeface="Calibri"/>
                <a:sym typeface="Calibri"/>
              </a:rPr>
              <a:t>Principes de diagnostic</a:t>
            </a:r>
            <a:endParaRPr>
              <a:solidFill>
                <a:srgbClr val="3A3838"/>
              </a:solidFill>
              <a:latin typeface="Calibri"/>
              <a:ea typeface="Calibri"/>
              <a:cs typeface="Calibri"/>
              <a:sym typeface="Calibri"/>
            </a:endParaRPr>
          </a:p>
        </p:txBody>
      </p:sp>
      <p:sp>
        <p:nvSpPr>
          <p:cNvPr id="145" name="Google Shape;145;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La transformation maligne passe par plusieurs stades, la plupart du temps sans expression clinique. À un moment donné, la prolifération tumorale entraîne des signes cliniques et des symptômes évocateurs de malignité.</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La présentation initiale du patient oncologique au médecin peut se produire dans le cadre d'un large éventail d'événements, allant du diagnostic précoce par dépistage au signalement par le patient d'un symptôme inquiétant ou à l'identification accidentelle d'un signe clinique ou d'une imagerie ou d'un examen de laboratoire anormal.</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
        <p:nvSpPr>
          <p:cNvPr id="146" name="Google Shape;146;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0" name="Shape 150"/>
        <p:cNvGrpSpPr/>
        <p:nvPr/>
      </p:nvGrpSpPr>
      <p:grpSpPr>
        <a:xfrm>
          <a:off x="0" y="0"/>
          <a:ext cx="0" cy="0"/>
          <a:chOff x="0" y="0"/>
          <a:chExt cx="0" cy="0"/>
        </a:xfrm>
      </p:grpSpPr>
      <p:sp>
        <p:nvSpPr>
          <p:cNvPr id="151" name="Google Shape;151;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Précocité</a:t>
            </a:r>
            <a:endParaRPr/>
          </a:p>
        </p:txBody>
      </p:sp>
      <p:sp>
        <p:nvSpPr>
          <p:cNvPr id="152" name="Google Shape;152;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Signifie un diagnostic localisé de néoplasie, potentiellement curatif par la chirurgie, associé ou non à d'autres traitements. </a:t>
            </a:r>
            <a:endParaRPr/>
          </a:p>
          <a:p>
            <a:pPr indent="-228600" lvl="1" marL="685800" rtl="0" algn="l">
              <a:lnSpc>
                <a:spcPct val="90000"/>
              </a:lnSpc>
              <a:spcBef>
                <a:spcPts val="500"/>
              </a:spcBef>
              <a:spcAft>
                <a:spcPts val="0"/>
              </a:spcAft>
              <a:buClr>
                <a:schemeClr val="dk1"/>
              </a:buClr>
              <a:buSzPts val="2400"/>
              <a:buChar char="•"/>
            </a:pPr>
            <a:r>
              <a:rPr lang="en-US"/>
              <a:t>(radiothérapie, chimiothérapie, hormonothérapie).</a:t>
            </a:r>
            <a:endParaRPr/>
          </a:p>
          <a:p>
            <a:pPr indent="-228600" lvl="0" marL="228600" rtl="0" algn="l">
              <a:lnSpc>
                <a:spcPct val="90000"/>
              </a:lnSpc>
              <a:spcBef>
                <a:spcPts val="1000"/>
              </a:spcBef>
              <a:spcAft>
                <a:spcPts val="0"/>
              </a:spcAft>
              <a:buClr>
                <a:schemeClr val="dk1"/>
              </a:buClr>
              <a:buSzPts val="2800"/>
              <a:buChar char="•"/>
            </a:pPr>
            <a:r>
              <a:rPr lang="en-US"/>
              <a:t>Les chances de guérison d'un cancer diminuent au fur et à mesure que la maladie est détectée à un stade avancé.</a:t>
            </a:r>
            <a:endParaRPr/>
          </a:p>
          <a:p>
            <a:pPr indent="-50800" lvl="0" marL="228600" rtl="0" algn="l">
              <a:lnSpc>
                <a:spcPct val="90000"/>
              </a:lnSpc>
              <a:spcBef>
                <a:spcPts val="1000"/>
              </a:spcBef>
              <a:spcAft>
                <a:spcPts val="0"/>
              </a:spcAft>
              <a:buClr>
                <a:schemeClr val="dk1"/>
              </a:buClr>
              <a:buSzPts val="2800"/>
              <a:buNone/>
            </a:pPr>
            <a:r>
              <a:t/>
            </a:r>
            <a:endParaRPr/>
          </a:p>
        </p:txBody>
      </p:sp>
      <p:sp>
        <p:nvSpPr>
          <p:cNvPr id="153" name="Google Shape;153;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7" name="Shape 157"/>
        <p:cNvGrpSpPr/>
        <p:nvPr/>
      </p:nvGrpSpPr>
      <p:grpSpPr>
        <a:xfrm>
          <a:off x="0" y="0"/>
          <a:ext cx="0" cy="0"/>
          <a:chOff x="0" y="0"/>
          <a:chExt cx="0" cy="0"/>
        </a:xfrm>
      </p:grpSpPr>
      <p:sp>
        <p:nvSpPr>
          <p:cNvPr id="158" name="Google Shape;158;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Certitude</a:t>
            </a:r>
            <a:endParaRPr/>
          </a:p>
        </p:txBody>
      </p:sp>
      <p:sp>
        <p:nvSpPr>
          <p:cNvPr id="159" name="Google Shape;159;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Le diagnostic de cancer est SUGGÉRÉ par </a:t>
            </a:r>
            <a:r>
              <a:rPr b="1" lang="en-US"/>
              <a:t>l'anamnèse</a:t>
            </a:r>
            <a:r>
              <a:rPr lang="en-US"/>
              <a:t> et </a:t>
            </a:r>
            <a:r>
              <a:rPr b="1" lang="en-US"/>
              <a:t>l'examen</a:t>
            </a:r>
            <a:r>
              <a:rPr lang="en-US"/>
              <a:t> </a:t>
            </a:r>
            <a:r>
              <a:rPr b="1" lang="en-US"/>
              <a:t>clinique</a:t>
            </a:r>
            <a:r>
              <a:rPr lang="en-US"/>
              <a:t>, appuyé par les examens </a:t>
            </a:r>
            <a:r>
              <a:rPr b="1" lang="en-US"/>
              <a:t>paracliniques</a:t>
            </a:r>
            <a:r>
              <a:rPr lang="en-US"/>
              <a:t> et CONFIRMÉ par l'examen </a:t>
            </a:r>
            <a:r>
              <a:rPr b="1" lang="en-US"/>
              <a:t>histopathologique</a:t>
            </a:r>
            <a:r>
              <a:rPr lang="en-US"/>
              <a:t> (éventuellement complété par un examen immunohistochimique).</a:t>
            </a:r>
            <a:endParaRPr/>
          </a:p>
          <a:p>
            <a:pPr indent="-228600" lvl="0" marL="228600" rtl="0" algn="l">
              <a:lnSpc>
                <a:spcPct val="90000"/>
              </a:lnSpc>
              <a:spcBef>
                <a:spcPts val="1000"/>
              </a:spcBef>
              <a:spcAft>
                <a:spcPts val="0"/>
              </a:spcAft>
              <a:buClr>
                <a:schemeClr val="dk1"/>
              </a:buClr>
              <a:buSzPts val="2800"/>
              <a:buChar char="•"/>
            </a:pPr>
            <a:r>
              <a:rPr lang="en-US"/>
              <a:t>Les échantillons de tissus peuvent être des tumeurs primaires, des adénopathies ou des métastases.</a:t>
            </a:r>
            <a:endParaRPr/>
          </a:p>
        </p:txBody>
      </p:sp>
      <p:sp>
        <p:nvSpPr>
          <p:cNvPr id="160" name="Google Shape;160;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4" name="Shape 164"/>
        <p:cNvGrpSpPr/>
        <p:nvPr/>
      </p:nvGrpSpPr>
      <p:grpSpPr>
        <a:xfrm>
          <a:off x="0" y="0"/>
          <a:ext cx="0" cy="0"/>
          <a:chOff x="0" y="0"/>
          <a:chExt cx="0" cy="0"/>
        </a:xfrm>
      </p:grpSpPr>
      <p:sp>
        <p:nvSpPr>
          <p:cNvPr id="165" name="Google Shape;165;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Certitude</a:t>
            </a:r>
            <a:endParaRPr/>
          </a:p>
        </p:txBody>
      </p:sp>
      <p:sp>
        <p:nvSpPr>
          <p:cNvPr id="166" name="Google Shape;166;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La chirurgie, la radiothérapie, la chimiothérapie, les thérapies ciblées, l'immunothérapie ont des effets secondaires fonctionnels, esthétiques, psychologiques, etc. </a:t>
            </a:r>
            <a:endParaRPr/>
          </a:p>
          <a:p>
            <a:pPr indent="-228600" lvl="0" marL="228600" rtl="0" algn="l">
              <a:lnSpc>
                <a:spcPct val="90000"/>
              </a:lnSpc>
              <a:spcBef>
                <a:spcPts val="1000"/>
              </a:spcBef>
              <a:spcAft>
                <a:spcPts val="0"/>
              </a:spcAft>
              <a:buClr>
                <a:schemeClr val="dk1"/>
              </a:buClr>
              <a:buSzPct val="100000"/>
              <a:buChar char="•"/>
            </a:pPr>
            <a:r>
              <a:rPr lang="en-US"/>
              <a:t>Leur administration à des patients sans confirmation histopathologique de la maladie entraîne des conséquences médicales et juridiques !</a:t>
            </a:r>
            <a:endParaRPr/>
          </a:p>
          <a:p>
            <a:pPr indent="-228600" lvl="0" marL="228600" rtl="0" algn="l">
              <a:lnSpc>
                <a:spcPct val="90000"/>
              </a:lnSpc>
              <a:spcBef>
                <a:spcPts val="1000"/>
              </a:spcBef>
              <a:spcAft>
                <a:spcPts val="0"/>
              </a:spcAft>
              <a:buClr>
                <a:schemeClr val="dk1"/>
              </a:buClr>
              <a:buSzPct val="100000"/>
              <a:buChar char="•"/>
            </a:pPr>
            <a:r>
              <a:rPr lang="en-US"/>
              <a:t>Exceptions ? Les tumeurs solides difficiles à aborder par biopsie/chirurgie et les stades avancés qui nécessitent l'instauration rapide d'un traitement. Cependant, il faut au moins une ponction à l'aiguille fine avec examen cytologique pour détecter les cellules malignes.</a:t>
            </a:r>
            <a:endParaRPr/>
          </a:p>
          <a:p>
            <a:pPr indent="-228600" lvl="0" marL="228600" rtl="0" algn="l">
              <a:lnSpc>
                <a:spcPct val="90000"/>
              </a:lnSpc>
              <a:spcBef>
                <a:spcPts val="1000"/>
              </a:spcBef>
              <a:spcAft>
                <a:spcPts val="0"/>
              </a:spcAft>
              <a:buClr>
                <a:schemeClr val="dk1"/>
              </a:buClr>
              <a:buSzPct val="100000"/>
              <a:buChar char="•"/>
            </a:pPr>
            <a:r>
              <a:rPr lang="en-US"/>
              <a:t>Les lésions qualifiées de bénignes, en réalité malignes, évoluent vers des stades avancés en l'absence de traitement spécifique.</a:t>
            </a:r>
            <a:endParaRPr/>
          </a:p>
          <a:p>
            <a:pPr indent="-64135" lvl="0" marL="228600" rtl="0" algn="l">
              <a:lnSpc>
                <a:spcPct val="90000"/>
              </a:lnSpc>
              <a:spcBef>
                <a:spcPts val="1000"/>
              </a:spcBef>
              <a:spcAft>
                <a:spcPts val="0"/>
              </a:spcAft>
              <a:buClr>
                <a:schemeClr val="dk1"/>
              </a:buClr>
              <a:buSzPct val="100000"/>
              <a:buNone/>
            </a:pPr>
            <a:r>
              <a:t/>
            </a:r>
            <a:endParaRPr/>
          </a:p>
        </p:txBody>
      </p:sp>
      <p:sp>
        <p:nvSpPr>
          <p:cNvPr id="167" name="Google Shape;167;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1" name="Shape 171"/>
        <p:cNvGrpSpPr/>
        <p:nvPr/>
      </p:nvGrpSpPr>
      <p:grpSpPr>
        <a:xfrm>
          <a:off x="0" y="0"/>
          <a:ext cx="0" cy="0"/>
          <a:chOff x="0" y="0"/>
          <a:chExt cx="0" cy="0"/>
        </a:xfrm>
      </p:grpSpPr>
      <p:sp>
        <p:nvSpPr>
          <p:cNvPr id="172" name="Google Shape;172;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Formulation d'un diagnostic complet</a:t>
            </a:r>
            <a:endParaRPr/>
          </a:p>
        </p:txBody>
      </p:sp>
      <p:sp>
        <p:nvSpPr>
          <p:cNvPr id="173" name="Google Shape;173;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Pour prendre une décision thérapeutique correcte, il est indispensable d'évaluer l'étendue de la maladie, le type histologique et les facteurs pronostiques (degré de différenciation de la tumeur G, invasion lymphovasculaire, périneurale, degré d'invasion profonde - mélanome malin, marqueurs tumoraux, etc.)</a:t>
            </a:r>
            <a:endParaRPr/>
          </a:p>
          <a:p>
            <a:pPr indent="-228600" lvl="0" marL="228600" rtl="0" algn="l">
              <a:lnSpc>
                <a:spcPct val="90000"/>
              </a:lnSpc>
              <a:spcBef>
                <a:spcPts val="1000"/>
              </a:spcBef>
              <a:spcAft>
                <a:spcPts val="0"/>
              </a:spcAft>
              <a:buClr>
                <a:schemeClr val="dk1"/>
              </a:buClr>
              <a:buSzPts val="2800"/>
              <a:buChar char="•"/>
            </a:pPr>
            <a:r>
              <a:rPr lang="en-US"/>
              <a:t>Les complications de la maladie et les comorbidités ne doivent pas être négligées lors de l'établissement du régime thérapeutique.</a:t>
            </a:r>
            <a:endParaRPr/>
          </a:p>
          <a:p>
            <a:pPr indent="-50800" lvl="0" marL="228600" rtl="0" algn="l">
              <a:lnSpc>
                <a:spcPct val="90000"/>
              </a:lnSpc>
              <a:spcBef>
                <a:spcPts val="1000"/>
              </a:spcBef>
              <a:spcAft>
                <a:spcPts val="0"/>
              </a:spcAft>
              <a:buClr>
                <a:schemeClr val="dk1"/>
              </a:buClr>
              <a:buSzPts val="2800"/>
              <a:buNone/>
            </a:pPr>
            <a:r>
              <a:t/>
            </a:r>
            <a:endParaRPr/>
          </a:p>
        </p:txBody>
      </p:sp>
      <p:sp>
        <p:nvSpPr>
          <p:cNvPr id="174" name="Google Shape;174;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8" name="Shape 178"/>
        <p:cNvGrpSpPr/>
        <p:nvPr/>
      </p:nvGrpSpPr>
      <p:grpSpPr>
        <a:xfrm>
          <a:off x="0" y="0"/>
          <a:ext cx="0" cy="0"/>
          <a:chOff x="0" y="0"/>
          <a:chExt cx="0" cy="0"/>
        </a:xfrm>
      </p:grpSpPr>
      <p:sp>
        <p:nvSpPr>
          <p:cNvPr id="179" name="Google Shape;179;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Les étapes du diagnostic du cancer</a:t>
            </a:r>
            <a:endParaRPr/>
          </a:p>
        </p:txBody>
      </p:sp>
      <p:sp>
        <p:nvSpPr>
          <p:cNvPr id="180" name="Google Shape;180;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90000"/>
              </a:lnSpc>
              <a:spcBef>
                <a:spcPts val="0"/>
              </a:spcBef>
              <a:spcAft>
                <a:spcPts val="0"/>
              </a:spcAft>
              <a:buClr>
                <a:schemeClr val="dk1"/>
              </a:buClr>
              <a:buSzPct val="100000"/>
              <a:buNone/>
            </a:pPr>
            <a:r>
              <a:rPr lang="en-US"/>
              <a:t>La suspicion clinique de cancer est suivie par :</a:t>
            </a:r>
            <a:endParaRPr/>
          </a:p>
          <a:p>
            <a:pPr indent="-514350" lvl="0" marL="514350" rtl="0" algn="l">
              <a:lnSpc>
                <a:spcPct val="90000"/>
              </a:lnSpc>
              <a:spcBef>
                <a:spcPts val="1000"/>
              </a:spcBef>
              <a:spcAft>
                <a:spcPts val="0"/>
              </a:spcAft>
              <a:buClr>
                <a:schemeClr val="dk1"/>
              </a:buClr>
              <a:buSzPct val="100000"/>
              <a:buFont typeface="Calibri"/>
              <a:buAutoNum type="arabicPeriod"/>
            </a:pPr>
            <a:r>
              <a:rPr lang="en-US"/>
              <a:t>appuyer et confirmer le diagnostic de cancer (imagerie + examen histopathologique)</a:t>
            </a:r>
            <a:endParaRPr/>
          </a:p>
          <a:p>
            <a:pPr indent="-514350" lvl="0" marL="514350" rtl="0" algn="l">
              <a:lnSpc>
                <a:spcPct val="90000"/>
              </a:lnSpc>
              <a:spcBef>
                <a:spcPts val="1000"/>
              </a:spcBef>
              <a:spcAft>
                <a:spcPts val="0"/>
              </a:spcAft>
              <a:buClr>
                <a:schemeClr val="dk1"/>
              </a:buClr>
              <a:buSzPct val="100000"/>
              <a:buFont typeface="Calibri"/>
              <a:buAutoNum type="arabicPeriod"/>
            </a:pPr>
            <a:r>
              <a:rPr lang="en-US"/>
              <a:t>définir un stade (stadification)</a:t>
            </a:r>
            <a:endParaRPr/>
          </a:p>
          <a:p>
            <a:pPr indent="-514350" lvl="0" marL="514350" rtl="0" algn="l">
              <a:lnSpc>
                <a:spcPct val="90000"/>
              </a:lnSpc>
              <a:spcBef>
                <a:spcPts val="1000"/>
              </a:spcBef>
              <a:spcAft>
                <a:spcPts val="0"/>
              </a:spcAft>
              <a:buClr>
                <a:schemeClr val="dk1"/>
              </a:buClr>
              <a:buSzPct val="100000"/>
              <a:buFont typeface="Calibri"/>
              <a:buAutoNum type="arabicPeriod"/>
            </a:pPr>
            <a:r>
              <a:rPr lang="en-US"/>
              <a:t>évaluer l'état de performance et les comorbidités</a:t>
            </a:r>
            <a:endParaRPr/>
          </a:p>
          <a:p>
            <a:pPr indent="-514350" lvl="0" marL="514350" rtl="0" algn="l">
              <a:lnSpc>
                <a:spcPct val="90000"/>
              </a:lnSpc>
              <a:spcBef>
                <a:spcPts val="1000"/>
              </a:spcBef>
              <a:spcAft>
                <a:spcPts val="0"/>
              </a:spcAft>
              <a:buClr>
                <a:schemeClr val="dk1"/>
              </a:buClr>
              <a:buSzPct val="100000"/>
              <a:buFont typeface="Calibri"/>
              <a:buAutoNum type="arabicPeriod"/>
            </a:pPr>
            <a:r>
              <a:rPr lang="en-US"/>
              <a:t>classification dans un groupe de prognostic</a:t>
            </a:r>
            <a:endParaRPr/>
          </a:p>
          <a:p>
            <a:pPr indent="0" lvl="0" marL="0" rtl="0" algn="l">
              <a:lnSpc>
                <a:spcPct val="90000"/>
              </a:lnSpc>
              <a:spcBef>
                <a:spcPts val="1000"/>
              </a:spcBef>
              <a:spcAft>
                <a:spcPts val="0"/>
              </a:spcAft>
              <a:buClr>
                <a:schemeClr val="dk1"/>
              </a:buClr>
              <a:buSzPct val="100000"/>
              <a:buNone/>
            </a:pPr>
            <a:r>
              <a:rPr lang="en-US"/>
              <a:t>Puis</a:t>
            </a:r>
            <a:endParaRPr/>
          </a:p>
          <a:p>
            <a:pPr indent="-514350" lvl="0" marL="514350" rtl="0" algn="l">
              <a:lnSpc>
                <a:spcPct val="90000"/>
              </a:lnSpc>
              <a:spcBef>
                <a:spcPts val="1000"/>
              </a:spcBef>
              <a:spcAft>
                <a:spcPts val="0"/>
              </a:spcAft>
              <a:buClr>
                <a:schemeClr val="dk1"/>
              </a:buClr>
              <a:buSzPct val="100000"/>
              <a:buFont typeface="Calibri"/>
              <a:buAutoNum type="arabicPeriod"/>
            </a:pPr>
            <a:r>
              <a:rPr lang="en-US"/>
              <a:t>décision thérapeutique</a:t>
            </a:r>
            <a:endParaRPr/>
          </a:p>
          <a:p>
            <a:pPr indent="-514350" lvl="0" marL="514350" rtl="0" algn="l">
              <a:lnSpc>
                <a:spcPct val="90000"/>
              </a:lnSpc>
              <a:spcBef>
                <a:spcPts val="1000"/>
              </a:spcBef>
              <a:spcAft>
                <a:spcPts val="0"/>
              </a:spcAft>
              <a:buClr>
                <a:schemeClr val="dk1"/>
              </a:buClr>
              <a:buSzPct val="100000"/>
              <a:buFont typeface="Calibri"/>
              <a:buAutoNum type="arabicPeriod"/>
            </a:pPr>
            <a:r>
              <a:rPr lang="en-US"/>
              <a:t>l'établissement de principes de surveillance, le suivi post-thérapeutique (bilans de santé réguliers)</a:t>
            </a:r>
            <a:endParaRPr/>
          </a:p>
          <a:p>
            <a:pPr indent="0" lvl="0" marL="0" rtl="0" algn="l">
              <a:lnSpc>
                <a:spcPct val="90000"/>
              </a:lnSpc>
              <a:spcBef>
                <a:spcPts val="1000"/>
              </a:spcBef>
              <a:spcAft>
                <a:spcPts val="0"/>
              </a:spcAft>
              <a:buClr>
                <a:schemeClr val="dk1"/>
              </a:buClr>
              <a:buSzPct val="100000"/>
              <a:buNone/>
            </a:pPr>
            <a:r>
              <a:t/>
            </a:r>
            <a:endParaRPr/>
          </a:p>
        </p:txBody>
      </p:sp>
      <p:sp>
        <p:nvSpPr>
          <p:cNvPr id="181" name="Google Shape;181;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82" name="Google Shape;182;p13"/>
          <p:cNvPicPr preferRelativeResize="0"/>
          <p:nvPr/>
        </p:nvPicPr>
        <p:blipFill rotWithShape="1">
          <a:blip r:embed="rId3">
            <a:alphaModFix/>
          </a:blip>
          <a:srcRect b="0" l="0" r="0" t="0"/>
          <a:stretch/>
        </p:blipFill>
        <p:spPr>
          <a:xfrm>
            <a:off x="8445500" y="2857500"/>
            <a:ext cx="3073400" cy="1143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6" name="Shape 186"/>
        <p:cNvGrpSpPr/>
        <p:nvPr/>
      </p:nvGrpSpPr>
      <p:grpSpPr>
        <a:xfrm>
          <a:off x="0" y="0"/>
          <a:ext cx="0" cy="0"/>
          <a:chOff x="0" y="0"/>
          <a:chExt cx="0" cy="0"/>
        </a:xfrm>
      </p:grpSpPr>
      <p:sp>
        <p:nvSpPr>
          <p:cNvPr id="187" name="Google Shape;187;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Diagnostic clinique</a:t>
            </a:r>
            <a:endParaRPr/>
          </a:p>
        </p:txBody>
      </p:sp>
      <p:sp>
        <p:nvSpPr>
          <p:cNvPr id="188" name="Google Shape;188;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 identification des </a:t>
            </a:r>
            <a:r>
              <a:rPr b="1" lang="en-US"/>
              <a:t>signes</a:t>
            </a:r>
            <a:r>
              <a:rPr lang="en-US"/>
              <a:t> et des </a:t>
            </a:r>
            <a:r>
              <a:rPr b="1" lang="en-US"/>
              <a:t>symptômes</a:t>
            </a:r>
            <a:endParaRPr b="1"/>
          </a:p>
          <a:p>
            <a:pPr indent="-228600" lvl="0" marL="228600" rtl="0" algn="l">
              <a:lnSpc>
                <a:spcPct val="90000"/>
              </a:lnSpc>
              <a:spcBef>
                <a:spcPts val="1000"/>
              </a:spcBef>
              <a:spcAft>
                <a:spcPts val="0"/>
              </a:spcAft>
              <a:buClr>
                <a:schemeClr val="dk1"/>
              </a:buClr>
              <a:buSzPts val="2800"/>
              <a:buChar char="•"/>
            </a:pPr>
            <a:r>
              <a:rPr lang="en-US"/>
              <a:t>Il n'existe pas de signes ou de symptômes pathognomoniques ou particuliers d'une néoplasie donnée.</a:t>
            </a:r>
            <a:endParaRPr/>
          </a:p>
          <a:p>
            <a:pPr indent="-228600" lvl="0" marL="228600" rtl="0" algn="l">
              <a:lnSpc>
                <a:spcPct val="90000"/>
              </a:lnSpc>
              <a:spcBef>
                <a:spcPts val="1000"/>
              </a:spcBef>
              <a:spcAft>
                <a:spcPts val="0"/>
              </a:spcAft>
              <a:buClr>
                <a:schemeClr val="dk1"/>
              </a:buClr>
              <a:buSzPts val="2800"/>
              <a:buChar char="•"/>
            </a:pPr>
            <a:r>
              <a:rPr lang="en-US"/>
              <a:t>Les symptômes sont des éléments diagnostiques </a:t>
            </a:r>
            <a:r>
              <a:rPr b="1" lang="en-US"/>
              <a:t>subjectifs</a:t>
            </a:r>
            <a:r>
              <a:rPr lang="en-US"/>
              <a:t> observés par le patient. Une anamnèse approfondie est essentielle !</a:t>
            </a:r>
            <a:endParaRPr/>
          </a:p>
          <a:p>
            <a:pPr indent="-228600" lvl="0" marL="228600" rtl="0" algn="l">
              <a:lnSpc>
                <a:spcPct val="90000"/>
              </a:lnSpc>
              <a:spcBef>
                <a:spcPts val="1000"/>
              </a:spcBef>
              <a:spcAft>
                <a:spcPts val="0"/>
              </a:spcAft>
              <a:buClr>
                <a:schemeClr val="dk1"/>
              </a:buClr>
              <a:buSzPts val="2800"/>
              <a:buChar char="•"/>
            </a:pPr>
            <a:r>
              <a:rPr lang="en-US"/>
              <a:t>Les signes cliniques sont des résultats médicaux </a:t>
            </a:r>
            <a:r>
              <a:rPr b="1" lang="en-US"/>
              <a:t>objectifs</a:t>
            </a:r>
            <a:r>
              <a:rPr lang="en-US"/>
              <a:t> qui peuvent être observés, mesurés ou démontrés. Un examen clinique rigoureux est nécessaire, qui peut révéler la présence d'une formation tumorale, d'une adénopathie ou d'une métastase.</a:t>
            </a:r>
            <a:endParaRPr/>
          </a:p>
        </p:txBody>
      </p:sp>
      <p:sp>
        <p:nvSpPr>
          <p:cNvPr id="189" name="Google Shape;189;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3" name="Shape 193"/>
        <p:cNvGrpSpPr/>
        <p:nvPr/>
      </p:nvGrpSpPr>
      <p:grpSpPr>
        <a:xfrm>
          <a:off x="0" y="0"/>
          <a:ext cx="0" cy="0"/>
          <a:chOff x="0" y="0"/>
          <a:chExt cx="0" cy="0"/>
        </a:xfrm>
      </p:grpSpPr>
      <p:sp>
        <p:nvSpPr>
          <p:cNvPr id="194" name="Google Shape;194;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Anamnèse - Histoire de la maladie</a:t>
            </a:r>
            <a:endParaRPr/>
          </a:p>
        </p:txBody>
      </p:sp>
      <p:sp>
        <p:nvSpPr>
          <p:cNvPr id="195" name="Google Shape;195;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La durée, la progression et la gravité des symptômes suggèrent le comportement biologique d'une tumeur.</a:t>
            </a:r>
            <a:endParaRPr/>
          </a:p>
          <a:p>
            <a:pPr indent="-228600" lvl="0" marL="228600" rtl="0" algn="l">
              <a:lnSpc>
                <a:spcPct val="90000"/>
              </a:lnSpc>
              <a:spcBef>
                <a:spcPts val="1000"/>
              </a:spcBef>
              <a:spcAft>
                <a:spcPts val="0"/>
              </a:spcAft>
              <a:buClr>
                <a:schemeClr val="dk1"/>
              </a:buClr>
              <a:buSzPts val="2800"/>
              <a:buChar char="•"/>
            </a:pPr>
            <a:r>
              <a:rPr lang="en-US"/>
              <a:t>Le patient peut indiquer qu'une tumeur spécifique est demeurée </a:t>
            </a:r>
            <a:r>
              <a:rPr b="1" lang="en-US"/>
              <a:t>stable</a:t>
            </a:r>
            <a:r>
              <a:rPr lang="en-US"/>
              <a:t> pendant de nombreuses années ou même des décennies, ce qui suggère une plus forte probabilité qu'elle soit bénigne.</a:t>
            </a:r>
            <a:endParaRPr/>
          </a:p>
          <a:p>
            <a:pPr indent="-228600" lvl="0" marL="228600" rtl="0" algn="l">
              <a:lnSpc>
                <a:spcPct val="90000"/>
              </a:lnSpc>
              <a:spcBef>
                <a:spcPts val="1000"/>
              </a:spcBef>
              <a:spcAft>
                <a:spcPts val="0"/>
              </a:spcAft>
              <a:buClr>
                <a:schemeClr val="dk1"/>
              </a:buClr>
              <a:buSzPts val="2800"/>
              <a:buChar char="•"/>
            </a:pPr>
            <a:r>
              <a:rPr lang="en-US"/>
              <a:t>En revanche, une toux de caractère altéré, une dysphagie rapidement </a:t>
            </a:r>
            <a:r>
              <a:rPr b="1" lang="en-US"/>
              <a:t>progressive</a:t>
            </a:r>
            <a:r>
              <a:rPr lang="en-US"/>
              <a:t> ou une faiblesse importante et non provoquée au cours des derniers mois suggèrent un cancer.</a:t>
            </a:r>
            <a:endParaRPr/>
          </a:p>
        </p:txBody>
      </p:sp>
      <p:sp>
        <p:nvSpPr>
          <p:cNvPr id="196" name="Google Shape;196;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0" name="Shape 200"/>
        <p:cNvGrpSpPr/>
        <p:nvPr/>
      </p:nvGrpSpPr>
      <p:grpSpPr>
        <a:xfrm>
          <a:off x="0" y="0"/>
          <a:ext cx="0" cy="0"/>
          <a:chOff x="0" y="0"/>
          <a:chExt cx="0" cy="0"/>
        </a:xfrm>
      </p:grpSpPr>
      <p:sp>
        <p:nvSpPr>
          <p:cNvPr id="201" name="Google Shape;201;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Anamnèse - Histoire personnelle</a:t>
            </a:r>
            <a:endParaRPr/>
          </a:p>
        </p:txBody>
      </p:sp>
      <p:sp>
        <p:nvSpPr>
          <p:cNvPr id="202" name="Google Shape;202;p16"/>
          <p:cNvSpPr txBox="1"/>
          <p:nvPr>
            <p:ph idx="1" type="body"/>
          </p:nvPr>
        </p:nvSpPr>
        <p:spPr>
          <a:xfrm>
            <a:off x="838200" y="1825625"/>
            <a:ext cx="52578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en-US"/>
              <a:t>Traitement anterieur</a:t>
            </a:r>
            <a:endParaRPr b="1"/>
          </a:p>
          <a:p>
            <a:pPr indent="-228600" lvl="0" marL="228600" rtl="0" algn="l">
              <a:lnSpc>
                <a:spcPct val="90000"/>
              </a:lnSpc>
              <a:spcBef>
                <a:spcPts val="1000"/>
              </a:spcBef>
              <a:spcAft>
                <a:spcPts val="0"/>
              </a:spcAft>
              <a:buClr>
                <a:schemeClr val="dk1"/>
              </a:buClr>
              <a:buSzPts val="2800"/>
              <a:buChar char="•"/>
            </a:pPr>
            <a:r>
              <a:rPr lang="en-US"/>
              <a:t>cancer traité par chimio/radio -&gt;</a:t>
            </a:r>
            <a:endParaRPr/>
          </a:p>
          <a:p>
            <a:pPr indent="-50800" lvl="0" marL="22860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b="1" lang="en-US"/>
              <a:t>Lésion précancéreuse</a:t>
            </a:r>
            <a:endParaRPr b="1"/>
          </a:p>
          <a:p>
            <a:pPr indent="-228600" lvl="0" marL="228600" rtl="0" algn="l">
              <a:lnSpc>
                <a:spcPct val="90000"/>
              </a:lnSpc>
              <a:spcBef>
                <a:spcPts val="1000"/>
              </a:spcBef>
              <a:spcAft>
                <a:spcPts val="0"/>
              </a:spcAft>
              <a:buClr>
                <a:schemeClr val="dk1"/>
              </a:buClr>
              <a:buSzPts val="2800"/>
              <a:buChar char="•"/>
            </a:pPr>
            <a:r>
              <a:rPr lang="en-US"/>
              <a:t>polype/ maladie inflammatoire de l'intestin -&gt; </a:t>
            </a:r>
            <a:endParaRPr/>
          </a:p>
          <a:p>
            <a:pPr indent="-228600" lvl="0" marL="228600" rtl="0" algn="l">
              <a:lnSpc>
                <a:spcPct val="90000"/>
              </a:lnSpc>
              <a:spcBef>
                <a:spcPts val="1000"/>
              </a:spcBef>
              <a:spcAft>
                <a:spcPts val="0"/>
              </a:spcAft>
              <a:buClr>
                <a:schemeClr val="dk1"/>
              </a:buClr>
              <a:buSzPts val="2800"/>
              <a:buChar char="•"/>
            </a:pPr>
            <a:r>
              <a:rPr lang="en-US"/>
              <a:t>hépatite virale chronique/ cirrhose hépatique -&gt;</a:t>
            </a:r>
            <a:endParaRPr/>
          </a:p>
        </p:txBody>
      </p:sp>
      <p:sp>
        <p:nvSpPr>
          <p:cNvPr id="203" name="Google Shape;203;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04" name="Google Shape;204;p16"/>
          <p:cNvSpPr txBox="1"/>
          <p:nvPr/>
        </p:nvSpPr>
        <p:spPr>
          <a:xfrm>
            <a:off x="6579219" y="2340942"/>
            <a:ext cx="4949283" cy="4351338"/>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2800"/>
              <a:buFont typeface="Arial"/>
              <a:buNone/>
            </a:pPr>
            <a:r>
              <a:rPr b="0" i="0" lang="en-US" sz="2800" u="none" cap="none" strike="noStrike">
                <a:solidFill>
                  <a:schemeClr val="dk1"/>
                </a:solidFill>
                <a:latin typeface="Calibri"/>
                <a:ea typeface="Calibri"/>
                <a:cs typeface="Calibri"/>
                <a:sym typeface="Calibri"/>
              </a:rPr>
              <a:t> récidive, deuxième néoplasie</a:t>
            </a:r>
            <a:endParaRPr b="0" i="0" sz="2800" u="none" cap="none" strike="noStrike">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chemeClr val="dk1"/>
              </a:buClr>
              <a:buSzPts val="2800"/>
              <a:buFont typeface="Arial"/>
              <a:buNone/>
            </a:pPr>
            <a:r>
              <a:rPr b="0" i="0" lang="en-US" sz="2800" u="none" cap="none" strike="noStrike">
                <a:solidFill>
                  <a:schemeClr val="dk1"/>
                </a:solidFill>
                <a:latin typeface="Calibri"/>
                <a:ea typeface="Calibri"/>
                <a:cs typeface="Calibri"/>
                <a:sym typeface="Calibri"/>
              </a:rPr>
              <a:t> suspicion de </a:t>
            </a:r>
            <a:r>
              <a:rPr b="1" i="0" lang="en-US" sz="2800" u="none" cap="none" strike="noStrike">
                <a:solidFill>
                  <a:schemeClr val="dk1"/>
                </a:solidFill>
                <a:latin typeface="Calibri"/>
                <a:ea typeface="Calibri"/>
                <a:cs typeface="Calibri"/>
                <a:sym typeface="Calibri"/>
              </a:rPr>
              <a:t>néoplasme colorectal</a:t>
            </a:r>
            <a:endParaRPr/>
          </a:p>
          <a:p>
            <a:pPr indent="0" lvl="0" marL="0" marR="0" rtl="0" algn="l">
              <a:lnSpc>
                <a:spcPct val="90000"/>
              </a:lnSpc>
              <a:spcBef>
                <a:spcPts val="1000"/>
              </a:spcBef>
              <a:spcAft>
                <a:spcPts val="0"/>
              </a:spcAft>
              <a:buClr>
                <a:schemeClr val="dk1"/>
              </a:buClr>
              <a:buSzPts val="2800"/>
              <a:buFont typeface="Arial"/>
              <a:buNone/>
            </a:pPr>
            <a:r>
              <a:rPr b="0" i="0" lang="en-US" sz="2800" u="none" cap="none" strike="noStrike">
                <a:solidFill>
                  <a:schemeClr val="dk1"/>
                </a:solidFill>
                <a:latin typeface="Calibri"/>
                <a:ea typeface="Calibri"/>
                <a:cs typeface="Calibri"/>
                <a:sym typeface="Calibri"/>
              </a:rPr>
              <a:t> suspicion de </a:t>
            </a:r>
            <a:r>
              <a:rPr b="1" i="0" lang="en-US" sz="2800" u="none" cap="none" strike="noStrike">
                <a:solidFill>
                  <a:schemeClr val="dk1"/>
                </a:solidFill>
                <a:latin typeface="Calibri"/>
                <a:ea typeface="Calibri"/>
                <a:cs typeface="Calibri"/>
                <a:sym typeface="Calibri"/>
              </a:rPr>
              <a:t>hépatocarcinome</a:t>
            </a:r>
            <a:endParaRPr b="1" i="0" sz="28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4">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8" name="Shape 208"/>
        <p:cNvGrpSpPr/>
        <p:nvPr/>
      </p:nvGrpSpPr>
      <p:grpSpPr>
        <a:xfrm>
          <a:off x="0" y="0"/>
          <a:ext cx="0" cy="0"/>
          <a:chOff x="0" y="0"/>
          <a:chExt cx="0" cy="0"/>
        </a:xfrm>
      </p:grpSpPr>
      <p:sp>
        <p:nvSpPr>
          <p:cNvPr id="209" name="Google Shape;209;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i="1" lang="en-US"/>
              <a:t>Anamnèse -</a:t>
            </a:r>
            <a:r>
              <a:rPr lang="en-US"/>
              <a:t> antécédents </a:t>
            </a:r>
            <a:r>
              <a:rPr b="0" i="0" lang="en-US">
                <a:solidFill>
                  <a:srgbClr val="474747"/>
                </a:solidFill>
                <a:latin typeface="Arial"/>
                <a:ea typeface="Arial"/>
                <a:cs typeface="Arial"/>
                <a:sym typeface="Arial"/>
              </a:rPr>
              <a:t>familiaux</a:t>
            </a:r>
            <a:endParaRPr b="1" i="1"/>
          </a:p>
        </p:txBody>
      </p:sp>
      <p:sp>
        <p:nvSpPr>
          <p:cNvPr id="210" name="Google Shape;210;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Calibri"/>
              <a:buChar char="-"/>
            </a:pPr>
            <a:r>
              <a:rPr lang="en-US"/>
              <a:t>le regroupement familial de cas malins peut suggérer un diagnostic présomptif</a:t>
            </a:r>
            <a:endParaRPr/>
          </a:p>
          <a:p>
            <a:pPr indent="-228600" lvl="0" marL="228600" rtl="0" algn="l">
              <a:lnSpc>
                <a:spcPct val="90000"/>
              </a:lnSpc>
              <a:spcBef>
                <a:spcPts val="1000"/>
              </a:spcBef>
              <a:spcAft>
                <a:spcPts val="0"/>
              </a:spcAft>
              <a:buClr>
                <a:schemeClr val="dk1"/>
              </a:buClr>
              <a:buSzPts val="2800"/>
              <a:buFont typeface="Calibri"/>
              <a:buChar char="-"/>
            </a:pPr>
            <a:r>
              <a:rPr lang="en-US"/>
              <a:t>5 à 10 % des cancers sont d'origine génétique</a:t>
            </a:r>
            <a:endParaRPr/>
          </a:p>
          <a:p>
            <a:pPr indent="0" lvl="0" marL="0" rtl="0" algn="l">
              <a:lnSpc>
                <a:spcPct val="90000"/>
              </a:lnSpc>
              <a:spcBef>
                <a:spcPts val="1000"/>
              </a:spcBef>
              <a:spcAft>
                <a:spcPts val="0"/>
              </a:spcAft>
              <a:buClr>
                <a:schemeClr val="dk1"/>
              </a:buClr>
              <a:buSzPts val="2800"/>
              <a:buNone/>
            </a:pPr>
            <a:r>
              <a:rPr lang="en-US"/>
              <a:t>- L'existence de plusieurs cas de cancer du sein, de l'ovaire ou colorectal chez des parents du premier ou du deuxième degré peut faire suspecter l'existence d'un syndrome génétique, surtout si la personne est jeune ; dans ce cas, un conseil génétique est recommandé.</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p:txBody>
      </p:sp>
      <p:sp>
        <p:nvSpPr>
          <p:cNvPr id="211" name="Google Shape;211;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5" name="Shape 215"/>
        <p:cNvGrpSpPr/>
        <p:nvPr/>
      </p:nvGrpSpPr>
      <p:grpSpPr>
        <a:xfrm>
          <a:off x="0" y="0"/>
          <a:ext cx="0" cy="0"/>
          <a:chOff x="0" y="0"/>
          <a:chExt cx="0" cy="0"/>
        </a:xfrm>
      </p:grpSpPr>
      <p:sp>
        <p:nvSpPr>
          <p:cNvPr id="216" name="Google Shape;216;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i="1" lang="en-US"/>
              <a:t>Anamnèse-Conditions</a:t>
            </a:r>
            <a:r>
              <a:rPr lang="en-US"/>
              <a:t> de </a:t>
            </a:r>
            <a:r>
              <a:rPr b="1" i="1" lang="en-US"/>
              <a:t>vie et de travail (facteurs de risque - FdR)</a:t>
            </a:r>
            <a:endParaRPr b="1" i="1"/>
          </a:p>
        </p:txBody>
      </p:sp>
      <p:sp>
        <p:nvSpPr>
          <p:cNvPr id="217" name="Google Shape;217;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34950" lvl="0" marL="228600" rtl="0" algn="l">
              <a:lnSpc>
                <a:spcPct val="90000"/>
              </a:lnSpc>
              <a:spcBef>
                <a:spcPts val="0"/>
              </a:spcBef>
              <a:spcAft>
                <a:spcPts val="0"/>
              </a:spcAft>
              <a:buClr>
                <a:schemeClr val="dk1"/>
              </a:buClr>
              <a:buSzPts val="3700"/>
              <a:buFont typeface="Calibri"/>
              <a:buChar char="-"/>
            </a:pPr>
            <a:r>
              <a:rPr lang="en-US" sz="3700"/>
              <a:t>fumer</a:t>
            </a:r>
            <a:endParaRPr sz="3700"/>
          </a:p>
          <a:p>
            <a:pPr indent="-234950" lvl="0" marL="228600" rtl="0" algn="l">
              <a:lnSpc>
                <a:spcPct val="90000"/>
              </a:lnSpc>
              <a:spcBef>
                <a:spcPts val="1000"/>
              </a:spcBef>
              <a:spcAft>
                <a:spcPts val="0"/>
              </a:spcAft>
              <a:buClr>
                <a:schemeClr val="dk1"/>
              </a:buClr>
              <a:buSzPts val="3700"/>
              <a:buFont typeface="Calibri"/>
              <a:buChar char="-"/>
            </a:pPr>
            <a:r>
              <a:rPr lang="en-US" sz="3700"/>
              <a:t>la consommation d'alcool</a:t>
            </a:r>
            <a:endParaRPr sz="3700"/>
          </a:p>
          <a:p>
            <a:pPr indent="-234950" lvl="0" marL="228600" rtl="0" algn="l">
              <a:lnSpc>
                <a:spcPct val="90000"/>
              </a:lnSpc>
              <a:spcBef>
                <a:spcPts val="1000"/>
              </a:spcBef>
              <a:spcAft>
                <a:spcPts val="0"/>
              </a:spcAft>
              <a:buClr>
                <a:schemeClr val="dk1"/>
              </a:buClr>
              <a:buSzPts val="3700"/>
              <a:buFont typeface="Calibri"/>
              <a:buChar char="-"/>
            </a:pPr>
            <a:r>
              <a:rPr lang="en-US" sz="3700"/>
              <a:t>l'utilisation de contraceptifs</a:t>
            </a:r>
            <a:endParaRPr sz="3700"/>
          </a:p>
          <a:p>
            <a:pPr indent="-234950" lvl="0" marL="228600" rtl="0" algn="l">
              <a:lnSpc>
                <a:spcPct val="90000"/>
              </a:lnSpc>
              <a:spcBef>
                <a:spcPts val="1000"/>
              </a:spcBef>
              <a:spcAft>
                <a:spcPts val="0"/>
              </a:spcAft>
              <a:buClr>
                <a:schemeClr val="dk1"/>
              </a:buClr>
              <a:buSzPts val="3700"/>
              <a:buFont typeface="Calibri"/>
              <a:buChar char="-"/>
            </a:pPr>
            <a:r>
              <a:rPr lang="en-US" sz="3700"/>
              <a:t>cancérogènes professionnels</a:t>
            </a:r>
            <a:endParaRPr sz="3700"/>
          </a:p>
          <a:p>
            <a:pPr indent="0" lvl="0" marL="0" rtl="0" algn="l">
              <a:lnSpc>
                <a:spcPct val="90000"/>
              </a:lnSpc>
              <a:spcBef>
                <a:spcPts val="1000"/>
              </a:spcBef>
              <a:spcAft>
                <a:spcPts val="0"/>
              </a:spcAft>
              <a:buClr>
                <a:schemeClr val="dk1"/>
              </a:buClr>
              <a:buSzPts val="2800"/>
              <a:buNone/>
            </a:pPr>
            <a:r>
              <a:t/>
            </a:r>
            <a:endParaRPr/>
          </a:p>
        </p:txBody>
      </p:sp>
      <p:sp>
        <p:nvSpPr>
          <p:cNvPr id="218" name="Google Shape;218;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2" name="Shape 222"/>
        <p:cNvGrpSpPr/>
        <p:nvPr/>
      </p:nvGrpSpPr>
      <p:grpSpPr>
        <a:xfrm>
          <a:off x="0" y="0"/>
          <a:ext cx="0" cy="0"/>
          <a:chOff x="0" y="0"/>
          <a:chExt cx="0" cy="0"/>
        </a:xfrm>
      </p:grpSpPr>
      <p:sp>
        <p:nvSpPr>
          <p:cNvPr id="223" name="Google Shape;223;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5700"/>
              <a:buFont typeface="Calibri"/>
              <a:buNone/>
            </a:pPr>
            <a:r>
              <a:rPr lang="en-US" sz="5700"/>
              <a:t>Signes et symptômes</a:t>
            </a:r>
            <a:endParaRPr sz="5700"/>
          </a:p>
        </p:txBody>
      </p:sp>
      <p:sp>
        <p:nvSpPr>
          <p:cNvPr id="224" name="Google Shape;224;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349250" lvl="0" marL="228600" rtl="0" algn="l">
              <a:lnSpc>
                <a:spcPct val="90000"/>
              </a:lnSpc>
              <a:spcBef>
                <a:spcPts val="0"/>
              </a:spcBef>
              <a:spcAft>
                <a:spcPts val="0"/>
              </a:spcAft>
              <a:buClr>
                <a:schemeClr val="dk1"/>
              </a:buClr>
              <a:buSzPts val="5500"/>
              <a:buChar char="•"/>
            </a:pPr>
            <a:r>
              <a:rPr lang="en-US" sz="5500"/>
              <a:t>Signes généraux d'appel</a:t>
            </a:r>
            <a:endParaRPr sz="5500"/>
          </a:p>
          <a:p>
            <a:pPr indent="-349250" lvl="0" marL="228600" rtl="0" algn="l">
              <a:lnSpc>
                <a:spcPct val="90000"/>
              </a:lnSpc>
              <a:spcBef>
                <a:spcPts val="1000"/>
              </a:spcBef>
              <a:spcAft>
                <a:spcPts val="0"/>
              </a:spcAft>
              <a:buClr>
                <a:schemeClr val="dk1"/>
              </a:buClr>
              <a:buSzPts val="5500"/>
              <a:buChar char="•"/>
            </a:pPr>
            <a:r>
              <a:rPr lang="en-US" sz="5500"/>
              <a:t>Signes d’appel direct</a:t>
            </a:r>
            <a:endParaRPr/>
          </a:p>
          <a:p>
            <a:pPr indent="-349250" lvl="0" marL="228600" rtl="0" algn="l">
              <a:lnSpc>
                <a:spcPct val="90000"/>
              </a:lnSpc>
              <a:spcBef>
                <a:spcPts val="1000"/>
              </a:spcBef>
              <a:spcAft>
                <a:spcPts val="0"/>
              </a:spcAft>
              <a:buClr>
                <a:schemeClr val="dk1"/>
              </a:buClr>
              <a:buSzPts val="5500"/>
              <a:buChar char="•"/>
            </a:pPr>
            <a:r>
              <a:rPr lang="en-US" sz="5500"/>
              <a:t>Signes d’appel indirect</a:t>
            </a:r>
            <a:endParaRPr/>
          </a:p>
          <a:p>
            <a:pPr indent="0" lvl="0" marL="228600" rtl="0" algn="l">
              <a:lnSpc>
                <a:spcPct val="90000"/>
              </a:lnSpc>
              <a:spcBef>
                <a:spcPts val="1000"/>
              </a:spcBef>
              <a:spcAft>
                <a:spcPts val="0"/>
              </a:spcAft>
              <a:buClr>
                <a:schemeClr val="dk1"/>
              </a:buClr>
              <a:buSzPts val="5500"/>
              <a:buNone/>
            </a:pPr>
            <a:r>
              <a:t/>
            </a:r>
            <a:endParaRPr sz="5500"/>
          </a:p>
        </p:txBody>
      </p:sp>
      <p:sp>
        <p:nvSpPr>
          <p:cNvPr id="225" name="Google Shape;225;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9" name="Shape 229"/>
        <p:cNvGrpSpPr/>
        <p:nvPr/>
      </p:nvGrpSpPr>
      <p:grpSpPr>
        <a:xfrm>
          <a:off x="0" y="0"/>
          <a:ext cx="0" cy="0"/>
          <a:chOff x="0" y="0"/>
          <a:chExt cx="0" cy="0"/>
        </a:xfrm>
      </p:grpSpPr>
      <p:sp>
        <p:nvSpPr>
          <p:cNvPr id="230" name="Google Shape;230;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Signes et symptômes généraux (systémiques)</a:t>
            </a:r>
            <a:endParaRPr b="1"/>
          </a:p>
        </p:txBody>
      </p:sp>
      <p:sp>
        <p:nvSpPr>
          <p:cNvPr id="231" name="Google Shape;231;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Calibri"/>
              <a:buChar char="-"/>
            </a:pPr>
            <a:r>
              <a:rPr lang="en-US"/>
              <a:t>asthénie</a:t>
            </a:r>
            <a:endParaRPr/>
          </a:p>
          <a:p>
            <a:pPr indent="-228600" lvl="0" marL="228600" rtl="0" algn="l">
              <a:lnSpc>
                <a:spcPct val="90000"/>
              </a:lnSpc>
              <a:spcBef>
                <a:spcPts val="1000"/>
              </a:spcBef>
              <a:spcAft>
                <a:spcPts val="0"/>
              </a:spcAft>
              <a:buClr>
                <a:schemeClr val="dk1"/>
              </a:buClr>
              <a:buSzPts val="2800"/>
              <a:buFont typeface="Calibri"/>
              <a:buChar char="-"/>
            </a:pPr>
            <a:r>
              <a:rPr lang="en-US"/>
              <a:t>fatigabilité</a:t>
            </a:r>
            <a:endParaRPr/>
          </a:p>
          <a:p>
            <a:pPr indent="0" lvl="0" marL="0" rtl="0" algn="l">
              <a:lnSpc>
                <a:spcPct val="90000"/>
              </a:lnSpc>
              <a:spcBef>
                <a:spcPts val="1000"/>
              </a:spcBef>
              <a:spcAft>
                <a:spcPts val="0"/>
              </a:spcAft>
              <a:buClr>
                <a:schemeClr val="dk1"/>
              </a:buClr>
              <a:buSzPts val="2800"/>
              <a:buNone/>
            </a:pPr>
            <a:r>
              <a:rPr lang="en-US"/>
              <a:t>- anorexie</a:t>
            </a:r>
            <a:endParaRPr/>
          </a:p>
          <a:p>
            <a:pPr indent="0" lvl="0" marL="0" rtl="0" algn="l">
              <a:lnSpc>
                <a:spcPct val="90000"/>
              </a:lnSpc>
              <a:spcBef>
                <a:spcPts val="1000"/>
              </a:spcBef>
              <a:spcAft>
                <a:spcPts val="0"/>
              </a:spcAft>
              <a:buClr>
                <a:schemeClr val="dk1"/>
              </a:buClr>
              <a:buSzPts val="2800"/>
              <a:buNone/>
            </a:pPr>
            <a:r>
              <a:rPr lang="en-US"/>
              <a:t>- perte de poids involontaire</a:t>
            </a:r>
            <a:endParaRPr/>
          </a:p>
          <a:p>
            <a:pPr indent="0" lvl="0" marL="0" rtl="0" algn="l">
              <a:lnSpc>
                <a:spcPct val="90000"/>
              </a:lnSpc>
              <a:spcBef>
                <a:spcPts val="1000"/>
              </a:spcBef>
              <a:spcAft>
                <a:spcPts val="0"/>
              </a:spcAft>
              <a:buClr>
                <a:schemeClr val="dk1"/>
              </a:buClr>
              <a:buSzPts val="2800"/>
              <a:buNone/>
            </a:pPr>
            <a:r>
              <a:rPr lang="en-US"/>
              <a:t>- fièvre/sous-fièvre prolongée</a:t>
            </a:r>
            <a:endParaRPr/>
          </a:p>
          <a:p>
            <a:pPr indent="0" lvl="0" marL="0" rtl="0" algn="l">
              <a:lnSpc>
                <a:spcPct val="90000"/>
              </a:lnSpc>
              <a:spcBef>
                <a:spcPts val="1000"/>
              </a:spcBef>
              <a:spcAft>
                <a:spcPts val="0"/>
              </a:spcAft>
              <a:buClr>
                <a:schemeClr val="dk1"/>
              </a:buClr>
              <a:buSzPts val="2800"/>
              <a:buNone/>
            </a:pPr>
            <a:r>
              <a:rPr lang="en-US"/>
              <a:t>- transpiration abondante</a:t>
            </a:r>
            <a:endParaRPr/>
          </a:p>
          <a:p>
            <a:pPr indent="0" lvl="0" marL="0" rtl="0" algn="l">
              <a:lnSpc>
                <a:spcPct val="90000"/>
              </a:lnSpc>
              <a:spcBef>
                <a:spcPts val="1000"/>
              </a:spcBef>
              <a:spcAft>
                <a:spcPts val="0"/>
              </a:spcAft>
              <a:buClr>
                <a:schemeClr val="dk1"/>
              </a:buClr>
              <a:buSzPts val="2800"/>
              <a:buNone/>
            </a:pPr>
            <a:r>
              <a:t/>
            </a:r>
            <a:endParaRPr/>
          </a:p>
        </p:txBody>
      </p:sp>
      <p:sp>
        <p:nvSpPr>
          <p:cNvPr id="232" name="Google Shape;232;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6" name="Shape 236"/>
        <p:cNvGrpSpPr/>
        <p:nvPr/>
      </p:nvGrpSpPr>
      <p:grpSpPr>
        <a:xfrm>
          <a:off x="0" y="0"/>
          <a:ext cx="0" cy="0"/>
          <a:chOff x="0" y="0"/>
          <a:chExt cx="0" cy="0"/>
        </a:xfrm>
      </p:grpSpPr>
      <p:sp>
        <p:nvSpPr>
          <p:cNvPr id="237" name="Google Shape;237;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Signes et symptômes généraux</a:t>
            </a:r>
            <a:endParaRPr/>
          </a:p>
        </p:txBody>
      </p:sp>
      <p:sp>
        <p:nvSpPr>
          <p:cNvPr id="238" name="Google Shape;238;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La </a:t>
            </a:r>
            <a:r>
              <a:rPr b="1" lang="en-US"/>
              <a:t>fièvre</a:t>
            </a:r>
            <a:r>
              <a:rPr lang="en-US"/>
              <a:t>, les sueurs nocturnes, la perte de poids et le prurit sont inclus dans la stadification des lymphomes malins (symptômes de type B).</a:t>
            </a:r>
            <a:endParaRPr/>
          </a:p>
          <a:p>
            <a:pPr indent="-228600" lvl="0" marL="228600" rtl="0" algn="l">
              <a:lnSpc>
                <a:spcPct val="90000"/>
              </a:lnSpc>
              <a:spcBef>
                <a:spcPts val="1000"/>
              </a:spcBef>
              <a:spcAft>
                <a:spcPts val="0"/>
              </a:spcAft>
              <a:buClr>
                <a:schemeClr val="dk1"/>
              </a:buClr>
              <a:buSzPts val="2800"/>
              <a:buChar char="•"/>
            </a:pPr>
            <a:r>
              <a:rPr lang="en-US"/>
              <a:t>La </a:t>
            </a:r>
            <a:r>
              <a:rPr b="1" lang="en-US"/>
              <a:t>perte de poids </a:t>
            </a:r>
            <a:r>
              <a:rPr lang="en-US"/>
              <a:t>concerne plus de la moitié des patients atteints de cancer. Bien qu'elle survienne tardivement dans l'évolution de la maladie, elle peut être la principale raison de la consultation médicale. Diverses cytokines et la consommation anaérobie de glucose sont impliquées dans sa physiopathologie. La perte involontaire de plus de 5 % du poids corporel en l'espace de 6 mois est également un indicateur pronostique du développement d'un cancer.</a:t>
            </a:r>
            <a:endParaRPr/>
          </a:p>
        </p:txBody>
      </p:sp>
      <p:sp>
        <p:nvSpPr>
          <p:cNvPr id="239" name="Google Shape;239;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3" name="Shape 243"/>
        <p:cNvGrpSpPr/>
        <p:nvPr/>
      </p:nvGrpSpPr>
      <p:grpSpPr>
        <a:xfrm>
          <a:off x="0" y="0"/>
          <a:ext cx="0" cy="0"/>
          <a:chOff x="0" y="0"/>
          <a:chExt cx="0" cy="0"/>
        </a:xfrm>
      </p:grpSpPr>
      <p:sp>
        <p:nvSpPr>
          <p:cNvPr id="244" name="Google Shape;244;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Signes et symptômes généraux </a:t>
            </a:r>
            <a:endParaRPr/>
          </a:p>
        </p:txBody>
      </p:sp>
      <p:sp>
        <p:nvSpPr>
          <p:cNvPr id="245" name="Google Shape;245;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L'asthénie</a:t>
            </a:r>
            <a:r>
              <a:rPr lang="en-US"/>
              <a:t> peut s'expliquer par une diminution de la masse musculaire, la sécrétion de cytokines pro-inflammatoires, la dépression, l'insomnie, l'anémie.</a:t>
            </a:r>
            <a:endParaRPr/>
          </a:p>
          <a:p>
            <a:pPr indent="-228600" lvl="0" marL="228600" rtl="0" algn="l">
              <a:lnSpc>
                <a:spcPct val="90000"/>
              </a:lnSpc>
              <a:spcBef>
                <a:spcPts val="1000"/>
              </a:spcBef>
              <a:spcAft>
                <a:spcPts val="0"/>
              </a:spcAft>
              <a:buClr>
                <a:schemeClr val="dk1"/>
              </a:buClr>
              <a:buSzPts val="2800"/>
              <a:buChar char="•"/>
            </a:pPr>
            <a:r>
              <a:rPr lang="en-US"/>
              <a:t>La </a:t>
            </a:r>
            <a:r>
              <a:rPr b="1" lang="en-US"/>
              <a:t>fièvre</a:t>
            </a:r>
            <a:r>
              <a:rPr lang="en-US"/>
              <a:t> est plus fréquente dans les hémopathies malignes. Elle est due à la libération de cytokines pyrogènes, à une surinfection ou à une nécrose tissulaire.</a:t>
            </a:r>
            <a:endParaRPr/>
          </a:p>
          <a:p>
            <a:pPr indent="-228600" lvl="0" marL="228600" rtl="0" algn="l">
              <a:lnSpc>
                <a:spcPct val="90000"/>
              </a:lnSpc>
              <a:spcBef>
                <a:spcPts val="1000"/>
              </a:spcBef>
              <a:spcAft>
                <a:spcPts val="0"/>
              </a:spcAft>
              <a:buClr>
                <a:schemeClr val="dk1"/>
              </a:buClr>
              <a:buSzPts val="2800"/>
              <a:buChar char="•"/>
            </a:pPr>
            <a:r>
              <a:rPr lang="en-US"/>
              <a:t>Certains signes et symptômes généraux peuvent être dus à un </a:t>
            </a:r>
            <a:r>
              <a:rPr b="1" lang="en-US"/>
              <a:t>syndrome paranéoplasique</a:t>
            </a:r>
            <a:r>
              <a:rPr lang="en-US"/>
              <a:t>.</a:t>
            </a:r>
            <a:endParaRPr/>
          </a:p>
        </p:txBody>
      </p:sp>
      <p:sp>
        <p:nvSpPr>
          <p:cNvPr id="246" name="Google Shape;246;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252" name="Google Shape;252;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
        <p:nvSpPr>
          <p:cNvPr id="253" name="Google Shape;253;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54" name="Google Shape;254;p23"/>
          <p:cNvPicPr preferRelativeResize="0"/>
          <p:nvPr/>
        </p:nvPicPr>
        <p:blipFill rotWithShape="1">
          <a:blip r:embed="rId3">
            <a:alphaModFix/>
          </a:blip>
          <a:srcRect b="0" l="0" r="0" t="0"/>
          <a:stretch/>
        </p:blipFill>
        <p:spPr>
          <a:xfrm>
            <a:off x="1370283" y="-100333"/>
            <a:ext cx="9451433" cy="705866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260" name="Google Shape;260;p2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
        <p:nvSpPr>
          <p:cNvPr id="261" name="Google Shape;261;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62" name="Google Shape;262;p24"/>
          <p:cNvPicPr preferRelativeResize="0"/>
          <p:nvPr/>
        </p:nvPicPr>
        <p:blipFill rotWithShape="1">
          <a:blip r:embed="rId3">
            <a:alphaModFix/>
          </a:blip>
          <a:srcRect b="0" l="0" r="0" t="0"/>
          <a:stretch/>
        </p:blipFill>
        <p:spPr>
          <a:xfrm>
            <a:off x="1484893" y="-29047"/>
            <a:ext cx="9222213" cy="6887047"/>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6" name="Shape 266"/>
        <p:cNvGrpSpPr/>
        <p:nvPr/>
      </p:nvGrpSpPr>
      <p:grpSpPr>
        <a:xfrm>
          <a:off x="0" y="0"/>
          <a:ext cx="0" cy="0"/>
          <a:chOff x="0" y="0"/>
          <a:chExt cx="0" cy="0"/>
        </a:xfrm>
      </p:grpSpPr>
      <p:sp>
        <p:nvSpPr>
          <p:cNvPr id="267" name="Google Shape;267;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Les signes directs</a:t>
            </a:r>
            <a:endParaRPr/>
          </a:p>
        </p:txBody>
      </p:sp>
      <p:sp>
        <p:nvSpPr>
          <p:cNvPr id="268" name="Google Shape;268;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Elles sont l'expression d'une prolifération tumorale anormale qui peut être une tumeur primaire, une adénopathie locorégionale ou une métastase. </a:t>
            </a:r>
            <a:endParaRPr/>
          </a:p>
          <a:p>
            <a:pPr indent="-228600" lvl="0" marL="228600" rtl="0" algn="l">
              <a:lnSpc>
                <a:spcPct val="90000"/>
              </a:lnSpc>
              <a:spcBef>
                <a:spcPts val="1000"/>
              </a:spcBef>
              <a:spcAft>
                <a:spcPts val="0"/>
              </a:spcAft>
              <a:buClr>
                <a:schemeClr val="dk1"/>
              </a:buClr>
              <a:buSzPts val="2800"/>
              <a:buChar char="•"/>
            </a:pPr>
            <a:r>
              <a:rPr lang="en-US"/>
              <a:t>Elles apparaissent généralement en premier dans la progression d'un cancer.</a:t>
            </a:r>
            <a:endParaRPr/>
          </a:p>
          <a:p>
            <a:pPr indent="-228600" lvl="0" marL="228600" rtl="0" algn="l">
              <a:lnSpc>
                <a:spcPct val="90000"/>
              </a:lnSpc>
              <a:spcBef>
                <a:spcPts val="1000"/>
              </a:spcBef>
              <a:spcAft>
                <a:spcPts val="0"/>
              </a:spcAft>
              <a:buClr>
                <a:schemeClr val="dk1"/>
              </a:buClr>
              <a:buSzPts val="2800"/>
              <a:buChar char="•"/>
            </a:pPr>
            <a:r>
              <a:rPr lang="en-US"/>
              <a:t>Ils peuvent être découverts par accident ou par traumatisme.</a:t>
            </a:r>
            <a:endParaRPr/>
          </a:p>
          <a:p>
            <a:pPr indent="-50800" lvl="0" marL="228600" rtl="0" algn="l">
              <a:lnSpc>
                <a:spcPct val="90000"/>
              </a:lnSpc>
              <a:spcBef>
                <a:spcPts val="1000"/>
              </a:spcBef>
              <a:spcAft>
                <a:spcPts val="0"/>
              </a:spcAft>
              <a:buClr>
                <a:schemeClr val="dk1"/>
              </a:buClr>
              <a:buSzPts val="2800"/>
              <a:buNone/>
            </a:pPr>
            <a:r>
              <a:t/>
            </a:r>
            <a:endParaRPr/>
          </a:p>
        </p:txBody>
      </p:sp>
      <p:sp>
        <p:nvSpPr>
          <p:cNvPr id="269" name="Google Shape;269;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3" name="Shape 273"/>
        <p:cNvGrpSpPr/>
        <p:nvPr/>
      </p:nvGrpSpPr>
      <p:grpSpPr>
        <a:xfrm>
          <a:off x="0" y="0"/>
          <a:ext cx="0" cy="0"/>
          <a:chOff x="0" y="0"/>
          <a:chExt cx="0" cy="0"/>
        </a:xfrm>
      </p:grpSpPr>
      <p:sp>
        <p:nvSpPr>
          <p:cNvPr id="274" name="Google Shape;274;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Signes directs</a:t>
            </a:r>
            <a:endParaRPr/>
          </a:p>
        </p:txBody>
      </p:sp>
      <p:sp>
        <p:nvSpPr>
          <p:cNvPr id="275" name="Google Shape;275;p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en-US"/>
              <a:t>Les principaux signes directs sont les suivants</a:t>
            </a:r>
            <a:endParaRPr b="1"/>
          </a:p>
          <a:p>
            <a:pPr indent="0" lvl="0" marL="0" rtl="0" algn="l">
              <a:lnSpc>
                <a:spcPct val="90000"/>
              </a:lnSpc>
              <a:spcBef>
                <a:spcPts val="1000"/>
              </a:spcBef>
              <a:spcAft>
                <a:spcPts val="0"/>
              </a:spcAft>
              <a:buClr>
                <a:schemeClr val="dk1"/>
              </a:buClr>
              <a:buSzPts val="2800"/>
              <a:buNone/>
            </a:pPr>
            <a:r>
              <a:t/>
            </a:r>
            <a:endParaRPr b="1"/>
          </a:p>
          <a:p>
            <a:pPr indent="-228600" lvl="0" marL="228600" rtl="0" algn="l">
              <a:lnSpc>
                <a:spcPct val="90000"/>
              </a:lnSpc>
              <a:spcBef>
                <a:spcPts val="1000"/>
              </a:spcBef>
              <a:spcAft>
                <a:spcPts val="0"/>
              </a:spcAft>
              <a:buClr>
                <a:schemeClr val="dk1"/>
              </a:buClr>
              <a:buSzPts val="2800"/>
              <a:buChar char="•"/>
            </a:pPr>
            <a:r>
              <a:rPr b="1" lang="en-US"/>
              <a:t>nodule </a:t>
            </a:r>
            <a:r>
              <a:rPr lang="en-US"/>
              <a:t>(tumeur, induration, gonflement)</a:t>
            </a:r>
            <a:endParaRPr/>
          </a:p>
          <a:p>
            <a:pPr indent="-228600" lvl="0" marL="228600" rtl="0" algn="l">
              <a:lnSpc>
                <a:spcPct val="90000"/>
              </a:lnSpc>
              <a:spcBef>
                <a:spcPts val="1000"/>
              </a:spcBef>
              <a:spcAft>
                <a:spcPts val="0"/>
              </a:spcAft>
              <a:buClr>
                <a:schemeClr val="dk1"/>
              </a:buClr>
              <a:buSzPts val="2800"/>
              <a:buChar char="•"/>
            </a:pPr>
            <a:r>
              <a:rPr b="1" lang="en-US"/>
              <a:t>adénopathie </a:t>
            </a:r>
            <a:r>
              <a:rPr lang="en-US"/>
              <a:t>(fixe, immobile, indolore)</a:t>
            </a:r>
            <a:endParaRPr/>
          </a:p>
          <a:p>
            <a:pPr indent="-228600" lvl="0" marL="228600" rtl="0" algn="l">
              <a:lnSpc>
                <a:spcPct val="90000"/>
              </a:lnSpc>
              <a:spcBef>
                <a:spcPts val="1000"/>
              </a:spcBef>
              <a:spcAft>
                <a:spcPts val="0"/>
              </a:spcAft>
              <a:buClr>
                <a:schemeClr val="dk1"/>
              </a:buClr>
              <a:buSzPts val="2800"/>
              <a:buChar char="•"/>
            </a:pPr>
            <a:r>
              <a:rPr lang="en-US"/>
              <a:t>ulcère </a:t>
            </a:r>
            <a:r>
              <a:rPr b="1" lang="en-US"/>
              <a:t>ulcéreux/plaie </a:t>
            </a:r>
            <a:r>
              <a:rPr lang="en-US"/>
              <a:t>qui n'a pas tendance à guérir</a:t>
            </a:r>
            <a:endParaRPr/>
          </a:p>
          <a:p>
            <a:pPr indent="-228600" lvl="0" marL="228600" rtl="0" algn="l">
              <a:lnSpc>
                <a:spcPct val="90000"/>
              </a:lnSpc>
              <a:spcBef>
                <a:spcPts val="1000"/>
              </a:spcBef>
              <a:spcAft>
                <a:spcPts val="0"/>
              </a:spcAft>
              <a:buClr>
                <a:schemeClr val="dk1"/>
              </a:buClr>
              <a:buSzPts val="2800"/>
              <a:buChar char="•"/>
            </a:pPr>
            <a:r>
              <a:rPr b="1" lang="en-US"/>
              <a:t>lésion cutanée </a:t>
            </a:r>
            <a:r>
              <a:rPr lang="en-US"/>
              <a:t>qui change de nature (couleur, croissance, ulcération)</a:t>
            </a:r>
            <a:endParaRPr/>
          </a:p>
        </p:txBody>
      </p:sp>
      <p:sp>
        <p:nvSpPr>
          <p:cNvPr id="276" name="Google Shape;276;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0" name="Shape 280"/>
        <p:cNvGrpSpPr/>
        <p:nvPr/>
      </p:nvGrpSpPr>
      <p:grpSpPr>
        <a:xfrm>
          <a:off x="0" y="0"/>
          <a:ext cx="0" cy="0"/>
          <a:chOff x="0" y="0"/>
          <a:chExt cx="0" cy="0"/>
        </a:xfrm>
      </p:grpSpPr>
      <p:sp>
        <p:nvSpPr>
          <p:cNvPr id="281" name="Google Shape;281;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Signes directs</a:t>
            </a:r>
            <a:endParaRPr/>
          </a:p>
        </p:txBody>
      </p:sp>
      <p:sp>
        <p:nvSpPr>
          <p:cNvPr id="282" name="Google Shape;282;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Si dans certaines localisations, comme le tégument, le sein, le testicule, les cancers ORL, la détection peut se faire à des stades précoces par la présence d'une formation tumorale palpable lors de l'examen clinique, pour la plupart d'entre eux, la palpation d'une tumeur dénote une longue évolution.</a:t>
            </a:r>
            <a:endParaRPr/>
          </a:p>
          <a:p>
            <a:pPr indent="-228600" lvl="0" marL="228600" rtl="0" algn="l">
              <a:lnSpc>
                <a:spcPct val="90000"/>
              </a:lnSpc>
              <a:spcBef>
                <a:spcPts val="1000"/>
              </a:spcBef>
              <a:spcAft>
                <a:spcPts val="0"/>
              </a:spcAft>
              <a:buClr>
                <a:schemeClr val="dk1"/>
              </a:buClr>
              <a:buSzPts val="2800"/>
              <a:buChar char="•"/>
            </a:pPr>
            <a:r>
              <a:rPr lang="en-US"/>
              <a:t>Il est possible de palper à la fois une tumeur primaire et une adénopathie locorégionale, voire une métastase.</a:t>
            </a:r>
            <a:endParaRPr/>
          </a:p>
          <a:p>
            <a:pPr indent="-228600" lvl="0" marL="228600" rtl="0" algn="l">
              <a:lnSpc>
                <a:spcPct val="90000"/>
              </a:lnSpc>
              <a:spcBef>
                <a:spcPts val="1000"/>
              </a:spcBef>
              <a:spcAft>
                <a:spcPts val="0"/>
              </a:spcAft>
              <a:buClr>
                <a:schemeClr val="dk1"/>
              </a:buClr>
              <a:buSzPts val="2800"/>
              <a:buChar char="•"/>
            </a:pPr>
            <a:r>
              <a:rPr lang="en-US"/>
              <a:t>Le diagnostic de lymphome malin, de cancer de la sphère ORL, de cancer du sein ou de mélanome est souvent posé lors de l'examen d'une adénopathie périphérique.</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
        <p:nvSpPr>
          <p:cNvPr id="283" name="Google Shape;283;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289" name="Google Shape;289;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
        <p:nvSpPr>
          <p:cNvPr id="290" name="Google Shape;290;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91" name="Google Shape;291;p28"/>
          <p:cNvPicPr preferRelativeResize="0"/>
          <p:nvPr/>
        </p:nvPicPr>
        <p:blipFill rotWithShape="1">
          <a:blip r:embed="rId3">
            <a:alphaModFix/>
          </a:blip>
          <a:srcRect b="0" l="0" r="0" t="0"/>
          <a:stretch/>
        </p:blipFill>
        <p:spPr>
          <a:xfrm>
            <a:off x="1595863" y="355965"/>
            <a:ext cx="9000273" cy="650203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5" name="Shape 295"/>
        <p:cNvGrpSpPr/>
        <p:nvPr/>
      </p:nvGrpSpPr>
      <p:grpSpPr>
        <a:xfrm>
          <a:off x="0" y="0"/>
          <a:ext cx="0" cy="0"/>
          <a:chOff x="0" y="0"/>
          <a:chExt cx="0" cy="0"/>
        </a:xfrm>
      </p:grpSpPr>
      <p:sp>
        <p:nvSpPr>
          <p:cNvPr id="296" name="Google Shape;296;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Signes directs</a:t>
            </a:r>
            <a:endParaRPr/>
          </a:p>
        </p:txBody>
      </p:sp>
      <p:sp>
        <p:nvSpPr>
          <p:cNvPr id="297" name="Google Shape;297;p2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Toute formation tumorale accessible à la palpation sera documentée en termes de localisation, de taille, de forme, de consistance, de mobilité, d'infiltration des structures adjacentes ou du tégument sus-jacent.</a:t>
            </a:r>
            <a:endParaRPr/>
          </a:p>
          <a:p>
            <a:pPr indent="-228600" lvl="0" marL="228600" rtl="0" algn="l">
              <a:lnSpc>
                <a:spcPct val="90000"/>
              </a:lnSpc>
              <a:spcBef>
                <a:spcPts val="1000"/>
              </a:spcBef>
              <a:spcAft>
                <a:spcPts val="0"/>
              </a:spcAft>
              <a:buClr>
                <a:schemeClr val="dk1"/>
              </a:buClr>
              <a:buSzPts val="2800"/>
              <a:buChar char="•"/>
            </a:pPr>
            <a:r>
              <a:rPr lang="en-US"/>
              <a:t>Une lésion maligne, qu'il s'agisse d'une tumeur primaire ou d'une adénopathie, se caractérise par son absence de douleur dans les premiers stades, ce qui retarde la consultation médicale.</a:t>
            </a:r>
            <a:endParaRPr/>
          </a:p>
        </p:txBody>
      </p:sp>
      <p:sp>
        <p:nvSpPr>
          <p:cNvPr id="298" name="Google Shape;298;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2" name="Shape 302"/>
        <p:cNvGrpSpPr/>
        <p:nvPr/>
      </p:nvGrpSpPr>
      <p:grpSpPr>
        <a:xfrm>
          <a:off x="0" y="0"/>
          <a:ext cx="0" cy="0"/>
          <a:chOff x="0" y="0"/>
          <a:chExt cx="0" cy="0"/>
        </a:xfrm>
      </p:grpSpPr>
      <p:sp>
        <p:nvSpPr>
          <p:cNvPr id="303" name="Google Shape;303;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Signes </a:t>
            </a:r>
            <a:r>
              <a:rPr lang="en-US"/>
              <a:t>indirects</a:t>
            </a:r>
            <a:endParaRPr/>
          </a:p>
        </p:txBody>
      </p:sp>
      <p:sp>
        <p:nvSpPr>
          <p:cNvPr id="304" name="Google Shape;304;p30"/>
          <p:cNvSpPr txBox="1"/>
          <p:nvPr>
            <p:ph idx="1" type="body"/>
          </p:nvPr>
        </p:nvSpPr>
        <p:spPr>
          <a:xfrm>
            <a:off x="838200" y="1825625"/>
            <a:ext cx="10515600" cy="4705804"/>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 plus fréquents que les directs</a:t>
            </a:r>
            <a:endParaRPr/>
          </a:p>
          <a:p>
            <a:pPr indent="0" lvl="0" marL="0" rtl="0" algn="l">
              <a:lnSpc>
                <a:spcPct val="90000"/>
              </a:lnSpc>
              <a:spcBef>
                <a:spcPts val="1000"/>
              </a:spcBef>
              <a:spcAft>
                <a:spcPts val="0"/>
              </a:spcAft>
              <a:buClr>
                <a:schemeClr val="dk1"/>
              </a:buClr>
              <a:buSzPts val="2800"/>
              <a:buNone/>
            </a:pPr>
            <a:r>
              <a:rPr lang="en-US"/>
              <a:t>- sont fonctionnels</a:t>
            </a:r>
            <a:endParaRPr/>
          </a:p>
          <a:p>
            <a:pPr indent="0" lvl="0" marL="0" rtl="0" algn="l">
              <a:lnSpc>
                <a:spcPct val="90000"/>
              </a:lnSpc>
              <a:spcBef>
                <a:spcPts val="1000"/>
              </a:spcBef>
              <a:spcAft>
                <a:spcPts val="0"/>
              </a:spcAft>
              <a:buClr>
                <a:schemeClr val="dk1"/>
              </a:buClr>
              <a:buSzPts val="2800"/>
              <a:buNone/>
            </a:pPr>
            <a:r>
              <a:rPr b="1" lang="en-US"/>
              <a:t>- sécrétions anormales </a:t>
            </a:r>
            <a:r>
              <a:rPr lang="en-US"/>
              <a:t>(hémorragiques, purulentes, séreuses) du mamelon, du vagin, du rectum, de la sphère ORL</a:t>
            </a:r>
            <a:endParaRPr/>
          </a:p>
          <a:p>
            <a:pPr indent="0" lvl="0" marL="0" rtl="0" algn="l">
              <a:lnSpc>
                <a:spcPct val="90000"/>
              </a:lnSpc>
              <a:spcBef>
                <a:spcPts val="1000"/>
              </a:spcBef>
              <a:spcAft>
                <a:spcPts val="0"/>
              </a:spcAft>
              <a:buClr>
                <a:schemeClr val="dk1"/>
              </a:buClr>
              <a:buSzPts val="2800"/>
              <a:buNone/>
            </a:pPr>
            <a:r>
              <a:rPr b="1" lang="en-US"/>
              <a:t>- hémorragies </a:t>
            </a:r>
            <a:r>
              <a:rPr lang="en-US"/>
              <a:t>(hémoptysie, épistaxis, hématémèse, méléna, rectorragie, hématurie, méno/métrorragie)</a:t>
            </a:r>
            <a:endParaRPr/>
          </a:p>
          <a:p>
            <a:pPr indent="0" lvl="0" marL="0" rtl="0" algn="l">
              <a:lnSpc>
                <a:spcPct val="90000"/>
              </a:lnSpc>
              <a:spcBef>
                <a:spcPts val="1000"/>
              </a:spcBef>
              <a:spcAft>
                <a:spcPts val="0"/>
              </a:spcAft>
              <a:buClr>
                <a:schemeClr val="dk1"/>
              </a:buClr>
              <a:buSzPts val="2800"/>
              <a:buNone/>
            </a:pPr>
            <a:r>
              <a:rPr b="1" lang="en-US"/>
              <a:t>- signes de compression : </a:t>
            </a:r>
            <a:r>
              <a:rPr lang="en-US"/>
              <a:t>veine cave supérieure, HIC</a:t>
            </a:r>
            <a:endParaRPr/>
          </a:p>
          <a:p>
            <a:pPr indent="0" lvl="0" marL="0" rtl="0" algn="l">
              <a:lnSpc>
                <a:spcPct val="90000"/>
              </a:lnSpc>
              <a:spcBef>
                <a:spcPts val="1000"/>
              </a:spcBef>
              <a:spcAft>
                <a:spcPts val="0"/>
              </a:spcAft>
              <a:buClr>
                <a:schemeClr val="dk1"/>
              </a:buClr>
              <a:buSzPts val="2800"/>
              <a:buNone/>
            </a:pPr>
            <a:r>
              <a:rPr b="1" lang="en-US"/>
              <a:t>- Signes obstructifs : </a:t>
            </a:r>
            <a:r>
              <a:rPr lang="en-US"/>
              <a:t>jaunisse mécanique, dyspnée, dysphagie, dysphagie, troubles intestinaux</a:t>
            </a:r>
            <a:endParaRPr/>
          </a:p>
          <a:p>
            <a:pPr indent="0" lvl="0" marL="0" rtl="0" algn="l">
              <a:lnSpc>
                <a:spcPct val="90000"/>
              </a:lnSpc>
              <a:spcBef>
                <a:spcPts val="1000"/>
              </a:spcBef>
              <a:spcAft>
                <a:spcPts val="0"/>
              </a:spcAft>
              <a:buClr>
                <a:schemeClr val="dk1"/>
              </a:buClr>
              <a:buSzPts val="2800"/>
              <a:buNone/>
            </a:pPr>
            <a:r>
              <a:rPr b="1" lang="en-US"/>
              <a:t>- signes neurologiques : </a:t>
            </a:r>
            <a:r>
              <a:rPr lang="en-US"/>
              <a:t>parésie, troubles sphinctériens, névralgie</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p:txBody>
      </p:sp>
      <p:sp>
        <p:nvSpPr>
          <p:cNvPr id="305" name="Google Shape;305;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311" name="Google Shape;311;p3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
        <p:nvSpPr>
          <p:cNvPr id="312" name="Google Shape;312;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13" name="Google Shape;313;p31"/>
          <p:cNvPicPr preferRelativeResize="0"/>
          <p:nvPr/>
        </p:nvPicPr>
        <p:blipFill rotWithShape="1">
          <a:blip r:embed="rId3">
            <a:alphaModFix/>
          </a:blip>
          <a:srcRect b="0" l="0" r="0" t="0"/>
          <a:stretch/>
        </p:blipFill>
        <p:spPr>
          <a:xfrm>
            <a:off x="1565275" y="365125"/>
            <a:ext cx="9061450" cy="641783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319" name="Google Shape;319;p3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
        <p:nvSpPr>
          <p:cNvPr id="320" name="Google Shape;320;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21" name="Google Shape;321;p32"/>
          <p:cNvPicPr preferRelativeResize="0"/>
          <p:nvPr/>
        </p:nvPicPr>
        <p:blipFill rotWithShape="1">
          <a:blip r:embed="rId3">
            <a:alphaModFix/>
          </a:blip>
          <a:srcRect b="0" l="0" r="0" t="0"/>
          <a:stretch/>
        </p:blipFill>
        <p:spPr>
          <a:xfrm>
            <a:off x="1536700" y="365125"/>
            <a:ext cx="8445500" cy="6311092"/>
          </a:xfrm>
          <a:prstGeom prst="rect">
            <a:avLst/>
          </a:prstGeom>
          <a:noFill/>
          <a:ln>
            <a:noFill/>
          </a:ln>
        </p:spPr>
      </p:pic>
      <p:pic>
        <p:nvPicPr>
          <p:cNvPr descr="Mediastinal syndrome" id="322" name="Google Shape;322;p32"/>
          <p:cNvPicPr preferRelativeResize="0"/>
          <p:nvPr/>
        </p:nvPicPr>
        <p:blipFill rotWithShape="1">
          <a:blip r:embed="rId4">
            <a:alphaModFix/>
          </a:blip>
          <a:srcRect b="0" l="0" r="0" t="0"/>
          <a:stretch/>
        </p:blipFill>
        <p:spPr>
          <a:xfrm>
            <a:off x="1149350" y="0"/>
            <a:ext cx="9505950" cy="6858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22"/>
                                        </p:tgtEl>
                                      </p:cBhvr>
                                    </p:animEffect>
                                    <p:set>
                                      <p:cBhvr>
                                        <p:cTn dur="1" fill="hold">
                                          <p:stCondLst>
                                            <p:cond delay="500"/>
                                          </p:stCondLst>
                                        </p:cTn>
                                        <p:tgtEl>
                                          <p:spTgt spid="322"/>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328" name="Google Shape;328;p3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
        <p:nvSpPr>
          <p:cNvPr id="329" name="Google Shape;329;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30" name="Google Shape;330;p33"/>
          <p:cNvPicPr preferRelativeResize="0"/>
          <p:nvPr/>
        </p:nvPicPr>
        <p:blipFill rotWithShape="1">
          <a:blip r:embed="rId3">
            <a:alphaModFix/>
          </a:blip>
          <a:srcRect b="0" l="0" r="0" t="0"/>
          <a:stretch/>
        </p:blipFill>
        <p:spPr>
          <a:xfrm>
            <a:off x="1440366" y="365125"/>
            <a:ext cx="8737600" cy="6489422"/>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336" name="Google Shape;336;p3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
        <p:nvSpPr>
          <p:cNvPr id="337" name="Google Shape;337;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38" name="Google Shape;338;p34"/>
          <p:cNvPicPr preferRelativeResize="0"/>
          <p:nvPr/>
        </p:nvPicPr>
        <p:blipFill rotWithShape="1">
          <a:blip r:embed="rId3">
            <a:alphaModFix/>
          </a:blip>
          <a:srcRect b="0" l="0" r="0" t="0"/>
          <a:stretch/>
        </p:blipFill>
        <p:spPr>
          <a:xfrm>
            <a:off x="1962614" y="136525"/>
            <a:ext cx="8943278" cy="678455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344" name="Google Shape;344;p3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
        <p:nvSpPr>
          <p:cNvPr id="345" name="Google Shape;345;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46" name="Google Shape;346;p35"/>
          <p:cNvPicPr preferRelativeResize="0"/>
          <p:nvPr/>
        </p:nvPicPr>
        <p:blipFill rotWithShape="1">
          <a:blip r:embed="rId3">
            <a:alphaModFix/>
          </a:blip>
          <a:srcRect b="0" l="0" r="0" t="0"/>
          <a:stretch/>
        </p:blipFill>
        <p:spPr>
          <a:xfrm>
            <a:off x="1671637" y="122883"/>
            <a:ext cx="8848725" cy="6612234"/>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352" name="Google Shape;352;p3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
        <p:nvSpPr>
          <p:cNvPr id="353" name="Google Shape;353;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54" name="Google Shape;354;p36"/>
          <p:cNvPicPr preferRelativeResize="0"/>
          <p:nvPr/>
        </p:nvPicPr>
        <p:blipFill rotWithShape="1">
          <a:blip r:embed="rId3">
            <a:alphaModFix/>
          </a:blip>
          <a:srcRect b="0" l="0" r="0" t="0"/>
          <a:stretch/>
        </p:blipFill>
        <p:spPr>
          <a:xfrm>
            <a:off x="1708150" y="210983"/>
            <a:ext cx="8775700" cy="6510492"/>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8" name="Shape 358"/>
        <p:cNvGrpSpPr/>
        <p:nvPr/>
      </p:nvGrpSpPr>
      <p:grpSpPr>
        <a:xfrm>
          <a:off x="0" y="0"/>
          <a:ext cx="0" cy="0"/>
          <a:chOff x="0" y="0"/>
          <a:chExt cx="0" cy="0"/>
        </a:xfrm>
      </p:grpSpPr>
      <p:sp>
        <p:nvSpPr>
          <p:cNvPr id="359" name="Google Shape;359;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Signes d'alerte et symptômes :</a:t>
            </a:r>
            <a:endParaRPr/>
          </a:p>
        </p:txBody>
      </p:sp>
      <p:sp>
        <p:nvSpPr>
          <p:cNvPr id="360" name="Google Shape;360;p3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14350" lvl="0" marL="514350" rtl="0" algn="l">
              <a:lnSpc>
                <a:spcPct val="90000"/>
              </a:lnSpc>
              <a:spcBef>
                <a:spcPts val="0"/>
              </a:spcBef>
              <a:spcAft>
                <a:spcPts val="0"/>
              </a:spcAft>
              <a:buClr>
                <a:schemeClr val="dk1"/>
              </a:buClr>
              <a:buSzPts val="2800"/>
              <a:buAutoNum type="arabicPeriod"/>
            </a:pPr>
            <a:r>
              <a:rPr lang="en-US"/>
              <a:t>une masse palpable ou des indurations dans les tissus mous</a:t>
            </a:r>
            <a:endParaRPr/>
          </a:p>
          <a:p>
            <a:pPr indent="-514350" lvl="0" marL="514350" rtl="0" algn="l">
              <a:lnSpc>
                <a:spcPct val="90000"/>
              </a:lnSpc>
              <a:spcBef>
                <a:spcPts val="1000"/>
              </a:spcBef>
              <a:spcAft>
                <a:spcPts val="0"/>
              </a:spcAft>
              <a:buClr>
                <a:schemeClr val="dk1"/>
              </a:buClr>
              <a:buSzPts val="2800"/>
              <a:buAutoNum type="arabicPeriod"/>
            </a:pPr>
            <a:r>
              <a:rPr lang="en-US"/>
              <a:t>Une plaie sans tendance à la guérison</a:t>
            </a:r>
            <a:endParaRPr/>
          </a:p>
          <a:p>
            <a:pPr indent="-514350" lvl="0" marL="514350" rtl="0" algn="l">
              <a:lnSpc>
                <a:spcPct val="90000"/>
              </a:lnSpc>
              <a:spcBef>
                <a:spcPts val="1000"/>
              </a:spcBef>
              <a:spcAft>
                <a:spcPts val="0"/>
              </a:spcAft>
              <a:buClr>
                <a:schemeClr val="dk1"/>
              </a:buClr>
              <a:buSzPts val="2800"/>
              <a:buAutoNum type="arabicPeriod"/>
            </a:pPr>
            <a:r>
              <a:rPr lang="en-US"/>
              <a:t>des modifications du transit intestinal ou vesical.</a:t>
            </a:r>
            <a:endParaRPr/>
          </a:p>
          <a:p>
            <a:pPr indent="-514350" lvl="0" marL="514350" rtl="0" algn="l">
              <a:lnSpc>
                <a:spcPct val="90000"/>
              </a:lnSpc>
              <a:spcBef>
                <a:spcPts val="1000"/>
              </a:spcBef>
              <a:spcAft>
                <a:spcPts val="0"/>
              </a:spcAft>
              <a:buClr>
                <a:schemeClr val="dk1"/>
              </a:buClr>
              <a:buSzPts val="2800"/>
              <a:buAutoNum type="arabicPeriod"/>
            </a:pPr>
            <a:r>
              <a:rPr lang="en-US"/>
              <a:t>saignement non physiologique</a:t>
            </a:r>
            <a:endParaRPr/>
          </a:p>
          <a:p>
            <a:pPr indent="-514350" lvl="0" marL="514350" rtl="0" algn="l">
              <a:lnSpc>
                <a:spcPct val="90000"/>
              </a:lnSpc>
              <a:spcBef>
                <a:spcPts val="1000"/>
              </a:spcBef>
              <a:spcAft>
                <a:spcPts val="0"/>
              </a:spcAft>
              <a:buClr>
                <a:schemeClr val="dk1"/>
              </a:buClr>
              <a:buSzPts val="2800"/>
              <a:buAutoNum type="arabicPeriod"/>
            </a:pPr>
            <a:r>
              <a:rPr lang="en-US"/>
              <a:t>troubles progressifs de la déglutition (dysphagie persistante-progressive)</a:t>
            </a:r>
            <a:endParaRPr/>
          </a:p>
          <a:p>
            <a:pPr indent="-514350" lvl="0" marL="514350" rtl="0" algn="l">
              <a:lnSpc>
                <a:spcPct val="90000"/>
              </a:lnSpc>
              <a:spcBef>
                <a:spcPts val="1000"/>
              </a:spcBef>
              <a:spcAft>
                <a:spcPts val="0"/>
              </a:spcAft>
              <a:buClr>
                <a:schemeClr val="dk1"/>
              </a:buClr>
              <a:buSzPts val="2800"/>
              <a:buAutoNum type="arabicPeriod"/>
            </a:pPr>
            <a:r>
              <a:rPr lang="en-US"/>
              <a:t>dysphonie persistante, modification du caractère de la toux chez un fumeur</a:t>
            </a:r>
            <a:endParaRPr/>
          </a:p>
          <a:p>
            <a:pPr indent="-514350" lvl="0" marL="514350" rtl="0" algn="l">
              <a:lnSpc>
                <a:spcPct val="90000"/>
              </a:lnSpc>
              <a:spcBef>
                <a:spcPts val="1000"/>
              </a:spcBef>
              <a:spcAft>
                <a:spcPts val="0"/>
              </a:spcAft>
              <a:buClr>
                <a:schemeClr val="dk1"/>
              </a:buClr>
              <a:buSzPts val="2800"/>
              <a:buAutoNum type="arabicPeriod"/>
            </a:pPr>
            <a:r>
              <a:rPr lang="en-US"/>
              <a:t>dyspnée d'apparition soudaine et persistante</a:t>
            </a:r>
            <a:endParaRPr/>
          </a:p>
        </p:txBody>
      </p:sp>
      <p:sp>
        <p:nvSpPr>
          <p:cNvPr id="361" name="Google Shape;361;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5" name="Shape 365"/>
        <p:cNvGrpSpPr/>
        <p:nvPr/>
      </p:nvGrpSpPr>
      <p:grpSpPr>
        <a:xfrm>
          <a:off x="0" y="0"/>
          <a:ext cx="0" cy="0"/>
          <a:chOff x="0" y="0"/>
          <a:chExt cx="0" cy="0"/>
        </a:xfrm>
      </p:grpSpPr>
      <p:sp>
        <p:nvSpPr>
          <p:cNvPr id="366" name="Google Shape;366;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Examen physique</a:t>
            </a:r>
            <a:endParaRPr/>
          </a:p>
        </p:txBody>
      </p:sp>
      <p:sp>
        <p:nvSpPr>
          <p:cNvPr id="367" name="Google Shape;367;p3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 complet, méthodique</a:t>
            </a:r>
            <a:endParaRPr/>
          </a:p>
          <a:p>
            <a:pPr indent="0" lvl="0" marL="0" rtl="0" algn="l">
              <a:lnSpc>
                <a:spcPct val="90000"/>
              </a:lnSpc>
              <a:spcBef>
                <a:spcPts val="1000"/>
              </a:spcBef>
              <a:spcAft>
                <a:spcPts val="0"/>
              </a:spcAft>
              <a:buClr>
                <a:schemeClr val="dk1"/>
              </a:buClr>
              <a:buSzPts val="2800"/>
              <a:buNone/>
            </a:pPr>
            <a:r>
              <a:rPr lang="en-US"/>
              <a:t>- évaluer tous les appareils et systèmes</a:t>
            </a:r>
            <a:endParaRPr/>
          </a:p>
          <a:p>
            <a:pPr indent="0" lvl="0" marL="0" rtl="0" algn="l">
              <a:lnSpc>
                <a:spcPct val="90000"/>
              </a:lnSpc>
              <a:spcBef>
                <a:spcPts val="1000"/>
              </a:spcBef>
              <a:spcAft>
                <a:spcPts val="0"/>
              </a:spcAft>
              <a:buClr>
                <a:schemeClr val="dk1"/>
              </a:buClr>
              <a:buSzPts val="2800"/>
              <a:buNone/>
            </a:pPr>
            <a:r>
              <a:rPr lang="en-US"/>
              <a:t>- inspection, palpation, percussion, écoute</a:t>
            </a:r>
            <a:endParaRPr/>
          </a:p>
          <a:p>
            <a:pPr indent="0" lvl="0" marL="0" rtl="0" algn="l">
              <a:lnSpc>
                <a:spcPct val="90000"/>
              </a:lnSpc>
              <a:spcBef>
                <a:spcPts val="1000"/>
              </a:spcBef>
              <a:spcAft>
                <a:spcPts val="0"/>
              </a:spcAft>
              <a:buClr>
                <a:schemeClr val="dk1"/>
              </a:buClr>
              <a:buSzPts val="2800"/>
              <a:buNone/>
            </a:pPr>
            <a:r>
              <a:rPr lang="en-US"/>
              <a:t>- enregistrer la taille, le poids et la surface corporelle</a:t>
            </a:r>
            <a:endParaRPr/>
          </a:p>
          <a:p>
            <a:pPr indent="0" lvl="0" marL="0" rtl="0" algn="l">
              <a:lnSpc>
                <a:spcPct val="90000"/>
              </a:lnSpc>
              <a:spcBef>
                <a:spcPts val="1000"/>
              </a:spcBef>
              <a:spcAft>
                <a:spcPts val="0"/>
              </a:spcAft>
              <a:buClr>
                <a:schemeClr val="dk1"/>
              </a:buClr>
              <a:buSzPts val="2800"/>
              <a:buNone/>
            </a:pPr>
            <a:r>
              <a:rPr lang="en-US"/>
              <a:t>- l'état de performance du patient est évalué par l'indice ECOG ou l'échelle de Karnofsky (qui évalue globalement l'état d'un organisme et sa capacité à tolérer différents traitements oncologiques)</a:t>
            </a:r>
            <a:endParaRPr/>
          </a:p>
        </p:txBody>
      </p:sp>
      <p:sp>
        <p:nvSpPr>
          <p:cNvPr id="368" name="Google Shape;368;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3" name="Shape 373"/>
        <p:cNvGrpSpPr/>
        <p:nvPr/>
      </p:nvGrpSpPr>
      <p:grpSpPr>
        <a:xfrm>
          <a:off x="0" y="0"/>
          <a:ext cx="0" cy="0"/>
          <a:chOff x="0" y="0"/>
          <a:chExt cx="0" cy="0"/>
        </a:xfrm>
      </p:grpSpPr>
      <p:sp>
        <p:nvSpPr>
          <p:cNvPr id="374" name="Google Shape;374;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Indice OMS/ECOG</a:t>
            </a:r>
            <a:endParaRPr/>
          </a:p>
        </p:txBody>
      </p:sp>
      <p:pic>
        <p:nvPicPr>
          <p:cNvPr id="375" name="Google Shape;375;p39"/>
          <p:cNvPicPr preferRelativeResize="0"/>
          <p:nvPr>
            <p:ph idx="1" type="body"/>
          </p:nvPr>
        </p:nvPicPr>
        <p:blipFill rotWithShape="1">
          <a:blip r:embed="rId3">
            <a:alphaModFix/>
          </a:blip>
          <a:srcRect b="0" l="0" r="0" t="0"/>
          <a:stretch/>
        </p:blipFill>
        <p:spPr>
          <a:xfrm>
            <a:off x="213732" y="1690688"/>
            <a:ext cx="11407090" cy="4140747"/>
          </a:xfrm>
          <a:prstGeom prst="rect">
            <a:avLst/>
          </a:prstGeom>
          <a:noFill/>
          <a:ln>
            <a:noFill/>
          </a:ln>
        </p:spPr>
      </p:pic>
      <p:sp>
        <p:nvSpPr>
          <p:cNvPr id="376" name="Google Shape;376;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77" name="Google Shape;377;p39"/>
          <p:cNvPicPr preferRelativeResize="0"/>
          <p:nvPr/>
        </p:nvPicPr>
        <p:blipFill rotWithShape="1">
          <a:blip r:embed="rId4">
            <a:alphaModFix/>
          </a:blip>
          <a:srcRect b="0" l="0" r="0" t="0"/>
          <a:stretch/>
        </p:blipFill>
        <p:spPr>
          <a:xfrm>
            <a:off x="1615455" y="5836066"/>
            <a:ext cx="8961089" cy="89004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1" name="Shape 381"/>
        <p:cNvGrpSpPr/>
        <p:nvPr/>
      </p:nvGrpSpPr>
      <p:grpSpPr>
        <a:xfrm>
          <a:off x="0" y="0"/>
          <a:ext cx="0" cy="0"/>
          <a:chOff x="0" y="0"/>
          <a:chExt cx="0" cy="0"/>
        </a:xfrm>
      </p:grpSpPr>
      <p:sp>
        <p:nvSpPr>
          <p:cNvPr id="382" name="Google Shape;382;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Indice de </a:t>
            </a:r>
            <a:r>
              <a:rPr lang="en-US"/>
              <a:t>Karnofsky</a:t>
            </a:r>
            <a:endParaRPr/>
          </a:p>
        </p:txBody>
      </p:sp>
      <p:sp>
        <p:nvSpPr>
          <p:cNvPr id="383" name="Google Shape;383;p4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100% normal, aucun symptôme, aucun signe de maladie</a:t>
            </a:r>
            <a:endParaRPr/>
          </a:p>
          <a:p>
            <a:pPr indent="-228600" lvl="0" marL="228600" rtl="0" algn="l">
              <a:lnSpc>
                <a:spcPct val="90000"/>
              </a:lnSpc>
              <a:spcBef>
                <a:spcPts val="1000"/>
              </a:spcBef>
              <a:spcAft>
                <a:spcPts val="0"/>
              </a:spcAft>
              <a:buClr>
                <a:schemeClr val="dk1"/>
              </a:buClr>
              <a:buSzPts val="2800"/>
              <a:buChar char="•"/>
            </a:pPr>
            <a:r>
              <a:rPr lang="en-US"/>
              <a:t>90% capable d'une activité normale mais avec des signes mineurs</a:t>
            </a:r>
            <a:endParaRPr/>
          </a:p>
          <a:p>
            <a:pPr indent="-228600" lvl="0" marL="228600" rtl="0" algn="l">
              <a:lnSpc>
                <a:spcPct val="90000"/>
              </a:lnSpc>
              <a:spcBef>
                <a:spcPts val="1000"/>
              </a:spcBef>
              <a:spcAft>
                <a:spcPts val="0"/>
              </a:spcAft>
              <a:buClr>
                <a:schemeClr val="dk1"/>
              </a:buClr>
              <a:buSzPts val="2800"/>
              <a:buChar char="•"/>
            </a:pPr>
            <a:r>
              <a:rPr lang="en-US"/>
              <a:t>80% d'activité normale à l'effort, présence de certains signes de la maladie</a:t>
            </a:r>
            <a:endParaRPr/>
          </a:p>
          <a:p>
            <a:pPr indent="-228600" lvl="0" marL="228600" rtl="0" algn="l">
              <a:lnSpc>
                <a:spcPct val="90000"/>
              </a:lnSpc>
              <a:spcBef>
                <a:spcPts val="1000"/>
              </a:spcBef>
              <a:spcAft>
                <a:spcPts val="0"/>
              </a:spcAft>
              <a:buClr>
                <a:schemeClr val="dk1"/>
              </a:buClr>
              <a:buSzPts val="2800"/>
              <a:buChar char="•"/>
            </a:pPr>
            <a:r>
              <a:rPr lang="en-US"/>
              <a:t>70% capable de s'occuper de lui-même, incapable d'une activité normale ou d'un travail actif, signes tolérables de maladie</a:t>
            </a:r>
            <a:endParaRPr/>
          </a:p>
          <a:p>
            <a:pPr indent="-228600" lvl="0" marL="228600" rtl="0" algn="l">
              <a:lnSpc>
                <a:spcPct val="90000"/>
              </a:lnSpc>
              <a:spcBef>
                <a:spcPts val="1000"/>
              </a:spcBef>
              <a:spcAft>
                <a:spcPts val="0"/>
              </a:spcAft>
              <a:buClr>
                <a:schemeClr val="dk1"/>
              </a:buClr>
              <a:buSzPts val="2800"/>
              <a:buChar char="•"/>
            </a:pPr>
            <a:r>
              <a:rPr lang="en-US"/>
              <a:t>60% en ambulatoire, demande une assistance occasionnelle pour les activités quotidiennes et les soins auto-administrés</a:t>
            </a:r>
            <a:endParaRPr/>
          </a:p>
          <a:p>
            <a:pPr indent="-228600" lvl="0" marL="228600" rtl="0" algn="l">
              <a:lnSpc>
                <a:spcPct val="90000"/>
              </a:lnSpc>
              <a:spcBef>
                <a:spcPts val="1000"/>
              </a:spcBef>
              <a:spcAft>
                <a:spcPts val="0"/>
              </a:spcAft>
              <a:buClr>
                <a:schemeClr val="dk1"/>
              </a:buClr>
              <a:buSzPts val="2800"/>
              <a:buChar char="•"/>
            </a:pPr>
            <a:r>
              <a:rPr lang="en-US"/>
              <a:t>50 % ont fréquemment besoin d'une assistance médicale</a:t>
            </a:r>
            <a:endParaRPr/>
          </a:p>
          <a:p>
            <a:pPr indent="-50800" lvl="0" marL="228600" rtl="0" algn="l">
              <a:lnSpc>
                <a:spcPct val="90000"/>
              </a:lnSpc>
              <a:spcBef>
                <a:spcPts val="1000"/>
              </a:spcBef>
              <a:spcAft>
                <a:spcPts val="0"/>
              </a:spcAft>
              <a:buClr>
                <a:schemeClr val="dk1"/>
              </a:buClr>
              <a:buSzPts val="2800"/>
              <a:buNone/>
            </a:pPr>
            <a:r>
              <a:t/>
            </a:r>
            <a:endParaRPr/>
          </a:p>
        </p:txBody>
      </p:sp>
      <p:sp>
        <p:nvSpPr>
          <p:cNvPr id="384" name="Google Shape;384;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8" name="Shape 388"/>
        <p:cNvGrpSpPr/>
        <p:nvPr/>
      </p:nvGrpSpPr>
      <p:grpSpPr>
        <a:xfrm>
          <a:off x="0" y="0"/>
          <a:ext cx="0" cy="0"/>
          <a:chOff x="0" y="0"/>
          <a:chExt cx="0" cy="0"/>
        </a:xfrm>
      </p:grpSpPr>
      <p:sp>
        <p:nvSpPr>
          <p:cNvPr id="389" name="Google Shape;389;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Indice de Karnofsky</a:t>
            </a:r>
            <a:endParaRPr/>
          </a:p>
        </p:txBody>
      </p:sp>
      <p:sp>
        <p:nvSpPr>
          <p:cNvPr id="390" name="Google Shape;390;p4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40 % de personnes handicapées, ayant besoin de soins spéciaux et d'une assistance permanente</a:t>
            </a:r>
            <a:endParaRPr/>
          </a:p>
          <a:p>
            <a:pPr indent="-228600" lvl="0" marL="228600" rtl="0" algn="l">
              <a:lnSpc>
                <a:spcPct val="90000"/>
              </a:lnSpc>
              <a:spcBef>
                <a:spcPts val="1000"/>
              </a:spcBef>
              <a:spcAft>
                <a:spcPts val="0"/>
              </a:spcAft>
              <a:buClr>
                <a:schemeClr val="dk1"/>
              </a:buClr>
              <a:buSzPts val="2800"/>
              <a:buChar char="•"/>
            </a:pPr>
            <a:r>
              <a:rPr lang="en-US"/>
              <a:t>30 % d'incapacité grave, hospitalisation indiquée, décès non imminent</a:t>
            </a:r>
            <a:endParaRPr/>
          </a:p>
          <a:p>
            <a:pPr indent="-228600" lvl="0" marL="228600" rtl="0" algn="l">
              <a:lnSpc>
                <a:spcPct val="90000"/>
              </a:lnSpc>
              <a:spcBef>
                <a:spcPts val="1000"/>
              </a:spcBef>
              <a:spcAft>
                <a:spcPts val="0"/>
              </a:spcAft>
              <a:buClr>
                <a:schemeClr val="dk1"/>
              </a:buClr>
              <a:buSzPts val="2800"/>
              <a:buChar char="•"/>
            </a:pPr>
            <a:r>
              <a:rPr lang="en-US"/>
              <a:t>20 % très malade, nécessite une hospitalisation et des soins de soutien actifs</a:t>
            </a:r>
            <a:endParaRPr/>
          </a:p>
          <a:p>
            <a:pPr indent="-228600" lvl="0" marL="228600" rtl="0" algn="l">
              <a:lnSpc>
                <a:spcPct val="90000"/>
              </a:lnSpc>
              <a:spcBef>
                <a:spcPts val="1000"/>
              </a:spcBef>
              <a:spcAft>
                <a:spcPts val="0"/>
              </a:spcAft>
              <a:buClr>
                <a:schemeClr val="dk1"/>
              </a:buClr>
              <a:buSzPts val="2800"/>
              <a:buChar char="•"/>
            </a:pPr>
            <a:r>
              <a:rPr lang="en-US"/>
              <a:t>10 % mourant</a:t>
            </a:r>
            <a:endParaRPr/>
          </a:p>
          <a:p>
            <a:pPr indent="-228600" lvl="0" marL="228600" rtl="0" algn="l">
              <a:lnSpc>
                <a:spcPct val="90000"/>
              </a:lnSpc>
              <a:spcBef>
                <a:spcPts val="1000"/>
              </a:spcBef>
              <a:spcAft>
                <a:spcPts val="0"/>
              </a:spcAft>
              <a:buClr>
                <a:schemeClr val="dk1"/>
              </a:buClr>
              <a:buSzPts val="2800"/>
              <a:buChar char="•"/>
            </a:pPr>
            <a:r>
              <a:rPr lang="en-US"/>
              <a:t>0 mort</a:t>
            </a:r>
            <a:endParaRPr/>
          </a:p>
          <a:p>
            <a:pPr indent="-50800" lvl="0" marL="228600" rtl="0" algn="l">
              <a:lnSpc>
                <a:spcPct val="90000"/>
              </a:lnSpc>
              <a:spcBef>
                <a:spcPts val="1000"/>
              </a:spcBef>
              <a:spcAft>
                <a:spcPts val="0"/>
              </a:spcAft>
              <a:buClr>
                <a:schemeClr val="dk1"/>
              </a:buClr>
              <a:buSzPts val="2800"/>
              <a:buNone/>
            </a:pPr>
            <a:r>
              <a:t/>
            </a:r>
            <a:endParaRPr/>
          </a:p>
        </p:txBody>
      </p:sp>
      <p:sp>
        <p:nvSpPr>
          <p:cNvPr id="391" name="Google Shape;391;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397" name="Google Shape;397;p4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
        <p:nvSpPr>
          <p:cNvPr id="398" name="Google Shape;398;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99" name="Google Shape;399;p42"/>
          <p:cNvPicPr preferRelativeResize="0"/>
          <p:nvPr/>
        </p:nvPicPr>
        <p:blipFill rotWithShape="1">
          <a:blip r:embed="rId3">
            <a:alphaModFix/>
          </a:blip>
          <a:srcRect b="0" l="0" r="0" t="0"/>
          <a:stretch/>
        </p:blipFill>
        <p:spPr>
          <a:xfrm>
            <a:off x="1155158" y="-32876"/>
            <a:ext cx="9881684" cy="6923752"/>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4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405" name="Google Shape;405;p4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
        <p:nvSpPr>
          <p:cNvPr id="406" name="Google Shape;406;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407" name="Google Shape;407;p43"/>
          <p:cNvPicPr preferRelativeResize="0"/>
          <p:nvPr/>
        </p:nvPicPr>
        <p:blipFill rotWithShape="1">
          <a:blip r:embed="rId3">
            <a:alphaModFix/>
          </a:blip>
          <a:srcRect b="0" l="0" r="0" t="0"/>
          <a:stretch/>
        </p:blipFill>
        <p:spPr>
          <a:xfrm>
            <a:off x="1543050" y="197605"/>
            <a:ext cx="8677275" cy="666039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4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413" name="Google Shape;413;p4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
        <p:nvSpPr>
          <p:cNvPr id="414" name="Google Shape;414;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415" name="Google Shape;415;p44"/>
          <p:cNvPicPr preferRelativeResize="0"/>
          <p:nvPr/>
        </p:nvPicPr>
        <p:blipFill rotWithShape="1">
          <a:blip r:embed="rId3">
            <a:alphaModFix/>
          </a:blip>
          <a:srcRect b="0" l="0" r="0" t="0"/>
          <a:stretch/>
        </p:blipFill>
        <p:spPr>
          <a:xfrm>
            <a:off x="1550987" y="0"/>
            <a:ext cx="9090025" cy="6883869"/>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4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421" name="Google Shape;421;p4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
        <p:nvSpPr>
          <p:cNvPr id="422" name="Google Shape;422;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423" name="Google Shape;423;p45"/>
          <p:cNvPicPr preferRelativeResize="0"/>
          <p:nvPr/>
        </p:nvPicPr>
        <p:blipFill rotWithShape="1">
          <a:blip r:embed="rId3">
            <a:alphaModFix/>
          </a:blip>
          <a:srcRect b="0" l="0" r="0" t="0"/>
          <a:stretch/>
        </p:blipFill>
        <p:spPr>
          <a:xfrm>
            <a:off x="1481137" y="365125"/>
            <a:ext cx="8750300" cy="6395674"/>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429" name="Google Shape;429;p46"/>
          <p:cNvPicPr preferRelativeResize="0"/>
          <p:nvPr>
            <p:ph idx="1" type="body"/>
          </p:nvPr>
        </p:nvPicPr>
        <p:blipFill rotWithShape="1">
          <a:blip r:embed="rId3">
            <a:alphaModFix/>
          </a:blip>
          <a:srcRect b="0" l="0" r="0" t="0"/>
          <a:stretch/>
        </p:blipFill>
        <p:spPr>
          <a:xfrm>
            <a:off x="1649379" y="132915"/>
            <a:ext cx="8821701" cy="6588560"/>
          </a:xfrm>
          <a:prstGeom prst="rect">
            <a:avLst/>
          </a:prstGeom>
          <a:noFill/>
          <a:ln>
            <a:noFill/>
          </a:ln>
        </p:spPr>
      </p:pic>
      <p:sp>
        <p:nvSpPr>
          <p:cNvPr id="430" name="Google Shape;430;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34" name="Shape 434"/>
        <p:cNvGrpSpPr/>
        <p:nvPr/>
      </p:nvGrpSpPr>
      <p:grpSpPr>
        <a:xfrm>
          <a:off x="0" y="0"/>
          <a:ext cx="0" cy="0"/>
          <a:chOff x="0" y="0"/>
          <a:chExt cx="0" cy="0"/>
        </a:xfrm>
      </p:grpSpPr>
      <p:sp>
        <p:nvSpPr>
          <p:cNvPr id="435" name="Google Shape;435;p4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Examen physique</a:t>
            </a:r>
            <a:endParaRPr/>
          </a:p>
        </p:txBody>
      </p:sp>
      <p:sp>
        <p:nvSpPr>
          <p:cNvPr id="436" name="Google Shape;436;p4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514350" lvl="0" marL="514350" rtl="0" algn="l">
              <a:lnSpc>
                <a:spcPct val="90000"/>
              </a:lnSpc>
              <a:spcBef>
                <a:spcPts val="0"/>
              </a:spcBef>
              <a:spcAft>
                <a:spcPts val="0"/>
              </a:spcAft>
              <a:buClr>
                <a:schemeClr val="dk1"/>
              </a:buClr>
              <a:buSzPts val="2800"/>
              <a:buAutoNum type="arabicPeriod"/>
            </a:pPr>
            <a:r>
              <a:rPr lang="en-US"/>
              <a:t>la peau et les muqueuses :</a:t>
            </a:r>
            <a:endParaRPr/>
          </a:p>
          <a:p>
            <a:pPr indent="0" lvl="0" marL="0" rtl="0" algn="l">
              <a:lnSpc>
                <a:spcPct val="90000"/>
              </a:lnSpc>
              <a:spcBef>
                <a:spcPts val="1000"/>
              </a:spcBef>
              <a:spcAft>
                <a:spcPts val="0"/>
              </a:spcAft>
              <a:buClr>
                <a:schemeClr val="dk1"/>
              </a:buClr>
              <a:buSzPts val="2800"/>
              <a:buNone/>
            </a:pPr>
            <a:r>
              <a:rPr lang="en-US"/>
              <a:t>     - pâle, jaunisse, cyanose, congestive</a:t>
            </a:r>
            <a:endParaRPr/>
          </a:p>
          <a:p>
            <a:pPr indent="0" lvl="0" marL="0" rtl="0" algn="l">
              <a:lnSpc>
                <a:spcPct val="90000"/>
              </a:lnSpc>
              <a:spcBef>
                <a:spcPts val="1000"/>
              </a:spcBef>
              <a:spcAft>
                <a:spcPts val="0"/>
              </a:spcAft>
              <a:buClr>
                <a:schemeClr val="dk1"/>
              </a:buClr>
              <a:buSzPts val="2800"/>
              <a:buNone/>
            </a:pPr>
            <a:r>
              <a:rPr lang="en-US"/>
              <a:t>     - déshydratation, transpiration</a:t>
            </a:r>
            <a:endParaRPr/>
          </a:p>
          <a:p>
            <a:pPr indent="0" lvl="0" marL="0" rtl="0" algn="l">
              <a:lnSpc>
                <a:spcPct val="90000"/>
              </a:lnSpc>
              <a:spcBef>
                <a:spcPts val="1000"/>
              </a:spcBef>
              <a:spcAft>
                <a:spcPts val="0"/>
              </a:spcAft>
              <a:buClr>
                <a:schemeClr val="dk1"/>
              </a:buClr>
              <a:buSzPts val="2800"/>
              <a:buNone/>
            </a:pPr>
            <a:r>
              <a:rPr lang="en-US"/>
              <a:t>     - alopécie, koilonichie (peut être secondaire aux traitements suivis),</a:t>
            </a:r>
            <a:endParaRPr/>
          </a:p>
          <a:p>
            <a:pPr indent="0" lvl="0" marL="0" rtl="0" algn="l">
              <a:lnSpc>
                <a:spcPct val="90000"/>
              </a:lnSpc>
              <a:spcBef>
                <a:spcPts val="1000"/>
              </a:spcBef>
              <a:spcAft>
                <a:spcPts val="0"/>
              </a:spcAft>
              <a:buClr>
                <a:schemeClr val="dk1"/>
              </a:buClr>
              <a:buSzPts val="2800"/>
              <a:buNone/>
            </a:pPr>
            <a:r>
              <a:rPr lang="en-US"/>
              <a:t>Clous dans un verre de montre</a:t>
            </a:r>
            <a:endParaRPr/>
          </a:p>
          <a:p>
            <a:pPr indent="0" lvl="0" marL="0" rtl="0" algn="l">
              <a:lnSpc>
                <a:spcPct val="90000"/>
              </a:lnSpc>
              <a:spcBef>
                <a:spcPts val="1000"/>
              </a:spcBef>
              <a:spcAft>
                <a:spcPts val="0"/>
              </a:spcAft>
              <a:buClr>
                <a:schemeClr val="dk1"/>
              </a:buClr>
              <a:buSzPts val="2800"/>
              <a:buNone/>
            </a:pPr>
            <a:r>
              <a:rPr lang="en-US"/>
              <a:t>     - les cicatrices postopératoires</a:t>
            </a:r>
            <a:endParaRPr/>
          </a:p>
          <a:p>
            <a:pPr indent="0" lvl="0" marL="0" rtl="0" algn="l">
              <a:lnSpc>
                <a:spcPct val="90000"/>
              </a:lnSpc>
              <a:spcBef>
                <a:spcPts val="1000"/>
              </a:spcBef>
              <a:spcAft>
                <a:spcPts val="0"/>
              </a:spcAft>
              <a:buClr>
                <a:schemeClr val="dk1"/>
              </a:buClr>
              <a:buSzPts val="2800"/>
              <a:buNone/>
            </a:pPr>
            <a:r>
              <a:rPr lang="en-US"/>
              <a:t>     - macules / papules / ulcères (mélanome, </a:t>
            </a:r>
            <a:endParaRPr/>
          </a:p>
          <a:p>
            <a:pPr indent="0" lvl="0" marL="0" rtl="0" algn="l">
              <a:lnSpc>
                <a:spcPct val="90000"/>
              </a:lnSpc>
              <a:spcBef>
                <a:spcPts val="1000"/>
              </a:spcBef>
              <a:spcAft>
                <a:spcPts val="0"/>
              </a:spcAft>
              <a:buClr>
                <a:schemeClr val="dk1"/>
              </a:buClr>
              <a:buSzPts val="2800"/>
              <a:buNone/>
            </a:pPr>
            <a:r>
              <a:rPr lang="en-US"/>
              <a:t>carcinome basocellulaire, carcinome spinocellulaire), flictene</a:t>
            </a:r>
            <a:endParaRPr/>
          </a:p>
          <a:p>
            <a:pPr indent="0" lvl="0" marL="0" rtl="0" algn="l">
              <a:lnSpc>
                <a:spcPct val="90000"/>
              </a:lnSpc>
              <a:spcBef>
                <a:spcPts val="1000"/>
              </a:spcBef>
              <a:spcAft>
                <a:spcPts val="0"/>
              </a:spcAft>
              <a:buClr>
                <a:schemeClr val="dk1"/>
              </a:buClr>
              <a:buSzPts val="2800"/>
              <a:buNone/>
            </a:pPr>
            <a:r>
              <a:rPr lang="en-US"/>
              <a:t>     - syndromes dermatologiques paranéoplasiques</a:t>
            </a:r>
            <a:endParaRPr/>
          </a:p>
        </p:txBody>
      </p:sp>
      <p:sp>
        <p:nvSpPr>
          <p:cNvPr id="437" name="Google Shape;437;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438" name="Google Shape;438;p47"/>
          <p:cNvPicPr preferRelativeResize="0"/>
          <p:nvPr/>
        </p:nvPicPr>
        <p:blipFill rotWithShape="1">
          <a:blip r:embed="rId3">
            <a:alphaModFix/>
          </a:blip>
          <a:srcRect b="0" l="0" r="0" t="0"/>
          <a:stretch/>
        </p:blipFill>
        <p:spPr>
          <a:xfrm>
            <a:off x="10052452" y="480339"/>
            <a:ext cx="2842634" cy="2645229"/>
          </a:xfrm>
          <a:prstGeom prst="rect">
            <a:avLst/>
          </a:prstGeom>
          <a:noFill/>
          <a:ln>
            <a:noFill/>
          </a:ln>
        </p:spPr>
      </p:pic>
      <p:cxnSp>
        <p:nvCxnSpPr>
          <p:cNvPr id="439" name="Google Shape;439;p47"/>
          <p:cNvCxnSpPr/>
          <p:nvPr/>
        </p:nvCxnSpPr>
        <p:spPr>
          <a:xfrm flipH="1" rot="10800000">
            <a:off x="4234543" y="2242457"/>
            <a:ext cx="4887686" cy="1034143"/>
          </a:xfrm>
          <a:prstGeom prst="straightConnector1">
            <a:avLst/>
          </a:prstGeom>
          <a:noFill/>
          <a:ln cap="flat" cmpd="sng" w="9525">
            <a:solidFill>
              <a:schemeClr val="accent1"/>
            </a:solidFill>
            <a:prstDash val="solid"/>
            <a:miter lim="800000"/>
            <a:headEnd len="sm" w="sm" type="none"/>
            <a:tailEnd len="med" w="med" type="triangle"/>
          </a:ln>
        </p:spPr>
      </p:cxnSp>
      <p:pic>
        <p:nvPicPr>
          <p:cNvPr id="440" name="Google Shape;440;p47"/>
          <p:cNvPicPr preferRelativeResize="0"/>
          <p:nvPr/>
        </p:nvPicPr>
        <p:blipFill rotWithShape="1">
          <a:blip r:embed="rId4">
            <a:alphaModFix/>
          </a:blip>
          <a:srcRect b="0" l="0" r="0" t="0"/>
          <a:stretch/>
        </p:blipFill>
        <p:spPr>
          <a:xfrm>
            <a:off x="9448812" y="4114805"/>
            <a:ext cx="2743200" cy="2743200"/>
          </a:xfrm>
          <a:prstGeom prst="rect">
            <a:avLst/>
          </a:prstGeom>
          <a:noFill/>
          <a:ln>
            <a:noFill/>
          </a:ln>
        </p:spPr>
      </p:pic>
      <p:cxnSp>
        <p:nvCxnSpPr>
          <p:cNvPr id="441" name="Google Shape;441;p47"/>
          <p:cNvCxnSpPr/>
          <p:nvPr/>
        </p:nvCxnSpPr>
        <p:spPr>
          <a:xfrm>
            <a:off x="4234543" y="3886200"/>
            <a:ext cx="4572000" cy="816429"/>
          </a:xfrm>
          <a:prstGeom prst="straightConnector1">
            <a:avLst/>
          </a:prstGeom>
          <a:noFill/>
          <a:ln cap="flat" cmpd="sng" w="9525">
            <a:solidFill>
              <a:schemeClr val="accent1"/>
            </a:solidFill>
            <a:prstDash val="solid"/>
            <a:miter lim="800000"/>
            <a:headEnd len="sm" w="sm" type="none"/>
            <a:tailEnd len="med" w="med" type="triangle"/>
          </a:ln>
        </p:spPr>
      </p:cxn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45" name="Shape 445"/>
        <p:cNvGrpSpPr/>
        <p:nvPr/>
      </p:nvGrpSpPr>
      <p:grpSpPr>
        <a:xfrm>
          <a:off x="0" y="0"/>
          <a:ext cx="0" cy="0"/>
          <a:chOff x="0" y="0"/>
          <a:chExt cx="0" cy="0"/>
        </a:xfrm>
      </p:grpSpPr>
      <p:sp>
        <p:nvSpPr>
          <p:cNvPr id="446" name="Google Shape;446;p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Examen physique</a:t>
            </a:r>
            <a:endParaRPr/>
          </a:p>
        </p:txBody>
      </p:sp>
      <p:sp>
        <p:nvSpPr>
          <p:cNvPr id="447" name="Google Shape;447;p4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2. les ganglions lymphatiques :</a:t>
            </a:r>
            <a:endParaRPr/>
          </a:p>
          <a:p>
            <a:pPr indent="0" lvl="0" marL="0" rtl="0" algn="l">
              <a:lnSpc>
                <a:spcPct val="90000"/>
              </a:lnSpc>
              <a:spcBef>
                <a:spcPts val="1000"/>
              </a:spcBef>
              <a:spcAft>
                <a:spcPts val="0"/>
              </a:spcAft>
              <a:buClr>
                <a:schemeClr val="dk1"/>
              </a:buClr>
              <a:buSzPts val="2800"/>
              <a:buNone/>
            </a:pPr>
            <a:r>
              <a:rPr lang="en-US"/>
              <a:t>   - tous les groupes de ganglions    sont systématiquement examinés (sous-occipital, latérocervical, submandibulaire, axillaire, supraclaviculaire, trochléaire, inguinal)</a:t>
            </a:r>
            <a:endParaRPr/>
          </a:p>
          <a:p>
            <a:pPr indent="0" lvl="0" marL="0" rtl="0" algn="l">
              <a:lnSpc>
                <a:spcPct val="90000"/>
              </a:lnSpc>
              <a:spcBef>
                <a:spcPts val="1000"/>
              </a:spcBef>
              <a:spcAft>
                <a:spcPts val="0"/>
              </a:spcAft>
              <a:buClr>
                <a:schemeClr val="dk1"/>
              </a:buClr>
              <a:buSzPts val="2800"/>
              <a:buNone/>
            </a:pPr>
            <a:r>
              <a:rPr lang="en-US"/>
              <a:t>   - enregistrement localisation, nombre, taille, cohérence, sensibilité, mobilité</a:t>
            </a:r>
            <a:endParaRPr/>
          </a:p>
        </p:txBody>
      </p:sp>
      <p:sp>
        <p:nvSpPr>
          <p:cNvPr id="448" name="Google Shape;448;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52" name="Shape 452"/>
        <p:cNvGrpSpPr/>
        <p:nvPr/>
      </p:nvGrpSpPr>
      <p:grpSpPr>
        <a:xfrm>
          <a:off x="0" y="0"/>
          <a:ext cx="0" cy="0"/>
          <a:chOff x="0" y="0"/>
          <a:chExt cx="0" cy="0"/>
        </a:xfrm>
      </p:grpSpPr>
      <p:sp>
        <p:nvSpPr>
          <p:cNvPr id="453" name="Google Shape;453;p4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Examen physique</a:t>
            </a:r>
            <a:endParaRPr/>
          </a:p>
        </p:txBody>
      </p:sp>
      <p:sp>
        <p:nvSpPr>
          <p:cNvPr id="454" name="Google Shape;454;p4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3. le tissu adipeux :</a:t>
            </a:r>
            <a:endParaRPr/>
          </a:p>
          <a:p>
            <a:pPr indent="0" lvl="0" marL="0" rtl="0" algn="l">
              <a:lnSpc>
                <a:spcPct val="90000"/>
              </a:lnSpc>
              <a:spcBef>
                <a:spcPts val="1000"/>
              </a:spcBef>
              <a:spcAft>
                <a:spcPts val="0"/>
              </a:spcAft>
              <a:buClr>
                <a:schemeClr val="dk1"/>
              </a:buClr>
              <a:buSzPts val="2800"/>
              <a:buNone/>
            </a:pPr>
            <a:r>
              <a:rPr lang="en-US"/>
              <a:t>    - reflètent l'état nutritionnel</a:t>
            </a:r>
            <a:endParaRPr/>
          </a:p>
          <a:p>
            <a:pPr indent="0" lvl="0" marL="0" rtl="0" algn="l">
              <a:lnSpc>
                <a:spcPct val="90000"/>
              </a:lnSpc>
              <a:spcBef>
                <a:spcPts val="1000"/>
              </a:spcBef>
              <a:spcAft>
                <a:spcPts val="0"/>
              </a:spcAft>
              <a:buClr>
                <a:schemeClr val="dk1"/>
              </a:buClr>
              <a:buSzPts val="2800"/>
              <a:buNone/>
            </a:pPr>
            <a:r>
              <a:rPr lang="en-US"/>
              <a:t>    - l'évaluation des plis abdominaux</a:t>
            </a:r>
            <a:endParaRPr/>
          </a:p>
          <a:p>
            <a:pPr indent="0" lvl="0" marL="0" rtl="0" algn="l">
              <a:lnSpc>
                <a:spcPct val="90000"/>
              </a:lnSpc>
              <a:spcBef>
                <a:spcPts val="1000"/>
              </a:spcBef>
              <a:spcAft>
                <a:spcPts val="0"/>
              </a:spcAft>
              <a:buClr>
                <a:schemeClr val="dk1"/>
              </a:buClr>
              <a:buSzPts val="2800"/>
              <a:buNone/>
            </a:pPr>
            <a:r>
              <a:rPr lang="en-US"/>
              <a:t>4. le système ostéo-articulaire :</a:t>
            </a:r>
            <a:endParaRPr/>
          </a:p>
          <a:p>
            <a:pPr indent="0" lvl="0" marL="0" rtl="0" algn="l">
              <a:lnSpc>
                <a:spcPct val="90000"/>
              </a:lnSpc>
              <a:spcBef>
                <a:spcPts val="1000"/>
              </a:spcBef>
              <a:spcAft>
                <a:spcPts val="0"/>
              </a:spcAft>
              <a:buClr>
                <a:schemeClr val="dk1"/>
              </a:buClr>
              <a:buSzPts val="2800"/>
              <a:buNone/>
            </a:pPr>
            <a:r>
              <a:rPr lang="en-US"/>
              <a:t>    - inspection, palpation (points douloureux), percussion (apophyses épineuses vertébrales)</a:t>
            </a:r>
            <a:endParaRPr/>
          </a:p>
          <a:p>
            <a:pPr indent="0" lvl="0" marL="0" rtl="0" algn="l">
              <a:lnSpc>
                <a:spcPct val="90000"/>
              </a:lnSpc>
              <a:spcBef>
                <a:spcPts val="1000"/>
              </a:spcBef>
              <a:spcAft>
                <a:spcPts val="0"/>
              </a:spcAft>
              <a:buClr>
                <a:schemeClr val="dk1"/>
              </a:buClr>
              <a:buSzPts val="2800"/>
              <a:buNone/>
            </a:pPr>
            <a:r>
              <a:rPr lang="en-US"/>
              <a:t>    - apprécier la mobilité</a:t>
            </a:r>
            <a:endParaRPr/>
          </a:p>
        </p:txBody>
      </p:sp>
      <p:sp>
        <p:nvSpPr>
          <p:cNvPr id="455" name="Google Shape;455;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59" name="Shape 459"/>
        <p:cNvGrpSpPr/>
        <p:nvPr/>
      </p:nvGrpSpPr>
      <p:grpSpPr>
        <a:xfrm>
          <a:off x="0" y="0"/>
          <a:ext cx="0" cy="0"/>
          <a:chOff x="0" y="0"/>
          <a:chExt cx="0" cy="0"/>
        </a:xfrm>
      </p:grpSpPr>
      <p:sp>
        <p:nvSpPr>
          <p:cNvPr id="460" name="Google Shape;460;p5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Examen physique</a:t>
            </a:r>
            <a:endParaRPr/>
          </a:p>
        </p:txBody>
      </p:sp>
      <p:sp>
        <p:nvSpPr>
          <p:cNvPr id="461" name="Google Shape;461;p5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5. le système musculaire : </a:t>
            </a:r>
            <a:endParaRPr/>
          </a:p>
          <a:p>
            <a:pPr indent="0" lvl="0" marL="0" rtl="0" algn="l">
              <a:lnSpc>
                <a:spcPct val="90000"/>
              </a:lnSpc>
              <a:spcBef>
                <a:spcPts val="1000"/>
              </a:spcBef>
              <a:spcAft>
                <a:spcPts val="0"/>
              </a:spcAft>
              <a:buClr>
                <a:schemeClr val="dk1"/>
              </a:buClr>
              <a:buSzPts val="2800"/>
              <a:buNone/>
            </a:pPr>
            <a:r>
              <a:rPr lang="en-US"/>
              <a:t>    -Appréciation de    la trophicité, de la tonicité</a:t>
            </a:r>
            <a:endParaRPr/>
          </a:p>
          <a:p>
            <a:pPr indent="0" lvl="0" marL="0" rtl="0" algn="l">
              <a:lnSpc>
                <a:spcPct val="90000"/>
              </a:lnSpc>
              <a:spcBef>
                <a:spcPts val="1000"/>
              </a:spcBef>
              <a:spcAft>
                <a:spcPts val="0"/>
              </a:spcAft>
              <a:buClr>
                <a:schemeClr val="dk1"/>
              </a:buClr>
              <a:buSzPts val="2800"/>
              <a:buNone/>
            </a:pPr>
            <a:r>
              <a:rPr lang="en-US"/>
              <a:t>6. le système respiratoire :</a:t>
            </a:r>
            <a:endParaRPr/>
          </a:p>
          <a:p>
            <a:pPr indent="0" lvl="0" marL="0" rtl="0" algn="l">
              <a:lnSpc>
                <a:spcPct val="90000"/>
              </a:lnSpc>
              <a:spcBef>
                <a:spcPts val="1000"/>
              </a:spcBef>
              <a:spcAft>
                <a:spcPts val="0"/>
              </a:spcAft>
              <a:buClr>
                <a:schemeClr val="dk1"/>
              </a:buClr>
              <a:buSzPts val="2800"/>
              <a:buNone/>
            </a:pPr>
            <a:r>
              <a:rPr lang="en-US"/>
              <a:t>    - fosses supra-claviculaires, mélanges respiratoires symétriques/non symétriques</a:t>
            </a:r>
            <a:endParaRPr/>
          </a:p>
          <a:p>
            <a:pPr indent="0" lvl="0" marL="0" rtl="0" algn="l">
              <a:lnSpc>
                <a:spcPct val="90000"/>
              </a:lnSpc>
              <a:spcBef>
                <a:spcPts val="1000"/>
              </a:spcBef>
              <a:spcAft>
                <a:spcPts val="0"/>
              </a:spcAft>
              <a:buClr>
                <a:schemeClr val="dk1"/>
              </a:buClr>
              <a:buSzPts val="2800"/>
              <a:buNone/>
            </a:pPr>
            <a:r>
              <a:rPr lang="en-US"/>
              <a:t>    - mat</a:t>
            </a:r>
            <a:endParaRPr/>
          </a:p>
          <a:p>
            <a:pPr indent="0" lvl="0" marL="0" rtl="0" algn="l">
              <a:lnSpc>
                <a:spcPct val="90000"/>
              </a:lnSpc>
              <a:spcBef>
                <a:spcPts val="1000"/>
              </a:spcBef>
              <a:spcAft>
                <a:spcPts val="0"/>
              </a:spcAft>
              <a:buClr>
                <a:schemeClr val="dk1"/>
              </a:buClr>
              <a:buSzPts val="2800"/>
              <a:buNone/>
            </a:pPr>
            <a:r>
              <a:rPr lang="en-US"/>
              <a:t>    - murmure vésiculaire diminué</a:t>
            </a:r>
            <a:endParaRPr/>
          </a:p>
          <a:p>
            <a:pPr indent="0" lvl="0" marL="0" rtl="0" algn="l">
              <a:lnSpc>
                <a:spcPct val="90000"/>
              </a:lnSpc>
              <a:spcBef>
                <a:spcPts val="1000"/>
              </a:spcBef>
              <a:spcAft>
                <a:spcPts val="0"/>
              </a:spcAft>
              <a:buClr>
                <a:schemeClr val="dk1"/>
              </a:buClr>
              <a:buSzPts val="2800"/>
              <a:buNone/>
            </a:pPr>
            <a:r>
              <a:rPr lang="en-US"/>
              <a:t>    - Greffes bronchiques/bronchoalvéolaires supra-adductées</a:t>
            </a:r>
            <a:endParaRPr/>
          </a:p>
        </p:txBody>
      </p:sp>
      <p:sp>
        <p:nvSpPr>
          <p:cNvPr id="462" name="Google Shape;462;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66" name="Shape 466"/>
        <p:cNvGrpSpPr/>
        <p:nvPr/>
      </p:nvGrpSpPr>
      <p:grpSpPr>
        <a:xfrm>
          <a:off x="0" y="0"/>
          <a:ext cx="0" cy="0"/>
          <a:chOff x="0" y="0"/>
          <a:chExt cx="0" cy="0"/>
        </a:xfrm>
      </p:grpSpPr>
      <p:sp>
        <p:nvSpPr>
          <p:cNvPr id="467" name="Google Shape;467;p5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Examen physique</a:t>
            </a:r>
            <a:endParaRPr/>
          </a:p>
        </p:txBody>
      </p:sp>
      <p:sp>
        <p:nvSpPr>
          <p:cNvPr id="468" name="Google Shape;468;p5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90000"/>
              </a:lnSpc>
              <a:spcBef>
                <a:spcPts val="0"/>
              </a:spcBef>
              <a:spcAft>
                <a:spcPts val="0"/>
              </a:spcAft>
              <a:buClr>
                <a:schemeClr val="dk1"/>
              </a:buClr>
              <a:buSzPct val="100000"/>
              <a:buNone/>
            </a:pPr>
            <a:r>
              <a:rPr lang="en-US"/>
              <a:t>7. le système cardiovasculaire :</a:t>
            </a:r>
            <a:endParaRPr/>
          </a:p>
          <a:p>
            <a:pPr indent="0" lvl="0" marL="0" rtl="0" algn="l">
              <a:lnSpc>
                <a:spcPct val="90000"/>
              </a:lnSpc>
              <a:spcBef>
                <a:spcPts val="1000"/>
              </a:spcBef>
              <a:spcAft>
                <a:spcPts val="0"/>
              </a:spcAft>
              <a:buClr>
                <a:schemeClr val="dk1"/>
              </a:buClr>
              <a:buSzPct val="100000"/>
              <a:buNone/>
            </a:pPr>
            <a:r>
              <a:rPr lang="en-US"/>
              <a:t>    - BP, pouls périphérique</a:t>
            </a:r>
            <a:endParaRPr/>
          </a:p>
          <a:p>
            <a:pPr indent="0" lvl="0" marL="0" rtl="0" algn="l">
              <a:lnSpc>
                <a:spcPct val="90000"/>
              </a:lnSpc>
              <a:spcBef>
                <a:spcPts val="1000"/>
              </a:spcBef>
              <a:spcAft>
                <a:spcPts val="0"/>
              </a:spcAft>
              <a:buClr>
                <a:schemeClr val="dk1"/>
              </a:buClr>
              <a:buSzPct val="100000"/>
              <a:buNone/>
            </a:pPr>
            <a:r>
              <a:rPr lang="en-US"/>
              <a:t>    - bruits cardiaques assourdissants</a:t>
            </a:r>
            <a:endParaRPr/>
          </a:p>
          <a:p>
            <a:pPr indent="0" lvl="0" marL="0" rtl="0" algn="l">
              <a:lnSpc>
                <a:spcPct val="90000"/>
              </a:lnSpc>
              <a:spcBef>
                <a:spcPts val="1000"/>
              </a:spcBef>
              <a:spcAft>
                <a:spcPts val="0"/>
              </a:spcAft>
              <a:buClr>
                <a:schemeClr val="dk1"/>
              </a:buClr>
              <a:buSzPct val="100000"/>
              <a:buNone/>
            </a:pPr>
            <a:r>
              <a:rPr lang="en-US"/>
              <a:t>    - circulation collatérale</a:t>
            </a:r>
            <a:endParaRPr/>
          </a:p>
          <a:p>
            <a:pPr indent="0" lvl="0" marL="0" rtl="0" algn="l">
              <a:lnSpc>
                <a:spcPct val="90000"/>
              </a:lnSpc>
              <a:spcBef>
                <a:spcPts val="1000"/>
              </a:spcBef>
              <a:spcAft>
                <a:spcPts val="0"/>
              </a:spcAft>
              <a:buClr>
                <a:schemeClr val="dk1"/>
              </a:buClr>
              <a:buSzPct val="100000"/>
              <a:buNone/>
            </a:pPr>
            <a:r>
              <a:rPr lang="en-US"/>
              <a:t>8. le système digestif : </a:t>
            </a:r>
            <a:endParaRPr/>
          </a:p>
          <a:p>
            <a:pPr indent="0" lvl="0" marL="0" rtl="0" algn="l">
              <a:lnSpc>
                <a:spcPct val="90000"/>
              </a:lnSpc>
              <a:spcBef>
                <a:spcPts val="1000"/>
              </a:spcBef>
              <a:spcAft>
                <a:spcPts val="0"/>
              </a:spcAft>
              <a:buClr>
                <a:schemeClr val="dk1"/>
              </a:buClr>
              <a:buSzPct val="100000"/>
              <a:buNone/>
            </a:pPr>
            <a:r>
              <a:rPr lang="en-US"/>
              <a:t>     - examen de la cavité buccale (tumeurs, mucosités, hypertrophie gingivale, dentition)</a:t>
            </a:r>
            <a:endParaRPr/>
          </a:p>
          <a:p>
            <a:pPr indent="0" lvl="0" marL="0" rtl="0" algn="l">
              <a:lnSpc>
                <a:spcPct val="90000"/>
              </a:lnSpc>
              <a:spcBef>
                <a:spcPts val="1000"/>
              </a:spcBef>
              <a:spcAft>
                <a:spcPts val="0"/>
              </a:spcAft>
              <a:buClr>
                <a:schemeClr val="dk1"/>
              </a:buClr>
              <a:buSzPct val="100000"/>
              <a:buNone/>
            </a:pPr>
            <a:r>
              <a:rPr lang="en-US"/>
              <a:t>     - circulation collatérale</a:t>
            </a:r>
            <a:endParaRPr/>
          </a:p>
          <a:p>
            <a:pPr indent="0" lvl="0" marL="0" rtl="0" algn="l">
              <a:lnSpc>
                <a:spcPct val="90000"/>
              </a:lnSpc>
              <a:spcBef>
                <a:spcPts val="1000"/>
              </a:spcBef>
              <a:spcAft>
                <a:spcPts val="0"/>
              </a:spcAft>
              <a:buClr>
                <a:schemeClr val="dk1"/>
              </a:buClr>
              <a:buSzPct val="100000"/>
              <a:buNone/>
            </a:pPr>
            <a:r>
              <a:rPr lang="en-US"/>
              <a:t>     - l'évaluation du transit intestinal</a:t>
            </a:r>
            <a:endParaRPr/>
          </a:p>
          <a:p>
            <a:pPr indent="0" lvl="0" marL="0" rtl="0" algn="l">
              <a:lnSpc>
                <a:spcPct val="90000"/>
              </a:lnSpc>
              <a:spcBef>
                <a:spcPts val="1000"/>
              </a:spcBef>
              <a:spcAft>
                <a:spcPts val="0"/>
              </a:spcAft>
              <a:buClr>
                <a:schemeClr val="dk1"/>
              </a:buClr>
              <a:buSzPct val="100000"/>
              <a:buNone/>
            </a:pPr>
            <a:r>
              <a:rPr lang="en-US"/>
              <a:t>     - palpation du foie, de la rate</a:t>
            </a:r>
            <a:endParaRPr/>
          </a:p>
          <a:p>
            <a:pPr indent="0" lvl="0" marL="0" rtl="0" algn="l">
              <a:lnSpc>
                <a:spcPct val="90000"/>
              </a:lnSpc>
              <a:spcBef>
                <a:spcPts val="1000"/>
              </a:spcBef>
              <a:spcAft>
                <a:spcPts val="0"/>
              </a:spcAft>
              <a:buClr>
                <a:schemeClr val="dk1"/>
              </a:buClr>
              <a:buSzPct val="100000"/>
              <a:buNone/>
            </a:pPr>
            <a:r>
              <a:rPr lang="en-US"/>
              <a:t>     - toux rectale </a:t>
            </a:r>
            <a:endParaRPr/>
          </a:p>
          <a:p>
            <a:pPr indent="0" lvl="0" marL="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t/>
            </a:r>
            <a:endParaRPr/>
          </a:p>
        </p:txBody>
      </p:sp>
      <p:sp>
        <p:nvSpPr>
          <p:cNvPr id="469" name="Google Shape;469;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73" name="Shape 473"/>
        <p:cNvGrpSpPr/>
        <p:nvPr/>
      </p:nvGrpSpPr>
      <p:grpSpPr>
        <a:xfrm>
          <a:off x="0" y="0"/>
          <a:ext cx="0" cy="0"/>
          <a:chOff x="0" y="0"/>
          <a:chExt cx="0" cy="0"/>
        </a:xfrm>
      </p:grpSpPr>
      <p:sp>
        <p:nvSpPr>
          <p:cNvPr id="474" name="Google Shape;474;p5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Examen physique</a:t>
            </a:r>
            <a:endParaRPr/>
          </a:p>
        </p:txBody>
      </p:sp>
      <p:sp>
        <p:nvSpPr>
          <p:cNvPr id="475" name="Google Shape;475;p5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90000"/>
              </a:lnSpc>
              <a:spcBef>
                <a:spcPts val="0"/>
              </a:spcBef>
              <a:spcAft>
                <a:spcPts val="0"/>
              </a:spcAft>
              <a:buClr>
                <a:schemeClr val="dk1"/>
              </a:buClr>
              <a:buSzPct val="100000"/>
              <a:buNone/>
            </a:pPr>
            <a:r>
              <a:rPr lang="en-US"/>
              <a:t>9. les voies urinaires :</a:t>
            </a:r>
            <a:endParaRPr/>
          </a:p>
          <a:p>
            <a:pPr indent="0" lvl="0" marL="0" rtl="0" algn="l">
              <a:lnSpc>
                <a:spcPct val="90000"/>
              </a:lnSpc>
              <a:spcBef>
                <a:spcPts val="1000"/>
              </a:spcBef>
              <a:spcAft>
                <a:spcPts val="0"/>
              </a:spcAft>
              <a:buClr>
                <a:schemeClr val="dk1"/>
              </a:buClr>
              <a:buSzPct val="100000"/>
              <a:buNone/>
            </a:pPr>
            <a:r>
              <a:rPr lang="en-US"/>
              <a:t>    - évaluation de la miction et de la diurèse</a:t>
            </a:r>
            <a:endParaRPr/>
          </a:p>
          <a:p>
            <a:pPr indent="0" lvl="0" marL="0" rtl="0" algn="l">
              <a:lnSpc>
                <a:spcPct val="90000"/>
              </a:lnSpc>
              <a:spcBef>
                <a:spcPts val="1000"/>
              </a:spcBef>
              <a:spcAft>
                <a:spcPts val="0"/>
              </a:spcAft>
              <a:buClr>
                <a:schemeClr val="dk1"/>
              </a:buClr>
              <a:buSzPct val="100000"/>
              <a:buNone/>
            </a:pPr>
            <a:r>
              <a:rPr lang="en-US"/>
              <a:t>    - l'aspect macroscopique de l'urine</a:t>
            </a:r>
            <a:endParaRPr/>
          </a:p>
          <a:p>
            <a:pPr indent="0" lvl="0" marL="0" rtl="0" algn="l">
              <a:lnSpc>
                <a:spcPct val="90000"/>
              </a:lnSpc>
              <a:spcBef>
                <a:spcPts val="1000"/>
              </a:spcBef>
              <a:spcAft>
                <a:spcPts val="0"/>
              </a:spcAft>
              <a:buClr>
                <a:schemeClr val="dk1"/>
              </a:buClr>
              <a:buSzPct val="100000"/>
              <a:buNone/>
            </a:pPr>
            <a:r>
              <a:rPr lang="en-US"/>
              <a:t>    - Manœuvre de Giordano</a:t>
            </a:r>
            <a:endParaRPr/>
          </a:p>
          <a:p>
            <a:pPr indent="0" lvl="0" marL="0" rtl="0" algn="l">
              <a:lnSpc>
                <a:spcPct val="90000"/>
              </a:lnSpc>
              <a:spcBef>
                <a:spcPts val="1000"/>
              </a:spcBef>
              <a:spcAft>
                <a:spcPts val="0"/>
              </a:spcAft>
              <a:buClr>
                <a:schemeClr val="dk1"/>
              </a:buClr>
              <a:buSzPct val="100000"/>
              <a:buNone/>
            </a:pPr>
            <a:r>
              <a:rPr lang="en-US"/>
              <a:t>10. l'appareil génital :</a:t>
            </a:r>
            <a:endParaRPr/>
          </a:p>
          <a:p>
            <a:pPr indent="0" lvl="0" marL="0" rtl="0" algn="l">
              <a:lnSpc>
                <a:spcPct val="90000"/>
              </a:lnSpc>
              <a:spcBef>
                <a:spcPts val="1000"/>
              </a:spcBef>
              <a:spcAft>
                <a:spcPts val="0"/>
              </a:spcAft>
              <a:buClr>
                <a:schemeClr val="dk1"/>
              </a:buClr>
              <a:buSzPct val="100000"/>
              <a:buNone/>
            </a:pPr>
            <a:r>
              <a:rPr lang="en-US"/>
              <a:t>     - toux vaginale</a:t>
            </a:r>
            <a:endParaRPr/>
          </a:p>
          <a:p>
            <a:pPr indent="0" lvl="0" marL="0" rtl="0" algn="l">
              <a:lnSpc>
                <a:spcPct val="90000"/>
              </a:lnSpc>
              <a:spcBef>
                <a:spcPts val="1000"/>
              </a:spcBef>
              <a:spcAft>
                <a:spcPts val="0"/>
              </a:spcAft>
              <a:buClr>
                <a:schemeClr val="dk1"/>
              </a:buClr>
              <a:buSzPct val="100000"/>
              <a:buNone/>
            </a:pPr>
            <a:r>
              <a:rPr lang="en-US"/>
              <a:t>11. le système nerveux :</a:t>
            </a:r>
            <a:endParaRPr/>
          </a:p>
          <a:p>
            <a:pPr indent="0" lvl="0" marL="0" rtl="0" algn="l">
              <a:lnSpc>
                <a:spcPct val="90000"/>
              </a:lnSpc>
              <a:spcBef>
                <a:spcPts val="1000"/>
              </a:spcBef>
              <a:spcAft>
                <a:spcPts val="0"/>
              </a:spcAft>
              <a:buClr>
                <a:schemeClr val="dk1"/>
              </a:buClr>
              <a:buSzPct val="100000"/>
              <a:buNone/>
            </a:pPr>
            <a:r>
              <a:rPr lang="en-US"/>
              <a:t>     -examen neurologique (métastases cérébrales, compression, neuropathie sensorielle)</a:t>
            </a:r>
            <a:endParaRPr/>
          </a:p>
          <a:p>
            <a:pPr indent="0" lvl="0" marL="0" rtl="0" algn="l">
              <a:lnSpc>
                <a:spcPct val="90000"/>
              </a:lnSpc>
              <a:spcBef>
                <a:spcPts val="1000"/>
              </a:spcBef>
              <a:spcAft>
                <a:spcPts val="0"/>
              </a:spcAft>
              <a:buClr>
                <a:schemeClr val="dk1"/>
              </a:buClr>
              <a:buSzPct val="100000"/>
              <a:buNone/>
            </a:pPr>
            <a:r>
              <a:rPr lang="en-US"/>
              <a:t>    - orientation, comportement, anxiété/dépression</a:t>
            </a:r>
            <a:endParaRPr/>
          </a:p>
          <a:p>
            <a:pPr indent="0" lvl="0" marL="0" rtl="0" algn="l">
              <a:lnSpc>
                <a:spcPct val="90000"/>
              </a:lnSpc>
              <a:spcBef>
                <a:spcPts val="1000"/>
              </a:spcBef>
              <a:spcAft>
                <a:spcPts val="0"/>
              </a:spcAft>
              <a:buClr>
                <a:schemeClr val="dk1"/>
              </a:buClr>
              <a:buSzPct val="100000"/>
              <a:buNone/>
            </a:pPr>
            <a:r>
              <a:rPr lang="en-US"/>
              <a:t>     </a:t>
            </a:r>
            <a:endParaRPr/>
          </a:p>
        </p:txBody>
      </p:sp>
      <p:sp>
        <p:nvSpPr>
          <p:cNvPr id="476" name="Google Shape;476;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80" name="Shape 480"/>
        <p:cNvGrpSpPr/>
        <p:nvPr/>
      </p:nvGrpSpPr>
      <p:grpSpPr>
        <a:xfrm>
          <a:off x="0" y="0"/>
          <a:ext cx="0" cy="0"/>
          <a:chOff x="0" y="0"/>
          <a:chExt cx="0" cy="0"/>
        </a:xfrm>
      </p:grpSpPr>
      <p:sp>
        <p:nvSpPr>
          <p:cNvPr id="481" name="Google Shape;481;p5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Syndromes paranéoplasiques</a:t>
            </a:r>
            <a:endParaRPr/>
          </a:p>
        </p:txBody>
      </p:sp>
      <p:sp>
        <p:nvSpPr>
          <p:cNvPr id="482" name="Google Shape;482;p5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Il s'agit d'un groupe de signes et de symptômes associés au cancer qui </a:t>
            </a:r>
            <a:r>
              <a:rPr b="1" lang="en-US"/>
              <a:t>ne </a:t>
            </a:r>
            <a:r>
              <a:rPr lang="en-US"/>
              <a:t>sont </a:t>
            </a:r>
            <a:r>
              <a:rPr b="1" lang="en-US"/>
              <a:t>PAS </a:t>
            </a:r>
            <a:r>
              <a:rPr lang="en-US"/>
              <a:t>dus aux effets mécaniques directs de la tumeur, qu'il s'agisse d'une tumeur primaire, d'une adénopathie ou d'une métastase. </a:t>
            </a:r>
            <a:endParaRPr/>
          </a:p>
          <a:p>
            <a:pPr indent="-228600" lvl="0" marL="228600" rtl="0" algn="l">
              <a:lnSpc>
                <a:spcPct val="90000"/>
              </a:lnSpc>
              <a:spcBef>
                <a:spcPts val="1000"/>
              </a:spcBef>
              <a:spcAft>
                <a:spcPts val="0"/>
              </a:spcAft>
              <a:buClr>
                <a:schemeClr val="dk1"/>
              </a:buClr>
              <a:buSzPct val="100000"/>
              <a:buChar char="•"/>
            </a:pPr>
            <a:r>
              <a:rPr lang="en-US"/>
              <a:t>Elles peuvent être la première manifestation d'un cancer chez des patients qui n'avaient pas été diagnostiqués auparavant.</a:t>
            </a:r>
            <a:endParaRPr/>
          </a:p>
          <a:p>
            <a:pPr indent="-228600" lvl="0" marL="228600" rtl="0" algn="l">
              <a:lnSpc>
                <a:spcPct val="90000"/>
              </a:lnSpc>
              <a:spcBef>
                <a:spcPts val="1000"/>
              </a:spcBef>
              <a:spcAft>
                <a:spcPts val="0"/>
              </a:spcAft>
              <a:buClr>
                <a:schemeClr val="dk1"/>
              </a:buClr>
              <a:buSzPct val="100000"/>
              <a:buChar char="•"/>
            </a:pPr>
            <a:r>
              <a:rPr lang="en-US"/>
              <a:t>Elles peuvent évoluer parallèlement au cancer, leur disparition indiquant l'efficacité du traitement oncologique. </a:t>
            </a:r>
            <a:endParaRPr/>
          </a:p>
          <a:p>
            <a:pPr indent="-228600" lvl="0" marL="228600" rtl="0" algn="l">
              <a:lnSpc>
                <a:spcPct val="90000"/>
              </a:lnSpc>
              <a:spcBef>
                <a:spcPts val="1000"/>
              </a:spcBef>
              <a:spcAft>
                <a:spcPts val="0"/>
              </a:spcAft>
              <a:buClr>
                <a:schemeClr val="dk1"/>
              </a:buClr>
              <a:buSzPct val="100000"/>
              <a:buChar char="•"/>
            </a:pPr>
            <a:r>
              <a:rPr lang="en-US"/>
              <a:t>Ils peuvent être utilisés comme marqueurs tumoraux.</a:t>
            </a:r>
            <a:endParaRPr/>
          </a:p>
          <a:p>
            <a:pPr indent="-228600" lvl="0" marL="228600" rtl="0" algn="l">
              <a:lnSpc>
                <a:spcPct val="90000"/>
              </a:lnSpc>
              <a:spcBef>
                <a:spcPts val="1000"/>
              </a:spcBef>
              <a:spcAft>
                <a:spcPts val="0"/>
              </a:spcAft>
              <a:buClr>
                <a:schemeClr val="dk1"/>
              </a:buClr>
              <a:buSzPct val="100000"/>
              <a:buChar char="•"/>
            </a:pPr>
            <a:r>
              <a:rPr lang="en-US"/>
              <a:t>Elles peuvent être confondues avec des complications du cancer ou imiter une maladie métastatique.</a:t>
            </a:r>
            <a:endParaRPr/>
          </a:p>
          <a:p>
            <a:pPr indent="-228600" lvl="0" marL="228600" rtl="0" algn="l">
              <a:lnSpc>
                <a:spcPct val="90000"/>
              </a:lnSpc>
              <a:spcBef>
                <a:spcPts val="1000"/>
              </a:spcBef>
              <a:spcAft>
                <a:spcPts val="0"/>
              </a:spcAft>
              <a:buClr>
                <a:schemeClr val="dk1"/>
              </a:buClr>
              <a:buSzPct val="100000"/>
              <a:buChar char="•"/>
            </a:pPr>
            <a:r>
              <a:rPr lang="en-US"/>
              <a:t>Ils peuvent être mortels.</a:t>
            </a:r>
            <a:endParaRPr/>
          </a:p>
          <a:p>
            <a:pPr indent="0" lvl="0" marL="0" rtl="0" algn="l">
              <a:lnSpc>
                <a:spcPct val="90000"/>
              </a:lnSpc>
              <a:spcBef>
                <a:spcPts val="1000"/>
              </a:spcBef>
              <a:spcAft>
                <a:spcPts val="0"/>
              </a:spcAft>
              <a:buClr>
                <a:schemeClr val="dk1"/>
              </a:buClr>
              <a:buSzPct val="100000"/>
              <a:buNone/>
            </a:pPr>
            <a:r>
              <a:t/>
            </a:r>
            <a:endParaRPr/>
          </a:p>
        </p:txBody>
      </p:sp>
      <p:sp>
        <p:nvSpPr>
          <p:cNvPr id="483" name="Google Shape;483;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5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489" name="Google Shape;489;p5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
        <p:nvSpPr>
          <p:cNvPr id="490" name="Google Shape;490;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491" name="Google Shape;491;p54"/>
          <p:cNvPicPr preferRelativeResize="0"/>
          <p:nvPr/>
        </p:nvPicPr>
        <p:blipFill rotWithShape="1">
          <a:blip r:embed="rId3">
            <a:alphaModFix/>
          </a:blip>
          <a:srcRect b="0" l="0" r="0" t="0"/>
          <a:stretch/>
        </p:blipFill>
        <p:spPr>
          <a:xfrm>
            <a:off x="1317625" y="268476"/>
            <a:ext cx="9610570" cy="6489339"/>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5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497" name="Google Shape;497;p5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
        <p:nvSpPr>
          <p:cNvPr id="498" name="Google Shape;498;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499" name="Google Shape;499;p55"/>
          <p:cNvPicPr preferRelativeResize="0"/>
          <p:nvPr/>
        </p:nvPicPr>
        <p:blipFill rotWithShape="1">
          <a:blip r:embed="rId3">
            <a:alphaModFix/>
          </a:blip>
          <a:srcRect b="0" l="0" r="0" t="0"/>
          <a:stretch/>
        </p:blipFill>
        <p:spPr>
          <a:xfrm>
            <a:off x="2237987" y="-28923"/>
            <a:ext cx="7278597" cy="6886923"/>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5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505" name="Google Shape;505;p5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
        <p:nvSpPr>
          <p:cNvPr id="506" name="Google Shape;506;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507" name="Google Shape;507;p56"/>
          <p:cNvPicPr preferRelativeResize="0"/>
          <p:nvPr/>
        </p:nvPicPr>
        <p:blipFill rotWithShape="1">
          <a:blip r:embed="rId3">
            <a:alphaModFix/>
          </a:blip>
          <a:srcRect b="0" l="0" r="0" t="0"/>
          <a:stretch/>
        </p:blipFill>
        <p:spPr>
          <a:xfrm>
            <a:off x="405049" y="1825625"/>
            <a:ext cx="11381901" cy="3617913"/>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5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513" name="Google Shape;513;p5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
        <p:nvSpPr>
          <p:cNvPr id="514" name="Google Shape;514;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515" name="Google Shape;515;p57"/>
          <p:cNvPicPr preferRelativeResize="0"/>
          <p:nvPr/>
        </p:nvPicPr>
        <p:blipFill rotWithShape="1">
          <a:blip r:embed="rId3">
            <a:alphaModFix/>
          </a:blip>
          <a:srcRect b="0" l="0" r="0" t="0"/>
          <a:stretch/>
        </p:blipFill>
        <p:spPr>
          <a:xfrm>
            <a:off x="1655762" y="276973"/>
            <a:ext cx="8326438" cy="6079377"/>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19" name="Shape 519"/>
        <p:cNvGrpSpPr/>
        <p:nvPr/>
      </p:nvGrpSpPr>
      <p:grpSpPr>
        <a:xfrm>
          <a:off x="0" y="0"/>
          <a:ext cx="0" cy="0"/>
          <a:chOff x="0" y="0"/>
          <a:chExt cx="0" cy="0"/>
        </a:xfrm>
      </p:grpSpPr>
      <p:sp>
        <p:nvSpPr>
          <p:cNvPr id="520" name="Google Shape;520;p5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SP endocrinienne</a:t>
            </a:r>
            <a:endParaRPr/>
          </a:p>
        </p:txBody>
      </p:sp>
      <p:sp>
        <p:nvSpPr>
          <p:cNvPr id="521" name="Google Shape;521;p5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Les néoplasmes peuvent provoquer des troubles endocriniens par la synthèse de cytokines, de protéines, d'hormones ou de précurseurs par la tumeur ou, plus rarement, par la métabolisation de stéroïdes en formes biologiquement actives.</a:t>
            </a:r>
            <a:endParaRPr/>
          </a:p>
          <a:p>
            <a:pPr indent="-228600" lvl="0" marL="228600" rtl="0" algn="l">
              <a:lnSpc>
                <a:spcPct val="90000"/>
              </a:lnSpc>
              <a:spcBef>
                <a:spcPts val="1000"/>
              </a:spcBef>
              <a:spcAft>
                <a:spcPts val="0"/>
              </a:spcAft>
              <a:buClr>
                <a:schemeClr val="dk1"/>
              </a:buClr>
              <a:buSzPts val="2800"/>
              <a:buChar char="•"/>
            </a:pPr>
            <a:r>
              <a:rPr lang="en-US"/>
              <a:t>Les manifestations dues à l'hypersécrétion d'hormones dans certains cancers des glandes endocrines ne sont pas des SP (par exemple, hypoglycémie-insulinome).</a:t>
            </a:r>
            <a:endParaRPr/>
          </a:p>
        </p:txBody>
      </p:sp>
      <p:sp>
        <p:nvSpPr>
          <p:cNvPr id="522" name="Google Shape;522;p5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26" name="Shape 526"/>
        <p:cNvGrpSpPr/>
        <p:nvPr/>
      </p:nvGrpSpPr>
      <p:grpSpPr>
        <a:xfrm>
          <a:off x="0" y="0"/>
          <a:ext cx="0" cy="0"/>
          <a:chOff x="0" y="0"/>
          <a:chExt cx="0" cy="0"/>
        </a:xfrm>
      </p:grpSpPr>
      <p:sp>
        <p:nvSpPr>
          <p:cNvPr id="527" name="Google Shape;527;p5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SP endocrinienne : SIADH</a:t>
            </a:r>
            <a:endParaRPr/>
          </a:p>
        </p:txBody>
      </p:sp>
      <p:sp>
        <p:nvSpPr>
          <p:cNvPr id="528" name="Google Shape;528;p5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514350" lvl="0" marL="514350" rtl="0" algn="l">
              <a:lnSpc>
                <a:spcPct val="90000"/>
              </a:lnSpc>
              <a:spcBef>
                <a:spcPts val="0"/>
              </a:spcBef>
              <a:spcAft>
                <a:spcPts val="0"/>
              </a:spcAft>
              <a:buClr>
                <a:schemeClr val="dk1"/>
              </a:buClr>
              <a:buSzPct val="100000"/>
              <a:buAutoNum type="arabicPeriod"/>
            </a:pPr>
            <a:r>
              <a:rPr lang="en-US"/>
              <a:t>Dr Schwartz-Bartter (sécrétion insuffisante d'hormone antidiurétique, SIADH)</a:t>
            </a:r>
            <a:endParaRPr/>
          </a:p>
          <a:p>
            <a:pPr indent="0" lvl="0" marL="0" rtl="0" algn="l">
              <a:lnSpc>
                <a:spcPct val="90000"/>
              </a:lnSpc>
              <a:spcBef>
                <a:spcPts val="1000"/>
              </a:spcBef>
              <a:spcAft>
                <a:spcPts val="0"/>
              </a:spcAft>
              <a:buClr>
                <a:schemeClr val="dk1"/>
              </a:buClr>
              <a:buSzPct val="100000"/>
              <a:buNone/>
            </a:pPr>
            <a:r>
              <a:rPr lang="en-US"/>
              <a:t>- plus fréquente que le nombre de cas cités dans la littérature, la plupart des patients étant asymptomatiques</a:t>
            </a:r>
            <a:endParaRPr/>
          </a:p>
          <a:p>
            <a:pPr indent="-228600" lvl="0" marL="228600" rtl="0" algn="l">
              <a:lnSpc>
                <a:spcPct val="90000"/>
              </a:lnSpc>
              <a:spcBef>
                <a:spcPts val="1000"/>
              </a:spcBef>
              <a:spcAft>
                <a:spcPts val="0"/>
              </a:spcAft>
              <a:buClr>
                <a:schemeClr val="dk1"/>
              </a:buClr>
              <a:buSzPct val="100000"/>
              <a:buFont typeface="Calibri"/>
              <a:buChar char="-"/>
            </a:pPr>
            <a:r>
              <a:rPr lang="en-US"/>
              <a:t>L'ADH est sécrétée par l'hypothalamus en réponse à une augmentation de l'osmolarité plasmatique ou à un faible volume plasmatique ; elle joue un rôle dans le maintien de l'osmolarité plasmatique ; elle agit en augmentant la réabsorption de l'eau dans les canaux collecteurs rénaux.</a:t>
            </a:r>
            <a:endParaRPr/>
          </a:p>
          <a:p>
            <a:pPr indent="-228600" lvl="0" marL="228600" rtl="0" algn="l">
              <a:lnSpc>
                <a:spcPct val="90000"/>
              </a:lnSpc>
              <a:spcBef>
                <a:spcPts val="1000"/>
              </a:spcBef>
              <a:spcAft>
                <a:spcPts val="0"/>
              </a:spcAft>
              <a:buClr>
                <a:schemeClr val="dk1"/>
              </a:buClr>
              <a:buSzPct val="100000"/>
              <a:buFont typeface="Calibri"/>
              <a:buChar char="-"/>
            </a:pPr>
            <a:r>
              <a:rPr lang="en-US"/>
              <a:t>clinique : le tableau d'intoxication par l'eau associant des troubles digestifs (anorexie, vomissements) et des manifestations neuropsychiatriques (asthénie, léthargie, confusion, agressivité, délire, coma par œdème cérébral).</a:t>
            </a:r>
            <a:endParaRPr/>
          </a:p>
        </p:txBody>
      </p:sp>
      <p:sp>
        <p:nvSpPr>
          <p:cNvPr id="529" name="Google Shape;529;p5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3" name="Shape 533"/>
        <p:cNvGrpSpPr/>
        <p:nvPr/>
      </p:nvGrpSpPr>
      <p:grpSpPr>
        <a:xfrm>
          <a:off x="0" y="0"/>
          <a:ext cx="0" cy="0"/>
          <a:chOff x="0" y="0"/>
          <a:chExt cx="0" cy="0"/>
        </a:xfrm>
      </p:grpSpPr>
      <p:sp>
        <p:nvSpPr>
          <p:cNvPr id="534" name="Google Shape;534;p6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SP endocrinienne : SIADH</a:t>
            </a:r>
            <a:endParaRPr/>
          </a:p>
        </p:txBody>
      </p:sp>
      <p:sp>
        <p:nvSpPr>
          <p:cNvPr id="535" name="Google Shape;535;p6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 hyponatrémie hypotonique euvolémique (sous l'action du FNA et de l'hypoaldostéronémie secondaire à l'hypervolémie initiale)</a:t>
            </a:r>
            <a:endParaRPr/>
          </a:p>
          <a:p>
            <a:pPr indent="0" lvl="0" marL="0" rtl="0" algn="l">
              <a:lnSpc>
                <a:spcPct val="90000"/>
              </a:lnSpc>
              <a:spcBef>
                <a:spcPts val="1000"/>
              </a:spcBef>
              <a:spcAft>
                <a:spcPts val="0"/>
              </a:spcAft>
              <a:buClr>
                <a:schemeClr val="dk1"/>
              </a:buClr>
              <a:buSzPts val="2800"/>
              <a:buNone/>
            </a:pPr>
            <a:r>
              <a:rPr lang="en-US"/>
              <a:t>- osmolarité plasmatique &lt; 275 mOsm/kg</a:t>
            </a:r>
            <a:endParaRPr/>
          </a:p>
          <a:p>
            <a:pPr indent="0" lvl="0" marL="0" rtl="0" algn="l">
              <a:lnSpc>
                <a:spcPct val="90000"/>
              </a:lnSpc>
              <a:spcBef>
                <a:spcPts val="1000"/>
              </a:spcBef>
              <a:spcAft>
                <a:spcPts val="0"/>
              </a:spcAft>
              <a:buClr>
                <a:schemeClr val="dk1"/>
              </a:buClr>
              <a:buSzPts val="2800"/>
              <a:buNone/>
            </a:pPr>
            <a:r>
              <a:rPr lang="en-US"/>
              <a:t>- osmolarité urinaire &gt; 100 mOsm/kg</a:t>
            </a:r>
            <a:endParaRPr/>
          </a:p>
          <a:p>
            <a:pPr indent="0" lvl="0" marL="0" rtl="0" algn="l">
              <a:lnSpc>
                <a:spcPct val="90000"/>
              </a:lnSpc>
              <a:spcBef>
                <a:spcPts val="1000"/>
              </a:spcBef>
              <a:spcAft>
                <a:spcPts val="0"/>
              </a:spcAft>
              <a:buClr>
                <a:schemeClr val="dk1"/>
              </a:buClr>
              <a:buSzPts val="2800"/>
              <a:buNone/>
            </a:pPr>
            <a:r>
              <a:rPr lang="en-US"/>
              <a:t>- absence de rétention anormale de liquide (œdème, ascite)</a:t>
            </a:r>
            <a:endParaRPr/>
          </a:p>
          <a:p>
            <a:pPr indent="0" lvl="0" marL="0" rtl="0" algn="l">
              <a:lnSpc>
                <a:spcPct val="90000"/>
              </a:lnSpc>
              <a:spcBef>
                <a:spcPts val="1000"/>
              </a:spcBef>
              <a:spcAft>
                <a:spcPts val="0"/>
              </a:spcAft>
              <a:buClr>
                <a:schemeClr val="dk1"/>
              </a:buClr>
              <a:buSzPts val="2800"/>
              <a:buNone/>
            </a:pPr>
            <a:r>
              <a:rPr lang="en-US"/>
              <a:t>- thyroïde, reins, gl. surrénales normales</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p:txBody>
      </p:sp>
      <p:sp>
        <p:nvSpPr>
          <p:cNvPr id="536" name="Google Shape;536;p6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40" name="Shape 540"/>
        <p:cNvGrpSpPr/>
        <p:nvPr/>
      </p:nvGrpSpPr>
      <p:grpSpPr>
        <a:xfrm>
          <a:off x="0" y="0"/>
          <a:ext cx="0" cy="0"/>
          <a:chOff x="0" y="0"/>
          <a:chExt cx="0" cy="0"/>
        </a:xfrm>
      </p:grpSpPr>
      <p:sp>
        <p:nvSpPr>
          <p:cNvPr id="541" name="Google Shape;541;p6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SEP endocrinienne</a:t>
            </a:r>
            <a:endParaRPr/>
          </a:p>
        </p:txBody>
      </p:sp>
      <p:sp>
        <p:nvSpPr>
          <p:cNvPr id="542" name="Google Shape;542;p6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Calibri"/>
              <a:buChar char="-"/>
            </a:pPr>
            <a:r>
              <a:rPr lang="en-US"/>
              <a:t>plus souvent associé au cancer broncho-pulmonaire à petites cellules, mais aussi au cancer non à petites cellules, au cancer de la sphère ORL, au néoplasme pancréatique, au sarcome d'Ewing</a:t>
            </a:r>
            <a:endParaRPr/>
          </a:p>
          <a:p>
            <a:pPr indent="-228600" lvl="0" marL="228600" rtl="0" algn="l">
              <a:lnSpc>
                <a:spcPct val="90000"/>
              </a:lnSpc>
              <a:spcBef>
                <a:spcPts val="1000"/>
              </a:spcBef>
              <a:spcAft>
                <a:spcPts val="0"/>
              </a:spcAft>
              <a:buClr>
                <a:schemeClr val="dk1"/>
              </a:buClr>
              <a:buSzPts val="2800"/>
              <a:buFont typeface="Calibri"/>
              <a:buChar char="-"/>
            </a:pPr>
            <a:r>
              <a:rPr lang="en-US"/>
              <a:t>traitement : restriction hydrique, solution saline hypertonique, démécycline, tolvaptan, furosémide ( ?)</a:t>
            </a:r>
            <a:endParaRPr/>
          </a:p>
          <a:p>
            <a:pPr indent="-228600" lvl="0" marL="228600" rtl="0" algn="l">
              <a:lnSpc>
                <a:spcPct val="90000"/>
              </a:lnSpc>
              <a:spcBef>
                <a:spcPts val="1000"/>
              </a:spcBef>
              <a:spcAft>
                <a:spcPts val="0"/>
              </a:spcAft>
              <a:buClr>
                <a:schemeClr val="dk1"/>
              </a:buClr>
              <a:buSzPts val="2800"/>
              <a:buFont typeface="Calibri"/>
              <a:buChar char="-"/>
            </a:pPr>
            <a:r>
              <a:rPr lang="en-US"/>
              <a:t>la correction rapide de l'hyponatrémie peut entraîner une myélinolyse pontine et doit être évitée</a:t>
            </a:r>
            <a:endParaRPr/>
          </a:p>
        </p:txBody>
      </p:sp>
      <p:sp>
        <p:nvSpPr>
          <p:cNvPr id="543" name="Google Shape;543;p6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47" name="Shape 547"/>
        <p:cNvGrpSpPr/>
        <p:nvPr/>
      </p:nvGrpSpPr>
      <p:grpSpPr>
        <a:xfrm>
          <a:off x="0" y="0"/>
          <a:ext cx="0" cy="0"/>
          <a:chOff x="0" y="0"/>
          <a:chExt cx="0" cy="0"/>
        </a:xfrm>
      </p:grpSpPr>
      <p:sp>
        <p:nvSpPr>
          <p:cNvPr id="548" name="Google Shape;548;p6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SP endocrinienne</a:t>
            </a:r>
            <a:endParaRPr/>
          </a:p>
        </p:txBody>
      </p:sp>
      <p:sp>
        <p:nvSpPr>
          <p:cNvPr id="549" name="Google Shape;549;p6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2800"/>
              <a:buNone/>
            </a:pPr>
            <a:r>
              <a:rPr lang="en-US"/>
              <a:t>2. Syndrome de Cushing</a:t>
            </a:r>
            <a:endParaRPr/>
          </a:p>
          <a:p>
            <a:pPr indent="-228600" lvl="0" marL="228600" rtl="0" algn="l">
              <a:lnSpc>
                <a:spcPct val="90000"/>
              </a:lnSpc>
              <a:spcBef>
                <a:spcPts val="1000"/>
              </a:spcBef>
              <a:spcAft>
                <a:spcPts val="0"/>
              </a:spcAft>
              <a:buClr>
                <a:schemeClr val="dk1"/>
              </a:buClr>
              <a:buSzPts val="2800"/>
              <a:buFont typeface="Calibri"/>
              <a:buChar char="-"/>
            </a:pPr>
            <a:r>
              <a:rPr lang="en-US"/>
              <a:t>sécrétion ectopique d'ACTH</a:t>
            </a:r>
            <a:endParaRPr/>
          </a:p>
          <a:p>
            <a:pPr indent="-228600" lvl="0" marL="228600" rtl="0" algn="l">
              <a:lnSpc>
                <a:spcPct val="90000"/>
              </a:lnSpc>
              <a:spcBef>
                <a:spcPts val="1000"/>
              </a:spcBef>
              <a:spcAft>
                <a:spcPts val="0"/>
              </a:spcAft>
              <a:buClr>
                <a:schemeClr val="dk1"/>
              </a:buClr>
              <a:buSzPts val="2800"/>
              <a:buFont typeface="Calibri"/>
              <a:buChar char="-"/>
            </a:pPr>
            <a:r>
              <a:rPr lang="en-US"/>
              <a:t>évolution clinique rapide : hypertension, psychose, intolérance au glucose, catabolisme protéique, stries cutanées, atrophie musculaire proximale, ecchymoses</a:t>
            </a:r>
            <a:endParaRPr/>
          </a:p>
          <a:p>
            <a:pPr indent="-228600" lvl="0" marL="228600" rtl="0" algn="l">
              <a:lnSpc>
                <a:spcPct val="90000"/>
              </a:lnSpc>
              <a:spcBef>
                <a:spcPts val="1000"/>
              </a:spcBef>
              <a:spcAft>
                <a:spcPts val="0"/>
              </a:spcAft>
              <a:buClr>
                <a:schemeClr val="dk1"/>
              </a:buClr>
              <a:buSzPts val="2800"/>
              <a:buFont typeface="Calibri"/>
              <a:buChar char="-"/>
            </a:pPr>
            <a:r>
              <a:rPr lang="en-US"/>
              <a:t>Alcalose métabolique, hypokaliémie, kaliurèse élevée, diabète prématuré</a:t>
            </a:r>
            <a:endParaRPr/>
          </a:p>
          <a:p>
            <a:pPr indent="-228600" lvl="0" marL="228600" rtl="0" algn="l">
              <a:lnSpc>
                <a:spcPct val="90000"/>
              </a:lnSpc>
              <a:spcBef>
                <a:spcPts val="1000"/>
              </a:spcBef>
              <a:spcAft>
                <a:spcPts val="0"/>
              </a:spcAft>
              <a:buClr>
                <a:schemeClr val="dk1"/>
              </a:buClr>
              <a:buSzPts val="2800"/>
              <a:buFont typeface="Calibri"/>
              <a:buChar char="-"/>
            </a:pPr>
            <a:r>
              <a:rPr lang="en-US"/>
              <a:t>hypersécrétion de minéralocorticoïdes et de glucocorticoïdes (cortisolémie, 17-OH-stéroïdes urinaires, cortisol libre urinaire, 17-cétostéroïdes urinaires) + augmentation de l'ACTH</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p:txBody>
      </p:sp>
      <p:sp>
        <p:nvSpPr>
          <p:cNvPr id="550" name="Google Shape;550;p6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54" name="Shape 554"/>
        <p:cNvGrpSpPr/>
        <p:nvPr/>
      </p:nvGrpSpPr>
      <p:grpSpPr>
        <a:xfrm>
          <a:off x="0" y="0"/>
          <a:ext cx="0" cy="0"/>
          <a:chOff x="0" y="0"/>
          <a:chExt cx="0" cy="0"/>
        </a:xfrm>
      </p:grpSpPr>
      <p:sp>
        <p:nvSpPr>
          <p:cNvPr id="555" name="Google Shape;555;p6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SP endocrinienne</a:t>
            </a:r>
            <a:endParaRPr/>
          </a:p>
        </p:txBody>
      </p:sp>
      <p:sp>
        <p:nvSpPr>
          <p:cNvPr id="556" name="Google Shape;556;p63"/>
          <p:cNvSpPr txBox="1"/>
          <p:nvPr>
            <p:ph idx="1" type="body"/>
          </p:nvPr>
        </p:nvSpPr>
        <p:spPr>
          <a:xfrm>
            <a:off x="876300" y="1825625"/>
            <a:ext cx="104775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a:t>- cancers broncho-pulmonaires, thymiques et pancréatiques</a:t>
            </a:r>
            <a:endParaRPr/>
          </a:p>
          <a:p>
            <a:pPr indent="-228600" lvl="0" marL="228600" rtl="0" algn="l">
              <a:lnSpc>
                <a:spcPct val="90000"/>
              </a:lnSpc>
              <a:spcBef>
                <a:spcPts val="1000"/>
              </a:spcBef>
              <a:spcAft>
                <a:spcPts val="0"/>
              </a:spcAft>
              <a:buClr>
                <a:schemeClr val="dk1"/>
              </a:buClr>
              <a:buSzPts val="2800"/>
              <a:buFont typeface="Calibri"/>
              <a:buChar char="-"/>
            </a:pPr>
            <a:r>
              <a:rPr lang="en-US"/>
              <a:t>traitement : correction des anomalies métaboliques, contrôle des excès</a:t>
            </a:r>
            <a:endParaRPr/>
          </a:p>
          <a:p>
            <a:pPr indent="0" lvl="0" marL="0" rtl="0" algn="l">
              <a:lnSpc>
                <a:spcPct val="90000"/>
              </a:lnSpc>
              <a:spcBef>
                <a:spcPts val="1000"/>
              </a:spcBef>
              <a:spcAft>
                <a:spcPts val="0"/>
              </a:spcAft>
              <a:buClr>
                <a:schemeClr val="dk1"/>
              </a:buClr>
              <a:buSzPts val="2800"/>
              <a:buNone/>
            </a:pPr>
            <a:r>
              <a:rPr lang="en-US"/>
              <a:t>   glucocorticoïdes et symptômes secondaires (kétoconazole,</a:t>
            </a:r>
            <a:endParaRPr/>
          </a:p>
          <a:p>
            <a:pPr indent="0" lvl="0" marL="0" rtl="0" algn="l">
              <a:lnSpc>
                <a:spcPct val="90000"/>
              </a:lnSpc>
              <a:spcBef>
                <a:spcPts val="1000"/>
              </a:spcBef>
              <a:spcAft>
                <a:spcPts val="0"/>
              </a:spcAft>
              <a:buClr>
                <a:schemeClr val="dk1"/>
              </a:buClr>
              <a:buSzPts val="2800"/>
              <a:buNone/>
            </a:pPr>
            <a:r>
              <a:rPr lang="en-US"/>
              <a:t>   aminoglutéthimide, octréotide, bromocriptine, métyrapone</a:t>
            </a:r>
            <a:endParaRPr/>
          </a:p>
          <a:p>
            <a:pPr indent="0" lvl="0" marL="0" rtl="0" algn="l">
              <a:lnSpc>
                <a:spcPct val="90000"/>
              </a:lnSpc>
              <a:spcBef>
                <a:spcPts val="1000"/>
              </a:spcBef>
              <a:spcAft>
                <a:spcPts val="0"/>
              </a:spcAft>
              <a:buClr>
                <a:schemeClr val="dk1"/>
              </a:buClr>
              <a:buSzPts val="2800"/>
              <a:buNone/>
            </a:pPr>
            <a:r>
              <a:t/>
            </a:r>
            <a:endParaRPr/>
          </a:p>
        </p:txBody>
      </p:sp>
      <p:sp>
        <p:nvSpPr>
          <p:cNvPr id="557" name="Google Shape;557;p6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61" name="Shape 561"/>
        <p:cNvGrpSpPr/>
        <p:nvPr/>
      </p:nvGrpSpPr>
      <p:grpSpPr>
        <a:xfrm>
          <a:off x="0" y="0"/>
          <a:ext cx="0" cy="0"/>
          <a:chOff x="0" y="0"/>
          <a:chExt cx="0" cy="0"/>
        </a:xfrm>
      </p:grpSpPr>
      <p:sp>
        <p:nvSpPr>
          <p:cNvPr id="562" name="Google Shape;562;p6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SP endocrinienne</a:t>
            </a:r>
            <a:endParaRPr/>
          </a:p>
        </p:txBody>
      </p:sp>
      <p:sp>
        <p:nvSpPr>
          <p:cNvPr id="563" name="Google Shape;563;p6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3. Hypercalcémie</a:t>
            </a:r>
            <a:endParaRPr/>
          </a:p>
          <a:p>
            <a:pPr indent="0" lvl="0" marL="0" rtl="0" algn="l">
              <a:lnSpc>
                <a:spcPct val="90000"/>
              </a:lnSpc>
              <a:spcBef>
                <a:spcPts val="1000"/>
              </a:spcBef>
              <a:spcAft>
                <a:spcPts val="0"/>
              </a:spcAft>
              <a:buClr>
                <a:schemeClr val="dk1"/>
              </a:buClr>
              <a:buSzPts val="2800"/>
              <a:buNone/>
            </a:pPr>
            <a:r>
              <a:rPr lang="en-US"/>
              <a:t>- est due à la sécrétion d'un analogue de la parathormone (PTH) appelé protéine liée à la parathormone (PTH-rP). </a:t>
            </a:r>
            <a:endParaRPr/>
          </a:p>
          <a:p>
            <a:pPr indent="-228600" lvl="0" marL="228600" rtl="0" algn="l">
              <a:lnSpc>
                <a:spcPct val="90000"/>
              </a:lnSpc>
              <a:spcBef>
                <a:spcPts val="1000"/>
              </a:spcBef>
              <a:spcAft>
                <a:spcPts val="0"/>
              </a:spcAft>
              <a:buClr>
                <a:schemeClr val="dk1"/>
              </a:buClr>
              <a:buSzPts val="2800"/>
              <a:buFont typeface="Calibri"/>
              <a:buChar char="-"/>
            </a:pPr>
            <a:r>
              <a:rPr lang="en-US"/>
              <a:t>l'hypercalcémie associée à des métastases osseuses n'est pas un syndrome paranéoplasique. </a:t>
            </a:r>
            <a:endParaRPr/>
          </a:p>
          <a:p>
            <a:pPr indent="-228600" lvl="0" marL="228600" rtl="0" algn="l">
              <a:lnSpc>
                <a:spcPct val="90000"/>
              </a:lnSpc>
              <a:spcBef>
                <a:spcPts val="1000"/>
              </a:spcBef>
              <a:spcAft>
                <a:spcPts val="0"/>
              </a:spcAft>
              <a:buClr>
                <a:schemeClr val="dk1"/>
              </a:buClr>
              <a:buSzPts val="2800"/>
              <a:buFont typeface="Calibri"/>
              <a:buChar char="-"/>
            </a:pPr>
            <a:r>
              <a:rPr lang="en-US"/>
              <a:t>hémopathies malignes, carcinome épidermoïde du poumon, ORL, cancer du sein, cancer de l'ovaire</a:t>
            </a:r>
            <a:endParaRPr/>
          </a:p>
          <a:p>
            <a:pPr indent="-228600" lvl="0" marL="228600" rtl="0" algn="l">
              <a:lnSpc>
                <a:spcPct val="90000"/>
              </a:lnSpc>
              <a:spcBef>
                <a:spcPts val="1000"/>
              </a:spcBef>
              <a:spcAft>
                <a:spcPts val="0"/>
              </a:spcAft>
              <a:buClr>
                <a:schemeClr val="dk1"/>
              </a:buClr>
              <a:buSzPts val="2800"/>
              <a:buFont typeface="Calibri"/>
              <a:buChar char="-"/>
            </a:pPr>
            <a:r>
              <a:rPr lang="en-US"/>
              <a:t>traitement : hydratation parentérale 2-3 l de solution isotonique, bisphosphonates, calcitonine, glucocorticoïdes, diurétiques</a:t>
            </a:r>
            <a:endParaRPr/>
          </a:p>
        </p:txBody>
      </p:sp>
      <p:sp>
        <p:nvSpPr>
          <p:cNvPr id="564" name="Google Shape;564;p6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68" name="Shape 568"/>
        <p:cNvGrpSpPr/>
        <p:nvPr/>
      </p:nvGrpSpPr>
      <p:grpSpPr>
        <a:xfrm>
          <a:off x="0" y="0"/>
          <a:ext cx="0" cy="0"/>
          <a:chOff x="0" y="0"/>
          <a:chExt cx="0" cy="0"/>
        </a:xfrm>
      </p:grpSpPr>
      <p:sp>
        <p:nvSpPr>
          <p:cNvPr id="569" name="Google Shape;569;p6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SP endocrinienne</a:t>
            </a:r>
            <a:endParaRPr/>
          </a:p>
        </p:txBody>
      </p:sp>
      <p:sp>
        <p:nvSpPr>
          <p:cNvPr id="570" name="Google Shape;570;p6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4. Hypocalcémie</a:t>
            </a:r>
            <a:endParaRPr/>
          </a:p>
          <a:p>
            <a:pPr indent="-228600" lvl="0" marL="228600" rtl="0" algn="l">
              <a:lnSpc>
                <a:spcPct val="90000"/>
              </a:lnSpc>
              <a:spcBef>
                <a:spcPts val="1000"/>
              </a:spcBef>
              <a:spcAft>
                <a:spcPts val="0"/>
              </a:spcAft>
              <a:buClr>
                <a:schemeClr val="dk1"/>
              </a:buClr>
              <a:buSzPts val="2800"/>
              <a:buFont typeface="Calibri"/>
              <a:buChar char="-"/>
            </a:pPr>
            <a:r>
              <a:rPr lang="en-US"/>
              <a:t>en tant que manifestation paranéoplasique secondaire à la malnutrition avec carence en vitamine D, hypomagnésémie, traitements cytostatiques.</a:t>
            </a:r>
            <a:endParaRPr/>
          </a:p>
          <a:p>
            <a:pPr indent="-228600" lvl="0" marL="228600" rtl="0" algn="l">
              <a:lnSpc>
                <a:spcPct val="90000"/>
              </a:lnSpc>
              <a:spcBef>
                <a:spcPts val="1000"/>
              </a:spcBef>
              <a:spcAft>
                <a:spcPts val="0"/>
              </a:spcAft>
              <a:buClr>
                <a:schemeClr val="dk1"/>
              </a:buClr>
              <a:buSzPts val="2800"/>
              <a:buFont typeface="Calibri"/>
              <a:buChar char="-"/>
            </a:pPr>
            <a:r>
              <a:rPr lang="en-US"/>
              <a:t>irritabilité, léthargie, léthargie, tétanie, troubles du rythme, insuffisance cardiaque, hypotension, diarrhée</a:t>
            </a:r>
            <a:endParaRPr/>
          </a:p>
          <a:p>
            <a:pPr indent="-228600" lvl="0" marL="228600" rtl="0" algn="l">
              <a:lnSpc>
                <a:spcPct val="90000"/>
              </a:lnSpc>
              <a:spcBef>
                <a:spcPts val="1000"/>
              </a:spcBef>
              <a:spcAft>
                <a:spcPts val="0"/>
              </a:spcAft>
              <a:buClr>
                <a:schemeClr val="dk1"/>
              </a:buClr>
              <a:buSzPts val="2800"/>
              <a:buFont typeface="Calibri"/>
              <a:buChar char="-"/>
            </a:pPr>
            <a:r>
              <a:rPr lang="en-US"/>
              <a:t>traitement : gluconate de calcium/calcium p.o., sulfate de magnésium</a:t>
            </a:r>
            <a:endParaRPr/>
          </a:p>
          <a:p>
            <a:pPr indent="-50800" lvl="0" marL="228600" rtl="0" algn="l">
              <a:lnSpc>
                <a:spcPct val="90000"/>
              </a:lnSpc>
              <a:spcBef>
                <a:spcPts val="1000"/>
              </a:spcBef>
              <a:spcAft>
                <a:spcPts val="0"/>
              </a:spcAft>
              <a:buClr>
                <a:schemeClr val="dk1"/>
              </a:buClr>
              <a:buSzPts val="2800"/>
              <a:buFont typeface="Calibri"/>
              <a:buNone/>
            </a:pPr>
            <a:r>
              <a:t/>
            </a:r>
            <a:endParaRPr/>
          </a:p>
        </p:txBody>
      </p:sp>
      <p:sp>
        <p:nvSpPr>
          <p:cNvPr id="571" name="Google Shape;571;p6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75" name="Shape 575"/>
        <p:cNvGrpSpPr/>
        <p:nvPr/>
      </p:nvGrpSpPr>
      <p:grpSpPr>
        <a:xfrm>
          <a:off x="0" y="0"/>
          <a:ext cx="0" cy="0"/>
          <a:chOff x="0" y="0"/>
          <a:chExt cx="0" cy="0"/>
        </a:xfrm>
      </p:grpSpPr>
      <p:sp>
        <p:nvSpPr>
          <p:cNvPr id="576" name="Google Shape;576;p6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SP endocrinienne</a:t>
            </a:r>
            <a:endParaRPr/>
          </a:p>
        </p:txBody>
      </p:sp>
      <p:sp>
        <p:nvSpPr>
          <p:cNvPr id="577" name="Google Shape;577;p6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2800"/>
              <a:buNone/>
            </a:pPr>
            <a:r>
              <a:rPr lang="en-US"/>
              <a:t>5. Ostéomalacie</a:t>
            </a:r>
            <a:endParaRPr/>
          </a:p>
          <a:p>
            <a:pPr indent="-228600" lvl="0" marL="228600" rtl="0" algn="l">
              <a:lnSpc>
                <a:spcPct val="90000"/>
              </a:lnSpc>
              <a:spcBef>
                <a:spcPts val="1000"/>
              </a:spcBef>
              <a:spcAft>
                <a:spcPts val="0"/>
              </a:spcAft>
              <a:buClr>
                <a:schemeClr val="dk1"/>
              </a:buClr>
              <a:buSzPts val="2800"/>
              <a:buFont typeface="Calibri"/>
              <a:buChar char="-"/>
            </a:pPr>
            <a:r>
              <a:rPr lang="en-US"/>
              <a:t>myélome, néoplasme de la prostate, neurofibromatose</a:t>
            </a:r>
            <a:endParaRPr/>
          </a:p>
          <a:p>
            <a:pPr indent="-228600" lvl="0" marL="228600" rtl="0" algn="l">
              <a:lnSpc>
                <a:spcPct val="90000"/>
              </a:lnSpc>
              <a:spcBef>
                <a:spcPts val="1000"/>
              </a:spcBef>
              <a:spcAft>
                <a:spcPts val="0"/>
              </a:spcAft>
              <a:buClr>
                <a:schemeClr val="dk1"/>
              </a:buClr>
              <a:buSzPts val="2800"/>
              <a:buFont typeface="Calibri"/>
              <a:buChar char="-"/>
            </a:pPr>
            <a:r>
              <a:rPr lang="en-US"/>
              <a:t>est due à des facteurs ostéolytiques tumoraux circulants</a:t>
            </a:r>
            <a:endParaRPr/>
          </a:p>
          <a:p>
            <a:pPr indent="0" lvl="0" marL="0" rtl="0" algn="l">
              <a:lnSpc>
                <a:spcPct val="90000"/>
              </a:lnSpc>
              <a:spcBef>
                <a:spcPts val="1000"/>
              </a:spcBef>
              <a:spcAft>
                <a:spcPts val="0"/>
              </a:spcAft>
              <a:buClr>
                <a:schemeClr val="dk1"/>
              </a:buClr>
              <a:buSzPts val="2800"/>
              <a:buNone/>
            </a:pPr>
            <a:r>
              <a:rPr lang="en-US"/>
              <a:t>- l'équivalent adulte du rachitisme chez l'enfant</a:t>
            </a:r>
            <a:endParaRPr/>
          </a:p>
          <a:p>
            <a:pPr indent="-228600" lvl="0" marL="228600" rtl="0" algn="l">
              <a:lnSpc>
                <a:spcPct val="90000"/>
              </a:lnSpc>
              <a:spcBef>
                <a:spcPts val="1000"/>
              </a:spcBef>
              <a:spcAft>
                <a:spcPts val="0"/>
              </a:spcAft>
              <a:buClr>
                <a:schemeClr val="dk1"/>
              </a:buClr>
              <a:buSzPts val="2800"/>
              <a:buFont typeface="Calibri"/>
              <a:buChar char="-"/>
            </a:pPr>
            <a:r>
              <a:rPr lang="en-US"/>
              <a:t>hypophosphatémie, augmentation de l'excrétion urinaire de phosphate, faibles niveaux de</a:t>
            </a:r>
            <a:endParaRPr/>
          </a:p>
          <a:p>
            <a:pPr indent="0" lvl="0" marL="0" rtl="0" algn="l">
              <a:lnSpc>
                <a:spcPct val="90000"/>
              </a:lnSpc>
              <a:spcBef>
                <a:spcPts val="1000"/>
              </a:spcBef>
              <a:spcAft>
                <a:spcPts val="0"/>
              </a:spcAft>
              <a:buClr>
                <a:schemeClr val="dk1"/>
              </a:buClr>
              <a:buSzPts val="2800"/>
              <a:buNone/>
            </a:pPr>
            <a:r>
              <a:rPr lang="en-US"/>
              <a:t>   vitamine D3</a:t>
            </a:r>
            <a:endParaRPr/>
          </a:p>
          <a:p>
            <a:pPr indent="-228600" lvl="0" marL="228600" rtl="0" algn="l">
              <a:lnSpc>
                <a:spcPct val="90000"/>
              </a:lnSpc>
              <a:spcBef>
                <a:spcPts val="1000"/>
              </a:spcBef>
              <a:spcAft>
                <a:spcPts val="0"/>
              </a:spcAft>
              <a:buClr>
                <a:schemeClr val="dk1"/>
              </a:buClr>
              <a:buSzPts val="2800"/>
              <a:buFont typeface="Calibri"/>
              <a:buChar char="-"/>
            </a:pPr>
            <a:r>
              <a:rPr lang="en-US"/>
              <a:t>dystrophie musculaire progressive, douleurs osseuses, fractures</a:t>
            </a:r>
            <a:endParaRPr/>
          </a:p>
          <a:p>
            <a:pPr indent="-228600" lvl="0" marL="228600" rtl="0" algn="l">
              <a:lnSpc>
                <a:spcPct val="90000"/>
              </a:lnSpc>
              <a:spcBef>
                <a:spcPts val="1000"/>
              </a:spcBef>
              <a:spcAft>
                <a:spcPts val="0"/>
              </a:spcAft>
              <a:buClr>
                <a:schemeClr val="dk1"/>
              </a:buClr>
              <a:buSzPts val="2800"/>
              <a:buFont typeface="Calibri"/>
              <a:buChar char="-"/>
            </a:pPr>
            <a:r>
              <a:rPr lang="en-US"/>
              <a:t>traitement : vitamine D, phosphates</a:t>
            </a:r>
            <a:endParaRPr/>
          </a:p>
        </p:txBody>
      </p:sp>
      <p:sp>
        <p:nvSpPr>
          <p:cNvPr id="578" name="Google Shape;578;p6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82" name="Shape 582"/>
        <p:cNvGrpSpPr/>
        <p:nvPr/>
      </p:nvGrpSpPr>
      <p:grpSpPr>
        <a:xfrm>
          <a:off x="0" y="0"/>
          <a:ext cx="0" cy="0"/>
          <a:chOff x="0" y="0"/>
          <a:chExt cx="0" cy="0"/>
        </a:xfrm>
      </p:grpSpPr>
      <p:sp>
        <p:nvSpPr>
          <p:cNvPr id="583" name="Google Shape;583;p6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SP endocrinienne</a:t>
            </a:r>
            <a:endParaRPr/>
          </a:p>
        </p:txBody>
      </p:sp>
      <p:sp>
        <p:nvSpPr>
          <p:cNvPr id="584" name="Google Shape;584;p6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6. Hypoglycémie</a:t>
            </a:r>
            <a:endParaRPr/>
          </a:p>
          <a:p>
            <a:pPr indent="-228600" lvl="0" marL="228600" rtl="0" algn="l">
              <a:lnSpc>
                <a:spcPct val="90000"/>
              </a:lnSpc>
              <a:spcBef>
                <a:spcPts val="1000"/>
              </a:spcBef>
              <a:spcAft>
                <a:spcPts val="0"/>
              </a:spcAft>
              <a:buClr>
                <a:schemeClr val="dk1"/>
              </a:buClr>
              <a:buSzPts val="2800"/>
              <a:buFont typeface="Calibri"/>
              <a:buChar char="-"/>
            </a:pPr>
            <a:r>
              <a:rPr lang="en-US"/>
              <a:t>sarcome, hépatocarcinome, tumeurs mésenchymateuses abdominales</a:t>
            </a:r>
            <a:endParaRPr/>
          </a:p>
          <a:p>
            <a:pPr indent="-228600" lvl="0" marL="228600" rtl="0" algn="l">
              <a:lnSpc>
                <a:spcPct val="90000"/>
              </a:lnSpc>
              <a:spcBef>
                <a:spcPts val="1000"/>
              </a:spcBef>
              <a:spcAft>
                <a:spcPts val="0"/>
              </a:spcAft>
              <a:buClr>
                <a:schemeClr val="dk1"/>
              </a:buClr>
              <a:buSzPts val="2800"/>
              <a:buFont typeface="Calibri"/>
              <a:buChar char="-"/>
            </a:pPr>
            <a:r>
              <a:rPr lang="en-US"/>
              <a:t>sécrétion d'un facteur de croissance de l'insuline comme l'IGF-I ou l'IGF-II, altération de la gluconéogenèse, production d'hormones insuliniques ectopiques</a:t>
            </a:r>
            <a:endParaRPr/>
          </a:p>
          <a:p>
            <a:pPr indent="-228600" lvl="0" marL="228600" rtl="0" algn="l">
              <a:lnSpc>
                <a:spcPct val="90000"/>
              </a:lnSpc>
              <a:spcBef>
                <a:spcPts val="1000"/>
              </a:spcBef>
              <a:spcAft>
                <a:spcPts val="0"/>
              </a:spcAft>
              <a:buClr>
                <a:schemeClr val="dk1"/>
              </a:buClr>
              <a:buSzPts val="2800"/>
              <a:buFont typeface="Calibri"/>
              <a:buChar char="-"/>
            </a:pPr>
            <a:r>
              <a:rPr lang="en-US"/>
              <a:t>transpiration, tremblements, hypotension</a:t>
            </a:r>
            <a:endParaRPr/>
          </a:p>
          <a:p>
            <a:pPr indent="-228600" lvl="0" marL="228600" rtl="0" algn="l">
              <a:lnSpc>
                <a:spcPct val="90000"/>
              </a:lnSpc>
              <a:spcBef>
                <a:spcPts val="1000"/>
              </a:spcBef>
              <a:spcAft>
                <a:spcPts val="0"/>
              </a:spcAft>
              <a:buClr>
                <a:schemeClr val="dk1"/>
              </a:buClr>
              <a:buSzPts val="2800"/>
              <a:buFont typeface="Calibri"/>
              <a:buChar char="-"/>
            </a:pPr>
            <a:r>
              <a:rPr lang="en-US"/>
              <a:t>traitement : glucose i.v., traitement chirurgical, glucagon i.m./s.c., corticoïdes, analogues de la somatostatine</a:t>
            </a:r>
            <a:endParaRPr/>
          </a:p>
        </p:txBody>
      </p:sp>
      <p:sp>
        <p:nvSpPr>
          <p:cNvPr id="585" name="Google Shape;585;p6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89" name="Shape 589"/>
        <p:cNvGrpSpPr/>
        <p:nvPr/>
      </p:nvGrpSpPr>
      <p:grpSpPr>
        <a:xfrm>
          <a:off x="0" y="0"/>
          <a:ext cx="0" cy="0"/>
          <a:chOff x="0" y="0"/>
          <a:chExt cx="0" cy="0"/>
        </a:xfrm>
      </p:grpSpPr>
      <p:sp>
        <p:nvSpPr>
          <p:cNvPr id="590" name="Google Shape;590;p6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SP endocrinienne</a:t>
            </a:r>
            <a:endParaRPr/>
          </a:p>
        </p:txBody>
      </p:sp>
      <p:sp>
        <p:nvSpPr>
          <p:cNvPr id="591" name="Google Shape;591;p6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7. Gynécomastie</a:t>
            </a:r>
            <a:endParaRPr/>
          </a:p>
          <a:p>
            <a:pPr indent="-228600" lvl="0" marL="228600" rtl="0" algn="l">
              <a:lnSpc>
                <a:spcPct val="90000"/>
              </a:lnSpc>
              <a:spcBef>
                <a:spcPts val="1000"/>
              </a:spcBef>
              <a:spcAft>
                <a:spcPts val="0"/>
              </a:spcAft>
              <a:buClr>
                <a:schemeClr val="dk1"/>
              </a:buClr>
              <a:buSzPts val="2800"/>
              <a:buFont typeface="Calibri"/>
              <a:buChar char="-"/>
            </a:pPr>
            <a:r>
              <a:rPr lang="en-US"/>
              <a:t>représente la prolifération du tissu glandulaire et stromal du sein masculin secondaire à la production accrue d'œstrogènes induite par l'hormone chorionique gonadotrope humaine HCG</a:t>
            </a:r>
            <a:endParaRPr/>
          </a:p>
          <a:p>
            <a:pPr indent="-228600" lvl="0" marL="228600" rtl="0" algn="l">
              <a:lnSpc>
                <a:spcPct val="90000"/>
              </a:lnSpc>
              <a:spcBef>
                <a:spcPts val="1000"/>
              </a:spcBef>
              <a:spcAft>
                <a:spcPts val="0"/>
              </a:spcAft>
              <a:buClr>
                <a:schemeClr val="dk1"/>
              </a:buClr>
              <a:buSzPts val="2800"/>
              <a:buFont typeface="Calibri"/>
              <a:buChar char="-"/>
            </a:pPr>
            <a:r>
              <a:rPr lang="en-US"/>
              <a:t>la grande majorité est due à une production ectopique de HCG</a:t>
            </a:r>
            <a:endParaRPr/>
          </a:p>
          <a:p>
            <a:pPr indent="-228600" lvl="0" marL="228600" rtl="0" algn="l">
              <a:lnSpc>
                <a:spcPct val="90000"/>
              </a:lnSpc>
              <a:spcBef>
                <a:spcPts val="1000"/>
              </a:spcBef>
              <a:spcAft>
                <a:spcPts val="0"/>
              </a:spcAft>
              <a:buClr>
                <a:schemeClr val="dk1"/>
              </a:buClr>
              <a:buSzPts val="2800"/>
              <a:buFont typeface="Calibri"/>
              <a:buChar char="-"/>
            </a:pPr>
            <a:r>
              <a:rPr lang="en-US"/>
              <a:t>néoplasme testiculaire, pancréatique, broncho-pulmonaire, hépatique</a:t>
            </a:r>
            <a:endParaRPr/>
          </a:p>
          <a:p>
            <a:pPr indent="-228600" lvl="0" marL="228600" rtl="0" algn="l">
              <a:lnSpc>
                <a:spcPct val="90000"/>
              </a:lnSpc>
              <a:spcBef>
                <a:spcPts val="1000"/>
              </a:spcBef>
              <a:spcAft>
                <a:spcPts val="0"/>
              </a:spcAft>
              <a:buClr>
                <a:schemeClr val="dk1"/>
              </a:buClr>
              <a:buSzPts val="2800"/>
              <a:buFont typeface="Calibri"/>
              <a:buChar char="-"/>
            </a:pPr>
            <a:r>
              <a:rPr lang="en-US"/>
              <a:t>traitement : excision de la tumeur, radiothérapie, mammoplastie</a:t>
            </a:r>
            <a:endParaRPr/>
          </a:p>
        </p:txBody>
      </p:sp>
      <p:sp>
        <p:nvSpPr>
          <p:cNvPr id="592" name="Google Shape;592;p6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96" name="Shape 596"/>
        <p:cNvGrpSpPr/>
        <p:nvPr/>
      </p:nvGrpSpPr>
      <p:grpSpPr>
        <a:xfrm>
          <a:off x="0" y="0"/>
          <a:ext cx="0" cy="0"/>
          <a:chOff x="0" y="0"/>
          <a:chExt cx="0" cy="0"/>
        </a:xfrm>
      </p:grpSpPr>
      <p:sp>
        <p:nvSpPr>
          <p:cNvPr id="597" name="Google Shape;597;p6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SP neurologique</a:t>
            </a:r>
            <a:endParaRPr/>
          </a:p>
        </p:txBody>
      </p:sp>
      <p:sp>
        <p:nvSpPr>
          <p:cNvPr id="598" name="Google Shape;598;p6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- 4-14% des cancers</a:t>
            </a:r>
            <a:endParaRPr/>
          </a:p>
          <a:p>
            <a:pPr indent="0" lvl="0" marL="0" rtl="0" algn="l">
              <a:lnSpc>
                <a:spcPct val="90000"/>
              </a:lnSpc>
              <a:spcBef>
                <a:spcPts val="1000"/>
              </a:spcBef>
              <a:spcAft>
                <a:spcPts val="0"/>
              </a:spcAft>
              <a:buClr>
                <a:schemeClr val="dk1"/>
              </a:buClr>
              <a:buSzPts val="2800"/>
              <a:buNone/>
            </a:pPr>
            <a:r>
              <a:rPr lang="en-US"/>
              <a:t>- implique le système nerveux central ou périphérique</a:t>
            </a:r>
            <a:endParaRPr/>
          </a:p>
          <a:p>
            <a:pPr indent="0" lvl="0" marL="0" rtl="0" algn="l">
              <a:lnSpc>
                <a:spcPct val="90000"/>
              </a:lnSpc>
              <a:spcBef>
                <a:spcPts val="1000"/>
              </a:spcBef>
              <a:spcAft>
                <a:spcPts val="0"/>
              </a:spcAft>
              <a:buClr>
                <a:schemeClr val="dk1"/>
              </a:buClr>
              <a:buSzPts val="2800"/>
              <a:buNone/>
            </a:pPr>
            <a:r>
              <a:rPr lang="en-US"/>
              <a:t>- sont à médiation immunitaire dans la plupart des cas</a:t>
            </a:r>
            <a:endParaRPr/>
          </a:p>
          <a:p>
            <a:pPr indent="-228600" lvl="0" marL="228600" rtl="0" algn="l">
              <a:lnSpc>
                <a:spcPct val="90000"/>
              </a:lnSpc>
              <a:spcBef>
                <a:spcPts val="1000"/>
              </a:spcBef>
              <a:spcAft>
                <a:spcPts val="0"/>
              </a:spcAft>
              <a:buClr>
                <a:schemeClr val="dk1"/>
              </a:buClr>
              <a:buSzPts val="2800"/>
              <a:buFont typeface="Calibri"/>
              <a:buChar char="-"/>
            </a:pPr>
            <a:r>
              <a:rPr lang="en-US"/>
              <a:t>les symptômes se développent rapidement, contrairement à d'autres affections </a:t>
            </a:r>
            <a:endParaRPr/>
          </a:p>
          <a:p>
            <a:pPr indent="0" lvl="0" marL="0" rtl="0" algn="l">
              <a:lnSpc>
                <a:spcPct val="90000"/>
              </a:lnSpc>
              <a:spcBef>
                <a:spcPts val="1000"/>
              </a:spcBef>
              <a:spcAft>
                <a:spcPts val="0"/>
              </a:spcAft>
              <a:buClr>
                <a:schemeClr val="dk1"/>
              </a:buClr>
              <a:buSzPts val="2800"/>
              <a:buNone/>
            </a:pPr>
            <a:r>
              <a:rPr lang="en-US"/>
              <a:t>   neurologique dégénérative</a:t>
            </a:r>
            <a:endParaRPr/>
          </a:p>
          <a:p>
            <a:pPr indent="0" lvl="0" marL="0" rtl="0" algn="l">
              <a:lnSpc>
                <a:spcPct val="90000"/>
              </a:lnSpc>
              <a:spcBef>
                <a:spcPts val="1000"/>
              </a:spcBef>
              <a:spcAft>
                <a:spcPts val="0"/>
              </a:spcAft>
              <a:buClr>
                <a:schemeClr val="dk1"/>
              </a:buClr>
              <a:buSzPts val="2800"/>
              <a:buNone/>
            </a:pPr>
            <a:r>
              <a:rPr lang="en-US"/>
              <a:t>- régresse rarement après le traitement de la néoplasie</a:t>
            </a:r>
            <a:endParaRPr/>
          </a:p>
          <a:p>
            <a:pPr indent="0" lvl="0" marL="0" rtl="0" algn="l">
              <a:lnSpc>
                <a:spcPct val="90000"/>
              </a:lnSpc>
              <a:spcBef>
                <a:spcPts val="1000"/>
              </a:spcBef>
              <a:spcAft>
                <a:spcPts val="0"/>
              </a:spcAft>
              <a:buClr>
                <a:schemeClr val="dk1"/>
              </a:buClr>
              <a:buSzPts val="2800"/>
              <a:buNone/>
            </a:pPr>
            <a:r>
              <a:t/>
            </a:r>
            <a:endParaRPr/>
          </a:p>
        </p:txBody>
      </p:sp>
      <p:sp>
        <p:nvSpPr>
          <p:cNvPr id="599" name="Google Shape;599;p6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03" name="Shape 603"/>
        <p:cNvGrpSpPr/>
        <p:nvPr/>
      </p:nvGrpSpPr>
      <p:grpSpPr>
        <a:xfrm>
          <a:off x="0" y="0"/>
          <a:ext cx="0" cy="0"/>
          <a:chOff x="0" y="0"/>
          <a:chExt cx="0" cy="0"/>
        </a:xfrm>
      </p:grpSpPr>
      <p:sp>
        <p:nvSpPr>
          <p:cNvPr id="604" name="Google Shape;604;p7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SP neurologique</a:t>
            </a:r>
            <a:endParaRPr/>
          </a:p>
        </p:txBody>
      </p:sp>
      <p:sp>
        <p:nvSpPr>
          <p:cNvPr id="605" name="Google Shape;605;p7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2800"/>
              <a:buNone/>
            </a:pPr>
            <a:r>
              <a:rPr lang="en-US"/>
              <a:t>Types de manifestations neurologiques :</a:t>
            </a:r>
            <a:endParaRPr/>
          </a:p>
          <a:p>
            <a:pPr indent="0" lvl="0" marL="0" rtl="0" algn="l">
              <a:lnSpc>
                <a:spcPct val="90000"/>
              </a:lnSpc>
              <a:spcBef>
                <a:spcPts val="1000"/>
              </a:spcBef>
              <a:spcAft>
                <a:spcPts val="0"/>
              </a:spcAft>
              <a:buClr>
                <a:schemeClr val="dk1"/>
              </a:buClr>
              <a:buSzPts val="2800"/>
              <a:buNone/>
            </a:pPr>
            <a:r>
              <a:rPr lang="en-US"/>
              <a:t>- neuropathies sensitives subaiguës</a:t>
            </a:r>
            <a:endParaRPr/>
          </a:p>
          <a:p>
            <a:pPr indent="0" lvl="0" marL="0" rtl="0" algn="l">
              <a:lnSpc>
                <a:spcPct val="90000"/>
              </a:lnSpc>
              <a:spcBef>
                <a:spcPts val="1000"/>
              </a:spcBef>
              <a:spcAft>
                <a:spcPts val="0"/>
              </a:spcAft>
              <a:buClr>
                <a:schemeClr val="dk1"/>
              </a:buClr>
              <a:buSzPts val="2800"/>
              <a:buNone/>
            </a:pPr>
            <a:r>
              <a:rPr lang="en-US"/>
              <a:t>- neuropathies périphériques sensitives et motrices</a:t>
            </a:r>
            <a:endParaRPr/>
          </a:p>
          <a:p>
            <a:pPr indent="0" lvl="0" marL="0" rtl="0" algn="l">
              <a:lnSpc>
                <a:spcPct val="90000"/>
              </a:lnSpc>
              <a:spcBef>
                <a:spcPts val="1000"/>
              </a:spcBef>
              <a:spcAft>
                <a:spcPts val="0"/>
              </a:spcAft>
              <a:buClr>
                <a:schemeClr val="dk1"/>
              </a:buClr>
              <a:buSzPts val="2800"/>
              <a:buNone/>
            </a:pPr>
            <a:r>
              <a:rPr lang="en-US"/>
              <a:t>- encéphalite limbique : agitation, crises, troubles de la mémoire</a:t>
            </a:r>
            <a:endParaRPr/>
          </a:p>
          <a:p>
            <a:pPr indent="-228600" lvl="0" marL="228600" rtl="0" algn="l">
              <a:lnSpc>
                <a:spcPct val="90000"/>
              </a:lnSpc>
              <a:spcBef>
                <a:spcPts val="1000"/>
              </a:spcBef>
              <a:spcAft>
                <a:spcPts val="0"/>
              </a:spcAft>
              <a:buClr>
                <a:schemeClr val="dk1"/>
              </a:buClr>
              <a:buSzPts val="2800"/>
              <a:buFont typeface="Calibri"/>
              <a:buChar char="-"/>
            </a:pPr>
            <a:r>
              <a:rPr lang="en-US"/>
              <a:t>les troubles du motoneurone périphérique</a:t>
            </a:r>
            <a:endParaRPr/>
          </a:p>
          <a:p>
            <a:pPr indent="-228600" lvl="0" marL="228600" rtl="0" algn="l">
              <a:lnSpc>
                <a:spcPct val="90000"/>
              </a:lnSpc>
              <a:spcBef>
                <a:spcPts val="1000"/>
              </a:spcBef>
              <a:spcAft>
                <a:spcPts val="0"/>
              </a:spcAft>
              <a:buClr>
                <a:schemeClr val="dk1"/>
              </a:buClr>
              <a:buSzPts val="2800"/>
              <a:buFont typeface="Calibri"/>
              <a:buChar char="-"/>
            </a:pPr>
            <a:r>
              <a:rPr lang="en-US"/>
              <a:t>opistotonus-mioclonus</a:t>
            </a:r>
            <a:endParaRPr/>
          </a:p>
          <a:p>
            <a:pPr indent="-228600" lvl="0" marL="228600" rtl="0" algn="l">
              <a:lnSpc>
                <a:spcPct val="90000"/>
              </a:lnSpc>
              <a:spcBef>
                <a:spcPts val="1000"/>
              </a:spcBef>
              <a:spcAft>
                <a:spcPts val="0"/>
              </a:spcAft>
              <a:buClr>
                <a:schemeClr val="dk1"/>
              </a:buClr>
              <a:buSzPts val="2800"/>
              <a:buFont typeface="Calibri"/>
              <a:buChar char="-"/>
            </a:pPr>
            <a:r>
              <a:rPr lang="en-US"/>
              <a:t>troubles du mouvement : hyperkinésie, chorée</a:t>
            </a:r>
            <a:endParaRPr/>
          </a:p>
          <a:p>
            <a:pPr indent="-228600" lvl="0" marL="228600" rtl="0" algn="l">
              <a:lnSpc>
                <a:spcPct val="90000"/>
              </a:lnSpc>
              <a:spcBef>
                <a:spcPts val="1000"/>
              </a:spcBef>
              <a:spcAft>
                <a:spcPts val="0"/>
              </a:spcAft>
              <a:buClr>
                <a:schemeClr val="dk1"/>
              </a:buClr>
              <a:buSzPts val="2800"/>
              <a:buFont typeface="Calibri"/>
              <a:buChar char="-"/>
            </a:pPr>
            <a:r>
              <a:rPr lang="en-US"/>
              <a:t>rigidité musculaire : neuromyotonie paranéoplasique</a:t>
            </a:r>
            <a:endParaRPr/>
          </a:p>
          <a:p>
            <a:pPr indent="-228600" lvl="0" marL="228600" rtl="0" algn="l">
              <a:lnSpc>
                <a:spcPct val="90000"/>
              </a:lnSpc>
              <a:spcBef>
                <a:spcPts val="1000"/>
              </a:spcBef>
              <a:spcAft>
                <a:spcPts val="0"/>
              </a:spcAft>
              <a:buClr>
                <a:schemeClr val="dk1"/>
              </a:buClr>
              <a:buSzPts val="2800"/>
              <a:buFont typeface="Calibri"/>
              <a:buChar char="-"/>
            </a:pPr>
            <a:r>
              <a:rPr lang="en-US"/>
              <a:t>troubles de la jonction neuromusculaire</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p:txBody>
      </p:sp>
      <p:sp>
        <p:nvSpPr>
          <p:cNvPr id="606" name="Google Shape;606;p7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10" name="Shape 610"/>
        <p:cNvGrpSpPr/>
        <p:nvPr/>
      </p:nvGrpSpPr>
      <p:grpSpPr>
        <a:xfrm>
          <a:off x="0" y="0"/>
          <a:ext cx="0" cy="0"/>
          <a:chOff x="0" y="0"/>
          <a:chExt cx="0" cy="0"/>
        </a:xfrm>
      </p:grpSpPr>
      <p:sp>
        <p:nvSpPr>
          <p:cNvPr id="611" name="Google Shape;611;p7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SP Dermatologique </a:t>
            </a:r>
            <a:endParaRPr/>
          </a:p>
        </p:txBody>
      </p:sp>
      <p:sp>
        <p:nvSpPr>
          <p:cNvPr id="612" name="Google Shape;612;p7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Calibri"/>
              <a:buChar char="-"/>
            </a:pPr>
            <a:r>
              <a:rPr lang="en-US"/>
              <a:t>le SP le plus authentique</a:t>
            </a:r>
            <a:endParaRPr/>
          </a:p>
          <a:p>
            <a:pPr indent="-228600" lvl="0" marL="228600" rtl="0" algn="l">
              <a:lnSpc>
                <a:spcPct val="90000"/>
              </a:lnSpc>
              <a:spcBef>
                <a:spcPts val="1000"/>
              </a:spcBef>
              <a:spcAft>
                <a:spcPts val="0"/>
              </a:spcAft>
              <a:buClr>
                <a:schemeClr val="dk1"/>
              </a:buClr>
              <a:buSzPts val="2800"/>
              <a:buFont typeface="Calibri"/>
              <a:buChar char="-"/>
            </a:pPr>
            <a:r>
              <a:rPr lang="en-US"/>
              <a:t>évolue parallèlement au processus tumoral</a:t>
            </a:r>
            <a:endParaRPr/>
          </a:p>
          <a:p>
            <a:pPr indent="-228600" lvl="0" marL="228600" rtl="0" algn="l">
              <a:lnSpc>
                <a:spcPct val="90000"/>
              </a:lnSpc>
              <a:spcBef>
                <a:spcPts val="1000"/>
              </a:spcBef>
              <a:spcAft>
                <a:spcPts val="0"/>
              </a:spcAft>
              <a:buClr>
                <a:schemeClr val="dk1"/>
              </a:buClr>
              <a:buSzPts val="2800"/>
              <a:buFont typeface="Calibri"/>
              <a:buChar char="-"/>
            </a:pPr>
            <a:r>
              <a:rPr lang="en-US"/>
              <a:t>leur apparition fait souvent suspecter une néoplasie</a:t>
            </a:r>
            <a:endParaRPr/>
          </a:p>
          <a:p>
            <a:pPr indent="-228600" lvl="0" marL="228600" rtl="0" algn="l">
              <a:lnSpc>
                <a:spcPct val="90000"/>
              </a:lnSpc>
              <a:spcBef>
                <a:spcPts val="1000"/>
              </a:spcBef>
              <a:spcAft>
                <a:spcPts val="0"/>
              </a:spcAft>
              <a:buClr>
                <a:schemeClr val="dk1"/>
              </a:buClr>
              <a:buSzPts val="2800"/>
              <a:buFont typeface="Calibri"/>
              <a:buChar char="-"/>
            </a:pPr>
            <a:r>
              <a:rPr lang="en-US"/>
              <a:t>le traitement actif du cancer entraîne une réduction des symptômes ; sa réapparition suggère une récurrence/métastase</a:t>
            </a:r>
            <a:endParaRPr/>
          </a:p>
          <a:p>
            <a:pPr indent="-228600" lvl="0" marL="228600" rtl="0" algn="l">
              <a:lnSpc>
                <a:spcPct val="90000"/>
              </a:lnSpc>
              <a:spcBef>
                <a:spcPts val="1000"/>
              </a:spcBef>
              <a:spcAft>
                <a:spcPts val="0"/>
              </a:spcAft>
              <a:buClr>
                <a:schemeClr val="dk1"/>
              </a:buClr>
              <a:buSzPts val="2800"/>
              <a:buFont typeface="Calibri"/>
              <a:buChar char="-"/>
            </a:pPr>
            <a:r>
              <a:rPr lang="en-US"/>
              <a:t>dans leur physiopathologie sont incriminés la sécrétion par la tumeur d'hormones ou d'enzymes, le mécanisme immunitaire, le trouble de la carence, le trouble neurovasculaire</a:t>
            </a:r>
            <a:endParaRPr/>
          </a:p>
        </p:txBody>
      </p:sp>
      <p:sp>
        <p:nvSpPr>
          <p:cNvPr id="613" name="Google Shape;613;p7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17" name="Shape 617"/>
        <p:cNvGrpSpPr/>
        <p:nvPr/>
      </p:nvGrpSpPr>
      <p:grpSpPr>
        <a:xfrm>
          <a:off x="0" y="0"/>
          <a:ext cx="0" cy="0"/>
          <a:chOff x="0" y="0"/>
          <a:chExt cx="0" cy="0"/>
        </a:xfrm>
      </p:grpSpPr>
      <p:sp>
        <p:nvSpPr>
          <p:cNvPr id="618" name="Google Shape;618;p7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SP Dermatologique </a:t>
            </a:r>
            <a:endParaRPr/>
          </a:p>
        </p:txBody>
      </p:sp>
      <p:sp>
        <p:nvSpPr>
          <p:cNvPr id="619" name="Google Shape;619;p7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14350" lvl="0" marL="514350" rtl="0" algn="l">
              <a:lnSpc>
                <a:spcPct val="90000"/>
              </a:lnSpc>
              <a:spcBef>
                <a:spcPts val="0"/>
              </a:spcBef>
              <a:spcAft>
                <a:spcPts val="0"/>
              </a:spcAft>
              <a:buClr>
                <a:schemeClr val="dk1"/>
              </a:buClr>
              <a:buSzPts val="2800"/>
              <a:buAutoNum type="arabicPeriod"/>
            </a:pPr>
            <a:r>
              <a:rPr lang="en-US"/>
              <a:t>Acanthosis nigricans</a:t>
            </a:r>
            <a:endParaRPr/>
          </a:p>
          <a:p>
            <a:pPr indent="-228600" lvl="0" marL="228600" rtl="0" algn="l">
              <a:lnSpc>
                <a:spcPct val="90000"/>
              </a:lnSpc>
              <a:spcBef>
                <a:spcPts val="1000"/>
              </a:spcBef>
              <a:spcAft>
                <a:spcPts val="0"/>
              </a:spcAft>
              <a:buClr>
                <a:schemeClr val="dk1"/>
              </a:buClr>
              <a:buSzPts val="2800"/>
              <a:buFont typeface="Calibri"/>
              <a:buChar char="-"/>
            </a:pPr>
            <a:r>
              <a:rPr lang="en-US"/>
              <a:t>plaques hyperpigmentées, rugueuses, apparaissant progressivement et symétriquement sur le cou, les aisselles et les zones de flexion.</a:t>
            </a:r>
            <a:endParaRPr/>
          </a:p>
          <a:p>
            <a:pPr indent="-228600" lvl="0" marL="228600" rtl="0" algn="l">
              <a:lnSpc>
                <a:spcPct val="90000"/>
              </a:lnSpc>
              <a:spcBef>
                <a:spcPts val="1000"/>
              </a:spcBef>
              <a:spcAft>
                <a:spcPts val="0"/>
              </a:spcAft>
              <a:buClr>
                <a:schemeClr val="dk1"/>
              </a:buClr>
              <a:buSzPts val="2800"/>
              <a:buFont typeface="Calibri"/>
              <a:buChar char="-"/>
            </a:pPr>
            <a:r>
              <a:rPr lang="en-US"/>
              <a:t>Diagnostic différentiel de l'AN malin : pseudoacanthosis nigricans associé à l'obésité, à l'administration de corticoïdes ou d'androgènes ; endocrinopathies (acromégalie, DZ) ; AN familial.</a:t>
            </a:r>
            <a:endParaRPr/>
          </a:p>
          <a:p>
            <a:pPr indent="-228600" lvl="0" marL="228600" rtl="0" algn="l">
              <a:lnSpc>
                <a:spcPct val="90000"/>
              </a:lnSpc>
              <a:spcBef>
                <a:spcPts val="1000"/>
              </a:spcBef>
              <a:spcAft>
                <a:spcPts val="0"/>
              </a:spcAft>
              <a:buClr>
                <a:schemeClr val="dk1"/>
              </a:buClr>
              <a:buSzPts val="2800"/>
              <a:buFont typeface="Calibri"/>
              <a:buChar char="-"/>
            </a:pPr>
            <a:r>
              <a:rPr lang="en-US"/>
              <a:t>est le plus souvent associé à un néoplasme gastrique</a:t>
            </a:r>
            <a:endParaRPr/>
          </a:p>
          <a:p>
            <a:pPr indent="-50800" lvl="0" marL="228600" rtl="0" algn="l">
              <a:lnSpc>
                <a:spcPct val="90000"/>
              </a:lnSpc>
              <a:spcBef>
                <a:spcPts val="1000"/>
              </a:spcBef>
              <a:spcAft>
                <a:spcPts val="0"/>
              </a:spcAft>
              <a:buClr>
                <a:schemeClr val="dk1"/>
              </a:buClr>
              <a:buSzPts val="2800"/>
              <a:buFont typeface="Calibri"/>
              <a:buNone/>
            </a:pPr>
            <a:r>
              <a:t/>
            </a:r>
            <a:endParaRPr/>
          </a:p>
        </p:txBody>
      </p:sp>
      <p:sp>
        <p:nvSpPr>
          <p:cNvPr id="620" name="Google Shape;620;p7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24" name="Shape 624"/>
        <p:cNvGrpSpPr/>
        <p:nvPr/>
      </p:nvGrpSpPr>
      <p:grpSpPr>
        <a:xfrm>
          <a:off x="0" y="0"/>
          <a:ext cx="0" cy="0"/>
          <a:chOff x="0" y="0"/>
          <a:chExt cx="0" cy="0"/>
        </a:xfrm>
      </p:grpSpPr>
      <p:sp>
        <p:nvSpPr>
          <p:cNvPr id="625" name="Google Shape;625;p7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descr="Gastric cancer acanthosis nigricans. Rare C.A.R.P Skin Disorder (Confluent  and Reticulated Papillomatosis) papilloma e verruche" id="626" name="Google Shape;626;p73"/>
          <p:cNvSpPr/>
          <p:nvPr/>
        </p:nvSpPr>
        <p:spPr>
          <a:xfrm>
            <a:off x="155574" y="-144463"/>
            <a:ext cx="4246549" cy="424656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627" name="Google Shape;627;p73"/>
          <p:cNvPicPr preferRelativeResize="0"/>
          <p:nvPr/>
        </p:nvPicPr>
        <p:blipFill rotWithShape="1">
          <a:blip r:embed="rId3">
            <a:alphaModFix/>
          </a:blip>
          <a:srcRect b="0" l="0" r="0" t="0"/>
          <a:stretch/>
        </p:blipFill>
        <p:spPr>
          <a:xfrm>
            <a:off x="782622" y="1064418"/>
            <a:ext cx="3619501" cy="4795839"/>
          </a:xfrm>
          <a:prstGeom prst="rect">
            <a:avLst/>
          </a:prstGeom>
          <a:noFill/>
          <a:ln>
            <a:noFill/>
          </a:ln>
        </p:spPr>
      </p:pic>
      <p:pic>
        <p:nvPicPr>
          <p:cNvPr id="628" name="Google Shape;628;p73"/>
          <p:cNvPicPr preferRelativeResize="0"/>
          <p:nvPr/>
        </p:nvPicPr>
        <p:blipFill rotWithShape="1">
          <a:blip r:embed="rId4">
            <a:alphaModFix/>
          </a:blip>
          <a:srcRect b="0" l="0" r="0" t="0"/>
          <a:stretch/>
        </p:blipFill>
        <p:spPr>
          <a:xfrm>
            <a:off x="5205627" y="1423193"/>
            <a:ext cx="6148173" cy="4078288"/>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32" name="Shape 632"/>
        <p:cNvGrpSpPr/>
        <p:nvPr/>
      </p:nvGrpSpPr>
      <p:grpSpPr>
        <a:xfrm>
          <a:off x="0" y="0"/>
          <a:ext cx="0" cy="0"/>
          <a:chOff x="0" y="0"/>
          <a:chExt cx="0" cy="0"/>
        </a:xfrm>
      </p:grpSpPr>
      <p:sp>
        <p:nvSpPr>
          <p:cNvPr id="633" name="Google Shape;633;p7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SP cardiovasculaire</a:t>
            </a:r>
            <a:endParaRPr/>
          </a:p>
        </p:txBody>
      </p:sp>
      <p:sp>
        <p:nvSpPr>
          <p:cNvPr id="634" name="Google Shape;634;p7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90000"/>
              </a:lnSpc>
              <a:spcBef>
                <a:spcPts val="0"/>
              </a:spcBef>
              <a:spcAft>
                <a:spcPts val="0"/>
              </a:spcAft>
              <a:buClr>
                <a:schemeClr val="dk1"/>
              </a:buClr>
              <a:buSzPct val="100000"/>
              <a:buNone/>
            </a:pPr>
            <a:r>
              <a:rPr lang="en-US"/>
              <a:t>1. Le syndrome carcinoïde</a:t>
            </a:r>
            <a:endParaRPr/>
          </a:p>
          <a:p>
            <a:pPr indent="-228600" lvl="0" marL="228600" rtl="0" algn="l">
              <a:lnSpc>
                <a:spcPct val="90000"/>
              </a:lnSpc>
              <a:spcBef>
                <a:spcPts val="1000"/>
              </a:spcBef>
              <a:spcAft>
                <a:spcPts val="0"/>
              </a:spcAft>
              <a:buClr>
                <a:schemeClr val="dk1"/>
              </a:buClr>
              <a:buSzPct val="100000"/>
              <a:buFont typeface="Calibri"/>
              <a:buChar char="-"/>
            </a:pPr>
            <a:r>
              <a:rPr lang="en-US"/>
              <a:t>est due à une hypersécrétion de sérotonine et/ou de ses métabolites</a:t>
            </a:r>
            <a:endParaRPr/>
          </a:p>
          <a:p>
            <a:pPr indent="-228600" lvl="0" marL="228600" rtl="0" algn="l">
              <a:lnSpc>
                <a:spcPct val="90000"/>
              </a:lnSpc>
              <a:spcBef>
                <a:spcPts val="1000"/>
              </a:spcBef>
              <a:spcAft>
                <a:spcPts val="0"/>
              </a:spcAft>
              <a:buClr>
                <a:schemeClr val="dk1"/>
              </a:buClr>
              <a:buSzPct val="100000"/>
              <a:buFont typeface="Calibri"/>
              <a:buChar char="-"/>
            </a:pPr>
            <a:r>
              <a:rPr lang="en-US"/>
              <a:t>dans la grande majorité des cas, elle accompagne les tumeurs carcinoïdes digestives (intestin grêle, en présence de métastases hépatiques), plus rarement les tumeurs carcinoïdes pulmonaires ou le carcinome médullaire de la thyroïde.</a:t>
            </a:r>
            <a:endParaRPr/>
          </a:p>
          <a:p>
            <a:pPr indent="-228600" lvl="0" marL="228600" rtl="0" algn="l">
              <a:lnSpc>
                <a:spcPct val="90000"/>
              </a:lnSpc>
              <a:spcBef>
                <a:spcPts val="1000"/>
              </a:spcBef>
              <a:spcAft>
                <a:spcPts val="0"/>
              </a:spcAft>
              <a:buClr>
                <a:schemeClr val="dk1"/>
              </a:buClr>
              <a:buSzPct val="100000"/>
              <a:buFont typeface="Calibri"/>
              <a:buChar char="-"/>
            </a:pPr>
            <a:r>
              <a:rPr lang="en-US"/>
              <a:t>rougeur du visage et du cou, diarrhée chronique, douleur abdominale, bronchospasme</a:t>
            </a:r>
            <a:endParaRPr/>
          </a:p>
          <a:p>
            <a:pPr indent="-228600" lvl="0" marL="228600" rtl="0" algn="l">
              <a:lnSpc>
                <a:spcPct val="90000"/>
              </a:lnSpc>
              <a:spcBef>
                <a:spcPts val="1000"/>
              </a:spcBef>
              <a:spcAft>
                <a:spcPts val="0"/>
              </a:spcAft>
              <a:buClr>
                <a:schemeClr val="dk1"/>
              </a:buClr>
              <a:buSzPct val="100000"/>
              <a:buFont typeface="Calibri"/>
              <a:buChar char="-"/>
            </a:pPr>
            <a:r>
              <a:rPr lang="en-US"/>
              <a:t>insuffisance valvulaire, les manifestations articulaires apparaissent tardivement dans l'évolution</a:t>
            </a:r>
            <a:endParaRPr/>
          </a:p>
          <a:p>
            <a:pPr indent="-228600" lvl="0" marL="228600" rtl="0" algn="l">
              <a:lnSpc>
                <a:spcPct val="90000"/>
              </a:lnSpc>
              <a:spcBef>
                <a:spcPts val="1000"/>
              </a:spcBef>
              <a:spcAft>
                <a:spcPts val="0"/>
              </a:spcAft>
              <a:buClr>
                <a:schemeClr val="dk1"/>
              </a:buClr>
              <a:buSzPct val="100000"/>
              <a:buFont typeface="Calibri"/>
              <a:buChar char="-"/>
            </a:pPr>
            <a:r>
              <a:rPr lang="en-US"/>
              <a:t> augmentation de l'acide 5-HIAA (acide 5-OH-indole acétique) urinaire, de la sérotonine sérique, de la chromogranine sérique.</a:t>
            </a:r>
            <a:endParaRPr/>
          </a:p>
          <a:p>
            <a:pPr indent="-64135" lvl="0" marL="228600" rtl="0" algn="l">
              <a:lnSpc>
                <a:spcPct val="90000"/>
              </a:lnSpc>
              <a:spcBef>
                <a:spcPts val="1000"/>
              </a:spcBef>
              <a:spcAft>
                <a:spcPts val="0"/>
              </a:spcAft>
              <a:buClr>
                <a:schemeClr val="dk1"/>
              </a:buClr>
              <a:buSzPct val="100000"/>
              <a:buFont typeface="Calibri"/>
              <a:buNone/>
            </a:pPr>
            <a:r>
              <a:t/>
            </a:r>
            <a:endParaRPr/>
          </a:p>
          <a:p>
            <a:pPr indent="-64135" lvl="0" marL="228600" rtl="0" algn="l">
              <a:lnSpc>
                <a:spcPct val="90000"/>
              </a:lnSpc>
              <a:spcBef>
                <a:spcPts val="1000"/>
              </a:spcBef>
              <a:spcAft>
                <a:spcPts val="0"/>
              </a:spcAft>
              <a:buClr>
                <a:schemeClr val="dk1"/>
              </a:buClr>
              <a:buSzPct val="100000"/>
              <a:buFont typeface="Calibri"/>
              <a:buNone/>
            </a:pPr>
            <a:r>
              <a:t/>
            </a:r>
            <a:endParaRPr/>
          </a:p>
        </p:txBody>
      </p:sp>
      <p:sp>
        <p:nvSpPr>
          <p:cNvPr id="635" name="Google Shape;635;p7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39" name="Shape 639"/>
        <p:cNvGrpSpPr/>
        <p:nvPr/>
      </p:nvGrpSpPr>
      <p:grpSpPr>
        <a:xfrm>
          <a:off x="0" y="0"/>
          <a:ext cx="0" cy="0"/>
          <a:chOff x="0" y="0"/>
          <a:chExt cx="0" cy="0"/>
        </a:xfrm>
      </p:grpSpPr>
      <p:sp>
        <p:nvSpPr>
          <p:cNvPr id="640" name="Google Shape;640;p7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SP cardiovasculaire</a:t>
            </a:r>
            <a:endParaRPr/>
          </a:p>
        </p:txBody>
      </p:sp>
      <p:sp>
        <p:nvSpPr>
          <p:cNvPr id="641" name="Google Shape;641;p7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2. Thrombophlébite paranéoplasique</a:t>
            </a:r>
            <a:endParaRPr/>
          </a:p>
          <a:p>
            <a:pPr indent="-228600" lvl="0" marL="228600" rtl="0" algn="l">
              <a:lnSpc>
                <a:spcPct val="90000"/>
              </a:lnSpc>
              <a:spcBef>
                <a:spcPts val="1000"/>
              </a:spcBef>
              <a:spcAft>
                <a:spcPts val="0"/>
              </a:spcAft>
              <a:buClr>
                <a:schemeClr val="dk1"/>
              </a:buClr>
              <a:buSzPts val="2800"/>
              <a:buFont typeface="Calibri"/>
              <a:buChar char="-"/>
            </a:pPr>
            <a:r>
              <a:rPr lang="en-US"/>
              <a:t>précède dans de nombreux cas le diagnostic de néoplasie</a:t>
            </a:r>
            <a:endParaRPr/>
          </a:p>
          <a:p>
            <a:pPr indent="-228600" lvl="0" marL="228600" rtl="0" algn="l">
              <a:lnSpc>
                <a:spcPct val="90000"/>
              </a:lnSpc>
              <a:spcBef>
                <a:spcPts val="1000"/>
              </a:spcBef>
              <a:spcAft>
                <a:spcPts val="0"/>
              </a:spcAft>
              <a:buClr>
                <a:schemeClr val="dk1"/>
              </a:buClr>
              <a:buSzPts val="2800"/>
              <a:buFont typeface="Calibri"/>
              <a:buChar char="-"/>
            </a:pPr>
            <a:r>
              <a:rPr lang="en-US"/>
              <a:t>peut être peu profond/profond</a:t>
            </a:r>
            <a:endParaRPr/>
          </a:p>
          <a:p>
            <a:pPr indent="-228600" lvl="0" marL="228600" rtl="0" algn="l">
              <a:lnSpc>
                <a:spcPct val="90000"/>
              </a:lnSpc>
              <a:spcBef>
                <a:spcPts val="1000"/>
              </a:spcBef>
              <a:spcAft>
                <a:spcPts val="0"/>
              </a:spcAft>
              <a:buClr>
                <a:schemeClr val="dk1"/>
              </a:buClr>
              <a:buSzPts val="2800"/>
              <a:buFont typeface="Calibri"/>
              <a:buChar char="-"/>
            </a:pPr>
            <a:r>
              <a:rPr lang="en-US"/>
              <a:t>peut être migrateur (signe de Trousseau)</a:t>
            </a:r>
            <a:endParaRPr/>
          </a:p>
          <a:p>
            <a:pPr indent="-228600" lvl="0" marL="228600" rtl="0" algn="l">
              <a:lnSpc>
                <a:spcPct val="90000"/>
              </a:lnSpc>
              <a:spcBef>
                <a:spcPts val="1000"/>
              </a:spcBef>
              <a:spcAft>
                <a:spcPts val="0"/>
              </a:spcAft>
              <a:buClr>
                <a:schemeClr val="dk1"/>
              </a:buClr>
              <a:buSzPts val="2800"/>
              <a:buFont typeface="Calibri"/>
              <a:buChar char="-"/>
            </a:pPr>
            <a:r>
              <a:rPr lang="en-US"/>
              <a:t>plus fréquente dans le cancer broncho-pulmonaire ou le cancer du pancréas</a:t>
            </a:r>
            <a:endParaRPr/>
          </a:p>
        </p:txBody>
      </p:sp>
      <p:sp>
        <p:nvSpPr>
          <p:cNvPr id="642" name="Google Shape;642;p7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46" name="Shape 646"/>
        <p:cNvGrpSpPr/>
        <p:nvPr/>
      </p:nvGrpSpPr>
      <p:grpSpPr>
        <a:xfrm>
          <a:off x="0" y="0"/>
          <a:ext cx="0" cy="0"/>
          <a:chOff x="0" y="0"/>
          <a:chExt cx="0" cy="0"/>
        </a:xfrm>
      </p:grpSpPr>
      <p:sp>
        <p:nvSpPr>
          <p:cNvPr id="647" name="Google Shape;647;p7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SP ostéo-articulaire</a:t>
            </a:r>
            <a:endParaRPr/>
          </a:p>
        </p:txBody>
      </p:sp>
      <p:sp>
        <p:nvSpPr>
          <p:cNvPr id="648" name="Google Shape;648;p7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Ostéoarthropathie hypertrophique</a:t>
            </a:r>
            <a:endParaRPr/>
          </a:p>
          <a:p>
            <a:pPr indent="-228600" lvl="0" marL="228600" rtl="0" algn="l">
              <a:lnSpc>
                <a:spcPct val="90000"/>
              </a:lnSpc>
              <a:spcBef>
                <a:spcPts val="1000"/>
              </a:spcBef>
              <a:spcAft>
                <a:spcPts val="0"/>
              </a:spcAft>
              <a:buClr>
                <a:schemeClr val="dk1"/>
              </a:buClr>
              <a:buSzPts val="2800"/>
              <a:buFont typeface="Calibri"/>
              <a:buChar char="-"/>
            </a:pPr>
            <a:r>
              <a:rPr lang="en-US"/>
              <a:t>fréquente, touche surtout les hommes, caractère paranéoplasique</a:t>
            </a:r>
            <a:endParaRPr/>
          </a:p>
          <a:p>
            <a:pPr indent="-228600" lvl="0" marL="228600" rtl="0" algn="l">
              <a:lnSpc>
                <a:spcPct val="90000"/>
              </a:lnSpc>
              <a:spcBef>
                <a:spcPts val="1000"/>
              </a:spcBef>
              <a:spcAft>
                <a:spcPts val="0"/>
              </a:spcAft>
              <a:buClr>
                <a:schemeClr val="dk1"/>
              </a:buClr>
              <a:buSzPts val="2800"/>
              <a:buFont typeface="Calibri"/>
              <a:buChar char="-"/>
            </a:pPr>
            <a:r>
              <a:rPr i="1" lang="en-US"/>
              <a:t>accompagne le cancer broncho-pulmonaire</a:t>
            </a:r>
            <a:endParaRPr i="1"/>
          </a:p>
          <a:p>
            <a:pPr indent="-228600" lvl="0" marL="228600" rtl="0" algn="l">
              <a:lnSpc>
                <a:spcPct val="90000"/>
              </a:lnSpc>
              <a:spcBef>
                <a:spcPts val="1000"/>
              </a:spcBef>
              <a:spcAft>
                <a:spcPts val="0"/>
              </a:spcAft>
              <a:buClr>
                <a:schemeClr val="dk1"/>
              </a:buClr>
              <a:buSzPts val="2800"/>
              <a:buFont typeface="Calibri"/>
              <a:buChar char="-"/>
            </a:pPr>
            <a:r>
              <a:rPr lang="en-US"/>
              <a:t>arthralgie, arthrite subaiguë et chronique</a:t>
            </a:r>
            <a:endParaRPr/>
          </a:p>
          <a:p>
            <a:pPr indent="-228600" lvl="0" marL="228600" rtl="0" algn="l">
              <a:lnSpc>
                <a:spcPct val="90000"/>
              </a:lnSpc>
              <a:spcBef>
                <a:spcPts val="1000"/>
              </a:spcBef>
              <a:spcAft>
                <a:spcPts val="0"/>
              </a:spcAft>
              <a:buClr>
                <a:schemeClr val="dk1"/>
              </a:buClr>
              <a:buSzPts val="2800"/>
              <a:buFont typeface="Calibri"/>
              <a:buChar char="-"/>
            </a:pPr>
            <a:r>
              <a:rPr lang="en-US"/>
              <a:t>hypocrisie digitale ("doigts de tambour"), ongles en "sablier", hypertrophie pseudo-acromégaloïde des extrémités</a:t>
            </a:r>
            <a:endParaRPr/>
          </a:p>
          <a:p>
            <a:pPr indent="-228600" lvl="0" marL="228600" rtl="0" algn="l">
              <a:lnSpc>
                <a:spcPct val="90000"/>
              </a:lnSpc>
              <a:spcBef>
                <a:spcPts val="1000"/>
              </a:spcBef>
              <a:spcAft>
                <a:spcPts val="0"/>
              </a:spcAft>
              <a:buClr>
                <a:schemeClr val="dk1"/>
              </a:buClr>
              <a:buSzPts val="2800"/>
              <a:buFont typeface="Calibri"/>
              <a:buChar char="-"/>
            </a:pPr>
            <a:r>
              <a:rPr lang="en-US"/>
              <a:t>periostoza</a:t>
            </a:r>
            <a:endParaRPr/>
          </a:p>
        </p:txBody>
      </p:sp>
      <p:sp>
        <p:nvSpPr>
          <p:cNvPr id="649" name="Google Shape;649;p7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53" name="Shape 653"/>
        <p:cNvGrpSpPr/>
        <p:nvPr/>
      </p:nvGrpSpPr>
      <p:grpSpPr>
        <a:xfrm>
          <a:off x="0" y="0"/>
          <a:ext cx="0" cy="0"/>
          <a:chOff x="0" y="0"/>
          <a:chExt cx="0" cy="0"/>
        </a:xfrm>
      </p:grpSpPr>
      <p:sp>
        <p:nvSpPr>
          <p:cNvPr id="654" name="Google Shape;654;p7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SP hématologique</a:t>
            </a:r>
            <a:endParaRPr/>
          </a:p>
        </p:txBody>
      </p:sp>
      <p:sp>
        <p:nvSpPr>
          <p:cNvPr id="655" name="Google Shape;655;p7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Calibri"/>
              <a:buChar char="-"/>
            </a:pPr>
            <a:r>
              <a:rPr lang="en-US"/>
              <a:t>les changements hématologiques au cours de la progression du cancer sont dus à l'effet direct de la tumeur/des métastases, des infections ou de la toxicité du traitement oncologique plutôt qu'à un véritable syndrome paranéoplasique</a:t>
            </a:r>
            <a:endParaRPr/>
          </a:p>
          <a:p>
            <a:pPr indent="-228600" lvl="0" marL="228600" rtl="0" algn="l">
              <a:lnSpc>
                <a:spcPct val="90000"/>
              </a:lnSpc>
              <a:spcBef>
                <a:spcPts val="1000"/>
              </a:spcBef>
              <a:spcAft>
                <a:spcPts val="0"/>
              </a:spcAft>
              <a:buClr>
                <a:schemeClr val="dk1"/>
              </a:buClr>
              <a:buSzPts val="2800"/>
              <a:buFont typeface="Calibri"/>
              <a:buChar char="-"/>
            </a:pPr>
            <a:r>
              <a:rPr lang="en-US"/>
              <a:t>Les SEP hématologiques sont plus fréquentes dans les tumeurs lymphoprolifératives malignes et dans seulement 2 % des cas dans les tumeurs solides.</a:t>
            </a:r>
            <a:endParaRPr/>
          </a:p>
        </p:txBody>
      </p:sp>
      <p:sp>
        <p:nvSpPr>
          <p:cNvPr id="656" name="Google Shape;656;p7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60" name="Shape 660"/>
        <p:cNvGrpSpPr/>
        <p:nvPr/>
      </p:nvGrpSpPr>
      <p:grpSpPr>
        <a:xfrm>
          <a:off x="0" y="0"/>
          <a:ext cx="0" cy="0"/>
          <a:chOff x="0" y="0"/>
          <a:chExt cx="0" cy="0"/>
        </a:xfrm>
      </p:grpSpPr>
      <p:sp>
        <p:nvSpPr>
          <p:cNvPr id="661" name="Google Shape;661;p7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SP hématologique - série rouge</a:t>
            </a:r>
            <a:endParaRPr/>
          </a:p>
        </p:txBody>
      </p:sp>
      <p:sp>
        <p:nvSpPr>
          <p:cNvPr id="662" name="Google Shape;662;p7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L'</a:t>
            </a:r>
            <a:r>
              <a:rPr b="1" lang="en-US"/>
              <a:t>anémie </a:t>
            </a:r>
            <a:r>
              <a:rPr lang="en-US"/>
              <a:t>du cancer est le plus souvent de type normochrome et normochromocytaire, caractéristique des maladies chroniques.</a:t>
            </a:r>
            <a:endParaRPr/>
          </a:p>
          <a:p>
            <a:pPr indent="0" lvl="0" marL="0" rtl="0" algn="l">
              <a:lnSpc>
                <a:spcPct val="90000"/>
              </a:lnSpc>
              <a:spcBef>
                <a:spcPts val="1000"/>
              </a:spcBef>
              <a:spcAft>
                <a:spcPts val="0"/>
              </a:spcAft>
              <a:buClr>
                <a:schemeClr val="dk1"/>
              </a:buClr>
              <a:buSzPts val="2800"/>
              <a:buNone/>
            </a:pPr>
            <a:r>
              <a:rPr lang="en-US"/>
              <a:t>L</a:t>
            </a:r>
            <a:r>
              <a:rPr b="1" lang="en-US"/>
              <a:t>'anémie hémolytique auto-immune </a:t>
            </a:r>
            <a:r>
              <a:rPr lang="en-US"/>
              <a:t>est un véritable SP hématologique associé à des lymphomes lymphoprolifératifs de type B, rarement à des tumeurs rénales ou au sarcome de Kaposi.</a:t>
            </a:r>
            <a:endParaRPr/>
          </a:p>
          <a:p>
            <a:pPr indent="0" lvl="0" marL="0" rtl="0" algn="l">
              <a:lnSpc>
                <a:spcPct val="90000"/>
              </a:lnSpc>
              <a:spcBef>
                <a:spcPts val="1000"/>
              </a:spcBef>
              <a:spcAft>
                <a:spcPts val="0"/>
              </a:spcAft>
              <a:buClr>
                <a:schemeClr val="dk1"/>
              </a:buClr>
              <a:buSzPts val="2800"/>
              <a:buNone/>
            </a:pPr>
            <a:r>
              <a:rPr b="1" lang="en-US"/>
              <a:t>La polyglobulie </a:t>
            </a:r>
            <a:r>
              <a:rPr lang="en-US"/>
              <a:t>est secondaire à une hypersécrétion d'érythropoïétine, à une sécrétion d'érythropoïétine par la tumeur ou à une altération du métabolisme de l'érythropoïétine. Elle se produit dans les carcinomes rénaux, les hépatocarcinomes, les phéochromocytomes et les tumeurs ovariennes.</a:t>
            </a:r>
            <a:endParaRPr/>
          </a:p>
          <a:p>
            <a:pPr indent="0" lvl="0" marL="0" rtl="0" algn="l">
              <a:lnSpc>
                <a:spcPct val="90000"/>
              </a:lnSpc>
              <a:spcBef>
                <a:spcPts val="1000"/>
              </a:spcBef>
              <a:spcAft>
                <a:spcPts val="0"/>
              </a:spcAft>
              <a:buClr>
                <a:schemeClr val="dk1"/>
              </a:buClr>
              <a:buSzPts val="2800"/>
              <a:buNone/>
            </a:pPr>
            <a:r>
              <a:t/>
            </a:r>
            <a:endParaRPr/>
          </a:p>
        </p:txBody>
      </p:sp>
      <p:sp>
        <p:nvSpPr>
          <p:cNvPr id="663" name="Google Shape;663;p7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67" name="Shape 667"/>
        <p:cNvGrpSpPr/>
        <p:nvPr/>
      </p:nvGrpSpPr>
      <p:grpSpPr>
        <a:xfrm>
          <a:off x="0" y="0"/>
          <a:ext cx="0" cy="0"/>
          <a:chOff x="0" y="0"/>
          <a:chExt cx="0" cy="0"/>
        </a:xfrm>
      </p:grpSpPr>
      <p:sp>
        <p:nvSpPr>
          <p:cNvPr id="668" name="Google Shape;668;p79"/>
          <p:cNvSpPr txBox="1"/>
          <p:nvPr>
            <p:ph type="title"/>
          </p:nvPr>
        </p:nvSpPr>
        <p:spPr>
          <a:xfrm>
            <a:off x="614450" y="419800"/>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SP hématologique - série blanche</a:t>
            </a:r>
            <a:endParaRPr/>
          </a:p>
        </p:txBody>
      </p:sp>
      <p:sp>
        <p:nvSpPr>
          <p:cNvPr id="669" name="Google Shape;669;p7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La</a:t>
            </a:r>
            <a:r>
              <a:rPr b="1" lang="en-US"/>
              <a:t> granulocytose </a:t>
            </a:r>
            <a:r>
              <a:rPr lang="en-US"/>
              <a:t>consiste en une augmentation du nombre de neutrophiles de type mature au-delà de 15 000/mm3 en l'absence d'infection. Elle est due à la production de facteurs de croissance par la tumeur. Elle est fréquente dans les cancers HL, NHL, gastriques, broncho-pulmonaires et pancréatiques.</a:t>
            </a:r>
            <a:endParaRPr/>
          </a:p>
          <a:p>
            <a:pPr indent="0" lvl="0" marL="0" rtl="0" algn="l">
              <a:lnSpc>
                <a:spcPct val="90000"/>
              </a:lnSpc>
              <a:spcBef>
                <a:spcPts val="1000"/>
              </a:spcBef>
              <a:spcAft>
                <a:spcPts val="0"/>
              </a:spcAft>
              <a:buClr>
                <a:schemeClr val="dk1"/>
              </a:buClr>
              <a:buSzPts val="2800"/>
              <a:buNone/>
            </a:pPr>
            <a:r>
              <a:rPr lang="en-US"/>
              <a:t>La </a:t>
            </a:r>
            <a:r>
              <a:rPr b="1" lang="en-US"/>
              <a:t>neutropénie </a:t>
            </a:r>
            <a:r>
              <a:rPr lang="en-US"/>
              <a:t>paranéoplasique est due à la production d'un facteur de suppression de l'hématopoïèse ou, plus rarement, à la présence d'anticorps antigranulocytes.</a:t>
            </a:r>
            <a:endParaRPr/>
          </a:p>
          <a:p>
            <a:pPr indent="0" lvl="0" marL="0" rtl="0" algn="l">
              <a:lnSpc>
                <a:spcPct val="90000"/>
              </a:lnSpc>
              <a:spcBef>
                <a:spcPts val="1000"/>
              </a:spcBef>
              <a:spcAft>
                <a:spcPts val="0"/>
              </a:spcAft>
              <a:buClr>
                <a:schemeClr val="dk1"/>
              </a:buClr>
              <a:buSzPts val="2800"/>
              <a:buNone/>
            </a:pPr>
            <a:r>
              <a:rPr b="1" lang="en-US"/>
              <a:t>L</a:t>
            </a:r>
            <a:r>
              <a:rPr lang="en-US"/>
              <a:t>'</a:t>
            </a:r>
            <a:r>
              <a:rPr b="1" lang="en-US"/>
              <a:t>éosinophilie </a:t>
            </a:r>
            <a:r>
              <a:rPr lang="en-US"/>
              <a:t>est due à la production d'IL-3, d'IL-5 ou de GM-CSF par la tumeur. Il s'agit généralement d'un facteur pronostique négatif.</a:t>
            </a:r>
            <a:endParaRPr/>
          </a:p>
        </p:txBody>
      </p:sp>
      <p:sp>
        <p:nvSpPr>
          <p:cNvPr id="670" name="Google Shape;670;p7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74" name="Shape 674"/>
        <p:cNvGrpSpPr/>
        <p:nvPr/>
      </p:nvGrpSpPr>
      <p:grpSpPr>
        <a:xfrm>
          <a:off x="0" y="0"/>
          <a:ext cx="0" cy="0"/>
          <a:chOff x="0" y="0"/>
          <a:chExt cx="0" cy="0"/>
        </a:xfrm>
      </p:grpSpPr>
      <p:sp>
        <p:nvSpPr>
          <p:cNvPr id="675" name="Google Shape;675;p8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SP hématologique - série de thrombocytes</a:t>
            </a:r>
            <a:endParaRPr/>
          </a:p>
        </p:txBody>
      </p:sp>
      <p:sp>
        <p:nvSpPr>
          <p:cNvPr id="676" name="Google Shape;676;p8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en-US"/>
              <a:t>La thrombocytose </a:t>
            </a:r>
            <a:r>
              <a:rPr lang="en-US"/>
              <a:t>est due à la sécrétion d'un facteur de croissance mégacaryocytaire par la tumeur. Elle est plus fréquente dans les lymphomes malins, les cancers broncho-pulmonaires, ovariens, mammaires et broncho-pulmonaires. </a:t>
            </a:r>
            <a:r>
              <a:rPr b="1" i="1" lang="en-US" u="sng"/>
              <a:t>Toute thrombocytose inexpliquée doit faire suspecter une néoplasie !</a:t>
            </a:r>
            <a:endParaRPr/>
          </a:p>
          <a:p>
            <a:pPr indent="0" lvl="0" marL="0" rtl="0" algn="l">
              <a:lnSpc>
                <a:spcPct val="90000"/>
              </a:lnSpc>
              <a:spcBef>
                <a:spcPts val="1000"/>
              </a:spcBef>
              <a:spcAft>
                <a:spcPts val="0"/>
              </a:spcAft>
              <a:buClr>
                <a:schemeClr val="dk1"/>
              </a:buClr>
              <a:buSzPts val="2800"/>
              <a:buNone/>
            </a:pPr>
            <a:r>
              <a:rPr lang="en-US"/>
              <a:t>La</a:t>
            </a:r>
            <a:r>
              <a:rPr b="1" lang="en-US"/>
              <a:t> coagulation intravasculaire disséminée (CIVD) </a:t>
            </a:r>
            <a:r>
              <a:rPr lang="en-US"/>
              <a:t>peut survenir au cours des leucémies aiguës, des cancers de la prostate, du pancréas et des cancers broncho-pulmonaires. </a:t>
            </a:r>
            <a:endParaRPr/>
          </a:p>
        </p:txBody>
      </p:sp>
      <p:sp>
        <p:nvSpPr>
          <p:cNvPr id="677" name="Google Shape;677;p8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81" name="Shape 681"/>
        <p:cNvGrpSpPr/>
        <p:nvPr/>
      </p:nvGrpSpPr>
      <p:grpSpPr>
        <a:xfrm>
          <a:off x="0" y="0"/>
          <a:ext cx="0" cy="0"/>
          <a:chOff x="0" y="0"/>
          <a:chExt cx="0" cy="0"/>
        </a:xfrm>
      </p:grpSpPr>
      <p:sp>
        <p:nvSpPr>
          <p:cNvPr id="682" name="Google Shape;682;p8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SP Générale - fièvre</a:t>
            </a:r>
            <a:endParaRPr/>
          </a:p>
        </p:txBody>
      </p:sp>
      <p:sp>
        <p:nvSpPr>
          <p:cNvPr id="683" name="Google Shape;683;p8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Font typeface="Calibri"/>
              <a:buChar char="-"/>
            </a:pPr>
            <a:r>
              <a:rPr lang="en-US"/>
              <a:t>symptôme courant dans les cancers</a:t>
            </a:r>
            <a:endParaRPr/>
          </a:p>
          <a:p>
            <a:pPr indent="-228600" lvl="0" marL="228600" rtl="0" algn="l">
              <a:lnSpc>
                <a:spcPct val="90000"/>
              </a:lnSpc>
              <a:spcBef>
                <a:spcPts val="1000"/>
              </a:spcBef>
              <a:spcAft>
                <a:spcPts val="0"/>
              </a:spcAft>
              <a:buClr>
                <a:schemeClr val="dk1"/>
              </a:buClr>
              <a:buSzPct val="100000"/>
              <a:buFont typeface="Calibri"/>
              <a:buChar char="-"/>
            </a:pPr>
            <a:r>
              <a:rPr lang="en-US"/>
              <a:t>la cause est souvent infectieuse</a:t>
            </a:r>
            <a:endParaRPr/>
          </a:p>
          <a:p>
            <a:pPr indent="-228600" lvl="0" marL="228600" rtl="0" algn="l">
              <a:lnSpc>
                <a:spcPct val="90000"/>
              </a:lnSpc>
              <a:spcBef>
                <a:spcPts val="1000"/>
              </a:spcBef>
              <a:spcAft>
                <a:spcPts val="0"/>
              </a:spcAft>
              <a:buClr>
                <a:schemeClr val="dk1"/>
              </a:buClr>
              <a:buSzPct val="100000"/>
              <a:buFont typeface="Calibri"/>
              <a:buChar char="-"/>
            </a:pPr>
            <a:r>
              <a:rPr lang="en-US"/>
              <a:t>La fièvre paranéoplasique est une élévation de la température corporelle (généralement 38-39 degrés C) sans cause apparente, parfois à heure fixe (après-midi).</a:t>
            </a:r>
            <a:endParaRPr/>
          </a:p>
          <a:p>
            <a:pPr indent="-228600" lvl="0" marL="228600" rtl="0" algn="l">
              <a:lnSpc>
                <a:spcPct val="90000"/>
              </a:lnSpc>
              <a:spcBef>
                <a:spcPts val="1000"/>
              </a:spcBef>
              <a:spcAft>
                <a:spcPts val="0"/>
              </a:spcAft>
              <a:buClr>
                <a:schemeClr val="dk1"/>
              </a:buClr>
              <a:buSzPct val="100000"/>
              <a:buFont typeface="Calibri"/>
              <a:buChar char="-"/>
            </a:pPr>
            <a:r>
              <a:rPr lang="en-US"/>
              <a:t>la fièvre paranéoplasique est due à la libération de substances pyrogènes IL-1, IL-6, TNF par les cellules cancéreuses, les leucocytes ou d'autres cellules (cellules de Kupffer).</a:t>
            </a:r>
            <a:endParaRPr/>
          </a:p>
          <a:p>
            <a:pPr indent="-228600" lvl="0" marL="228600" rtl="0" algn="l">
              <a:lnSpc>
                <a:spcPct val="90000"/>
              </a:lnSpc>
              <a:spcBef>
                <a:spcPts val="1000"/>
              </a:spcBef>
              <a:spcAft>
                <a:spcPts val="0"/>
              </a:spcAft>
              <a:buClr>
                <a:schemeClr val="dk1"/>
              </a:buClr>
              <a:buSzPct val="100000"/>
              <a:buFont typeface="Calibri"/>
              <a:buChar char="-"/>
            </a:pPr>
            <a:r>
              <a:rPr lang="en-US"/>
              <a:t>Maladie de Hodgkin, leucémies aiguës, tumeurs rénales, gastriques et hépatiques</a:t>
            </a:r>
            <a:endParaRPr/>
          </a:p>
          <a:p>
            <a:pPr indent="-228600" lvl="0" marL="228600" rtl="0" algn="l">
              <a:lnSpc>
                <a:spcPct val="90000"/>
              </a:lnSpc>
              <a:spcBef>
                <a:spcPts val="1000"/>
              </a:spcBef>
              <a:spcAft>
                <a:spcPts val="0"/>
              </a:spcAft>
              <a:buClr>
                <a:schemeClr val="dk1"/>
              </a:buClr>
              <a:buSzPct val="100000"/>
              <a:buFont typeface="Calibri"/>
              <a:buChar char="-"/>
            </a:pPr>
            <a:r>
              <a:rPr lang="en-US"/>
              <a:t>résistant aux traitements antithermiques et anti-infectieux, disparaît après le traitement des néoplasies</a:t>
            </a:r>
            <a:endParaRPr/>
          </a:p>
          <a:p>
            <a:pPr indent="-64135" lvl="0" marL="228600" rtl="0" algn="l">
              <a:lnSpc>
                <a:spcPct val="90000"/>
              </a:lnSpc>
              <a:spcBef>
                <a:spcPts val="1000"/>
              </a:spcBef>
              <a:spcAft>
                <a:spcPts val="0"/>
              </a:spcAft>
              <a:buClr>
                <a:schemeClr val="dk1"/>
              </a:buClr>
              <a:buSzPct val="100000"/>
              <a:buFont typeface="Calibri"/>
              <a:buNone/>
            </a:pPr>
            <a:r>
              <a:t/>
            </a:r>
            <a:endParaRPr/>
          </a:p>
        </p:txBody>
      </p:sp>
      <p:sp>
        <p:nvSpPr>
          <p:cNvPr id="684" name="Google Shape;684;p8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88" name="Shape 688"/>
        <p:cNvGrpSpPr/>
        <p:nvPr/>
      </p:nvGrpSpPr>
      <p:grpSpPr>
        <a:xfrm>
          <a:off x="0" y="0"/>
          <a:ext cx="0" cy="0"/>
          <a:chOff x="0" y="0"/>
          <a:chExt cx="0" cy="0"/>
        </a:xfrm>
      </p:grpSpPr>
      <p:sp>
        <p:nvSpPr>
          <p:cNvPr id="689" name="Google Shape;689;p8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SP Générale - Amyloïdose</a:t>
            </a:r>
            <a:endParaRPr/>
          </a:p>
        </p:txBody>
      </p:sp>
      <p:sp>
        <p:nvSpPr>
          <p:cNvPr id="690" name="Google Shape;690;p8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Calibri"/>
              <a:buChar char="-"/>
            </a:pPr>
            <a:r>
              <a:rPr lang="en-US"/>
              <a:t>dépôt d'amyloïde dans les tissus, lésions multiviscérales</a:t>
            </a:r>
            <a:endParaRPr/>
          </a:p>
          <a:p>
            <a:pPr indent="-228600" lvl="0" marL="228600" rtl="0" algn="l">
              <a:lnSpc>
                <a:spcPct val="90000"/>
              </a:lnSpc>
              <a:spcBef>
                <a:spcPts val="1000"/>
              </a:spcBef>
              <a:spcAft>
                <a:spcPts val="0"/>
              </a:spcAft>
              <a:buClr>
                <a:schemeClr val="dk1"/>
              </a:buClr>
              <a:buSzPts val="2800"/>
              <a:buFont typeface="Calibri"/>
              <a:buChar char="-"/>
            </a:pPr>
            <a:r>
              <a:rPr lang="en-US"/>
              <a:t>plus fréquente pour des causes non néoplasiques (tuberculose, syphilis, lymphomes collagénogènes), HL, NHL, myélome multiple</a:t>
            </a:r>
            <a:endParaRPr/>
          </a:p>
          <a:p>
            <a:pPr indent="-228600" lvl="0" marL="228600" rtl="0" algn="l">
              <a:lnSpc>
                <a:spcPct val="90000"/>
              </a:lnSpc>
              <a:spcBef>
                <a:spcPts val="1000"/>
              </a:spcBef>
              <a:spcAft>
                <a:spcPts val="0"/>
              </a:spcAft>
              <a:buClr>
                <a:schemeClr val="dk1"/>
              </a:buClr>
              <a:buSzPts val="2800"/>
              <a:buFont typeface="Calibri"/>
              <a:buChar char="-"/>
            </a:pPr>
            <a:r>
              <a:rPr lang="en-US"/>
              <a:t>clinique : purpura cutané, nodules sous-cutanés, macroglossie, alopécie, neuropathie périphérique</a:t>
            </a:r>
            <a:endParaRPr/>
          </a:p>
          <a:p>
            <a:pPr indent="-228600" lvl="0" marL="228600" rtl="0" algn="l">
              <a:lnSpc>
                <a:spcPct val="90000"/>
              </a:lnSpc>
              <a:spcBef>
                <a:spcPts val="1000"/>
              </a:spcBef>
              <a:spcAft>
                <a:spcPts val="0"/>
              </a:spcAft>
              <a:buClr>
                <a:schemeClr val="dk1"/>
              </a:buClr>
              <a:buSzPts val="2800"/>
              <a:buFont typeface="Calibri"/>
              <a:buChar char="-"/>
            </a:pPr>
            <a:r>
              <a:rPr lang="en-US"/>
              <a:t>dépôts amyloïdes dans la coloration au rouge Congo des échantillons de biopsie de la muqueuse rectale et/ou gingivale</a:t>
            </a:r>
            <a:endParaRPr/>
          </a:p>
          <a:p>
            <a:pPr indent="-50800" lvl="0" marL="228600" rtl="0" algn="l">
              <a:lnSpc>
                <a:spcPct val="90000"/>
              </a:lnSpc>
              <a:spcBef>
                <a:spcPts val="1000"/>
              </a:spcBef>
              <a:spcAft>
                <a:spcPts val="0"/>
              </a:spcAft>
              <a:buClr>
                <a:schemeClr val="dk1"/>
              </a:buClr>
              <a:buSzPts val="2800"/>
              <a:buFont typeface="Calibri"/>
              <a:buNone/>
            </a:pPr>
            <a:r>
              <a:t/>
            </a:r>
            <a:endParaRPr/>
          </a:p>
        </p:txBody>
      </p:sp>
      <p:sp>
        <p:nvSpPr>
          <p:cNvPr id="691" name="Google Shape;691;p8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2022-05-04T16:48:08Z</dcterms:created>
  <dc:creator>Dan Sergiu</dc:creator>
</cp:coreProperties>
</file>