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hsb5z0JVxOweJl2MUKrFjIVrDu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customschemas.google.com/relationships/presentationmetadata" Target="metadata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1.jpg"/><Relationship Id="rId5" Type="http://schemas.openxmlformats.org/officeDocument/2006/relationships/image" Target="../media/image1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Relationship Id="rId4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3.jpg"/><Relationship Id="rId5" Type="http://schemas.openxmlformats.org/officeDocument/2006/relationships/image" Target="../media/image30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Relationship Id="rId4" Type="http://schemas.openxmlformats.org/officeDocument/2006/relationships/image" Target="../media/image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jpg"/><Relationship Id="rId4" Type="http://schemas.openxmlformats.org/officeDocument/2006/relationships/image" Target="../media/image18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8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2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jpg"/><Relationship Id="rId4" Type="http://schemas.openxmlformats.org/officeDocument/2006/relationships/image" Target="../media/image2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279681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Posterior rhinoscopy</a:t>
            </a:r>
            <a:endParaRPr/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73248" y="2890209"/>
            <a:ext cx="4148447" cy="304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8190" y="1825625"/>
            <a:ext cx="2961528" cy="2961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0" y="1032061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60756" y="3306389"/>
            <a:ext cx="2961528" cy="2961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we examine:</a:t>
            </a:r>
            <a:endParaRPr/>
          </a:p>
        </p:txBody>
      </p:sp>
      <p:sp>
        <p:nvSpPr>
          <p:cNvPr id="102" name="Google Shape;10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16446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Nasopharynx (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cavum</a:t>
            </a:r>
            <a:r>
              <a:rPr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446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Openings of the 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Eustachian tubes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446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Choanal openings</a:t>
            </a:r>
            <a:endParaRPr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446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Pharyngeal tonsil (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Luschka’s tonsil</a:t>
            </a:r>
            <a:r>
              <a:rPr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446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Tubal tonsil (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Gerlach’s tonsil</a:t>
            </a:r>
            <a:r>
              <a:rPr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446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Nasopharyngeal mucosa</a:t>
            </a:r>
            <a:endParaRPr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446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Nasal turbinates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103" name="Google Shape;10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7678" y="1215476"/>
            <a:ext cx="4445000" cy="486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>
            <p:ph idx="1" type="body"/>
          </p:nvPr>
        </p:nvSpPr>
        <p:spPr>
          <a:xfrm>
            <a:off x="963705" y="986118"/>
            <a:ext cx="4271683" cy="5217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Before inserting the rhinoscopy mirror into the patient’s mouth, </a:t>
            </a:r>
            <a:r>
              <a:rPr b="1" lang="en-US"/>
              <a:t>warm it and test the temperature </a:t>
            </a:r>
            <a:r>
              <a:rPr lang="en-US"/>
              <a:t>on the anatomical snuffbox.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br>
              <a:rPr lang="en-US"/>
            </a:br>
            <a:r>
              <a:rPr lang="en-US"/>
              <a:t>The mirror should be warm enough to prevent </a:t>
            </a:r>
            <a:r>
              <a:rPr b="1" lang="en-US"/>
              <a:t>fogging</a:t>
            </a:r>
            <a:r>
              <a:rPr lang="en-US"/>
              <a:t>, yet tolerable to the skin without causing </a:t>
            </a:r>
            <a:r>
              <a:rPr b="1" lang="en-US"/>
              <a:t>burns.</a:t>
            </a:r>
            <a:endParaRPr/>
          </a:p>
        </p:txBody>
      </p:sp>
      <p:pic>
        <p:nvPicPr>
          <p:cNvPr id="109" name="Google Shape;109;p4"/>
          <p:cNvPicPr preferRelativeResize="0"/>
          <p:nvPr/>
        </p:nvPicPr>
        <p:blipFill rotWithShape="1">
          <a:blip r:embed="rId3">
            <a:alphaModFix/>
          </a:blip>
          <a:srcRect b="63828" l="46705" r="526" t="23967"/>
          <a:stretch/>
        </p:blipFill>
        <p:spPr>
          <a:xfrm>
            <a:off x="6393906" y="3012141"/>
            <a:ext cx="5660081" cy="29546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64077" y="316750"/>
            <a:ext cx="3573554" cy="2551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/>
          <p:nvPr>
            <p:ph idx="1" type="body"/>
          </p:nvPr>
        </p:nvSpPr>
        <p:spPr>
          <a:xfrm>
            <a:off x="838200" y="699247"/>
            <a:ext cx="5702449" cy="54777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Hold the tongue depressor with your left hand. </a:t>
            </a:r>
            <a:r>
              <a:rPr b="1" lang="en-US"/>
              <a:t>Press the tongue down on its anterior two-thirds</a:t>
            </a:r>
            <a:r>
              <a:rPr lang="en-US"/>
              <a:t>, as for buccopharyngoscopy.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br>
              <a:rPr lang="en-US"/>
            </a:br>
            <a:r>
              <a:rPr lang="en-US"/>
              <a:t>Hold the posterior rhinoscopy mirror with your right hand. Insert the warmed mirror </a:t>
            </a:r>
            <a:r>
              <a:rPr b="1" lang="en-US"/>
              <a:t>beneath the soft palate, past the patient’s uvula, into the oropharynx</a:t>
            </a:r>
            <a:endParaRPr/>
          </a:p>
        </p:txBody>
      </p:sp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 b="29074" l="47393" r="0" t="37044"/>
          <a:stretch/>
        </p:blipFill>
        <p:spPr>
          <a:xfrm>
            <a:off x="7562626" y="699247"/>
            <a:ext cx="3791174" cy="5293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 txBox="1"/>
          <p:nvPr>
            <p:ph idx="1" type="body"/>
          </p:nvPr>
        </p:nvSpPr>
        <p:spPr>
          <a:xfrm>
            <a:off x="838200" y="785308"/>
            <a:ext cx="5056991" cy="53916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Examine the nasopharynx by gently </a:t>
            </a:r>
            <a:r>
              <a:rPr b="1" lang="en-US"/>
              <a:t>tilting the mirror laterally and posteriorly</a:t>
            </a:r>
            <a:r>
              <a:rPr lang="en-US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br>
              <a:rPr lang="en-US"/>
            </a:br>
            <a:r>
              <a:rPr b="1" lang="en-US"/>
              <a:t>Tip:</a:t>
            </a:r>
            <a:br>
              <a:rPr lang="en-US"/>
            </a:br>
            <a:r>
              <a:rPr lang="en-US"/>
              <a:t>Instruct the patient to </a:t>
            </a:r>
            <a:r>
              <a:rPr b="1" lang="en-US"/>
              <a:t>breathe through their nose</a:t>
            </a:r>
            <a:r>
              <a:rPr lang="en-US"/>
              <a:t>. This relaxes the soft palate and facilitates the examination.</a:t>
            </a:r>
            <a:endParaRPr/>
          </a:p>
        </p:txBody>
      </p:sp>
      <p:pic>
        <p:nvPicPr>
          <p:cNvPr id="122" name="Google Shape;122;p6"/>
          <p:cNvPicPr preferRelativeResize="0"/>
          <p:nvPr/>
        </p:nvPicPr>
        <p:blipFill rotWithShape="1">
          <a:blip r:embed="rId3">
            <a:alphaModFix/>
          </a:blip>
          <a:srcRect b="68783" l="43652" r="17136" t="14870"/>
          <a:stretch/>
        </p:blipFill>
        <p:spPr>
          <a:xfrm>
            <a:off x="7108416" y="1051629"/>
            <a:ext cx="4245384" cy="38368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Normal aspects:</a:t>
            </a:r>
            <a:endParaRPr/>
          </a:p>
        </p:txBody>
      </p:sp>
      <p:sp>
        <p:nvSpPr>
          <p:cNvPr id="128" name="Google Shape;128;p7"/>
          <p:cNvSpPr txBox="1"/>
          <p:nvPr>
            <p:ph idx="1" type="body"/>
          </p:nvPr>
        </p:nvSpPr>
        <p:spPr>
          <a:xfrm>
            <a:off x="838200" y="1739140"/>
            <a:ext cx="5132294" cy="45243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Clear nasopharynx, with </a:t>
            </a:r>
            <a:r>
              <a:rPr b="1" lang="en-US" sz="2400"/>
              <a:t>no pathological secretions or tumors,</a:t>
            </a:r>
            <a:endParaRPr b="1" sz="2400"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br>
              <a:rPr lang="en-US" sz="2400"/>
            </a:br>
            <a:r>
              <a:rPr b="1" lang="en-US" sz="2400"/>
              <a:t>No hypertrophy </a:t>
            </a:r>
            <a:r>
              <a:rPr lang="en-US" sz="2400"/>
              <a:t>of Luschka’s tonsil,</a:t>
            </a:r>
            <a:endParaRPr sz="2400"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br>
              <a:rPr lang="en-US" sz="2400"/>
            </a:br>
            <a:r>
              <a:rPr lang="en-US" sz="2400"/>
              <a:t>Eustachian tube openings </a:t>
            </a:r>
            <a:r>
              <a:rPr b="1" lang="en-US" sz="2400"/>
              <a:t>are patent</a:t>
            </a:r>
            <a:r>
              <a:rPr lang="en-US" sz="2400"/>
              <a:t>,</a:t>
            </a:r>
            <a:endParaRPr sz="2400"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br>
              <a:rPr lang="en-US" sz="2400"/>
            </a:br>
            <a:r>
              <a:rPr lang="en-US" sz="2400"/>
              <a:t>Nasal choanae </a:t>
            </a:r>
            <a:r>
              <a:rPr b="1" lang="en-US" sz="2400"/>
              <a:t>are clear</a:t>
            </a:r>
            <a:r>
              <a:rPr lang="en-US" sz="2400"/>
              <a:t>,</a:t>
            </a:r>
            <a:endParaRPr sz="2400"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br>
              <a:rPr lang="en-US" sz="2400"/>
            </a:br>
            <a:r>
              <a:rPr lang="en-US" sz="2400"/>
              <a:t>The posterosuperior wall of the cavum and the mucosa appear normal.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4866" y="1711452"/>
            <a:ext cx="4572000" cy="3435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Pathological aspects</a:t>
            </a:r>
            <a:endParaRPr/>
          </a:p>
        </p:txBody>
      </p:sp>
      <p:sp>
        <p:nvSpPr>
          <p:cNvPr id="135" name="Google Shape;135;p8"/>
          <p:cNvSpPr txBox="1"/>
          <p:nvPr>
            <p:ph idx="1" type="body"/>
          </p:nvPr>
        </p:nvSpPr>
        <p:spPr>
          <a:xfrm>
            <a:off x="838199" y="1374939"/>
            <a:ext cx="5867401" cy="525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Hypertrophy of the pharyngeal tonsil</a:t>
            </a:r>
            <a:r>
              <a:rPr lang="en-US" sz="2000"/>
              <a:t> (Luschka’s tonsil / adenoids – common in children)</a:t>
            </a:r>
            <a:endParaRPr sz="2000"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Pathological</a:t>
            </a:r>
            <a:r>
              <a:rPr lang="en-US" sz="2000"/>
              <a:t> (purulent) </a:t>
            </a:r>
            <a:r>
              <a:rPr b="1" lang="en-US" sz="2000"/>
              <a:t>secretions </a:t>
            </a:r>
            <a:r>
              <a:rPr lang="en-US" sz="2000"/>
              <a:t>flowing down the posterior pharyngeal wall (Eiterstraße – “pus trail”)</a:t>
            </a:r>
            <a:endParaRPr sz="2000"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Purulent secretions from the Eustachian tube</a:t>
            </a:r>
            <a:r>
              <a:rPr lang="en-US" sz="2000"/>
              <a:t> opening (suggestive of suppurative otitis media)</a:t>
            </a:r>
            <a:endParaRPr sz="2000"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Nasopharyngeal </a:t>
            </a:r>
            <a:r>
              <a:rPr b="1" lang="en-US" sz="2000"/>
              <a:t>tumors</a:t>
            </a:r>
            <a:endParaRPr b="1" sz="2000"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Bleeding</a:t>
            </a:r>
            <a:r>
              <a:rPr lang="en-US" sz="2000"/>
              <a:t> (post-adenoidectomy)</a:t>
            </a:r>
            <a:endParaRPr sz="2000"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Choanal obstruction / stenosis</a:t>
            </a:r>
            <a:endParaRPr/>
          </a:p>
        </p:txBody>
      </p:sp>
      <p:pic>
        <p:nvPicPr>
          <p:cNvPr id="136" name="Google Shape;13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9023" y="365125"/>
            <a:ext cx="4721654" cy="6111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550" y="1320308"/>
            <a:ext cx="11546900" cy="4681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Common mistakes </a:t>
            </a:r>
            <a:r>
              <a:rPr b="1" lang="en-US"/>
              <a:t>:</a:t>
            </a:r>
            <a:br>
              <a:rPr lang="en-US"/>
            </a:br>
            <a:endParaRPr/>
          </a:p>
        </p:txBody>
      </p:sp>
      <p:sp>
        <p:nvSpPr>
          <p:cNvPr id="148" name="Google Shape;148;p10"/>
          <p:cNvSpPr txBox="1"/>
          <p:nvPr>
            <p:ph idx="1" type="body"/>
          </p:nvPr>
        </p:nvSpPr>
        <p:spPr>
          <a:xfrm>
            <a:off x="838200" y="1825625"/>
            <a:ext cx="630487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overheated mirror can cause 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burns.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insufficiently warmed mirror will 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fog up.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Inserting the tongue depressor 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too deeply triggers the gag reflex</a:t>
            </a:r>
            <a:r>
              <a:rPr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Touching the 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posterior pharyngeal </a:t>
            </a:r>
            <a:r>
              <a:rPr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wall triggers the 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gag reflex.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49" name="Google Shape;14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897" y="2002266"/>
            <a:ext cx="4172174" cy="31291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"/>
          <p:cNvSpPr txBox="1"/>
          <p:nvPr>
            <p:ph type="ctrTitle"/>
          </p:nvPr>
        </p:nvSpPr>
        <p:spPr>
          <a:xfrm>
            <a:off x="1524000" y="218721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Indirect laryngoscopy</a:t>
            </a:r>
            <a:endParaRPr/>
          </a:p>
        </p:txBody>
      </p:sp>
      <p:pic>
        <p:nvPicPr>
          <p:cNvPr id="155" name="Google Shape;15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7974" y="2771452"/>
            <a:ext cx="8176610" cy="3867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3183" y="1070449"/>
            <a:ext cx="10713001" cy="5051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3865" y="525308"/>
            <a:ext cx="8244269" cy="5807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479" y="767258"/>
            <a:ext cx="3718925" cy="371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86180" y="157779"/>
            <a:ext cx="3271221" cy="3271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36160" y="3060822"/>
            <a:ext cx="3468932" cy="34689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"/>
          <p:cNvSpPr txBox="1"/>
          <p:nvPr>
            <p:ph idx="1" type="body"/>
          </p:nvPr>
        </p:nvSpPr>
        <p:spPr>
          <a:xfrm>
            <a:off x="838200" y="763793"/>
            <a:ext cx="5257800" cy="54131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back should be straight, with the torso slightly leaning forward.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br>
              <a:rPr lang="en-US"/>
            </a:br>
            <a:r>
              <a:rPr lang="en-US"/>
              <a:t>The head remains in a neutral position.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br>
              <a:rPr lang="en-US"/>
            </a:br>
            <a:r>
              <a:rPr lang="en-US"/>
              <a:t>The patient is asked to open their mouth, stick out the tongue, and breathe calmly through the mouth.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tongue muscles should be as relaxed as possible.</a:t>
            </a:r>
            <a:br>
              <a:rPr lang="en-US"/>
            </a:br>
            <a:r>
              <a:rPr lang="en-US"/>
              <a:t>The patient is instructed </a:t>
            </a:r>
            <a:r>
              <a:rPr b="1" lang="en-US"/>
              <a:t>not to pull on the tongue.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179" name="Google Shape;179;p15"/>
          <p:cNvPicPr preferRelativeResize="0"/>
          <p:nvPr/>
        </p:nvPicPr>
        <p:blipFill rotWithShape="1">
          <a:blip r:embed="rId3">
            <a:alphaModFix/>
          </a:blip>
          <a:srcRect b="13157" l="51842" r="22275" t="42633"/>
          <a:stretch/>
        </p:blipFill>
        <p:spPr>
          <a:xfrm rot="-5400000">
            <a:off x="6544591" y="1383795"/>
            <a:ext cx="4628665" cy="3646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6"/>
          <p:cNvSpPr txBox="1"/>
          <p:nvPr>
            <p:ph idx="1" type="body"/>
          </p:nvPr>
        </p:nvSpPr>
        <p:spPr>
          <a:xfrm>
            <a:off x="838200" y="1140311"/>
            <a:ext cx="5433508" cy="5036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Before inserting the laryngeal mirror into the patient's mouth,</a:t>
            </a:r>
            <a:br>
              <a:rPr lang="en-US"/>
            </a:br>
            <a:r>
              <a:rPr lang="en-US"/>
              <a:t>heat it up and </a:t>
            </a:r>
            <a:r>
              <a:rPr b="1" lang="en-US"/>
              <a:t>test the temperature</a:t>
            </a:r>
            <a:r>
              <a:rPr lang="en-US"/>
              <a:t> on the anatomical snuffbox.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mirror must be </a:t>
            </a:r>
            <a:r>
              <a:rPr b="1" lang="en-US"/>
              <a:t>warm enough</a:t>
            </a:r>
            <a:r>
              <a:rPr lang="en-US"/>
              <a:t> to prevent fogging,</a:t>
            </a:r>
            <a:br>
              <a:rPr lang="en-US"/>
            </a:br>
            <a:r>
              <a:rPr lang="en-US"/>
              <a:t>but still </a:t>
            </a:r>
            <a:r>
              <a:rPr b="1" lang="en-US"/>
              <a:t>tolerable on the skin</a:t>
            </a:r>
            <a:r>
              <a:rPr lang="en-US"/>
              <a:t> so as not to cause burns.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85" name="Google Shape;18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80601" y="891181"/>
            <a:ext cx="2970315" cy="2120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6"/>
          <p:cNvPicPr preferRelativeResize="0"/>
          <p:nvPr/>
        </p:nvPicPr>
        <p:blipFill rotWithShape="1">
          <a:blip r:embed="rId4">
            <a:alphaModFix/>
          </a:blip>
          <a:srcRect b="63828" l="46705" r="526" t="23967"/>
          <a:stretch/>
        </p:blipFill>
        <p:spPr>
          <a:xfrm>
            <a:off x="6730702" y="3429000"/>
            <a:ext cx="5148151" cy="2687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7"/>
          <p:cNvSpPr txBox="1"/>
          <p:nvPr>
            <p:ph idx="1" type="body"/>
          </p:nvPr>
        </p:nvSpPr>
        <p:spPr>
          <a:xfrm>
            <a:off x="838200" y="1825625"/>
            <a:ext cx="547653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Using a soft gauze pad in your left hand, hold the tongue.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br>
              <a:rPr lang="en-US"/>
            </a:br>
            <a:r>
              <a:rPr lang="en-US"/>
              <a:t>The gauze is held between the </a:t>
            </a:r>
            <a:r>
              <a:rPr b="1" lang="en-US"/>
              <a:t>thumb</a:t>
            </a:r>
            <a:r>
              <a:rPr lang="en-US"/>
              <a:t> and </a:t>
            </a:r>
            <a:r>
              <a:rPr b="1" lang="en-US"/>
              <a:t>middle finger</a:t>
            </a:r>
            <a:r>
              <a:rPr lang="en-US"/>
              <a:t>.</a:t>
            </a:r>
            <a:br>
              <a:rPr lang="en-US"/>
            </a:br>
            <a:r>
              <a:rPr lang="en-US"/>
              <a:t>Use the </a:t>
            </a:r>
            <a:r>
              <a:rPr b="1" lang="en-US"/>
              <a:t>index finger</a:t>
            </a:r>
            <a:r>
              <a:rPr lang="en-US"/>
              <a:t> to lift the upper lip.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</p:txBody>
      </p:sp>
      <p:pic>
        <p:nvPicPr>
          <p:cNvPr id="192" name="Google Shape;192;p17"/>
          <p:cNvPicPr preferRelativeResize="0"/>
          <p:nvPr/>
        </p:nvPicPr>
        <p:blipFill rotWithShape="1">
          <a:blip r:embed="rId3">
            <a:alphaModFix/>
          </a:blip>
          <a:srcRect b="53334" l="13657" r="23187" t="21484"/>
          <a:stretch/>
        </p:blipFill>
        <p:spPr>
          <a:xfrm>
            <a:off x="6810141" y="991906"/>
            <a:ext cx="4751815" cy="41076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8"/>
          <p:cNvSpPr txBox="1"/>
          <p:nvPr>
            <p:ph idx="1" type="body"/>
          </p:nvPr>
        </p:nvSpPr>
        <p:spPr>
          <a:xfrm>
            <a:off x="838200" y="774551"/>
            <a:ext cx="6078967" cy="5402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Insert the laryngeal mirror while </a:t>
            </a:r>
            <a:r>
              <a:rPr b="1" lang="en-US"/>
              <a:t>avoiding contact with surrounding structures and without pressing on the root of the uvula</a:t>
            </a:r>
            <a:r>
              <a:rPr lang="en-US"/>
              <a:t>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</a:t>
            </a:r>
            <a:r>
              <a:rPr b="1" lang="en-US"/>
              <a:t>mirror handle</a:t>
            </a:r>
            <a:r>
              <a:rPr lang="en-US"/>
              <a:t> should rest on the </a:t>
            </a:r>
            <a:r>
              <a:rPr b="1" lang="en-US"/>
              <a:t>left corner of the mouth</a:t>
            </a:r>
            <a:r>
              <a:rPr lang="en-US"/>
              <a:t>. If necessary, use a dedicated handle for the mirror.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With gentle </a:t>
            </a:r>
            <a:r>
              <a:rPr b="1" lang="en-US"/>
              <a:t>rotating and tilting movements</a:t>
            </a:r>
            <a:r>
              <a:rPr lang="en-US"/>
              <a:t>, examine the </a:t>
            </a:r>
            <a:r>
              <a:rPr b="1" lang="en-US"/>
              <a:t>larynx</a:t>
            </a:r>
            <a:r>
              <a:rPr lang="en-US"/>
              <a:t> and </a:t>
            </a:r>
            <a:r>
              <a:rPr b="1" lang="en-US"/>
              <a:t>hypopharynx</a:t>
            </a:r>
            <a:r>
              <a:rPr lang="en-US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br>
              <a:rPr lang="en-US"/>
            </a:br>
            <a:r>
              <a:rPr lang="en-US"/>
              <a:t>Ask the patient to take a </a:t>
            </a:r>
            <a:r>
              <a:rPr b="1" lang="en-US"/>
              <a:t>deep breath</a:t>
            </a:r>
            <a:r>
              <a:rPr lang="en-US"/>
              <a:t>, then </a:t>
            </a:r>
            <a:r>
              <a:rPr b="1" lang="en-US"/>
              <a:t>pronounce the vowels "E" and "I"</a:t>
            </a:r>
            <a:r>
              <a:rPr lang="en-US"/>
              <a:t> slowly.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198" name="Google Shape;198;p18"/>
          <p:cNvPicPr preferRelativeResize="0"/>
          <p:nvPr/>
        </p:nvPicPr>
        <p:blipFill rotWithShape="1">
          <a:blip r:embed="rId3">
            <a:alphaModFix/>
          </a:blip>
          <a:srcRect b="20784" l="15424" r="17919" t="48470"/>
          <a:stretch/>
        </p:blipFill>
        <p:spPr>
          <a:xfrm>
            <a:off x="7584140" y="323766"/>
            <a:ext cx="3151990" cy="3151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84140" y="4051907"/>
            <a:ext cx="3309769" cy="2482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Normal aspects:</a:t>
            </a:r>
            <a:br>
              <a:rPr lang="en-US"/>
            </a:br>
            <a:endParaRPr/>
          </a:p>
        </p:txBody>
      </p:sp>
      <p:sp>
        <p:nvSpPr>
          <p:cNvPr id="205" name="Google Shape;205;p19"/>
          <p:cNvSpPr txBox="1"/>
          <p:nvPr>
            <p:ph idx="1" type="body"/>
          </p:nvPr>
        </p:nvSpPr>
        <p:spPr>
          <a:xfrm>
            <a:off x="569260" y="1481389"/>
            <a:ext cx="5917602" cy="47226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600"/>
              <a:t>The base of the tongue, epiglottis, valleculae, piriform sinuses, oropharynx, and hypopharynx appear normal, without edema, hyperemia, or mucosal lesions, and without foreign bodies or tumor formations.</a:t>
            </a:r>
            <a:endParaRPr sz="3600"/>
          </a:p>
          <a:p>
            <a:pPr indent="-857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6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600"/>
              <a:t>Vocal cords have normal shape and coloration.</a:t>
            </a:r>
            <a:endParaRPr sz="3600"/>
          </a:p>
          <a:p>
            <a:pPr indent="-857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6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600"/>
              <a:t>Bilateral vocal cord mobility is preserved and symmetrical.</a:t>
            </a:r>
            <a:endParaRPr sz="3600"/>
          </a:p>
          <a:p>
            <a:pPr indent="-857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6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600"/>
              <a:t>The first tracheal cartilages appear normal.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4400"/>
          </a:p>
          <a:p>
            <a:pPr indent="-11747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206" name="Google Shape;20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78790" y="914399"/>
            <a:ext cx="4439251" cy="4722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4090" y="863917"/>
            <a:ext cx="4697506" cy="4697506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Pathological aspects </a:t>
            </a:r>
            <a:r>
              <a:rPr b="1" lang="en-US"/>
              <a:t>:</a:t>
            </a:r>
            <a:br>
              <a:rPr lang="en-US"/>
            </a:br>
            <a:endParaRPr/>
          </a:p>
        </p:txBody>
      </p:sp>
      <p:sp>
        <p:nvSpPr>
          <p:cNvPr id="213" name="Google Shape;213;p20"/>
          <p:cNvSpPr txBox="1"/>
          <p:nvPr>
            <p:ph idx="1" type="body"/>
          </p:nvPr>
        </p:nvSpPr>
        <p:spPr>
          <a:xfrm>
            <a:off x="838200" y="1113692"/>
            <a:ext cx="7079428" cy="50632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3800"/>
              <a:t>Hyperemic, edematous </a:t>
            </a:r>
            <a:r>
              <a:rPr lang="en-US" sz="3800"/>
              <a:t>(injured) laryngeal or hypopharyngeal mucosa</a:t>
            </a:r>
            <a:endParaRPr sz="3800"/>
          </a:p>
          <a:p>
            <a:pPr indent="-9588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8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3800"/>
              <a:t>Epiglottic edema</a:t>
            </a:r>
            <a:endParaRPr b="1" sz="3800"/>
          </a:p>
          <a:p>
            <a:pPr indent="-9588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8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3800"/>
              <a:t>Foreign bodies</a:t>
            </a:r>
            <a:endParaRPr b="1" sz="3800"/>
          </a:p>
          <a:p>
            <a:pPr indent="-9588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8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3800"/>
              <a:t>Pathological secretions</a:t>
            </a:r>
            <a:r>
              <a:rPr lang="en-US" sz="3800"/>
              <a:t> (purulent, blood-streaked)</a:t>
            </a:r>
            <a:endParaRPr sz="3800"/>
          </a:p>
          <a:p>
            <a:pPr indent="-9588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8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800"/>
              <a:t>Laryngeal or hypopharyngeal </a:t>
            </a:r>
            <a:r>
              <a:rPr b="1" lang="en-US" sz="3800"/>
              <a:t>tumors</a:t>
            </a:r>
            <a:endParaRPr b="1" sz="3800"/>
          </a:p>
          <a:p>
            <a:pPr indent="-9588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8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3800"/>
              <a:t>Edema, hyperemia</a:t>
            </a:r>
            <a:endParaRPr b="1" sz="3800"/>
          </a:p>
          <a:p>
            <a:pPr indent="-9588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8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800"/>
              <a:t>Unilateral or bilateral vocal cord </a:t>
            </a:r>
            <a:r>
              <a:rPr b="1" lang="en-US" sz="3800"/>
              <a:t>immobility or paralysis</a:t>
            </a:r>
            <a:endParaRPr/>
          </a:p>
          <a:p>
            <a:pPr indent="-13081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"/>
          <p:cNvSpPr txBox="1"/>
          <p:nvPr>
            <p:ph type="title"/>
          </p:nvPr>
        </p:nvSpPr>
        <p:spPr>
          <a:xfrm>
            <a:off x="943708" y="31823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Laryngitis (acute/chronic/gastroesophageal reflux-related)</a:t>
            </a:r>
            <a:endParaRPr/>
          </a:p>
        </p:txBody>
      </p:sp>
      <p:pic>
        <p:nvPicPr>
          <p:cNvPr id="219" name="Google Shape;219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1287" y="1793352"/>
            <a:ext cx="6527007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"/>
          <p:cNvSpPr txBox="1"/>
          <p:nvPr>
            <p:ph type="title"/>
          </p:nvPr>
        </p:nvSpPr>
        <p:spPr>
          <a:xfrm>
            <a:off x="703385" y="36512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Epiglottitis</a:t>
            </a:r>
            <a:endParaRPr/>
          </a:p>
        </p:txBody>
      </p:sp>
      <p:pic>
        <p:nvPicPr>
          <p:cNvPr id="225" name="Google Shape;225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7720" y="1690687"/>
            <a:ext cx="9471265" cy="47656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Foreign Bodies</a:t>
            </a:r>
            <a:endParaRPr b="1"/>
          </a:p>
        </p:txBody>
      </p:sp>
      <p:pic>
        <p:nvPicPr>
          <p:cNvPr id="231" name="Google Shape;231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4212" y="1359524"/>
            <a:ext cx="6810126" cy="53695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Laryngeal Papillomas</a:t>
            </a:r>
            <a:endParaRPr b="1"/>
          </a:p>
        </p:txBody>
      </p:sp>
      <p:pic>
        <p:nvPicPr>
          <p:cNvPr id="237" name="Google Shape;237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0339" y="1520825"/>
            <a:ext cx="6828122" cy="51210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 txBox="1"/>
          <p:nvPr>
            <p:ph type="title"/>
          </p:nvPr>
        </p:nvSpPr>
        <p:spPr>
          <a:xfrm>
            <a:off x="838200" y="6810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Vocal nodules ("singer's nodules")</a:t>
            </a:r>
            <a:br>
              <a:rPr lang="en-US"/>
            </a:br>
            <a:br>
              <a:rPr b="1" lang="en-US"/>
            </a:br>
            <a:endParaRPr/>
          </a:p>
        </p:txBody>
      </p:sp>
      <p:pic>
        <p:nvPicPr>
          <p:cNvPr id="243" name="Google Shape;243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6907" y="1782594"/>
            <a:ext cx="5758186" cy="47161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Vocal cord polyps</a:t>
            </a:r>
            <a:endParaRPr b="1"/>
          </a:p>
        </p:txBody>
      </p:sp>
      <p:pic>
        <p:nvPicPr>
          <p:cNvPr id="249" name="Google Shape;249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3633" y="1467948"/>
            <a:ext cx="5445598" cy="522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7"/>
          <p:cNvSpPr txBox="1"/>
          <p:nvPr>
            <p:ph type="title"/>
          </p:nvPr>
        </p:nvSpPr>
        <p:spPr>
          <a:xfrm>
            <a:off x="1037492" y="17669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Laryngeal cancer</a:t>
            </a:r>
            <a:endParaRPr/>
          </a:p>
        </p:txBody>
      </p:sp>
      <p:pic>
        <p:nvPicPr>
          <p:cNvPr id="255" name="Google Shape;255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4414" y="1502253"/>
            <a:ext cx="6292016" cy="4719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Unilateral or bilateral vocal cord immobility or paralysis</a:t>
            </a:r>
            <a:endParaRPr/>
          </a:p>
        </p:txBody>
      </p:sp>
      <p:pic>
        <p:nvPicPr>
          <p:cNvPr id="261" name="Google Shape;261;p2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8006" y="2040777"/>
            <a:ext cx="3655123" cy="4351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11591" y="2406855"/>
            <a:ext cx="5565352" cy="3703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2025-04-01T01:34:07Z</dcterms:created>
  <dc:creator>Dan Iovanescu</dc:creator>
</cp:coreProperties>
</file>