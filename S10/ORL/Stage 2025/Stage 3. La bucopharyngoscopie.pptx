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hFKqhePVrgzlidWyspeKR+90DM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o-R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p:nvPr>
            <p:ph idx="2" type="pic"/>
          </p:nvPr>
        </p:nvSpPr>
        <p:spPr>
          <a:xfrm>
            <a:off x="5183188" y="987425"/>
            <a:ext cx="6172200" cy="4873625"/>
          </a:xfrm>
          <a:prstGeom prst="rect">
            <a:avLst/>
          </a:prstGeom>
          <a:noFill/>
          <a:ln>
            <a:noFill/>
          </a:ln>
        </p:spPr>
      </p:sp>
      <p:sp>
        <p:nvSpPr>
          <p:cNvPr id="68" name="Google Shape;68;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o-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o-R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jpg"/><Relationship Id="rId4"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3999" y="241044"/>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ro-RO"/>
              <a:t>Buccopharyngoscopy</a:t>
            </a:r>
            <a:endParaRPr/>
          </a:p>
        </p:txBody>
      </p:sp>
      <p:pic>
        <p:nvPicPr>
          <p:cNvPr id="90" name="Google Shape;90;p1"/>
          <p:cNvPicPr preferRelativeResize="0"/>
          <p:nvPr/>
        </p:nvPicPr>
        <p:blipFill rotWithShape="1">
          <a:blip r:embed="rId3">
            <a:alphaModFix/>
          </a:blip>
          <a:srcRect b="0" l="0" r="0" t="0"/>
          <a:stretch/>
        </p:blipFill>
        <p:spPr>
          <a:xfrm>
            <a:off x="4024670" y="2675860"/>
            <a:ext cx="4142657" cy="31069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The pharynx is divided into three sections</a:t>
            </a:r>
            <a:r>
              <a:rPr b="1" lang="ro-RO"/>
              <a:t>: </a:t>
            </a:r>
            <a:br>
              <a:rPr b="1" lang="ro-RO"/>
            </a:br>
            <a:endParaRPr b="1"/>
          </a:p>
        </p:txBody>
      </p:sp>
      <p:sp>
        <p:nvSpPr>
          <p:cNvPr id="96" name="Google Shape;96;p2"/>
          <p:cNvSpPr txBox="1"/>
          <p:nvPr>
            <p:ph idx="1" type="body"/>
          </p:nvPr>
        </p:nvSpPr>
        <p:spPr>
          <a:xfrm>
            <a:off x="-1039761" y="365125"/>
            <a:ext cx="6201697" cy="4351338"/>
          </a:xfrm>
          <a:prstGeom prst="rect">
            <a:avLst/>
          </a:prstGeom>
          <a:noFill/>
          <a:ln>
            <a:noFill/>
          </a:ln>
        </p:spPr>
        <p:txBody>
          <a:bodyPr anchorCtr="0" anchor="t" bIns="45700" lIns="91425" spcFirstLastPara="1" rIns="91425" wrap="square" tIns="45700">
            <a:noAutofit/>
          </a:bodyPr>
          <a:lstStyle/>
          <a:p>
            <a:pPr indent="0" lvl="0" marL="228600" rtl="0" algn="l">
              <a:lnSpc>
                <a:spcPct val="90000"/>
              </a:lnSpc>
              <a:spcBef>
                <a:spcPts val="0"/>
              </a:spcBef>
              <a:spcAft>
                <a:spcPts val="0"/>
              </a:spcAft>
              <a:buClr>
                <a:schemeClr val="dk1"/>
              </a:buClr>
              <a:buSzPts val="4000"/>
              <a:buNone/>
            </a:pPr>
            <a:r>
              <a:t/>
            </a:r>
            <a:endParaRPr sz="4000"/>
          </a:p>
          <a:p>
            <a:pPr indent="0" lvl="0" marL="0" rtl="0" algn="l">
              <a:lnSpc>
                <a:spcPct val="90000"/>
              </a:lnSpc>
              <a:spcBef>
                <a:spcPts val="1000"/>
              </a:spcBef>
              <a:spcAft>
                <a:spcPts val="0"/>
              </a:spcAft>
              <a:buClr>
                <a:schemeClr val="dk1"/>
              </a:buClr>
              <a:buSzPts val="4000"/>
              <a:buNone/>
            </a:pPr>
            <a:r>
              <a:t/>
            </a:r>
            <a:endParaRPr sz="4000"/>
          </a:p>
          <a:p>
            <a:pPr indent="-254000" lvl="5" marL="2514600" rtl="0" algn="l">
              <a:lnSpc>
                <a:spcPct val="90000"/>
              </a:lnSpc>
              <a:spcBef>
                <a:spcPts val="500"/>
              </a:spcBef>
              <a:spcAft>
                <a:spcPts val="0"/>
              </a:spcAft>
              <a:buClr>
                <a:schemeClr val="dk1"/>
              </a:buClr>
              <a:buSzPts val="4000"/>
              <a:buChar char="•"/>
            </a:pPr>
            <a:r>
              <a:rPr lang="ro-RO" sz="4000"/>
              <a:t> nasopharynx</a:t>
            </a:r>
            <a:endParaRPr/>
          </a:p>
          <a:p>
            <a:pPr indent="0" lvl="0" marL="228600" rtl="0" algn="l">
              <a:lnSpc>
                <a:spcPct val="90000"/>
              </a:lnSpc>
              <a:spcBef>
                <a:spcPts val="1000"/>
              </a:spcBef>
              <a:spcAft>
                <a:spcPts val="0"/>
              </a:spcAft>
              <a:buClr>
                <a:schemeClr val="dk1"/>
              </a:buClr>
              <a:buSzPts val="4000"/>
              <a:buNone/>
            </a:pPr>
            <a:r>
              <a:t/>
            </a:r>
            <a:endParaRPr sz="4000"/>
          </a:p>
          <a:p>
            <a:pPr indent="-254000" lvl="5" marL="2514600" rtl="0" algn="l">
              <a:lnSpc>
                <a:spcPct val="90000"/>
              </a:lnSpc>
              <a:spcBef>
                <a:spcPts val="500"/>
              </a:spcBef>
              <a:spcAft>
                <a:spcPts val="0"/>
              </a:spcAft>
              <a:buClr>
                <a:srgbClr val="FF0000"/>
              </a:buClr>
              <a:buSzPts val="4000"/>
              <a:buChar char="•"/>
            </a:pPr>
            <a:r>
              <a:rPr lang="ro-RO" sz="4000">
                <a:solidFill>
                  <a:srgbClr val="FF0000"/>
                </a:solidFill>
              </a:rPr>
              <a:t> oropharynx</a:t>
            </a:r>
            <a:endParaRPr sz="4000">
              <a:solidFill>
                <a:srgbClr val="FF0000"/>
              </a:solidFill>
            </a:endParaRPr>
          </a:p>
          <a:p>
            <a:pPr indent="0" lvl="7" marL="3200400" rtl="0" algn="l">
              <a:lnSpc>
                <a:spcPct val="90000"/>
              </a:lnSpc>
              <a:spcBef>
                <a:spcPts val="500"/>
              </a:spcBef>
              <a:spcAft>
                <a:spcPts val="0"/>
              </a:spcAft>
              <a:buClr>
                <a:schemeClr val="dk1"/>
              </a:buClr>
              <a:buSzPts val="4000"/>
              <a:buNone/>
            </a:pPr>
            <a:r>
              <a:t/>
            </a:r>
            <a:endParaRPr sz="4000"/>
          </a:p>
          <a:p>
            <a:pPr indent="0" lvl="7" marL="3200400" rtl="0" algn="l">
              <a:lnSpc>
                <a:spcPct val="90000"/>
              </a:lnSpc>
              <a:spcBef>
                <a:spcPts val="500"/>
              </a:spcBef>
              <a:spcAft>
                <a:spcPts val="0"/>
              </a:spcAft>
              <a:buClr>
                <a:schemeClr val="dk1"/>
              </a:buClr>
              <a:buSzPts val="4000"/>
              <a:buNone/>
            </a:pPr>
            <a:r>
              <a:t/>
            </a:r>
            <a:endParaRPr sz="4000"/>
          </a:p>
          <a:p>
            <a:pPr indent="-254000" lvl="5" marL="2514600" rtl="0" algn="l">
              <a:lnSpc>
                <a:spcPct val="90000"/>
              </a:lnSpc>
              <a:spcBef>
                <a:spcPts val="500"/>
              </a:spcBef>
              <a:spcAft>
                <a:spcPts val="0"/>
              </a:spcAft>
              <a:buClr>
                <a:schemeClr val="dk1"/>
              </a:buClr>
              <a:buSzPts val="4000"/>
              <a:buChar char="•"/>
            </a:pPr>
            <a:r>
              <a:rPr lang="ro-RO" sz="4000"/>
              <a:t> Hypopharynx</a:t>
            </a:r>
            <a:endParaRPr sz="4000"/>
          </a:p>
          <a:p>
            <a:pPr indent="0" lvl="0" marL="0" rtl="0" algn="l">
              <a:lnSpc>
                <a:spcPct val="90000"/>
              </a:lnSpc>
              <a:spcBef>
                <a:spcPts val="1000"/>
              </a:spcBef>
              <a:spcAft>
                <a:spcPts val="0"/>
              </a:spcAft>
              <a:buClr>
                <a:schemeClr val="dk1"/>
              </a:buClr>
              <a:buSzPts val="4000"/>
              <a:buNone/>
            </a:pPr>
            <a:r>
              <a:t/>
            </a:r>
            <a:endParaRPr sz="4000"/>
          </a:p>
        </p:txBody>
      </p:sp>
      <p:pic>
        <p:nvPicPr>
          <p:cNvPr id="97" name="Google Shape;97;p2"/>
          <p:cNvPicPr preferRelativeResize="0"/>
          <p:nvPr/>
        </p:nvPicPr>
        <p:blipFill rotWithShape="1">
          <a:blip r:embed="rId3">
            <a:alphaModFix/>
          </a:blip>
          <a:srcRect b="0" l="0" r="0" t="0"/>
          <a:stretch/>
        </p:blipFill>
        <p:spPr>
          <a:xfrm>
            <a:off x="5967259" y="1690688"/>
            <a:ext cx="4218960" cy="42864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The oral cavity is bounded :</a:t>
            </a:r>
            <a:br>
              <a:rPr lang="ro-RO"/>
            </a:br>
            <a:endParaRPr/>
          </a:p>
        </p:txBody>
      </p:sp>
      <p:sp>
        <p:nvSpPr>
          <p:cNvPr id="103" name="Google Shape;103;p3"/>
          <p:cNvSpPr txBox="1"/>
          <p:nvPr>
            <p:ph idx="2" type="body"/>
          </p:nvPr>
        </p:nvSpPr>
        <p:spPr>
          <a:xfrm>
            <a:off x="838200" y="1238865"/>
            <a:ext cx="5181600" cy="507303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ro-RO"/>
              <a:t>anteriorly, by the inner surface of the lips</a:t>
            </a:r>
            <a:endParaRPr/>
          </a:p>
          <a:p>
            <a:pPr indent="-228600" lvl="0" marL="228600" rtl="0" algn="l">
              <a:lnSpc>
                <a:spcPct val="90000"/>
              </a:lnSpc>
              <a:spcBef>
                <a:spcPts val="1000"/>
              </a:spcBef>
              <a:spcAft>
                <a:spcPts val="0"/>
              </a:spcAft>
              <a:buClr>
                <a:schemeClr val="dk1"/>
              </a:buClr>
              <a:buSzPts val="2800"/>
              <a:buFont typeface="Arial"/>
              <a:buChar char="•"/>
            </a:pPr>
            <a:r>
              <a:rPr lang="ro-RO"/>
              <a:t>posteriorly, by the anterior pillar and the soft palate (oropharyngeal isthmus)</a:t>
            </a:r>
            <a:endParaRPr/>
          </a:p>
          <a:p>
            <a:pPr indent="-228600" lvl="0" marL="228600" rtl="0" algn="l">
              <a:lnSpc>
                <a:spcPct val="90000"/>
              </a:lnSpc>
              <a:spcBef>
                <a:spcPts val="1000"/>
              </a:spcBef>
              <a:spcAft>
                <a:spcPts val="0"/>
              </a:spcAft>
              <a:buClr>
                <a:schemeClr val="dk1"/>
              </a:buClr>
              <a:buSzPts val="2800"/>
              <a:buFont typeface="Arial"/>
              <a:buChar char="•"/>
            </a:pPr>
            <a:r>
              <a:rPr lang="ro-RO"/>
              <a:t>inferiorly, by the floor of the mouth</a:t>
            </a:r>
            <a:endParaRPr/>
          </a:p>
          <a:p>
            <a:pPr indent="-228600" lvl="0" marL="228600" rtl="0" algn="l">
              <a:lnSpc>
                <a:spcPct val="90000"/>
              </a:lnSpc>
              <a:spcBef>
                <a:spcPts val="1000"/>
              </a:spcBef>
              <a:spcAft>
                <a:spcPts val="0"/>
              </a:spcAft>
              <a:buClr>
                <a:schemeClr val="dk1"/>
              </a:buClr>
              <a:buSzPts val="2800"/>
              <a:buFont typeface="Arial"/>
              <a:buChar char="•"/>
            </a:pPr>
            <a:r>
              <a:rPr lang="ro-RO"/>
              <a:t>superiorly, by the hard palate and the palatine bone</a:t>
            </a:r>
            <a:endParaRPr/>
          </a:p>
        </p:txBody>
      </p:sp>
      <p:pic>
        <p:nvPicPr>
          <p:cNvPr id="104" name="Google Shape;104;p3"/>
          <p:cNvPicPr preferRelativeResize="0"/>
          <p:nvPr/>
        </p:nvPicPr>
        <p:blipFill rotWithShape="1">
          <a:blip r:embed="rId3">
            <a:alphaModFix/>
          </a:blip>
          <a:srcRect b="0" l="0" r="0" t="5494"/>
          <a:stretch/>
        </p:blipFill>
        <p:spPr>
          <a:xfrm>
            <a:off x="6592169" y="1120877"/>
            <a:ext cx="4594482" cy="49011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The oropharyngeal isthmus:</a:t>
            </a:r>
            <a:endParaRPr/>
          </a:p>
        </p:txBody>
      </p:sp>
      <p:sp>
        <p:nvSpPr>
          <p:cNvPr id="110" name="Google Shape;110;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ro-RO"/>
              <a:t>the lower edge of the soft palate, the anterior tonsillar pillars, and the base of the tongue, separating the oral cavity from the oropharynx</a:t>
            </a:r>
            <a:endParaRPr/>
          </a:p>
        </p:txBody>
      </p:sp>
      <p:pic>
        <p:nvPicPr>
          <p:cNvPr id="111" name="Google Shape;111;p4"/>
          <p:cNvPicPr preferRelativeResize="0"/>
          <p:nvPr>
            <p:ph idx="2" type="body"/>
          </p:nvPr>
        </p:nvPicPr>
        <p:blipFill rotWithShape="1">
          <a:blip r:embed="rId3">
            <a:alphaModFix/>
          </a:blip>
          <a:srcRect b="0" l="0" r="0" t="0"/>
          <a:stretch/>
        </p:blipFill>
        <p:spPr>
          <a:xfrm>
            <a:off x="6682442" y="1825625"/>
            <a:ext cx="4161115" cy="43513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None/>
            </a:pPr>
            <a:r>
              <a:rPr lang="ro-RO"/>
              <a:t>The oral cavity is divided by the upper and lower dental arches into two compartments:</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Font typeface="Arial"/>
              <a:buChar char="•"/>
            </a:pPr>
            <a:r>
              <a:rPr lang="ro-RO"/>
              <a:t>the inner oral vestibule: the buccal mucosa and the teeth</a:t>
            </a:r>
            <a:endParaRPr/>
          </a:p>
          <a:p>
            <a:pPr indent="-64135" lvl="0" marL="228600" rtl="0" algn="l">
              <a:lnSpc>
                <a:spcPct val="90000"/>
              </a:lnSpc>
              <a:spcBef>
                <a:spcPts val="1000"/>
              </a:spcBef>
              <a:spcAft>
                <a:spcPts val="0"/>
              </a:spcAft>
              <a:buClr>
                <a:schemeClr val="dk1"/>
              </a:buClr>
              <a:buSzPct val="100000"/>
              <a:buFont typeface="Arial"/>
              <a:buNone/>
            </a:pPr>
            <a:r>
              <a:t/>
            </a:r>
            <a:endParaRPr/>
          </a:p>
          <a:p>
            <a:pPr indent="-228600" lvl="0" marL="228600" rtl="0" algn="l">
              <a:lnSpc>
                <a:spcPct val="90000"/>
              </a:lnSpc>
              <a:spcBef>
                <a:spcPts val="1000"/>
              </a:spcBef>
              <a:spcAft>
                <a:spcPts val="0"/>
              </a:spcAft>
              <a:buClr>
                <a:schemeClr val="dk1"/>
              </a:buClr>
              <a:buSzPct val="100000"/>
              <a:buFont typeface="Arial"/>
              <a:buChar char="•"/>
            </a:pPr>
            <a:r>
              <a:rPr lang="ro-RO"/>
              <a:t>the oral cavity proper, bounded anteriorly and laterally by the inner surface of the dental arches.</a:t>
            </a:r>
            <a:endParaRPr/>
          </a:p>
        </p:txBody>
      </p:sp>
      <p:pic>
        <p:nvPicPr>
          <p:cNvPr id="117" name="Google Shape;117;p5"/>
          <p:cNvPicPr preferRelativeResize="0"/>
          <p:nvPr>
            <p:ph idx="2" type="body"/>
          </p:nvPr>
        </p:nvPicPr>
        <p:blipFill rotWithShape="1">
          <a:blip r:embed="rId3">
            <a:alphaModFix/>
          </a:blip>
          <a:srcRect b="0" l="0" r="0" t="0"/>
          <a:stretch/>
        </p:blipFill>
        <p:spPr>
          <a:xfrm>
            <a:off x="6671334" y="1619147"/>
            <a:ext cx="4202997" cy="4351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ro-RO"/>
              <a:t>The floor of the tongue”</a:t>
            </a:r>
            <a:br>
              <a:rPr lang="ro-RO"/>
            </a:br>
            <a:br>
              <a:rPr lang="ro-RO"/>
            </a:br>
            <a:endParaRPr/>
          </a:p>
        </p:txBody>
      </p:sp>
      <p:sp>
        <p:nvSpPr>
          <p:cNvPr id="123" name="Google Shape;123;p6"/>
          <p:cNvSpPr txBox="1"/>
          <p:nvPr>
            <p:ph idx="1" type="body"/>
          </p:nvPr>
        </p:nvSpPr>
        <p:spPr>
          <a:xfrm>
            <a:off x="838200" y="1465006"/>
            <a:ext cx="5181600" cy="471195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ro-RO"/>
              <a:t>It is formed by the mylohyoid muscle. At this level we find: the lingual frenulum, the opening of the sublingual gland, and the submandibular gland (Wharton's duct).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ro-RO"/>
              <a:t> Stensen's duct – the drainage duct of the parotid gland – opens into the oral vestibule opposite the second upper molar.</a:t>
            </a:r>
            <a:endParaRPr/>
          </a:p>
        </p:txBody>
      </p:sp>
      <p:pic>
        <p:nvPicPr>
          <p:cNvPr id="124" name="Google Shape;124;p6"/>
          <p:cNvPicPr preferRelativeResize="0"/>
          <p:nvPr>
            <p:ph idx="2" type="body"/>
          </p:nvPr>
        </p:nvPicPr>
        <p:blipFill rotWithShape="1">
          <a:blip r:embed="rId3">
            <a:alphaModFix/>
          </a:blip>
          <a:srcRect b="0" l="0" r="0" t="0"/>
          <a:stretch/>
        </p:blipFill>
        <p:spPr>
          <a:xfrm>
            <a:off x="6785929" y="945815"/>
            <a:ext cx="4442509" cy="52516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idx="1" type="body"/>
          </p:nvPr>
        </p:nvSpPr>
        <p:spPr>
          <a:xfrm>
            <a:off x="838200" y="806245"/>
            <a:ext cx="5181600" cy="537071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ro-RO"/>
              <a:t>Arterial supply – branches from the external carotid artery at the level of the floor of the mouth: the lingual artery and the sublingual artery.</a:t>
            </a:r>
            <a:endParaRPr/>
          </a:p>
          <a:p>
            <a:pPr indent="-228600" lvl="0" marL="228600" rtl="0" algn="l">
              <a:lnSpc>
                <a:spcPct val="90000"/>
              </a:lnSpc>
              <a:spcBef>
                <a:spcPts val="1000"/>
              </a:spcBef>
              <a:spcAft>
                <a:spcPts val="0"/>
              </a:spcAft>
              <a:buClr>
                <a:schemeClr val="dk1"/>
              </a:buClr>
              <a:buSzPts val="2800"/>
              <a:buChar char="•"/>
            </a:pPr>
            <a:br>
              <a:rPr lang="ro-RO"/>
            </a:br>
            <a:r>
              <a:rPr lang="ro-RO"/>
              <a:t>Veins – venous plexuses drain into the facial vein, pterygoid venous plexuses, internal jugular vein, and cavernous sinus.</a:t>
            </a:r>
            <a:endParaRPr/>
          </a:p>
          <a:p>
            <a:pPr indent="-228600" lvl="0" marL="228600" rtl="0" algn="l">
              <a:lnSpc>
                <a:spcPct val="90000"/>
              </a:lnSpc>
              <a:spcBef>
                <a:spcPts val="1000"/>
              </a:spcBef>
              <a:spcAft>
                <a:spcPts val="0"/>
              </a:spcAft>
              <a:buClr>
                <a:schemeClr val="dk1"/>
              </a:buClr>
              <a:buSzPts val="2800"/>
              <a:buChar char="•"/>
            </a:pPr>
            <a:br>
              <a:rPr lang="ro-RO"/>
            </a:br>
            <a:r>
              <a:rPr lang="ro-RO"/>
              <a:t>Lymphatics – drain into the submental, submandibular, and parotid lymph nodes.</a:t>
            </a:r>
            <a:endParaRPr/>
          </a:p>
        </p:txBody>
      </p:sp>
      <p:pic>
        <p:nvPicPr>
          <p:cNvPr id="130" name="Google Shape;130;p7"/>
          <p:cNvPicPr preferRelativeResize="0"/>
          <p:nvPr>
            <p:ph idx="2" type="body"/>
          </p:nvPr>
        </p:nvPicPr>
        <p:blipFill rotWithShape="1">
          <a:blip r:embed="rId3">
            <a:alphaModFix/>
          </a:blip>
          <a:srcRect b="0" l="0" r="0" t="0"/>
          <a:stretch/>
        </p:blipFill>
        <p:spPr>
          <a:xfrm>
            <a:off x="7099245" y="1157031"/>
            <a:ext cx="3588420" cy="50507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What do we have to examine</a:t>
            </a:r>
            <a:endParaRPr/>
          </a:p>
        </p:txBody>
      </p:sp>
      <p:sp>
        <p:nvSpPr>
          <p:cNvPr id="136" name="Google Shape;136;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Font typeface="Arial"/>
              <a:buChar char="•"/>
            </a:pPr>
            <a:r>
              <a:rPr lang="ro-RO"/>
              <a:t>Oral vestibule</a:t>
            </a:r>
            <a:endParaRPr/>
          </a:p>
          <a:p>
            <a:pPr indent="-228600" lvl="0" marL="228600" rtl="0" algn="l">
              <a:lnSpc>
                <a:spcPct val="90000"/>
              </a:lnSpc>
              <a:spcBef>
                <a:spcPts val="1000"/>
              </a:spcBef>
              <a:spcAft>
                <a:spcPts val="0"/>
              </a:spcAft>
              <a:buClr>
                <a:schemeClr val="dk1"/>
              </a:buClr>
              <a:buSzPct val="100000"/>
              <a:buFont typeface="Arial"/>
              <a:buChar char="•"/>
            </a:pPr>
            <a:r>
              <a:rPr lang="ro-RO"/>
              <a:t>Teeth</a:t>
            </a:r>
            <a:endParaRPr/>
          </a:p>
          <a:p>
            <a:pPr indent="-228600" lvl="0" marL="228600" rtl="0" algn="l">
              <a:lnSpc>
                <a:spcPct val="90000"/>
              </a:lnSpc>
              <a:spcBef>
                <a:spcPts val="1000"/>
              </a:spcBef>
              <a:spcAft>
                <a:spcPts val="0"/>
              </a:spcAft>
              <a:buClr>
                <a:schemeClr val="dk1"/>
              </a:buClr>
              <a:buSzPct val="100000"/>
              <a:buFont typeface="Arial"/>
              <a:buChar char="•"/>
            </a:pPr>
            <a:r>
              <a:rPr lang="ro-RO"/>
              <a:t>Floor of the mouth</a:t>
            </a:r>
            <a:endParaRPr/>
          </a:p>
          <a:p>
            <a:pPr indent="-228600" lvl="0" marL="228600" rtl="0" algn="l">
              <a:lnSpc>
                <a:spcPct val="90000"/>
              </a:lnSpc>
              <a:spcBef>
                <a:spcPts val="1000"/>
              </a:spcBef>
              <a:spcAft>
                <a:spcPts val="0"/>
              </a:spcAft>
              <a:buClr>
                <a:schemeClr val="dk1"/>
              </a:buClr>
              <a:buSzPct val="100000"/>
              <a:buFont typeface="Arial"/>
              <a:buChar char="•"/>
            </a:pPr>
            <a:r>
              <a:rPr lang="ro-RO"/>
              <a:t>Tongue</a:t>
            </a:r>
            <a:endParaRPr/>
          </a:p>
          <a:p>
            <a:pPr indent="-228600" lvl="0" marL="228600" rtl="0" algn="l">
              <a:lnSpc>
                <a:spcPct val="90000"/>
              </a:lnSpc>
              <a:spcBef>
                <a:spcPts val="1000"/>
              </a:spcBef>
              <a:spcAft>
                <a:spcPts val="0"/>
              </a:spcAft>
              <a:buClr>
                <a:schemeClr val="dk1"/>
              </a:buClr>
              <a:buSzPct val="100000"/>
              <a:buFont typeface="Arial"/>
              <a:buChar char="•"/>
            </a:pPr>
            <a:r>
              <a:rPr lang="ro-RO"/>
              <a:t>Buccal mucosa</a:t>
            </a:r>
            <a:endParaRPr/>
          </a:p>
          <a:p>
            <a:pPr indent="-228600" lvl="0" marL="228600" rtl="0" algn="l">
              <a:lnSpc>
                <a:spcPct val="90000"/>
              </a:lnSpc>
              <a:spcBef>
                <a:spcPts val="1000"/>
              </a:spcBef>
              <a:spcAft>
                <a:spcPts val="0"/>
              </a:spcAft>
              <a:buClr>
                <a:schemeClr val="dk1"/>
              </a:buClr>
              <a:buSzPct val="100000"/>
              <a:buFont typeface="Arial"/>
              <a:buChar char="•"/>
            </a:pPr>
            <a:r>
              <a:rPr lang="ro-RO"/>
              <a:t>Stensens duct</a:t>
            </a:r>
            <a:endParaRPr/>
          </a:p>
          <a:p>
            <a:pPr indent="-228600" lvl="0" marL="228600" rtl="0" algn="l">
              <a:lnSpc>
                <a:spcPct val="90000"/>
              </a:lnSpc>
              <a:spcBef>
                <a:spcPts val="1000"/>
              </a:spcBef>
              <a:spcAft>
                <a:spcPts val="0"/>
              </a:spcAft>
              <a:buClr>
                <a:schemeClr val="dk1"/>
              </a:buClr>
              <a:buSzPct val="100000"/>
              <a:buFont typeface="Arial"/>
              <a:buChar char="•"/>
            </a:pPr>
            <a:r>
              <a:rPr lang="ro-RO"/>
              <a:t>Wharton duct</a:t>
            </a:r>
            <a:endParaRPr/>
          </a:p>
          <a:p>
            <a:pPr indent="-228600" lvl="0" marL="228600" rtl="0" algn="l">
              <a:lnSpc>
                <a:spcPct val="90000"/>
              </a:lnSpc>
              <a:spcBef>
                <a:spcPts val="1000"/>
              </a:spcBef>
              <a:spcAft>
                <a:spcPts val="0"/>
              </a:spcAft>
              <a:buClr>
                <a:schemeClr val="dk1"/>
              </a:buClr>
              <a:buSzPct val="100000"/>
              <a:buFont typeface="Arial"/>
              <a:buChar char="•"/>
            </a:pPr>
            <a:r>
              <a:rPr lang="ro-RO"/>
              <a:t>Palatine tonsils</a:t>
            </a:r>
            <a:endParaRPr/>
          </a:p>
          <a:p>
            <a:pPr indent="-228600" lvl="0" marL="228600" rtl="0" algn="l">
              <a:lnSpc>
                <a:spcPct val="90000"/>
              </a:lnSpc>
              <a:spcBef>
                <a:spcPts val="1000"/>
              </a:spcBef>
              <a:spcAft>
                <a:spcPts val="0"/>
              </a:spcAft>
              <a:buClr>
                <a:schemeClr val="dk1"/>
              </a:buClr>
              <a:buSzPct val="100000"/>
              <a:buFont typeface="Arial"/>
              <a:buChar char="•"/>
            </a:pPr>
            <a:r>
              <a:rPr lang="ro-RO"/>
              <a:t>Uvula</a:t>
            </a:r>
            <a:endParaRPr/>
          </a:p>
          <a:p>
            <a:pPr indent="-228600" lvl="0" marL="228600" rtl="0" algn="l">
              <a:lnSpc>
                <a:spcPct val="90000"/>
              </a:lnSpc>
              <a:spcBef>
                <a:spcPts val="1000"/>
              </a:spcBef>
              <a:spcAft>
                <a:spcPts val="0"/>
              </a:spcAft>
              <a:buClr>
                <a:schemeClr val="dk1"/>
              </a:buClr>
              <a:buSzPct val="100000"/>
              <a:buFont typeface="Arial"/>
              <a:buChar char="•"/>
            </a:pPr>
            <a:r>
              <a:rPr lang="ro-RO"/>
              <a:t>Soft palate</a:t>
            </a:r>
            <a:endParaRPr/>
          </a:p>
          <a:p>
            <a:pPr indent="-228600" lvl="0" marL="228600" rtl="0" algn="l">
              <a:lnSpc>
                <a:spcPct val="90000"/>
              </a:lnSpc>
              <a:spcBef>
                <a:spcPts val="1000"/>
              </a:spcBef>
              <a:spcAft>
                <a:spcPts val="0"/>
              </a:spcAft>
              <a:buClr>
                <a:schemeClr val="dk1"/>
              </a:buClr>
              <a:buSzPct val="100000"/>
              <a:buFont typeface="Arial"/>
              <a:buChar char="•"/>
            </a:pPr>
            <a:r>
              <a:rPr lang="ro-RO"/>
              <a:t>Hard palate</a:t>
            </a:r>
            <a:endParaRPr/>
          </a:p>
          <a:p>
            <a:pPr indent="-228600" lvl="0" marL="228600" rtl="0" algn="l">
              <a:lnSpc>
                <a:spcPct val="90000"/>
              </a:lnSpc>
              <a:spcBef>
                <a:spcPts val="1000"/>
              </a:spcBef>
              <a:spcAft>
                <a:spcPts val="0"/>
              </a:spcAft>
              <a:buClr>
                <a:schemeClr val="dk1"/>
              </a:buClr>
              <a:buSzPct val="100000"/>
              <a:buFont typeface="Arial"/>
              <a:buChar char="•"/>
            </a:pPr>
            <a:r>
              <a:rPr lang="ro-RO"/>
              <a:t>Posterior pharyngeal wall</a:t>
            </a:r>
            <a:endParaRPr/>
          </a:p>
        </p:txBody>
      </p:sp>
      <p:sp>
        <p:nvSpPr>
          <p:cNvPr id="137" name="Google Shape;137;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38" name="Google Shape;138;p8"/>
          <p:cNvPicPr preferRelativeResize="0"/>
          <p:nvPr/>
        </p:nvPicPr>
        <p:blipFill rotWithShape="1">
          <a:blip r:embed="rId3">
            <a:alphaModFix/>
          </a:blip>
          <a:srcRect b="0" l="0" r="0" t="0"/>
          <a:stretch/>
        </p:blipFill>
        <p:spPr>
          <a:xfrm>
            <a:off x="6207274" y="1425676"/>
            <a:ext cx="5222726" cy="4857135"/>
          </a:xfrm>
          <a:prstGeom prst="rect">
            <a:avLst/>
          </a:prstGeom>
          <a:noFill/>
          <a:ln>
            <a:noFill/>
          </a:ln>
        </p:spPr>
      </p:pic>
      <p:sp>
        <p:nvSpPr>
          <p:cNvPr id="139" name="Google Shape;139;p8"/>
          <p:cNvSpPr/>
          <p:nvPr/>
        </p:nvSpPr>
        <p:spPr>
          <a:xfrm>
            <a:off x="0" y="0"/>
            <a:ext cx="12192000" cy="0"/>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1" lang="ro-RO" sz="1800" u="none" cap="none" strike="noStrike">
                <a:solidFill>
                  <a:schemeClr val="dk1"/>
                </a:solidFill>
                <a:latin typeface="Arial"/>
                <a:ea typeface="Arial"/>
                <a:cs typeface="Arial"/>
                <a:sym typeface="Arial"/>
              </a:rPr>
              <a:t>Buccal mucosa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Instrumentar utilizat:</a:t>
            </a:r>
            <a:endParaRPr/>
          </a:p>
        </p:txBody>
      </p:sp>
      <p:pic>
        <p:nvPicPr>
          <p:cNvPr id="145" name="Google Shape;145;p9"/>
          <p:cNvPicPr preferRelativeResize="0"/>
          <p:nvPr>
            <p:ph idx="1" type="body"/>
          </p:nvPr>
        </p:nvPicPr>
        <p:blipFill rotWithShape="1">
          <a:blip r:embed="rId3">
            <a:alphaModFix/>
          </a:blip>
          <a:srcRect b="0" l="0" r="0" t="0"/>
          <a:stretch/>
        </p:blipFill>
        <p:spPr>
          <a:xfrm>
            <a:off x="1216742" y="1825625"/>
            <a:ext cx="4063898" cy="4063898"/>
          </a:xfrm>
          <a:prstGeom prst="rect">
            <a:avLst/>
          </a:prstGeom>
          <a:noFill/>
          <a:ln>
            <a:noFill/>
          </a:ln>
        </p:spPr>
      </p:pic>
      <p:pic>
        <p:nvPicPr>
          <p:cNvPr id="146" name="Google Shape;146;p9"/>
          <p:cNvPicPr preferRelativeResize="0"/>
          <p:nvPr/>
        </p:nvPicPr>
        <p:blipFill rotWithShape="1">
          <a:blip r:embed="rId4">
            <a:alphaModFix/>
          </a:blip>
          <a:srcRect b="0" l="0" r="0" t="0"/>
          <a:stretch/>
        </p:blipFill>
        <p:spPr>
          <a:xfrm>
            <a:off x="6806380" y="1690688"/>
            <a:ext cx="3832123" cy="38321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10"/>
          <p:cNvPicPr preferRelativeResize="0"/>
          <p:nvPr>
            <p:ph idx="1" type="body"/>
          </p:nvPr>
        </p:nvPicPr>
        <p:blipFill rotWithShape="1">
          <a:blip r:embed="rId3">
            <a:alphaModFix/>
          </a:blip>
          <a:srcRect b="28261" l="38357" r="12906" t="25305"/>
          <a:stretch/>
        </p:blipFill>
        <p:spPr>
          <a:xfrm>
            <a:off x="7727576" y="511116"/>
            <a:ext cx="3191436" cy="5698886"/>
          </a:xfrm>
          <a:prstGeom prst="rect">
            <a:avLst/>
          </a:prstGeom>
          <a:noFill/>
          <a:ln>
            <a:noFill/>
          </a:ln>
        </p:spPr>
      </p:pic>
      <p:sp>
        <p:nvSpPr>
          <p:cNvPr id="152" name="Google Shape;152;p10"/>
          <p:cNvSpPr txBox="1"/>
          <p:nvPr>
            <p:ph idx="2" type="body"/>
          </p:nvPr>
        </p:nvSpPr>
        <p:spPr>
          <a:xfrm>
            <a:off x="963707" y="1099484"/>
            <a:ext cx="5181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ro-RO"/>
              <a:t>Hold the tongue depressor with the correct grip (like holding a pen) and examine the oral vestibule from cranial to caudal.</a:t>
            </a:r>
            <a:endParaRPr/>
          </a:p>
          <a:p>
            <a:pPr indent="-228600" lvl="0" marL="228600" rtl="0" algn="l">
              <a:lnSpc>
                <a:spcPct val="90000"/>
              </a:lnSpc>
              <a:spcBef>
                <a:spcPts val="1000"/>
              </a:spcBef>
              <a:spcAft>
                <a:spcPts val="0"/>
              </a:spcAft>
              <a:buClr>
                <a:schemeClr val="dk1"/>
              </a:buClr>
              <a:buSzPts val="2800"/>
              <a:buChar char="•"/>
            </a:pPr>
            <a:br>
              <a:rPr lang="ro-RO"/>
            </a:br>
            <a:r>
              <a:rPr lang="ro-RO"/>
              <a:t>Ask the patient to lift their tongue to the roof of the mouth and inspect the floor of the mouth. Then, ask the patient to stick out their tongue and move it left and right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The oropharyngeal isthmus examination</a:t>
            </a:r>
            <a:endParaRPr/>
          </a:p>
        </p:txBody>
      </p:sp>
      <p:pic>
        <p:nvPicPr>
          <p:cNvPr id="158" name="Google Shape;158;p11"/>
          <p:cNvPicPr preferRelativeResize="0"/>
          <p:nvPr>
            <p:ph idx="2" type="body"/>
          </p:nvPr>
        </p:nvPicPr>
        <p:blipFill rotWithShape="1">
          <a:blip r:embed="rId3">
            <a:alphaModFix/>
          </a:blip>
          <a:srcRect b="59867" l="52010" r="2475" t="18876"/>
          <a:stretch/>
        </p:blipFill>
        <p:spPr>
          <a:xfrm>
            <a:off x="7664822" y="2355353"/>
            <a:ext cx="3271453" cy="3291879"/>
          </a:xfrm>
          <a:prstGeom prst="rect">
            <a:avLst/>
          </a:prstGeom>
          <a:noFill/>
          <a:ln>
            <a:noFill/>
          </a:ln>
        </p:spPr>
      </p:pic>
      <p:sp>
        <p:nvSpPr>
          <p:cNvPr id="159" name="Google Shape;159;p11"/>
          <p:cNvSpPr txBox="1"/>
          <p:nvPr>
            <p:ph idx="1" type="body"/>
          </p:nvPr>
        </p:nvSpPr>
        <p:spPr>
          <a:xfrm>
            <a:off x="838199" y="1437518"/>
            <a:ext cx="4764741" cy="5127558"/>
          </a:xfrm>
          <a:prstGeom prst="rect">
            <a:avLst/>
          </a:prstGeom>
          <a:noFill/>
          <a:ln>
            <a:noFill/>
          </a:ln>
        </p:spPr>
        <p:txBody>
          <a:bodyPr anchorCtr="0" anchor="ctr"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None/>
            </a:pPr>
            <a:r>
              <a:rPr lang="ro-RO" sz="2400"/>
              <a:t>Press the tongue down on its anterior two-thirds and examine:</a:t>
            </a:r>
            <a:endParaRPr/>
          </a:p>
          <a:p>
            <a:pPr indent="-228600" lvl="0" marL="228600" rtl="0" algn="l">
              <a:lnSpc>
                <a:spcPct val="90000"/>
              </a:lnSpc>
              <a:spcBef>
                <a:spcPts val="1000"/>
              </a:spcBef>
              <a:spcAft>
                <a:spcPts val="0"/>
              </a:spcAft>
              <a:buClr>
                <a:schemeClr val="dk1"/>
              </a:buClr>
              <a:buSzPts val="2400"/>
              <a:buFont typeface="Arial"/>
              <a:buChar char="•"/>
            </a:pPr>
            <a:r>
              <a:rPr lang="ro-RO" sz="2400"/>
              <a:t>The oropharyngeal isthmus</a:t>
            </a:r>
            <a:endParaRPr/>
          </a:p>
          <a:p>
            <a:pPr indent="-228600" lvl="0" marL="228600" rtl="0" algn="l">
              <a:lnSpc>
                <a:spcPct val="90000"/>
              </a:lnSpc>
              <a:spcBef>
                <a:spcPts val="1000"/>
              </a:spcBef>
              <a:spcAft>
                <a:spcPts val="0"/>
              </a:spcAft>
              <a:buClr>
                <a:schemeClr val="dk1"/>
              </a:buClr>
              <a:buSzPts val="2400"/>
              <a:buFont typeface="Arial"/>
              <a:buChar char="•"/>
            </a:pPr>
            <a:r>
              <a:rPr lang="ro-RO" sz="2400"/>
              <a:t>The soft palate</a:t>
            </a:r>
            <a:endParaRPr/>
          </a:p>
          <a:p>
            <a:pPr indent="-228600" lvl="0" marL="228600" rtl="0" algn="l">
              <a:lnSpc>
                <a:spcPct val="90000"/>
              </a:lnSpc>
              <a:spcBef>
                <a:spcPts val="1000"/>
              </a:spcBef>
              <a:spcAft>
                <a:spcPts val="0"/>
              </a:spcAft>
              <a:buClr>
                <a:schemeClr val="dk1"/>
              </a:buClr>
              <a:buSzPts val="2400"/>
              <a:buFont typeface="Arial"/>
              <a:buChar char="•"/>
            </a:pPr>
            <a:r>
              <a:rPr lang="ro-RO" sz="2400"/>
              <a:t>The hard palate</a:t>
            </a:r>
            <a:endParaRPr/>
          </a:p>
          <a:p>
            <a:pPr indent="-228600" lvl="0" marL="228600" rtl="0" algn="l">
              <a:lnSpc>
                <a:spcPct val="90000"/>
              </a:lnSpc>
              <a:spcBef>
                <a:spcPts val="1000"/>
              </a:spcBef>
              <a:spcAft>
                <a:spcPts val="0"/>
              </a:spcAft>
              <a:buClr>
                <a:schemeClr val="dk1"/>
              </a:buClr>
              <a:buSzPts val="2400"/>
              <a:buFont typeface="Arial"/>
              <a:buChar char="•"/>
            </a:pPr>
            <a:r>
              <a:rPr lang="ro-RO" sz="2400"/>
              <a:t>The tonsillar fossae and the palatine tonsils</a:t>
            </a:r>
            <a:endParaRPr/>
          </a:p>
          <a:p>
            <a:pPr indent="-228600" lvl="0" marL="228600" rtl="0" algn="l">
              <a:lnSpc>
                <a:spcPct val="90000"/>
              </a:lnSpc>
              <a:spcBef>
                <a:spcPts val="1000"/>
              </a:spcBef>
              <a:spcAft>
                <a:spcPts val="0"/>
              </a:spcAft>
              <a:buClr>
                <a:schemeClr val="dk1"/>
              </a:buClr>
              <a:buSzPts val="2400"/>
              <a:buFont typeface="Arial"/>
              <a:buChar char="•"/>
            </a:pPr>
            <a:r>
              <a:rPr lang="ro-RO" sz="2400"/>
              <a:t>The bilateral glossotonsillar angle</a:t>
            </a:r>
            <a:endParaRPr/>
          </a:p>
          <a:p>
            <a:pPr indent="-228600" lvl="0" marL="228600" rtl="0" algn="l">
              <a:lnSpc>
                <a:spcPct val="90000"/>
              </a:lnSpc>
              <a:spcBef>
                <a:spcPts val="1000"/>
              </a:spcBef>
              <a:spcAft>
                <a:spcPts val="0"/>
              </a:spcAft>
              <a:buClr>
                <a:schemeClr val="dk1"/>
              </a:buClr>
              <a:buSzPts val="2400"/>
              <a:buChar char="•"/>
            </a:pPr>
            <a:r>
              <a:rPr lang="ro-RO" sz="2400"/>
              <a:t>Instruction:</a:t>
            </a:r>
            <a:br>
              <a:rPr lang="ro-RO" sz="2400"/>
            </a:br>
            <a:r>
              <a:rPr lang="ro-RO" sz="2400"/>
              <a:t>Ask the patient to say the letter ‘A’ → allows observation of soft palate movement</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Examination of the buccal mucosa (Stensen’s duct area)</a:t>
            </a:r>
            <a:endParaRPr b="1"/>
          </a:p>
        </p:txBody>
      </p:sp>
      <p:pic>
        <p:nvPicPr>
          <p:cNvPr id="165" name="Google Shape;165;p12"/>
          <p:cNvPicPr preferRelativeResize="0"/>
          <p:nvPr>
            <p:ph idx="2" type="body"/>
          </p:nvPr>
        </p:nvPicPr>
        <p:blipFill rotWithShape="1">
          <a:blip r:embed="rId3">
            <a:alphaModFix/>
          </a:blip>
          <a:srcRect b="27854" l="54242" r="0" t="49929"/>
          <a:stretch/>
        </p:blipFill>
        <p:spPr>
          <a:xfrm>
            <a:off x="8951259" y="1162413"/>
            <a:ext cx="2813313" cy="2961352"/>
          </a:xfrm>
          <a:prstGeom prst="rect">
            <a:avLst/>
          </a:prstGeom>
          <a:noFill/>
          <a:ln>
            <a:noFill/>
          </a:ln>
        </p:spPr>
      </p:pic>
      <p:sp>
        <p:nvSpPr>
          <p:cNvPr id="166" name="Google Shape;166;p12"/>
          <p:cNvSpPr txBox="1"/>
          <p:nvPr>
            <p:ph idx="1" type="body"/>
          </p:nvPr>
        </p:nvSpPr>
        <p:spPr>
          <a:xfrm>
            <a:off x="990600" y="2022256"/>
            <a:ext cx="4406153" cy="36933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Calibri"/>
              <a:buChar char="•"/>
            </a:pPr>
            <a:r>
              <a:rPr lang="ro-RO" sz="2400"/>
              <a:t>Examine the buccal mucosa at the level of the second upper molar</a:t>
            </a:r>
            <a:endParaRPr/>
          </a:p>
          <a:p>
            <a:pPr indent="-152400" lvl="0" marL="0" marR="0" rtl="0" algn="l">
              <a:lnSpc>
                <a:spcPct val="100000"/>
              </a:lnSpc>
              <a:spcBef>
                <a:spcPts val="0"/>
              </a:spcBef>
              <a:spcAft>
                <a:spcPts val="0"/>
              </a:spcAft>
              <a:buClr>
                <a:schemeClr val="dk1"/>
              </a:buClr>
              <a:buSzPts val="2400"/>
              <a:buFont typeface="Calibri"/>
              <a:buChar char="•"/>
            </a:pPr>
            <a:br>
              <a:rPr lang="ro-RO" sz="2400"/>
            </a:br>
            <a:r>
              <a:rPr lang="ro-RO" sz="2400"/>
              <a:t>Method:</a:t>
            </a:r>
            <a:br>
              <a:rPr lang="ro-RO" sz="2400"/>
            </a:br>
            <a:r>
              <a:rPr lang="ro-RO" sz="2400"/>
              <a:t>Apply gentle external pressure over the parotid gland to stimulate secretion through Stensen’s duct</a:t>
            </a:r>
            <a:endParaRPr b="0" i="0" sz="3600" u="none" cap="none" strike="noStrike">
              <a:solidFill>
                <a:schemeClr val="dk1"/>
              </a:solidFill>
              <a:latin typeface="Arial"/>
              <a:ea typeface="Arial"/>
              <a:cs typeface="Arial"/>
              <a:sym typeface="Arial"/>
            </a:endParaRPr>
          </a:p>
        </p:txBody>
      </p:sp>
      <p:pic>
        <p:nvPicPr>
          <p:cNvPr id="167" name="Google Shape;167;p12"/>
          <p:cNvPicPr preferRelativeResize="0"/>
          <p:nvPr/>
        </p:nvPicPr>
        <p:blipFill rotWithShape="1">
          <a:blip r:embed="rId4">
            <a:alphaModFix/>
          </a:blip>
          <a:srcRect b="0" l="0" r="0" t="0"/>
          <a:stretch/>
        </p:blipFill>
        <p:spPr>
          <a:xfrm>
            <a:off x="6096000" y="3088611"/>
            <a:ext cx="2563906" cy="34196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Normal aspects:</a:t>
            </a:r>
            <a:endParaRPr/>
          </a:p>
        </p:txBody>
      </p:sp>
      <p:sp>
        <p:nvSpPr>
          <p:cNvPr id="173" name="Google Shape;173;p13"/>
          <p:cNvSpPr txBox="1"/>
          <p:nvPr>
            <p:ph idx="1" type="body"/>
          </p:nvPr>
        </p:nvSpPr>
        <p:spPr>
          <a:xfrm>
            <a:off x="614082" y="1789766"/>
            <a:ext cx="7947212" cy="435133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90000"/>
              </a:lnSpc>
              <a:spcBef>
                <a:spcPts val="0"/>
              </a:spcBef>
              <a:spcAft>
                <a:spcPts val="0"/>
              </a:spcAft>
              <a:buClr>
                <a:schemeClr val="dk1"/>
              </a:buClr>
              <a:buSzPct val="100000"/>
              <a:buFont typeface="Arial"/>
              <a:buChar char="•"/>
            </a:pPr>
            <a:r>
              <a:rPr b="1" lang="ro-RO" sz="6400"/>
              <a:t>Labial and vestibular mucosa:</a:t>
            </a:r>
            <a:r>
              <a:rPr lang="ro-RO" sz="6400"/>
              <a:t> normally pigmented, well hydrated</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Dentition:</a:t>
            </a:r>
            <a:r>
              <a:rPr lang="ro-RO" sz="6400"/>
              <a:t> intact, complete</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Floor of the mouth and Wharton's ducts:</a:t>
            </a:r>
            <a:r>
              <a:rPr lang="ro-RO" sz="6400"/>
              <a:t> normal appearance, no pathological secretions</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Buccopharyngeal mucosa:</a:t>
            </a:r>
            <a:r>
              <a:rPr lang="ro-RO" sz="6400"/>
              <a:t> normal color and hydration, no hypertrophy or atrophy</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Palatine tonsils:</a:t>
            </a:r>
            <a:r>
              <a:rPr lang="ro-RO" sz="6400"/>
              <a:t> non-inflamed, symmetrical, mobile, without caseum, pus, or membranes</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Tongue appearance:</a:t>
            </a:r>
            <a:r>
              <a:rPr lang="ro-RO" sz="6400"/>
              <a:t> normal size, color, and hydration, no deposits</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Tongue mobility:</a:t>
            </a:r>
            <a:r>
              <a:rPr lang="ro-RO" sz="6400"/>
              <a:t> normal</a:t>
            </a:r>
            <a:endParaRPr sz="6400"/>
          </a:p>
          <a:p>
            <a:pPr indent="-228600" lvl="0" marL="228600" rtl="0" algn="l">
              <a:lnSpc>
                <a:spcPct val="90000"/>
              </a:lnSpc>
              <a:spcBef>
                <a:spcPts val="1000"/>
              </a:spcBef>
              <a:spcAft>
                <a:spcPts val="0"/>
              </a:spcAft>
              <a:buClr>
                <a:schemeClr val="dk1"/>
              </a:buClr>
              <a:buSzPct val="100000"/>
              <a:buFont typeface="Arial"/>
              <a:buChar char="•"/>
            </a:pPr>
            <a:br>
              <a:rPr lang="ro-RO" sz="6400"/>
            </a:br>
            <a:r>
              <a:rPr b="1" lang="ro-RO" sz="6400"/>
              <a:t>Soft palate mobility:</a:t>
            </a:r>
            <a:r>
              <a:rPr lang="ro-RO" sz="6400"/>
              <a:t> normal (elevates upon pronunciation of the letter “A”)</a:t>
            </a:r>
            <a:endParaRPr/>
          </a:p>
        </p:txBody>
      </p:sp>
      <p:pic>
        <p:nvPicPr>
          <p:cNvPr id="174" name="Google Shape;174;p13"/>
          <p:cNvPicPr preferRelativeResize="0"/>
          <p:nvPr/>
        </p:nvPicPr>
        <p:blipFill rotWithShape="1">
          <a:blip r:embed="rId3">
            <a:alphaModFix/>
          </a:blip>
          <a:srcRect b="0" l="0" r="0" t="0"/>
          <a:stretch/>
        </p:blipFill>
        <p:spPr>
          <a:xfrm>
            <a:off x="8001000" y="828021"/>
            <a:ext cx="3984812" cy="53130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ro-RO"/>
              <a:t>Aspecte patologice:</a:t>
            </a:r>
            <a:br>
              <a:rPr b="1" lang="ro-RO"/>
            </a:br>
            <a:endParaRPr/>
          </a:p>
        </p:txBody>
      </p:sp>
      <p:sp>
        <p:nvSpPr>
          <p:cNvPr id="180" name="Google Shape;180;p14"/>
          <p:cNvSpPr txBox="1"/>
          <p:nvPr>
            <p:ph idx="1" type="body"/>
          </p:nvPr>
        </p:nvSpPr>
        <p:spPr>
          <a:xfrm>
            <a:off x="596153" y="1690688"/>
            <a:ext cx="7570694" cy="4351338"/>
          </a:xfrm>
          <a:prstGeom prst="rect">
            <a:avLst/>
          </a:prstGeom>
          <a:noFill/>
          <a:ln>
            <a:noFill/>
          </a:ln>
        </p:spPr>
        <p:txBody>
          <a:bodyPr anchorCtr="0" anchor="t" bIns="45700" lIns="91425" spcFirstLastPara="1" rIns="91425" wrap="square" tIns="45700">
            <a:normAutofit fontScale="32500" lnSpcReduction="20000"/>
          </a:bodyPr>
          <a:lstStyle/>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Labial mucosa:</a:t>
            </a:r>
            <a:r>
              <a:rPr b="0" i="0" lang="ro-RO" sz="4300" u="none" cap="none" strike="noStrike">
                <a:solidFill>
                  <a:schemeClr val="dk1"/>
                </a:solidFill>
                <a:latin typeface="Arial"/>
                <a:ea typeface="Arial"/>
                <a:cs typeface="Arial"/>
                <a:sym typeface="Arial"/>
              </a:rPr>
              <a:t> lesions, vesicles, aphthous ulcers, tumors, edema</a:t>
            </a:r>
            <a:endParaRPr b="0"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Dentition:</a:t>
            </a:r>
            <a:r>
              <a:rPr b="0" i="0" lang="ro-RO" sz="4300" u="none" cap="none" strike="noStrike">
                <a:solidFill>
                  <a:schemeClr val="dk1"/>
                </a:solidFill>
                <a:latin typeface="Arial"/>
                <a:ea typeface="Arial"/>
                <a:cs typeface="Arial"/>
                <a:sym typeface="Arial"/>
              </a:rPr>
              <a:t> cavities, missing teeth</a:t>
            </a:r>
            <a:endParaRPr b="0"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Impaired tongue mobility</a:t>
            </a:r>
            <a:r>
              <a:rPr b="0" i="0" lang="ro-RO" sz="4300" u="none" cap="none" strike="noStrike">
                <a:solidFill>
                  <a:schemeClr val="dk1"/>
                </a:solidFill>
                <a:latin typeface="Arial"/>
                <a:ea typeface="Arial"/>
                <a:cs typeface="Arial"/>
                <a:sym typeface="Arial"/>
              </a:rPr>
              <a:t> → </a:t>
            </a:r>
            <a:r>
              <a:rPr b="1" i="0" lang="ro-RO" sz="4300" u="none" cap="none" strike="noStrike">
                <a:solidFill>
                  <a:schemeClr val="dk1"/>
                </a:solidFill>
                <a:latin typeface="Arial"/>
                <a:ea typeface="Arial"/>
                <a:cs typeface="Arial"/>
                <a:sym typeface="Arial"/>
              </a:rPr>
              <a:t>Hypoglossal nerve (CN XII) paralysis</a:t>
            </a:r>
            <a:r>
              <a:rPr b="0" i="0" lang="ro-RO" sz="4300" u="none" cap="none" strike="noStrike">
                <a:solidFill>
                  <a:schemeClr val="dk1"/>
                </a:solidFill>
                <a:latin typeface="Arial"/>
                <a:ea typeface="Arial"/>
                <a:cs typeface="Arial"/>
                <a:sym typeface="Arial"/>
              </a:rPr>
              <a:t> (tongue tip deviates toward the affected side)</a:t>
            </a:r>
            <a:endParaRPr b="0"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Lingual edema</a:t>
            </a:r>
            <a:r>
              <a:rPr b="0" i="0" lang="ro-RO" sz="4300" u="none" cap="none" strike="noStrike">
                <a:solidFill>
                  <a:schemeClr val="dk1"/>
                </a:solidFill>
                <a:latin typeface="Arial"/>
                <a:ea typeface="Arial"/>
                <a:cs typeface="Arial"/>
                <a:sym typeface="Arial"/>
              </a:rPr>
              <a:t>, purulent discharge from </a:t>
            </a:r>
            <a:r>
              <a:rPr b="1" i="0" lang="ro-RO" sz="4300" u="none" cap="none" strike="noStrike">
                <a:solidFill>
                  <a:schemeClr val="dk1"/>
                </a:solidFill>
                <a:latin typeface="Arial"/>
                <a:ea typeface="Arial"/>
                <a:cs typeface="Arial"/>
                <a:sym typeface="Arial"/>
              </a:rPr>
              <a:t>Wharton's ducts</a:t>
            </a:r>
            <a:endParaRPr b="1"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Buccal mucosa:</a:t>
            </a:r>
            <a:r>
              <a:rPr b="0" i="0" lang="ro-RO" sz="4300" u="none" cap="none" strike="noStrike">
                <a:solidFill>
                  <a:schemeClr val="dk1"/>
                </a:solidFill>
                <a:latin typeface="Arial"/>
                <a:ea typeface="Arial"/>
                <a:cs typeface="Arial"/>
                <a:sym typeface="Arial"/>
              </a:rPr>
              <a:t> lesions, vesicles, aphthae, tumors</a:t>
            </a:r>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Tumors</a:t>
            </a:r>
            <a:r>
              <a:rPr b="0" i="0" lang="ro-RO" sz="4300" u="none" cap="none" strike="noStrike">
                <a:solidFill>
                  <a:schemeClr val="dk1"/>
                </a:solidFill>
                <a:latin typeface="Arial"/>
                <a:ea typeface="Arial"/>
                <a:cs typeface="Arial"/>
                <a:sym typeface="Arial"/>
              </a:rPr>
              <a:t> (tongue, tonsils, soft palate)</a:t>
            </a:r>
            <a:endParaRPr b="0"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Soft palate paralysis</a:t>
            </a:r>
            <a:r>
              <a:rPr b="0" i="0" lang="ro-RO" sz="4300" u="none" cap="none" strike="noStrike">
                <a:solidFill>
                  <a:schemeClr val="dk1"/>
                </a:solidFill>
                <a:latin typeface="Arial"/>
                <a:ea typeface="Arial"/>
                <a:cs typeface="Arial"/>
                <a:sym typeface="Arial"/>
              </a:rPr>
              <a:t> → cranial nerves </a:t>
            </a:r>
            <a:r>
              <a:rPr b="1" i="0" lang="ro-RO" sz="4300" u="none" cap="none" strike="noStrike">
                <a:solidFill>
                  <a:schemeClr val="dk1"/>
                </a:solidFill>
                <a:latin typeface="Arial"/>
                <a:ea typeface="Arial"/>
                <a:cs typeface="Arial"/>
                <a:sym typeface="Arial"/>
              </a:rPr>
              <a:t>IX, X</a:t>
            </a:r>
            <a:endParaRPr b="1"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Uvular edema</a:t>
            </a:r>
            <a:endParaRPr b="1"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Purulent discharge</a:t>
            </a:r>
            <a:r>
              <a:rPr b="0" i="0" lang="ro-RO" sz="4300" u="none" cap="none" strike="noStrike">
                <a:solidFill>
                  <a:schemeClr val="dk1"/>
                </a:solidFill>
                <a:latin typeface="Arial"/>
                <a:ea typeface="Arial"/>
                <a:cs typeface="Arial"/>
                <a:sym typeface="Arial"/>
              </a:rPr>
              <a:t> from </a:t>
            </a:r>
            <a:r>
              <a:rPr b="1" i="0" lang="ro-RO" sz="4300" u="none" cap="none" strike="noStrike">
                <a:solidFill>
                  <a:schemeClr val="dk1"/>
                </a:solidFill>
                <a:latin typeface="Arial"/>
                <a:ea typeface="Arial"/>
                <a:cs typeface="Arial"/>
                <a:sym typeface="Arial"/>
              </a:rPr>
              <a:t>Stensen’s duct</a:t>
            </a:r>
            <a:endParaRPr b="1" i="0" sz="4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4300" u="none" cap="none" strike="noStrike">
              <a:solidFill>
                <a:schemeClr val="dk1"/>
              </a:solidFill>
              <a:latin typeface="Arial"/>
              <a:ea typeface="Arial"/>
              <a:cs typeface="Arial"/>
              <a:sym typeface="Arial"/>
            </a:endParaRPr>
          </a:p>
          <a:p>
            <a:pPr indent="-88741" lvl="0" marL="0" marR="0" rtl="0" algn="l">
              <a:lnSpc>
                <a:spcPct val="100000"/>
              </a:lnSpc>
              <a:spcBef>
                <a:spcPts val="0"/>
              </a:spcBef>
              <a:spcAft>
                <a:spcPts val="0"/>
              </a:spcAft>
              <a:buClr>
                <a:schemeClr val="dk1"/>
              </a:buClr>
              <a:buSzPct val="100000"/>
              <a:buFont typeface="Arial"/>
              <a:buChar char="•"/>
            </a:pPr>
            <a:r>
              <a:rPr b="1" i="0" lang="ro-RO" sz="4300" u="none" cap="none" strike="noStrike">
                <a:solidFill>
                  <a:schemeClr val="dk1"/>
                </a:solidFill>
                <a:latin typeface="Arial"/>
                <a:ea typeface="Arial"/>
                <a:cs typeface="Arial"/>
                <a:sym typeface="Arial"/>
              </a:rPr>
              <a:t>Koplik’s sign</a:t>
            </a:r>
            <a:r>
              <a:rPr b="0" i="0" lang="ro-RO" sz="4300" u="none" cap="none" strike="noStrike">
                <a:solidFill>
                  <a:schemeClr val="dk1"/>
                </a:solidFill>
                <a:latin typeface="Arial"/>
                <a:ea typeface="Arial"/>
                <a:cs typeface="Arial"/>
                <a:sym typeface="Arial"/>
              </a:rPr>
              <a:t> – in the area of </a:t>
            </a:r>
            <a:r>
              <a:rPr b="1" i="0" lang="ro-RO" sz="4300" u="none" cap="none" strike="noStrike">
                <a:solidFill>
                  <a:schemeClr val="dk1"/>
                </a:solidFill>
                <a:latin typeface="Arial"/>
                <a:ea typeface="Arial"/>
                <a:cs typeface="Arial"/>
                <a:sym typeface="Arial"/>
              </a:rPr>
              <a:t>Stensen’s duct opening</a:t>
            </a:r>
            <a:r>
              <a:rPr b="0" i="0" lang="ro-RO" sz="4300" u="none" cap="none" strike="noStrike">
                <a:solidFill>
                  <a:schemeClr val="dk1"/>
                </a:solidFill>
                <a:latin typeface="Arial"/>
                <a:ea typeface="Arial"/>
                <a:cs typeface="Arial"/>
                <a:sym typeface="Arial"/>
              </a:rPr>
              <a:t> (near the second upper molar):</a:t>
            </a:r>
            <a:endParaRPr/>
          </a:p>
          <a:p>
            <a:pPr indent="-88741" lvl="0" marL="0" marR="0" rtl="0" algn="l">
              <a:lnSpc>
                <a:spcPct val="100000"/>
              </a:lnSpc>
              <a:spcBef>
                <a:spcPts val="0"/>
              </a:spcBef>
              <a:spcAft>
                <a:spcPts val="0"/>
              </a:spcAft>
              <a:buClr>
                <a:schemeClr val="dk1"/>
              </a:buClr>
              <a:buSzPct val="100000"/>
              <a:buFont typeface="Arial"/>
              <a:buChar char="•"/>
            </a:pPr>
            <a:r>
              <a:rPr b="0" i="0" lang="ro-RO" sz="4300" u="none" cap="none" strike="noStrike">
                <a:solidFill>
                  <a:schemeClr val="dk1"/>
                </a:solidFill>
                <a:latin typeface="Arial"/>
                <a:ea typeface="Arial"/>
                <a:cs typeface="Arial"/>
                <a:sym typeface="Arial"/>
              </a:rPr>
              <a:t>edematous buccal mucosa</a:t>
            </a:r>
            <a:endParaRPr/>
          </a:p>
          <a:p>
            <a:pPr indent="-88741" lvl="0" marL="0" marR="0" rtl="0" algn="l">
              <a:lnSpc>
                <a:spcPct val="100000"/>
              </a:lnSpc>
              <a:spcBef>
                <a:spcPts val="0"/>
              </a:spcBef>
              <a:spcAft>
                <a:spcPts val="0"/>
              </a:spcAft>
              <a:buClr>
                <a:schemeClr val="dk1"/>
              </a:buClr>
              <a:buSzPct val="100000"/>
              <a:buFont typeface="Arial"/>
              <a:buChar char="•"/>
            </a:pPr>
            <a:r>
              <a:rPr b="0" i="0" lang="ro-RO" sz="4300" u="none" cap="none" strike="noStrike">
                <a:solidFill>
                  <a:schemeClr val="dk1"/>
                </a:solidFill>
                <a:latin typeface="Arial"/>
                <a:ea typeface="Arial"/>
                <a:cs typeface="Arial"/>
                <a:sym typeface="Arial"/>
              </a:rPr>
              <a:t>intensely hyperemic</a:t>
            </a:r>
            <a:endParaRPr/>
          </a:p>
          <a:p>
            <a:pPr indent="-88741" lvl="0" marL="0" marR="0" rtl="0" algn="l">
              <a:lnSpc>
                <a:spcPct val="100000"/>
              </a:lnSpc>
              <a:spcBef>
                <a:spcPts val="0"/>
              </a:spcBef>
              <a:spcAft>
                <a:spcPts val="0"/>
              </a:spcAft>
              <a:buClr>
                <a:schemeClr val="dk1"/>
              </a:buClr>
              <a:buSzPct val="100000"/>
              <a:buFont typeface="Arial"/>
              <a:buChar char="•"/>
            </a:pPr>
            <a:r>
              <a:rPr b="0" i="0" lang="ro-RO" sz="4300" u="none" cap="none" strike="noStrike">
                <a:solidFill>
                  <a:schemeClr val="dk1"/>
                </a:solidFill>
                <a:latin typeface="Arial"/>
                <a:ea typeface="Arial"/>
                <a:cs typeface="Arial"/>
                <a:sym typeface="Arial"/>
              </a:rPr>
              <a:t>white spots → pathognomonic sign for </a:t>
            </a:r>
            <a:r>
              <a:rPr b="1" i="0" lang="ro-RO" sz="4300" u="none" cap="none" strike="noStrike">
                <a:solidFill>
                  <a:schemeClr val="dk1"/>
                </a:solidFill>
                <a:latin typeface="Arial"/>
                <a:ea typeface="Arial"/>
                <a:cs typeface="Arial"/>
                <a:sym typeface="Arial"/>
              </a:rPr>
              <a:t>measles</a:t>
            </a:r>
            <a:endParaRPr b="0" i="0" sz="4300" u="none" cap="none" strike="noStrike">
              <a:solidFill>
                <a:schemeClr val="dk1"/>
              </a:solidFill>
              <a:latin typeface="Arial"/>
              <a:ea typeface="Arial"/>
              <a:cs typeface="Arial"/>
              <a:sym typeface="Arial"/>
            </a:endParaRPr>
          </a:p>
          <a:p>
            <a:pPr indent="-170815" lvl="0" marL="228600" rtl="0" algn="l">
              <a:lnSpc>
                <a:spcPct val="90000"/>
              </a:lnSpc>
              <a:spcBef>
                <a:spcPts val="1000"/>
              </a:spcBef>
              <a:spcAft>
                <a:spcPts val="0"/>
              </a:spcAft>
              <a:buClr>
                <a:schemeClr val="dk1"/>
              </a:buClr>
              <a:buSzPct val="100000"/>
              <a:buNone/>
            </a:pPr>
            <a:r>
              <a:t/>
            </a:r>
            <a:endParaRPr/>
          </a:p>
        </p:txBody>
      </p:sp>
      <p:pic>
        <p:nvPicPr>
          <p:cNvPr id="181" name="Google Shape;181;p14"/>
          <p:cNvPicPr preferRelativeResize="0"/>
          <p:nvPr/>
        </p:nvPicPr>
        <p:blipFill rotWithShape="1">
          <a:blip r:embed="rId3">
            <a:alphaModFix/>
          </a:blip>
          <a:srcRect b="-4917" l="16136" r="18506" t="4917"/>
          <a:stretch/>
        </p:blipFill>
        <p:spPr>
          <a:xfrm>
            <a:off x="8166847" y="1963271"/>
            <a:ext cx="3938840" cy="33884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Acute erythematous-pultaceous tonsillitis</a:t>
            </a:r>
            <a:endParaRPr/>
          </a:p>
        </p:txBody>
      </p:sp>
      <p:pic>
        <p:nvPicPr>
          <p:cNvPr id="187" name="Google Shape;187;p15"/>
          <p:cNvPicPr preferRelativeResize="0"/>
          <p:nvPr>
            <p:ph idx="1" type="body"/>
          </p:nvPr>
        </p:nvPicPr>
        <p:blipFill rotWithShape="1">
          <a:blip r:embed="rId3">
            <a:alphaModFix/>
          </a:blip>
          <a:srcRect b="0" l="0" r="0" t="0"/>
          <a:stretch/>
        </p:blipFill>
        <p:spPr>
          <a:xfrm>
            <a:off x="1427747" y="1401932"/>
            <a:ext cx="8835189" cy="4902616"/>
          </a:xfrm>
          <a:prstGeom prst="rect">
            <a:avLst/>
          </a:prstGeom>
          <a:noFill/>
          <a:ln>
            <a:noFill/>
          </a:ln>
        </p:spPr>
      </p:pic>
      <p:sp>
        <p:nvSpPr>
          <p:cNvPr id="188" name="Google Shape;188;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Chronic tonsillitis</a:t>
            </a:r>
            <a:br>
              <a:rPr b="1" lang="ro-RO"/>
            </a:br>
            <a:endParaRPr/>
          </a:p>
        </p:txBody>
      </p:sp>
      <p:pic>
        <p:nvPicPr>
          <p:cNvPr id="194" name="Google Shape;194;p16"/>
          <p:cNvPicPr preferRelativeResize="0"/>
          <p:nvPr>
            <p:ph idx="1" type="body"/>
          </p:nvPr>
        </p:nvPicPr>
        <p:blipFill rotWithShape="1">
          <a:blip r:embed="rId3">
            <a:alphaModFix/>
          </a:blip>
          <a:srcRect b="0" l="0" r="0" t="0"/>
          <a:stretch/>
        </p:blipFill>
        <p:spPr>
          <a:xfrm>
            <a:off x="1431758" y="1825625"/>
            <a:ext cx="7952874" cy="46834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ro-RO"/>
              <a:t>Caseum</a:t>
            </a:r>
            <a:endParaRPr b="1"/>
          </a:p>
        </p:txBody>
      </p:sp>
      <p:pic>
        <p:nvPicPr>
          <p:cNvPr id="200" name="Google Shape;200;p17"/>
          <p:cNvPicPr preferRelativeResize="0"/>
          <p:nvPr>
            <p:ph idx="1" type="body"/>
          </p:nvPr>
        </p:nvPicPr>
        <p:blipFill rotWithShape="1">
          <a:blip r:embed="rId3">
            <a:alphaModFix/>
          </a:blip>
          <a:srcRect b="0" l="0" r="0" t="0"/>
          <a:stretch/>
        </p:blipFill>
        <p:spPr>
          <a:xfrm>
            <a:off x="2458064" y="1665411"/>
            <a:ext cx="5938684" cy="46717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ro-RO"/>
              <a:t>Viral pharyngitis</a:t>
            </a:r>
            <a:endParaRPr/>
          </a:p>
        </p:txBody>
      </p:sp>
      <p:pic>
        <p:nvPicPr>
          <p:cNvPr id="206" name="Google Shape;206;p18"/>
          <p:cNvPicPr preferRelativeResize="0"/>
          <p:nvPr>
            <p:ph idx="1" type="body"/>
          </p:nvPr>
        </p:nvPicPr>
        <p:blipFill rotWithShape="1">
          <a:blip r:embed="rId3">
            <a:alphaModFix/>
          </a:blip>
          <a:srcRect b="0" l="0" r="0" t="0"/>
          <a:stretch/>
        </p:blipFill>
        <p:spPr>
          <a:xfrm>
            <a:off x="2995332" y="1898790"/>
            <a:ext cx="5046009" cy="378450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Oral aphthae</a:t>
            </a:r>
            <a:endParaRPr b="1"/>
          </a:p>
        </p:txBody>
      </p:sp>
      <p:pic>
        <p:nvPicPr>
          <p:cNvPr id="212" name="Google Shape;212;p19"/>
          <p:cNvPicPr preferRelativeResize="0"/>
          <p:nvPr>
            <p:ph idx="1" type="body"/>
          </p:nvPr>
        </p:nvPicPr>
        <p:blipFill rotWithShape="1">
          <a:blip r:embed="rId3">
            <a:alphaModFix/>
          </a:blip>
          <a:srcRect b="0" l="0" r="0" t="0"/>
          <a:stretch/>
        </p:blipFill>
        <p:spPr>
          <a:xfrm>
            <a:off x="1910042" y="1997402"/>
            <a:ext cx="6265769" cy="374489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Herpangina</a:t>
            </a:r>
            <a:endParaRPr/>
          </a:p>
        </p:txBody>
      </p:sp>
      <p:pic>
        <p:nvPicPr>
          <p:cNvPr id="218" name="Google Shape;218;p20"/>
          <p:cNvPicPr preferRelativeResize="0"/>
          <p:nvPr>
            <p:ph idx="1" type="body"/>
          </p:nvPr>
        </p:nvPicPr>
        <p:blipFill rotWithShape="1">
          <a:blip r:embed="rId3">
            <a:alphaModFix/>
          </a:blip>
          <a:srcRect b="0" l="0" r="0" t="0"/>
          <a:stretch/>
        </p:blipFill>
        <p:spPr>
          <a:xfrm>
            <a:off x="2056013" y="1740175"/>
            <a:ext cx="6971445" cy="41920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Peritonsillar abscess (phlegmon/phlegmonous infiltration)</a:t>
            </a:r>
            <a:endParaRPr b="1"/>
          </a:p>
        </p:txBody>
      </p:sp>
      <p:pic>
        <p:nvPicPr>
          <p:cNvPr id="224" name="Google Shape;224;p21"/>
          <p:cNvPicPr preferRelativeResize="0"/>
          <p:nvPr>
            <p:ph idx="1" type="body"/>
          </p:nvPr>
        </p:nvPicPr>
        <p:blipFill rotWithShape="1">
          <a:blip r:embed="rId3">
            <a:alphaModFix/>
          </a:blip>
          <a:srcRect b="0" l="0" r="0" t="0"/>
          <a:stretch/>
        </p:blipFill>
        <p:spPr>
          <a:xfrm>
            <a:off x="1092200" y="2477294"/>
            <a:ext cx="4673600" cy="3048000"/>
          </a:xfrm>
          <a:prstGeom prst="rect">
            <a:avLst/>
          </a:prstGeom>
          <a:noFill/>
          <a:ln>
            <a:noFill/>
          </a:ln>
        </p:spPr>
      </p:pic>
      <p:pic>
        <p:nvPicPr>
          <p:cNvPr id="225" name="Google Shape;225;p21"/>
          <p:cNvPicPr preferRelativeResize="0"/>
          <p:nvPr>
            <p:ph idx="2" type="body"/>
          </p:nvPr>
        </p:nvPicPr>
        <p:blipFill rotWithShape="1">
          <a:blip r:embed="rId4">
            <a:alphaModFix/>
          </a:blip>
          <a:srcRect b="0" l="0" r="0" t="0"/>
          <a:stretch/>
        </p:blipFill>
        <p:spPr>
          <a:xfrm>
            <a:off x="7526150" y="2004570"/>
            <a:ext cx="3401826" cy="39934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Herpetic lesions (HSV)</a:t>
            </a:r>
            <a:endParaRPr b="1"/>
          </a:p>
        </p:txBody>
      </p:sp>
      <p:pic>
        <p:nvPicPr>
          <p:cNvPr id="231" name="Google Shape;231;p22"/>
          <p:cNvPicPr preferRelativeResize="0"/>
          <p:nvPr>
            <p:ph idx="1" type="body"/>
          </p:nvPr>
        </p:nvPicPr>
        <p:blipFill rotWithShape="1">
          <a:blip r:embed="rId3">
            <a:alphaModFix/>
          </a:blip>
          <a:srcRect b="0" l="0" r="0" t="0"/>
          <a:stretch/>
        </p:blipFill>
        <p:spPr>
          <a:xfrm>
            <a:off x="2171701" y="2243938"/>
            <a:ext cx="7696200" cy="351471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Koplik’s sign (measles)</a:t>
            </a:r>
            <a:endParaRPr/>
          </a:p>
        </p:txBody>
      </p:sp>
      <p:pic>
        <p:nvPicPr>
          <p:cNvPr id="237" name="Google Shape;237;p23"/>
          <p:cNvPicPr preferRelativeResize="0"/>
          <p:nvPr>
            <p:ph idx="1" type="body"/>
          </p:nvPr>
        </p:nvPicPr>
        <p:blipFill rotWithShape="1">
          <a:blip r:embed="rId3">
            <a:alphaModFix/>
          </a:blip>
          <a:srcRect b="0" l="0" r="0" t="0"/>
          <a:stretch/>
        </p:blipFill>
        <p:spPr>
          <a:xfrm>
            <a:off x="1681036" y="2367025"/>
            <a:ext cx="8483660" cy="315523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ro-RO"/>
              <a:t>Candidal stomatitis</a:t>
            </a:r>
            <a:endParaRPr b="1"/>
          </a:p>
        </p:txBody>
      </p:sp>
      <p:pic>
        <p:nvPicPr>
          <p:cNvPr id="243" name="Google Shape;243;p24"/>
          <p:cNvPicPr preferRelativeResize="0"/>
          <p:nvPr>
            <p:ph idx="1" type="body"/>
          </p:nvPr>
        </p:nvPicPr>
        <p:blipFill rotWithShape="1">
          <a:blip r:embed="rId3">
            <a:alphaModFix/>
          </a:blip>
          <a:srcRect b="0" l="0" r="0" t="0"/>
          <a:stretch/>
        </p:blipFill>
        <p:spPr>
          <a:xfrm>
            <a:off x="2008239" y="1930066"/>
            <a:ext cx="6840794" cy="456280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2025-03-24T10:54:04Z</dcterms:created>
  <dc:creator>Asus</dc:creator>
</cp:coreProperties>
</file>