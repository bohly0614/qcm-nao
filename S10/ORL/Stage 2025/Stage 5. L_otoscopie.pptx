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hWMHMxHFUW+cHjRCQufM76IZl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11.jpg"/><Relationship Id="rId5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Relationship Id="rId4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Relationship Id="rId4" Type="http://schemas.openxmlformats.org/officeDocument/2006/relationships/image" Target="../media/image2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9003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Otoscopy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046" y="2913725"/>
            <a:ext cx="5539908" cy="3035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735106"/>
            <a:ext cx="4594412" cy="5441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ear, an organ of </a:t>
            </a:r>
            <a:r>
              <a:rPr b="1" lang="en-US"/>
              <a:t>hearing and balance</a:t>
            </a:r>
            <a:r>
              <a:rPr lang="en-US"/>
              <a:t>, can be anatomically and clinically divided into: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the outer ear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the middle ear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the inner ear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9593" y="1228645"/>
            <a:ext cx="5591573" cy="394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Outer ear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430754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made up of the auricle </a:t>
            </a:r>
            <a:r>
              <a:rPr b="1" lang="en-US"/>
              <a:t>(pinna</a:t>
            </a:r>
            <a:r>
              <a:rPr lang="en-US"/>
              <a:t>) and the external auditory canal (</a:t>
            </a:r>
            <a:r>
              <a:rPr b="1" lang="en-US"/>
              <a:t>E.A.C</a:t>
            </a:r>
            <a:r>
              <a:rPr lang="en-US"/>
              <a:t>.), and is separated from the middle ear by the </a:t>
            </a:r>
            <a:r>
              <a:rPr b="1" lang="en-US"/>
              <a:t>tympanic membrane</a:t>
            </a:r>
            <a:r>
              <a:rPr lang="en-US"/>
              <a:t>.</a:t>
            </a:r>
            <a:endParaRPr b="1"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4449" y="654422"/>
            <a:ext cx="4533581" cy="476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External auditory canal (E.A.C.)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825625"/>
            <a:ext cx="6611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has an external </a:t>
            </a:r>
            <a:r>
              <a:rPr b="1" lang="en-US"/>
              <a:t>fibrocartilaginous </a:t>
            </a:r>
            <a:r>
              <a:rPr lang="en-US"/>
              <a:t>portion and an </a:t>
            </a:r>
            <a:r>
              <a:rPr b="1" lang="en-US"/>
              <a:t>internal bony portion</a:t>
            </a:r>
            <a:r>
              <a:rPr lang="en-US"/>
              <a:t>, with the narrowest area, called the isthmus, located at their junction.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the subcutaneous tissue of the cartilaginous portion, there are </a:t>
            </a:r>
            <a:r>
              <a:rPr b="1" lang="en-US"/>
              <a:t>pilosebaceous follicles and ceruminous glands</a:t>
            </a:r>
            <a:r>
              <a:rPr lang="en-US"/>
              <a:t>, which secrete a yellowish-brown substance called cerumen (</a:t>
            </a:r>
            <a:r>
              <a:rPr b="1" lang="en-US"/>
              <a:t>earwax)</a:t>
            </a:r>
            <a:r>
              <a:rPr lang="en-US"/>
              <a:t>.</a:t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063" y="1671777"/>
            <a:ext cx="4552657" cy="3514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Cerumen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protective and </a:t>
            </a:r>
            <a:r>
              <a:rPr b="1" lang="en-US"/>
              <a:t>self-cleaning role </a:t>
            </a:r>
            <a:r>
              <a:rPr lang="en-US"/>
              <a:t>for the tympanic membrane and the skin of the canal</a:t>
            </a:r>
            <a:endParaRPr b="1"/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442" y="2823595"/>
            <a:ext cx="6915115" cy="3863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Middle ear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middle ear is a system </a:t>
            </a:r>
            <a:r>
              <a:rPr b="1" lang="en-US"/>
              <a:t>of air-filled cavities</a:t>
            </a:r>
            <a:r>
              <a:rPr lang="en-US"/>
              <a:t>, carved into the temporal bone and </a:t>
            </a:r>
            <a:r>
              <a:rPr b="1" lang="en-US"/>
              <a:t>lined with mucosa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consists of: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the tympanic cavity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the mastoid air cells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the Eustachian tube</a:t>
            </a: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8952" y="2628177"/>
            <a:ext cx="4686954" cy="354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5967" y="424043"/>
            <a:ext cx="7900066" cy="6009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980" y="845334"/>
            <a:ext cx="11003122" cy="459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7435" y="680315"/>
            <a:ext cx="5057130" cy="5258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Membrana Timpanica</a:t>
            </a:r>
            <a:endParaRPr/>
          </a:p>
        </p:txBody>
      </p:sp>
      <p:pic>
        <p:nvPicPr>
          <p:cNvPr id="140" name="Google Shape;14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3553" y="2036492"/>
            <a:ext cx="6634663" cy="385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792145" y="2144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Tympanic membrane – Pars Tensa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8200" y="1825625"/>
            <a:ext cx="504264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An outer cutaneous layer</a:t>
            </a:r>
            <a:r>
              <a:rPr lang="en-US"/>
              <a:t>, continuous with the skin of the external auditory canal (E.A.C.)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A middle fibrous layer</a:t>
            </a:r>
            <a:r>
              <a:rPr lang="en-US"/>
              <a:t>, composed of radial and circular fibers, forming the vibrating framework of the tympanic membrane, known as the </a:t>
            </a:r>
            <a:r>
              <a:rPr i="1" lang="en-US"/>
              <a:t>lamina propria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An inner mucosal layer</a:t>
            </a:r>
            <a:r>
              <a:rPr lang="en-US"/>
              <a:t>, which is the mucosa of the middle ear</a:t>
            </a:r>
            <a:endParaRPr/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155" y="1371601"/>
            <a:ext cx="4779719" cy="4899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Eustachian tube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838200" y="1825625"/>
            <a:ext cx="515022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connects the </a:t>
            </a:r>
            <a:r>
              <a:rPr b="1" lang="en-US"/>
              <a:t>tympanic cavity with the nasopharynx.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consists of two parts: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a bony portion, carved into the temporal bone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a fibrocartilaginous portion, forming a virtual canal that opens during each act of swallowing</a:t>
            </a:r>
            <a:endParaRPr/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8799" y="1718794"/>
            <a:ext cx="5125961" cy="3881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562" y="672437"/>
            <a:ext cx="5213949" cy="3474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2939" y="582976"/>
            <a:ext cx="4146041" cy="414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6943" y="4183666"/>
            <a:ext cx="3463095" cy="2597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15256"/>
            <a:ext cx="5989519" cy="372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838201" y="646545"/>
            <a:ext cx="5012956" cy="5530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1)The otoscope is held like a pen.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With the other hand, pull the auricle: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In adults:</a:t>
            </a:r>
            <a:r>
              <a:rPr lang="en-US"/>
              <a:t> upward and backward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In children:</a:t>
            </a:r>
            <a:r>
              <a:rPr lang="en-US"/>
              <a:t> downward and backward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2)Gently insert the speculum without forcing.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3)Examine: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The auditory canal</a:t>
            </a:r>
            <a:r>
              <a:rPr lang="en-US"/>
              <a:t> (appearance, cerumen, foreign body)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The tympanic membrane</a:t>
            </a:r>
            <a:r>
              <a:rPr lang="en-US"/>
              <a:t> (color, transparency, cone of light)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Normal aspects</a:t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540900" y="1825625"/>
            <a:ext cx="525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External auditory canal (E.A.C.):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US"/>
              <a:t>Color:</a:t>
            </a:r>
            <a:r>
              <a:rPr lang="en-US"/>
              <a:t> pale pink, clean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-US"/>
              <a:t>Walls:</a:t>
            </a:r>
            <a:r>
              <a:rPr lang="en-US"/>
              <a:t> smooth, without inflammation or discharge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May contain a small amount of cerumen (wax), but not in excess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518" y="18256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Tympanic membrane</a:t>
            </a:r>
            <a:endParaRPr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697523" y="1428273"/>
            <a:ext cx="5831400" cy="44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Color:</a:t>
            </a:r>
            <a:r>
              <a:rPr lang="en-US" sz="2000"/>
              <a:t> pearly gray or slightly transparent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Position:</a:t>
            </a:r>
            <a:r>
              <a:rPr lang="en-US" sz="2000"/>
              <a:t> slightly concave (pulled inward)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Mobility:</a:t>
            </a:r>
            <a:r>
              <a:rPr lang="en-US" sz="2000"/>
              <a:t> present (sometimes checked by air insufflation – </a:t>
            </a:r>
            <a:r>
              <a:rPr i="1" lang="en-US" sz="2000"/>
              <a:t>Valsalva test</a:t>
            </a:r>
            <a:r>
              <a:rPr lang="en-US" sz="2000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Visible landmarks: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Handle of the malleus</a:t>
            </a:r>
            <a:r>
              <a:rPr lang="en-US" sz="2000"/>
              <a:t> (appears as a whitish streak)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Umbo</a:t>
            </a:r>
            <a:r>
              <a:rPr lang="en-US" sz="2000"/>
              <a:t> – the central point of the tympanic membrane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Cone of light</a:t>
            </a:r>
            <a:r>
              <a:rPr lang="en-US" sz="2000"/>
              <a:t> – a triangular reflection in the anteroinferior quadrant</a:t>
            </a:r>
            <a:br>
              <a:rPr lang="en-US" sz="2000"/>
            </a:br>
            <a:r>
              <a:rPr i="1" lang="en-US" sz="2000"/>
              <a:t>(bottom right for the right ear, bottom left for the left ear)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9388" y="1462140"/>
            <a:ext cx="5174541" cy="3855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Earwax plug</a:t>
            </a:r>
            <a:endParaRPr/>
          </a:p>
        </p:txBody>
      </p:sp>
      <p:pic>
        <p:nvPicPr>
          <p:cNvPr id="187" name="Google Shape;187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7174" y="1577232"/>
            <a:ext cx="5057652" cy="472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Otitis externa</a:t>
            </a:r>
            <a:endParaRPr/>
          </a:p>
        </p:txBody>
      </p:sp>
      <p:pic>
        <p:nvPicPr>
          <p:cNvPr id="193" name="Google Shape;193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9078" y="1690688"/>
            <a:ext cx="4569840" cy="4288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Otomycosis</a:t>
            </a:r>
            <a:endParaRPr/>
          </a:p>
        </p:txBody>
      </p:sp>
      <p:pic>
        <p:nvPicPr>
          <p:cNvPr id="199" name="Google Shape;199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103" y="2136847"/>
            <a:ext cx="3842544" cy="3515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9698" y="2361623"/>
            <a:ext cx="4387657" cy="329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Tympanic membrane retraction</a:t>
            </a:r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010" y="2367445"/>
            <a:ext cx="4738120" cy="332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870" y="2367445"/>
            <a:ext cx="4463112" cy="327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Otitis media with effusion (serous)</a:t>
            </a:r>
            <a:endParaRPr/>
          </a:p>
        </p:txBody>
      </p:sp>
      <p:pic>
        <p:nvPicPr>
          <p:cNvPr id="213" name="Google Shape;213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125" y="2124003"/>
            <a:ext cx="7143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Acute otitis media</a:t>
            </a:r>
            <a:endParaRPr/>
          </a:p>
        </p:txBody>
      </p:sp>
      <p:pic>
        <p:nvPicPr>
          <p:cNvPr id="219" name="Google Shape;219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6522" y="1690688"/>
            <a:ext cx="4744605" cy="4776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Acute suppurative otitis media (pre-perforation stage)</a:t>
            </a:r>
            <a:endParaRPr/>
          </a:p>
        </p:txBody>
      </p:sp>
      <p:pic>
        <p:nvPicPr>
          <p:cNvPr id="225" name="Google Shape;225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2253" y="1903628"/>
            <a:ext cx="4470484" cy="4201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Acute suppurative otitis media (perforation stage)</a:t>
            </a:r>
            <a:endParaRPr/>
          </a:p>
        </p:txBody>
      </p:sp>
      <p:pic>
        <p:nvPicPr>
          <p:cNvPr id="231" name="Google Shape;231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687" y="2524918"/>
            <a:ext cx="7666434" cy="346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Ventilation tubes for transtympanic drainage</a:t>
            </a:r>
            <a:endParaRPr/>
          </a:p>
        </p:txBody>
      </p:sp>
      <p:pic>
        <p:nvPicPr>
          <p:cNvPr id="237" name="Google Shape;23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6655" y="1856942"/>
            <a:ext cx="3911890" cy="391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Myringosclerosis</a:t>
            </a:r>
            <a:endParaRPr/>
          </a:p>
        </p:txBody>
      </p:sp>
      <p:pic>
        <p:nvPicPr>
          <p:cNvPr id="243" name="Google Shape;24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728" y="1917989"/>
            <a:ext cx="757858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Barotrauma</a:t>
            </a:r>
            <a:endParaRPr/>
          </a:p>
        </p:txBody>
      </p:sp>
      <p:pic>
        <p:nvPicPr>
          <p:cNvPr id="249" name="Google Shape;2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056" y="1788102"/>
            <a:ext cx="8565923" cy="44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Cholesteatoma</a:t>
            </a:r>
            <a:endParaRPr/>
          </a:p>
        </p:txBody>
      </p:sp>
      <p:pic>
        <p:nvPicPr>
          <p:cNvPr id="255" name="Google Shape;255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9396" y="1690688"/>
            <a:ext cx="543917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Ear foreign bodies</a:t>
            </a:r>
            <a:endParaRPr/>
          </a:p>
        </p:txBody>
      </p:sp>
      <p:pic>
        <p:nvPicPr>
          <p:cNvPr id="261" name="Google Shape;26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4" y="2162968"/>
            <a:ext cx="6809227" cy="3831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2025-04-07T13:32:00Z</dcterms:created>
  <dc:creator>Dan Iovanescu</dc:creator>
</cp:coreProperties>
</file>