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88"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09946-E202-4CF4-DBD8-1EC307F861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o-RO"/>
          </a:p>
        </p:txBody>
      </p:sp>
      <p:sp>
        <p:nvSpPr>
          <p:cNvPr id="3" name="Subtitle 2">
            <a:extLst>
              <a:ext uri="{FF2B5EF4-FFF2-40B4-BE49-F238E27FC236}">
                <a16:creationId xmlns:a16="http://schemas.microsoft.com/office/drawing/2014/main" id="{06CDC74D-7414-9CD9-C3F4-C8E6CA3F89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o-RO"/>
          </a:p>
        </p:txBody>
      </p:sp>
      <p:sp>
        <p:nvSpPr>
          <p:cNvPr id="4" name="Date Placeholder 3">
            <a:extLst>
              <a:ext uri="{FF2B5EF4-FFF2-40B4-BE49-F238E27FC236}">
                <a16:creationId xmlns:a16="http://schemas.microsoft.com/office/drawing/2014/main" id="{A365ADD2-2EB2-1C9D-D95D-A25811454591}"/>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5" name="Footer Placeholder 4">
            <a:extLst>
              <a:ext uri="{FF2B5EF4-FFF2-40B4-BE49-F238E27FC236}">
                <a16:creationId xmlns:a16="http://schemas.microsoft.com/office/drawing/2014/main" id="{C44D1971-C9F8-E4D7-482C-391356C822F4}"/>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B8ABB96C-27A1-6E62-E9D7-6BE3403954D2}"/>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1842840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9E7C-3E04-74CF-1AA6-F446EBAB7E25}"/>
              </a:ext>
            </a:extLst>
          </p:cNvPr>
          <p:cNvSpPr>
            <a:spLocks noGrp="1"/>
          </p:cNvSpPr>
          <p:nvPr>
            <p:ph type="title"/>
          </p:nvPr>
        </p:nvSpPr>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608F6E3E-9331-4565-8CDD-43F7B8C897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18020FE2-65E5-582B-A9FE-B705F88DBBF7}"/>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5" name="Footer Placeholder 4">
            <a:extLst>
              <a:ext uri="{FF2B5EF4-FFF2-40B4-BE49-F238E27FC236}">
                <a16:creationId xmlns:a16="http://schemas.microsoft.com/office/drawing/2014/main" id="{71AF0B48-B494-6942-043E-EA40551842B1}"/>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210BBF52-6C19-871A-9819-8F7B30BBA783}"/>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3177174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BF734-170F-364F-BA63-F998322B78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o-RO"/>
          </a:p>
        </p:txBody>
      </p:sp>
      <p:sp>
        <p:nvSpPr>
          <p:cNvPr id="3" name="Text Placeholder 2">
            <a:extLst>
              <a:ext uri="{FF2B5EF4-FFF2-40B4-BE49-F238E27FC236}">
                <a16:creationId xmlns:a16="http://schemas.microsoft.com/office/drawing/2014/main" id="{85C02659-3E25-A63D-3212-099BEBFA40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A2D6CF-F49B-A3A3-BC29-BD1A1369195E}"/>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5" name="Footer Placeholder 4">
            <a:extLst>
              <a:ext uri="{FF2B5EF4-FFF2-40B4-BE49-F238E27FC236}">
                <a16:creationId xmlns:a16="http://schemas.microsoft.com/office/drawing/2014/main" id="{CFA4C09D-0ED6-951F-1283-0BE3F4EC73CE}"/>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2EBCC1EC-2C38-2FFE-A8DE-8C9E3DAAA527}"/>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1532447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30D2C-F598-68BE-C345-DF6EDD72B05C}"/>
              </a:ext>
            </a:extLst>
          </p:cNvPr>
          <p:cNvSpPr>
            <a:spLocks noGrp="1"/>
          </p:cNvSpPr>
          <p:nvPr>
            <p:ph type="title"/>
          </p:nvPr>
        </p:nvSpPr>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113D3CA1-DC1E-10A5-52D6-544C5A4B91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Content Placeholder 3">
            <a:extLst>
              <a:ext uri="{FF2B5EF4-FFF2-40B4-BE49-F238E27FC236}">
                <a16:creationId xmlns:a16="http://schemas.microsoft.com/office/drawing/2014/main" id="{EE078490-CB6B-F09F-1819-B277D5F237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Date Placeholder 4">
            <a:extLst>
              <a:ext uri="{FF2B5EF4-FFF2-40B4-BE49-F238E27FC236}">
                <a16:creationId xmlns:a16="http://schemas.microsoft.com/office/drawing/2014/main" id="{A072D2B4-4403-6527-CFE2-41DC0B0F3A95}"/>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6" name="Footer Placeholder 5">
            <a:extLst>
              <a:ext uri="{FF2B5EF4-FFF2-40B4-BE49-F238E27FC236}">
                <a16:creationId xmlns:a16="http://schemas.microsoft.com/office/drawing/2014/main" id="{CC51AB21-E331-64B7-707B-0D19F20ECC42}"/>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0F975032-9D76-0AA6-AE7A-987D8E17904A}"/>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4247259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2A3-97F5-3F11-028D-8B1F91D081D8}"/>
              </a:ext>
            </a:extLst>
          </p:cNvPr>
          <p:cNvSpPr>
            <a:spLocks noGrp="1"/>
          </p:cNvSpPr>
          <p:nvPr>
            <p:ph type="title"/>
          </p:nvPr>
        </p:nvSpPr>
        <p:spPr>
          <a:xfrm>
            <a:off x="839788" y="365125"/>
            <a:ext cx="10515600" cy="1325563"/>
          </a:xfrm>
        </p:spPr>
        <p:txBody>
          <a:bodyPr/>
          <a:lstStyle/>
          <a:p>
            <a:r>
              <a:rPr lang="en-US"/>
              <a:t>Click to edit Master title style</a:t>
            </a:r>
            <a:endParaRPr lang="ro-RO"/>
          </a:p>
        </p:txBody>
      </p:sp>
      <p:sp>
        <p:nvSpPr>
          <p:cNvPr id="3" name="Text Placeholder 2">
            <a:extLst>
              <a:ext uri="{FF2B5EF4-FFF2-40B4-BE49-F238E27FC236}">
                <a16:creationId xmlns:a16="http://schemas.microsoft.com/office/drawing/2014/main" id="{5E1FBA58-4AD2-4B16-6B43-0C6E74F81A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8CBAFA-D5D9-7DE3-2374-52ED2EA890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Text Placeholder 4">
            <a:extLst>
              <a:ext uri="{FF2B5EF4-FFF2-40B4-BE49-F238E27FC236}">
                <a16:creationId xmlns:a16="http://schemas.microsoft.com/office/drawing/2014/main" id="{F9ABF3EB-576F-C51C-D7E6-7BCE29777C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B43BAB-01D2-CAFE-C11F-EC29B58BDD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7" name="Date Placeholder 6">
            <a:extLst>
              <a:ext uri="{FF2B5EF4-FFF2-40B4-BE49-F238E27FC236}">
                <a16:creationId xmlns:a16="http://schemas.microsoft.com/office/drawing/2014/main" id="{029AECDB-BB96-AA00-1DE0-17CC00359671}"/>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8" name="Footer Placeholder 7">
            <a:extLst>
              <a:ext uri="{FF2B5EF4-FFF2-40B4-BE49-F238E27FC236}">
                <a16:creationId xmlns:a16="http://schemas.microsoft.com/office/drawing/2014/main" id="{1B451888-488C-547E-3394-47747AAA4D5C}"/>
              </a:ext>
            </a:extLst>
          </p:cNvPr>
          <p:cNvSpPr>
            <a:spLocks noGrp="1"/>
          </p:cNvSpPr>
          <p:nvPr>
            <p:ph type="ftr" sz="quarter" idx="11"/>
          </p:nvPr>
        </p:nvSpPr>
        <p:spPr/>
        <p:txBody>
          <a:bodyPr/>
          <a:lstStyle/>
          <a:p>
            <a:endParaRPr lang="ro-RO"/>
          </a:p>
        </p:txBody>
      </p:sp>
      <p:sp>
        <p:nvSpPr>
          <p:cNvPr id="9" name="Slide Number Placeholder 8">
            <a:extLst>
              <a:ext uri="{FF2B5EF4-FFF2-40B4-BE49-F238E27FC236}">
                <a16:creationId xmlns:a16="http://schemas.microsoft.com/office/drawing/2014/main" id="{DF82ED56-DBAC-C36E-06F8-5C5BC7F067ED}"/>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3990754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2B351-6F02-7D6A-CDB1-E360946CD4DF}"/>
              </a:ext>
            </a:extLst>
          </p:cNvPr>
          <p:cNvSpPr>
            <a:spLocks noGrp="1"/>
          </p:cNvSpPr>
          <p:nvPr>
            <p:ph type="title"/>
          </p:nvPr>
        </p:nvSpPr>
        <p:spPr/>
        <p:txBody>
          <a:bodyPr/>
          <a:lstStyle/>
          <a:p>
            <a:r>
              <a:rPr lang="en-US"/>
              <a:t>Click to edit Master title style</a:t>
            </a:r>
            <a:endParaRPr lang="ro-RO"/>
          </a:p>
        </p:txBody>
      </p:sp>
      <p:sp>
        <p:nvSpPr>
          <p:cNvPr id="3" name="Date Placeholder 2">
            <a:extLst>
              <a:ext uri="{FF2B5EF4-FFF2-40B4-BE49-F238E27FC236}">
                <a16:creationId xmlns:a16="http://schemas.microsoft.com/office/drawing/2014/main" id="{51701ABC-2317-CFF8-D0AE-6A83EEF440E9}"/>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4" name="Footer Placeholder 3">
            <a:extLst>
              <a:ext uri="{FF2B5EF4-FFF2-40B4-BE49-F238E27FC236}">
                <a16:creationId xmlns:a16="http://schemas.microsoft.com/office/drawing/2014/main" id="{18F37E15-40D9-7035-9275-5737C31F72E4}"/>
              </a:ext>
            </a:extLst>
          </p:cNvPr>
          <p:cNvSpPr>
            <a:spLocks noGrp="1"/>
          </p:cNvSpPr>
          <p:nvPr>
            <p:ph type="ftr" sz="quarter" idx="11"/>
          </p:nvPr>
        </p:nvSpPr>
        <p:spPr/>
        <p:txBody>
          <a:bodyPr/>
          <a:lstStyle/>
          <a:p>
            <a:endParaRPr lang="ro-RO"/>
          </a:p>
        </p:txBody>
      </p:sp>
      <p:sp>
        <p:nvSpPr>
          <p:cNvPr id="5" name="Slide Number Placeholder 4">
            <a:extLst>
              <a:ext uri="{FF2B5EF4-FFF2-40B4-BE49-F238E27FC236}">
                <a16:creationId xmlns:a16="http://schemas.microsoft.com/office/drawing/2014/main" id="{4101C191-D75A-919B-01A7-C293EE96CF6D}"/>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831487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67C142-EEDE-0B56-7CC1-B88073B808FE}"/>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3" name="Footer Placeholder 2">
            <a:extLst>
              <a:ext uri="{FF2B5EF4-FFF2-40B4-BE49-F238E27FC236}">
                <a16:creationId xmlns:a16="http://schemas.microsoft.com/office/drawing/2014/main" id="{F107D9BF-092E-1A01-82E1-B63682B841A9}"/>
              </a:ext>
            </a:extLst>
          </p:cNvPr>
          <p:cNvSpPr>
            <a:spLocks noGrp="1"/>
          </p:cNvSpPr>
          <p:nvPr>
            <p:ph type="ftr" sz="quarter" idx="11"/>
          </p:nvPr>
        </p:nvSpPr>
        <p:spPr/>
        <p:txBody>
          <a:bodyPr/>
          <a:lstStyle/>
          <a:p>
            <a:endParaRPr lang="ro-RO"/>
          </a:p>
        </p:txBody>
      </p:sp>
      <p:sp>
        <p:nvSpPr>
          <p:cNvPr id="4" name="Slide Number Placeholder 3">
            <a:extLst>
              <a:ext uri="{FF2B5EF4-FFF2-40B4-BE49-F238E27FC236}">
                <a16:creationId xmlns:a16="http://schemas.microsoft.com/office/drawing/2014/main" id="{63CDC646-1DA6-3BF3-F20F-3E91D32A123D}"/>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748730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C3324-4693-376C-175E-8FD569B21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o-RO"/>
          </a:p>
        </p:txBody>
      </p:sp>
      <p:sp>
        <p:nvSpPr>
          <p:cNvPr id="3" name="Content Placeholder 2">
            <a:extLst>
              <a:ext uri="{FF2B5EF4-FFF2-40B4-BE49-F238E27FC236}">
                <a16:creationId xmlns:a16="http://schemas.microsoft.com/office/drawing/2014/main" id="{C8A75F1A-B7D9-6C83-940A-EFC1D252B5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Text Placeholder 3">
            <a:extLst>
              <a:ext uri="{FF2B5EF4-FFF2-40B4-BE49-F238E27FC236}">
                <a16:creationId xmlns:a16="http://schemas.microsoft.com/office/drawing/2014/main" id="{9958B9C9-B6B2-B84C-6973-102B14D9C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39F49B-BC2F-8111-6597-674DD2A89704}"/>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6" name="Footer Placeholder 5">
            <a:extLst>
              <a:ext uri="{FF2B5EF4-FFF2-40B4-BE49-F238E27FC236}">
                <a16:creationId xmlns:a16="http://schemas.microsoft.com/office/drawing/2014/main" id="{ADB2DE20-1FC4-180A-DFE6-4BA12C2D1505}"/>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BB261F61-33E4-9495-FDF1-6A6C4A8DFBDF}"/>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42049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889F9-7009-FA8B-C509-FC21720C0E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o-RO"/>
          </a:p>
        </p:txBody>
      </p:sp>
      <p:sp>
        <p:nvSpPr>
          <p:cNvPr id="3" name="Picture Placeholder 2">
            <a:extLst>
              <a:ext uri="{FF2B5EF4-FFF2-40B4-BE49-F238E27FC236}">
                <a16:creationId xmlns:a16="http://schemas.microsoft.com/office/drawing/2014/main" id="{A74279AE-E45A-6977-FC13-761178AC74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Text Placeholder 3">
            <a:extLst>
              <a:ext uri="{FF2B5EF4-FFF2-40B4-BE49-F238E27FC236}">
                <a16:creationId xmlns:a16="http://schemas.microsoft.com/office/drawing/2014/main" id="{4C9A264D-ED90-096E-8DBA-A0AE604CD6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B0051F-8EF2-9946-2A3C-6630D726DBA0}"/>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6" name="Footer Placeholder 5">
            <a:extLst>
              <a:ext uri="{FF2B5EF4-FFF2-40B4-BE49-F238E27FC236}">
                <a16:creationId xmlns:a16="http://schemas.microsoft.com/office/drawing/2014/main" id="{6AA44897-3112-D4B0-F5F9-30954D427349}"/>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00004D0E-2B20-9CC5-02CC-3E9393C99BC5}"/>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2054790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650B1-E0E0-9EAD-76B9-43121B92129F}"/>
              </a:ext>
            </a:extLst>
          </p:cNvPr>
          <p:cNvSpPr>
            <a:spLocks noGrp="1"/>
          </p:cNvSpPr>
          <p:nvPr>
            <p:ph type="title"/>
          </p:nvPr>
        </p:nvSpPr>
        <p:spPr/>
        <p:txBody>
          <a:bodyPr/>
          <a:lstStyle/>
          <a:p>
            <a:r>
              <a:rPr lang="en-US"/>
              <a:t>Click to edit Master title style</a:t>
            </a:r>
            <a:endParaRPr lang="ro-RO"/>
          </a:p>
        </p:txBody>
      </p:sp>
      <p:sp>
        <p:nvSpPr>
          <p:cNvPr id="3" name="Vertical Text Placeholder 2">
            <a:extLst>
              <a:ext uri="{FF2B5EF4-FFF2-40B4-BE49-F238E27FC236}">
                <a16:creationId xmlns:a16="http://schemas.microsoft.com/office/drawing/2014/main" id="{C2F9336B-06A2-AE76-2FEF-C928EE707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F251F7BD-8F3B-1241-DFEE-08D41BE0C44F}"/>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5" name="Footer Placeholder 4">
            <a:extLst>
              <a:ext uri="{FF2B5EF4-FFF2-40B4-BE49-F238E27FC236}">
                <a16:creationId xmlns:a16="http://schemas.microsoft.com/office/drawing/2014/main" id="{3DE2FDFD-2A4D-2B95-30A0-4E2268131710}"/>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4D430CEF-925B-E4CB-ACD9-3F799F40067D}"/>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1902759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9204F6-732D-3270-5726-F03F21179B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o-RO"/>
          </a:p>
        </p:txBody>
      </p:sp>
      <p:sp>
        <p:nvSpPr>
          <p:cNvPr id="3" name="Vertical Text Placeholder 2">
            <a:extLst>
              <a:ext uri="{FF2B5EF4-FFF2-40B4-BE49-F238E27FC236}">
                <a16:creationId xmlns:a16="http://schemas.microsoft.com/office/drawing/2014/main" id="{D120AA8D-B27E-18F6-9060-60974B5ECB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2CD8684D-5B7C-792E-3B48-DE9A6332E3F3}"/>
              </a:ext>
            </a:extLst>
          </p:cNvPr>
          <p:cNvSpPr>
            <a:spLocks noGrp="1"/>
          </p:cNvSpPr>
          <p:nvPr>
            <p:ph type="dt" sz="half" idx="10"/>
          </p:nvPr>
        </p:nvSpPr>
        <p:spPr/>
        <p:txBody>
          <a:bodyPr/>
          <a:lstStyle/>
          <a:p>
            <a:fld id="{DAF5085F-CFA8-4B89-9CB3-29E616234659}" type="datetimeFigureOut">
              <a:rPr lang="ro-RO" smtClean="0"/>
              <a:t>23.04.2025</a:t>
            </a:fld>
            <a:endParaRPr lang="ro-RO"/>
          </a:p>
        </p:txBody>
      </p:sp>
      <p:sp>
        <p:nvSpPr>
          <p:cNvPr id="5" name="Footer Placeholder 4">
            <a:extLst>
              <a:ext uri="{FF2B5EF4-FFF2-40B4-BE49-F238E27FC236}">
                <a16:creationId xmlns:a16="http://schemas.microsoft.com/office/drawing/2014/main" id="{28E6034A-399A-958D-6FB1-4E8569B17D69}"/>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72C07D22-8105-2AAF-246A-F8D6892208A6}"/>
              </a:ext>
            </a:extLst>
          </p:cNvPr>
          <p:cNvSpPr>
            <a:spLocks noGrp="1"/>
          </p:cNvSpPr>
          <p:nvPr>
            <p:ph type="sldNum" sz="quarter" idx="12"/>
          </p:nvPr>
        </p:nvSpPr>
        <p:spPr/>
        <p:txBody>
          <a:bodyPr/>
          <a:lstStyle/>
          <a:p>
            <a:fld id="{C0FE82B9-7ACF-4BA5-A250-407DB14523A1}" type="slidenum">
              <a:rPr lang="ro-RO" smtClean="0"/>
              <a:t>‹#›</a:t>
            </a:fld>
            <a:endParaRPr lang="ro-RO"/>
          </a:p>
        </p:txBody>
      </p:sp>
    </p:spTree>
    <p:extLst>
      <p:ext uri="{BB962C8B-B14F-4D97-AF65-F5344CB8AC3E}">
        <p14:creationId xmlns:p14="http://schemas.microsoft.com/office/powerpoint/2010/main" val="3859908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3BC087-2F60-DFBC-671A-30D0D039B9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o-RO"/>
          </a:p>
        </p:txBody>
      </p:sp>
      <p:sp>
        <p:nvSpPr>
          <p:cNvPr id="3" name="Text Placeholder 2">
            <a:extLst>
              <a:ext uri="{FF2B5EF4-FFF2-40B4-BE49-F238E27FC236}">
                <a16:creationId xmlns:a16="http://schemas.microsoft.com/office/drawing/2014/main" id="{1F1E511D-035F-B2A2-709B-F8EBBC5C38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A35B4628-9465-17DA-6239-09FB378BBE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F5085F-CFA8-4B89-9CB3-29E616234659}" type="datetimeFigureOut">
              <a:rPr lang="ro-RO" smtClean="0"/>
              <a:t>23.04.2025</a:t>
            </a:fld>
            <a:endParaRPr lang="ro-RO"/>
          </a:p>
        </p:txBody>
      </p:sp>
      <p:sp>
        <p:nvSpPr>
          <p:cNvPr id="5" name="Footer Placeholder 4">
            <a:extLst>
              <a:ext uri="{FF2B5EF4-FFF2-40B4-BE49-F238E27FC236}">
                <a16:creationId xmlns:a16="http://schemas.microsoft.com/office/drawing/2014/main" id="{4D3AFBCF-D2E8-C09F-78F1-69CEDE08E1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o-RO"/>
          </a:p>
        </p:txBody>
      </p:sp>
      <p:sp>
        <p:nvSpPr>
          <p:cNvPr id="6" name="Slide Number Placeholder 5">
            <a:extLst>
              <a:ext uri="{FF2B5EF4-FFF2-40B4-BE49-F238E27FC236}">
                <a16:creationId xmlns:a16="http://schemas.microsoft.com/office/drawing/2014/main" id="{ECC85EF4-637B-6AC5-FD54-A0BF728FE7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FE82B9-7ACF-4BA5-A250-407DB14523A1}" type="slidenum">
              <a:rPr lang="ro-RO" smtClean="0"/>
              <a:t>‹#›</a:t>
            </a:fld>
            <a:endParaRPr lang="ro-RO"/>
          </a:p>
        </p:txBody>
      </p:sp>
    </p:spTree>
    <p:extLst>
      <p:ext uri="{BB962C8B-B14F-4D97-AF65-F5344CB8AC3E}">
        <p14:creationId xmlns:p14="http://schemas.microsoft.com/office/powerpoint/2010/main" val="2457202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B4AAC1-BF5B-B03C-DE9A-C40CBAD8F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467" y="2293220"/>
            <a:ext cx="3532887" cy="4379754"/>
          </a:xfrm>
          <a:prstGeom prst="rect">
            <a:avLst/>
          </a:prstGeom>
        </p:spPr>
      </p:pic>
      <p:sp>
        <p:nvSpPr>
          <p:cNvPr id="2" name="Title 1">
            <a:extLst>
              <a:ext uri="{FF2B5EF4-FFF2-40B4-BE49-F238E27FC236}">
                <a16:creationId xmlns:a16="http://schemas.microsoft.com/office/drawing/2014/main" id="{06608FAB-44EA-110E-3201-28F69F352295}"/>
              </a:ext>
            </a:extLst>
          </p:cNvPr>
          <p:cNvSpPr>
            <a:spLocks noGrp="1"/>
          </p:cNvSpPr>
          <p:nvPr>
            <p:ph type="ctrTitle"/>
          </p:nvPr>
        </p:nvSpPr>
        <p:spPr>
          <a:xfrm>
            <a:off x="1592826" y="185026"/>
            <a:ext cx="9144000" cy="2387600"/>
          </a:xfrm>
        </p:spPr>
        <p:txBody>
          <a:bodyPr/>
          <a:lstStyle/>
          <a:p>
            <a:r>
              <a:rPr lang="en-US" dirty="0">
                <a:solidFill>
                  <a:srgbClr val="000000"/>
                </a:solidFill>
                <a:latin typeface="Inter"/>
              </a:rPr>
              <a:t>A</a:t>
            </a:r>
            <a:r>
              <a:rPr lang="ro-RO" b="0" i="0" dirty="0">
                <a:solidFill>
                  <a:srgbClr val="000000"/>
                </a:solidFill>
                <a:effectLst/>
                <a:latin typeface="Inter"/>
              </a:rPr>
              <a:t>coustic acuity</a:t>
            </a:r>
            <a:r>
              <a:rPr lang="en-US" b="0" i="0" dirty="0">
                <a:solidFill>
                  <a:srgbClr val="000000"/>
                </a:solidFill>
                <a:effectLst/>
                <a:latin typeface="Inter"/>
              </a:rPr>
              <a:t> tests</a:t>
            </a:r>
            <a:endParaRPr lang="ro-RO" dirty="0"/>
          </a:p>
        </p:txBody>
      </p:sp>
    </p:spTree>
    <p:extLst>
      <p:ext uri="{BB962C8B-B14F-4D97-AF65-F5344CB8AC3E}">
        <p14:creationId xmlns:p14="http://schemas.microsoft.com/office/powerpoint/2010/main" val="144146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95070E6-D87B-445F-E189-3BD0AF5087A9}"/>
              </a:ext>
            </a:extLst>
          </p:cNvPr>
          <p:cNvSpPr>
            <a:spLocks noGrp="1" noChangeArrowheads="1"/>
          </p:cNvSpPr>
          <p:nvPr>
            <p:ph idx="1"/>
          </p:nvPr>
        </p:nvSpPr>
        <p:spPr bwMode="auto">
          <a:xfrm>
            <a:off x="808703" y="634875"/>
            <a:ext cx="1072453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1" i="0" u="none" strike="noStrike" cap="none" normalizeH="0" baseline="0" dirty="0">
                <a:ln>
                  <a:noFill/>
                </a:ln>
                <a:solidFill>
                  <a:schemeClr val="tx1"/>
                </a:solidFill>
                <a:effectLst/>
                <a:latin typeface="Arial" panose="020B0604020202020204" pitchFamily="34" charset="0"/>
              </a:rPr>
              <a:t>Air conduction (AC):</a:t>
            </a:r>
            <a:r>
              <a:rPr kumimoji="0" lang="ro-RO" altLang="ro-RO" sz="1800" b="0" i="0" u="none" strike="noStrike" cap="none" normalizeH="0" baseline="0" dirty="0">
                <a:ln>
                  <a:noFill/>
                </a:ln>
                <a:solidFill>
                  <a:schemeClr val="tx1"/>
                </a:solidFill>
                <a:effectLst/>
                <a:latin typeface="Arial" panose="020B0604020202020204" pitchFamily="34" charset="0"/>
              </a:rPr>
              <a:t> The sound wave is collected by the ear pavilion, funneled through the external ear canal (EAC) and sets the tympanic membrane and the ossicular chain in motion.</a:t>
            </a:r>
            <a:endParaRPr kumimoji="0" lang="en-US"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0" i="0" u="none" strike="noStrike" cap="none" normalizeH="0" baseline="0" dirty="0">
                <a:ln>
                  <a:noFill/>
                </a:ln>
                <a:solidFill>
                  <a:schemeClr val="tx1"/>
                </a:solidFill>
                <a:effectLst/>
                <a:latin typeface="Arial" panose="020B0604020202020204" pitchFamily="34" charset="0"/>
              </a:rPr>
              <a:t> The stapes footplate rocks back and forth and impinges upon the oval window and sets the perilymph of the inner ear in motion.</a:t>
            </a:r>
            <a:endParaRPr kumimoji="0" lang="en-US"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0" i="0" u="none" strike="noStrike" cap="none" normalizeH="0" baseline="0" dirty="0">
                <a:ln>
                  <a:noFill/>
                </a:ln>
                <a:solidFill>
                  <a:schemeClr val="tx1"/>
                </a:solidFill>
                <a:effectLst/>
                <a:latin typeface="Arial" panose="020B0604020202020204" pitchFamily="34" charset="0"/>
              </a:rPr>
              <a:t> The movement of the liquids within the inner ear stimulates the hair cells and generates an electrical impulse through the auditory nerve, which will be decoded in the brain as sound information. </a:t>
            </a:r>
          </a:p>
        </p:txBody>
      </p:sp>
      <p:pic>
        <p:nvPicPr>
          <p:cNvPr id="6" name="Picture 5">
            <a:extLst>
              <a:ext uri="{FF2B5EF4-FFF2-40B4-BE49-F238E27FC236}">
                <a16:creationId xmlns:a16="http://schemas.microsoft.com/office/drawing/2014/main" id="{AFEF1127-3CE7-2FA2-4C17-8A39DA82B5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1166" y="3089480"/>
            <a:ext cx="6437363" cy="3620070"/>
          </a:xfrm>
          <a:prstGeom prst="rect">
            <a:avLst/>
          </a:prstGeom>
        </p:spPr>
      </p:pic>
    </p:spTree>
    <p:extLst>
      <p:ext uri="{BB962C8B-B14F-4D97-AF65-F5344CB8AC3E}">
        <p14:creationId xmlns:p14="http://schemas.microsoft.com/office/powerpoint/2010/main" val="2901533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3DCAC3-141C-34E1-46FA-8232F65A16CC}"/>
              </a:ext>
            </a:extLst>
          </p:cNvPr>
          <p:cNvSpPr>
            <a:spLocks noGrp="1"/>
          </p:cNvSpPr>
          <p:nvPr>
            <p:ph idx="1"/>
          </p:nvPr>
        </p:nvSpPr>
        <p:spPr>
          <a:xfrm>
            <a:off x="838200" y="380283"/>
            <a:ext cx="10515600" cy="4351338"/>
          </a:xfrm>
        </p:spPr>
        <p:txBody>
          <a:bodyPr/>
          <a:lstStyle/>
          <a:p>
            <a:r>
              <a:rPr lang="en-US" b="1" dirty="0"/>
              <a:t>Bone conduction (BC):</a:t>
            </a:r>
            <a:r>
              <a:rPr lang="en-US" dirty="0"/>
              <a:t> The sound wave sets the skull bones in motion and this vibration is transmitted directly or indirectly to the inner ear. </a:t>
            </a:r>
            <a:endParaRPr lang="ro-RO" dirty="0"/>
          </a:p>
        </p:txBody>
      </p:sp>
      <p:pic>
        <p:nvPicPr>
          <p:cNvPr id="5" name="Picture 4">
            <a:extLst>
              <a:ext uri="{FF2B5EF4-FFF2-40B4-BE49-F238E27FC236}">
                <a16:creationId xmlns:a16="http://schemas.microsoft.com/office/drawing/2014/main" id="{7AAAC0E5-EA3B-F9A5-D054-9901DF3EC8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1969" y="1565265"/>
            <a:ext cx="8002823" cy="4573042"/>
          </a:xfrm>
          <a:prstGeom prst="rect">
            <a:avLst/>
          </a:prstGeom>
        </p:spPr>
      </p:pic>
    </p:spTree>
    <p:extLst>
      <p:ext uri="{BB962C8B-B14F-4D97-AF65-F5344CB8AC3E}">
        <p14:creationId xmlns:p14="http://schemas.microsoft.com/office/powerpoint/2010/main" val="3465051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D251A-FC2F-B8EA-92B8-349F61551B00}"/>
              </a:ext>
            </a:extLst>
          </p:cNvPr>
          <p:cNvSpPr>
            <a:spLocks noGrp="1"/>
          </p:cNvSpPr>
          <p:nvPr>
            <p:ph idx="1"/>
          </p:nvPr>
        </p:nvSpPr>
        <p:spPr>
          <a:xfrm>
            <a:off x="838200" y="705182"/>
            <a:ext cx="10515600" cy="4351338"/>
          </a:xfrm>
        </p:spPr>
        <p:txBody>
          <a:bodyPr/>
          <a:lstStyle/>
          <a:p>
            <a:r>
              <a:rPr lang="en-US" b="1" dirty="0"/>
              <a:t>Attention!</a:t>
            </a:r>
            <a:r>
              <a:rPr lang="en-US" dirty="0"/>
              <a:t> – Air conduction is always more efficient than bone conduction (AC&gt;BC) because air is a much lower density transmission medium (lower resistance means less energy required for the same result).</a:t>
            </a:r>
            <a:endParaRPr lang="ro-RO" dirty="0"/>
          </a:p>
        </p:txBody>
      </p:sp>
      <p:pic>
        <p:nvPicPr>
          <p:cNvPr id="7" name="Picture 6">
            <a:extLst>
              <a:ext uri="{FF2B5EF4-FFF2-40B4-BE49-F238E27FC236}">
                <a16:creationId xmlns:a16="http://schemas.microsoft.com/office/drawing/2014/main" id="{62C695D1-6B71-8BF6-CF58-CF55739B5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9664" y="3374712"/>
            <a:ext cx="6026479" cy="1681808"/>
          </a:xfrm>
          <a:prstGeom prst="rect">
            <a:avLst/>
          </a:prstGeom>
        </p:spPr>
      </p:pic>
    </p:spTree>
    <p:extLst>
      <p:ext uri="{BB962C8B-B14F-4D97-AF65-F5344CB8AC3E}">
        <p14:creationId xmlns:p14="http://schemas.microsoft.com/office/powerpoint/2010/main" val="648018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6E154C-1964-747A-C39E-4BAC30E3B57E}"/>
              </a:ext>
            </a:extLst>
          </p:cNvPr>
          <p:cNvSpPr>
            <a:spLocks noGrp="1"/>
          </p:cNvSpPr>
          <p:nvPr>
            <p:ph idx="1"/>
          </p:nvPr>
        </p:nvSpPr>
        <p:spPr>
          <a:xfrm>
            <a:off x="376084" y="488439"/>
            <a:ext cx="7627374" cy="5686220"/>
          </a:xfrm>
        </p:spPr>
        <p:txBody>
          <a:bodyPr>
            <a:normAutofit/>
          </a:bodyPr>
          <a:lstStyle/>
          <a:p>
            <a:pPr>
              <a:buNone/>
            </a:pPr>
            <a:r>
              <a:rPr lang="en-US" b="1" dirty="0"/>
              <a:t>Hypoacusis</a:t>
            </a:r>
            <a:r>
              <a:rPr lang="en-US" dirty="0"/>
              <a:t> – hearing loss. Depending on the mechanism, it is classified as: conductive, sensorineural, and mixed.</a:t>
            </a:r>
          </a:p>
          <a:p>
            <a:pPr>
              <a:buNone/>
            </a:pPr>
            <a:endParaRPr lang="en-US" dirty="0"/>
          </a:p>
          <a:p>
            <a:pPr>
              <a:buFont typeface="Arial" panose="020B0604020202020204" pitchFamily="34" charset="0"/>
              <a:buChar char="•"/>
            </a:pPr>
            <a:r>
              <a:rPr lang="en-US" b="1" dirty="0"/>
              <a:t>Conductive hearing loss:</a:t>
            </a:r>
            <a:r>
              <a:rPr lang="en-US" dirty="0"/>
              <a:t> Generated by impaired air conduction (EAC – TM – ossicular chain), or in other words, pathology of the external or middle ear</a:t>
            </a:r>
          </a:p>
          <a:p>
            <a:pPr>
              <a:buFont typeface="Arial" panose="020B0604020202020204" pitchFamily="34" charset="0"/>
              <a:buChar char="•"/>
            </a:pPr>
            <a:endParaRPr lang="en-US" dirty="0"/>
          </a:p>
          <a:p>
            <a:pPr>
              <a:buFont typeface="Arial" panose="020B0604020202020204" pitchFamily="34" charset="0"/>
              <a:buChar char="•"/>
            </a:pPr>
            <a:r>
              <a:rPr lang="en-US" dirty="0"/>
              <a:t>Patients may hear their voice louder (autophony) and speak more softly.</a:t>
            </a:r>
          </a:p>
          <a:p>
            <a:pPr marL="742950" lvl="1" indent="-285750">
              <a:buFont typeface="Arial" panose="020B0604020202020204" pitchFamily="34" charset="0"/>
              <a:buChar char="•"/>
            </a:pPr>
            <a:endParaRPr lang="en-US" dirty="0"/>
          </a:p>
          <a:p>
            <a:endParaRPr lang="ro-RO" dirty="0"/>
          </a:p>
        </p:txBody>
      </p:sp>
      <p:pic>
        <p:nvPicPr>
          <p:cNvPr id="5" name="Picture 4">
            <a:extLst>
              <a:ext uri="{FF2B5EF4-FFF2-40B4-BE49-F238E27FC236}">
                <a16:creationId xmlns:a16="http://schemas.microsoft.com/office/drawing/2014/main" id="{34F87532-0629-DCC0-1D29-A91249F59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3458" y="1000432"/>
            <a:ext cx="4093538" cy="4483510"/>
          </a:xfrm>
          <a:prstGeom prst="rect">
            <a:avLst/>
          </a:prstGeom>
        </p:spPr>
      </p:pic>
    </p:spTree>
    <p:extLst>
      <p:ext uri="{BB962C8B-B14F-4D97-AF65-F5344CB8AC3E}">
        <p14:creationId xmlns:p14="http://schemas.microsoft.com/office/powerpoint/2010/main" val="1199275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0C346-3EC5-5E99-B74E-F02AECF1666A}"/>
              </a:ext>
            </a:extLst>
          </p:cNvPr>
          <p:cNvSpPr>
            <a:spLocks noGrp="1"/>
          </p:cNvSpPr>
          <p:nvPr>
            <p:ph type="title"/>
          </p:nvPr>
        </p:nvSpPr>
        <p:spPr/>
        <p:txBody>
          <a:bodyPr/>
          <a:lstStyle/>
          <a:p>
            <a:r>
              <a:rPr kumimoji="0" lang="ro-RO" altLang="ro-RO" sz="4400" b="0" i="0" u="none" strike="noStrike" cap="none" normalizeH="0" baseline="0" dirty="0">
                <a:ln>
                  <a:noFill/>
                </a:ln>
                <a:solidFill>
                  <a:schemeClr val="tx1"/>
                </a:solidFill>
                <a:effectLst/>
                <a:latin typeface="Arial" panose="020B0604020202020204" pitchFamily="34" charset="0"/>
              </a:rPr>
              <a:t>TM (tympanic membrane) perforation</a:t>
            </a:r>
            <a:br>
              <a:rPr kumimoji="0" lang="ro-RO" altLang="ro-RO" sz="4400" b="0" i="0" u="none" strike="noStrike" cap="none" normalizeH="0" baseline="0" dirty="0">
                <a:ln>
                  <a:noFill/>
                </a:ln>
                <a:solidFill>
                  <a:schemeClr val="tx1"/>
                </a:solidFill>
                <a:effectLst/>
                <a:latin typeface="Arial" panose="020B0604020202020204" pitchFamily="34" charset="0"/>
              </a:rPr>
            </a:br>
            <a:endParaRPr lang="ro-RO" dirty="0"/>
          </a:p>
        </p:txBody>
      </p:sp>
      <p:pic>
        <p:nvPicPr>
          <p:cNvPr id="5" name="Content Placeholder 4">
            <a:extLst>
              <a:ext uri="{FF2B5EF4-FFF2-40B4-BE49-F238E27FC236}">
                <a16:creationId xmlns:a16="http://schemas.microsoft.com/office/drawing/2014/main" id="{F0B9A143-AF6E-2249-FC84-0AC5484F01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3337" y="2315369"/>
            <a:ext cx="4505325" cy="3371850"/>
          </a:xfrm>
        </p:spPr>
      </p:pic>
    </p:spTree>
    <p:extLst>
      <p:ext uri="{BB962C8B-B14F-4D97-AF65-F5344CB8AC3E}">
        <p14:creationId xmlns:p14="http://schemas.microsoft.com/office/powerpoint/2010/main" val="4107854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D820C-ED54-4858-E86F-447C838111BE}"/>
              </a:ext>
            </a:extLst>
          </p:cNvPr>
          <p:cNvSpPr>
            <a:spLocks noGrp="1"/>
          </p:cNvSpPr>
          <p:nvPr>
            <p:ph type="title"/>
          </p:nvPr>
        </p:nvSpPr>
        <p:spPr/>
        <p:txBody>
          <a:bodyPr/>
          <a:lstStyle/>
          <a:p>
            <a:r>
              <a:rPr kumimoji="0" lang="ro-RO" altLang="ro-RO" sz="4400" b="0" i="0" u="none" strike="noStrike" cap="none" normalizeH="0" baseline="0" dirty="0">
                <a:ln>
                  <a:noFill/>
                </a:ln>
                <a:solidFill>
                  <a:schemeClr val="tx1"/>
                </a:solidFill>
                <a:effectLst/>
                <a:latin typeface="Arial" panose="020B0604020202020204" pitchFamily="34" charset="0"/>
              </a:rPr>
              <a:t>Ossicular chain afflictions</a:t>
            </a:r>
            <a:br>
              <a:rPr kumimoji="0" lang="ro-RO" altLang="ro-RO" sz="4400" b="0" i="0" u="none" strike="noStrike" cap="none" normalizeH="0" baseline="0" dirty="0">
                <a:ln>
                  <a:noFill/>
                </a:ln>
                <a:solidFill>
                  <a:schemeClr val="tx1"/>
                </a:solidFill>
                <a:effectLst/>
                <a:latin typeface="Arial" panose="020B0604020202020204" pitchFamily="34" charset="0"/>
              </a:rPr>
            </a:br>
            <a:endParaRPr lang="ro-RO" dirty="0"/>
          </a:p>
        </p:txBody>
      </p:sp>
      <p:pic>
        <p:nvPicPr>
          <p:cNvPr id="5" name="Content Placeholder 4">
            <a:extLst>
              <a:ext uri="{FF2B5EF4-FFF2-40B4-BE49-F238E27FC236}">
                <a16:creationId xmlns:a16="http://schemas.microsoft.com/office/drawing/2014/main" id="{22F86C78-94F9-ECD9-51B0-A4B2B389BD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2554" y="1597613"/>
            <a:ext cx="5437214" cy="4095263"/>
          </a:xfrm>
        </p:spPr>
      </p:pic>
    </p:spTree>
    <p:extLst>
      <p:ext uri="{BB962C8B-B14F-4D97-AF65-F5344CB8AC3E}">
        <p14:creationId xmlns:p14="http://schemas.microsoft.com/office/powerpoint/2010/main" val="2491305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BC0E-F32B-F29B-28D4-C695FF67AB86}"/>
              </a:ext>
            </a:extLst>
          </p:cNvPr>
          <p:cNvSpPr>
            <a:spLocks noGrp="1"/>
          </p:cNvSpPr>
          <p:nvPr>
            <p:ph type="title"/>
          </p:nvPr>
        </p:nvSpPr>
        <p:spPr/>
        <p:txBody>
          <a:bodyPr>
            <a:normAutofit fontScale="90000"/>
          </a:bodyPr>
          <a:lstStyle/>
          <a:p>
            <a:r>
              <a:rPr kumimoji="0" lang="ro-RO" altLang="ro-RO" sz="4400" b="0" i="0" u="none" strike="noStrike" cap="none" normalizeH="0" baseline="0" dirty="0">
                <a:ln>
                  <a:noFill/>
                </a:ln>
                <a:solidFill>
                  <a:schemeClr val="tx1"/>
                </a:solidFill>
                <a:effectLst/>
                <a:latin typeface="Arial" panose="020B0604020202020204" pitchFamily="34" charset="0"/>
              </a:rPr>
              <a:t>Liquid build-up in the middle ear (e.g., otitis media, Eustachian tube dysfunction)</a:t>
            </a:r>
            <a:br>
              <a:rPr kumimoji="0" lang="en-US" altLang="ro-RO" sz="4400" b="0" i="0" u="none" strike="noStrike" cap="none" normalizeH="0" baseline="0" dirty="0">
                <a:ln>
                  <a:noFill/>
                </a:ln>
                <a:solidFill>
                  <a:schemeClr val="tx1"/>
                </a:solidFill>
                <a:effectLst/>
                <a:latin typeface="Arial" panose="020B0604020202020204" pitchFamily="34" charset="0"/>
              </a:rPr>
            </a:br>
            <a:endParaRPr lang="ro-RO" dirty="0"/>
          </a:p>
        </p:txBody>
      </p:sp>
      <p:pic>
        <p:nvPicPr>
          <p:cNvPr id="5" name="Content Placeholder 4">
            <a:extLst>
              <a:ext uri="{FF2B5EF4-FFF2-40B4-BE49-F238E27FC236}">
                <a16:creationId xmlns:a16="http://schemas.microsoft.com/office/drawing/2014/main" id="{4736C3B1-4ED2-C5E0-9DE5-60489A937C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6132" y="1609314"/>
            <a:ext cx="5238771" cy="5044189"/>
          </a:xfrm>
        </p:spPr>
      </p:pic>
    </p:spTree>
    <p:extLst>
      <p:ext uri="{BB962C8B-B14F-4D97-AF65-F5344CB8AC3E}">
        <p14:creationId xmlns:p14="http://schemas.microsoft.com/office/powerpoint/2010/main" val="1261065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1E226-83FE-E864-FFEC-580D3B9C1A4F}"/>
              </a:ext>
            </a:extLst>
          </p:cNvPr>
          <p:cNvSpPr>
            <a:spLocks noGrp="1"/>
          </p:cNvSpPr>
          <p:nvPr>
            <p:ph type="title"/>
          </p:nvPr>
        </p:nvSpPr>
        <p:spPr/>
        <p:txBody>
          <a:bodyPr/>
          <a:lstStyle/>
          <a:p>
            <a:r>
              <a:rPr lang="en-US" sz="4400" dirty="0"/>
              <a:t>EAC stenosis</a:t>
            </a:r>
            <a:br>
              <a:rPr lang="en-US" sz="4400" dirty="0"/>
            </a:br>
            <a:endParaRPr lang="ro-RO" dirty="0"/>
          </a:p>
        </p:txBody>
      </p:sp>
      <p:pic>
        <p:nvPicPr>
          <p:cNvPr id="5" name="Content Placeholder 4">
            <a:extLst>
              <a:ext uri="{FF2B5EF4-FFF2-40B4-BE49-F238E27FC236}">
                <a16:creationId xmlns:a16="http://schemas.microsoft.com/office/drawing/2014/main" id="{206C16FE-A820-9D74-8ED0-4B6E319551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75929" y="1825625"/>
            <a:ext cx="4440141" cy="4351338"/>
          </a:xfrm>
        </p:spPr>
      </p:pic>
    </p:spTree>
    <p:extLst>
      <p:ext uri="{BB962C8B-B14F-4D97-AF65-F5344CB8AC3E}">
        <p14:creationId xmlns:p14="http://schemas.microsoft.com/office/powerpoint/2010/main" val="2283504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EE206-527C-D0F1-90CD-CDD121EE6A5F}"/>
              </a:ext>
            </a:extLst>
          </p:cNvPr>
          <p:cNvSpPr>
            <a:spLocks noGrp="1"/>
          </p:cNvSpPr>
          <p:nvPr>
            <p:ph type="title"/>
          </p:nvPr>
        </p:nvSpPr>
        <p:spPr/>
        <p:txBody>
          <a:bodyPr/>
          <a:lstStyle/>
          <a:p>
            <a:r>
              <a:rPr lang="en-US" sz="4400" dirty="0"/>
              <a:t>Foreign bodies in the EAC (most frequently cerumen )</a:t>
            </a:r>
            <a:endParaRPr lang="ro-RO" dirty="0"/>
          </a:p>
        </p:txBody>
      </p:sp>
      <p:pic>
        <p:nvPicPr>
          <p:cNvPr id="5" name="Content Placeholder 4">
            <a:extLst>
              <a:ext uri="{FF2B5EF4-FFF2-40B4-BE49-F238E27FC236}">
                <a16:creationId xmlns:a16="http://schemas.microsoft.com/office/drawing/2014/main" id="{99574E4A-16D0-2735-5142-56DF0EA260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4700" y="1891506"/>
            <a:ext cx="5562600" cy="4219575"/>
          </a:xfrm>
        </p:spPr>
      </p:pic>
    </p:spTree>
    <p:extLst>
      <p:ext uri="{BB962C8B-B14F-4D97-AF65-F5344CB8AC3E}">
        <p14:creationId xmlns:p14="http://schemas.microsoft.com/office/powerpoint/2010/main" val="2330874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9640C-C8E0-42CA-A9A5-C4006D95B9E9}"/>
              </a:ext>
            </a:extLst>
          </p:cNvPr>
          <p:cNvSpPr>
            <a:spLocks noGrp="1"/>
          </p:cNvSpPr>
          <p:nvPr>
            <p:ph type="title"/>
          </p:nvPr>
        </p:nvSpPr>
        <p:spPr/>
        <p:txBody>
          <a:bodyPr/>
          <a:lstStyle/>
          <a:p>
            <a:r>
              <a:rPr lang="en-US" sz="4400" dirty="0"/>
              <a:t>Acute inflammation (otitis externa).</a:t>
            </a:r>
            <a:br>
              <a:rPr lang="en-US" sz="4400" dirty="0"/>
            </a:br>
            <a:endParaRPr lang="ro-RO" dirty="0"/>
          </a:p>
        </p:txBody>
      </p:sp>
      <p:pic>
        <p:nvPicPr>
          <p:cNvPr id="5" name="Content Placeholder 4">
            <a:extLst>
              <a:ext uri="{FF2B5EF4-FFF2-40B4-BE49-F238E27FC236}">
                <a16:creationId xmlns:a16="http://schemas.microsoft.com/office/drawing/2014/main" id="{D6444B25-C92C-78BE-E47C-B481AAE35E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02785" y="1825625"/>
            <a:ext cx="4386429" cy="4351338"/>
          </a:xfrm>
        </p:spPr>
      </p:pic>
    </p:spTree>
    <p:extLst>
      <p:ext uri="{BB962C8B-B14F-4D97-AF65-F5344CB8AC3E}">
        <p14:creationId xmlns:p14="http://schemas.microsoft.com/office/powerpoint/2010/main" val="867073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73EB6-0DA3-1C31-810C-4A1F8E0E4F7C}"/>
              </a:ext>
            </a:extLst>
          </p:cNvPr>
          <p:cNvSpPr>
            <a:spLocks noGrp="1"/>
          </p:cNvSpPr>
          <p:nvPr>
            <p:ph type="title"/>
          </p:nvPr>
        </p:nvSpPr>
        <p:spPr/>
        <p:txBody>
          <a:bodyPr/>
          <a:lstStyle/>
          <a:p>
            <a:r>
              <a:rPr lang="ro-RO" dirty="0"/>
              <a:t>Sensorineural Hearing Loss:</a:t>
            </a:r>
          </a:p>
        </p:txBody>
      </p:sp>
      <p:sp>
        <p:nvSpPr>
          <p:cNvPr id="4" name="Rectangle 1">
            <a:extLst>
              <a:ext uri="{FF2B5EF4-FFF2-40B4-BE49-F238E27FC236}">
                <a16:creationId xmlns:a16="http://schemas.microsoft.com/office/drawing/2014/main" id="{460FE90F-DAB4-8B42-7C67-55ED77E86E9C}"/>
              </a:ext>
            </a:extLst>
          </p:cNvPr>
          <p:cNvSpPr>
            <a:spLocks noGrp="1" noChangeArrowheads="1"/>
          </p:cNvSpPr>
          <p:nvPr>
            <p:ph idx="1"/>
          </p:nvPr>
        </p:nvSpPr>
        <p:spPr bwMode="auto">
          <a:xfrm>
            <a:off x="995516" y="1635618"/>
            <a:ext cx="874825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2400" b="0" i="0" u="none" strike="noStrike" cap="none" normalizeH="0" baseline="0" dirty="0">
                <a:ln>
                  <a:noFill/>
                </a:ln>
                <a:solidFill>
                  <a:schemeClr val="tx1"/>
                </a:solidFill>
                <a:effectLst/>
                <a:latin typeface="Arial" panose="020B0604020202020204" pitchFamily="34" charset="0"/>
              </a:rPr>
              <a:t>Caused by damage to the inner ear (cochlea), vestibulocochlear nerve (VIII), or brain’s hearing areas.</a:t>
            </a:r>
            <a:endParaRPr kumimoji="0" lang="en-US" altLang="ro-RO"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ro-RO"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ro-RO" altLang="ro-RO"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2400" b="0" i="0" u="none" strike="noStrike" cap="none" normalizeH="0" baseline="0" dirty="0">
                <a:ln>
                  <a:noFill/>
                </a:ln>
                <a:solidFill>
                  <a:schemeClr val="tx1"/>
                </a:solidFill>
                <a:effectLst/>
                <a:latin typeface="Arial" panose="020B0604020202020204" pitchFamily="34" charset="0"/>
              </a:rPr>
              <a:t>Involves impaired bone conduction.</a:t>
            </a:r>
          </a:p>
        </p:txBody>
      </p:sp>
      <p:pic>
        <p:nvPicPr>
          <p:cNvPr id="6" name="Picture 5">
            <a:extLst>
              <a:ext uri="{FF2B5EF4-FFF2-40B4-BE49-F238E27FC236}">
                <a16:creationId xmlns:a16="http://schemas.microsoft.com/office/drawing/2014/main" id="{8C855514-26EA-619E-DDB2-638E32FB4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6323" y="3574610"/>
            <a:ext cx="5429134" cy="3053888"/>
          </a:xfrm>
          <a:prstGeom prst="rect">
            <a:avLst/>
          </a:prstGeom>
        </p:spPr>
      </p:pic>
    </p:spTree>
    <p:extLst>
      <p:ext uri="{BB962C8B-B14F-4D97-AF65-F5344CB8AC3E}">
        <p14:creationId xmlns:p14="http://schemas.microsoft.com/office/powerpoint/2010/main" val="3537283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275FBA-DB9F-40F3-5741-D88403667E8D}"/>
              </a:ext>
            </a:extLst>
          </p:cNvPr>
          <p:cNvSpPr>
            <a:spLocks noGrp="1"/>
          </p:cNvSpPr>
          <p:nvPr>
            <p:ph idx="1"/>
          </p:nvPr>
        </p:nvSpPr>
        <p:spPr>
          <a:xfrm>
            <a:off x="838200" y="1825625"/>
            <a:ext cx="6555658" cy="4351338"/>
          </a:xfrm>
        </p:spPr>
        <p:txBody>
          <a:bodyPr/>
          <a:lstStyle/>
          <a:p>
            <a:pPr>
              <a:buFont typeface="Arial" panose="020B0604020202020204" pitchFamily="34" charset="0"/>
              <a:buChar char="•"/>
            </a:pPr>
            <a:r>
              <a:rPr lang="en-US" dirty="0"/>
              <a:t>Patients may hear their voice softer and speak louder.</a:t>
            </a:r>
          </a:p>
          <a:p>
            <a:pPr>
              <a:buFont typeface="Arial" panose="020B0604020202020204" pitchFamily="34" charset="0"/>
              <a:buChar char="•"/>
            </a:pPr>
            <a:endParaRPr lang="en-US" dirty="0"/>
          </a:p>
          <a:p>
            <a:pPr>
              <a:buFont typeface="Arial" panose="020B0604020202020204" pitchFamily="34" charset="0"/>
              <a:buChar char="•"/>
            </a:pPr>
            <a:r>
              <a:rPr lang="en-US" dirty="0"/>
              <a:t>They may hear sounds but struggle to understand speech or detect high-pitched noises.</a:t>
            </a:r>
          </a:p>
          <a:p>
            <a:endParaRPr lang="ro-RO" dirty="0"/>
          </a:p>
        </p:txBody>
      </p:sp>
      <p:pic>
        <p:nvPicPr>
          <p:cNvPr id="5" name="Picture 4">
            <a:extLst>
              <a:ext uri="{FF2B5EF4-FFF2-40B4-BE49-F238E27FC236}">
                <a16:creationId xmlns:a16="http://schemas.microsoft.com/office/drawing/2014/main" id="{66BAD154-9049-2BC9-FE69-D406C06CB5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4303" y="884904"/>
            <a:ext cx="4277031" cy="4277031"/>
          </a:xfrm>
          <a:prstGeom prst="rect">
            <a:avLst/>
          </a:prstGeom>
        </p:spPr>
      </p:pic>
    </p:spTree>
    <p:extLst>
      <p:ext uri="{BB962C8B-B14F-4D97-AF65-F5344CB8AC3E}">
        <p14:creationId xmlns:p14="http://schemas.microsoft.com/office/powerpoint/2010/main" val="1907089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3132-B098-F055-DE90-3E8CAFADE4C7}"/>
              </a:ext>
            </a:extLst>
          </p:cNvPr>
          <p:cNvSpPr>
            <a:spLocks noGrp="1"/>
          </p:cNvSpPr>
          <p:nvPr>
            <p:ph type="title"/>
          </p:nvPr>
        </p:nvSpPr>
        <p:spPr>
          <a:xfrm>
            <a:off x="820994" y="374958"/>
            <a:ext cx="10515600" cy="1325563"/>
          </a:xfrm>
        </p:spPr>
        <p:txBody>
          <a:bodyPr>
            <a:normAutofit/>
          </a:bodyPr>
          <a:lstStyle/>
          <a:p>
            <a:r>
              <a:rPr lang="en-US" b="1" dirty="0"/>
              <a:t>Mixed Hypoacusis:</a:t>
            </a:r>
            <a:br>
              <a:rPr lang="en-US" b="1" dirty="0"/>
            </a:br>
            <a:endParaRPr lang="ro-RO" dirty="0"/>
          </a:p>
        </p:txBody>
      </p:sp>
      <p:sp>
        <p:nvSpPr>
          <p:cNvPr id="3" name="Content Placeholder 2">
            <a:extLst>
              <a:ext uri="{FF2B5EF4-FFF2-40B4-BE49-F238E27FC236}">
                <a16:creationId xmlns:a16="http://schemas.microsoft.com/office/drawing/2014/main" id="{E37D9779-FA3D-64F8-D77D-81A91DD501B8}"/>
              </a:ext>
            </a:extLst>
          </p:cNvPr>
          <p:cNvSpPr>
            <a:spLocks noGrp="1"/>
          </p:cNvSpPr>
          <p:nvPr>
            <p:ph idx="1"/>
          </p:nvPr>
        </p:nvSpPr>
        <p:spPr/>
        <p:txBody>
          <a:bodyPr/>
          <a:lstStyle/>
          <a:p>
            <a:pPr>
              <a:buFont typeface="Arial" panose="020B0604020202020204" pitchFamily="34" charset="0"/>
              <a:buChar char="•"/>
            </a:pPr>
            <a:r>
              <a:rPr lang="en-US" dirty="0"/>
              <a:t>Involves impairment of both </a:t>
            </a:r>
            <a:r>
              <a:rPr lang="en-US" b="1" dirty="0"/>
              <a:t>air conduction (AC)</a:t>
            </a:r>
            <a:r>
              <a:rPr lang="en-US" dirty="0"/>
              <a:t> and </a:t>
            </a:r>
            <a:r>
              <a:rPr lang="en-US" b="1" dirty="0"/>
              <a:t>bone conduction (BC)</a:t>
            </a:r>
            <a:r>
              <a:rPr lang="en-US" dirty="0"/>
              <a:t> in the same ear.</a:t>
            </a:r>
          </a:p>
          <a:p>
            <a:endParaRPr lang="ro-RO" dirty="0"/>
          </a:p>
        </p:txBody>
      </p:sp>
      <p:pic>
        <p:nvPicPr>
          <p:cNvPr id="5" name="Picture 4">
            <a:extLst>
              <a:ext uri="{FF2B5EF4-FFF2-40B4-BE49-F238E27FC236}">
                <a16:creationId xmlns:a16="http://schemas.microsoft.com/office/drawing/2014/main" id="{3B5D7CBA-1937-0C06-7974-934A1A6479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5924" y="2986473"/>
            <a:ext cx="4121560" cy="3496569"/>
          </a:xfrm>
          <a:prstGeom prst="rect">
            <a:avLst/>
          </a:prstGeom>
        </p:spPr>
      </p:pic>
    </p:spTree>
    <p:extLst>
      <p:ext uri="{BB962C8B-B14F-4D97-AF65-F5344CB8AC3E}">
        <p14:creationId xmlns:p14="http://schemas.microsoft.com/office/powerpoint/2010/main" val="3786257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73B5E-6DD7-A5F7-9322-8833533963B5}"/>
              </a:ext>
            </a:extLst>
          </p:cNvPr>
          <p:cNvSpPr>
            <a:spLocks noGrp="1"/>
          </p:cNvSpPr>
          <p:nvPr>
            <p:ph type="title"/>
          </p:nvPr>
        </p:nvSpPr>
        <p:spPr/>
        <p:txBody>
          <a:bodyPr/>
          <a:lstStyle/>
          <a:p>
            <a:r>
              <a:rPr lang="ro-RO" dirty="0"/>
              <a:t>Vascular pathology</a:t>
            </a:r>
            <a:br>
              <a:rPr lang="ro-RO" dirty="0"/>
            </a:br>
            <a:endParaRPr lang="ro-RO" dirty="0"/>
          </a:p>
        </p:txBody>
      </p:sp>
      <p:sp>
        <p:nvSpPr>
          <p:cNvPr id="4" name="Rectangle 1">
            <a:extLst>
              <a:ext uri="{FF2B5EF4-FFF2-40B4-BE49-F238E27FC236}">
                <a16:creationId xmlns:a16="http://schemas.microsoft.com/office/drawing/2014/main" id="{3358AC46-CCE8-1F6E-12C4-F1182242438F}"/>
              </a:ext>
            </a:extLst>
          </p:cNvPr>
          <p:cNvSpPr>
            <a:spLocks noGrp="1" noChangeArrowheads="1"/>
          </p:cNvSpPr>
          <p:nvPr>
            <p:ph idx="1"/>
          </p:nvPr>
        </p:nvSpPr>
        <p:spPr bwMode="auto">
          <a:xfrm>
            <a:off x="566786" y="1032562"/>
            <a:ext cx="6571433"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1" i="0" u="none" strike="noStrike" cap="none" normalizeH="0" baseline="0" dirty="0">
                <a:ln>
                  <a:noFill/>
                </a:ln>
                <a:solidFill>
                  <a:schemeClr val="tx1"/>
                </a:solidFill>
                <a:effectLst/>
                <a:latin typeface="Arial" panose="020B0604020202020204" pitchFamily="34" charset="0"/>
              </a:rPr>
              <a:t>Ischemia (Inner Ear Stroke)</a:t>
            </a:r>
            <a:endParaRPr kumimoji="0" lang="en-US" altLang="ro-RO"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1" i="0" u="none" strike="noStrike" cap="none" normalizeH="0" baseline="0" dirty="0">
                <a:ln>
                  <a:noFill/>
                </a:ln>
                <a:solidFill>
                  <a:schemeClr val="tx1"/>
                </a:solidFill>
                <a:effectLst/>
                <a:latin typeface="Arial" panose="020B0604020202020204" pitchFamily="34" charset="0"/>
              </a:rPr>
              <a:t>Atherosclerosis</a:t>
            </a:r>
            <a:endParaRPr kumimoji="0" lang="en-US" altLang="ro-RO"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1" i="0" u="none" strike="noStrike" cap="none" normalizeH="0" baseline="0" dirty="0">
                <a:ln>
                  <a:noFill/>
                </a:ln>
                <a:solidFill>
                  <a:schemeClr val="tx1"/>
                </a:solidFill>
                <a:effectLst/>
                <a:latin typeface="Arial" panose="020B0604020202020204" pitchFamily="34" charset="0"/>
              </a:rPr>
              <a:t>Microvascular Disease</a:t>
            </a: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ro-RO" altLang="ro-RO" sz="1800" b="0" i="0" u="none" strike="noStrike" cap="none" normalizeH="0" baseline="0" dirty="0">
                <a:ln>
                  <a:noFill/>
                </a:ln>
                <a:solidFill>
                  <a:schemeClr val="tx1"/>
                </a:solidFill>
                <a:effectLst/>
                <a:latin typeface="Arial" panose="020B0604020202020204" pitchFamily="34" charset="0"/>
              </a:rPr>
              <a:t>Common in conditions like </a:t>
            </a:r>
            <a:r>
              <a:rPr kumimoji="0" lang="ro-RO" altLang="ro-RO" sz="1800" b="1" i="0" u="none" strike="noStrike" cap="none" normalizeH="0" baseline="0" dirty="0">
                <a:ln>
                  <a:noFill/>
                </a:ln>
                <a:solidFill>
                  <a:schemeClr val="tx1"/>
                </a:solidFill>
                <a:effectLst/>
                <a:latin typeface="Arial" panose="020B0604020202020204" pitchFamily="34" charset="0"/>
              </a:rPr>
              <a:t>diabetes</a:t>
            </a:r>
            <a:r>
              <a:rPr kumimoji="0" lang="ro-RO" altLang="ro-RO" sz="1800" b="0" i="0" u="none" strike="noStrike" cap="none" normalizeH="0" baseline="0" dirty="0">
                <a:ln>
                  <a:noFill/>
                </a:ln>
                <a:solidFill>
                  <a:schemeClr val="tx1"/>
                </a:solidFill>
                <a:effectLst/>
                <a:latin typeface="Arial" panose="020B0604020202020204" pitchFamily="34" charset="0"/>
              </a:rPr>
              <a:t> and </a:t>
            </a:r>
            <a:r>
              <a:rPr kumimoji="0" lang="ro-RO" altLang="ro-RO" sz="1800" b="1" i="0" u="none" strike="noStrike" cap="none" normalizeH="0" baseline="0" dirty="0">
                <a:ln>
                  <a:noFill/>
                </a:ln>
                <a:solidFill>
                  <a:schemeClr val="tx1"/>
                </a:solidFill>
                <a:effectLst/>
                <a:latin typeface="Arial" panose="020B0604020202020204" pitchFamily="34" charset="0"/>
              </a:rPr>
              <a:t>hypertension</a:t>
            </a:r>
            <a:r>
              <a:rPr kumimoji="0" lang="ro-RO" altLang="ro-RO" sz="1800" b="0" i="0" u="none" strike="noStrike" cap="none" normalizeH="0" baseline="0" dirty="0">
                <a:ln>
                  <a:noFill/>
                </a:ln>
                <a:solidFill>
                  <a:schemeClr val="tx1"/>
                </a:solidFill>
                <a:effectLst/>
                <a:latin typeface="Arial" panose="020B0604020202020204" pitchFamily="34" charset="0"/>
              </a:rPr>
              <a:t>, where small blood vessels get damaged over time.</a:t>
            </a:r>
            <a:endParaRPr kumimoji="0" lang="en-US"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1" i="0" u="none" strike="noStrike" cap="none" normalizeH="0" baseline="0" dirty="0">
                <a:ln>
                  <a:noFill/>
                </a:ln>
                <a:solidFill>
                  <a:schemeClr val="tx1"/>
                </a:solidFill>
                <a:effectLst/>
                <a:latin typeface="Arial" panose="020B0604020202020204" pitchFamily="34" charset="0"/>
              </a:rPr>
              <a:t>Vasculitis</a:t>
            </a: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ro-RO" altLang="ro-RO" sz="1800" b="0" i="0" u="none" strike="noStrike" cap="none" normalizeH="0" baseline="0" dirty="0">
                <a:ln>
                  <a:noFill/>
                </a:ln>
                <a:solidFill>
                  <a:schemeClr val="tx1"/>
                </a:solidFill>
                <a:effectLst/>
                <a:latin typeface="Arial" panose="020B0604020202020204" pitchFamily="34" charset="0"/>
              </a:rPr>
              <a:t>Autoimmune conditions (e.g., </a:t>
            </a:r>
            <a:r>
              <a:rPr kumimoji="0" lang="ro-RO" altLang="ro-RO" sz="1800" b="1" i="0" u="none" strike="noStrike" cap="none" normalizeH="0" baseline="0" dirty="0">
                <a:ln>
                  <a:noFill/>
                </a:ln>
                <a:solidFill>
                  <a:schemeClr val="tx1"/>
                </a:solidFill>
                <a:effectLst/>
                <a:latin typeface="Arial" panose="020B0604020202020204" pitchFamily="34" charset="0"/>
              </a:rPr>
              <a:t>Wegener’s granulomatosis</a:t>
            </a:r>
            <a:r>
              <a:rPr kumimoji="0" lang="ro-RO" altLang="ro-RO" sz="1800" b="0" i="0" u="none" strike="noStrike" cap="none" normalizeH="0" baseline="0" dirty="0">
                <a:ln>
                  <a:noFill/>
                </a:ln>
                <a:solidFill>
                  <a:schemeClr val="tx1"/>
                </a:solidFill>
                <a:effectLst/>
                <a:latin typeface="Arial" panose="020B0604020202020204" pitchFamily="34" charset="0"/>
              </a:rPr>
              <a:t>, </a:t>
            </a:r>
            <a:r>
              <a:rPr kumimoji="0" lang="ro-RO" altLang="ro-RO" sz="1800" b="1" i="0" u="none" strike="noStrike" cap="none" normalizeH="0" baseline="0" dirty="0">
                <a:ln>
                  <a:noFill/>
                </a:ln>
                <a:solidFill>
                  <a:schemeClr val="tx1"/>
                </a:solidFill>
                <a:effectLst/>
                <a:latin typeface="Arial" panose="020B0604020202020204" pitchFamily="34" charset="0"/>
              </a:rPr>
              <a:t>systemic lupus erythematosus</a:t>
            </a:r>
            <a:r>
              <a:rPr kumimoji="0" lang="ro-RO" altLang="ro-RO" sz="1800" b="0" i="0" u="none" strike="noStrike" cap="none" normalizeH="0" baseline="0" dirty="0">
                <a:ln>
                  <a:noFill/>
                </a:ln>
                <a:solidFill>
                  <a:schemeClr val="tx1"/>
                </a:solidFill>
                <a:effectLst/>
                <a:latin typeface="Arial" panose="020B0604020202020204" pitchFamily="34" charset="0"/>
              </a:rPr>
              <a:t>) can inflame blood vessels, including those serving the inner ear.</a:t>
            </a:r>
            <a:endParaRPr kumimoji="0" lang="en-US"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1" i="0" u="none" strike="noStrike" cap="none" normalizeH="0" baseline="0" dirty="0">
                <a:ln>
                  <a:noFill/>
                </a:ln>
                <a:solidFill>
                  <a:schemeClr val="tx1"/>
                </a:solidFill>
                <a:effectLst/>
                <a:latin typeface="Arial" panose="020B0604020202020204" pitchFamily="34" charset="0"/>
              </a:rPr>
              <a:t>Thrombosis or Embolism</a:t>
            </a:r>
            <a:endParaRPr kumimoji="0" lang="en-US" altLang="ro-RO"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1" i="0" u="none" strike="noStrike" cap="none" normalizeH="0" baseline="0" dirty="0">
                <a:ln>
                  <a:noFill/>
                </a:ln>
                <a:solidFill>
                  <a:schemeClr val="tx1"/>
                </a:solidFill>
                <a:effectLst/>
                <a:latin typeface="Arial" panose="020B0604020202020204" pitchFamily="34" charset="0"/>
              </a:rPr>
              <a:t>Migraine-Associated Vascular Dysfunction</a:t>
            </a: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o-RO" altLang="ro-RO" sz="1800" b="0" i="0" u="none" strike="noStrike" cap="none" normalizeH="0" baseline="0" dirty="0">
                <a:ln>
                  <a:noFill/>
                </a:ln>
                <a:solidFill>
                  <a:schemeClr val="tx1"/>
                </a:solidFill>
                <a:effectLst/>
                <a:latin typeface="Arial" panose="020B0604020202020204" pitchFamily="34" charset="0"/>
              </a:rPr>
              <a:t>Some migraine patients experience auditory symptoms due to transient vascular changes in the brain and inner ear.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B3A01EC7-C45D-6D35-C65E-7BFFD7208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4864" y="1856248"/>
            <a:ext cx="4655981" cy="3145503"/>
          </a:xfrm>
          <a:prstGeom prst="rect">
            <a:avLst/>
          </a:prstGeom>
        </p:spPr>
      </p:pic>
    </p:spTree>
    <p:extLst>
      <p:ext uri="{BB962C8B-B14F-4D97-AF65-F5344CB8AC3E}">
        <p14:creationId xmlns:p14="http://schemas.microsoft.com/office/powerpoint/2010/main" val="1380378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B4732-A812-230F-6A29-F636E0E4F109}"/>
              </a:ext>
            </a:extLst>
          </p:cNvPr>
          <p:cNvSpPr>
            <a:spLocks noGrp="1"/>
          </p:cNvSpPr>
          <p:nvPr>
            <p:ph type="title"/>
          </p:nvPr>
        </p:nvSpPr>
        <p:spPr/>
        <p:txBody>
          <a:bodyPr/>
          <a:lstStyle/>
          <a:p>
            <a:r>
              <a:rPr lang="ro-RO" dirty="0"/>
              <a:t>Ménière’s disease</a:t>
            </a:r>
          </a:p>
        </p:txBody>
      </p:sp>
      <p:pic>
        <p:nvPicPr>
          <p:cNvPr id="5" name="Content Placeholder 4">
            <a:extLst>
              <a:ext uri="{FF2B5EF4-FFF2-40B4-BE49-F238E27FC236}">
                <a16:creationId xmlns:a16="http://schemas.microsoft.com/office/drawing/2014/main" id="{C3E2DB43-52AE-F714-196E-9FB0740F49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1912" y="1263860"/>
            <a:ext cx="5748175" cy="5229015"/>
          </a:xfrm>
        </p:spPr>
      </p:pic>
    </p:spTree>
    <p:extLst>
      <p:ext uri="{BB962C8B-B14F-4D97-AF65-F5344CB8AC3E}">
        <p14:creationId xmlns:p14="http://schemas.microsoft.com/office/powerpoint/2010/main" val="1642696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F50C985-795A-9662-05A3-B85DB0B8FB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2496" y="1461831"/>
            <a:ext cx="6527007" cy="4351338"/>
          </a:xfrm>
        </p:spPr>
      </p:pic>
    </p:spTree>
    <p:extLst>
      <p:ext uri="{BB962C8B-B14F-4D97-AF65-F5344CB8AC3E}">
        <p14:creationId xmlns:p14="http://schemas.microsoft.com/office/powerpoint/2010/main" val="4228610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F39B4-EA25-CD7C-96D2-89978737B206}"/>
              </a:ext>
            </a:extLst>
          </p:cNvPr>
          <p:cNvSpPr>
            <a:spLocks noGrp="1"/>
          </p:cNvSpPr>
          <p:nvPr>
            <p:ph type="title"/>
          </p:nvPr>
        </p:nvSpPr>
        <p:spPr/>
        <p:txBody>
          <a:bodyPr/>
          <a:lstStyle/>
          <a:p>
            <a:r>
              <a:rPr lang="ro-RO" dirty="0"/>
              <a:t>Presbycusis (age-related hearing loss)</a:t>
            </a:r>
          </a:p>
        </p:txBody>
      </p:sp>
      <p:pic>
        <p:nvPicPr>
          <p:cNvPr id="5" name="Content Placeholder 4">
            <a:extLst>
              <a:ext uri="{FF2B5EF4-FFF2-40B4-BE49-F238E27FC236}">
                <a16:creationId xmlns:a16="http://schemas.microsoft.com/office/drawing/2014/main" id="{1683CEE6-AEE2-5ED8-260E-AC640DF17E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74386"/>
            <a:ext cx="10515600" cy="4053816"/>
          </a:xfrm>
        </p:spPr>
      </p:pic>
    </p:spTree>
    <p:extLst>
      <p:ext uri="{BB962C8B-B14F-4D97-AF65-F5344CB8AC3E}">
        <p14:creationId xmlns:p14="http://schemas.microsoft.com/office/powerpoint/2010/main" val="2202014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27356-DC3E-BDA4-C16F-B2E37CA7CFE0}"/>
              </a:ext>
            </a:extLst>
          </p:cNvPr>
          <p:cNvSpPr>
            <a:spLocks noGrp="1"/>
          </p:cNvSpPr>
          <p:nvPr>
            <p:ph type="title"/>
          </p:nvPr>
        </p:nvSpPr>
        <p:spPr/>
        <p:txBody>
          <a:bodyPr/>
          <a:lstStyle/>
          <a:p>
            <a:r>
              <a:rPr lang="ro-RO" dirty="0"/>
              <a:t>Ototoxicity</a:t>
            </a:r>
          </a:p>
        </p:txBody>
      </p:sp>
      <p:pic>
        <p:nvPicPr>
          <p:cNvPr id="5" name="Content Placeholder 4">
            <a:extLst>
              <a:ext uri="{FF2B5EF4-FFF2-40B4-BE49-F238E27FC236}">
                <a16:creationId xmlns:a16="http://schemas.microsoft.com/office/drawing/2014/main" id="{9CF8DF01-4DDE-17BC-31A0-FA51E4A5E5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92779" y="1402837"/>
            <a:ext cx="6077363" cy="4924090"/>
          </a:xfrm>
        </p:spPr>
      </p:pic>
    </p:spTree>
    <p:extLst>
      <p:ext uri="{BB962C8B-B14F-4D97-AF65-F5344CB8AC3E}">
        <p14:creationId xmlns:p14="http://schemas.microsoft.com/office/powerpoint/2010/main" val="2849749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BF24-4C0B-6C9B-8E27-39E165C087A1}"/>
              </a:ext>
            </a:extLst>
          </p:cNvPr>
          <p:cNvSpPr>
            <a:spLocks noGrp="1"/>
          </p:cNvSpPr>
          <p:nvPr>
            <p:ph type="title"/>
          </p:nvPr>
        </p:nvSpPr>
        <p:spPr/>
        <p:txBody>
          <a:bodyPr/>
          <a:lstStyle/>
          <a:p>
            <a:r>
              <a:rPr lang="ro-RO" dirty="0"/>
              <a:t>Neuronal inflammation (neuro-labyrinthitis)</a:t>
            </a:r>
          </a:p>
        </p:txBody>
      </p:sp>
      <p:pic>
        <p:nvPicPr>
          <p:cNvPr id="5" name="Content Placeholder 4">
            <a:extLst>
              <a:ext uri="{FF2B5EF4-FFF2-40B4-BE49-F238E27FC236}">
                <a16:creationId xmlns:a16="http://schemas.microsoft.com/office/drawing/2014/main" id="{8AF5512E-565C-B76F-5C4A-9D827C158F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5618" y="1825625"/>
            <a:ext cx="5780763" cy="4351338"/>
          </a:xfrm>
        </p:spPr>
      </p:pic>
    </p:spTree>
    <p:extLst>
      <p:ext uri="{BB962C8B-B14F-4D97-AF65-F5344CB8AC3E}">
        <p14:creationId xmlns:p14="http://schemas.microsoft.com/office/powerpoint/2010/main" val="1152355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85A13-D7F2-E7EE-A76D-6D8922830EC7}"/>
              </a:ext>
            </a:extLst>
          </p:cNvPr>
          <p:cNvSpPr>
            <a:spLocks noGrp="1"/>
          </p:cNvSpPr>
          <p:nvPr>
            <p:ph type="title"/>
          </p:nvPr>
        </p:nvSpPr>
        <p:spPr/>
        <p:txBody>
          <a:bodyPr/>
          <a:lstStyle/>
          <a:p>
            <a:r>
              <a:rPr lang="en-US" dirty="0"/>
              <a:t>Tumors of the vestibulocochlear nerve</a:t>
            </a:r>
            <a:endParaRPr lang="ro-RO" dirty="0"/>
          </a:p>
        </p:txBody>
      </p:sp>
      <p:pic>
        <p:nvPicPr>
          <p:cNvPr id="5" name="Content Placeholder 4">
            <a:extLst>
              <a:ext uri="{FF2B5EF4-FFF2-40B4-BE49-F238E27FC236}">
                <a16:creationId xmlns:a16="http://schemas.microsoft.com/office/drawing/2014/main" id="{1FE158AC-D889-6FDA-6C34-02F809A180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4077" y="1373341"/>
            <a:ext cx="5755961" cy="5266111"/>
          </a:xfrm>
        </p:spPr>
      </p:pic>
    </p:spTree>
    <p:extLst>
      <p:ext uri="{BB962C8B-B14F-4D97-AF65-F5344CB8AC3E}">
        <p14:creationId xmlns:p14="http://schemas.microsoft.com/office/powerpoint/2010/main" val="3552227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E7058-CDE2-8F57-2842-8BDCCCED76DA}"/>
              </a:ext>
            </a:extLst>
          </p:cNvPr>
          <p:cNvSpPr>
            <a:spLocks noGrp="1"/>
          </p:cNvSpPr>
          <p:nvPr>
            <p:ph type="title"/>
          </p:nvPr>
        </p:nvSpPr>
        <p:spPr/>
        <p:txBody>
          <a:bodyPr/>
          <a:lstStyle/>
          <a:p>
            <a:r>
              <a:rPr lang="en-US" dirty="0"/>
              <a:t>Tuning fork</a:t>
            </a:r>
            <a:endParaRPr lang="ro-RO" dirty="0"/>
          </a:p>
        </p:txBody>
      </p:sp>
      <p:pic>
        <p:nvPicPr>
          <p:cNvPr id="5" name="Content Placeholder 4">
            <a:extLst>
              <a:ext uri="{FF2B5EF4-FFF2-40B4-BE49-F238E27FC236}">
                <a16:creationId xmlns:a16="http://schemas.microsoft.com/office/drawing/2014/main" id="{70C3403F-DE37-5AB4-33BD-56F8883801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spTree>
    <p:extLst>
      <p:ext uri="{BB962C8B-B14F-4D97-AF65-F5344CB8AC3E}">
        <p14:creationId xmlns:p14="http://schemas.microsoft.com/office/powerpoint/2010/main" val="2846011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E44A7-717B-8AB8-0FBD-046BFD1094BC}"/>
              </a:ext>
            </a:extLst>
          </p:cNvPr>
          <p:cNvSpPr>
            <a:spLocks noGrp="1"/>
          </p:cNvSpPr>
          <p:nvPr>
            <p:ph type="title"/>
          </p:nvPr>
        </p:nvSpPr>
        <p:spPr/>
        <p:txBody>
          <a:bodyPr/>
          <a:lstStyle/>
          <a:p>
            <a:r>
              <a:rPr lang="ro-RO" dirty="0"/>
              <a:t>WEBER TEST </a:t>
            </a:r>
          </a:p>
        </p:txBody>
      </p:sp>
      <p:sp>
        <p:nvSpPr>
          <p:cNvPr id="3" name="Content Placeholder 2">
            <a:extLst>
              <a:ext uri="{FF2B5EF4-FFF2-40B4-BE49-F238E27FC236}">
                <a16:creationId xmlns:a16="http://schemas.microsoft.com/office/drawing/2014/main" id="{BE85B19F-4BBA-26A5-7A0E-8F3A730F1C24}"/>
              </a:ext>
            </a:extLst>
          </p:cNvPr>
          <p:cNvSpPr>
            <a:spLocks noGrp="1"/>
          </p:cNvSpPr>
          <p:nvPr>
            <p:ph idx="1"/>
          </p:nvPr>
        </p:nvSpPr>
        <p:spPr>
          <a:xfrm>
            <a:off x="838200" y="1825625"/>
            <a:ext cx="6457335" cy="4351338"/>
          </a:xfrm>
        </p:spPr>
        <p:txBody>
          <a:bodyPr/>
          <a:lstStyle/>
          <a:p>
            <a:pPr>
              <a:buNone/>
            </a:pPr>
            <a:r>
              <a:rPr lang="ro-RO" b="1" dirty="0"/>
              <a:t>Necessary instruments:</a:t>
            </a:r>
            <a:r>
              <a:rPr lang="ro-RO" dirty="0"/>
              <a:t> Tuning fork (frequency 250 Hz, 440 Hz or 512 Hz.)</a:t>
            </a:r>
            <a:endParaRPr lang="en-US" dirty="0"/>
          </a:p>
          <a:p>
            <a:pPr>
              <a:buNone/>
            </a:pPr>
            <a:endParaRPr lang="en-US" dirty="0"/>
          </a:p>
          <a:p>
            <a:pPr>
              <a:buNone/>
            </a:pPr>
            <a:endParaRPr lang="ro-RO" dirty="0"/>
          </a:p>
          <a:p>
            <a:r>
              <a:rPr lang="ro-RO" b="1" dirty="0"/>
              <a:t>To examine:</a:t>
            </a:r>
            <a:r>
              <a:rPr lang="ro-RO" dirty="0"/>
              <a:t> Conductive hypoacusis vs. Sensorineural hypoacusis (orientation tests).</a:t>
            </a:r>
          </a:p>
          <a:p>
            <a:endParaRPr lang="ro-RO" dirty="0"/>
          </a:p>
        </p:txBody>
      </p:sp>
      <p:pic>
        <p:nvPicPr>
          <p:cNvPr id="5" name="Picture 4">
            <a:extLst>
              <a:ext uri="{FF2B5EF4-FFF2-40B4-BE49-F238E27FC236}">
                <a16:creationId xmlns:a16="http://schemas.microsoft.com/office/drawing/2014/main" id="{EAEA77E6-1496-FE43-9A6A-0F4500627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641" y="795338"/>
            <a:ext cx="4867275" cy="5381625"/>
          </a:xfrm>
          <a:prstGeom prst="rect">
            <a:avLst/>
          </a:prstGeom>
        </p:spPr>
      </p:pic>
    </p:spTree>
    <p:extLst>
      <p:ext uri="{BB962C8B-B14F-4D97-AF65-F5344CB8AC3E}">
        <p14:creationId xmlns:p14="http://schemas.microsoft.com/office/powerpoint/2010/main" val="3712975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5ECE17-F0C7-C57D-16B2-AAF5B9159BD5}"/>
              </a:ext>
            </a:extLst>
          </p:cNvPr>
          <p:cNvSpPr>
            <a:spLocks noGrp="1"/>
          </p:cNvSpPr>
          <p:nvPr>
            <p:ph idx="1"/>
          </p:nvPr>
        </p:nvSpPr>
        <p:spPr>
          <a:xfrm>
            <a:off x="562896" y="1253331"/>
            <a:ext cx="6821129" cy="4351338"/>
          </a:xfrm>
        </p:spPr>
        <p:txBody>
          <a:bodyPr>
            <a:normAutofit lnSpcReduction="10000"/>
          </a:bodyPr>
          <a:lstStyle/>
          <a:p>
            <a:r>
              <a:rPr lang="en-US" dirty="0"/>
              <a:t>Vibrate the tuning fork by hitting it against your patella.</a:t>
            </a:r>
          </a:p>
          <a:p>
            <a:endParaRPr lang="en-US" dirty="0"/>
          </a:p>
          <a:p>
            <a:r>
              <a:rPr lang="en-US" dirty="0"/>
              <a:t>Place the stem of the tuning fork on the vertex. Ask patient to report in which ear the sound is heard louder.</a:t>
            </a:r>
          </a:p>
          <a:p>
            <a:endParaRPr lang="en-US" dirty="0"/>
          </a:p>
          <a:p>
            <a:endParaRPr lang="en-US" dirty="0"/>
          </a:p>
          <a:p>
            <a:r>
              <a:rPr lang="en-US" b="1" dirty="0"/>
              <a:t>Attention!</a:t>
            </a:r>
            <a:r>
              <a:rPr lang="en-US" dirty="0"/>
              <a:t> – do not touch the prongs of the tuning fork</a:t>
            </a:r>
          </a:p>
          <a:p>
            <a:endParaRPr lang="ro-RO" dirty="0"/>
          </a:p>
        </p:txBody>
      </p:sp>
      <p:pic>
        <p:nvPicPr>
          <p:cNvPr id="5" name="Picture 4">
            <a:extLst>
              <a:ext uri="{FF2B5EF4-FFF2-40B4-BE49-F238E27FC236}">
                <a16:creationId xmlns:a16="http://schemas.microsoft.com/office/drawing/2014/main" id="{EEF2C80D-0FB0-80C3-81A6-463994FDB31E}"/>
              </a:ext>
            </a:extLst>
          </p:cNvPr>
          <p:cNvPicPr>
            <a:picLocks noChangeAspect="1"/>
          </p:cNvPicPr>
          <p:nvPr/>
        </p:nvPicPr>
        <p:blipFill>
          <a:blip r:embed="rId2">
            <a:extLst>
              <a:ext uri="{28A0092B-C50C-407E-A947-70E740481C1C}">
                <a14:useLocalDpi xmlns:a14="http://schemas.microsoft.com/office/drawing/2010/main" val="0"/>
              </a:ext>
            </a:extLst>
          </a:blip>
          <a:srcRect l="14062" t="5946" r="20689" b="12546"/>
          <a:stretch/>
        </p:blipFill>
        <p:spPr>
          <a:xfrm>
            <a:off x="8170607" y="342362"/>
            <a:ext cx="2812026" cy="6173276"/>
          </a:xfrm>
          <a:prstGeom prst="rect">
            <a:avLst/>
          </a:prstGeom>
        </p:spPr>
      </p:pic>
    </p:spTree>
    <p:extLst>
      <p:ext uri="{BB962C8B-B14F-4D97-AF65-F5344CB8AC3E}">
        <p14:creationId xmlns:p14="http://schemas.microsoft.com/office/powerpoint/2010/main" val="2064262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09BAA9-1DC2-22BC-FF31-2403B8831616}"/>
              </a:ext>
            </a:extLst>
          </p:cNvPr>
          <p:cNvSpPr>
            <a:spLocks noGrp="1"/>
          </p:cNvSpPr>
          <p:nvPr>
            <p:ph idx="1"/>
          </p:nvPr>
        </p:nvSpPr>
        <p:spPr>
          <a:xfrm>
            <a:off x="838200" y="763741"/>
            <a:ext cx="6092536" cy="4351338"/>
          </a:xfrm>
        </p:spPr>
        <p:txBody>
          <a:bodyPr>
            <a:normAutofit fontScale="92500"/>
          </a:bodyPr>
          <a:lstStyle/>
          <a:p>
            <a:r>
              <a:rPr lang="en-US" dirty="0"/>
              <a:t>The tuning fork can also be placed on the forehead (glabella) or on the </a:t>
            </a:r>
            <a:r>
              <a:rPr lang="en-US" dirty="0" err="1"/>
              <a:t>menton</a:t>
            </a:r>
            <a:r>
              <a:rPr lang="en-US" dirty="0"/>
              <a:t>.</a:t>
            </a:r>
          </a:p>
          <a:p>
            <a:endParaRPr lang="en-US" dirty="0"/>
          </a:p>
          <a:p>
            <a:pPr>
              <a:buNone/>
            </a:pPr>
            <a:r>
              <a:rPr lang="en-US" b="1" dirty="0"/>
              <a:t>Normal aspects:</a:t>
            </a:r>
          </a:p>
          <a:p>
            <a:pPr>
              <a:buFont typeface="Arial" panose="020B0604020202020204" pitchFamily="34" charset="0"/>
              <a:buChar char="•"/>
            </a:pPr>
            <a:r>
              <a:rPr lang="en-US" i="1" dirty="0"/>
              <a:t>Normal Weber test</a:t>
            </a:r>
            <a:r>
              <a:rPr lang="en-US" dirty="0"/>
              <a:t> (equal sound in both ears or the patient cannot localize the sound).</a:t>
            </a:r>
          </a:p>
          <a:p>
            <a:pPr>
              <a:buFont typeface="Arial" panose="020B0604020202020204" pitchFamily="34" charset="0"/>
              <a:buChar char="•"/>
            </a:pPr>
            <a:endParaRPr lang="en-US" dirty="0"/>
          </a:p>
          <a:p>
            <a:r>
              <a:rPr lang="en-US" b="1" dirty="0"/>
              <a:t>Normal hearing or symmetrical bilateral hypoacusis.</a:t>
            </a:r>
            <a:endParaRPr lang="en-US" dirty="0"/>
          </a:p>
          <a:p>
            <a:endParaRPr lang="ro-RO" dirty="0"/>
          </a:p>
        </p:txBody>
      </p:sp>
      <p:pic>
        <p:nvPicPr>
          <p:cNvPr id="8" name="Picture 7">
            <a:extLst>
              <a:ext uri="{FF2B5EF4-FFF2-40B4-BE49-F238E27FC236}">
                <a16:creationId xmlns:a16="http://schemas.microsoft.com/office/drawing/2014/main" id="{B370AD6B-A5F8-FC20-9CE7-973CDA3C174A}"/>
              </a:ext>
            </a:extLst>
          </p:cNvPr>
          <p:cNvPicPr>
            <a:picLocks noChangeAspect="1"/>
          </p:cNvPicPr>
          <p:nvPr/>
        </p:nvPicPr>
        <p:blipFill>
          <a:blip r:embed="rId2">
            <a:extLst>
              <a:ext uri="{28A0092B-C50C-407E-A947-70E740481C1C}">
                <a14:useLocalDpi xmlns:a14="http://schemas.microsoft.com/office/drawing/2010/main" val="0"/>
              </a:ext>
            </a:extLst>
          </a:blip>
          <a:srcRect l="12005" t="23485" r="19999" b="19697"/>
          <a:stretch/>
        </p:blipFill>
        <p:spPr>
          <a:xfrm>
            <a:off x="7949045" y="685799"/>
            <a:ext cx="2940627" cy="5327223"/>
          </a:xfrm>
          <a:prstGeom prst="rect">
            <a:avLst/>
          </a:prstGeom>
        </p:spPr>
      </p:pic>
    </p:spTree>
    <p:extLst>
      <p:ext uri="{BB962C8B-B14F-4D97-AF65-F5344CB8AC3E}">
        <p14:creationId xmlns:p14="http://schemas.microsoft.com/office/powerpoint/2010/main" val="2120508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2ADEC-9AFB-01EE-4C96-882A538F6E77}"/>
              </a:ext>
            </a:extLst>
          </p:cNvPr>
          <p:cNvSpPr>
            <a:spLocks noGrp="1"/>
          </p:cNvSpPr>
          <p:nvPr>
            <p:ph type="title"/>
          </p:nvPr>
        </p:nvSpPr>
        <p:spPr/>
        <p:txBody>
          <a:bodyPr/>
          <a:lstStyle/>
          <a:p>
            <a:r>
              <a:rPr lang="en-US" b="1" dirty="0"/>
              <a:t>Pathological aspects:</a:t>
            </a:r>
            <a:br>
              <a:rPr lang="en-US" b="1" dirty="0"/>
            </a:br>
            <a:endParaRPr lang="ro-RO" dirty="0"/>
          </a:p>
        </p:txBody>
      </p:sp>
      <p:sp>
        <p:nvSpPr>
          <p:cNvPr id="7" name="Content Placeholder 6">
            <a:extLst>
              <a:ext uri="{FF2B5EF4-FFF2-40B4-BE49-F238E27FC236}">
                <a16:creationId xmlns:a16="http://schemas.microsoft.com/office/drawing/2014/main" id="{89D5FE6A-8410-A854-A017-7656AFC3F2C8}"/>
              </a:ext>
            </a:extLst>
          </p:cNvPr>
          <p:cNvSpPr>
            <a:spLocks noGrp="1"/>
          </p:cNvSpPr>
          <p:nvPr>
            <p:ph idx="1"/>
          </p:nvPr>
        </p:nvSpPr>
        <p:spPr>
          <a:xfrm>
            <a:off x="685800" y="807316"/>
            <a:ext cx="11506200" cy="4351338"/>
          </a:xfrm>
        </p:spPr>
        <p:txBody>
          <a:bodyPr/>
          <a:lstStyle/>
          <a:p>
            <a:pPr>
              <a:buNone/>
            </a:pPr>
            <a:endParaRPr lang="en-US" b="1" dirty="0"/>
          </a:p>
          <a:p>
            <a:pPr>
              <a:buFont typeface="Arial" panose="020B0604020202020204" pitchFamily="34" charset="0"/>
              <a:buChar char="•"/>
            </a:pPr>
            <a:r>
              <a:rPr lang="en-US" dirty="0"/>
              <a:t>Sound heard best in the abnormal ear → </a:t>
            </a:r>
            <a:r>
              <a:rPr lang="en-US" b="1" dirty="0"/>
              <a:t>Conductive hearing loss</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dirty="0"/>
              <a:t>Sound heard best in the normal ear → </a:t>
            </a:r>
            <a:r>
              <a:rPr lang="en-US" b="1" dirty="0"/>
              <a:t>Sensorineural hearing loss</a:t>
            </a:r>
            <a:r>
              <a:rPr lang="en-US" dirty="0"/>
              <a:t>.</a:t>
            </a:r>
          </a:p>
          <a:p>
            <a:endParaRPr lang="ro-RO" dirty="0"/>
          </a:p>
        </p:txBody>
      </p:sp>
      <p:pic>
        <p:nvPicPr>
          <p:cNvPr id="9" name="Picture 8">
            <a:extLst>
              <a:ext uri="{FF2B5EF4-FFF2-40B4-BE49-F238E27FC236}">
                <a16:creationId xmlns:a16="http://schemas.microsoft.com/office/drawing/2014/main" id="{02906F0D-4289-C47F-8C6A-4704CDE9D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5445" y="2856588"/>
            <a:ext cx="6345038" cy="3569084"/>
          </a:xfrm>
          <a:prstGeom prst="rect">
            <a:avLst/>
          </a:prstGeom>
        </p:spPr>
      </p:pic>
    </p:spTree>
    <p:extLst>
      <p:ext uri="{BB962C8B-B14F-4D97-AF65-F5344CB8AC3E}">
        <p14:creationId xmlns:p14="http://schemas.microsoft.com/office/powerpoint/2010/main" val="246941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A91EE-751E-82D4-3C68-529AF7128CB6}"/>
              </a:ext>
            </a:extLst>
          </p:cNvPr>
          <p:cNvSpPr>
            <a:spLocks noGrp="1"/>
          </p:cNvSpPr>
          <p:nvPr>
            <p:ph type="title"/>
          </p:nvPr>
        </p:nvSpPr>
        <p:spPr/>
        <p:txBody>
          <a:bodyPr/>
          <a:lstStyle/>
          <a:p>
            <a:r>
              <a:rPr lang="ro-RO" dirty="0"/>
              <a:t>Frequent mistakes:</a:t>
            </a:r>
          </a:p>
        </p:txBody>
      </p:sp>
      <p:sp>
        <p:nvSpPr>
          <p:cNvPr id="3" name="Content Placeholder 2">
            <a:extLst>
              <a:ext uri="{FF2B5EF4-FFF2-40B4-BE49-F238E27FC236}">
                <a16:creationId xmlns:a16="http://schemas.microsoft.com/office/drawing/2014/main" id="{33A265B8-DD86-9961-8EBF-3138E475D8D3}"/>
              </a:ext>
            </a:extLst>
          </p:cNvPr>
          <p:cNvSpPr>
            <a:spLocks noGrp="1"/>
          </p:cNvSpPr>
          <p:nvPr>
            <p:ph idx="1"/>
          </p:nvPr>
        </p:nvSpPr>
        <p:spPr>
          <a:xfrm>
            <a:off x="838200" y="1825625"/>
            <a:ext cx="7256318" cy="4351338"/>
          </a:xfrm>
        </p:spPr>
        <p:txBody>
          <a:bodyPr/>
          <a:lstStyle/>
          <a:p>
            <a:pPr>
              <a:buFont typeface="Arial" panose="020B0604020202020204" pitchFamily="34" charset="0"/>
              <a:buChar char="•"/>
            </a:pPr>
            <a:r>
              <a:rPr lang="en-US" dirty="0"/>
              <a:t>Do not hit the tuning fork against hard surfaces (furniture) or you will </a:t>
            </a:r>
            <a:r>
              <a:rPr lang="en-US" dirty="0" err="1"/>
              <a:t>decalibrate</a:t>
            </a:r>
            <a:r>
              <a:rPr lang="en-US" dirty="0"/>
              <a:t> it.</a:t>
            </a:r>
          </a:p>
          <a:p>
            <a:pPr marL="0" indent="0">
              <a:buNone/>
            </a:pPr>
            <a:endParaRPr lang="en-US" dirty="0"/>
          </a:p>
          <a:p>
            <a:pPr>
              <a:buFont typeface="Arial" panose="020B0604020202020204" pitchFamily="34" charset="0"/>
              <a:buChar char="•"/>
            </a:pPr>
            <a:r>
              <a:rPr lang="en-US" dirty="0"/>
              <a:t>If the stem of the tuning fork is not in direct contact to the cranium, the sound will not be heard.</a:t>
            </a:r>
          </a:p>
          <a:p>
            <a:pPr>
              <a:buFont typeface="Arial" panose="020B0604020202020204" pitchFamily="34" charset="0"/>
              <a:buChar char="•"/>
            </a:pPr>
            <a:endParaRPr lang="en-US" dirty="0"/>
          </a:p>
          <a:p>
            <a:pPr>
              <a:buFont typeface="Arial" panose="020B0604020202020204" pitchFamily="34" charset="0"/>
              <a:buChar char="•"/>
            </a:pPr>
            <a:r>
              <a:rPr lang="en-US" dirty="0"/>
              <a:t>Do not touch the prongs of the tuning fork. Hold it by the stem only.</a:t>
            </a:r>
          </a:p>
          <a:p>
            <a:endParaRPr lang="ro-RO" dirty="0"/>
          </a:p>
        </p:txBody>
      </p:sp>
      <p:pic>
        <p:nvPicPr>
          <p:cNvPr id="5" name="Picture 4">
            <a:extLst>
              <a:ext uri="{FF2B5EF4-FFF2-40B4-BE49-F238E27FC236}">
                <a16:creationId xmlns:a16="http://schemas.microsoft.com/office/drawing/2014/main" id="{0017E519-AE6C-A7D2-F5CB-DC19114AD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4478" y="2049487"/>
            <a:ext cx="3409204" cy="3409204"/>
          </a:xfrm>
          <a:prstGeom prst="rect">
            <a:avLst/>
          </a:prstGeom>
        </p:spPr>
      </p:pic>
    </p:spTree>
    <p:extLst>
      <p:ext uri="{BB962C8B-B14F-4D97-AF65-F5344CB8AC3E}">
        <p14:creationId xmlns:p14="http://schemas.microsoft.com/office/powerpoint/2010/main" val="1847778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8BDCB-2B48-079B-AFB6-B8751443FF75}"/>
              </a:ext>
            </a:extLst>
          </p:cNvPr>
          <p:cNvSpPr>
            <a:spLocks noGrp="1"/>
          </p:cNvSpPr>
          <p:nvPr>
            <p:ph type="title"/>
          </p:nvPr>
        </p:nvSpPr>
        <p:spPr/>
        <p:txBody>
          <a:bodyPr/>
          <a:lstStyle/>
          <a:p>
            <a:r>
              <a:rPr lang="ro-RO" dirty="0"/>
              <a:t>RINNÉ TEST</a:t>
            </a:r>
          </a:p>
        </p:txBody>
      </p:sp>
      <p:sp>
        <p:nvSpPr>
          <p:cNvPr id="3" name="Content Placeholder 2">
            <a:extLst>
              <a:ext uri="{FF2B5EF4-FFF2-40B4-BE49-F238E27FC236}">
                <a16:creationId xmlns:a16="http://schemas.microsoft.com/office/drawing/2014/main" id="{94D08524-EE57-9A4E-5961-F693B9FD2E44}"/>
              </a:ext>
            </a:extLst>
          </p:cNvPr>
          <p:cNvSpPr>
            <a:spLocks noGrp="1"/>
          </p:cNvSpPr>
          <p:nvPr>
            <p:ph idx="1"/>
          </p:nvPr>
        </p:nvSpPr>
        <p:spPr/>
        <p:txBody>
          <a:bodyPr/>
          <a:lstStyle/>
          <a:p>
            <a:pPr>
              <a:buNone/>
            </a:pPr>
            <a:r>
              <a:rPr lang="ro-RO" b="1" dirty="0"/>
              <a:t>Necessary instruments:</a:t>
            </a:r>
            <a:r>
              <a:rPr lang="ro-RO" dirty="0"/>
              <a:t> Tuning fork (frequency 250 Hz, 440 Hz or 512 Hz.)</a:t>
            </a:r>
          </a:p>
          <a:p>
            <a:r>
              <a:rPr lang="ro-RO" b="1" dirty="0"/>
              <a:t>To examine:</a:t>
            </a:r>
            <a:r>
              <a:rPr lang="ro-RO" dirty="0"/>
              <a:t> Conductive hypoacusis vs. Sensorineural hypoacusis (orientation tests).</a:t>
            </a:r>
            <a:br>
              <a:rPr lang="ro-RO" dirty="0"/>
            </a:br>
            <a:endParaRPr lang="ro-RO" dirty="0"/>
          </a:p>
          <a:p>
            <a:endParaRPr lang="ro-RO" dirty="0"/>
          </a:p>
        </p:txBody>
      </p:sp>
      <p:pic>
        <p:nvPicPr>
          <p:cNvPr id="5" name="Picture 4">
            <a:extLst>
              <a:ext uri="{FF2B5EF4-FFF2-40B4-BE49-F238E27FC236}">
                <a16:creationId xmlns:a16="http://schemas.microsoft.com/office/drawing/2014/main" id="{FF3E8624-8590-3E33-BA38-FE3A498E4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5741" y="3429000"/>
            <a:ext cx="2817668" cy="3009782"/>
          </a:xfrm>
          <a:prstGeom prst="rect">
            <a:avLst/>
          </a:prstGeom>
        </p:spPr>
      </p:pic>
    </p:spTree>
    <p:extLst>
      <p:ext uri="{BB962C8B-B14F-4D97-AF65-F5344CB8AC3E}">
        <p14:creationId xmlns:p14="http://schemas.microsoft.com/office/powerpoint/2010/main" val="25379711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0A8DF8-A6CA-F493-F363-0B3874DE6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3522" y="3781491"/>
            <a:ext cx="5747905" cy="3076509"/>
          </a:xfrm>
          <a:prstGeom prst="rect">
            <a:avLst/>
          </a:prstGeom>
        </p:spPr>
      </p:pic>
      <p:sp>
        <p:nvSpPr>
          <p:cNvPr id="3" name="Content Placeholder 2">
            <a:extLst>
              <a:ext uri="{FF2B5EF4-FFF2-40B4-BE49-F238E27FC236}">
                <a16:creationId xmlns:a16="http://schemas.microsoft.com/office/drawing/2014/main" id="{B59AA59E-48E3-C3BF-6A86-D6DFB966E810}"/>
              </a:ext>
            </a:extLst>
          </p:cNvPr>
          <p:cNvSpPr>
            <a:spLocks noGrp="1"/>
          </p:cNvSpPr>
          <p:nvPr>
            <p:ph idx="1"/>
          </p:nvPr>
        </p:nvSpPr>
        <p:spPr>
          <a:xfrm>
            <a:off x="838200" y="332508"/>
            <a:ext cx="11204863" cy="3875809"/>
          </a:xfrm>
        </p:spPr>
        <p:txBody>
          <a:bodyPr>
            <a:normAutofit fontScale="92500" lnSpcReduction="10000"/>
          </a:bodyPr>
          <a:lstStyle/>
          <a:p>
            <a:r>
              <a:rPr lang="en-US" dirty="0"/>
              <a:t>Vibrate the tuning fork by hitting it against your patella.</a:t>
            </a:r>
          </a:p>
          <a:p>
            <a:endParaRPr lang="en-US" dirty="0"/>
          </a:p>
          <a:p>
            <a:r>
              <a:rPr lang="en-US" b="1" dirty="0"/>
              <a:t>Place the stem of the tuning fork on the mastoid process. Ask patient if the sound is heard.</a:t>
            </a:r>
          </a:p>
          <a:p>
            <a:br>
              <a:rPr lang="en-US" dirty="0"/>
            </a:br>
            <a:r>
              <a:rPr lang="en-US" b="1" dirty="0"/>
              <a:t>Attention!</a:t>
            </a:r>
            <a:r>
              <a:rPr lang="en-US" dirty="0"/>
              <a:t> – do not touch the prongs of the tuning fork</a:t>
            </a:r>
          </a:p>
          <a:p>
            <a:endParaRPr lang="en-US" dirty="0"/>
          </a:p>
          <a:p>
            <a:r>
              <a:rPr lang="en-US" dirty="0" err="1"/>
              <a:t>mmediately</a:t>
            </a:r>
            <a:r>
              <a:rPr lang="en-US" dirty="0"/>
              <a:t> move the tuning fork at about 1 cm. in front of the EAC and ask if the sound is lower or louder than the one on the mastoid</a:t>
            </a:r>
            <a:endParaRPr lang="ro-RO" dirty="0"/>
          </a:p>
        </p:txBody>
      </p:sp>
    </p:spTree>
    <p:extLst>
      <p:ext uri="{BB962C8B-B14F-4D97-AF65-F5344CB8AC3E}">
        <p14:creationId xmlns:p14="http://schemas.microsoft.com/office/powerpoint/2010/main" val="2523094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F9148-93F6-1FE1-5D50-ED90A4A7A218}"/>
              </a:ext>
            </a:extLst>
          </p:cNvPr>
          <p:cNvSpPr>
            <a:spLocks noGrp="1"/>
          </p:cNvSpPr>
          <p:nvPr>
            <p:ph idx="1"/>
          </p:nvPr>
        </p:nvSpPr>
        <p:spPr>
          <a:xfrm>
            <a:off x="713509" y="1087870"/>
            <a:ext cx="6913418" cy="4351338"/>
          </a:xfrm>
        </p:spPr>
        <p:txBody>
          <a:bodyPr/>
          <a:lstStyle/>
          <a:p>
            <a:pPr>
              <a:buNone/>
            </a:pPr>
            <a:r>
              <a:rPr lang="en-US" b="1" dirty="0"/>
              <a:t>Normal aspects:</a:t>
            </a:r>
          </a:p>
          <a:p>
            <a:pPr>
              <a:buFont typeface="Arial" panose="020B0604020202020204" pitchFamily="34" charset="0"/>
              <a:buChar char="•"/>
            </a:pPr>
            <a:r>
              <a:rPr lang="en-US" b="1" dirty="0"/>
              <a:t>Positive </a:t>
            </a:r>
            <a:r>
              <a:rPr lang="en-US" b="1" dirty="0" err="1"/>
              <a:t>Rinné</a:t>
            </a:r>
            <a:r>
              <a:rPr lang="en-US" dirty="0"/>
              <a:t> (the sound is louder and longer at the EAC than on the mastoid).</a:t>
            </a:r>
          </a:p>
          <a:p>
            <a:r>
              <a:rPr lang="en-US" dirty="0"/>
              <a:t>→ </a:t>
            </a:r>
            <a:r>
              <a:rPr lang="en-US" b="1" dirty="0"/>
              <a:t>Normal hearing</a:t>
            </a:r>
            <a:endParaRPr lang="en-US" dirty="0"/>
          </a:p>
          <a:p>
            <a:endParaRPr lang="en-US" dirty="0"/>
          </a:p>
          <a:p>
            <a:pPr>
              <a:buNone/>
            </a:pPr>
            <a:r>
              <a:rPr lang="en-US" b="1" dirty="0"/>
              <a:t>Pathological aspects:</a:t>
            </a:r>
          </a:p>
          <a:p>
            <a:pPr>
              <a:buFont typeface="Arial" panose="020B0604020202020204" pitchFamily="34" charset="0"/>
              <a:buChar char="•"/>
            </a:pPr>
            <a:r>
              <a:rPr lang="en-US" b="1" dirty="0"/>
              <a:t>Negative </a:t>
            </a:r>
            <a:r>
              <a:rPr lang="en-US" b="1" dirty="0" err="1"/>
              <a:t>Rinné</a:t>
            </a:r>
            <a:r>
              <a:rPr lang="en-US" dirty="0"/>
              <a:t> (the sound is louder and longer on the mastoid than at the EAC) → </a:t>
            </a:r>
            <a:r>
              <a:rPr lang="en-US" b="1" dirty="0"/>
              <a:t>Conductive hearing loss</a:t>
            </a:r>
            <a:endParaRPr lang="en-US" dirty="0"/>
          </a:p>
          <a:p>
            <a:endParaRPr lang="ro-RO" dirty="0"/>
          </a:p>
        </p:txBody>
      </p:sp>
      <p:pic>
        <p:nvPicPr>
          <p:cNvPr id="5" name="Picture 4">
            <a:extLst>
              <a:ext uri="{FF2B5EF4-FFF2-40B4-BE49-F238E27FC236}">
                <a16:creationId xmlns:a16="http://schemas.microsoft.com/office/drawing/2014/main" id="{592D5F36-31D5-41BB-59C0-C7241C0AF6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9038" y="1087870"/>
            <a:ext cx="4351338" cy="4351338"/>
          </a:xfrm>
          <a:prstGeom prst="rect">
            <a:avLst/>
          </a:prstGeom>
        </p:spPr>
      </p:pic>
    </p:spTree>
    <p:extLst>
      <p:ext uri="{BB962C8B-B14F-4D97-AF65-F5344CB8AC3E}">
        <p14:creationId xmlns:p14="http://schemas.microsoft.com/office/powerpoint/2010/main" val="576380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0FEDD-F4EF-97A9-CE12-2A42B1E848AF}"/>
              </a:ext>
            </a:extLst>
          </p:cNvPr>
          <p:cNvSpPr>
            <a:spLocks noGrp="1"/>
          </p:cNvSpPr>
          <p:nvPr>
            <p:ph type="title"/>
          </p:nvPr>
        </p:nvSpPr>
        <p:spPr/>
        <p:txBody>
          <a:bodyPr/>
          <a:lstStyle/>
          <a:p>
            <a:r>
              <a:rPr lang="ro-RO" dirty="0"/>
              <a:t>Frequent mistakes:</a:t>
            </a:r>
          </a:p>
        </p:txBody>
      </p:sp>
      <p:sp>
        <p:nvSpPr>
          <p:cNvPr id="3" name="Content Placeholder 2">
            <a:extLst>
              <a:ext uri="{FF2B5EF4-FFF2-40B4-BE49-F238E27FC236}">
                <a16:creationId xmlns:a16="http://schemas.microsoft.com/office/drawing/2014/main" id="{7ABD54CD-281E-CD50-2D55-6867C0CAE78B}"/>
              </a:ext>
            </a:extLst>
          </p:cNvPr>
          <p:cNvSpPr>
            <a:spLocks noGrp="1"/>
          </p:cNvSpPr>
          <p:nvPr>
            <p:ph idx="1"/>
          </p:nvPr>
        </p:nvSpPr>
        <p:spPr>
          <a:xfrm>
            <a:off x="838200" y="1825625"/>
            <a:ext cx="6757555" cy="4351338"/>
          </a:xfrm>
        </p:spPr>
        <p:txBody>
          <a:bodyPr>
            <a:normAutofit lnSpcReduction="10000"/>
          </a:bodyPr>
          <a:lstStyle/>
          <a:p>
            <a:pPr>
              <a:buFont typeface="Arial" panose="020B0604020202020204" pitchFamily="34" charset="0"/>
              <a:buChar char="•"/>
            </a:pPr>
            <a:r>
              <a:rPr lang="en-US" dirty="0"/>
              <a:t>Do not hit the tuning fork against hard surfaces (furniture) or you will </a:t>
            </a:r>
            <a:r>
              <a:rPr lang="en-US" dirty="0" err="1"/>
              <a:t>decalibrate</a:t>
            </a:r>
            <a:r>
              <a:rPr lang="en-US" dirty="0"/>
              <a:t> it.</a:t>
            </a:r>
          </a:p>
          <a:p>
            <a:pPr>
              <a:buFont typeface="Arial" panose="020B0604020202020204" pitchFamily="34" charset="0"/>
              <a:buChar char="•"/>
            </a:pPr>
            <a:endParaRPr lang="en-US" dirty="0"/>
          </a:p>
          <a:p>
            <a:pPr>
              <a:buFont typeface="Arial" panose="020B0604020202020204" pitchFamily="34" charset="0"/>
              <a:buChar char="•"/>
            </a:pPr>
            <a:r>
              <a:rPr lang="en-US" dirty="0"/>
              <a:t>If the stem of the tuning fork is not in direct contact to the cranium, the sound will not be heard.</a:t>
            </a:r>
          </a:p>
          <a:p>
            <a:pPr>
              <a:buFont typeface="Arial" panose="020B0604020202020204" pitchFamily="34" charset="0"/>
              <a:buChar char="•"/>
            </a:pPr>
            <a:endParaRPr lang="en-US" dirty="0"/>
          </a:p>
          <a:p>
            <a:pPr>
              <a:buFont typeface="Arial" panose="020B0604020202020204" pitchFamily="34" charset="0"/>
              <a:buChar char="•"/>
            </a:pPr>
            <a:r>
              <a:rPr lang="en-US" dirty="0"/>
              <a:t>Do not touch the prongs of the tuning fork. Hold it by the stem.</a:t>
            </a:r>
          </a:p>
          <a:p>
            <a:endParaRPr lang="ro-RO" dirty="0"/>
          </a:p>
        </p:txBody>
      </p:sp>
      <p:pic>
        <p:nvPicPr>
          <p:cNvPr id="4" name="Picture 3">
            <a:extLst>
              <a:ext uri="{FF2B5EF4-FFF2-40B4-BE49-F238E27FC236}">
                <a16:creationId xmlns:a16="http://schemas.microsoft.com/office/drawing/2014/main" id="{A0D762F4-C738-FE61-9AF8-89919445C0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5878" y="1825625"/>
            <a:ext cx="3409204" cy="3409204"/>
          </a:xfrm>
          <a:prstGeom prst="rect">
            <a:avLst/>
          </a:prstGeom>
        </p:spPr>
      </p:pic>
    </p:spTree>
    <p:extLst>
      <p:ext uri="{BB962C8B-B14F-4D97-AF65-F5344CB8AC3E}">
        <p14:creationId xmlns:p14="http://schemas.microsoft.com/office/powerpoint/2010/main" val="3581298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883</Words>
  <Application>Microsoft Office PowerPoint</Application>
  <PresentationFormat>Widescreen</PresentationFormat>
  <Paragraphs>99</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Inter</vt:lpstr>
      <vt:lpstr>Office Theme</vt:lpstr>
      <vt:lpstr>Acoustic acuity tests</vt:lpstr>
      <vt:lpstr>PowerPoint Presentation</vt:lpstr>
      <vt:lpstr>PowerPoint Presentation</vt:lpstr>
      <vt:lpstr>PowerPoint Presentation</vt:lpstr>
      <vt:lpstr>PowerPoint Presentation</vt:lpstr>
      <vt:lpstr>TM (tympanic membrane) perforation </vt:lpstr>
      <vt:lpstr>Ossicular chain afflictions </vt:lpstr>
      <vt:lpstr>Liquid build-up in the middle ear (e.g., otitis media, Eustachian tube dysfunction) </vt:lpstr>
      <vt:lpstr>EAC stenosis </vt:lpstr>
      <vt:lpstr>Foreign bodies in the EAC (most frequently cerumen )</vt:lpstr>
      <vt:lpstr>Acute inflammation (otitis externa). </vt:lpstr>
      <vt:lpstr>Sensorineural Hearing Loss:</vt:lpstr>
      <vt:lpstr>PowerPoint Presentation</vt:lpstr>
      <vt:lpstr>Mixed Hypoacusis: </vt:lpstr>
      <vt:lpstr>Vascular pathology </vt:lpstr>
      <vt:lpstr>Ménière’s disease</vt:lpstr>
      <vt:lpstr>PowerPoint Presentation</vt:lpstr>
      <vt:lpstr>Presbycusis (age-related hearing loss)</vt:lpstr>
      <vt:lpstr>Ototoxicity</vt:lpstr>
      <vt:lpstr>Neuronal inflammation (neuro-labyrinthitis)</vt:lpstr>
      <vt:lpstr>Tumors of the vestibulocochlear nerve</vt:lpstr>
      <vt:lpstr>Tuning fork</vt:lpstr>
      <vt:lpstr>WEBER TEST </vt:lpstr>
      <vt:lpstr>PowerPoint Presentation</vt:lpstr>
      <vt:lpstr>PowerPoint Presentation</vt:lpstr>
      <vt:lpstr>Pathological aspects: </vt:lpstr>
      <vt:lpstr>Frequent mistakes:</vt:lpstr>
      <vt:lpstr>RINNÉ TEST</vt:lpstr>
      <vt:lpstr>PowerPoint Presentation</vt:lpstr>
      <vt:lpstr>PowerPoint Presentation</vt:lpstr>
      <vt:lpstr>Frequent mistakes: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7</cp:revision>
  <dcterms:created xsi:type="dcterms:W3CDTF">2025-04-22T20:46:55Z</dcterms:created>
  <dcterms:modified xsi:type="dcterms:W3CDTF">2025-04-23T06:51:54Z</dcterms:modified>
</cp:coreProperties>
</file>