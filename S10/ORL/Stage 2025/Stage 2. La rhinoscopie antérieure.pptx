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ToNnGdcH7kAhqqVvrKR7wKml+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Relationship Id="rId4" Type="http://schemas.openxmlformats.org/officeDocument/2006/relationships/image" Target="../media/image4.jpg"/><Relationship Id="rId5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jpg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Relationship Id="rId4" Type="http://schemas.openxmlformats.org/officeDocument/2006/relationships/image" Target="../media/image2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22047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Anterior rhinoscopy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6620" y="3117226"/>
            <a:ext cx="4176067" cy="282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idx="1" type="body"/>
          </p:nvPr>
        </p:nvSpPr>
        <p:spPr>
          <a:xfrm>
            <a:off x="280147" y="320564"/>
            <a:ext cx="11631706" cy="6001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nasal cavity is divided into: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Nasal vestibule</a:t>
            </a:r>
            <a:r>
              <a:rPr lang="en-US"/>
              <a:t> – the anterior part, lined with hair (vibrissae), having a protective role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Proper nasal cavities</a:t>
            </a:r>
            <a:r>
              <a:rPr lang="en-US"/>
              <a:t> – cavities lined with mucosa, through which inspired air circulates.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Anterior nasal opening- </a:t>
            </a:r>
            <a:r>
              <a:rPr b="1" lang="en-US"/>
              <a:t>nostrils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Posterior nasal opening - </a:t>
            </a:r>
            <a:r>
              <a:rPr b="1" lang="en-US"/>
              <a:t>choanae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Anatomia nasului izolată pe vectorul alb — Vector de stoc" id="96" name="Google Shape;96;p2"/>
          <p:cNvPicPr preferRelativeResize="0"/>
          <p:nvPr/>
        </p:nvPicPr>
        <p:blipFill rotWithShape="1">
          <a:blip r:embed="rId3">
            <a:alphaModFix/>
          </a:blip>
          <a:srcRect b="14176" l="8045" r="11341" t="7663"/>
          <a:stretch/>
        </p:blipFill>
        <p:spPr>
          <a:xfrm>
            <a:off x="6842234" y="2459316"/>
            <a:ext cx="3983422" cy="38622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2"/>
          <p:cNvCxnSpPr/>
          <p:nvPr/>
        </p:nvCxnSpPr>
        <p:spPr>
          <a:xfrm>
            <a:off x="5843752" y="4593020"/>
            <a:ext cx="1713186" cy="1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" name="Google Shape;98;p2"/>
          <p:cNvCxnSpPr/>
          <p:nvPr/>
        </p:nvCxnSpPr>
        <p:spPr>
          <a:xfrm flipH="1" rot="10800000">
            <a:off x="6096000" y="4267200"/>
            <a:ext cx="3121572" cy="1860331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9" name="Google Shape;99;p2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Anterior nasal openings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nostrils.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543672"/>
            <a:ext cx="1037664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Nasal septum</a:t>
            </a:r>
            <a:br>
              <a:rPr lang="en-US"/>
            </a:br>
            <a:r>
              <a:rPr lang="en-US"/>
              <a:t>Divides the nasal cavity into two nasal fossae. It is composed of: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Bones</a:t>
            </a:r>
            <a:r>
              <a:rPr lang="en-US"/>
              <a:t> (the vomer and the perpendicular plate of the ethmoid bone)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Cartilage</a:t>
            </a:r>
            <a:r>
              <a:rPr lang="en-US"/>
              <a:t> (the septal cartilage)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805" y="2599578"/>
            <a:ext cx="4830936" cy="403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280147" y="504901"/>
            <a:ext cx="1163170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Lateral wall of the nasal fossae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Nasal turbinates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Nasal meatuses</a:t>
            </a:r>
            <a:r>
              <a:rPr lang="en-US"/>
              <a:t> – between the nasal turbinates, where the paranasal sinuses and lacrimal ducts open.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984" y="3405807"/>
            <a:ext cx="5777850" cy="290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1781" y="3405807"/>
            <a:ext cx="5180072" cy="2806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838200" y="5078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Paranasal Sinuses</a:t>
            </a:r>
            <a:br>
              <a:rPr lang="en-US"/>
            </a:br>
            <a:r>
              <a:rPr lang="en-US"/>
              <a:t>Air-filled cavities that communicate with the nasal fossae, contributing to the reduction of skull weight and the resonance of sound.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Frontal sinus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Ethmoidal sinus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Sphenoidal sinus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Maxillary sinus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5657" y="2375647"/>
            <a:ext cx="6660755" cy="3872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91965" y="5495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nasal cavity is well vascularized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Kiesselbach’s vascular plexus</a:t>
            </a:r>
            <a:r>
              <a:rPr lang="en-US"/>
              <a:t> (area prone to anterior epistaxis)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Anterior and posterior ethmoidal artery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Sphenopalatine artery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/>
              <a:t>Greater palatine artery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7106" y="2580701"/>
            <a:ext cx="5365426" cy="3987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460" y="1951131"/>
            <a:ext cx="4216587" cy="421658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 txBox="1"/>
          <p:nvPr>
            <p:ph type="title"/>
          </p:nvPr>
        </p:nvSpPr>
        <p:spPr>
          <a:xfrm>
            <a:off x="995516" y="38479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Instruments used in examination</a:t>
            </a:r>
            <a:endParaRPr b="1"/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7141" y="1927093"/>
            <a:ext cx="6436659" cy="1723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7059" y="3115236"/>
            <a:ext cx="4043082" cy="3234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466880" y="618553"/>
            <a:ext cx="93189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To be examined: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Nasal vestibule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Nasal fossa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Nasal mucosa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Nasal septum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Nasal conchae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Nasal meatuses</a:t>
            </a:r>
            <a:endParaRPr/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5720" y="985246"/>
            <a:ext cx="5607807" cy="4367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838200" y="1111624"/>
            <a:ext cx="10546976" cy="5065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Inspection of the nasal pyramid and lifting of the nasal tip (Narinoscopy) with the left hand thumb.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804" y="2539534"/>
            <a:ext cx="4702548" cy="382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712693" y="41816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Place your left hand on the patient's head.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Hold the speculum with the correct grip and insert it into the nasal fossa, from bottom to top, in a closed position. Be careful not to injure the nasal septum.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0092" y="2674517"/>
            <a:ext cx="3660803" cy="3955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936812" y="355412"/>
            <a:ext cx="4684059" cy="5615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Open the speculum and rotate it gently until its valves are parallel to the floor of the nasal fossa.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Now, slightly tilt the patient's head to the side and then backward to examine the nasal septum and the inferior and middle nasal conchae.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Remove the speculum from the fossa in an open position.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Examine the contralateral nasal fossa using the same technique.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1667" y="898400"/>
            <a:ext cx="4013281" cy="484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Normal aspects:</a:t>
            </a:r>
            <a:br>
              <a:rPr b="1" lang="en-US"/>
            </a:b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838200" y="1825625"/>
            <a:ext cx="559845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Mucosa without inflammation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Nasal septum on the midline 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pathological secretions (serous, mucous, purulent, or bloody) 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nasal polyps </a:t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nasal tumors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1276" y="1027906"/>
            <a:ext cx="4502524" cy="45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Patological aspects:</a:t>
            </a:r>
            <a:br>
              <a:rPr b="1" lang="en-US"/>
            </a:b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4583274" y="581220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Foreign body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857" y="1578264"/>
            <a:ext cx="5466286" cy="384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4029635" y="605696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Bleeding (Epistaxis)</a:t>
            </a:r>
            <a:endParaRPr/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413" y="1105131"/>
            <a:ext cx="4708699" cy="353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3318" y="1346886"/>
            <a:ext cx="4487103" cy="3317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idx="1" type="body"/>
          </p:nvPr>
        </p:nvSpPr>
        <p:spPr>
          <a:xfrm>
            <a:off x="3016624" y="586292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Septal deviation / septal crests</a:t>
            </a:r>
            <a:endParaRPr b="1"/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1128" y="995080"/>
            <a:ext cx="4273662" cy="4222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795" y="1312768"/>
            <a:ext cx="5739205" cy="3587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idx="1" type="body"/>
          </p:nvPr>
        </p:nvSpPr>
        <p:spPr>
          <a:xfrm>
            <a:off x="3393142" y="564458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Hypertrophy of the nasal turbinates</a:t>
            </a:r>
            <a:endParaRPr b="1"/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6516" y="1397293"/>
            <a:ext cx="3565205" cy="336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243" y="1350869"/>
            <a:ext cx="5592052" cy="3457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idx="1" type="body"/>
          </p:nvPr>
        </p:nvSpPr>
        <p:spPr>
          <a:xfrm>
            <a:off x="1295400" y="60659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Pathological secretions</a:t>
            </a:r>
            <a:r>
              <a:rPr lang="en-US"/>
              <a:t> (serous, mucous, purulent, bloody)</a:t>
            </a:r>
            <a:endParaRPr/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9005" y="1152805"/>
            <a:ext cx="4216278" cy="3625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4105" y="1273129"/>
            <a:ext cx="5887815" cy="337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idx="1" type="body"/>
          </p:nvPr>
        </p:nvSpPr>
        <p:spPr>
          <a:xfrm>
            <a:off x="4649831" y="59909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Nasal polyposis</a:t>
            </a:r>
            <a:endParaRPr b="1"/>
          </a:p>
        </p:txBody>
      </p:sp>
      <p:pic>
        <p:nvPicPr>
          <p:cNvPr id="204" name="Google Shape;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6376" y="572653"/>
            <a:ext cx="6287479" cy="5144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Chronic hypertrophic adenoiditis</a:t>
            </a:r>
            <a:endParaRPr/>
          </a:p>
        </p:txBody>
      </p:sp>
      <p:pic>
        <p:nvPicPr>
          <p:cNvPr id="210" name="Google Shape;21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4315" y="1690688"/>
            <a:ext cx="4515007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1015" y="1690688"/>
            <a:ext cx="4353372" cy="435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Nasal vestibule furuncle</a:t>
            </a:r>
            <a:endParaRPr b="1"/>
          </a:p>
        </p:txBody>
      </p:sp>
      <p:pic>
        <p:nvPicPr>
          <p:cNvPr id="217" name="Google Shape;21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168" y="1690688"/>
            <a:ext cx="3790826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 mistakes:</a:t>
            </a:r>
            <a:endParaRPr/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838200" y="1825625"/>
            <a:ext cx="55894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Inserting the speculum too deeply or touching the septum </a:t>
            </a:r>
            <a:r>
              <a:rPr b="1" lang="en-US"/>
              <a:t>may cause pain.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Removing the speculum in a closed position may </a:t>
            </a:r>
            <a:r>
              <a:rPr b="1" lang="en-US"/>
              <a:t>pull out hairs from the nasal vestibule.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8705" y="1093694"/>
            <a:ext cx="5200146" cy="3783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Va multumesc pentru atentie !</a:t>
            </a:r>
            <a:endParaRPr/>
          </a:p>
        </p:txBody>
      </p:sp>
      <p:pic>
        <p:nvPicPr>
          <p:cNvPr id="230" name="Google Shape;230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518" l="-1" r="1049" t="726"/>
          <a:stretch/>
        </p:blipFill>
        <p:spPr>
          <a:xfrm>
            <a:off x="3216389" y="1640942"/>
            <a:ext cx="4684388" cy="4688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2025-01-29T13:54:10Z</dcterms:created>
  <dc:creator>Dan Iovanescu</dc:creator>
</cp:coreProperties>
</file>