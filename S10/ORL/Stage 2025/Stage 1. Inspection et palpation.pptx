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p27LvHInsvH5T+g5RGYjL9RcG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Inspection + palpation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6700" y="3082131"/>
            <a:ext cx="40386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873" y="581313"/>
            <a:ext cx="10467425" cy="6153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314325" y="288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Inspection of the head and neck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443359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3800"/>
              <a:t>Facial Symmetry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Deformities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Swellings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Asymmetries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3800"/>
              <a:t>Signs of Infection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Redness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Edema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Fistulas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Scars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3800"/>
              <a:t>Skin Changes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Pallor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Erythema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800"/>
              <a:t>Cyanosis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2125" y="2028825"/>
            <a:ext cx="5200650" cy="365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914400" y="5308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             Thyroglossal duct cyst</a:t>
            </a:r>
            <a:endParaRPr/>
          </a:p>
        </p:txBody>
      </p:sp>
      <p:pic>
        <p:nvPicPr>
          <p:cNvPr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6187" y="865981"/>
            <a:ext cx="4061619" cy="4061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50323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          Thyroglossal duct fistula</a:t>
            </a:r>
            <a:br>
              <a:rPr lang="en-US"/>
            </a:b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5954" y="614204"/>
            <a:ext cx="4946861" cy="371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2847975" y="524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Inflamed lymph node</a:t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617" y="654050"/>
            <a:ext cx="774916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Inspection of the nose and nasal cavities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45450"/>
            <a:ext cx="10168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Deformities, deviations of the nasal pyramid, edema, skin lesions</a:t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2525565"/>
            <a:ext cx="2438400" cy="378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9737" y="2920200"/>
            <a:ext cx="5035677" cy="357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2971800" y="5318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Nasal pyramid trauma</a:t>
            </a:r>
            <a:endParaRPr/>
          </a:p>
        </p:txBody>
      </p:sp>
      <p:pic>
        <p:nvPicPr>
          <p:cNvPr id="129" name="Google Shape;12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6016" y="572159"/>
            <a:ext cx="326466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Inscpetion of the concha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 of shape and symmetry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Assessment of size and position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Examination of the skin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Detection of lesions or inflammation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Presence of secretions or crusts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Retroauricular inspection</a:t>
            </a:r>
            <a:endParaRPr/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1917" y="1285875"/>
            <a:ext cx="271462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3386667" y="5368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Retroauricular cyst</a:t>
            </a:r>
            <a:endParaRPr/>
          </a:p>
        </p:txBody>
      </p:sp>
      <p:pic>
        <p:nvPicPr>
          <p:cNvPr id="142" name="Google Shape;142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6030" y="1304102"/>
            <a:ext cx="5058813" cy="3794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3623734" y="38311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Othematoma</a:t>
            </a:r>
            <a:endParaRPr/>
          </a:p>
        </p:txBody>
      </p:sp>
      <p:pic>
        <p:nvPicPr>
          <p:cNvPr id="148" name="Google Shape;14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9640" y="1949210"/>
            <a:ext cx="3275787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6573" y="1949210"/>
            <a:ext cx="3275787" cy="4390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4878398" y="507873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Otorrhea</a:t>
            </a:r>
            <a:endParaRPr/>
          </a:p>
        </p:txBody>
      </p:sp>
      <p:pic>
        <p:nvPicPr>
          <p:cNvPr id="155" name="Google Shape;15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399" y="867304"/>
            <a:ext cx="3873201" cy="4178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Palpation of the sinus points</a:t>
            </a:r>
            <a:endParaRPr/>
          </a:p>
        </p:txBody>
      </p:sp>
      <p:pic>
        <p:nvPicPr>
          <p:cNvPr id="161" name="Google Shape;16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4063" y="1825625"/>
            <a:ext cx="748387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7956" l="57987" r="2583" t="4086"/>
          <a:stretch/>
        </p:blipFill>
        <p:spPr>
          <a:xfrm>
            <a:off x="7806265" y="1882246"/>
            <a:ext cx="3043030" cy="2605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/>
          <p:nvPr>
            <p:ph idx="2" type="body"/>
          </p:nvPr>
        </p:nvSpPr>
        <p:spPr>
          <a:xfrm>
            <a:off x="1092200" y="172984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the index and middle fingers, gentle palpation and percussion of the frontal sinuses is performed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br>
              <a:rPr lang="en-US"/>
            </a:br>
            <a:r>
              <a:rPr lang="en-US"/>
              <a:t>At the level of the forehead (anterior wall of the frontal sinus).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 the level of the superomedial angle of the orbit.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br>
              <a:rPr lang="en-US"/>
            </a:br>
            <a:r>
              <a:rPr lang="en-US"/>
              <a:t>At the level of the floor of the frontal sinus.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3" name="Google Shape;173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33381" l="61334" r="0" t="33345"/>
          <a:stretch/>
        </p:blipFill>
        <p:spPr>
          <a:xfrm>
            <a:off x="7823198" y="1109132"/>
            <a:ext cx="2916467" cy="2404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333" l="57785" r="0" t="66964"/>
          <a:stretch/>
        </p:blipFill>
        <p:spPr>
          <a:xfrm>
            <a:off x="7823198" y="4001294"/>
            <a:ext cx="2916466" cy="225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1945" l="53169" r="-53169" t="1946"/>
          <a:stretch/>
        </p:blipFill>
        <p:spPr>
          <a:xfrm>
            <a:off x="7791321" y="531811"/>
            <a:ext cx="5560612" cy="566367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>
            <p:ph idx="2" type="body"/>
          </p:nvPr>
        </p:nvSpPr>
        <p:spPr>
          <a:xfrm>
            <a:off x="1176866" y="1306511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The anterior ethmoidal cells are palpated in the medial angle of the orbit.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Using the index and middle fingers, gentle palpation and percussion of the maxillary sinuses is performed.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At the level of the cheek (anterior wall of the maxillary sinus).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At the level of the canine fossa (superior and lateral to the root of the upper canine).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Lymph node palpation</a:t>
            </a:r>
            <a:endParaRPr/>
          </a:p>
        </p:txBody>
      </p:sp>
      <p:pic>
        <p:nvPicPr>
          <p:cNvPr id="186" name="Google Shape;18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9589" y="1480211"/>
            <a:ext cx="6391145" cy="501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Cervical lymph node levels</a:t>
            </a:r>
            <a:endParaRPr/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submental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IB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submandibular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upper jugulocarotid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IIB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upper jugulocarotid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middle jugulocarotid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lower jugulocarotid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upper spinal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VB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lower spinal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anterior cervical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VII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upper mediastinal</a:t>
            </a:r>
            <a:endParaRPr/>
          </a:p>
        </p:txBody>
      </p:sp>
      <p:pic>
        <p:nvPicPr>
          <p:cNvPr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6975" y="1595535"/>
            <a:ext cx="4468119" cy="4296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7334" r="0" t="0"/>
          <a:stretch/>
        </p:blipFill>
        <p:spPr>
          <a:xfrm>
            <a:off x="8754534" y="628002"/>
            <a:ext cx="2616484" cy="532829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>
            <p:ph idx="2" type="body"/>
          </p:nvPr>
        </p:nvSpPr>
        <p:spPr>
          <a:xfrm>
            <a:off x="1439333" y="1503892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Palpation is done with the fingertips, using gentle, circular movements, bilaterally and simultaneously to allow for comparison.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examination can be performed from in front of the patient or from behind (classic method). The patient is asked to slightly flex the neck to relax the cervical muscles.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Begin at the angle of the mandible.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Proceed downwards toward the chin.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Submandibular and submental lymph nodes (Level I).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50175" r="0" t="0"/>
          <a:stretch/>
        </p:blipFill>
        <p:spPr>
          <a:xfrm>
            <a:off x="8077200" y="189808"/>
            <a:ext cx="2641600" cy="594657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>
            <p:ph idx="2" type="body"/>
          </p:nvPr>
        </p:nvSpPr>
        <p:spPr>
          <a:xfrm>
            <a:off x="965200" y="513292"/>
            <a:ext cx="5630334" cy="521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377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inferiorly from the angle of the mandible along the anterior and posterior borders of the sternocleidomastoid (SCM).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Superior, middle, and inferior jugulocarotid lymph nodes (Levels II, III, and IV).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supraclavicular fossa, continue palpation laterally.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Infraclavicular and superior mediastinal lymph nodes (Level VII).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Ascend along the anterior border of the trapezius muscle toward the mastoid (posterior cervical triangle).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Transverse and spinal superior and inferior lymph nodes (Level V).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7056" r="0" t="0"/>
          <a:stretch/>
        </p:blipFill>
        <p:spPr>
          <a:xfrm>
            <a:off x="8669866" y="318558"/>
            <a:ext cx="2099734" cy="59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>
            <p:ph idx="2" type="body"/>
          </p:nvPr>
        </p:nvSpPr>
        <p:spPr>
          <a:xfrm>
            <a:off x="1126067" y="872067"/>
            <a:ext cx="5181600" cy="50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examination ends with palpation of the nuchal area and the anterior cervical lymph nodes: pre- and paratracheal, precricoid, and perithyroidal (Level VI).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exam is completed by palpating the thyroid lobes, thyroid cartilage, and cricoid cartilage.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Laryngeal mobility is also tested:</a:t>
            </a:r>
            <a:br>
              <a:rPr lang="en-US"/>
            </a:br>
            <a:r>
              <a:rPr lang="en-US"/>
              <a:t>Active laryngeal mobility – with fingers placed on the thyroid cartilage, the patient is asked to swallow. Normally, the cartilage will ascend</a:t>
            </a:r>
            <a:r>
              <a:rPr b="1" lang="en-US"/>
              <a:t>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787400" y="911224"/>
            <a:ext cx="5511800" cy="472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Laryngeal mobility is also assessed: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Active laryngeal mobility</a:t>
            </a:r>
            <a:r>
              <a:rPr lang="en-US"/>
              <a:t> – with fingers placed on the thyroid cartilage, the patient is asked to swallow. Normally, the cartilage ascends.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Passive laryngeal mobility</a:t>
            </a:r>
            <a:r>
              <a:rPr lang="en-US"/>
              <a:t> – the thyroid cartilage is grasped between the thumb and middle finger and moved laterally. A snapping sound, known as </a:t>
            </a:r>
            <a:r>
              <a:rPr i="1" lang="en-US"/>
              <a:t>laryngeal crackle</a:t>
            </a:r>
            <a:r>
              <a:rPr lang="en-US"/>
              <a:t>, is usually produced.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17" name="Google Shape;217;p2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49345" l="48504" r="3496" t="32091"/>
          <a:stretch/>
        </p:blipFill>
        <p:spPr>
          <a:xfrm>
            <a:off x="7042064" y="1282851"/>
            <a:ext cx="4538695" cy="3805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Inflammatory adenopathy</a:t>
            </a:r>
            <a:r>
              <a:rPr lang="en-US"/>
              <a:t>: soft, mobile, well-defined, tender to palpation, possibly covered by hyperemic (reddened) skin.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Metastatic adenopathy</a:t>
            </a:r>
            <a:r>
              <a:rPr lang="en-US"/>
              <a:t>: hard (wooden), fixed to underlying planes, without clear borders, not painful to palpation, possibly covered by infiltrated skin.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7877" y="3882895"/>
            <a:ext cx="7208646" cy="2415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Tragus sign – Otalgia in otitis externa</a:t>
            </a:r>
            <a:endParaRPr/>
          </a:p>
        </p:txBody>
      </p:sp>
      <p:pic>
        <p:nvPicPr>
          <p:cNvPr id="230" name="Google Shape;230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704" y="2066130"/>
            <a:ext cx="3814763" cy="381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8735" y="2159263"/>
            <a:ext cx="2694177" cy="381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2025-03-10T18:55:39Z</dcterms:created>
  <dc:creator>Dan Iovanescu</dc:creator>
</cp:coreProperties>
</file>