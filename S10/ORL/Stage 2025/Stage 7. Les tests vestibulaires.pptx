
<file path=[Content_Types].xml><?xml version="1.0" encoding="utf-8"?>
<Types xmlns="http://schemas.openxmlformats.org/package/2006/content-types">
  <Default Extension="jpeg" ContentType="image/jpeg"/>
  <Default Extension="jpg"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3.jpg" ContentType="image/jpeg"/>
  <Override PartName="/ppt/media/image4.jpg" ContentType="image/jpeg"/>
  <Override PartName="/ppt/media/image5.jpg" ContentType="image/jpeg"/>
  <Override PartName="/ppt/media/image8.jpg" ContentType="image/jpeg"/>
  <Override PartName="/ppt/media/image10.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6" r:id="rId1"/>
  </p:sldMasterIdLst>
  <p:sldIdLst>
    <p:sldId id="256" r:id="rId2"/>
    <p:sldId id="257" r:id="rId3"/>
    <p:sldId id="258" r:id="rId4"/>
    <p:sldId id="259" r:id="rId5"/>
    <p:sldId id="260" r:id="rId6"/>
    <p:sldId id="261" r:id="rId7"/>
    <p:sldId id="272" r:id="rId8"/>
    <p:sldId id="262" r:id="rId9"/>
    <p:sldId id="273" r:id="rId10"/>
    <p:sldId id="263" r:id="rId11"/>
    <p:sldId id="274" r:id="rId12"/>
    <p:sldId id="264" r:id="rId13"/>
    <p:sldId id="265" r:id="rId14"/>
    <p:sldId id="267" r:id="rId15"/>
    <p:sldId id="266" r:id="rId16"/>
    <p:sldId id="269" r:id="rId17"/>
    <p:sldId id="270"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405" autoAdjust="0"/>
  </p:normalViewPr>
  <p:slideViewPr>
    <p:cSldViewPr>
      <p:cViewPr varScale="1">
        <p:scale>
          <a:sx n="71" d="100"/>
          <a:sy n="71" d="100"/>
        </p:scale>
        <p:origin x="1786"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a:t>Click to edit Master title style</a:t>
            </a:r>
          </a:p>
        </p:txBody>
      </p:sp>
      <p:sp>
        <p:nvSpPr>
          <p:cNvPr id="28" name="Date Placeholder 27"/>
          <p:cNvSpPr>
            <a:spLocks noGrp="1"/>
          </p:cNvSpPr>
          <p:nvPr>
            <p:ph type="dt" sz="half" idx="10"/>
          </p:nvPr>
        </p:nvSpPr>
        <p:spPr/>
        <p:txBody>
          <a:bodyPr/>
          <a:lstStyle/>
          <a:p>
            <a:fld id="{E50DA9BD-FE01-4276-8EDB-ADBFFC42D589}" type="datetimeFigureOut">
              <a:rPr lang="en-US" smtClean="0"/>
              <a:t>5/5/2025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D264D34D-B2DA-41C0-B760-C0DAB762E9BC}" type="slidenum">
              <a:rPr lang="en-US" smtClean="0"/>
              <a:t>‹#›</a:t>
            </a:fld>
            <a:endParaRPr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50DA9BD-FE01-4276-8EDB-ADBFFC42D589}"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4D34D-B2DA-41C0-B760-C0DAB762E9B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50DA9BD-FE01-4276-8EDB-ADBFFC42D589}"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924800" y="6416675"/>
            <a:ext cx="762000" cy="365125"/>
          </a:xfrm>
        </p:spPr>
        <p:txBody>
          <a:bodyPr/>
          <a:lstStyle/>
          <a:p>
            <a:fld id="{D264D34D-B2DA-41C0-B760-C0DAB762E9BC}"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50DA9BD-FE01-4276-8EDB-ADBFFC42D589}"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64D34D-B2DA-41C0-B760-C0DAB762E9B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50DA9BD-FE01-4276-8EDB-ADBFFC42D589}" type="datetimeFigureOut">
              <a:rPr lang="en-US" smtClean="0"/>
              <a:t>5/5/2025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64D34D-B2DA-41C0-B760-C0DAB762E9B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E50DA9BD-FE01-4276-8EDB-ADBFFC42D589}" type="datetimeFigureOut">
              <a:rPr lang="en-US" smtClean="0"/>
              <a:t>5/5/2025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64D34D-B2DA-41C0-B760-C0DAB762E9B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0DA9BD-FE01-4276-8EDB-ADBFFC42D589}" type="datetimeFigureOut">
              <a:rPr lang="en-US" smtClean="0"/>
              <a:t>5/5/2025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64D34D-B2DA-41C0-B760-C0DAB762E9B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a:t>Click to edit Master title style</a:t>
            </a:r>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50DA9BD-FE01-4276-8EDB-ADBFFC42D589}"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64D34D-B2DA-41C0-B760-C0DAB762E9B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50DA9BD-FE01-4276-8EDB-ADBFFC42D589}" type="datetimeFigureOut">
              <a:rPr lang="en-US" smtClean="0"/>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64D34D-B2DA-41C0-B760-C0DAB762E9B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50DA9BD-FE01-4276-8EDB-ADBFFC42D589}"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4D34D-B2DA-41C0-B760-C0DAB762E9B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50DA9BD-FE01-4276-8EDB-ADBFFC42D589}" type="datetimeFigureOut">
              <a:rPr lang="en-US" smtClean="0"/>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64D34D-B2DA-41C0-B760-C0DAB762E9B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a:t>Click to edit Master title style</a:t>
            </a:r>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E50DA9BD-FE01-4276-8EDB-ADBFFC42D589}" type="datetimeFigureOut">
              <a:rPr lang="en-US" smtClean="0"/>
              <a:t>5/5/2025</a:t>
            </a:fld>
            <a:endParaRPr lang="en-US"/>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D264D34D-B2DA-41C0-B760-C0DAB762E9BC}"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4117" r:id="rId1"/>
    <p:sldLayoutId id="2147484118" r:id="rId2"/>
    <p:sldLayoutId id="2147484119" r:id="rId3"/>
    <p:sldLayoutId id="2147484120" r:id="rId4"/>
    <p:sldLayoutId id="2147484121" r:id="rId5"/>
    <p:sldLayoutId id="2147484122" r:id="rId6"/>
    <p:sldLayoutId id="2147484123" r:id="rId7"/>
    <p:sldLayoutId id="2147484124" r:id="rId8"/>
    <p:sldLayoutId id="2147484125" r:id="rId9"/>
    <p:sldLayoutId id="2147484126" r:id="rId10"/>
    <p:sldLayoutId id="2147484127"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990600"/>
            <a:ext cx="8915400" cy="1774825"/>
          </a:xfrm>
        </p:spPr>
        <p:txBody>
          <a:bodyPr>
            <a:noAutofit/>
          </a:bodyPr>
          <a:lstStyle/>
          <a:p>
            <a:r>
              <a:rPr lang="en-US" sz="7200" dirty="0">
                <a:solidFill>
                  <a:schemeClr val="bg1"/>
                </a:solidFill>
              </a:rPr>
              <a:t>Vestibular tests</a:t>
            </a:r>
          </a:p>
        </p:txBody>
      </p:sp>
      <p:sp>
        <p:nvSpPr>
          <p:cNvPr id="3" name="Subtitle 2"/>
          <p:cNvSpPr>
            <a:spLocks noGrp="1"/>
          </p:cNvSpPr>
          <p:nvPr>
            <p:ph type="subTitle" idx="1"/>
          </p:nvPr>
        </p:nvSpPr>
        <p:spPr>
          <a:xfrm>
            <a:off x="2971800" y="5715000"/>
            <a:ext cx="6172200" cy="685800"/>
          </a:xfrm>
        </p:spPr>
        <p:txBody>
          <a:bodyPr>
            <a:normAutofit/>
          </a:bodyPr>
          <a:lstStyle/>
          <a:p>
            <a:endParaRPr lang="en-US" dirty="0">
              <a:solidFill>
                <a:schemeClr val="bg1"/>
              </a:solidFill>
            </a:endParaRPr>
          </a:p>
        </p:txBody>
      </p:sp>
    </p:spTree>
    <p:extLst>
      <p:ext uri="{BB962C8B-B14F-4D97-AF65-F5344CB8AC3E}">
        <p14:creationId xmlns:p14="http://schemas.microsoft.com/office/powerpoint/2010/main" val="46784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52B7052-DE5D-C75F-5910-DDC8BB72D4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199" y="1295400"/>
            <a:ext cx="7565645" cy="4038600"/>
          </a:xfrm>
        </p:spPr>
      </p:pic>
    </p:spTree>
    <p:extLst>
      <p:ext uri="{BB962C8B-B14F-4D97-AF65-F5344CB8AC3E}">
        <p14:creationId xmlns:p14="http://schemas.microsoft.com/office/powerpoint/2010/main" val="3796519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85800" y="381000"/>
            <a:ext cx="7543800" cy="1238250"/>
          </a:xfrm>
        </p:spPr>
        <p:txBody>
          <a:bodyPr>
            <a:normAutofit fontScale="90000"/>
          </a:bodyPr>
          <a:lstStyle/>
          <a:p>
            <a:r>
              <a:rPr lang="ro-RO" dirty="0"/>
              <a:t>The Vestibular Apparatus</a:t>
            </a:r>
            <a:endParaRPr lang="en-US" dirty="0">
              <a:solidFill>
                <a:schemeClr val="accent6">
                  <a:lumMod val="60000"/>
                  <a:lumOff val="40000"/>
                </a:schemeClr>
              </a:solidFill>
            </a:endParaRPr>
          </a:p>
        </p:txBody>
      </p:sp>
      <p:sp>
        <p:nvSpPr>
          <p:cNvPr id="5" name="Subtitle 4"/>
          <p:cNvSpPr>
            <a:spLocks noGrp="1"/>
          </p:cNvSpPr>
          <p:nvPr>
            <p:ph type="subTitle" idx="1"/>
          </p:nvPr>
        </p:nvSpPr>
        <p:spPr>
          <a:xfrm>
            <a:off x="152400" y="1828800"/>
            <a:ext cx="4648200" cy="4648200"/>
          </a:xfrm>
        </p:spPr>
        <p:txBody>
          <a:bodyPr>
            <a:normAutofit/>
          </a:bodyPr>
          <a:lstStyle/>
          <a:p>
            <a:pPr algn="l">
              <a:buNone/>
            </a:pPr>
            <a:r>
              <a:rPr lang="en-US" sz="2000" dirty="0">
                <a:solidFill>
                  <a:schemeClr val="bg1"/>
                </a:solidFill>
              </a:rPr>
              <a:t> </a:t>
            </a:r>
            <a:r>
              <a:rPr lang="en-US" sz="2000" b="1" dirty="0"/>
              <a:t>Together with the visual and kinesthetic analyzers, the vestibular apparatus contributes to maintaining both static and dynamic balance, as well as to spatial orientation of the individual.</a:t>
            </a:r>
          </a:p>
          <a:p>
            <a:pPr algn="l">
              <a:buNone/>
            </a:pPr>
            <a:endParaRPr lang="en-US" sz="2000" b="1" dirty="0"/>
          </a:p>
          <a:p>
            <a:pPr algn="l">
              <a:buNone/>
            </a:pPr>
            <a:r>
              <a:rPr lang="en-US" sz="2000" b="1" dirty="0"/>
              <a:t>Main functions:</a:t>
            </a:r>
            <a:endParaRPr lang="en-US" sz="2000" dirty="0"/>
          </a:p>
          <a:p>
            <a:pPr algn="l">
              <a:buFont typeface="Arial" panose="020B0604020202020204" pitchFamily="34" charset="0"/>
              <a:buChar char="•"/>
            </a:pPr>
            <a:r>
              <a:rPr lang="en-US" sz="2000" dirty="0"/>
              <a:t>Informing the central nervous system about the action of linear and angular acceleration forces;</a:t>
            </a:r>
          </a:p>
          <a:p>
            <a:pPr algn="l">
              <a:buFont typeface="Arial" panose="020B0604020202020204" pitchFamily="34" charset="0"/>
              <a:buChar char="•"/>
            </a:pPr>
            <a:r>
              <a:rPr lang="en-US" sz="2000" dirty="0"/>
              <a:t>Coordinating various complex body movements through continuous control of skeletal muscle tone.</a:t>
            </a:r>
          </a:p>
        </p:txBody>
      </p:sp>
      <p:pic>
        <p:nvPicPr>
          <p:cNvPr id="4" name="Picture 3">
            <a:extLst>
              <a:ext uri="{FF2B5EF4-FFF2-40B4-BE49-F238E27FC236}">
                <a16:creationId xmlns:a16="http://schemas.microsoft.com/office/drawing/2014/main" id="{37153335-89E7-6ACE-9DD3-2B22AB6ADE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10538" y="2286000"/>
            <a:ext cx="3981062" cy="3048000"/>
          </a:xfrm>
          <a:prstGeom prst="rect">
            <a:avLst/>
          </a:prstGeom>
        </p:spPr>
      </p:pic>
    </p:spTree>
    <p:extLst>
      <p:ext uri="{BB962C8B-B14F-4D97-AF65-F5344CB8AC3E}">
        <p14:creationId xmlns:p14="http://schemas.microsoft.com/office/powerpoint/2010/main" val="3635613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85800"/>
            <a:ext cx="7010400" cy="5257800"/>
          </a:xfrm>
        </p:spPr>
        <p:txBody>
          <a:bodyPr>
            <a:normAutofit lnSpcReduction="10000"/>
          </a:bodyPr>
          <a:lstStyle/>
          <a:p>
            <a:pPr marL="137160" indent="0">
              <a:buNone/>
            </a:pPr>
            <a:r>
              <a:rPr lang="en-US" dirty="0">
                <a:solidFill>
                  <a:schemeClr val="bg1"/>
                </a:solidFill>
              </a:rPr>
              <a:t>    </a:t>
            </a:r>
            <a:r>
              <a:rPr lang="en-US" b="1" dirty="0"/>
              <a:t>Any lesion of the vestibular labyrinth apparatus or of the nerve may cause hyperexcitability, </a:t>
            </a:r>
            <a:r>
              <a:rPr lang="en-US" b="1" dirty="0" err="1"/>
              <a:t>hypoexcitability</a:t>
            </a:r>
            <a:r>
              <a:rPr lang="en-US" b="1" dirty="0"/>
              <a:t>, or </a:t>
            </a:r>
            <a:r>
              <a:rPr lang="en-US" b="1" dirty="0" err="1"/>
              <a:t>inexcitability</a:t>
            </a:r>
            <a:r>
              <a:rPr lang="en-US" b="1" dirty="0"/>
              <a:t> and leads to the appearance of the following symptoms:</a:t>
            </a:r>
          </a:p>
          <a:p>
            <a:pPr marL="137160" indent="0">
              <a:buNone/>
            </a:pPr>
            <a:endParaRPr lang="en-US" dirty="0"/>
          </a:p>
          <a:p>
            <a:pPr>
              <a:buFont typeface="Arial" panose="020B0604020202020204" pitchFamily="34" charset="0"/>
              <a:buChar char="•"/>
            </a:pPr>
            <a:r>
              <a:rPr lang="en-US" dirty="0"/>
              <a:t>Vertigo</a:t>
            </a:r>
          </a:p>
          <a:p>
            <a:pPr>
              <a:buFont typeface="Arial" panose="020B0604020202020204" pitchFamily="34" charset="0"/>
              <a:buChar char="•"/>
            </a:pPr>
            <a:r>
              <a:rPr lang="en-US" dirty="0"/>
              <a:t>Nystagmus</a:t>
            </a:r>
          </a:p>
          <a:p>
            <a:pPr>
              <a:buFont typeface="Arial" panose="020B0604020202020204" pitchFamily="34" charset="0"/>
              <a:buChar char="•"/>
            </a:pPr>
            <a:r>
              <a:rPr lang="en-US" dirty="0"/>
              <a:t>Balance disorders</a:t>
            </a:r>
          </a:p>
          <a:p>
            <a:pPr>
              <a:buFont typeface="Arial" panose="020B0604020202020204" pitchFamily="34" charset="0"/>
              <a:buChar char="•"/>
            </a:pPr>
            <a:r>
              <a:rPr lang="en-US" dirty="0"/>
              <a:t>Locomotor disturbances</a:t>
            </a:r>
          </a:p>
          <a:p>
            <a:pPr>
              <a:buFont typeface="Arial" panose="020B0604020202020204" pitchFamily="34" charset="0"/>
              <a:buChar char="•"/>
            </a:pPr>
            <a:r>
              <a:rPr lang="en-US" dirty="0"/>
              <a:t>Segmental deviations of the upper limbs and the head</a:t>
            </a:r>
          </a:p>
        </p:txBody>
      </p:sp>
      <p:pic>
        <p:nvPicPr>
          <p:cNvPr id="4" name="Picture 3">
            <a:extLst>
              <a:ext uri="{FF2B5EF4-FFF2-40B4-BE49-F238E27FC236}">
                <a16:creationId xmlns:a16="http://schemas.microsoft.com/office/drawing/2014/main" id="{C39D0AC5-85DA-8187-8ED2-45C5585C01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4600" y="2819400"/>
            <a:ext cx="2647950" cy="2756275"/>
          </a:xfrm>
          <a:prstGeom prst="rect">
            <a:avLst/>
          </a:prstGeom>
        </p:spPr>
      </p:pic>
    </p:spTree>
    <p:extLst>
      <p:ext uri="{BB962C8B-B14F-4D97-AF65-F5344CB8AC3E}">
        <p14:creationId xmlns:p14="http://schemas.microsoft.com/office/powerpoint/2010/main" val="1084283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3">
                    <a:lumMod val="60000"/>
                    <a:lumOff val="40000"/>
                  </a:schemeClr>
                </a:solidFill>
              </a:rPr>
              <a:t>Vestibular tests</a:t>
            </a:r>
          </a:p>
        </p:txBody>
      </p:sp>
      <p:sp>
        <p:nvSpPr>
          <p:cNvPr id="3" name="Content Placeholder 2"/>
          <p:cNvSpPr>
            <a:spLocks noGrp="1"/>
          </p:cNvSpPr>
          <p:nvPr>
            <p:ph idx="1"/>
          </p:nvPr>
        </p:nvSpPr>
        <p:spPr>
          <a:xfrm>
            <a:off x="0" y="1219200"/>
            <a:ext cx="9144000" cy="5257800"/>
          </a:xfrm>
        </p:spPr>
        <p:txBody>
          <a:bodyPr>
            <a:normAutofit/>
          </a:bodyPr>
          <a:lstStyle/>
          <a:p>
            <a:r>
              <a:rPr lang="en-US" sz="3600" dirty="0"/>
              <a:t>               </a:t>
            </a:r>
            <a:endParaRPr lang="en-US" sz="4000" dirty="0">
              <a:solidFill>
                <a:schemeClr val="accent3">
                  <a:lumMod val="40000"/>
                  <a:lumOff val="60000"/>
                </a:schemeClr>
              </a:solidFill>
            </a:endParaRPr>
          </a:p>
          <a:p>
            <a:pPr>
              <a:buNone/>
            </a:pPr>
            <a:r>
              <a:rPr lang="en-US" b="1" dirty="0"/>
              <a:t>Spontaneous tests (without labyrinth stimulation):</a:t>
            </a:r>
            <a:endParaRPr lang="en-US" dirty="0"/>
          </a:p>
          <a:p>
            <a:pPr>
              <a:buFont typeface="Arial" panose="020B0604020202020204" pitchFamily="34" charset="0"/>
              <a:buChar char="•"/>
            </a:pPr>
            <a:r>
              <a:rPr lang="en-US" dirty="0"/>
              <a:t>Outstretched arms test</a:t>
            </a:r>
          </a:p>
          <a:p>
            <a:pPr>
              <a:buFont typeface="Arial" panose="020B0604020202020204" pitchFamily="34" charset="0"/>
              <a:buChar char="•"/>
            </a:pPr>
            <a:r>
              <a:rPr lang="en-US" dirty="0"/>
              <a:t>Pointing test</a:t>
            </a:r>
          </a:p>
          <a:p>
            <a:pPr>
              <a:buFont typeface="Arial" panose="020B0604020202020204" pitchFamily="34" charset="0"/>
              <a:buChar char="•"/>
            </a:pPr>
            <a:r>
              <a:rPr lang="en-US" dirty="0"/>
              <a:t>Romberg test</a:t>
            </a:r>
          </a:p>
          <a:p>
            <a:pPr>
              <a:buFont typeface="Arial" panose="020B0604020202020204" pitchFamily="34" charset="0"/>
              <a:buChar char="•"/>
            </a:pPr>
            <a:r>
              <a:rPr lang="en-US" dirty="0"/>
              <a:t>Babinski–Weill test</a:t>
            </a:r>
          </a:p>
          <a:p>
            <a:pPr>
              <a:buNone/>
            </a:pPr>
            <a:r>
              <a:rPr lang="en-US" b="1" dirty="0"/>
              <a:t>Provoked tests (stimulating the labyrinth):</a:t>
            </a:r>
            <a:endParaRPr lang="en-US" dirty="0"/>
          </a:p>
          <a:p>
            <a:pPr>
              <a:buFont typeface="Arial" panose="020B0604020202020204" pitchFamily="34" charset="0"/>
              <a:buChar char="•"/>
            </a:pPr>
            <a:r>
              <a:rPr lang="en-US" dirty="0"/>
              <a:t>Pneumatic test</a:t>
            </a:r>
          </a:p>
          <a:p>
            <a:pPr>
              <a:buFont typeface="Arial" panose="020B0604020202020204" pitchFamily="34" charset="0"/>
              <a:buChar char="•"/>
            </a:pPr>
            <a:r>
              <a:rPr lang="en-US" dirty="0"/>
              <a:t>Caloric test</a:t>
            </a:r>
          </a:p>
          <a:p>
            <a:pPr>
              <a:buFont typeface="Arial" panose="020B0604020202020204" pitchFamily="34" charset="0"/>
              <a:buChar char="•"/>
            </a:pPr>
            <a:r>
              <a:rPr lang="en-US" dirty="0"/>
              <a:t>Rotational test</a:t>
            </a:r>
          </a:p>
        </p:txBody>
      </p:sp>
    </p:spTree>
    <p:extLst>
      <p:ext uri="{BB962C8B-B14F-4D97-AF65-F5344CB8AC3E}">
        <p14:creationId xmlns:p14="http://schemas.microsoft.com/office/powerpoint/2010/main" val="1511012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Spontaneous tests</a:t>
            </a:r>
            <a:endParaRPr lang="en-US" dirty="0">
              <a:solidFill>
                <a:schemeClr val="accent3">
                  <a:lumMod val="60000"/>
                  <a:lumOff val="40000"/>
                </a:schemeClr>
              </a:solidFill>
            </a:endParaRPr>
          </a:p>
        </p:txBody>
      </p:sp>
      <p:sp>
        <p:nvSpPr>
          <p:cNvPr id="3" name="Content Placeholder 2"/>
          <p:cNvSpPr>
            <a:spLocks noGrp="1"/>
          </p:cNvSpPr>
          <p:nvPr>
            <p:ph idx="1"/>
          </p:nvPr>
        </p:nvSpPr>
        <p:spPr>
          <a:xfrm>
            <a:off x="32657" y="1295400"/>
            <a:ext cx="9144000" cy="6309360"/>
          </a:xfrm>
        </p:spPr>
        <p:txBody>
          <a:bodyPr/>
          <a:lstStyle/>
          <a:p>
            <a:pPr>
              <a:buNone/>
            </a:pPr>
            <a:r>
              <a:rPr lang="en-US" b="1" dirty="0"/>
              <a:t>Outstretched arms test:</a:t>
            </a:r>
            <a:br>
              <a:rPr lang="en-US" dirty="0"/>
            </a:br>
            <a:r>
              <a:rPr lang="en-US" dirty="0"/>
              <a:t>The patient extends their arms forward, parallel and horizontal, with both index fingers pointing at the examiner’s fingers, and keeps their eyes closed for 2 minutes. In the case of a lesion, the arms will deviate toward the hypofunctional (less excited) labyrinth.</a:t>
            </a:r>
          </a:p>
        </p:txBody>
      </p:sp>
      <p:pic>
        <p:nvPicPr>
          <p:cNvPr id="5" name="Picture 4">
            <a:extLst>
              <a:ext uri="{FF2B5EF4-FFF2-40B4-BE49-F238E27FC236}">
                <a16:creationId xmlns:a16="http://schemas.microsoft.com/office/drawing/2014/main" id="{6F3713DA-B0D1-7A5B-2A64-7B5AA8BBF6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3915" y="4147537"/>
            <a:ext cx="3876170" cy="2460406"/>
          </a:xfrm>
          <a:prstGeom prst="rect">
            <a:avLst/>
          </a:prstGeom>
        </p:spPr>
      </p:pic>
    </p:spTree>
    <p:extLst>
      <p:ext uri="{BB962C8B-B14F-4D97-AF65-F5344CB8AC3E}">
        <p14:creationId xmlns:p14="http://schemas.microsoft.com/office/powerpoint/2010/main" val="1762266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D0076D-A8AF-0E20-3A12-87F6EEBA8CB8}"/>
              </a:ext>
            </a:extLst>
          </p:cNvPr>
          <p:cNvSpPr>
            <a:spLocks noGrp="1"/>
          </p:cNvSpPr>
          <p:nvPr>
            <p:ph idx="1"/>
          </p:nvPr>
        </p:nvSpPr>
        <p:spPr>
          <a:xfrm>
            <a:off x="457200" y="635556"/>
            <a:ext cx="8229600" cy="4709160"/>
          </a:xfrm>
        </p:spPr>
        <p:txBody>
          <a:bodyPr/>
          <a:lstStyle/>
          <a:p>
            <a:r>
              <a:rPr lang="en-US" b="1" dirty="0"/>
              <a:t>Pointing test:</a:t>
            </a:r>
            <a:br>
              <a:rPr lang="en-US" dirty="0"/>
            </a:br>
            <a:r>
              <a:rPr lang="en-US" dirty="0"/>
              <a:t>The patient keeps the arm extended and moves it in a vertical plane (for detecting horizontal deviations) or in a horizontal plane (for vertical deviations). In case of imbalance, the hand will deviate laterally or upward depending on the movement plane.</a:t>
            </a:r>
          </a:p>
          <a:p>
            <a:endParaRPr lang="ro-RO" dirty="0"/>
          </a:p>
        </p:txBody>
      </p:sp>
      <p:pic>
        <p:nvPicPr>
          <p:cNvPr id="5" name="Picture 4">
            <a:extLst>
              <a:ext uri="{FF2B5EF4-FFF2-40B4-BE49-F238E27FC236}">
                <a16:creationId xmlns:a16="http://schemas.microsoft.com/office/drawing/2014/main" id="{0166CEAF-CB7F-3A0C-1D16-306E26C7F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4550" y="3886200"/>
            <a:ext cx="4914900" cy="2764632"/>
          </a:xfrm>
          <a:prstGeom prst="rect">
            <a:avLst/>
          </a:prstGeom>
        </p:spPr>
      </p:pic>
    </p:spTree>
    <p:extLst>
      <p:ext uri="{BB962C8B-B14F-4D97-AF65-F5344CB8AC3E}">
        <p14:creationId xmlns:p14="http://schemas.microsoft.com/office/powerpoint/2010/main" val="1322207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413" y="228600"/>
            <a:ext cx="9144000" cy="5486400"/>
          </a:xfrm>
        </p:spPr>
        <p:txBody>
          <a:bodyPr>
            <a:normAutofit/>
          </a:bodyPr>
          <a:lstStyle/>
          <a:p>
            <a:r>
              <a:rPr lang="en-US" b="1" dirty="0"/>
              <a:t>Romberg test:</a:t>
            </a:r>
            <a:br>
              <a:rPr lang="en-US" dirty="0"/>
            </a:br>
            <a:r>
              <a:rPr lang="en-US" dirty="0"/>
              <a:t>The patient stands upright with feet together, eyes closed, and arms alongside the body for 2 minutes.</a:t>
            </a:r>
            <a:br>
              <a:rPr lang="en-US" dirty="0"/>
            </a:br>
            <a:r>
              <a:rPr lang="en-US" dirty="0"/>
              <a:t>In the case of a labyrinthine lesion, the patient will sway with a tendency to fall—or may actually fall—toward the side of the hypofunctional (less responsive) labyrinth.</a:t>
            </a:r>
          </a:p>
        </p:txBody>
      </p:sp>
      <p:pic>
        <p:nvPicPr>
          <p:cNvPr id="5" name="Picture 4">
            <a:extLst>
              <a:ext uri="{FF2B5EF4-FFF2-40B4-BE49-F238E27FC236}">
                <a16:creationId xmlns:a16="http://schemas.microsoft.com/office/drawing/2014/main" id="{06A32EDE-DCD6-F088-03AD-04A3FB34F1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0" y="3276600"/>
            <a:ext cx="3937724" cy="3473072"/>
          </a:xfrm>
          <a:prstGeom prst="rect">
            <a:avLst/>
          </a:prstGeom>
        </p:spPr>
      </p:pic>
    </p:spTree>
    <p:extLst>
      <p:ext uri="{BB962C8B-B14F-4D97-AF65-F5344CB8AC3E}">
        <p14:creationId xmlns:p14="http://schemas.microsoft.com/office/powerpoint/2010/main" val="2456718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50A0CA-322D-8593-48D4-6E0E9E3A0171}"/>
              </a:ext>
            </a:extLst>
          </p:cNvPr>
          <p:cNvSpPr>
            <a:spLocks noGrp="1"/>
          </p:cNvSpPr>
          <p:nvPr>
            <p:ph idx="1"/>
          </p:nvPr>
        </p:nvSpPr>
        <p:spPr>
          <a:xfrm>
            <a:off x="-152400" y="152400"/>
            <a:ext cx="9296400" cy="4709160"/>
          </a:xfrm>
        </p:spPr>
        <p:txBody>
          <a:bodyPr>
            <a:normAutofit/>
          </a:bodyPr>
          <a:lstStyle/>
          <a:p>
            <a:r>
              <a:rPr lang="en-US" sz="2400" b="1" dirty="0"/>
              <a:t>Babinski–Weill test (or star-walking test):</a:t>
            </a:r>
          </a:p>
          <a:p>
            <a:br>
              <a:rPr lang="en-US" sz="2400" dirty="0"/>
            </a:br>
            <a:r>
              <a:rPr lang="en-US" sz="2400" dirty="0"/>
              <a:t>The patient, with eyes closed, takes 5 steps forward and 5 steps backward, repeating the movement 5 times.</a:t>
            </a:r>
          </a:p>
          <a:p>
            <a:br>
              <a:rPr lang="en-US" sz="2400" dirty="0"/>
            </a:br>
            <a:r>
              <a:rPr lang="en-US" sz="2400" dirty="0"/>
              <a:t>During forward walking, the patient will deviate with each step toward the hypofunctional labyrinth, and during backward walking, toward the </a:t>
            </a:r>
            <a:r>
              <a:rPr lang="en-US" sz="2400" dirty="0" err="1"/>
              <a:t>hyperfunctional</a:t>
            </a:r>
            <a:r>
              <a:rPr lang="en-US" sz="2400" dirty="0"/>
              <a:t> one — resulting in a star-shaped walking pattern.</a:t>
            </a:r>
          </a:p>
          <a:p>
            <a:endParaRPr lang="ro-RO" dirty="0"/>
          </a:p>
        </p:txBody>
      </p:sp>
      <p:pic>
        <p:nvPicPr>
          <p:cNvPr id="5" name="Picture 4">
            <a:extLst>
              <a:ext uri="{FF2B5EF4-FFF2-40B4-BE49-F238E27FC236}">
                <a16:creationId xmlns:a16="http://schemas.microsoft.com/office/drawing/2014/main" id="{712E516D-753C-5756-4BE6-84514E059D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3639583"/>
            <a:ext cx="4343400" cy="2443954"/>
          </a:xfrm>
          <a:prstGeom prst="rect">
            <a:avLst/>
          </a:prstGeom>
        </p:spPr>
      </p:pic>
    </p:spTree>
    <p:extLst>
      <p:ext uri="{BB962C8B-B14F-4D97-AF65-F5344CB8AC3E}">
        <p14:creationId xmlns:p14="http://schemas.microsoft.com/office/powerpoint/2010/main" val="1758605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Provoked Vestibular Tests</a:t>
            </a:r>
            <a:endParaRPr lang="en-US" dirty="0">
              <a:solidFill>
                <a:schemeClr val="accent3">
                  <a:lumMod val="60000"/>
                  <a:lumOff val="40000"/>
                </a:schemeClr>
              </a:solidFill>
            </a:endParaRPr>
          </a:p>
        </p:txBody>
      </p:sp>
      <p:sp>
        <p:nvSpPr>
          <p:cNvPr id="3" name="Content Placeholder 2"/>
          <p:cNvSpPr>
            <a:spLocks noGrp="1"/>
          </p:cNvSpPr>
          <p:nvPr>
            <p:ph idx="1"/>
          </p:nvPr>
        </p:nvSpPr>
        <p:spPr>
          <a:xfrm>
            <a:off x="0" y="1096962"/>
            <a:ext cx="9144000" cy="5486400"/>
          </a:xfrm>
        </p:spPr>
        <p:txBody>
          <a:bodyPr>
            <a:normAutofit/>
          </a:bodyPr>
          <a:lstStyle/>
          <a:p>
            <a:pPr>
              <a:buNone/>
            </a:pPr>
            <a:r>
              <a:rPr lang="en-US" sz="2000" b="1" dirty="0"/>
              <a:t>Pneumatic test:</a:t>
            </a:r>
            <a:br>
              <a:rPr lang="en-US" sz="2000" dirty="0"/>
            </a:br>
            <a:r>
              <a:rPr lang="en-US" sz="2000" dirty="0"/>
              <a:t>Using a Siegle speculum or a Politzer bulb, a jet of air is insufflated onto the tympanic membrane, or air is aspirated from the external auditory canal.</a:t>
            </a:r>
            <a:br>
              <a:rPr lang="en-US" sz="2000" dirty="0"/>
            </a:br>
            <a:r>
              <a:rPr lang="en-US" sz="2000" dirty="0"/>
              <a:t>The purpose is to check for the appearance of nystagmus (normally, this test should not produce any pathological reaction).</a:t>
            </a:r>
          </a:p>
        </p:txBody>
      </p:sp>
      <p:pic>
        <p:nvPicPr>
          <p:cNvPr id="5" name="Picture 4">
            <a:extLst>
              <a:ext uri="{FF2B5EF4-FFF2-40B4-BE49-F238E27FC236}">
                <a16:creationId xmlns:a16="http://schemas.microsoft.com/office/drawing/2014/main" id="{28392098-A087-471B-14DC-1A72EDB10F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9400" y="3733800"/>
            <a:ext cx="3901439" cy="2438400"/>
          </a:xfrm>
          <a:prstGeom prst="rect">
            <a:avLst/>
          </a:prstGeom>
        </p:spPr>
      </p:pic>
    </p:spTree>
    <p:extLst>
      <p:ext uri="{BB962C8B-B14F-4D97-AF65-F5344CB8AC3E}">
        <p14:creationId xmlns:p14="http://schemas.microsoft.com/office/powerpoint/2010/main" val="2599547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8F1B7-78D3-8FD5-99D1-2043B99EF536}"/>
              </a:ext>
            </a:extLst>
          </p:cNvPr>
          <p:cNvSpPr>
            <a:spLocks noGrp="1"/>
          </p:cNvSpPr>
          <p:nvPr>
            <p:ph type="title"/>
          </p:nvPr>
        </p:nvSpPr>
        <p:spPr/>
        <p:txBody>
          <a:bodyPr/>
          <a:lstStyle/>
          <a:p>
            <a:r>
              <a:rPr lang="en-US" dirty="0"/>
              <a:t>*</a:t>
            </a:r>
            <a:endParaRPr lang="ro-RO" dirty="0"/>
          </a:p>
        </p:txBody>
      </p:sp>
      <p:sp>
        <p:nvSpPr>
          <p:cNvPr id="3" name="Content Placeholder 2">
            <a:extLst>
              <a:ext uri="{FF2B5EF4-FFF2-40B4-BE49-F238E27FC236}">
                <a16:creationId xmlns:a16="http://schemas.microsoft.com/office/drawing/2014/main" id="{48FD90F4-E22E-6C5A-F2F9-E0F0C1BEAAB5}"/>
              </a:ext>
            </a:extLst>
          </p:cNvPr>
          <p:cNvSpPr>
            <a:spLocks noGrp="1"/>
          </p:cNvSpPr>
          <p:nvPr>
            <p:ph idx="1"/>
          </p:nvPr>
        </p:nvSpPr>
        <p:spPr>
          <a:xfrm>
            <a:off x="457200" y="865188"/>
            <a:ext cx="8229600" cy="4709160"/>
          </a:xfrm>
        </p:spPr>
        <p:txBody>
          <a:bodyPr/>
          <a:lstStyle/>
          <a:p>
            <a:r>
              <a:rPr lang="en-US" b="1" dirty="0"/>
              <a:t>Caloric test:</a:t>
            </a:r>
            <a:br>
              <a:rPr lang="en-US" dirty="0"/>
            </a:br>
            <a:r>
              <a:rPr lang="en-US" dirty="0"/>
              <a:t>Using a Guillon syringe, the ear is irrigated with 100 ml of cold or warm water.</a:t>
            </a:r>
          </a:p>
          <a:p>
            <a:endParaRPr lang="ro-RO" dirty="0"/>
          </a:p>
        </p:txBody>
      </p:sp>
      <p:pic>
        <p:nvPicPr>
          <p:cNvPr id="5" name="Picture 4">
            <a:extLst>
              <a:ext uri="{FF2B5EF4-FFF2-40B4-BE49-F238E27FC236}">
                <a16:creationId xmlns:a16="http://schemas.microsoft.com/office/drawing/2014/main" id="{AF34AFA6-53DF-A785-8610-218C4DF215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2891" y="2498724"/>
            <a:ext cx="4518217" cy="3494088"/>
          </a:xfrm>
          <a:prstGeom prst="rect">
            <a:avLst/>
          </a:prstGeom>
        </p:spPr>
      </p:pic>
    </p:spTree>
    <p:extLst>
      <p:ext uri="{BB962C8B-B14F-4D97-AF65-F5344CB8AC3E}">
        <p14:creationId xmlns:p14="http://schemas.microsoft.com/office/powerpoint/2010/main" val="1509755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74420"/>
            <a:ext cx="5181600" cy="4709160"/>
          </a:xfrm>
        </p:spPr>
        <p:txBody>
          <a:bodyPr/>
          <a:lstStyle/>
          <a:p>
            <a:r>
              <a:rPr lang="en-US" b="1" dirty="0"/>
              <a:t>Rotational test:</a:t>
            </a:r>
            <a:br>
              <a:rPr lang="en-US" dirty="0"/>
            </a:br>
            <a:r>
              <a:rPr lang="en-US" dirty="0"/>
              <a:t>The patient is seated on a chair with the head flexed at 30 degrees to bring the horizontal semicircular canals into a horizontal plane. Then, 10 rotations are performed within 20 seconds, after which the chair is suddenly stopped.</a:t>
            </a:r>
            <a:endParaRPr lang="en-US" dirty="0">
              <a:solidFill>
                <a:schemeClr val="bg1"/>
              </a:solidFill>
            </a:endParaRPr>
          </a:p>
        </p:txBody>
      </p:sp>
      <p:pic>
        <p:nvPicPr>
          <p:cNvPr id="1026" name="Picture 2" descr="C:\Users\Fram\Downloads\orl\pacienti_5_2_clip_image0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800" y="1426028"/>
            <a:ext cx="2971800" cy="4441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3484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5" y="609600"/>
            <a:ext cx="9067800" cy="4937760"/>
          </a:xfrm>
        </p:spPr>
        <p:txBody>
          <a:bodyPr/>
          <a:lstStyle/>
          <a:p>
            <a:r>
              <a:rPr lang="ro-RO" dirty="0"/>
              <a:t>Special Rotational Tests </a:t>
            </a:r>
            <a:r>
              <a:rPr lang="en-US" dirty="0">
                <a:solidFill>
                  <a:schemeClr val="bg1"/>
                </a:solidFill>
              </a:rPr>
              <a:t>:</a:t>
            </a:r>
          </a:p>
          <a:p>
            <a:endParaRPr lang="en-US" dirty="0">
              <a:solidFill>
                <a:schemeClr val="bg1"/>
              </a:solidFill>
            </a:endParaRPr>
          </a:p>
          <a:p>
            <a:r>
              <a:rPr lang="en-US" b="1" dirty="0"/>
              <a:t>Electronystagmography (ENG)</a:t>
            </a:r>
            <a:r>
              <a:rPr lang="en-US" dirty="0"/>
              <a:t> is one of the fundamental methods used in most vestibular examinations. It involves the graphic recording of nystagmus during lateral deviation of the eye.</a:t>
            </a:r>
            <a:br>
              <a:rPr lang="en-US" dirty="0"/>
            </a:br>
            <a:r>
              <a:rPr lang="en-US" dirty="0"/>
              <a:t>Eye movement is recorded using an electrode attached directly to the patient’s skin.</a:t>
            </a:r>
          </a:p>
          <a:p>
            <a:endParaRPr lang="en-US" dirty="0">
              <a:solidFill>
                <a:schemeClr val="bg1"/>
              </a:solidFill>
            </a:endParaRPr>
          </a:p>
        </p:txBody>
      </p:sp>
    </p:spTree>
    <p:extLst>
      <p:ext uri="{BB962C8B-B14F-4D97-AF65-F5344CB8AC3E}">
        <p14:creationId xmlns:p14="http://schemas.microsoft.com/office/powerpoint/2010/main" val="3911608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4709160"/>
          </a:xfrm>
        </p:spPr>
        <p:txBody>
          <a:bodyPr>
            <a:normAutofit fontScale="92500" lnSpcReduction="20000"/>
          </a:bodyPr>
          <a:lstStyle/>
          <a:p>
            <a:r>
              <a:rPr lang="en-US" b="1" dirty="0" err="1"/>
              <a:t>Videonystagmography</a:t>
            </a:r>
            <a:r>
              <a:rPr lang="en-US" b="1" dirty="0"/>
              <a:t> (VNG):</a:t>
            </a:r>
          </a:p>
          <a:p>
            <a:pPr marL="137160" indent="0">
              <a:buNone/>
            </a:pPr>
            <a:br>
              <a:rPr lang="en-US" dirty="0"/>
            </a:br>
            <a:r>
              <a:rPr lang="en-US" dirty="0"/>
              <a:t>This is performed using special goggles equipped with a miniature video system and an infrared light source.</a:t>
            </a:r>
          </a:p>
          <a:p>
            <a:pPr marL="137160" indent="0">
              <a:buNone/>
            </a:pPr>
            <a:endParaRPr lang="en-US" dirty="0"/>
          </a:p>
          <a:p>
            <a:pPr marL="137160" indent="0">
              <a:buNone/>
            </a:pPr>
            <a:r>
              <a:rPr lang="en-US" dirty="0"/>
              <a:t> The goggles record the horizontal, vertical, and rotational movements of the eyes and the patient's head during examination.</a:t>
            </a:r>
          </a:p>
          <a:p>
            <a:pPr marL="137160" indent="0">
              <a:buNone/>
            </a:pPr>
            <a:br>
              <a:rPr lang="en-US" dirty="0"/>
            </a:br>
            <a:r>
              <a:rPr lang="en-US" dirty="0"/>
              <a:t>Because it does not require electrodes, this method is indispensable in cases where nystagmus cannot be detected using electronystagmography.</a:t>
            </a:r>
          </a:p>
        </p:txBody>
      </p:sp>
    </p:spTree>
    <p:extLst>
      <p:ext uri="{BB962C8B-B14F-4D97-AF65-F5344CB8AC3E}">
        <p14:creationId xmlns:p14="http://schemas.microsoft.com/office/powerpoint/2010/main" val="3440207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1600200"/>
            <a:ext cx="6858594" cy="2286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4038600"/>
            <a:ext cx="29718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9673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447800"/>
            <a:ext cx="9144000" cy="5410200"/>
          </a:xfrm>
        </p:spPr>
        <p:txBody>
          <a:bodyPr>
            <a:normAutofit/>
          </a:bodyPr>
          <a:lstStyle/>
          <a:p>
            <a:pPr>
              <a:buNone/>
            </a:pPr>
            <a:r>
              <a:rPr lang="en-US" sz="2000" b="1" dirty="0" err="1"/>
              <a:t>Posturography</a:t>
            </a:r>
            <a:r>
              <a:rPr lang="en-US" sz="2000" b="1" dirty="0"/>
              <a:t> (</a:t>
            </a:r>
            <a:r>
              <a:rPr lang="en-US" sz="2000" b="1" dirty="0" err="1"/>
              <a:t>Stabilography</a:t>
            </a:r>
            <a:r>
              <a:rPr lang="en-US" sz="2000" b="1" dirty="0"/>
              <a:t>):</a:t>
            </a:r>
            <a:br>
              <a:rPr lang="en-US" sz="2000" dirty="0"/>
            </a:br>
            <a:r>
              <a:rPr lang="en-US" sz="2000" dirty="0"/>
              <a:t>This method is used to assess the condition of a patient's vestibular reflexes.</a:t>
            </a:r>
          </a:p>
          <a:p>
            <a:pPr>
              <a:buNone/>
            </a:pPr>
            <a:endParaRPr lang="en-US" sz="2000" dirty="0"/>
          </a:p>
          <a:p>
            <a:r>
              <a:rPr lang="en-US" sz="2000" dirty="0"/>
              <a:t>The examination is performed on a movable platform according to a preset program (dynamic computerized </a:t>
            </a:r>
            <a:r>
              <a:rPr lang="en-US" sz="2000" dirty="0" err="1"/>
              <a:t>posturography</a:t>
            </a:r>
            <a:r>
              <a:rPr lang="en-US" sz="2000" dirty="0"/>
              <a:t>). Through redistribution of muscle tone, the patient attempts to maintain balance.</a:t>
            </a:r>
            <a:br>
              <a:rPr lang="en-US" sz="2000" dirty="0"/>
            </a:br>
            <a:r>
              <a:rPr lang="en-US" sz="2000" dirty="0"/>
              <a:t>The tests have varying degrees of difficulty.</a:t>
            </a:r>
          </a:p>
          <a:p>
            <a:endParaRPr lang="en-US" sz="2000" dirty="0"/>
          </a:p>
          <a:p>
            <a:br>
              <a:rPr lang="en-US" sz="2000" dirty="0"/>
            </a:br>
            <a:r>
              <a:rPr lang="en-US" sz="2000" dirty="0"/>
              <a:t>This method enables the evaluation of the integration of the visual, vestibular, and muscular systems with the aim of maintaining balance and conducting patient rehabilitation through special programs tailored to individual characteristics, personality, and the severity of the condition.</a:t>
            </a:r>
          </a:p>
        </p:txBody>
      </p:sp>
    </p:spTree>
    <p:extLst>
      <p:ext uri="{BB962C8B-B14F-4D97-AF65-F5344CB8AC3E}">
        <p14:creationId xmlns:p14="http://schemas.microsoft.com/office/powerpoint/2010/main" val="4269282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28600"/>
            <a:ext cx="6781800"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57980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690</TotalTime>
  <Words>730</Words>
  <Application>Microsoft Office PowerPoint</Application>
  <PresentationFormat>On-screen Show (4:3)</PresentationFormat>
  <Paragraphs>50</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Book Antiqua</vt:lpstr>
      <vt:lpstr>Lucida Sans</vt:lpstr>
      <vt:lpstr>Wingdings</vt:lpstr>
      <vt:lpstr>Wingdings 2</vt:lpstr>
      <vt:lpstr>Wingdings 3</vt:lpstr>
      <vt:lpstr>Theme1</vt:lpstr>
      <vt:lpstr>Vestibular tests</vt:lpstr>
      <vt:lpstr>PowerPoint Presentation</vt:lpstr>
      <vt:lpstr>The Vestibular Apparatus</vt:lpstr>
      <vt:lpstr>PowerPoint Presentation</vt:lpstr>
      <vt:lpstr>Vestibular tests</vt:lpstr>
      <vt:lpstr>Spontaneous tests</vt:lpstr>
      <vt:lpstr>PowerPoint Presentation</vt:lpstr>
      <vt:lpstr>PowerPoint Presentation</vt:lpstr>
      <vt:lpstr>PowerPoint Presentation</vt:lpstr>
      <vt:lpstr>Provoked Vestibular Tests</vt:lpstr>
      <vt:lpstr>*</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Probele vestibulare</dc:title>
  <dc:creator>Fram</dc:creator>
  <cp:lastModifiedBy>Asus</cp:lastModifiedBy>
  <cp:revision>33</cp:revision>
  <dcterms:created xsi:type="dcterms:W3CDTF">2011-11-20T20:06:39Z</dcterms:created>
  <dcterms:modified xsi:type="dcterms:W3CDTF">2025-05-05T06:47:52Z</dcterms:modified>
</cp:coreProperties>
</file>