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</p:sldIdLst>
  <p:sldSz cy="6858000" cx="9144000"/>
  <p:notesSz cx="6858000" cy="9144000"/>
  <p:embeddedFontLst>
    <p:embeddedFont>
      <p:font typeface="Corbel"/>
      <p:regular r:id="rId96"/>
      <p:bold r:id="rId97"/>
      <p:italic r:id="rId98"/>
      <p:boldItalic r:id="rId99"/>
    </p:embeddedFont>
    <p:embeddedFont>
      <p:font typeface="Tahoma"/>
      <p:regular r:id="rId100"/>
      <p:bold r:id="rId10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02" roundtripDataSignature="AMtx7miLM2cJXDYpuEpkCkUVfDoLo5ek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2" Type="http://customschemas.google.com/relationships/presentationmetadata" Target="metadata"/><Relationship Id="rId101" Type="http://schemas.openxmlformats.org/officeDocument/2006/relationships/font" Target="fonts/Tahoma-bold.fntdata"/><Relationship Id="rId100" Type="http://schemas.openxmlformats.org/officeDocument/2006/relationships/font" Target="fonts/Tahoma-regular.fnt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font" Target="fonts/Corbel-bold.fntdata"/><Relationship Id="rId96" Type="http://schemas.openxmlformats.org/officeDocument/2006/relationships/font" Target="fonts/Corbel-regular.fntdata"/><Relationship Id="rId11" Type="http://schemas.openxmlformats.org/officeDocument/2006/relationships/slide" Target="slides/slide6.xml"/><Relationship Id="rId99" Type="http://schemas.openxmlformats.org/officeDocument/2006/relationships/font" Target="fonts/Corbel-boldItalic.fntdata"/><Relationship Id="rId10" Type="http://schemas.openxmlformats.org/officeDocument/2006/relationships/slide" Target="slides/slide5.xml"/><Relationship Id="rId98" Type="http://schemas.openxmlformats.org/officeDocument/2006/relationships/font" Target="fonts/Corbel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444" name="Google Shape;444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5" name="Google Shape;445;p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Extensive diphtheria results in massive LAD and edema of surrounding tissue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Difficult to palpate descrete lymph nodes</a:t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7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630" name="Google Shape;630;p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1" name="Google Shape;631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7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8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8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8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8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8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9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2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2"/>
          <p:cNvSpPr txBox="1"/>
          <p:nvPr>
            <p:ph idx="1" type="body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700"/>
              </a:spcBef>
              <a:spcAft>
                <a:spcPts val="0"/>
              </a:spcAft>
              <a:buSzPts val="1710"/>
              <a:buChar char="▪"/>
              <a:defRPr/>
            </a:lvl1pPr>
            <a:lvl2pPr indent="-331469" lvl="1" marL="914400" algn="l">
              <a:spcBef>
                <a:spcPts val="360"/>
              </a:spcBef>
              <a:spcAft>
                <a:spcPts val="0"/>
              </a:spcAft>
              <a:buSzPts val="1620"/>
              <a:buChar char="🢭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27" name="Google Shape;27;p92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2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2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3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  <a:defRPr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3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3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3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 type="objOnly">
  <p:cSld name="OBJECT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4"/>
          <p:cNvSpPr txBox="1"/>
          <p:nvPr>
            <p:ph idx="1" type="body"/>
          </p:nvPr>
        </p:nvSpPr>
        <p:spPr>
          <a:xfrm>
            <a:off x="457200" y="274638"/>
            <a:ext cx="8229600" cy="5859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700"/>
              </a:spcBef>
              <a:spcAft>
                <a:spcPts val="0"/>
              </a:spcAft>
              <a:buSzPts val="1710"/>
              <a:buChar char="▪"/>
              <a:defRPr/>
            </a:lvl1pPr>
            <a:lvl2pPr indent="-331469" lvl="1" marL="914400" algn="l">
              <a:spcBef>
                <a:spcPts val="360"/>
              </a:spcBef>
              <a:spcAft>
                <a:spcPts val="0"/>
              </a:spcAft>
              <a:buSzPts val="1620"/>
              <a:buChar char="🢭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7" name="Google Shape;37;p94"/>
          <p:cNvSpPr txBox="1"/>
          <p:nvPr>
            <p:ph idx="12" type="sldNum"/>
          </p:nvPr>
        </p:nvSpPr>
        <p:spPr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38" name="Google Shape;38;p94"/>
          <p:cNvSpPr txBox="1"/>
          <p:nvPr>
            <p:ph idx="10" type="dt"/>
          </p:nvPr>
        </p:nvSpPr>
        <p:spPr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4"/>
          <p:cNvSpPr txBox="1"/>
          <p:nvPr>
            <p:ph idx="11" type="ftr"/>
          </p:nvPr>
        </p:nvSpPr>
        <p:spPr>
          <a:xfrm>
            <a:off x="3124200" y="624363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5"/>
          <p:cNvSpPr txBox="1"/>
          <p:nvPr>
            <p:ph type="title"/>
          </p:nvPr>
        </p:nvSpPr>
        <p:spPr>
          <a:xfrm>
            <a:off x="457200" y="512064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5"/>
          <p:cNvSpPr txBox="1"/>
          <p:nvPr>
            <p:ph idx="1" type="body"/>
          </p:nvPr>
        </p:nvSpPr>
        <p:spPr>
          <a:xfrm>
            <a:off x="464344" y="17705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7510" lvl="0" marL="457200" algn="l">
              <a:spcBef>
                <a:spcPts val="700"/>
              </a:spcBef>
              <a:spcAft>
                <a:spcPts val="0"/>
              </a:spcAft>
              <a:buSzPts val="2660"/>
              <a:buChar char="▪"/>
              <a:defRPr sz="2800"/>
            </a:lvl1pPr>
            <a:lvl2pPr indent="-365760" lvl="1" marL="914400" algn="l">
              <a:spcBef>
                <a:spcPts val="480"/>
              </a:spcBef>
              <a:spcAft>
                <a:spcPts val="0"/>
              </a:spcAft>
              <a:buSzPts val="2160"/>
              <a:buChar char="🢭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3" name="Google Shape;43;p95"/>
          <p:cNvSpPr txBox="1"/>
          <p:nvPr>
            <p:ph idx="2" type="body"/>
          </p:nvPr>
        </p:nvSpPr>
        <p:spPr>
          <a:xfrm>
            <a:off x="4655344" y="17705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7510" lvl="0" marL="457200" algn="l">
              <a:spcBef>
                <a:spcPts val="700"/>
              </a:spcBef>
              <a:spcAft>
                <a:spcPts val="0"/>
              </a:spcAft>
              <a:buSzPts val="2660"/>
              <a:buChar char="▪"/>
              <a:defRPr sz="2800"/>
            </a:lvl1pPr>
            <a:lvl2pPr indent="-365760" lvl="1" marL="914400" algn="l">
              <a:spcBef>
                <a:spcPts val="480"/>
              </a:spcBef>
              <a:spcAft>
                <a:spcPts val="0"/>
              </a:spcAft>
              <a:buSzPts val="2160"/>
              <a:buChar char="🢭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4" name="Google Shape;44;p95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95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95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, and 2 Content" type="objAndTwoObj">
  <p:cSld name="OBJECT_AND_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6"/>
          <p:cNvSpPr txBox="1"/>
          <p:nvPr>
            <p:ph idx="1" type="body"/>
          </p:nvPr>
        </p:nvSpPr>
        <p:spPr>
          <a:xfrm>
            <a:off x="457200" y="1600200"/>
            <a:ext cx="4038600" cy="45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700"/>
              </a:spcBef>
              <a:spcAft>
                <a:spcPts val="0"/>
              </a:spcAft>
              <a:buSzPts val="1710"/>
              <a:buChar char="▪"/>
              <a:defRPr/>
            </a:lvl1pPr>
            <a:lvl2pPr indent="-331469" lvl="1" marL="914400" algn="l">
              <a:spcBef>
                <a:spcPts val="360"/>
              </a:spcBef>
              <a:spcAft>
                <a:spcPts val="0"/>
              </a:spcAft>
              <a:buSzPts val="1620"/>
              <a:buChar char="🢭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0" name="Google Shape;50;p96"/>
          <p:cNvSpPr txBox="1"/>
          <p:nvPr>
            <p:ph idx="2" type="body"/>
          </p:nvPr>
        </p:nvSpPr>
        <p:spPr>
          <a:xfrm>
            <a:off x="4648200" y="1600200"/>
            <a:ext cx="4038600" cy="2190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700"/>
              </a:spcBef>
              <a:spcAft>
                <a:spcPts val="0"/>
              </a:spcAft>
              <a:buSzPts val="1710"/>
              <a:buChar char="▪"/>
              <a:defRPr/>
            </a:lvl1pPr>
            <a:lvl2pPr indent="-331469" lvl="1" marL="914400" algn="l">
              <a:spcBef>
                <a:spcPts val="360"/>
              </a:spcBef>
              <a:spcAft>
                <a:spcPts val="0"/>
              </a:spcAft>
              <a:buSzPts val="1620"/>
              <a:buChar char="🢭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1" name="Google Shape;51;p96"/>
          <p:cNvSpPr txBox="1"/>
          <p:nvPr>
            <p:ph idx="3" type="body"/>
          </p:nvPr>
        </p:nvSpPr>
        <p:spPr>
          <a:xfrm>
            <a:off x="4648200" y="3943350"/>
            <a:ext cx="4038600" cy="2190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700"/>
              </a:spcBef>
              <a:spcAft>
                <a:spcPts val="0"/>
              </a:spcAft>
              <a:buSzPts val="1710"/>
              <a:buChar char="▪"/>
              <a:defRPr/>
            </a:lvl1pPr>
            <a:lvl2pPr indent="-331469" lvl="1" marL="914400" algn="l">
              <a:spcBef>
                <a:spcPts val="360"/>
              </a:spcBef>
              <a:spcAft>
                <a:spcPts val="0"/>
              </a:spcAft>
              <a:buSzPts val="1620"/>
              <a:buChar char="🢭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2" name="Google Shape;52;p96"/>
          <p:cNvSpPr txBox="1"/>
          <p:nvPr>
            <p:ph idx="12" type="sldNum"/>
          </p:nvPr>
        </p:nvSpPr>
        <p:spPr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53" name="Google Shape;53;p96"/>
          <p:cNvSpPr txBox="1"/>
          <p:nvPr>
            <p:ph idx="10" type="dt"/>
          </p:nvPr>
        </p:nvSpPr>
        <p:spPr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96"/>
          <p:cNvSpPr txBox="1"/>
          <p:nvPr>
            <p:ph idx="11" type="ftr"/>
          </p:nvPr>
        </p:nvSpPr>
        <p:spPr>
          <a:xfrm>
            <a:off x="3124200" y="624363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7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7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7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8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8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8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63" name="Google Shape;63;p98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4" name="Google Shape;64;p9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5" name="Google Shape;65;p98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6" name="Google Shape;66;p98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7" name="Google Shape;67;p98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8" name="Google Shape;68;p98"/>
          <p:cNvSpPr txBox="1"/>
          <p:nvPr>
            <p:ph type="ctrTitle"/>
          </p:nvPr>
        </p:nvSpPr>
        <p:spPr>
          <a:xfrm>
            <a:off x="914400" y="4343400"/>
            <a:ext cx="7772400" cy="197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9144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8"/>
          <p:cNvSpPr txBox="1"/>
          <p:nvPr>
            <p:ph idx="1" type="subTitle"/>
          </p:nvPr>
        </p:nvSpPr>
        <p:spPr>
          <a:xfrm>
            <a:off x="914400" y="2834640"/>
            <a:ext cx="777240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10057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62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70" name="Google Shape;70;p98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1" name="Google Shape;71;p9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2" name="Google Shape;72;p98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3" name="Google Shape;73;p98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9"/>
          <p:cNvSpPr/>
          <p:nvPr/>
        </p:nvSpPr>
        <p:spPr>
          <a:xfrm>
            <a:off x="4828952" y="1073888"/>
            <a:ext cx="4322136" cy="5791200"/>
          </a:xfrm>
          <a:custGeom>
            <a:rect b="b" l="l" r="r" t="t"/>
            <a:pathLst>
              <a:path extrusionOk="0" h="3648" w="2736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cap="flat" cmpd="sng" w="9525">
            <a:solidFill>
              <a:schemeClr val="accent2">
                <a:alpha val="52941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6" name="Google Shape;76;p99"/>
          <p:cNvSpPr/>
          <p:nvPr/>
        </p:nvSpPr>
        <p:spPr>
          <a:xfrm>
            <a:off x="373966" y="0"/>
            <a:ext cx="5514536" cy="6615332"/>
          </a:xfrm>
          <a:custGeom>
            <a:rect b="b" l="l" r="r" t="t"/>
            <a:pathLst>
              <a:path extrusionOk="0" h="4128" w="3504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cap="flat" cmpd="sng" w="9525">
            <a:solidFill>
              <a:schemeClr val="accent2">
                <a:alpha val="52941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7" name="Google Shape;77;p99"/>
          <p:cNvSpPr/>
          <p:nvPr/>
        </p:nvSpPr>
        <p:spPr>
          <a:xfrm rot="5236414">
            <a:off x="4462128" y="1483600"/>
            <a:ext cx="4114800" cy="1188720"/>
          </a:xfrm>
          <a:custGeom>
            <a:rect b="b" l="l" r="r" t="t"/>
            <a:pathLst>
              <a:path extrusionOk="0" h="1344" w="3552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rgbClr val="566885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8" name="Google Shape;78;p99"/>
          <p:cNvSpPr/>
          <p:nvPr/>
        </p:nvSpPr>
        <p:spPr>
          <a:xfrm>
            <a:off x="5943600" y="0"/>
            <a:ext cx="2743200" cy="4267200"/>
          </a:xfrm>
          <a:custGeom>
            <a:rect b="b" l="l" r="r" t="t"/>
            <a:pathLst>
              <a:path extrusionOk="0" h="2688" w="172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9" name="Google Shape;79;p99"/>
          <p:cNvSpPr/>
          <p:nvPr/>
        </p:nvSpPr>
        <p:spPr>
          <a:xfrm>
            <a:off x="5943600" y="4267200"/>
            <a:ext cx="3200400" cy="1143000"/>
          </a:xfrm>
          <a:custGeom>
            <a:rect b="b" l="l" r="r" t="t"/>
            <a:pathLst>
              <a:path extrusionOk="0" h="720" w="2016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0" name="Google Shape;80;p99"/>
          <p:cNvSpPr/>
          <p:nvPr/>
        </p:nvSpPr>
        <p:spPr>
          <a:xfrm>
            <a:off x="5943600" y="0"/>
            <a:ext cx="1371600" cy="4267200"/>
          </a:xfrm>
          <a:custGeom>
            <a:rect b="b" l="l" r="r" t="t"/>
            <a:pathLst>
              <a:path extrusionOk="0" h="2688" w="864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1" name="Google Shape;81;p99"/>
          <p:cNvSpPr/>
          <p:nvPr/>
        </p:nvSpPr>
        <p:spPr>
          <a:xfrm>
            <a:off x="5948363" y="4246563"/>
            <a:ext cx="2090737" cy="2611437"/>
          </a:xfrm>
          <a:custGeom>
            <a:rect b="b" l="l" r="r" t="t"/>
            <a:pathLst>
              <a:path extrusionOk="0" h="1645" w="1317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2" name="Google Shape;82;p99"/>
          <p:cNvSpPr/>
          <p:nvPr/>
        </p:nvSpPr>
        <p:spPr>
          <a:xfrm>
            <a:off x="5943600" y="4267200"/>
            <a:ext cx="1600200" cy="2590800"/>
          </a:xfrm>
          <a:custGeom>
            <a:rect b="b" l="l" r="r" t="t"/>
            <a:pathLst>
              <a:path extrusionOk="0" h="1632" w="1008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3" name="Google Shape;83;p99"/>
          <p:cNvSpPr/>
          <p:nvPr/>
        </p:nvSpPr>
        <p:spPr>
          <a:xfrm>
            <a:off x="5943600" y="1371600"/>
            <a:ext cx="3200400" cy="2895600"/>
          </a:xfrm>
          <a:custGeom>
            <a:rect b="b" l="l" r="r" t="t"/>
            <a:pathLst>
              <a:path extrusionOk="0" h="1824" w="2016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4" name="Google Shape;84;p99"/>
          <p:cNvSpPr/>
          <p:nvPr/>
        </p:nvSpPr>
        <p:spPr>
          <a:xfrm>
            <a:off x="5943600" y="1752600"/>
            <a:ext cx="3200400" cy="2514600"/>
          </a:xfrm>
          <a:custGeom>
            <a:rect b="b" l="l" r="r" t="t"/>
            <a:pathLst>
              <a:path extrusionOk="0" h="1584" w="2016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5" name="Google Shape;85;p99"/>
          <p:cNvSpPr/>
          <p:nvPr/>
        </p:nvSpPr>
        <p:spPr>
          <a:xfrm>
            <a:off x="990600" y="4267200"/>
            <a:ext cx="4953000" cy="2590800"/>
          </a:xfrm>
          <a:custGeom>
            <a:rect b="b" l="l" r="r" t="t"/>
            <a:pathLst>
              <a:path extrusionOk="0" h="1632" w="3120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6" name="Google Shape;86;p99"/>
          <p:cNvSpPr/>
          <p:nvPr/>
        </p:nvSpPr>
        <p:spPr>
          <a:xfrm>
            <a:off x="533400" y="4267200"/>
            <a:ext cx="5334000" cy="2590800"/>
          </a:xfrm>
          <a:custGeom>
            <a:rect b="b" l="l" r="r" t="t"/>
            <a:pathLst>
              <a:path extrusionOk="0" h="1632" w="3360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7" name="Google Shape;87;p99"/>
          <p:cNvSpPr/>
          <p:nvPr/>
        </p:nvSpPr>
        <p:spPr>
          <a:xfrm>
            <a:off x="366824" y="2438400"/>
            <a:ext cx="5638800" cy="1828800"/>
          </a:xfrm>
          <a:custGeom>
            <a:rect b="b" l="l" r="r" t="t"/>
            <a:pathLst>
              <a:path extrusionOk="0" h="1152" w="35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8" name="Google Shape;88;p99"/>
          <p:cNvSpPr/>
          <p:nvPr/>
        </p:nvSpPr>
        <p:spPr>
          <a:xfrm>
            <a:off x="366824" y="2133600"/>
            <a:ext cx="5638800" cy="2133600"/>
          </a:xfrm>
          <a:custGeom>
            <a:rect b="b" l="l" r="r" t="t"/>
            <a:pathLst>
              <a:path extrusionOk="0" h="1344" w="3552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9" name="Google Shape;89;p99"/>
          <p:cNvSpPr/>
          <p:nvPr/>
        </p:nvSpPr>
        <p:spPr>
          <a:xfrm>
            <a:off x="4572000" y="4267200"/>
            <a:ext cx="1371600" cy="2590800"/>
          </a:xfrm>
          <a:custGeom>
            <a:rect b="b" l="l" r="r" t="t"/>
            <a:pathLst>
              <a:path extrusionOk="0" h="1632" w="864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rgbClr val="566885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0" name="Google Shape;90;p99"/>
          <p:cNvSpPr txBox="1"/>
          <p:nvPr>
            <p:ph idx="1" type="body"/>
          </p:nvPr>
        </p:nvSpPr>
        <p:spPr>
          <a:xfrm>
            <a:off x="706902" y="1351672"/>
            <a:ext cx="5718048" cy="977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2275" spcFirstLastPara="1" rIns="91425" wrap="square" tIns="45700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1" name="Google Shape;91;p99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99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99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94" name="Google Shape;94;p99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rgbClr val="566885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5" name="Google Shape;95;p99"/>
          <p:cNvSpPr txBox="1"/>
          <p:nvPr>
            <p:ph type="title"/>
          </p:nvPr>
        </p:nvSpPr>
        <p:spPr>
          <a:xfrm>
            <a:off x="706902" y="512064"/>
            <a:ext cx="815644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64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800"/>
              <a:buFont typeface="Consolas"/>
              <a:buNone/>
              <a:defRPr b="0" sz="38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99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7" name="Google Shape;97;p99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8" name="Google Shape;98;p9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9" name="Google Shape;99;p99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0" name="Google Shape;100;p99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0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rgbClr val="566885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3" name="Google Shape;103;p100"/>
          <p:cNvSpPr txBox="1"/>
          <p:nvPr>
            <p:ph type="title"/>
          </p:nvPr>
        </p:nvSpPr>
        <p:spPr>
          <a:xfrm>
            <a:off x="504824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00"/>
          <p:cNvSpPr txBox="1"/>
          <p:nvPr>
            <p:ph idx="1" type="body"/>
          </p:nvPr>
        </p:nvSpPr>
        <p:spPr>
          <a:xfrm>
            <a:off x="457200" y="1809750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2280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8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05" name="Google Shape;105;p100"/>
          <p:cNvSpPr txBox="1"/>
          <p:nvPr>
            <p:ph idx="2" type="body"/>
          </p:nvPr>
        </p:nvSpPr>
        <p:spPr>
          <a:xfrm>
            <a:off x="4645025" y="1809750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2280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8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06" name="Google Shape;106;p100"/>
          <p:cNvSpPr txBox="1"/>
          <p:nvPr>
            <p:ph idx="3" type="body"/>
          </p:nvPr>
        </p:nvSpPr>
        <p:spPr>
          <a:xfrm>
            <a:off x="457200" y="2459037"/>
            <a:ext cx="4040188" cy="3959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3380" lvl="0" marL="457200" algn="l">
              <a:spcBef>
                <a:spcPts val="700"/>
              </a:spcBef>
              <a:spcAft>
                <a:spcPts val="0"/>
              </a:spcAft>
              <a:buSzPts val="2280"/>
              <a:buChar char="▪"/>
              <a:defRPr sz="24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SzPts val="1800"/>
              <a:buChar char="🢭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🢝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07" name="Google Shape;107;p100"/>
          <p:cNvSpPr txBox="1"/>
          <p:nvPr>
            <p:ph idx="4" type="body"/>
          </p:nvPr>
        </p:nvSpPr>
        <p:spPr>
          <a:xfrm>
            <a:off x="4645025" y="2459037"/>
            <a:ext cx="4041775" cy="3959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3380" lvl="0" marL="457200" algn="l">
              <a:spcBef>
                <a:spcPts val="700"/>
              </a:spcBef>
              <a:spcAft>
                <a:spcPts val="0"/>
              </a:spcAft>
              <a:buSzPts val="2280"/>
              <a:buChar char="▪"/>
              <a:defRPr sz="24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SzPts val="1800"/>
              <a:buChar char="🢭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🢝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08" name="Google Shape;108;p100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00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00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11" name="Google Shape;111;p100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2" name="Google Shape;112;p100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3" name="Google Shape;113;p100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4" name="Google Shape;114;p100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5" name="Google Shape;115;p100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6" name="Google Shape;116;p10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7" name="Google Shape;117;p100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8" name="Google Shape;118;p100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9" name="Google Shape;119;p100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1"/>
          <p:cNvSpPr txBox="1"/>
          <p:nvPr>
            <p:ph type="title"/>
          </p:nvPr>
        </p:nvSpPr>
        <p:spPr>
          <a:xfrm>
            <a:off x="685800" y="273050"/>
            <a:ext cx="82296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nsolas"/>
              <a:buNone/>
              <a:defRPr b="0"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01"/>
          <p:cNvSpPr txBox="1"/>
          <p:nvPr>
            <p:ph idx="1" type="body"/>
          </p:nvPr>
        </p:nvSpPr>
        <p:spPr>
          <a:xfrm>
            <a:off x="685800" y="1435100"/>
            <a:ext cx="2514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710"/>
              <a:buNone/>
              <a:defRPr sz="18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08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23" name="Google Shape;123;p101"/>
          <p:cNvSpPr txBox="1"/>
          <p:nvPr>
            <p:ph idx="2" type="body"/>
          </p:nvPr>
        </p:nvSpPr>
        <p:spPr>
          <a:xfrm>
            <a:off x="3429000" y="1435100"/>
            <a:ext cx="5486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21640" lvl="0" marL="457200" algn="l">
              <a:spcBef>
                <a:spcPts val="700"/>
              </a:spcBef>
              <a:spcAft>
                <a:spcPts val="0"/>
              </a:spcAft>
              <a:buSzPts val="3040"/>
              <a:buChar char="▪"/>
              <a:defRPr sz="3200"/>
            </a:lvl1pPr>
            <a:lvl2pPr indent="-388619" lvl="1" marL="914400" algn="l">
              <a:spcBef>
                <a:spcPts val="560"/>
              </a:spcBef>
              <a:spcAft>
                <a:spcPts val="0"/>
              </a:spcAft>
              <a:buSzPts val="2520"/>
              <a:buChar char="🢭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🢝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24" name="Google Shape;124;p101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01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01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2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129" name="Google Shape;129;p102"/>
          <p:cNvCxnSpPr/>
          <p:nvPr/>
        </p:nvCxnSpPr>
        <p:spPr>
          <a:xfrm>
            <a:off x="363195" y="1885028"/>
            <a:ext cx="8782622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30" name="Google Shape;130;p102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31" name="Google Shape;131;p102"/>
            <p:cNvCxnSpPr/>
            <p:nvPr/>
          </p:nvCxnSpPr>
          <p:spPr>
            <a:xfrm rot="-5400000">
              <a:off x="6664064" y="1301769"/>
              <a:ext cx="88509" cy="80463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" name="Google Shape;132;p102"/>
            <p:cNvCxnSpPr/>
            <p:nvPr/>
          </p:nvCxnSpPr>
          <p:spPr>
            <a:xfrm flipH="1" rot="5400000">
              <a:off x="6685888" y="1391257"/>
              <a:ext cx="125755" cy="427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" name="Google Shape;133;p102"/>
            <p:cNvCxnSpPr/>
            <p:nvPr/>
          </p:nvCxnSpPr>
          <p:spPr>
            <a:xfrm flipH="1" rot="5400000">
              <a:off x="6744524" y="1300853"/>
              <a:ext cx="88509" cy="82296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4" name="Google Shape;134;p102"/>
          <p:cNvSpPr txBox="1"/>
          <p:nvPr>
            <p:ph type="title"/>
          </p:nvPr>
        </p:nvSpPr>
        <p:spPr>
          <a:xfrm>
            <a:off x="914400" y="441251"/>
            <a:ext cx="6858000" cy="7017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2100"/>
              <a:buFont typeface="Consolas"/>
              <a:buNone/>
              <a:defRPr b="0" sz="2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02"/>
          <p:cNvSpPr/>
          <p:nvPr>
            <p:ph idx="2" type="pic"/>
          </p:nvPr>
        </p:nvSpPr>
        <p:spPr>
          <a:xfrm>
            <a:off x="368032" y="1893781"/>
            <a:ext cx="8778240" cy="4960144"/>
          </a:xfrm>
          <a:prstGeom prst="rect">
            <a:avLst/>
          </a:prstGeom>
          <a:solidFill>
            <a:schemeClr val="dk2"/>
          </a:solidFill>
          <a:ln>
            <a:noFill/>
          </a:ln>
        </p:spPr>
      </p:sp>
      <p:sp>
        <p:nvSpPr>
          <p:cNvPr id="136" name="Google Shape;136;p102"/>
          <p:cNvSpPr txBox="1"/>
          <p:nvPr>
            <p:ph idx="1" type="body"/>
          </p:nvPr>
        </p:nvSpPr>
        <p:spPr>
          <a:xfrm>
            <a:off x="914400" y="1150144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330"/>
              <a:buNone/>
              <a:defRPr sz="1400">
                <a:solidFill>
                  <a:srgbClr val="FFFFFF"/>
                </a:solidFill>
              </a:defRPr>
            </a:lvl1pPr>
            <a:lvl2pPr indent="-297180" lvl="1" marL="914400" algn="l">
              <a:spcBef>
                <a:spcPts val="240"/>
              </a:spcBef>
              <a:spcAft>
                <a:spcPts val="0"/>
              </a:spcAft>
              <a:buSzPts val="1080"/>
              <a:buChar char="🢭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85750" lvl="3" marL="1828800" algn="l">
              <a:spcBef>
                <a:spcPts val="180"/>
              </a:spcBef>
              <a:spcAft>
                <a:spcPts val="0"/>
              </a:spcAft>
              <a:buSzPts val="900"/>
              <a:buChar char="🢝"/>
              <a:defRPr sz="900"/>
            </a:lvl4pPr>
            <a:lvl5pPr indent="-285750" lvl="4" marL="2286000" algn="l"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grpSp>
        <p:nvGrpSpPr>
          <p:cNvPr id="137" name="Google Shape;137;p102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38" name="Google Shape;138;p102"/>
            <p:cNvCxnSpPr/>
            <p:nvPr/>
          </p:nvCxnSpPr>
          <p:spPr>
            <a:xfrm rot="-5400000">
              <a:off x="6664064" y="1301769"/>
              <a:ext cx="88509" cy="80463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9" name="Google Shape;139;p102"/>
            <p:cNvCxnSpPr/>
            <p:nvPr/>
          </p:nvCxnSpPr>
          <p:spPr>
            <a:xfrm flipH="1" rot="5400000">
              <a:off x="6685888" y="1391257"/>
              <a:ext cx="125755" cy="427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0" name="Google Shape;140;p102"/>
            <p:cNvCxnSpPr/>
            <p:nvPr/>
          </p:nvCxnSpPr>
          <p:spPr>
            <a:xfrm flipH="1" rot="5400000">
              <a:off x="6744524" y="1300853"/>
              <a:ext cx="88509" cy="82296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41" name="Google Shape;141;p102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42" name="Google Shape;142;p102"/>
            <p:cNvCxnSpPr/>
            <p:nvPr/>
          </p:nvCxnSpPr>
          <p:spPr>
            <a:xfrm rot="-5400000">
              <a:off x="6664064" y="1301769"/>
              <a:ext cx="88509" cy="80463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3" name="Google Shape;143;p102"/>
            <p:cNvCxnSpPr/>
            <p:nvPr/>
          </p:nvCxnSpPr>
          <p:spPr>
            <a:xfrm flipH="1" rot="5400000">
              <a:off x="6685888" y="1391257"/>
              <a:ext cx="125755" cy="427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4" name="Google Shape;144;p102"/>
            <p:cNvCxnSpPr/>
            <p:nvPr/>
          </p:nvCxnSpPr>
          <p:spPr>
            <a:xfrm flipH="1" rot="5400000">
              <a:off x="6744524" y="1300853"/>
              <a:ext cx="88509" cy="82296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5" name="Google Shape;145;p102"/>
          <p:cNvSpPr txBox="1"/>
          <p:nvPr>
            <p:ph idx="10" type="dt"/>
          </p:nvPr>
        </p:nvSpPr>
        <p:spPr>
          <a:xfrm>
            <a:off x="6477000" y="5549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102"/>
          <p:cNvSpPr txBox="1"/>
          <p:nvPr>
            <p:ph idx="11" type="ftr"/>
          </p:nvPr>
        </p:nvSpPr>
        <p:spPr>
          <a:xfrm>
            <a:off x="914400" y="55499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02"/>
          <p:cNvSpPr txBox="1"/>
          <p:nvPr>
            <p:ph idx="12" type="sldNum"/>
          </p:nvPr>
        </p:nvSpPr>
        <p:spPr>
          <a:xfrm>
            <a:off x="8610600" y="55499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3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03"/>
          <p:cNvSpPr txBox="1"/>
          <p:nvPr>
            <p:ph idx="1" type="body"/>
          </p:nvPr>
        </p:nvSpPr>
        <p:spPr>
          <a:xfrm rot="5400000">
            <a:off x="2514600" y="183360"/>
            <a:ext cx="45720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700"/>
              </a:spcBef>
              <a:spcAft>
                <a:spcPts val="0"/>
              </a:spcAft>
              <a:buSzPts val="1710"/>
              <a:buChar char="▪"/>
              <a:defRPr/>
            </a:lvl1pPr>
            <a:lvl2pPr indent="-331469" lvl="1" marL="914400" algn="l">
              <a:spcBef>
                <a:spcPts val="360"/>
              </a:spcBef>
              <a:spcAft>
                <a:spcPts val="0"/>
              </a:spcAft>
              <a:buSzPts val="1620"/>
              <a:buChar char="🢭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51" name="Google Shape;151;p103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103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03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4"/>
          <p:cNvSpPr txBox="1"/>
          <p:nvPr>
            <p:ph type="title"/>
          </p:nvPr>
        </p:nvSpPr>
        <p:spPr>
          <a:xfrm rot="5400000">
            <a:off x="4694238" y="2209802"/>
            <a:ext cx="5851525" cy="19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104"/>
          <p:cNvSpPr txBox="1"/>
          <p:nvPr>
            <p:ph idx="1" type="body"/>
          </p:nvPr>
        </p:nvSpPr>
        <p:spPr>
          <a:xfrm rot="5400000">
            <a:off x="617538" y="266701"/>
            <a:ext cx="5851525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700"/>
              </a:spcBef>
              <a:spcAft>
                <a:spcPts val="0"/>
              </a:spcAft>
              <a:buSzPts val="1710"/>
              <a:buChar char="▪"/>
              <a:defRPr/>
            </a:lvl1pPr>
            <a:lvl2pPr indent="-331469" lvl="1" marL="914400" algn="l">
              <a:spcBef>
                <a:spcPts val="360"/>
              </a:spcBef>
              <a:spcAft>
                <a:spcPts val="0"/>
              </a:spcAft>
              <a:buSzPts val="1620"/>
              <a:buChar char="🢭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57" name="Google Shape;157;p104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04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04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1"/>
            </a:gs>
            <a:gs pos="65000">
              <a:schemeClr val="dk1"/>
            </a:gs>
            <a:gs pos="100000">
              <a:srgbClr val="5676AA"/>
            </a:gs>
          </a:gsLst>
          <a:lin ang="54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" name="Google Shape;11;p91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" name="Google Shape;12;p91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" name="Google Shape;13;p91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4" name="Google Shape;14;p91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5" name="Google Shape;15;p9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6" name="Google Shape;16;p91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7" name="Google Shape;17;p91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8" name="Google Shape;18;p9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9" name="Google Shape;19;p91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  <a:defRPr b="0" i="0" sz="4000" u="none" cap="none" strike="noStrike">
                <a:solidFill>
                  <a:srgbClr val="C1EDFF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" name="Google Shape;20;p91"/>
          <p:cNvSpPr txBox="1"/>
          <p:nvPr>
            <p:ph idx="1" type="body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9575" lvl="0" marL="457200" marR="0" rtl="0" algn="l"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2850"/>
              <a:buFont typeface="Noto Sans Symbols"/>
              <a:buChar char="▪"/>
              <a:defRPr b="0" i="0" sz="3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7719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Noto Sans Symbols"/>
              <a:buChar char="🢭"/>
              <a:defRPr b="0" i="0" sz="2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■"/>
              <a:defRPr b="0" i="0" sz="2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68300" lvl="3" marL="1828800" marR="0" rtl="0" algn="l">
              <a:spcBef>
                <a:spcPts val="44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Noto Sans Symbols"/>
              <a:buChar char="🢝"/>
              <a:defRPr b="0" i="0" sz="2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91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2" name="Google Shape;22;p91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3" name="Google Shape;23;p91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Relationship Id="rId4" Type="http://schemas.openxmlformats.org/officeDocument/2006/relationships/image" Target="../media/image2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6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gif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3.png"/><Relationship Id="rId4" Type="http://schemas.openxmlformats.org/officeDocument/2006/relationships/image" Target="../media/image3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2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6.png"/><Relationship Id="rId4" Type="http://schemas.openxmlformats.org/officeDocument/2006/relationships/image" Target="../media/image4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5.jpg"/><Relationship Id="rId4" Type="http://schemas.openxmlformats.org/officeDocument/2006/relationships/image" Target="../media/image32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4.jpg"/><Relationship Id="rId4" Type="http://schemas.openxmlformats.org/officeDocument/2006/relationships/image" Target="../media/image28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0.jpg"/><Relationship Id="rId4" Type="http://schemas.openxmlformats.org/officeDocument/2006/relationships/image" Target="../media/image47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9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3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1.png"/><Relationship Id="rId4" Type="http://schemas.openxmlformats.org/officeDocument/2006/relationships/image" Target="../media/image39.gif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7.jpg"/><Relationship Id="rId4" Type="http://schemas.openxmlformats.org/officeDocument/2006/relationships/image" Target="../media/image29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4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1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8.gif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6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5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4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43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3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51.jp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58.jp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42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52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48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59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50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54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57.jpg"/><Relationship Id="rId4" Type="http://schemas.openxmlformats.org/officeDocument/2006/relationships/image" Target="../media/image45.jp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68.jpg"/><Relationship Id="rId4" Type="http://schemas.openxmlformats.org/officeDocument/2006/relationships/image" Target="../media/image56.jp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60.jpg"/><Relationship Id="rId4" Type="http://schemas.openxmlformats.org/officeDocument/2006/relationships/image" Target="../media/image63.jpg"/><Relationship Id="rId5" Type="http://schemas.openxmlformats.org/officeDocument/2006/relationships/image" Target="../media/image75.jpg"/><Relationship Id="rId6" Type="http://schemas.openxmlformats.org/officeDocument/2006/relationships/image" Target="../media/image62.jp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74.jpg"/><Relationship Id="rId4" Type="http://schemas.openxmlformats.org/officeDocument/2006/relationships/image" Target="../media/image65.jpg"/><Relationship Id="rId5" Type="http://schemas.openxmlformats.org/officeDocument/2006/relationships/image" Target="../media/image61.jp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71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67.jpg"/><Relationship Id="rId4" Type="http://schemas.openxmlformats.org/officeDocument/2006/relationships/image" Target="../media/image76.jpg"/><Relationship Id="rId5" Type="http://schemas.openxmlformats.org/officeDocument/2006/relationships/image" Target="../media/image69.jpg"/><Relationship Id="rId6" Type="http://schemas.openxmlformats.org/officeDocument/2006/relationships/image" Target="../media/image64.jpg"/><Relationship Id="rId7" Type="http://schemas.openxmlformats.org/officeDocument/2006/relationships/image" Target="../media/image73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72.jpg"/><Relationship Id="rId4" Type="http://schemas.openxmlformats.org/officeDocument/2006/relationships/image" Target="../media/image70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66.png"/><Relationship Id="rId4" Type="http://schemas.openxmlformats.org/officeDocument/2006/relationships/image" Target="../media/image77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rbel"/>
              <a:buNone/>
            </a:pPr>
            <a:r>
              <a:rPr b="1" i="1" lang="fr-FR">
                <a:latin typeface="Corbel"/>
                <a:ea typeface="Corbel"/>
                <a:cs typeface="Corbel"/>
                <a:sym typeface="Corbel"/>
              </a:rPr>
              <a:t>LA PHARYNGOLOGIE</a:t>
            </a:r>
            <a:br>
              <a:rPr lang="fr-FR"/>
            </a:br>
            <a:endParaRPr/>
          </a:p>
        </p:txBody>
      </p:sp>
      <p:sp>
        <p:nvSpPr>
          <p:cNvPr id="166" name="Google Shape;166;p1"/>
          <p:cNvSpPr txBox="1"/>
          <p:nvPr>
            <p:ph idx="1" type="body"/>
          </p:nvPr>
        </p:nvSpPr>
        <p:spPr>
          <a:xfrm>
            <a:off x="914400" y="1295400"/>
            <a:ext cx="7772400" cy="506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i="1"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4000"/>
              <a:t>L’ANATOMIE DU PHARYNX</a:t>
            </a:r>
            <a:endParaRPr sz="4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200"/>
              <a:t>       </a:t>
            </a:r>
            <a:r>
              <a:rPr lang="fr-FR" sz="3600"/>
              <a:t>Le pharynx est un organe médian impair, un tuyau musculomembraneux assis verticalement à la base du crâne, jusqu’au bord inférieur de la vertèbre VI, ou il se poursuit avec l’œsophage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3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600"/>
              <a:t>       Le pharynx est situé avant la colonne cervicale, il a une forme de demi-cylindre, étant ouvert en avant et qui communique avec la cavité nasale, la cavité buccale et le larynx, des communications qui établissent les trois étages du pharynx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lang="fr-FR"/>
              <a:t>L’ANATOMIE DU PHARYNX</a:t>
            </a:r>
            <a:br>
              <a:rPr lang="fr-FR"/>
            </a:br>
            <a:r>
              <a:rPr b="1" lang="fr-FR"/>
              <a:t> </a:t>
            </a:r>
            <a:br>
              <a:rPr lang="fr-FR"/>
            </a:br>
            <a:endParaRPr/>
          </a:p>
        </p:txBody>
      </p:sp>
      <p:pic>
        <p:nvPicPr>
          <p:cNvPr id="172" name="Google Shape;17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5600" y="2819400"/>
            <a:ext cx="5181600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"/>
          <p:cNvSpPr/>
          <p:nvPr/>
        </p:nvSpPr>
        <p:spPr>
          <a:xfrm>
            <a:off x="758925" y="1188175"/>
            <a:ext cx="6019800" cy="16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2000" u="sng" cap="none" strike="noStrike">
                <a:solidFill>
                  <a:srgbClr val="FFC000"/>
                </a:solidFill>
                <a:latin typeface="Corbel"/>
                <a:ea typeface="Corbel"/>
                <a:cs typeface="Corbel"/>
                <a:sym typeface="Corbel"/>
              </a:rPr>
              <a:t>L’étage supérieur - </a:t>
            </a:r>
            <a:r>
              <a:rPr b="1" i="1" lang="fr-FR" sz="2000" u="sng" cap="none" strike="noStrike">
                <a:solidFill>
                  <a:srgbClr val="FFC000"/>
                </a:solidFill>
                <a:latin typeface="Corbel"/>
                <a:ea typeface="Corbel"/>
                <a:cs typeface="Corbel"/>
                <a:sym typeface="Corbel"/>
              </a:rPr>
              <a:t>rhino-pharynx, épypharynx, nasopharynx </a:t>
            </a:r>
            <a:endParaRPr b="1" i="0" sz="2000" u="sng" cap="none" strike="noStrike">
              <a:solidFill>
                <a:srgbClr val="FFC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2000" u="sng" cap="none" strike="noStrike">
                <a:solidFill>
                  <a:srgbClr val="FFC000"/>
                </a:solidFill>
                <a:latin typeface="Corbel"/>
                <a:ea typeface="Corbel"/>
                <a:cs typeface="Corbel"/>
                <a:sym typeface="Corbel"/>
              </a:rPr>
              <a:t>L’étage moyen - </a:t>
            </a:r>
            <a:r>
              <a:rPr b="1" i="1" lang="fr-FR" sz="2000" u="sng" cap="none" strike="noStrike">
                <a:solidFill>
                  <a:srgbClr val="FFC000"/>
                </a:solidFill>
                <a:latin typeface="Corbel"/>
                <a:ea typeface="Corbel"/>
                <a:cs typeface="Corbel"/>
                <a:sym typeface="Corbel"/>
              </a:rPr>
              <a:t>buccopharynx, oropharynx </a:t>
            </a:r>
            <a:endParaRPr b="1" i="0" sz="2000" u="sng" cap="none" strike="noStrike">
              <a:solidFill>
                <a:srgbClr val="FFC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2000" u="sng" cap="none" strike="noStrike">
                <a:solidFill>
                  <a:srgbClr val="FFC000"/>
                </a:solidFill>
                <a:latin typeface="Corbel"/>
                <a:ea typeface="Corbel"/>
                <a:cs typeface="Corbel"/>
                <a:sym typeface="Corbel"/>
              </a:rPr>
              <a:t>L’étage inférieur - </a:t>
            </a:r>
            <a:r>
              <a:rPr b="1" i="1" lang="fr-FR" sz="2000" u="sng" cap="none" strike="noStrike">
                <a:solidFill>
                  <a:srgbClr val="FFC000"/>
                </a:solidFill>
                <a:latin typeface="Corbel"/>
                <a:ea typeface="Corbel"/>
                <a:cs typeface="Corbel"/>
                <a:sym typeface="Corbel"/>
              </a:rPr>
              <a:t>hypopharynx, laryngopharynx</a:t>
            </a:r>
            <a:r>
              <a:rPr b="1" i="0" lang="fr-FR" sz="2000" u="sng" cap="none" strike="noStrike">
                <a:solidFill>
                  <a:srgbClr val="FFC000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endParaRPr b="1" i="0" sz="2000" u="sng" cap="none" strike="noStrike">
              <a:solidFill>
                <a:srgbClr val="FFC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orbel"/>
              <a:buNone/>
            </a:pPr>
            <a:r>
              <a:rPr b="0" i="0" lang="fr-FR" sz="2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 </a:t>
            </a:r>
            <a:endParaRPr b="0" i="0" sz="20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rbel"/>
              <a:buNone/>
            </a:pPr>
            <a:r>
              <a:rPr b="1" lang="fr-FR">
                <a:latin typeface="Corbel"/>
                <a:ea typeface="Corbel"/>
                <a:cs typeface="Corbel"/>
                <a:sym typeface="Corbel"/>
              </a:rPr>
              <a:t>ÉXOPHARYNX</a:t>
            </a:r>
            <a:br>
              <a:rPr lang="fr-FR"/>
            </a:br>
            <a:r>
              <a:rPr lang="fr-FR"/>
              <a:t> </a:t>
            </a:r>
            <a:br>
              <a:rPr lang="fr-FR"/>
            </a:br>
            <a:endParaRPr/>
          </a:p>
        </p:txBody>
      </p:sp>
      <p:sp>
        <p:nvSpPr>
          <p:cNvPr id="179" name="Google Shape;179;p3"/>
          <p:cNvSpPr txBox="1"/>
          <p:nvPr>
            <p:ph idx="1" type="body"/>
          </p:nvPr>
        </p:nvSpPr>
        <p:spPr>
          <a:xfrm>
            <a:off x="457200" y="1066800"/>
            <a:ext cx="8229600" cy="57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fr-FR" sz="2400"/>
              <a:t>  une face postérieure / deux faces latérales / deux extrémités supérieure- inférieure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2400">
                <a:solidFill>
                  <a:srgbClr val="FFC000"/>
                </a:solidFill>
              </a:rPr>
              <a:t>1. La face postérieure </a:t>
            </a:r>
            <a:r>
              <a:rPr lang="fr-FR" sz="2400"/>
              <a:t>- des rapports anatomiques avec le rachis cervical (C1-C6) et l’espace rétro pharyngien (tissu conjonctif  des ganglions lymphatiques)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2400">
                <a:solidFill>
                  <a:srgbClr val="FFC000"/>
                </a:solidFill>
              </a:rPr>
              <a:t> 2. Les faces latérales </a:t>
            </a:r>
            <a:r>
              <a:rPr lang="fr-FR" sz="2400"/>
              <a:t> -la zone maxillo-faciale - pharyngienne 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400"/>
              <a:t>                                              - paquet vasculaire nerveux de la gorge 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400"/>
              <a:t>                                              - la chaîne ganglionnaire jugulo-carotidienne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400"/>
              <a:t>                                              - les lobes de la glande thyroïde - inférieurs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2400">
                <a:solidFill>
                  <a:srgbClr val="FFC000"/>
                </a:solidFill>
              </a:rPr>
              <a:t>3. Les extrémités :</a:t>
            </a:r>
            <a:endParaRPr b="1" sz="2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2400" u="sng">
                <a:solidFill>
                  <a:srgbClr val="FFC000"/>
                </a:solidFill>
              </a:rPr>
              <a:t>L’extrémité supérieure </a:t>
            </a:r>
            <a:r>
              <a:rPr lang="fr-FR" sz="2400"/>
              <a:t> située à la base  du crâne,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400"/>
              <a:t>       le corps du sphénoïde, l’apophyse basilaire de l’occipitale et l’os    temporal 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2400" u="sng">
                <a:solidFill>
                  <a:srgbClr val="FFC000"/>
                </a:solidFill>
              </a:rPr>
              <a:t>L’extrémité inférieure </a:t>
            </a:r>
            <a:r>
              <a:rPr lang="fr-FR" sz="2400"/>
              <a:t> continuée avec la bouche de l’œsophage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2400" u="sng">
                <a:solidFill>
                  <a:srgbClr val="FFC000"/>
                </a:solidFill>
              </a:rPr>
              <a:t>Antérieur</a:t>
            </a:r>
            <a:r>
              <a:rPr lang="fr-FR" sz="2400"/>
              <a:t> communique avec les cavités nasales /des cônes,  la bouche / isthme bucco-pharyngien et le larynx .</a:t>
            </a:r>
            <a:endParaRPr sz="2400"/>
          </a:p>
          <a:p>
            <a:pPr indent="-175498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lang="fr-FR"/>
              <a:t>L’ENDOPHARYNX</a:t>
            </a:r>
            <a:br>
              <a:rPr lang="fr-FR"/>
            </a:br>
            <a:br>
              <a:rPr lang="fr-FR"/>
            </a:br>
            <a:endParaRPr/>
          </a:p>
        </p:txBody>
      </p:sp>
      <p:sp>
        <p:nvSpPr>
          <p:cNvPr id="185" name="Google Shape;185;p4"/>
          <p:cNvSpPr txBox="1"/>
          <p:nvPr>
            <p:ph idx="1" type="body"/>
          </p:nvPr>
        </p:nvSpPr>
        <p:spPr>
          <a:xfrm>
            <a:off x="381000" y="1143000"/>
            <a:ext cx="64008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fr-FR"/>
              <a:t>La conformation du pharynx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  <p:pic>
        <p:nvPicPr>
          <p:cNvPr id="186" name="Google Shape;18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00" y="1828800"/>
            <a:ext cx="58674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/>
          <p:cNvSpPr txBox="1"/>
          <p:nvPr>
            <p:ph type="title"/>
          </p:nvPr>
        </p:nvSpPr>
        <p:spPr>
          <a:xfrm>
            <a:off x="228600" y="512064"/>
            <a:ext cx="8686800" cy="707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rbel"/>
              <a:buNone/>
            </a:pPr>
            <a:r>
              <a:rPr lang="fr-FR" sz="3600">
                <a:latin typeface="Corbel"/>
                <a:ea typeface="Corbel"/>
                <a:cs typeface="Corbel"/>
                <a:sym typeface="Corbel"/>
              </a:rPr>
              <a:t>  LE  RHINO-PHARYNX  </a:t>
            </a:r>
            <a:r>
              <a:rPr lang="fr-FR" sz="2800">
                <a:latin typeface="Corbel"/>
                <a:ea typeface="Corbel"/>
                <a:cs typeface="Corbel"/>
                <a:sym typeface="Corbel"/>
              </a:rPr>
              <a:t>(épypharynx ou cavum) </a:t>
            </a:r>
            <a:br>
              <a:rPr lang="fr-FR" sz="3600">
                <a:latin typeface="Corbel"/>
                <a:ea typeface="Corbel"/>
                <a:cs typeface="Corbel"/>
                <a:sym typeface="Corbel"/>
              </a:rPr>
            </a:br>
            <a:br>
              <a:rPr lang="fr-FR"/>
            </a:br>
            <a:endParaRPr/>
          </a:p>
        </p:txBody>
      </p:sp>
      <p:sp>
        <p:nvSpPr>
          <p:cNvPr id="192" name="Google Shape;192;p5"/>
          <p:cNvSpPr txBox="1"/>
          <p:nvPr>
            <p:ph idx="1" type="body"/>
          </p:nvPr>
        </p:nvSpPr>
        <p:spPr>
          <a:xfrm>
            <a:off x="381000" y="1143000"/>
            <a:ext cx="83058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</a:t>
            </a:r>
            <a:r>
              <a:rPr b="1" lang="fr-FR"/>
              <a:t> </a:t>
            </a:r>
            <a:r>
              <a:rPr lang="fr-FR" sz="3300"/>
              <a:t>une forme cubique entre la base du crâne et du palais mou avec 6 parois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33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600">
                <a:solidFill>
                  <a:srgbClr val="FFC000"/>
                </a:solidFill>
              </a:rPr>
              <a:t>1. </a:t>
            </a:r>
            <a:r>
              <a:rPr b="1" i="1" lang="fr-FR" sz="3600">
                <a:solidFill>
                  <a:srgbClr val="FFC000"/>
                </a:solidFill>
              </a:rPr>
              <a:t>La paroi supérieure </a:t>
            </a:r>
            <a:r>
              <a:rPr i="1" lang="fr-FR" sz="3600">
                <a:solidFill>
                  <a:srgbClr val="FFC000"/>
                </a:solidFill>
              </a:rPr>
              <a:t>:</a:t>
            </a:r>
            <a:r>
              <a:rPr lang="fr-FR" sz="3600">
                <a:solidFill>
                  <a:srgbClr val="FFC000"/>
                </a:solidFill>
              </a:rPr>
              <a:t> </a:t>
            </a:r>
            <a:r>
              <a:rPr lang="fr-FR" sz="3600"/>
              <a:t> la base du crâne -  la face inférieure du corps sphénoïde, l’apophyse basilaire de l’occipital et la face post - inférieure du rocher du temporal</a:t>
            </a:r>
            <a:endParaRPr sz="3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600">
                <a:solidFill>
                  <a:srgbClr val="FFC000"/>
                </a:solidFill>
              </a:rPr>
              <a:t>∙ </a:t>
            </a:r>
            <a:r>
              <a:rPr b="1" lang="fr-FR" sz="3600">
                <a:solidFill>
                  <a:srgbClr val="FFC000"/>
                </a:solidFill>
              </a:rPr>
              <a:t>l’</a:t>
            </a:r>
            <a:r>
              <a:rPr b="1" lang="fr-FR" sz="3600" u="sng">
                <a:solidFill>
                  <a:srgbClr val="FFC000"/>
                </a:solidFill>
              </a:rPr>
              <a:t>amygdale</a:t>
            </a:r>
            <a:r>
              <a:rPr b="1" lang="fr-FR" sz="3600">
                <a:solidFill>
                  <a:srgbClr val="FFC000"/>
                </a:solidFill>
              </a:rPr>
              <a:t> </a:t>
            </a:r>
            <a:r>
              <a:rPr b="1" lang="fr-FR" sz="3600" u="sng">
                <a:solidFill>
                  <a:srgbClr val="FFC000"/>
                </a:solidFill>
              </a:rPr>
              <a:t>pharyngienne de Luschka</a:t>
            </a:r>
            <a:r>
              <a:rPr b="1" lang="fr-FR" sz="3600">
                <a:solidFill>
                  <a:srgbClr val="FFC000"/>
                </a:solidFill>
              </a:rPr>
              <a:t> </a:t>
            </a:r>
            <a:r>
              <a:rPr lang="fr-FR" sz="3600"/>
              <a:t>-situé allongée dans la direction ant -  postérieure</a:t>
            </a:r>
            <a:endParaRPr sz="3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600">
                <a:solidFill>
                  <a:srgbClr val="FFC000"/>
                </a:solidFill>
              </a:rPr>
              <a:t>2. </a:t>
            </a:r>
            <a:r>
              <a:rPr b="1" i="1" lang="fr-FR" sz="3600">
                <a:solidFill>
                  <a:srgbClr val="FFC000"/>
                </a:solidFill>
              </a:rPr>
              <a:t>La paroi inférieure</a:t>
            </a:r>
            <a:r>
              <a:rPr b="1" lang="fr-FR" sz="3600">
                <a:solidFill>
                  <a:srgbClr val="FFC000"/>
                </a:solidFill>
              </a:rPr>
              <a:t> :</a:t>
            </a:r>
            <a:r>
              <a:rPr lang="fr-FR" sz="3600">
                <a:solidFill>
                  <a:srgbClr val="FFC000"/>
                </a:solidFill>
              </a:rPr>
              <a:t> </a:t>
            </a:r>
            <a:r>
              <a:rPr lang="fr-FR" sz="3600"/>
              <a:t> est virtuelle – communique largement avec l’oropharynx et il devient réel lors de la déglutition et de la phonation</a:t>
            </a:r>
            <a:endParaRPr sz="3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600"/>
              <a:t> </a:t>
            </a:r>
            <a:r>
              <a:rPr b="1" lang="fr-FR" sz="3600">
                <a:solidFill>
                  <a:srgbClr val="FFC000"/>
                </a:solidFill>
              </a:rPr>
              <a:t>3. </a:t>
            </a:r>
            <a:r>
              <a:rPr b="1" i="1" lang="fr-FR" sz="3600">
                <a:solidFill>
                  <a:srgbClr val="FFC000"/>
                </a:solidFill>
              </a:rPr>
              <a:t>La paroi antérieure :</a:t>
            </a:r>
            <a:r>
              <a:rPr b="1" lang="fr-FR" sz="3600">
                <a:solidFill>
                  <a:srgbClr val="FFC000"/>
                </a:solidFill>
              </a:rPr>
              <a:t> </a:t>
            </a:r>
            <a:r>
              <a:rPr lang="fr-FR" sz="3600"/>
              <a:t>- elle est représentée par de </a:t>
            </a:r>
            <a:r>
              <a:rPr lang="fr-FR" sz="3600" u="sng"/>
              <a:t>cônes</a:t>
            </a:r>
            <a:r>
              <a:rPr lang="fr-FR" sz="3600"/>
              <a:t> (les orifices postérieurs de la cavité nasale) –  séparés sur la ligne médiane du bord arrière du vomer</a:t>
            </a:r>
            <a:endParaRPr sz="3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600">
                <a:solidFill>
                  <a:srgbClr val="FFC000"/>
                </a:solidFill>
              </a:rPr>
              <a:t>4. </a:t>
            </a:r>
            <a:r>
              <a:rPr b="1" i="1" lang="fr-FR" sz="3600">
                <a:solidFill>
                  <a:srgbClr val="FFC000"/>
                </a:solidFill>
              </a:rPr>
              <a:t>La paroi postérieure </a:t>
            </a:r>
            <a:r>
              <a:rPr b="1" lang="fr-FR" sz="3600">
                <a:solidFill>
                  <a:srgbClr val="FFC000"/>
                </a:solidFill>
              </a:rPr>
              <a:t>:</a:t>
            </a:r>
            <a:r>
              <a:rPr lang="fr-FR" sz="3600">
                <a:solidFill>
                  <a:srgbClr val="FFC000"/>
                </a:solidFill>
              </a:rPr>
              <a:t> </a:t>
            </a:r>
            <a:r>
              <a:rPr lang="fr-FR" sz="3600"/>
              <a:t> correspondant à la première vertèbre cervicale</a:t>
            </a:r>
            <a:endParaRPr sz="3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600">
                <a:solidFill>
                  <a:srgbClr val="FFC000"/>
                </a:solidFill>
              </a:rPr>
              <a:t>5. </a:t>
            </a:r>
            <a:r>
              <a:rPr b="1" i="1" lang="fr-FR" sz="3600">
                <a:solidFill>
                  <a:srgbClr val="FFC000"/>
                </a:solidFill>
              </a:rPr>
              <a:t>Les parois latérales </a:t>
            </a:r>
            <a:r>
              <a:rPr i="1" lang="fr-FR" sz="3600">
                <a:solidFill>
                  <a:srgbClr val="FFC000"/>
                </a:solidFill>
              </a:rPr>
              <a:t>: </a:t>
            </a:r>
            <a:r>
              <a:rPr lang="fr-FR" sz="3600"/>
              <a:t>présente</a:t>
            </a:r>
            <a:r>
              <a:rPr i="1" lang="fr-FR" sz="3600"/>
              <a:t> </a:t>
            </a:r>
            <a:r>
              <a:rPr lang="fr-FR" sz="3600"/>
              <a:t>les orifices</a:t>
            </a:r>
            <a:r>
              <a:rPr i="1" lang="fr-FR" sz="3600"/>
              <a:t> pharyngiens des trompes auditives (Eustachio)</a:t>
            </a:r>
            <a:r>
              <a:rPr lang="fr-FR" sz="3600"/>
              <a:t> -  à 1 cm en arrière de la queue du cornet  Postérieure une dépression (fosse Rosenmüller) -le point de départ pour le cancer du nasopharynx</a:t>
            </a:r>
            <a:endParaRPr sz="3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600">
                <a:solidFill>
                  <a:srgbClr val="FFC000"/>
                </a:solidFill>
              </a:rPr>
              <a:t>∙ </a:t>
            </a:r>
            <a:r>
              <a:rPr b="1" lang="fr-FR" sz="3600" u="sng">
                <a:solidFill>
                  <a:srgbClr val="FFC000"/>
                </a:solidFill>
              </a:rPr>
              <a:t>l’amygdale peritubaire Gerlach </a:t>
            </a:r>
            <a:r>
              <a:rPr lang="fr-FR" sz="3600"/>
              <a:t>- autour des orifices tubaires </a:t>
            </a:r>
            <a:endParaRPr sz="3600"/>
          </a:p>
          <a:p>
            <a:pPr indent="-223456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3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lang="fr-FR"/>
              <a:t> </a:t>
            </a:r>
            <a:r>
              <a:rPr b="1" lang="fr-FR"/>
              <a:t>LE  RHINO-PHARYNX </a:t>
            </a:r>
            <a:endParaRPr b="1"/>
          </a:p>
        </p:txBody>
      </p:sp>
      <p:sp>
        <p:nvSpPr>
          <p:cNvPr id="198" name="Google Shape;198;p6"/>
          <p:cNvSpPr txBox="1"/>
          <p:nvPr>
            <p:ph idx="1" type="body"/>
          </p:nvPr>
        </p:nvSpPr>
        <p:spPr>
          <a:xfrm>
            <a:off x="304800" y="1295400"/>
            <a:ext cx="5638800" cy="506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61925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  <p:pic>
        <p:nvPicPr>
          <p:cNvPr id="199" name="Google Shape;19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0" y="1676400"/>
            <a:ext cx="5257800" cy="4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"/>
          <p:cNvSpPr txBox="1"/>
          <p:nvPr>
            <p:ph type="title"/>
          </p:nvPr>
        </p:nvSpPr>
        <p:spPr>
          <a:xfrm>
            <a:off x="914400" y="512064"/>
            <a:ext cx="7772400" cy="859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lang="fr-FR" sz="3200">
                <a:latin typeface="Corbel"/>
                <a:ea typeface="Corbel"/>
                <a:cs typeface="Corbel"/>
                <a:sym typeface="Corbel"/>
              </a:rPr>
              <a:t>2. LE  BUCCOPHARYNX  (l’ oropharynx)</a:t>
            </a:r>
            <a:br>
              <a:rPr lang="fr-FR"/>
            </a:br>
            <a:endParaRPr/>
          </a:p>
        </p:txBody>
      </p:sp>
      <p:sp>
        <p:nvSpPr>
          <p:cNvPr id="205" name="Google Shape;205;p7"/>
          <p:cNvSpPr txBox="1"/>
          <p:nvPr>
            <p:ph idx="1" type="body"/>
          </p:nvPr>
        </p:nvSpPr>
        <p:spPr>
          <a:xfrm>
            <a:off x="457200" y="1219200"/>
            <a:ext cx="82296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br>
              <a:rPr lang="fr-FR"/>
            </a:b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3800">
                <a:solidFill>
                  <a:srgbClr val="FFC000"/>
                </a:solidFill>
              </a:rPr>
              <a:t>1. La paroi antérieure :</a:t>
            </a:r>
            <a:r>
              <a:rPr lang="fr-FR" sz="3800">
                <a:solidFill>
                  <a:srgbClr val="FFC000"/>
                </a:solidFill>
              </a:rPr>
              <a:t> (</a:t>
            </a:r>
            <a:r>
              <a:rPr lang="fr-FR"/>
              <a:t>l’isthme oro-pharyngien)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le bord libre du voile du palais supérieur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le voile du palais : une formation contractile musculomembraneuse  sur le bord postérieur du palais dur  et ayant inférieurement un bord libre,sur la ligne médiane une extension – l’uvule (la luette). latéralement  se divise avec deux  piliers amygdaliens - antérieure et postérieure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les piliers amygdaliens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la base de la langue - inférieure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3800">
                <a:solidFill>
                  <a:srgbClr val="FFC000"/>
                </a:solidFill>
              </a:rPr>
              <a:t>2. la paroi postérieure </a:t>
            </a:r>
            <a:r>
              <a:rPr b="1" lang="fr-FR" sz="3800">
                <a:solidFill>
                  <a:srgbClr val="FFC000"/>
                </a:solidFill>
              </a:rPr>
              <a:t>:</a:t>
            </a:r>
            <a:r>
              <a:rPr lang="fr-FR" sz="3800">
                <a:solidFill>
                  <a:srgbClr val="FFC000"/>
                </a:solidFill>
              </a:rPr>
              <a:t> </a:t>
            </a:r>
            <a:r>
              <a:rPr lang="fr-FR"/>
              <a:t>correspond à l’arc antérieur de l’axis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3800">
                <a:solidFill>
                  <a:srgbClr val="FFC000"/>
                </a:solidFill>
              </a:rPr>
              <a:t>3. la paroi supérieure </a:t>
            </a:r>
            <a:r>
              <a:rPr i="1" lang="fr-FR" sz="3800">
                <a:solidFill>
                  <a:srgbClr val="FFC000"/>
                </a:solidFill>
              </a:rPr>
              <a:t>: </a:t>
            </a:r>
            <a:r>
              <a:rPr lang="fr-FR"/>
              <a:t>la face antéro-inférieure du voile du palais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>
                <a:solidFill>
                  <a:srgbClr val="FFC000"/>
                </a:solidFill>
              </a:rPr>
              <a:t>4. </a:t>
            </a:r>
            <a:r>
              <a:rPr b="1" i="1" lang="fr-FR" sz="3800">
                <a:solidFill>
                  <a:srgbClr val="FFC000"/>
                </a:solidFill>
              </a:rPr>
              <a:t>les parois latérales </a:t>
            </a:r>
            <a:r>
              <a:rPr b="1" lang="fr-FR" sz="3800">
                <a:solidFill>
                  <a:srgbClr val="FFC000"/>
                </a:solidFill>
              </a:rPr>
              <a:t>:</a:t>
            </a:r>
            <a:r>
              <a:rPr lang="fr-FR" sz="3800">
                <a:solidFill>
                  <a:srgbClr val="FFC000"/>
                </a:solidFill>
              </a:rPr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les deux loges amygdalienne, sont délimités par deux  piliers antérieure et postérieure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 u="sng">
                <a:solidFill>
                  <a:srgbClr val="FFC000"/>
                </a:solidFill>
              </a:rPr>
              <a:t>∙  l’amygdale palatine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>
                <a:solidFill>
                  <a:srgbClr val="FFC000"/>
                </a:solidFill>
              </a:rPr>
              <a:t>       </a:t>
            </a:r>
            <a:r>
              <a:rPr lang="fr-FR"/>
              <a:t> un organe lymphoïde, forme ovoïde  situé dans la loge amygdalienne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sur la face interne 15-20 orifices  - ’ouverture des cryptes amygdaliennes l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la face latérale de l’amygdale palatine est couverte par du tissu fibreux (capsule amygdalienne) qui s’applique sur la paroi du pharynx par une couche de tissu conjonctif lâche.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256936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"/>
          <p:cNvSpPr txBox="1"/>
          <p:nvPr>
            <p:ph type="title"/>
          </p:nvPr>
        </p:nvSpPr>
        <p:spPr>
          <a:xfrm>
            <a:off x="381000" y="533400"/>
            <a:ext cx="8763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nsolas"/>
              <a:buNone/>
            </a:pPr>
            <a:r>
              <a:rPr b="1" lang="fr-FR" sz="3600"/>
              <a:t> 2.LE BUCCOPHARYNX (l’oropharynx)</a:t>
            </a:r>
            <a:br>
              <a:rPr b="1" lang="fr-FR" sz="3600"/>
            </a:br>
            <a:endParaRPr b="1" sz="3600"/>
          </a:p>
        </p:txBody>
      </p:sp>
      <p:sp>
        <p:nvSpPr>
          <p:cNvPr id="211" name="Google Shape;211;p8"/>
          <p:cNvSpPr txBox="1"/>
          <p:nvPr>
            <p:ph idx="1" type="body"/>
          </p:nvPr>
        </p:nvSpPr>
        <p:spPr>
          <a:xfrm>
            <a:off x="381000" y="1371600"/>
            <a:ext cx="4191000" cy="498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61925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  <p:pic>
        <p:nvPicPr>
          <p:cNvPr id="212" name="Google Shape;21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0800" y="1752600"/>
            <a:ext cx="4724400" cy="4410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3. LE  LARYNGOPHARYNX  (</a:t>
            </a:r>
            <a:r>
              <a:rPr lang="fr-FR" sz="3200">
                <a:latin typeface="Corbel"/>
                <a:ea typeface="Corbel"/>
                <a:cs typeface="Corbel"/>
                <a:sym typeface="Corbel"/>
              </a:rPr>
              <a:t>hypopharynx)</a:t>
            </a:r>
            <a:br>
              <a:rPr lang="fr-FR"/>
            </a:br>
            <a:endParaRPr/>
          </a:p>
        </p:txBody>
      </p:sp>
      <p:sp>
        <p:nvSpPr>
          <p:cNvPr id="218" name="Google Shape;218;p9"/>
          <p:cNvSpPr txBox="1"/>
          <p:nvPr>
            <p:ph idx="1" type="body"/>
          </p:nvPr>
        </p:nvSpPr>
        <p:spPr>
          <a:xfrm>
            <a:off x="609600" y="1447800"/>
            <a:ext cx="8077200" cy="57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fr-FR"/>
              <a:t>communique antérieurement avec le larynx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l’arrière formant le paroi antérieure de l’étage inférieur du pharynx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2900">
                <a:solidFill>
                  <a:srgbClr val="FFC000"/>
                </a:solidFill>
              </a:rPr>
              <a:t>A. </a:t>
            </a:r>
            <a:r>
              <a:rPr b="1" i="1" lang="fr-FR" sz="2900">
                <a:solidFill>
                  <a:srgbClr val="FFC000"/>
                </a:solidFill>
              </a:rPr>
              <a:t>La paroi antérieure</a:t>
            </a:r>
            <a:r>
              <a:rPr b="1" lang="fr-FR" sz="2900">
                <a:solidFill>
                  <a:srgbClr val="FFC000"/>
                </a:solidFill>
              </a:rPr>
              <a:t> :</a:t>
            </a:r>
            <a:endParaRPr b="1" sz="29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la base de la langue avec des amygdales linguales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l’épiglotte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les repliés aryténo-épiglottiques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les aryténoïdes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le cartilage cricoïde - le visage postérieur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2900">
                <a:solidFill>
                  <a:srgbClr val="FFC000"/>
                </a:solidFill>
              </a:rPr>
              <a:t>B. </a:t>
            </a:r>
            <a:r>
              <a:rPr b="1" i="1" lang="fr-FR" sz="2900">
                <a:solidFill>
                  <a:srgbClr val="FFC000"/>
                </a:solidFill>
              </a:rPr>
              <a:t>La paroi postérieure</a:t>
            </a:r>
            <a:r>
              <a:rPr b="1" lang="fr-FR" sz="2900">
                <a:solidFill>
                  <a:srgbClr val="FFC000"/>
                </a:solidFill>
              </a:rPr>
              <a:t> </a:t>
            </a:r>
            <a:r>
              <a:rPr lang="fr-FR"/>
              <a:t>– correspond aux vertèbres cervicales C3 - C6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C. </a:t>
            </a:r>
            <a:r>
              <a:rPr b="1" i="1" lang="fr-FR">
                <a:solidFill>
                  <a:srgbClr val="FFC000"/>
                </a:solidFill>
              </a:rPr>
              <a:t>La paroi latérale</a:t>
            </a:r>
            <a:r>
              <a:rPr b="1" lang="fr-FR">
                <a:solidFill>
                  <a:srgbClr val="FFC000"/>
                </a:solidFill>
              </a:rPr>
              <a:t> </a:t>
            </a:r>
            <a:r>
              <a:rPr lang="fr-FR"/>
              <a:t>- </a:t>
            </a:r>
            <a:r>
              <a:rPr i="1" lang="fr-FR" u="sng">
                <a:solidFill>
                  <a:srgbClr val="FFC000"/>
                </a:solidFill>
              </a:rPr>
              <a:t>des sinus piriformes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deux gouttières  pharyngo-laryngiennes à travers de qui le bolus avance vers la bouche de l’œsophage.</a:t>
            </a:r>
            <a:endParaRPr/>
          </a:p>
          <a:p>
            <a:pPr indent="-216217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 </a:t>
            </a:r>
            <a:endParaRPr/>
          </a:p>
          <a:p>
            <a:pPr indent="-216217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"/>
          <p:cNvSpPr txBox="1"/>
          <p:nvPr>
            <p:ph type="title"/>
          </p:nvPr>
        </p:nvSpPr>
        <p:spPr>
          <a:xfrm>
            <a:off x="304800" y="304800"/>
            <a:ext cx="8839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nsolas"/>
              <a:buNone/>
            </a:pPr>
            <a:r>
              <a:rPr b="1" lang="fr-FR" sz="3600"/>
              <a:t>3. LE  LARYNGOPHARYNX  (</a:t>
            </a:r>
            <a:r>
              <a:rPr lang="fr-FR" sz="3600"/>
              <a:t>hypopharynx)</a:t>
            </a:r>
            <a:br>
              <a:rPr lang="fr-FR"/>
            </a:br>
            <a:endParaRPr/>
          </a:p>
        </p:txBody>
      </p:sp>
      <p:pic>
        <p:nvPicPr>
          <p:cNvPr descr="C:\Users\Alex\Desktop\pcj_0065_00000563_100000_large.jpg" id="224" name="Google Shape;22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1295400"/>
            <a:ext cx="5943600" cy="520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"/>
          <p:cNvSpPr txBox="1"/>
          <p:nvPr>
            <p:ph type="title"/>
          </p:nvPr>
        </p:nvSpPr>
        <p:spPr>
          <a:xfrm>
            <a:off x="533400" y="152400"/>
            <a:ext cx="8610600" cy="1274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Corbel"/>
              <a:buNone/>
            </a:pPr>
            <a:r>
              <a:rPr b="1" lang="fr-FR" sz="3200">
                <a:solidFill>
                  <a:srgbClr val="FFC000"/>
                </a:solidFill>
                <a:latin typeface="Corbel"/>
                <a:ea typeface="Corbel"/>
                <a:cs typeface="Corbel"/>
                <a:sym typeface="Corbel"/>
              </a:rPr>
              <a:t>L’ anneau lymphatique du pharynx</a:t>
            </a:r>
            <a:br>
              <a:rPr b="1" lang="fr-FR" sz="3200">
                <a:solidFill>
                  <a:srgbClr val="FFC000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1" lang="fr-FR" sz="3200">
                <a:solidFill>
                  <a:srgbClr val="FFC000"/>
                </a:solidFill>
                <a:latin typeface="Corbel"/>
                <a:ea typeface="Corbel"/>
                <a:cs typeface="Corbel"/>
                <a:sym typeface="Corbel"/>
              </a:rPr>
              <a:t> Cercle lymphatique de Waldeyer </a:t>
            </a:r>
            <a:endParaRPr b="1" sz="3200">
              <a:solidFill>
                <a:srgbClr val="FFC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30" name="Google Shape;230;p11"/>
          <p:cNvSpPr txBox="1"/>
          <p:nvPr>
            <p:ph idx="1" type="body"/>
          </p:nvPr>
        </p:nvSpPr>
        <p:spPr>
          <a:xfrm>
            <a:off x="304800" y="1295400"/>
            <a:ext cx="63246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fr-FR"/>
              <a:t> se compose de toutes les formations lymphatiques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situées dans le pharynx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 </a:t>
            </a:r>
            <a:r>
              <a:rPr b="1" lang="fr-FR">
                <a:solidFill>
                  <a:srgbClr val="FFC000"/>
                </a:solidFill>
              </a:rPr>
              <a:t>l’amygdale du rhino-pharynx (Luschka</a:t>
            </a:r>
            <a:r>
              <a:rPr lang="fr-FR">
                <a:solidFill>
                  <a:srgbClr val="FFC000"/>
                </a:solidFill>
              </a:rPr>
              <a:t>)</a:t>
            </a: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b="1" lang="fr-FR">
                <a:solidFill>
                  <a:srgbClr val="FFC000"/>
                </a:solidFill>
              </a:rPr>
              <a:t>l’amygdale peritubaire (Gerlach)</a:t>
            </a: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b="1" lang="fr-FR">
                <a:solidFill>
                  <a:srgbClr val="FFC000"/>
                </a:solidFill>
              </a:rPr>
              <a:t>l’ amygdale palatine </a:t>
            </a:r>
            <a:endParaRPr b="1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b="1" lang="fr-FR">
                <a:solidFill>
                  <a:srgbClr val="FFC000"/>
                </a:solidFill>
              </a:rPr>
              <a:t> l’amygdale linguale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b="1" lang="fr-FR">
                <a:solidFill>
                  <a:srgbClr val="FFC000"/>
                </a:solidFill>
              </a:rPr>
              <a:t>les follicules lymphatiques dispersés dans le chorion de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la muqueuse pharyngienne, visible au niveau de la paroi postérieure du buccopharynx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 </a:t>
            </a:r>
            <a:endParaRPr/>
          </a:p>
          <a:p>
            <a:pPr indent="-202644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descr="C:\Users\Alex\Desktop\Blausen_0861_Tonsils&amp;Throat_Anatomy2.png" id="231" name="Google Shape;23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7400" y="1219200"/>
            <a:ext cx="3048000" cy="28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LA  PHYSIOLOGIE  DU  PHARYNX</a:t>
            </a:r>
            <a:br>
              <a:rPr lang="fr-FR" sz="3200">
                <a:latin typeface="Corbel"/>
                <a:ea typeface="Corbel"/>
                <a:cs typeface="Corbel"/>
                <a:sym typeface="Corbel"/>
              </a:rPr>
            </a:b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37" name="Google Shape;237;p12"/>
          <p:cNvSpPr txBox="1"/>
          <p:nvPr>
            <p:ph idx="1" type="body"/>
          </p:nvPr>
        </p:nvSpPr>
        <p:spPr>
          <a:xfrm>
            <a:off x="304800" y="1066800"/>
            <a:ext cx="8839200" cy="57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4200">
                <a:solidFill>
                  <a:srgbClr val="FFC000"/>
                </a:solidFill>
              </a:rPr>
              <a:t>1. La fonction digestive</a:t>
            </a:r>
            <a:r>
              <a:rPr b="1" lang="fr-FR" sz="3400"/>
              <a:t> (</a:t>
            </a:r>
            <a:r>
              <a:rPr lang="fr-FR" sz="3400"/>
              <a:t>la déglutition a trois fois ):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- le temps oral – le seul volontaire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- le temps pharyngien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- le temps œsophagien</a:t>
            </a:r>
            <a:endParaRPr/>
          </a:p>
          <a:p>
            <a:pPr indent="-256936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400">
                <a:solidFill>
                  <a:srgbClr val="FFC000"/>
                </a:solidFill>
              </a:rPr>
              <a:t>Le temps pharyngien (</a:t>
            </a:r>
            <a:r>
              <a:rPr lang="fr-FR"/>
              <a:t>un acte réflexe avec le centre bulbaire) au cours de laquelle le bol traverse le pharynx par les (sinus piriformes) vers l’œsophage, lors de-là fermeture des autres voies de communication du pharynx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- avec les cavités nasales - par la contraction du voile du palais qui se lève et se rattache avec le bord libre de la paroi postérieure du pharynx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- avec la cavité buccale - par la contraction de l’isthme oro-pharyngien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- avec larynx - au travers de son élévation et de recouvrir l’ouverture supérieure du larynx par l’épiglotte et la base de la langue</a:t>
            </a:r>
            <a:endParaRPr/>
          </a:p>
          <a:p>
            <a:pPr indent="-256936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4200">
                <a:solidFill>
                  <a:srgbClr val="FFC000"/>
                </a:solidFill>
              </a:rPr>
              <a:t>2. La fonction respiratoire</a:t>
            </a:r>
            <a:r>
              <a:rPr b="1" lang="fr-FR" sz="3400"/>
              <a:t> (</a:t>
            </a:r>
            <a:r>
              <a:rPr lang="fr-FR" sz="3400"/>
              <a:t>le circuit physiologique de l’air que l’on respire ):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les cavités nasales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rhino-pharynx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oropharynx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larynx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la trachée,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</a:t>
            </a:r>
            <a:r>
              <a:rPr lang="fr-FR">
                <a:solidFill>
                  <a:srgbClr val="FFC000"/>
                </a:solidFill>
              </a:rPr>
              <a:t>le pharynx en continuant le conditionnement de l’air inspiré</a:t>
            </a:r>
            <a:endParaRPr>
              <a:solidFill>
                <a:srgbClr val="FFC000"/>
              </a:solidFill>
            </a:endParaRPr>
          </a:p>
          <a:p>
            <a:pPr indent="-256936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LA  PHYSIOLOGIE  DU  PHARYNX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43" name="Google Shape;243;p13"/>
          <p:cNvSpPr txBox="1"/>
          <p:nvPr>
            <p:ph idx="1" type="body"/>
          </p:nvPr>
        </p:nvSpPr>
        <p:spPr>
          <a:xfrm>
            <a:off x="533400" y="1371600"/>
            <a:ext cx="8153400" cy="4983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3400">
                <a:solidFill>
                  <a:srgbClr val="FFC000"/>
                </a:solidFill>
              </a:rPr>
              <a:t>3. La fonction de défense et de protection</a:t>
            </a:r>
            <a:endParaRPr sz="3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la contraction spasmodique, réflexe de la musculature du pharynx pendant la pénétration de corps étrangers ou des substances toxiques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le réflexe de vomissements, avec le point de départ au niveau du pharynx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la fonction de défense - des mécanismes immunologiques complexes par la présence des formations lymphatique, anneau lymphatique du pharynx (Waldeyer) – l’amygdale épipharyngienne (Loucha), amygdales palatines, l’amygdale linguale à la base de la langue, ce qui représente une première barrière de défense contre les infections des voies aérodigestives supérieures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400">
                <a:solidFill>
                  <a:srgbClr val="FFC000"/>
                </a:solidFill>
              </a:rPr>
              <a:t>4. La fonction phonatoire (</a:t>
            </a:r>
            <a:r>
              <a:rPr lang="fr-FR"/>
              <a:t> une cavité résonante)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400">
                <a:solidFill>
                  <a:srgbClr val="FFC000"/>
                </a:solidFill>
              </a:rPr>
              <a:t>5. La fonction sensorielle (</a:t>
            </a:r>
            <a:r>
              <a:rPr lang="fr-FR"/>
              <a:t> est perçu le goût amer)</a:t>
            </a:r>
            <a:endParaRPr/>
          </a:p>
          <a:p>
            <a:pPr indent="-22979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4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lang="fr-FR"/>
              <a:t>LES SYNDROMES DU PHARYNX</a:t>
            </a:r>
            <a:endParaRPr/>
          </a:p>
        </p:txBody>
      </p:sp>
      <p:sp>
        <p:nvSpPr>
          <p:cNvPr id="249" name="Google Shape;249;p14"/>
          <p:cNvSpPr txBox="1"/>
          <p:nvPr>
            <p:ph idx="1" type="body"/>
          </p:nvPr>
        </p:nvSpPr>
        <p:spPr>
          <a:xfrm>
            <a:off x="381000" y="1143000"/>
            <a:ext cx="876300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32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43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5500">
                <a:solidFill>
                  <a:srgbClr val="FFC000"/>
                </a:solidFill>
              </a:rPr>
              <a:t>1. Le syndrome digestif </a:t>
            </a:r>
            <a:r>
              <a:rPr b="1" lang="fr-FR" sz="5500"/>
              <a:t>:</a:t>
            </a:r>
            <a:endParaRPr b="1" sz="55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i="1" lang="fr-FR" sz="4000" u="sng"/>
              <a:t>Dysphagie</a:t>
            </a:r>
            <a:r>
              <a:rPr lang="fr-FR" sz="4000"/>
              <a:t> - est la difficulté, la gêne à la déglutition, pas de douleur -  „avale difficile ».</a:t>
            </a:r>
            <a:endParaRPr sz="4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5500">
                <a:solidFill>
                  <a:srgbClr val="FFC000"/>
                </a:solidFill>
              </a:rPr>
              <a:t>2. Le syndrome sensitif :</a:t>
            </a:r>
            <a:endParaRPr sz="55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i="1" lang="fr-FR" sz="4000" u="sng"/>
              <a:t>Lʼodynophagie</a:t>
            </a:r>
            <a:r>
              <a:rPr lang="fr-FR" sz="4000"/>
              <a:t> - est une douleur à la déglutition ou la douleur spontanée pharyngienne accentuée à la déglutition avec le rayonnement fréquent vers l’oreille</a:t>
            </a:r>
            <a:endParaRPr sz="4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4000"/>
              <a:t>Hyperesthésie, le plus souvent dans les inflammations aiguës.</a:t>
            </a:r>
            <a:endParaRPr sz="4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4000"/>
              <a:t>Hypoesthésie</a:t>
            </a:r>
            <a:endParaRPr sz="4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4000"/>
              <a:t>Les paresthésies pharyngées</a:t>
            </a:r>
            <a:endParaRPr sz="4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5500">
                <a:solidFill>
                  <a:srgbClr val="FFC000"/>
                </a:solidFill>
              </a:rPr>
              <a:t>3. Le syndrome respiratoire :</a:t>
            </a:r>
            <a:endParaRPr sz="55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i="1" lang="fr-FR" sz="4000"/>
              <a:t>Insuffisance respiratoire</a:t>
            </a:r>
            <a:r>
              <a:rPr lang="fr-FR" sz="4000"/>
              <a:t>, provoque des symptômes différents selon l’étage pharyngé touché - l’obstruction du rhino-pharynx atteint un tableau clinique similaire à une obstruction nasale, et l’obstruction du buccopharynx ou du laryngopharynx provoque de dyspnée</a:t>
            </a:r>
            <a:endParaRPr sz="4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5500">
                <a:solidFill>
                  <a:srgbClr val="FFC000"/>
                </a:solidFill>
              </a:rPr>
              <a:t>4. Le syndrome auditif :</a:t>
            </a:r>
            <a:endParaRPr sz="55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000"/>
              <a:t>des perturbations dans le fonctionnement (ouverture) des orifices pharyngés des trompes sonores,hypoacousie de transmission (otite séro-muqueuse)</a:t>
            </a:r>
            <a:endParaRPr sz="4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5500">
                <a:solidFill>
                  <a:srgbClr val="FFC000"/>
                </a:solidFill>
              </a:rPr>
              <a:t>5. Le syndrome phonateur :</a:t>
            </a:r>
            <a:endParaRPr sz="55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000"/>
              <a:t>- rhinolalie fermé - obstruction du rhino-pharynx -  une altération de la prononciation des consonnes </a:t>
            </a:r>
            <a:endParaRPr sz="4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000"/>
              <a:t>- rhinolalie ouverte -  des voyelles se transforme en diphtongues,  l’insuffisance vélo palatine, fente palatine (palatoschisis) </a:t>
            </a:r>
            <a:endParaRPr sz="4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000"/>
              <a:t>- stomatolalie - voix amygdalienne parle comme </a:t>
            </a:r>
            <a:r>
              <a:rPr lang="fr-FR" sz="4300">
                <a:solidFill>
                  <a:srgbClr val="FFC000"/>
                </a:solidFill>
              </a:rPr>
              <a:t>si sa bouche était pleine</a:t>
            </a:r>
            <a:endParaRPr sz="43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5500">
                <a:solidFill>
                  <a:srgbClr val="FFC000"/>
                </a:solidFill>
              </a:rPr>
              <a:t>6. Le syndrome sensoriel : </a:t>
            </a:r>
            <a:r>
              <a:rPr lang="fr-FR" sz="4000"/>
              <a:t>la dysgueusie - troubles de la perception du goût amer.</a:t>
            </a:r>
            <a:endParaRPr sz="4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284083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"/>
          <p:cNvSpPr txBox="1"/>
          <p:nvPr>
            <p:ph type="title"/>
          </p:nvPr>
        </p:nvSpPr>
        <p:spPr>
          <a:xfrm>
            <a:off x="304800" y="228600"/>
            <a:ext cx="8382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LES  MALFORMATIONS  DU  PHARYNX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55" name="Google Shape;255;p15"/>
          <p:cNvSpPr txBox="1"/>
          <p:nvPr>
            <p:ph idx="1" type="body"/>
          </p:nvPr>
        </p:nvSpPr>
        <p:spPr>
          <a:xfrm>
            <a:off x="304800" y="914400"/>
            <a:ext cx="8001000" cy="6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400"/>
              <a:t>LES MALFORMATIONS CONGÉNITALES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300">
                <a:solidFill>
                  <a:srgbClr val="FFC000"/>
                </a:solidFill>
              </a:rPr>
              <a:t>1.</a:t>
            </a:r>
            <a:r>
              <a:rPr lang="fr-FR" sz="3300">
                <a:solidFill>
                  <a:srgbClr val="FFC000"/>
                </a:solidFill>
              </a:rPr>
              <a:t> Au niveau du rhino-pharynx :</a:t>
            </a:r>
            <a:endParaRPr sz="33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l’atrésie du rhino-pharynx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sténose du rhino-pharynx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syndrome d’obstruction nasale, des troubles phonatoires, auditives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/>
              <a:t>-  l’imperforation</a:t>
            </a:r>
            <a:r>
              <a:rPr lang="fr-FR"/>
              <a:t> choanale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unilatérale / bilatérale, complète /  incomplète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300">
                <a:solidFill>
                  <a:srgbClr val="FFC000"/>
                </a:solidFill>
              </a:rPr>
              <a:t>2.</a:t>
            </a:r>
            <a:r>
              <a:rPr lang="fr-FR" sz="3300">
                <a:solidFill>
                  <a:srgbClr val="FFC000"/>
                </a:solidFill>
              </a:rPr>
              <a:t> Au niveau d’oropharynx :</a:t>
            </a:r>
            <a:endParaRPr sz="33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400">
                <a:solidFill>
                  <a:srgbClr val="FFC000"/>
                </a:solidFill>
              </a:rPr>
              <a:t>a) La division (fente) vélaire (voile du palais) </a:t>
            </a:r>
            <a:r>
              <a:rPr lang="fr-FR" sz="3400">
                <a:solidFill>
                  <a:srgbClr val="FFC000"/>
                </a:solidFill>
              </a:rPr>
              <a:t>:</a:t>
            </a:r>
            <a:endParaRPr sz="3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♦"/>
            </a:pPr>
            <a:r>
              <a:rPr lang="fr-FR"/>
              <a:t>isolé (véloschisis)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♦"/>
            </a:pPr>
            <a:r>
              <a:rPr lang="fr-FR"/>
              <a:t> associé à  la division de: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la voûte palatine (vélo-palatoschisis)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la lèvre supérieure (vélo-palato-queilo-schisis) le „gueule du loup </a:t>
            </a:r>
            <a:endParaRPr/>
          </a:p>
          <a:p>
            <a:pPr indent="-216217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descr="C:\Users\Alex\Desktop\bilaterale_schisis_geboren_onbehandeld-300x300.jpg" id="256" name="Google Shape;25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3429000"/>
            <a:ext cx="2552700" cy="255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6"/>
          <p:cNvSpPr txBox="1"/>
          <p:nvPr>
            <p:ph type="title"/>
          </p:nvPr>
        </p:nvSpPr>
        <p:spPr>
          <a:xfrm>
            <a:off x="685800" y="512064"/>
            <a:ext cx="8839200" cy="1240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LES  MALFORMATIONS  CONGÉNITALES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62" name="Google Shape;262;p16"/>
          <p:cNvSpPr txBox="1"/>
          <p:nvPr>
            <p:ph idx="1" type="body"/>
          </p:nvPr>
        </p:nvSpPr>
        <p:spPr>
          <a:xfrm>
            <a:off x="381000" y="990600"/>
            <a:ext cx="6934200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4500" u="sng">
                <a:solidFill>
                  <a:srgbClr val="FFC000"/>
                </a:solidFill>
              </a:rPr>
              <a:t>Symptomatologie :</a:t>
            </a:r>
            <a:endParaRPr sz="45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500"/>
              <a:t>- trouble de déglutition  refluassions  alimentaires par le nez, le bébé ne peut pas téter </a:t>
            </a:r>
            <a:endParaRPr sz="45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500"/>
              <a:t>- troubles phonatoires : rhinolalie ouverte affecte des consonnes „m » et „n » </a:t>
            </a:r>
            <a:endParaRPr sz="45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4500" u="sng">
                <a:solidFill>
                  <a:srgbClr val="FFC000"/>
                </a:solidFill>
              </a:rPr>
              <a:t>Traitement </a:t>
            </a:r>
            <a:r>
              <a:rPr b="1" lang="fr-FR" sz="4500" u="sng">
                <a:solidFill>
                  <a:srgbClr val="FFC000"/>
                </a:solidFill>
              </a:rPr>
              <a:t>:</a:t>
            </a:r>
            <a:endParaRPr sz="45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500"/>
              <a:t>- l’intervention chirurgicale de reconstruction </a:t>
            </a:r>
            <a:endParaRPr sz="45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500"/>
              <a:t>- rééducation orthophonique - logopédique</a:t>
            </a:r>
            <a:endParaRPr sz="45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500"/>
              <a:t> </a:t>
            </a:r>
            <a:endParaRPr sz="45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4500">
                <a:solidFill>
                  <a:srgbClr val="FFC000"/>
                </a:solidFill>
              </a:rPr>
              <a:t>b) Insuffisance du voile palatin :</a:t>
            </a:r>
            <a:endParaRPr b="1" sz="45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4500"/>
              <a:t>     </a:t>
            </a:r>
            <a:r>
              <a:rPr lang="fr-FR" sz="4500"/>
              <a:t>ne permet pas la fermeture complète entre rhino et de l’oropharynx</a:t>
            </a:r>
            <a:endParaRPr sz="45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4500" u="sng">
                <a:solidFill>
                  <a:srgbClr val="FFC000"/>
                </a:solidFill>
              </a:rPr>
              <a:t>Symptomatologie </a:t>
            </a:r>
            <a:r>
              <a:rPr lang="fr-FR" sz="4500" u="sng">
                <a:solidFill>
                  <a:srgbClr val="FFC000"/>
                </a:solidFill>
              </a:rPr>
              <a:t>:</a:t>
            </a:r>
            <a:endParaRPr sz="45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500"/>
              <a:t>- troubles de déglutition chez les nourrissons, de succion anormale </a:t>
            </a:r>
            <a:endParaRPr sz="45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500"/>
              <a:t>- reflux alimentaire par le nez (particulièrement les liquides) </a:t>
            </a:r>
            <a:endParaRPr sz="45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500"/>
              <a:t>- troubles phonatoires, rhinolalie ouverte</a:t>
            </a:r>
            <a:endParaRPr sz="45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4500" u="sng">
                <a:solidFill>
                  <a:srgbClr val="FFC000"/>
                </a:solidFill>
              </a:rPr>
              <a:t>Traitement </a:t>
            </a:r>
            <a:r>
              <a:rPr lang="fr-FR" sz="4500" u="sng">
                <a:solidFill>
                  <a:srgbClr val="FFC000"/>
                </a:solidFill>
              </a:rPr>
              <a:t>:</a:t>
            </a:r>
            <a:endParaRPr sz="45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500"/>
              <a:t>- conservateur - orthophonique - logopédique </a:t>
            </a:r>
            <a:endParaRPr sz="45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500"/>
              <a:t>- chirurgical </a:t>
            </a:r>
            <a:endParaRPr sz="45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4500"/>
              <a:t> </a:t>
            </a:r>
            <a:endParaRPr sz="4500"/>
          </a:p>
          <a:p>
            <a:pPr indent="-27051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7"/>
          <p:cNvSpPr txBox="1"/>
          <p:nvPr>
            <p:ph type="title"/>
          </p:nvPr>
        </p:nvSpPr>
        <p:spPr>
          <a:xfrm>
            <a:off x="457200" y="512064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4000"/>
              <a:buFont typeface="Consolas"/>
              <a:buNone/>
            </a:pPr>
            <a:r>
              <a:rPr b="1" lang="fr-FR">
                <a:solidFill>
                  <a:srgbClr val="FFC000"/>
                </a:solidFill>
              </a:rPr>
              <a:t>Insuffisance du voile palatin</a:t>
            </a:r>
            <a:endParaRPr/>
          </a:p>
        </p:txBody>
      </p:sp>
      <p:pic>
        <p:nvPicPr>
          <p:cNvPr descr="C:\Users\Alex\Desktop\voile-palais-site-copie.jpg" id="268" name="Google Shape;268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1371600"/>
            <a:ext cx="6934200" cy="498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8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LES  MALFORMATIONS  ACQUISES</a:t>
            </a:r>
            <a:br>
              <a:rPr lang="fr-FR" sz="3200">
                <a:latin typeface="Corbel"/>
                <a:ea typeface="Corbel"/>
                <a:cs typeface="Corbel"/>
                <a:sym typeface="Corbel"/>
              </a:rPr>
            </a:b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74" name="Google Shape;274;p18"/>
          <p:cNvSpPr txBox="1"/>
          <p:nvPr>
            <p:ph idx="1" type="body"/>
          </p:nvPr>
        </p:nvSpPr>
        <p:spPr>
          <a:xfrm>
            <a:off x="914400" y="1219200"/>
            <a:ext cx="7772400" cy="513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b="1" lang="fr-FR" u="sng">
                <a:solidFill>
                  <a:srgbClr val="FFC000"/>
                </a:solidFill>
              </a:rPr>
              <a:t>Le voile du palais peut être adhérent </a:t>
            </a:r>
            <a:r>
              <a:rPr lang="fr-FR"/>
              <a:t>à la paroi postérieure après des interventions chirurgicales, des brûlures chimiques, des blessures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b="1" lang="fr-FR" u="sng">
                <a:solidFill>
                  <a:srgbClr val="FFC000"/>
                </a:solidFill>
              </a:rPr>
              <a:t>Le voile du palais peut être insuffisant </a:t>
            </a:r>
            <a:r>
              <a:rPr lang="fr-FR"/>
              <a:t>par la destruction néoplasique ou chirurgicale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la chirurgie du ronflement est l’un des exemples les plus courants de la pratique actuelle.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175498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9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lang="fr-FR"/>
              <a:t>LES TRAUMATISMES DU PHARYNX</a:t>
            </a:r>
            <a:br>
              <a:rPr lang="fr-FR"/>
            </a:br>
            <a:endParaRPr/>
          </a:p>
        </p:txBody>
      </p:sp>
      <p:sp>
        <p:nvSpPr>
          <p:cNvPr id="280" name="Google Shape;280;p19"/>
          <p:cNvSpPr txBox="1"/>
          <p:nvPr>
            <p:ph idx="1" type="body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61925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Font typeface="Noto Sans Symbols"/>
              <a:buChar char="♦"/>
            </a:pPr>
            <a:r>
              <a:rPr lang="fr-FR"/>
              <a:t>traumatismes mécaniques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Font typeface="Noto Sans Symbols"/>
              <a:buChar char="♦"/>
            </a:pPr>
            <a:r>
              <a:rPr lang="fr-FR"/>
              <a:t>traumatismes thermiques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♦ traumatismes chimiques</a:t>
            </a:r>
            <a:endParaRPr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0"/>
          <p:cNvSpPr txBox="1"/>
          <p:nvPr>
            <p:ph type="title"/>
          </p:nvPr>
        </p:nvSpPr>
        <p:spPr>
          <a:xfrm>
            <a:off x="457200" y="0"/>
            <a:ext cx="9829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LES  TRAUMATISMES  MÉCANIQUES</a:t>
            </a:r>
            <a:br>
              <a:rPr b="1" lang="fr-FR" sz="3200">
                <a:latin typeface="Corbel"/>
                <a:ea typeface="Corbel"/>
                <a:cs typeface="Corbel"/>
                <a:sym typeface="Corbel"/>
              </a:rPr>
            </a:br>
            <a:r>
              <a:rPr lang="fr-FR" sz="2400">
                <a:solidFill>
                  <a:srgbClr val="FFC000"/>
                </a:solidFill>
                <a:latin typeface="Corbel"/>
                <a:ea typeface="Corbel"/>
                <a:cs typeface="Corbel"/>
                <a:sym typeface="Corbel"/>
              </a:rPr>
              <a:t>les  blessures  et  les  piqûres </a:t>
            </a:r>
            <a:br>
              <a:rPr lang="fr-FR"/>
            </a:br>
            <a:br>
              <a:rPr lang="fr-FR"/>
            </a:br>
            <a:endParaRPr/>
          </a:p>
        </p:txBody>
      </p:sp>
      <p:sp>
        <p:nvSpPr>
          <p:cNvPr id="286" name="Google Shape;286;p20"/>
          <p:cNvSpPr txBox="1"/>
          <p:nvPr>
            <p:ph idx="1" type="body"/>
          </p:nvPr>
        </p:nvSpPr>
        <p:spPr>
          <a:xfrm>
            <a:off x="381000" y="990600"/>
            <a:ext cx="9372600" cy="6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8000">
                <a:solidFill>
                  <a:srgbClr val="FFC000"/>
                </a:solidFill>
              </a:rPr>
              <a:t>Étiologie </a:t>
            </a:r>
            <a:endParaRPr b="1" sz="80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b="1" lang="fr-FR" sz="6400"/>
              <a:t> </a:t>
            </a:r>
            <a:r>
              <a:rPr lang="fr-FR" sz="6400"/>
              <a:t> l’introduction des objets ou des jouets et/ou la chute avec ces objets dans la bouche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6400"/>
              <a:t>des objets contondants pointus - os pointus, des cure-dents, épingles, fourchettes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6400"/>
              <a:t>  les piqûres d’insectes (des abeilles, des guêpes) -  l’œdème allergique → des problèmes respiratoires 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6400">
                <a:solidFill>
                  <a:srgbClr val="FFC000"/>
                </a:solidFill>
              </a:rPr>
              <a:t>Localisation </a:t>
            </a:r>
            <a:endParaRPr b="1" sz="6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6400"/>
              <a:t>du voile du palais 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6400"/>
              <a:t>de la paroi postérieure pharyngienne 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6400"/>
              <a:t> des piliers amygdaliens 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6400"/>
              <a:t> des amygdales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8000">
                <a:solidFill>
                  <a:srgbClr val="FFC000"/>
                </a:solidFill>
              </a:rPr>
              <a:t> Symptomatologie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6400"/>
              <a:t> odynophagie 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6400"/>
              <a:t>dysphagie 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6400"/>
              <a:t> salive sanguinolente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8000">
                <a:solidFill>
                  <a:srgbClr val="FFC000"/>
                </a:solidFill>
              </a:rPr>
              <a:t> </a:t>
            </a:r>
            <a:r>
              <a:rPr b="1" lang="fr-FR" sz="8000">
                <a:solidFill>
                  <a:srgbClr val="FFC000"/>
                </a:solidFill>
              </a:rPr>
              <a:t>Traitement </a:t>
            </a:r>
            <a:endParaRPr sz="80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6400"/>
              <a:t> la nourriture liquide ou parentérale 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6400"/>
              <a:t> hygiène locale rigoureuse 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6400"/>
              <a:t> antiallergiques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6400"/>
              <a:t> désinfectants locaux 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6400"/>
              <a:t>-des antibiotiques à large spectre - très rarement </a:t>
            </a:r>
            <a:endParaRPr sz="6400"/>
          </a:p>
          <a:p>
            <a:pPr indent="-297656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1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LES  TRAUMATISMES  THERMIQUES</a:t>
            </a:r>
            <a:br>
              <a:rPr lang="fr-FR"/>
            </a:br>
            <a:endParaRPr/>
          </a:p>
        </p:txBody>
      </p:sp>
      <p:sp>
        <p:nvSpPr>
          <p:cNvPr id="292" name="Google Shape;292;p21"/>
          <p:cNvSpPr txBox="1"/>
          <p:nvPr>
            <p:ph idx="1" type="body"/>
          </p:nvPr>
        </p:nvSpPr>
        <p:spPr>
          <a:xfrm>
            <a:off x="914400" y="1295400"/>
            <a:ext cx="77724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3300">
                <a:solidFill>
                  <a:srgbClr val="FFC000"/>
                </a:solidFill>
              </a:rPr>
              <a:t>Étiologie :</a:t>
            </a:r>
            <a:endParaRPr sz="33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l’ingestion des liquides, des aliments brûlants - la cause la plus fréquente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33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300">
                <a:solidFill>
                  <a:srgbClr val="FFC000"/>
                </a:solidFill>
              </a:rPr>
              <a:t>Symptomatologie :</a:t>
            </a:r>
            <a:endParaRPr sz="33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odynophagie - sensation de brûlure au niveau du pharynx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 dysphagie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300">
                <a:solidFill>
                  <a:srgbClr val="FFC000"/>
                </a:solidFill>
              </a:rPr>
              <a:t>Traitement :</a:t>
            </a:r>
            <a:endParaRPr sz="33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  la nourriture liquide, semi-liquide ou  parentérale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 hygiène rigoureuse locale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 analgésiques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désinfectants locaux</a:t>
            </a:r>
            <a:endParaRPr/>
          </a:p>
          <a:p>
            <a:pPr indent="-202644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2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LES  TRAUMATISMES  CHIMIQUES</a:t>
            </a:r>
            <a:br>
              <a:rPr lang="fr-FR" sz="3200">
                <a:latin typeface="Corbel"/>
                <a:ea typeface="Corbel"/>
                <a:cs typeface="Corbel"/>
                <a:sym typeface="Corbel"/>
              </a:rPr>
            </a:b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98" name="Google Shape;298;p22"/>
          <p:cNvSpPr txBox="1"/>
          <p:nvPr>
            <p:ph idx="1" type="body"/>
          </p:nvPr>
        </p:nvSpPr>
        <p:spPr>
          <a:xfrm>
            <a:off x="381000" y="990600"/>
            <a:ext cx="876300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8000" u="sng">
                <a:solidFill>
                  <a:srgbClr val="FFC000"/>
                </a:solidFill>
              </a:rPr>
              <a:t>Étiologie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l’ingestion accidentelle ou volontaire de substances caustiques :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6400"/>
              <a:t>        des  bases - hydroxyde de sodium (soude caustique) la plus courante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6400"/>
              <a:t>        des acides - acide sulfurique, acide nitrique, acide acétique glacial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6400"/>
              <a:t> 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8000" u="sng">
                <a:solidFill>
                  <a:srgbClr val="FFC000"/>
                </a:solidFill>
              </a:rPr>
              <a:t>Symptomatologie</a:t>
            </a:r>
            <a:r>
              <a:rPr b="1" lang="fr-FR" sz="6400" u="sng">
                <a:solidFill>
                  <a:srgbClr val="FFC000"/>
                </a:solidFill>
              </a:rPr>
              <a:t> </a:t>
            </a:r>
            <a:endParaRPr sz="64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6400"/>
              <a:t>odynophagie - sensation de brûlure pharyngée 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6400"/>
              <a:t>dysphagie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6400"/>
              <a:t> 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8000" u="sng">
                <a:solidFill>
                  <a:srgbClr val="FFC000"/>
                </a:solidFill>
              </a:rPr>
              <a:t>Traitement </a:t>
            </a:r>
            <a:endParaRPr sz="80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La neutralisation de la substance    - la précocité de l’applicationest importante,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                                                                      - est efficace dans les premières 3 heures après l’ingestion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6400" u="sng"/>
              <a:t>Pour la base :</a:t>
            </a:r>
            <a:endParaRPr sz="6400" u="sng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6400"/>
              <a:t>          jus de citron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6400"/>
              <a:t>          de l’eau avec du vinaigre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6400" u="sng"/>
              <a:t>Pour les acides </a:t>
            </a:r>
            <a:r>
              <a:rPr lang="fr-FR" sz="6400"/>
              <a:t>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6400"/>
              <a:t>           lait 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6400"/>
              <a:t>           Magnésia Usta 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6400"/>
              <a:t>           de l’eau albumineuse (8 blancs d’œufs par 1 litre d’eau)</a:t>
            </a:r>
            <a:endParaRPr sz="6400"/>
          </a:p>
          <a:p>
            <a:pPr indent="-297656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3"/>
          <p:cNvSpPr txBox="1"/>
          <p:nvPr>
            <p:ph type="title"/>
          </p:nvPr>
        </p:nvSpPr>
        <p:spPr>
          <a:xfrm>
            <a:off x="914400" y="304800"/>
            <a:ext cx="7772400" cy="1121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LES  CORPS  ÉTRANGERS  PHARYNGIENS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04" name="Google Shape;304;p23"/>
          <p:cNvSpPr txBox="1"/>
          <p:nvPr>
            <p:ph idx="1" type="body"/>
          </p:nvPr>
        </p:nvSpPr>
        <p:spPr>
          <a:xfrm>
            <a:off x="533400" y="457200"/>
            <a:ext cx="8153400" cy="6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44531"/>
              <a:buNone/>
            </a:pPr>
            <a:br>
              <a:rPr b="1" lang="fr-FR"/>
            </a:b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8000">
                <a:solidFill>
                  <a:srgbClr val="FFC000"/>
                </a:solidFill>
              </a:rPr>
              <a:t>Classification </a:t>
            </a:r>
            <a:endParaRPr sz="80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6400"/>
              <a:t> corps étrangers alimentaires : - les arêtes de poisson 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6400"/>
              <a:t> les os d’oiseaux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6400"/>
              <a:t>corps étrangers non alimentaires : clous, épingles, cure-dents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8000">
                <a:solidFill>
                  <a:srgbClr val="FFC000"/>
                </a:solidFill>
              </a:rPr>
              <a:t>Des facteurs prédisposant </a:t>
            </a:r>
            <a:endParaRPr sz="8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6400"/>
              <a:t> l’ingestion rapide des aliments 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6400"/>
              <a:t> toux 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6400"/>
              <a:t> le rire lors de la mastication 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6400"/>
              <a:t> hoquet 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6400"/>
              <a:t> peur 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6400"/>
              <a:t> les prothèses dentaires  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8000">
                <a:solidFill>
                  <a:srgbClr val="FFC000"/>
                </a:solidFill>
              </a:rPr>
              <a:t>Localisation </a:t>
            </a:r>
            <a:endParaRPr sz="80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6400"/>
              <a:t> au niveau de rhino-pharynx - rares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       les  corps étrangers nasaux sont poussés et insérés  dans la tentative échoué  d’extraction → des corps étrangers trachéo-bronchique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6400"/>
              <a:t> au niveau de buccopharynx – le plus fréquent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6400"/>
              <a:t> au niveau de l’amygdale palatine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6400"/>
              <a:t> au niveau de hypopharynx 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6400"/>
              <a:t> base de la langue et de l’amygdale linguale 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6400"/>
              <a:t> l’espace glosso-épiglottique  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6400"/>
              <a:t> sinus piriforme.</a:t>
            </a:r>
            <a:endParaRPr sz="6400"/>
          </a:p>
          <a:p>
            <a:pPr indent="-297656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4"/>
          <p:cNvSpPr txBox="1"/>
          <p:nvPr>
            <p:ph type="title"/>
          </p:nvPr>
        </p:nvSpPr>
        <p:spPr>
          <a:xfrm>
            <a:off x="914400" y="381000"/>
            <a:ext cx="77724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LES  CORPS  ÉTRANGERS  PHARYNGIENS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10" name="Google Shape;310;p24"/>
          <p:cNvSpPr txBox="1"/>
          <p:nvPr>
            <p:ph idx="1" type="body"/>
          </p:nvPr>
        </p:nvSpPr>
        <p:spPr>
          <a:xfrm>
            <a:off x="533400" y="990600"/>
            <a:ext cx="815340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4200">
                <a:solidFill>
                  <a:srgbClr val="FFC000"/>
                </a:solidFill>
              </a:rPr>
              <a:t>Symptomatologie :</a:t>
            </a:r>
            <a:endParaRPr sz="4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89062"/>
              <a:buFont typeface="Noto Sans Symbols"/>
              <a:buChar char="✔"/>
            </a:pPr>
            <a:r>
              <a:rPr lang="fr-FR"/>
              <a:t> </a:t>
            </a:r>
            <a:r>
              <a:rPr lang="fr-FR" sz="3200"/>
              <a:t>odynophagie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3200"/>
              <a:t>sensation de corps étranger 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3200"/>
              <a:t> sialorrhée 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3200"/>
              <a:t> la dysphagie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4200">
                <a:solidFill>
                  <a:srgbClr val="FFC000"/>
                </a:solidFill>
              </a:rPr>
              <a:t>Diagnostic positif :</a:t>
            </a:r>
            <a:endParaRPr sz="4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3200"/>
              <a:t> l’anamnèse 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3200"/>
              <a:t>examen clinique objectif 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3200"/>
              <a:t> rhinoscopie postérieure 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3200"/>
              <a:t>bucco-pharyngoscopie 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3200"/>
              <a:t> laryngoscopie indirecte 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3200"/>
              <a:t> l’examen radiologique pour les corps étrangers métalliques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67857"/>
              <a:buNone/>
            </a:pPr>
            <a:r>
              <a:rPr lang="fr-FR"/>
              <a:t> </a:t>
            </a:r>
            <a:r>
              <a:rPr b="1" lang="fr-FR" sz="4200">
                <a:solidFill>
                  <a:srgbClr val="FFC000"/>
                </a:solidFill>
              </a:rPr>
              <a:t>Traitement :</a:t>
            </a:r>
            <a:endParaRPr sz="4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/>
              <a:t> </a:t>
            </a:r>
            <a:r>
              <a:rPr b="1" i="1" lang="fr-FR" sz="3800" u="sng"/>
              <a:t>l’extraction du corps étranger par les voies naturelles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800"/>
              <a:t>          contrôle visuel à l’aide des instruments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800"/>
              <a:t>          anesthésie locale ou générale</a:t>
            </a:r>
            <a:endParaRPr sz="3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5"/>
          <p:cNvSpPr txBox="1"/>
          <p:nvPr>
            <p:ph type="title"/>
          </p:nvPr>
        </p:nvSpPr>
        <p:spPr>
          <a:xfrm>
            <a:off x="457200" y="0"/>
            <a:ext cx="8686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br>
              <a:rPr lang="fr-FR"/>
            </a:b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LES  INFLAMMATIONS  AIGUËS  DU  PHARYNX</a:t>
            </a:r>
            <a:br>
              <a:rPr lang="fr-FR"/>
            </a:br>
            <a:endParaRPr/>
          </a:p>
        </p:txBody>
      </p:sp>
      <p:sp>
        <p:nvSpPr>
          <p:cNvPr id="316" name="Google Shape;316;p25"/>
          <p:cNvSpPr txBox="1"/>
          <p:nvPr>
            <p:ph idx="1" type="body"/>
          </p:nvPr>
        </p:nvSpPr>
        <p:spPr>
          <a:xfrm>
            <a:off x="381000" y="1219200"/>
            <a:ext cx="89154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fr-FR"/>
              <a:t>  </a:t>
            </a:r>
            <a:r>
              <a:rPr lang="fr-FR" sz="2800"/>
              <a:t>la maladie inflammatoire la plus fréquente de l’enfant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660"/>
              <a:buNone/>
            </a:pPr>
            <a:r>
              <a:t/>
            </a:r>
            <a:endParaRPr sz="2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3040"/>
              <a:buNone/>
            </a:pPr>
            <a:r>
              <a:rPr b="1" lang="fr-FR" sz="3200">
                <a:solidFill>
                  <a:srgbClr val="FFC000"/>
                </a:solidFill>
              </a:rPr>
              <a:t>Classification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660"/>
              <a:buNone/>
            </a:pPr>
            <a:r>
              <a:rPr lang="fr-FR" sz="2800"/>
              <a:t> la répartition selon le lieu de la maladie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660"/>
              <a:buNone/>
            </a:pPr>
            <a:r>
              <a:rPr lang="fr-FR" sz="2800"/>
              <a:t> (étage du pharynx affecté)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660"/>
              <a:buNone/>
            </a:pPr>
            <a:r>
              <a:t/>
            </a:r>
            <a:endParaRPr sz="2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660"/>
              <a:buChar char="▪"/>
            </a:pPr>
            <a:r>
              <a:rPr lang="fr-FR" sz="2800"/>
              <a:t>dans les rhino-pharynx – </a:t>
            </a:r>
            <a:r>
              <a:rPr lang="fr-FR" sz="2800">
                <a:solidFill>
                  <a:srgbClr val="FFC000"/>
                </a:solidFill>
              </a:rPr>
              <a:t>l’adénoïdite aiguë </a:t>
            </a:r>
            <a:endParaRPr sz="2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660"/>
              <a:buChar char="▪"/>
            </a:pPr>
            <a:r>
              <a:rPr lang="fr-FR" sz="2800"/>
              <a:t>au niveau du buccopharynx – </a:t>
            </a:r>
            <a:r>
              <a:rPr lang="fr-FR" sz="2800">
                <a:solidFill>
                  <a:srgbClr val="FFC000"/>
                </a:solidFill>
              </a:rPr>
              <a:t>les angines aiguës</a:t>
            </a:r>
            <a:r>
              <a:rPr lang="fr-FR" sz="2800"/>
              <a:t> </a:t>
            </a:r>
            <a:endParaRPr sz="2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660"/>
              <a:buChar char="▪"/>
            </a:pPr>
            <a:r>
              <a:rPr lang="fr-FR" sz="2800"/>
              <a:t>dans l’hypopharynx - </a:t>
            </a:r>
            <a:r>
              <a:rPr lang="fr-FR" sz="2800">
                <a:solidFill>
                  <a:srgbClr val="FFC000"/>
                </a:solidFill>
              </a:rPr>
              <a:t>amygdalite linguale</a:t>
            </a:r>
            <a:r>
              <a:rPr lang="fr-FR" sz="2800"/>
              <a:t> </a:t>
            </a:r>
            <a:endParaRPr sz="2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660"/>
              <a:buNone/>
            </a:pPr>
            <a:r>
              <a:rPr lang="fr-FR" sz="2800"/>
              <a:t>                                              - </a:t>
            </a:r>
            <a:r>
              <a:rPr lang="fr-FR" sz="2800">
                <a:solidFill>
                  <a:srgbClr val="FFC000"/>
                </a:solidFill>
              </a:rPr>
              <a:t>hypopharyngite aiguë</a:t>
            </a:r>
            <a:endParaRPr sz="2800">
              <a:solidFill>
                <a:srgbClr val="FFC000"/>
              </a:solidFill>
            </a:endParaRPr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6"/>
          <p:cNvSpPr txBox="1"/>
          <p:nvPr>
            <p:ph type="title"/>
          </p:nvPr>
        </p:nvSpPr>
        <p:spPr>
          <a:xfrm>
            <a:off x="609600" y="304800"/>
            <a:ext cx="8077200" cy="1121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L’ ADÉNOÏDITE  AIGUË</a:t>
            </a:r>
            <a:br>
              <a:rPr lang="fr-FR"/>
            </a:br>
            <a:endParaRPr/>
          </a:p>
        </p:txBody>
      </p:sp>
      <p:sp>
        <p:nvSpPr>
          <p:cNvPr id="322" name="Google Shape;322;p26"/>
          <p:cNvSpPr txBox="1"/>
          <p:nvPr>
            <p:ph idx="1" type="body"/>
          </p:nvPr>
        </p:nvSpPr>
        <p:spPr>
          <a:xfrm>
            <a:off x="304800" y="762000"/>
            <a:ext cx="7391400" cy="6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5320"/>
              <a:buNone/>
            </a:pPr>
            <a:r>
              <a:rPr lang="fr-FR" sz="5600"/>
              <a:t> </a:t>
            </a:r>
            <a:r>
              <a:rPr lang="fr-FR" sz="2000"/>
              <a:t>l’inflammation aiguë de l’amygdale pharyngée de Luschka  -  affections  plus courantes de l’enfance</a:t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None/>
            </a:pPr>
            <a:r>
              <a:rPr b="1" lang="fr-FR" sz="2200">
                <a:solidFill>
                  <a:srgbClr val="FFC000"/>
                </a:solidFill>
              </a:rPr>
              <a:t>Étiologie</a:t>
            </a:r>
            <a:endParaRPr b="1" sz="2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805"/>
              <a:buNone/>
            </a:pPr>
            <a:r>
              <a:rPr i="1" lang="fr-FR" sz="1900" u="sng"/>
              <a:t>Les  facteurs déterminants</a:t>
            </a:r>
            <a:r>
              <a:rPr lang="fr-FR" sz="1900" u="sng"/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805"/>
              <a:buNone/>
            </a:pPr>
            <a:r>
              <a:rPr lang="fr-FR" sz="1900"/>
              <a:t> la flore microbienne saprophyte qu’exacerbe leur virulence  /  l’extension d’une infection de voisinage </a:t>
            </a:r>
            <a:endParaRPr sz="1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805"/>
              <a:buNone/>
            </a:pPr>
            <a:r>
              <a:rPr i="1" lang="fr-FR" sz="1900" u="sng"/>
              <a:t>Les facteurs favorisant :</a:t>
            </a:r>
            <a:endParaRPr i="1" sz="1900" u="sng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805"/>
              <a:buFont typeface="Noto Sans Symbols"/>
              <a:buChar char="✔"/>
            </a:pPr>
            <a:r>
              <a:rPr lang="fr-FR" sz="1900"/>
              <a:t>la diminution de la résistance de l’organisme </a:t>
            </a:r>
            <a:endParaRPr sz="1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805"/>
              <a:buFont typeface="Noto Sans Symbols"/>
              <a:buChar char="✔"/>
            </a:pPr>
            <a:r>
              <a:rPr lang="fr-FR" sz="1900"/>
              <a:t> froide </a:t>
            </a:r>
            <a:endParaRPr sz="1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805"/>
              <a:buFont typeface="Noto Sans Symbols"/>
              <a:buChar char="✔"/>
            </a:pPr>
            <a:r>
              <a:rPr lang="fr-FR" sz="1900"/>
              <a:t> le terrain allergique </a:t>
            </a:r>
            <a:endParaRPr sz="1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805"/>
              <a:buFont typeface="Noto Sans Symbols"/>
              <a:buChar char="✔"/>
            </a:pPr>
            <a:r>
              <a:rPr lang="fr-FR" sz="1900"/>
              <a:t> les dystrophies </a:t>
            </a:r>
            <a:endParaRPr sz="1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805"/>
              <a:buFont typeface="Noto Sans Symbols"/>
              <a:buChar char="✔"/>
            </a:pPr>
            <a:r>
              <a:rPr lang="fr-FR" sz="1900"/>
              <a:t>  de la nutrition carentielle </a:t>
            </a:r>
            <a:endParaRPr sz="1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805"/>
              <a:buFont typeface="Noto Sans Symbols"/>
              <a:buChar char="✔"/>
            </a:pPr>
            <a:r>
              <a:rPr lang="fr-FR" sz="1900"/>
              <a:t>  conditions qui réduisent la résistance (diabète, sida)</a:t>
            </a:r>
            <a:endParaRPr sz="1900"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  <p:pic>
        <p:nvPicPr>
          <p:cNvPr id="323" name="Google Shape;32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3276600"/>
            <a:ext cx="2936520" cy="246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7"/>
          <p:cNvSpPr txBox="1"/>
          <p:nvPr>
            <p:ph type="title"/>
          </p:nvPr>
        </p:nvSpPr>
        <p:spPr>
          <a:xfrm>
            <a:off x="609600" y="228600"/>
            <a:ext cx="8001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lang="fr-FR"/>
              <a:t>L’ ADÉNOÏDITE  AIGUË</a:t>
            </a:r>
            <a:br>
              <a:rPr lang="fr-FR"/>
            </a:br>
            <a:endParaRPr/>
          </a:p>
        </p:txBody>
      </p:sp>
      <p:sp>
        <p:nvSpPr>
          <p:cNvPr id="329" name="Google Shape;329;p27"/>
          <p:cNvSpPr txBox="1"/>
          <p:nvPr>
            <p:ph idx="1" type="body"/>
          </p:nvPr>
        </p:nvSpPr>
        <p:spPr>
          <a:xfrm>
            <a:off x="457200" y="1219200"/>
            <a:ext cx="6400800" cy="513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4000">
                <a:solidFill>
                  <a:srgbClr val="FFC000"/>
                </a:solidFill>
              </a:rPr>
              <a:t>Symptomatologie </a:t>
            </a:r>
            <a:endParaRPr sz="40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3600" u="sng"/>
              <a:t>Subjectif </a:t>
            </a:r>
            <a:r>
              <a:rPr lang="fr-FR" sz="3600" u="sng"/>
              <a:t>:</a:t>
            </a:r>
            <a:endParaRPr sz="3600" u="sng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3200" u="sng"/>
              <a:t> </a:t>
            </a:r>
            <a:r>
              <a:rPr i="1" lang="fr-FR" sz="3200" u="sng">
                <a:solidFill>
                  <a:srgbClr val="FFC000"/>
                </a:solidFill>
              </a:rPr>
              <a:t>a. À nourrisson</a:t>
            </a:r>
            <a:r>
              <a:rPr lang="fr-FR" sz="3200" u="sng">
                <a:solidFill>
                  <a:srgbClr val="FFC000"/>
                </a:solidFill>
              </a:rPr>
              <a:t> </a:t>
            </a:r>
            <a:endParaRPr sz="32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3200"/>
              <a:t>  l’apparition de température de 39 - 40 °C - congestion nasale - &gt; suce avec difficulté - &gt; perts de poids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3200"/>
              <a:t> la pyophagie peut provoquer des troubles digestifs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3200"/>
              <a:t> les complications sont plus fréquentes.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3200" u="sng">
                <a:solidFill>
                  <a:srgbClr val="FFC000"/>
                </a:solidFill>
              </a:rPr>
              <a:t>b.</a:t>
            </a:r>
            <a:r>
              <a:rPr lang="fr-FR" sz="3200" u="sng">
                <a:solidFill>
                  <a:srgbClr val="FFC000"/>
                </a:solidFill>
              </a:rPr>
              <a:t> </a:t>
            </a:r>
            <a:r>
              <a:rPr i="1" lang="fr-FR" sz="3200" u="sng">
                <a:solidFill>
                  <a:srgbClr val="FFC000"/>
                </a:solidFill>
              </a:rPr>
              <a:t>À l’enfant de plus d’une année </a:t>
            </a:r>
            <a:endParaRPr sz="32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3200"/>
              <a:t> début soudain, T = 39 - 40</a:t>
            </a:r>
            <a:r>
              <a:rPr baseline="30000" lang="fr-FR" sz="3200"/>
              <a:t>0</a:t>
            </a:r>
            <a:r>
              <a:rPr lang="fr-FR" sz="3200"/>
              <a:t>C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3200"/>
              <a:t> obstruction nasale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3600" u="sng"/>
              <a:t>Objectif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200"/>
              <a:t>- sécrétions muco-purulentesur la paroi postérieure et dans les cavités nasales 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200"/>
              <a:t>- rhinoscopie postérieure - congestion, gonflement des amygdales pharyngiennes Luschka</a:t>
            </a:r>
            <a:endParaRPr sz="3200"/>
          </a:p>
          <a:p>
            <a:pPr indent="-22979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id="330" name="Google Shape;33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381000"/>
            <a:ext cx="2362200" cy="1834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0" y="2743200"/>
            <a:ext cx="2371725" cy="2252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8"/>
          <p:cNvSpPr txBox="1"/>
          <p:nvPr>
            <p:ph type="title"/>
          </p:nvPr>
        </p:nvSpPr>
        <p:spPr>
          <a:xfrm>
            <a:off x="914400" y="228600"/>
            <a:ext cx="7772400" cy="119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L’ ADÉNOÏDITE  AIGUË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37" name="Google Shape;337;p28"/>
          <p:cNvSpPr txBox="1"/>
          <p:nvPr>
            <p:ph idx="1" type="body"/>
          </p:nvPr>
        </p:nvSpPr>
        <p:spPr>
          <a:xfrm>
            <a:off x="381000" y="1219200"/>
            <a:ext cx="64770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7200">
                <a:solidFill>
                  <a:srgbClr val="FFC000"/>
                </a:solidFill>
              </a:rPr>
              <a:t>Diagnostic positif </a:t>
            </a:r>
            <a:r>
              <a:rPr lang="fr-FR" sz="7200"/>
              <a:t>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7200"/>
              <a:t>la fièvre + obstruction nasale + sécrétions muco-purulentes + rhinoscopie postérieure</a:t>
            </a:r>
            <a:endParaRPr sz="7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7200">
                <a:solidFill>
                  <a:srgbClr val="FFC000"/>
                </a:solidFill>
              </a:rPr>
              <a:t>Diagnostic différentiel</a:t>
            </a:r>
            <a:r>
              <a:rPr lang="fr-FR" sz="7200">
                <a:solidFill>
                  <a:srgbClr val="FFC000"/>
                </a:solidFill>
              </a:rPr>
              <a:t> </a:t>
            </a:r>
            <a:endParaRPr sz="7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7200"/>
              <a:t>∙ rhinite aiguë - congestion nasale → rhinoscopie antérieure </a:t>
            </a:r>
            <a:endParaRPr sz="7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7200"/>
              <a:t>∙ angines aiguës - amygdales palatines modifiés → bucco-pharyngoscopie</a:t>
            </a:r>
            <a:endParaRPr sz="7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7200"/>
              <a:t> </a:t>
            </a:r>
            <a:endParaRPr sz="7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7200">
                <a:solidFill>
                  <a:srgbClr val="FFC000"/>
                </a:solidFill>
              </a:rPr>
              <a:t>Évolution </a:t>
            </a:r>
            <a:endParaRPr b="1" sz="7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7200"/>
              <a:t> imprévisible - guérir en 4-5 jours / en 2-3 semaines (forme subaiguë)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7200">
                <a:solidFill>
                  <a:srgbClr val="FFC000"/>
                </a:solidFill>
              </a:rPr>
              <a:t>Complications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7200">
                <a:solidFill>
                  <a:srgbClr val="FFC000"/>
                </a:solidFill>
              </a:rPr>
              <a:t> </a:t>
            </a:r>
            <a:r>
              <a:rPr lang="fr-FR" sz="7200"/>
              <a:t>- otite moyenne aiguë catarrhale / suppurée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7200"/>
              <a:t>- infections descendantes des voies respiratoires : laryngite, laryngo-trachéite </a:t>
            </a:r>
            <a:endParaRPr sz="7200"/>
          </a:p>
          <a:p>
            <a:pPr indent="-297656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id="338" name="Google Shape;33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8400" y="4648200"/>
            <a:ext cx="2743200" cy="1992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8400" y="304800"/>
            <a:ext cx="2743200" cy="4181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9"/>
          <p:cNvSpPr txBox="1"/>
          <p:nvPr>
            <p:ph type="title"/>
          </p:nvPr>
        </p:nvSpPr>
        <p:spPr>
          <a:xfrm>
            <a:off x="533400" y="512064"/>
            <a:ext cx="8153400" cy="783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lang="fr-FR"/>
              <a:t>L’ ADÉNOÏDITE  AIGUË</a:t>
            </a:r>
            <a:endParaRPr/>
          </a:p>
        </p:txBody>
      </p:sp>
      <p:sp>
        <p:nvSpPr>
          <p:cNvPr id="345" name="Google Shape;345;p29"/>
          <p:cNvSpPr txBox="1"/>
          <p:nvPr>
            <p:ph idx="1" type="body"/>
          </p:nvPr>
        </p:nvSpPr>
        <p:spPr>
          <a:xfrm>
            <a:off x="457200" y="1219200"/>
            <a:ext cx="6400800" cy="513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3200">
                <a:solidFill>
                  <a:srgbClr val="FFC000"/>
                </a:solidFill>
              </a:rPr>
              <a:t>Traitement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3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3200"/>
              <a:t> antibiothérapie - Amoxicilline, Augmentin 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3200"/>
              <a:t> antithermiques - Paracétamol, Ibuprofen 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3200"/>
              <a:t>traitement local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▪"/>
            </a:pPr>
            <a:r>
              <a:rPr lang="fr-FR" sz="3200"/>
              <a:t>  </a:t>
            </a:r>
            <a:r>
              <a:rPr lang="fr-FR" sz="2600"/>
              <a:t>désinfection nasopharyngée (Collargol, Protargol 1 %)</a:t>
            </a:r>
            <a:endParaRPr sz="2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▪"/>
            </a:pPr>
            <a:r>
              <a:rPr lang="fr-FR" sz="2600"/>
              <a:t>vasoconstricteurs (Nasivis, Olynth)</a:t>
            </a:r>
            <a:endParaRPr sz="2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600"/>
              <a:t> </a:t>
            </a:r>
            <a:endParaRPr sz="2600"/>
          </a:p>
          <a:p>
            <a:pPr indent="-175498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id="346" name="Google Shape;34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200" y="1264000"/>
            <a:ext cx="2765657" cy="231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8400" y="4608931"/>
            <a:ext cx="2819400" cy="1868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0"/>
          <p:cNvSpPr txBox="1"/>
          <p:nvPr>
            <p:ph type="title"/>
          </p:nvPr>
        </p:nvSpPr>
        <p:spPr>
          <a:xfrm>
            <a:off x="381000" y="152400"/>
            <a:ext cx="83058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LES  ANGINES  AIGUËS</a:t>
            </a:r>
            <a:br>
              <a:rPr lang="fr-FR"/>
            </a:br>
            <a:endParaRPr/>
          </a:p>
        </p:txBody>
      </p:sp>
      <p:sp>
        <p:nvSpPr>
          <p:cNvPr id="353" name="Google Shape;353;p30"/>
          <p:cNvSpPr txBox="1"/>
          <p:nvPr>
            <p:ph idx="1" type="body"/>
          </p:nvPr>
        </p:nvSpPr>
        <p:spPr>
          <a:xfrm>
            <a:off x="685800" y="609600"/>
            <a:ext cx="8077200" cy="6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4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4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8000" u="sng">
                <a:solidFill>
                  <a:srgbClr val="FFC000"/>
                </a:solidFill>
              </a:rPr>
              <a:t>Classification :</a:t>
            </a:r>
            <a:endParaRPr b="1" sz="80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 </a:t>
            </a:r>
            <a:r>
              <a:rPr b="1" lang="fr-FR" sz="7200" u="sng">
                <a:solidFill>
                  <a:srgbClr val="FFC000"/>
                </a:solidFill>
              </a:rPr>
              <a:t>1. Des angines aiguës non spécifiques</a:t>
            </a:r>
            <a:endParaRPr sz="7200" u="sng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a. angine aiguë érythémateuse ;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b. angine aiguë érythémato-pultacée,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c. angine aiguë pseudo-membraneuse nondiphtérique,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d. angine aiguë ulcéreuse.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5600">
                <a:solidFill>
                  <a:srgbClr val="FFC000"/>
                </a:solidFill>
              </a:rPr>
              <a:t>2. </a:t>
            </a:r>
            <a:r>
              <a:rPr b="1" lang="fr-FR" sz="5600" u="sng">
                <a:solidFill>
                  <a:srgbClr val="FFC000"/>
                </a:solidFill>
              </a:rPr>
              <a:t>Des angines aiguës spécifiques</a:t>
            </a:r>
            <a:r>
              <a:rPr b="1" lang="fr-FR" sz="5600">
                <a:solidFill>
                  <a:srgbClr val="FFC000"/>
                </a:solidFill>
              </a:rPr>
              <a:t> </a:t>
            </a:r>
            <a:endParaRPr b="1" sz="56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1. angine aiguë d’écarlate,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2. angine aiguë grippale,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3. angine aiguë herpétique,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4. angine aiguë diphtérique,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5. angine aiguë de la mononucléose infectieuse,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6. les viroses APC.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5600">
                <a:solidFill>
                  <a:srgbClr val="FFC000"/>
                </a:solidFill>
              </a:rPr>
              <a:t>3. </a:t>
            </a:r>
            <a:r>
              <a:rPr b="1" lang="fr-FR" sz="5600" u="sng">
                <a:solidFill>
                  <a:srgbClr val="FFC000"/>
                </a:solidFill>
              </a:rPr>
              <a:t>Des autres types des angines</a:t>
            </a:r>
            <a:r>
              <a:rPr lang="fr-FR" sz="5600"/>
              <a:t>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1. des angines des maladies hématologiques,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2. l’angine aiguë aphteuse,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3. l’angine des dermatoses bulleuses,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4. l’œdème de Quincke.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 </a:t>
            </a:r>
            <a:endParaRPr/>
          </a:p>
          <a:p>
            <a:pPr indent="-297656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1"/>
          <p:cNvSpPr txBox="1"/>
          <p:nvPr>
            <p:ph type="title"/>
          </p:nvPr>
        </p:nvSpPr>
        <p:spPr>
          <a:xfrm>
            <a:off x="8382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 a. L’ ANGINE  AIGUË  ÉRYTHÉMATEUSE</a:t>
            </a:r>
            <a:br>
              <a:rPr lang="fr-FR"/>
            </a:br>
            <a:endParaRPr/>
          </a:p>
        </p:txBody>
      </p:sp>
      <p:sp>
        <p:nvSpPr>
          <p:cNvPr id="359" name="Google Shape;359;p31"/>
          <p:cNvSpPr txBox="1"/>
          <p:nvPr>
            <p:ph idx="1" type="body"/>
          </p:nvPr>
        </p:nvSpPr>
        <p:spPr>
          <a:xfrm>
            <a:off x="381000" y="685800"/>
            <a:ext cx="7010400" cy="6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 </a:t>
            </a:r>
            <a:r>
              <a:rPr b="1" i="1" lang="fr-FR" sz="6400" u="sng"/>
              <a:t>angine virale,rouge </a:t>
            </a:r>
            <a:endParaRPr b="1" i="1" sz="6400" u="sng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7200" u="sng">
                <a:solidFill>
                  <a:srgbClr val="FFC000"/>
                </a:solidFill>
              </a:rPr>
              <a:t>Étiologie </a:t>
            </a:r>
            <a:endParaRPr b="1" sz="72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virus respiratoires / saisonnière / contagieuse  dans les communautés (crèches, jardins d’enfants, écoles) 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6400"/>
              <a:t>Facteurs prédisposants :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6400"/>
              <a:t> le froid  / l’humidité 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6400"/>
              <a:t> la fatigue 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6400"/>
              <a:t> la pollution de l’air 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6400"/>
              <a:t> les boissons froides 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7200" u="sng">
                <a:solidFill>
                  <a:srgbClr val="FFC000"/>
                </a:solidFill>
              </a:rPr>
              <a:t>Symptomatologie </a:t>
            </a:r>
            <a:endParaRPr sz="72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6400" u="sng">
                <a:solidFill>
                  <a:srgbClr val="FFC000"/>
                </a:solidFill>
              </a:rPr>
              <a:t>Subjectif :</a:t>
            </a:r>
            <a:endParaRPr sz="64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6400"/>
              <a:t>le début brutal frissons, de la fièvre, céphalées -  plus prononcés chez les enfants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- sensation de sécheresse dans la gorge, odynophagie, dysphagie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6400" u="sng">
                <a:solidFill>
                  <a:srgbClr val="FFC000"/>
                </a:solidFill>
              </a:rPr>
              <a:t>Objectif :</a:t>
            </a:r>
            <a:endParaRPr sz="64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6400"/>
              <a:t> congestion de la muqueuse pharyngée diffuse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6400"/>
              <a:t> adénopathie latéro-cervicale douloureux est incompatible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6400"/>
              <a:t> après 2-3 jours sur le voile - des arborisations vasculaires disparates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                                                       - des microvésicules avec du contenu transparent.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id="360" name="Google Shape;36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8400" y="1524000"/>
            <a:ext cx="2451246" cy="22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2"/>
          <p:cNvSpPr txBox="1"/>
          <p:nvPr>
            <p:ph type="title"/>
          </p:nvPr>
        </p:nvSpPr>
        <p:spPr>
          <a:xfrm>
            <a:off x="914400" y="3048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a. L’ ANGINE  AIGUË  ÉRYTHÉMATEUSE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66" name="Google Shape;366;p32"/>
          <p:cNvSpPr txBox="1"/>
          <p:nvPr>
            <p:ph idx="1" type="body"/>
          </p:nvPr>
        </p:nvSpPr>
        <p:spPr>
          <a:xfrm>
            <a:off x="457200" y="762000"/>
            <a:ext cx="8229600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38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b="1" sz="64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7200" u="sng">
                <a:solidFill>
                  <a:srgbClr val="FFC000"/>
                </a:solidFill>
              </a:rPr>
              <a:t>Diagnostic positif</a:t>
            </a:r>
            <a:r>
              <a:rPr b="1" lang="fr-FR" sz="7200">
                <a:solidFill>
                  <a:srgbClr val="FFC000"/>
                </a:solidFill>
              </a:rPr>
              <a:t> </a:t>
            </a:r>
            <a:endParaRPr sz="7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les facteurs épidémiologiques + signes généraux discrets + l’aspect du pharynx 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7200" u="sng">
                <a:solidFill>
                  <a:srgbClr val="FFC000"/>
                </a:solidFill>
              </a:rPr>
              <a:t>Diagnostic différentiel</a:t>
            </a:r>
            <a:r>
              <a:rPr b="1" lang="fr-FR" sz="6400">
                <a:solidFill>
                  <a:srgbClr val="FFC000"/>
                </a:solidFill>
              </a:rPr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- les autres angines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- lésions thermiques ou chimiques du pharynx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b="1" sz="64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b="1" sz="64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7200" u="sng">
                <a:solidFill>
                  <a:srgbClr val="FFC000"/>
                </a:solidFill>
              </a:rPr>
              <a:t>Évolutio</a:t>
            </a:r>
            <a:r>
              <a:rPr b="1" lang="fr-FR" sz="7200">
                <a:solidFill>
                  <a:srgbClr val="FFC000"/>
                </a:solidFill>
              </a:rPr>
              <a:t>n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6400">
                <a:solidFill>
                  <a:srgbClr val="FFC000"/>
                </a:solidFill>
              </a:rPr>
              <a:t> </a:t>
            </a:r>
            <a:r>
              <a:rPr lang="fr-FR" sz="6400"/>
              <a:t>est courte, 3-4 jours à l’adulte, plus prolongée à l’enfant 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7200" u="sng">
                <a:solidFill>
                  <a:srgbClr val="FFC000"/>
                </a:solidFill>
              </a:rPr>
              <a:t>Complications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6400" u="sng">
                <a:solidFill>
                  <a:srgbClr val="FFC000"/>
                </a:solidFill>
              </a:rPr>
              <a:t>  </a:t>
            </a:r>
            <a:r>
              <a:rPr lang="fr-FR" sz="6400"/>
              <a:t>- la prolifération microbienne 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 - la laryngite aiguë 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 - laryngo-trachéite aiguë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7200" u="sng">
                <a:solidFill>
                  <a:srgbClr val="FFC000"/>
                </a:solidFill>
              </a:rPr>
              <a:t>Traitement</a:t>
            </a:r>
            <a:endParaRPr sz="72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6400" u="sng"/>
              <a:t>Généra</a:t>
            </a:r>
            <a:r>
              <a:rPr lang="fr-FR" sz="6400" u="sng"/>
              <a:t>l</a:t>
            </a:r>
            <a:r>
              <a:rPr lang="fr-FR" sz="6400"/>
              <a:t> - Symptomatique  / anti-inflammatoires / antipyrétiques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6400" u="sng"/>
              <a:t>Locales</a:t>
            </a:r>
            <a:r>
              <a:rPr lang="fr-FR" sz="6400"/>
              <a:t>  - Désinfectants Comprimés  / Spray 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b="1" sz="6400" u="sng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6400" u="sng"/>
              <a:t>C.I.- PAS D’ANTIBIOTIQUES</a:t>
            </a:r>
            <a:r>
              <a:rPr lang="fr-FR" sz="6400"/>
              <a:t> </a:t>
            </a:r>
            <a:endParaRPr sz="6400"/>
          </a:p>
          <a:p>
            <a:pPr indent="-297656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297656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descr="C:\Users\Alex\Desktop\descărcare.jpg" id="367" name="Google Shape;36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7400" y="2362200"/>
            <a:ext cx="3048000" cy="22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3"/>
          <p:cNvSpPr txBox="1"/>
          <p:nvPr>
            <p:ph type="title"/>
          </p:nvPr>
        </p:nvSpPr>
        <p:spPr>
          <a:xfrm>
            <a:off x="381000" y="304800"/>
            <a:ext cx="9753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b. L’ ANGINE  AIGUË  ÉRYTHÉMATO - PULTACÉ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73" name="Google Shape;373;p33"/>
          <p:cNvSpPr txBox="1"/>
          <p:nvPr>
            <p:ph idx="1" type="body"/>
          </p:nvPr>
        </p:nvSpPr>
        <p:spPr>
          <a:xfrm>
            <a:off x="381000" y="914400"/>
            <a:ext cx="8305800" cy="6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6400" u="sng"/>
              <a:t>angine blanche, microbienne</a:t>
            </a:r>
            <a:r>
              <a:rPr b="1" lang="fr-FR" sz="6400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b="1"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9600">
                <a:solidFill>
                  <a:srgbClr val="FFC000"/>
                </a:solidFill>
              </a:rPr>
              <a:t>Étiologie </a:t>
            </a:r>
            <a:endParaRPr sz="96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6400"/>
              <a:t> facteur déterminant</a:t>
            </a:r>
            <a:r>
              <a:rPr lang="fr-FR" sz="6400"/>
              <a:t> est la flore microbienne :</a:t>
            </a:r>
            <a:br>
              <a:rPr lang="fr-FR" sz="6400"/>
            </a:br>
            <a:r>
              <a:rPr lang="fr-FR" sz="6400"/>
              <a:t>- </a:t>
            </a:r>
            <a:r>
              <a:rPr lang="fr-FR" sz="6400" u="sng"/>
              <a:t>streptocoque hémolytique de groupe a </a:t>
            </a:r>
            <a:r>
              <a:rPr lang="fr-FR" sz="6400"/>
              <a:t>- le plus courante </a:t>
            </a:r>
            <a:br>
              <a:rPr lang="fr-FR" sz="6400"/>
            </a:br>
            <a:r>
              <a:rPr lang="fr-FR" sz="6400"/>
              <a:t>- staphylocoque </a:t>
            </a:r>
            <a:br>
              <a:rPr lang="fr-FR" sz="6400"/>
            </a:br>
            <a:r>
              <a:rPr lang="fr-FR" sz="6400"/>
              <a:t>- pneumocoque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6400"/>
              <a:t>facteurs prédisposant :</a:t>
            </a:r>
            <a:br>
              <a:rPr i="1" lang="fr-FR" sz="6400"/>
            </a:br>
            <a:r>
              <a:rPr lang="fr-FR" sz="6400"/>
              <a:t>-  les angines aiguës et lʼangine érythémateuse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9600">
                <a:solidFill>
                  <a:srgbClr val="FFC000"/>
                </a:solidFill>
              </a:rPr>
              <a:t>Symptomatologie </a:t>
            </a:r>
            <a:endParaRPr sz="96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6400" u="sng">
                <a:solidFill>
                  <a:srgbClr val="FFC000"/>
                </a:solidFill>
              </a:rPr>
              <a:t>Subjectif </a:t>
            </a:r>
            <a:r>
              <a:rPr i="1" lang="fr-FR" sz="6400">
                <a:solidFill>
                  <a:srgbClr val="FFC000"/>
                </a:solidFill>
              </a:rPr>
              <a:t>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6400"/>
              <a:t>          - fièvre 39 - 40</a:t>
            </a:r>
            <a:r>
              <a:rPr baseline="30000" lang="fr-FR" sz="6400"/>
              <a:t>0</a:t>
            </a:r>
            <a:r>
              <a:rPr lang="fr-FR" sz="6400"/>
              <a:t>C </a:t>
            </a:r>
            <a:br>
              <a:rPr lang="fr-FR" sz="6400"/>
            </a:br>
            <a:r>
              <a:rPr lang="fr-FR" sz="6400"/>
              <a:t> - odynophagie prononcé  </a:t>
            </a:r>
            <a:br>
              <a:rPr lang="fr-FR" sz="6400"/>
            </a:br>
            <a:r>
              <a:rPr lang="fr-FR" sz="6400"/>
              <a:t> - la dysphagie  </a:t>
            </a:r>
            <a:br>
              <a:rPr lang="fr-FR" sz="6400"/>
            </a:br>
            <a:r>
              <a:rPr lang="fr-FR" sz="6400"/>
              <a:t> - malaise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6400" u="sng">
                <a:solidFill>
                  <a:srgbClr val="FFC000"/>
                </a:solidFill>
              </a:rPr>
              <a:t>Objectif </a:t>
            </a:r>
            <a:r>
              <a:rPr i="1" lang="fr-FR" sz="6400">
                <a:solidFill>
                  <a:srgbClr val="FFC000"/>
                </a:solidFill>
              </a:rPr>
              <a:t>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6400"/>
              <a:t>            </a:t>
            </a:r>
            <a:r>
              <a:rPr lang="fr-FR" sz="6400"/>
              <a:t>- amygdales gonflées, congestionnées, points de pus, des taches blanc jaunâtre 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             sur la face interne au niveau des orifices de la crypte, non-adhérente</a:t>
            </a:r>
            <a:br>
              <a:rPr lang="fr-FR" sz="6400"/>
            </a:br>
            <a:r>
              <a:rPr lang="fr-FR" sz="6400"/>
              <a:t>   - adénopathie sous angulo mandibulaire - stable, sensible, spontanée / palpation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6400" u="sng">
                <a:solidFill>
                  <a:srgbClr val="FFC000"/>
                </a:solidFill>
              </a:rPr>
              <a:t>Laboratoire</a:t>
            </a:r>
            <a:r>
              <a:rPr lang="fr-FR" sz="6400">
                <a:solidFill>
                  <a:srgbClr val="FFC000"/>
                </a:solidFill>
              </a:rPr>
              <a:t> </a:t>
            </a:r>
            <a:r>
              <a:rPr lang="fr-FR" sz="6400"/>
              <a:t>- prélèvement pharyngien / leucocytose avec des neutrophiles</a:t>
            </a:r>
            <a:endParaRPr sz="6400"/>
          </a:p>
          <a:p>
            <a:pPr indent="-297656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id="374" name="Google Shape;37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200" y="1066800"/>
            <a:ext cx="2667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3196960"/>
            <a:ext cx="2667000" cy="1908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4"/>
          <p:cNvSpPr txBox="1"/>
          <p:nvPr>
            <p:ph type="title"/>
          </p:nvPr>
        </p:nvSpPr>
        <p:spPr>
          <a:xfrm>
            <a:off x="457200" y="228600"/>
            <a:ext cx="8991600" cy="1164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b. L ’ANGINE  AIGUË  ÉRYTHÉMATO - PULTACÉ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81" name="Google Shape;381;p34"/>
          <p:cNvSpPr txBox="1"/>
          <p:nvPr>
            <p:ph idx="1" type="body"/>
          </p:nvPr>
        </p:nvSpPr>
        <p:spPr>
          <a:xfrm>
            <a:off x="381000" y="762000"/>
            <a:ext cx="8763000" cy="6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b="1" sz="38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6400">
                <a:solidFill>
                  <a:srgbClr val="FFC000"/>
                </a:solidFill>
              </a:rPr>
              <a:t>Les formes cliniques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- forme la plus grave  - adénopathie marquée, l’état général très altéré  des  complications fréquente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- forme pseudo-membraneuse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6400" u="sng">
                <a:solidFill>
                  <a:srgbClr val="FFC000"/>
                </a:solidFill>
              </a:rPr>
              <a:t>Évolution</a:t>
            </a:r>
            <a:r>
              <a:rPr i="1" lang="fr-FR" sz="6400"/>
              <a:t> </a:t>
            </a:r>
            <a:r>
              <a:rPr lang="fr-FR" sz="6400"/>
              <a:t> 7 à 10 jours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6400" u="sng">
                <a:solidFill>
                  <a:srgbClr val="FFC000"/>
                </a:solidFill>
              </a:rPr>
              <a:t>Complications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- glomérulonéphrite aiguë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- le rhumatisme articulaire aiguë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- les autres angines. 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6400" u="sng">
                <a:solidFill>
                  <a:srgbClr val="FFC000"/>
                </a:solidFill>
              </a:rPr>
              <a:t>Diagnostic positif </a:t>
            </a:r>
            <a:endParaRPr sz="64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- clinique + bactériologique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6400" u="sng">
                <a:solidFill>
                  <a:srgbClr val="FFC000"/>
                </a:solidFill>
              </a:rPr>
              <a:t>Diagnostic différentiel </a:t>
            </a:r>
            <a:endParaRPr sz="64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- diphtérie 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- scarlatine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- mononucléose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- angines de troubles hématologiques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6400" u="sng">
                <a:solidFill>
                  <a:srgbClr val="FFC000"/>
                </a:solidFill>
              </a:rPr>
              <a:t>Traitement </a:t>
            </a:r>
            <a:endParaRPr b="1" sz="64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6400" u="sng"/>
              <a:t>Antibiotigues</a:t>
            </a:r>
            <a:r>
              <a:rPr lang="fr-FR" sz="6400"/>
              <a:t>-  pénicilline - 7 jours  + moldamin </a:t>
            </a:r>
            <a:br>
              <a:rPr lang="fr-FR" sz="6400"/>
            </a:br>
            <a:r>
              <a:rPr lang="fr-FR" sz="6400"/>
              <a:t>                       allergie à la pénicilline → un médicament alternatif  / l’érythromycine 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6400"/>
              <a:t>                                la clarithromycine / les céphalosporines</a:t>
            </a:r>
            <a:endParaRPr sz="6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6400" u="sng"/>
              <a:t> local </a:t>
            </a:r>
            <a:endParaRPr b="1" i="1" sz="6400" u="sng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 </a:t>
            </a:r>
            <a:endParaRPr/>
          </a:p>
        </p:txBody>
      </p:sp>
      <p:pic>
        <p:nvPicPr>
          <p:cNvPr id="382" name="Google Shape;38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1200" y="1704135"/>
            <a:ext cx="2819400" cy="2029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91200" y="3848100"/>
            <a:ext cx="2889318" cy="201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5"/>
          <p:cNvSpPr txBox="1"/>
          <p:nvPr>
            <p:ph type="title"/>
          </p:nvPr>
        </p:nvSpPr>
        <p:spPr>
          <a:xfrm>
            <a:off x="533400" y="152400"/>
            <a:ext cx="81534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c.  ANGINE  PSEUDO  MEMBRANEUSE  AIGUË          NON  DIPHTÉRIQUE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89" name="Google Shape;389;p35"/>
          <p:cNvSpPr txBox="1"/>
          <p:nvPr>
            <p:ph idx="1" type="body"/>
          </p:nvPr>
        </p:nvSpPr>
        <p:spPr>
          <a:xfrm>
            <a:off x="457200" y="1066800"/>
            <a:ext cx="7924800" cy="57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1330"/>
              <a:buNone/>
            </a:pPr>
            <a:r>
              <a:t/>
            </a:r>
            <a:endParaRPr sz="1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 </a:t>
            </a:r>
            <a:r>
              <a:rPr b="1" i="1" lang="fr-FR" sz="1800" u="sng"/>
              <a:t>angine aiguë pultacée dont les points pultacés s’unissent, formant des fausses membranes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</a:t>
            </a:r>
            <a:r>
              <a:rPr b="1" lang="fr-FR" sz="1800" u="sng">
                <a:solidFill>
                  <a:srgbClr val="FFC000"/>
                </a:solidFill>
              </a:rPr>
              <a:t>Étiologie</a:t>
            </a:r>
            <a:r>
              <a:rPr lang="fr-FR" sz="1800"/>
              <a:t> - la flore microbienne banale :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- streptocoque</a:t>
            </a:r>
            <a:endParaRPr sz="1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- staphylocoque</a:t>
            </a:r>
            <a:endParaRPr sz="1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/>
              <a:t>- le pneumocoque</a:t>
            </a:r>
            <a:endParaRPr sz="1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rPr lang="fr-FR" sz="1400" u="sng"/>
              <a:t>conditions de la défense locale et générale et de virulence microbienne accrue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t/>
            </a:r>
            <a:endParaRPr sz="1400" u="sng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b="1" lang="fr-FR" sz="1800" u="sng">
                <a:solidFill>
                  <a:srgbClr val="FFC000"/>
                </a:solidFill>
              </a:rPr>
              <a:t>Symptomatologie </a:t>
            </a:r>
            <a:endParaRPr b="1" sz="18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i="1" lang="fr-FR" sz="1800" u="sng">
                <a:solidFill>
                  <a:srgbClr val="FFC000"/>
                </a:solidFill>
              </a:rPr>
              <a:t>Subjectif</a:t>
            </a:r>
            <a:r>
              <a:rPr lang="fr-FR" sz="1800" u="sng">
                <a:solidFill>
                  <a:srgbClr val="FFC000"/>
                </a:solidFill>
              </a:rPr>
              <a:t> </a:t>
            </a:r>
            <a:r>
              <a:rPr lang="fr-FR" sz="1800">
                <a:solidFill>
                  <a:srgbClr val="FFC000"/>
                </a:solidFill>
              </a:rPr>
              <a:t>-</a:t>
            </a:r>
            <a:r>
              <a:rPr lang="fr-FR" sz="1800"/>
              <a:t> comme dans l’angine érythémato-pultacée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i="1" lang="fr-FR" sz="1800" u="sng">
                <a:solidFill>
                  <a:srgbClr val="FFC000"/>
                </a:solidFill>
              </a:rPr>
              <a:t>Objectif</a:t>
            </a:r>
            <a:r>
              <a:rPr lang="fr-FR" sz="1800">
                <a:solidFill>
                  <a:srgbClr val="FFC000"/>
                </a:solidFill>
              </a:rPr>
              <a:t> </a:t>
            </a:r>
            <a:r>
              <a:rPr lang="fr-FR" sz="1800"/>
              <a:t>- les amygdales palatines sont couvertes de fausse membrane blanc /moins adhérentes  /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se détachent facilement - contrairement à celles de la diphtérie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i="1" lang="fr-FR" sz="1800" u="sng">
                <a:solidFill>
                  <a:srgbClr val="FFC000"/>
                </a:solidFill>
              </a:rPr>
              <a:t>Laboratoire</a:t>
            </a:r>
            <a:r>
              <a:rPr lang="fr-FR" sz="1800" u="sng"/>
              <a:t> </a:t>
            </a:r>
            <a:r>
              <a:rPr lang="fr-FR" sz="1800"/>
              <a:t>- prélèvement pharyngien obligatoire.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t/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 </a:t>
            </a:r>
            <a:endParaRPr sz="1800"/>
          </a:p>
          <a:p>
            <a:pPr indent="-258445" lvl="0" marL="411480" rtl="0" algn="l">
              <a:spcBef>
                <a:spcPts val="700"/>
              </a:spcBef>
              <a:spcAft>
                <a:spcPts val="0"/>
              </a:spcAft>
              <a:buSzPts val="1330"/>
              <a:buNone/>
            </a:pPr>
            <a:r>
              <a:t/>
            </a:r>
            <a:endParaRPr sz="1400"/>
          </a:p>
        </p:txBody>
      </p:sp>
      <p:pic>
        <p:nvPicPr>
          <p:cNvPr id="390" name="Google Shape;39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2209800"/>
            <a:ext cx="2590800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6"/>
          <p:cNvSpPr txBox="1"/>
          <p:nvPr>
            <p:ph type="title"/>
          </p:nvPr>
        </p:nvSpPr>
        <p:spPr>
          <a:xfrm>
            <a:off x="457200" y="228600"/>
            <a:ext cx="8534400" cy="119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c. ANGINE  PSEUDO  MEMBRANEUSE  AIGUË    NON  DIPHTÉRIQUE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96" name="Google Shape;396;p36"/>
          <p:cNvSpPr txBox="1"/>
          <p:nvPr>
            <p:ph idx="1" type="body"/>
          </p:nvPr>
        </p:nvSpPr>
        <p:spPr>
          <a:xfrm>
            <a:off x="457200" y="1828800"/>
            <a:ext cx="76200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3040"/>
              <a:buNone/>
            </a:pPr>
            <a:r>
              <a:rPr b="1" lang="fr-FR" sz="3200" u="sng">
                <a:solidFill>
                  <a:srgbClr val="FFC000"/>
                </a:solidFill>
              </a:rPr>
              <a:t>Diagnostic positif </a:t>
            </a:r>
            <a:endParaRPr b="1" sz="32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660"/>
              <a:buNone/>
            </a:pPr>
            <a:r>
              <a:rPr lang="fr-FR" sz="2800"/>
              <a:t>- clinique et bactériologique</a:t>
            </a:r>
            <a:endParaRPr sz="2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3040"/>
              <a:buNone/>
            </a:pPr>
            <a:r>
              <a:rPr b="1" lang="fr-FR" sz="3200" u="sng">
                <a:solidFill>
                  <a:srgbClr val="FFC000"/>
                </a:solidFill>
              </a:rPr>
              <a:t>Diagnostic différentiel </a:t>
            </a:r>
            <a:endParaRPr b="1" sz="32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660"/>
              <a:buNone/>
            </a:pPr>
            <a:r>
              <a:rPr lang="fr-FR" sz="2800"/>
              <a:t>diphtérie - clinique et puis bactériologique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660"/>
              <a:buNone/>
            </a:pPr>
            <a:r>
              <a:rPr lang="fr-FR" sz="2800"/>
              <a:t>- angine de mononucléose </a:t>
            </a:r>
            <a:endParaRPr sz="2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660"/>
              <a:buNone/>
            </a:pPr>
            <a:r>
              <a:rPr lang="fr-FR" sz="2800"/>
              <a:t>- des angines de troubles hématologiques</a:t>
            </a:r>
            <a:endParaRPr sz="2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3040"/>
              <a:buNone/>
            </a:pPr>
            <a:r>
              <a:rPr b="1" lang="fr-FR" sz="3200" u="sng">
                <a:solidFill>
                  <a:srgbClr val="FFC000"/>
                </a:solidFill>
              </a:rPr>
              <a:t>Traitement</a:t>
            </a:r>
            <a:r>
              <a:rPr b="1" lang="fr-FR" sz="3200"/>
              <a:t> </a:t>
            </a:r>
            <a:r>
              <a:rPr lang="fr-FR" sz="3200"/>
              <a:t>: </a:t>
            </a:r>
            <a:r>
              <a:rPr lang="fr-FR" sz="2800"/>
              <a:t>antibiotigues</a:t>
            </a:r>
            <a:endParaRPr sz="2800"/>
          </a:p>
        </p:txBody>
      </p:sp>
      <p:pic>
        <p:nvPicPr>
          <p:cNvPr descr="C:\Users\Alex\Desktop\pseudomemb.gif" id="397" name="Google Shape;39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1200" y="1143000"/>
            <a:ext cx="2514600" cy="2253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"/>
          <p:cNvSpPr txBox="1"/>
          <p:nvPr>
            <p:ph type="title"/>
          </p:nvPr>
        </p:nvSpPr>
        <p:spPr>
          <a:xfrm>
            <a:off x="228600" y="0"/>
            <a:ext cx="8458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     d.  ANGINE</a:t>
            </a:r>
            <a:r>
              <a:rPr b="1" i="1" lang="fr-FR" sz="3200">
                <a:latin typeface="Corbel"/>
                <a:ea typeface="Corbel"/>
                <a:cs typeface="Corbel"/>
                <a:sym typeface="Corbel"/>
              </a:rPr>
              <a:t>  </a:t>
            </a: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ULCÉREUSE  AIGUË</a:t>
            </a:r>
            <a:br>
              <a:rPr lang="fr-FR" sz="3200">
                <a:latin typeface="Corbel"/>
                <a:ea typeface="Corbel"/>
                <a:cs typeface="Corbel"/>
                <a:sym typeface="Corbel"/>
              </a:rPr>
            </a:b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03" name="Google Shape;403;p37"/>
          <p:cNvSpPr txBox="1"/>
          <p:nvPr>
            <p:ph idx="1" type="body"/>
          </p:nvPr>
        </p:nvSpPr>
        <p:spPr>
          <a:xfrm>
            <a:off x="533400" y="838200"/>
            <a:ext cx="6629400" cy="551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fr-FR"/>
              <a:t> </a:t>
            </a:r>
            <a:r>
              <a:rPr i="1" lang="fr-FR" sz="2600" u="sng"/>
              <a:t>une ulcération dans les amygdales et / ou muqueuse pharyngée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470"/>
              <a:buNone/>
            </a:pPr>
            <a:r>
              <a:rPr lang="fr-FR" sz="2600"/>
              <a:t> Les ulcères superficiels (épithélium) /  profonds (ulcéro-névrotiques)</a:t>
            </a:r>
            <a:endParaRPr sz="2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470"/>
              <a:buNone/>
            </a:pPr>
            <a:r>
              <a:rPr b="1" i="1" lang="fr-FR" sz="2600" u="sng">
                <a:solidFill>
                  <a:srgbClr val="FFC000"/>
                </a:solidFill>
              </a:rPr>
              <a:t>1.Angine avec des ulcérations superficielles :</a:t>
            </a:r>
            <a:br>
              <a:rPr lang="fr-FR" sz="2600"/>
            </a:br>
            <a:r>
              <a:rPr lang="fr-FR" sz="2600"/>
              <a:t>- angine herpétique aiguë </a:t>
            </a:r>
            <a:br>
              <a:rPr lang="fr-FR" sz="2600"/>
            </a:br>
            <a:r>
              <a:rPr lang="fr-FR" sz="2600"/>
              <a:t>- angine Zostère </a:t>
            </a:r>
            <a:br>
              <a:rPr lang="fr-FR" sz="2600"/>
            </a:br>
            <a:r>
              <a:rPr lang="fr-FR" sz="2600"/>
              <a:t>- l’angine aphteuse</a:t>
            </a:r>
            <a:endParaRPr sz="2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470"/>
              <a:buNone/>
            </a:pPr>
            <a:r>
              <a:rPr lang="fr-FR" sz="2600"/>
              <a:t> angines aiguës spécifiques 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470"/>
              <a:buNone/>
            </a:pPr>
            <a:r>
              <a:rPr lang="fr-FR" sz="2600"/>
              <a:t> </a:t>
            </a:r>
            <a:r>
              <a:rPr b="1" i="1" lang="fr-FR" sz="2600" u="sng">
                <a:solidFill>
                  <a:srgbClr val="FFC000"/>
                </a:solidFill>
              </a:rPr>
              <a:t>lésionsvésiculeuses qui éclatent, laissant des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470"/>
              <a:buNone/>
            </a:pPr>
            <a:r>
              <a:rPr b="1" i="1" lang="fr-FR" sz="2600" u="sng">
                <a:solidFill>
                  <a:srgbClr val="FFC000"/>
                </a:solidFill>
              </a:rPr>
              <a:t>ulcérations superficielle 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 b="1" i="1" u="sng">
              <a:solidFill>
                <a:srgbClr val="FFC000"/>
              </a:solidFill>
            </a:endParaRPr>
          </a:p>
        </p:txBody>
      </p:sp>
      <p:pic>
        <p:nvPicPr>
          <p:cNvPr descr="herpangina" id="404" name="Google Shape;40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0174" y="1295400"/>
            <a:ext cx="2757626" cy="180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zvstom" id="405" name="Google Shape;405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7600" y="3581400"/>
            <a:ext cx="287020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8"/>
          <p:cNvSpPr txBox="1"/>
          <p:nvPr>
            <p:ph type="title"/>
          </p:nvPr>
        </p:nvSpPr>
        <p:spPr>
          <a:xfrm>
            <a:off x="914400" y="4572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d.  ANGINE</a:t>
            </a:r>
            <a:r>
              <a:rPr b="1" i="1" lang="fr-FR" sz="3200">
                <a:latin typeface="Corbel"/>
                <a:ea typeface="Corbel"/>
                <a:cs typeface="Corbel"/>
                <a:sym typeface="Corbel"/>
              </a:rPr>
              <a:t>  </a:t>
            </a: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ULCÉREUSE  AIGUË</a:t>
            </a:r>
            <a:endParaRPr b="1"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11" name="Google Shape;411;p38"/>
          <p:cNvSpPr txBox="1"/>
          <p:nvPr>
            <p:ph idx="1" type="body"/>
          </p:nvPr>
        </p:nvSpPr>
        <p:spPr>
          <a:xfrm>
            <a:off x="457200" y="1295400"/>
            <a:ext cx="8305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i="1" lang="fr-FR" sz="3600" u="sng">
                <a:solidFill>
                  <a:srgbClr val="FFC000"/>
                </a:solidFill>
              </a:rPr>
              <a:t>2.Angines avec ulcérations profondes (ulcéro-névrotiques) </a:t>
            </a:r>
            <a:r>
              <a:rPr i="1" lang="fr-FR" sz="3600"/>
              <a:t>:</a:t>
            </a:r>
            <a:endParaRPr sz="3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300"/>
              <a:t>-étiologie  indéterminée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300"/>
              <a:t> -lésion caractéristique l’ulcération profonde - une nécrose des tissus des amygdales</a:t>
            </a:r>
            <a:endParaRPr sz="23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3400" u="sng">
                <a:solidFill>
                  <a:srgbClr val="FFC000"/>
                </a:solidFill>
              </a:rPr>
              <a:t>2.a. L’angine Moure</a:t>
            </a:r>
            <a:endParaRPr b="1" sz="34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109615"/>
              <a:buNone/>
            </a:pPr>
            <a:r>
              <a:rPr lang="fr-FR"/>
              <a:t> </a:t>
            </a:r>
            <a:r>
              <a:rPr lang="fr-FR" sz="2600"/>
              <a:t>Touche les jeunes.</a:t>
            </a:r>
            <a:endParaRPr sz="2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2600">
                <a:solidFill>
                  <a:srgbClr val="FFC000"/>
                </a:solidFill>
              </a:rPr>
              <a:t>Étiologie</a:t>
            </a:r>
            <a:r>
              <a:rPr b="1" lang="fr-FR" sz="2600"/>
              <a:t> :</a:t>
            </a:r>
            <a:r>
              <a:rPr lang="fr-FR" sz="2600"/>
              <a:t> bactériologique - flore microbienne banale.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2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2600">
                <a:solidFill>
                  <a:srgbClr val="FFC000"/>
                </a:solidFill>
              </a:rPr>
              <a:t>Symptomatologie :</a:t>
            </a:r>
            <a:endParaRPr sz="26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2600">
                <a:solidFill>
                  <a:srgbClr val="FFC000"/>
                </a:solidFill>
              </a:rPr>
              <a:t>Subjectif</a:t>
            </a:r>
            <a:r>
              <a:rPr lang="fr-FR" sz="2600"/>
              <a:t>   - température de 38 °C</a:t>
            </a:r>
            <a:br>
              <a:rPr lang="fr-FR" sz="2600"/>
            </a:br>
            <a:r>
              <a:rPr lang="fr-FR" sz="2600"/>
              <a:t>                - odynophagie</a:t>
            </a:r>
            <a:endParaRPr sz="2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2600">
                <a:solidFill>
                  <a:srgbClr val="FFC000"/>
                </a:solidFill>
              </a:rPr>
              <a:t>Objectif</a:t>
            </a:r>
            <a:r>
              <a:rPr lang="fr-FR" sz="2600">
                <a:solidFill>
                  <a:srgbClr val="FFC000"/>
                </a:solidFill>
              </a:rPr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Corbel"/>
              <a:buChar char="-"/>
            </a:pPr>
            <a:r>
              <a:rPr lang="fr-FR" sz="2600"/>
              <a:t>ulcération nécrotique non indurée au pôle supérieur, sans d’autres signes inflammatoires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600"/>
              <a:t>   - petite adénopathie sous angulo mandibulaire sans douleur.</a:t>
            </a:r>
            <a:endParaRPr sz="2600"/>
          </a:p>
          <a:p>
            <a:pPr indent="-202644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202644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9"/>
          <p:cNvSpPr txBox="1"/>
          <p:nvPr>
            <p:ph type="title"/>
          </p:nvPr>
        </p:nvSpPr>
        <p:spPr>
          <a:xfrm>
            <a:off x="914400" y="3048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d.  ANGINE</a:t>
            </a:r>
            <a:r>
              <a:rPr b="1" i="1" lang="fr-FR" sz="3200">
                <a:latin typeface="Corbel"/>
                <a:ea typeface="Corbel"/>
                <a:cs typeface="Corbel"/>
                <a:sym typeface="Corbel"/>
              </a:rPr>
              <a:t>  </a:t>
            </a: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ULCÉREUSE  AIGUË</a:t>
            </a:r>
            <a:endParaRPr b="1"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17" name="Google Shape;417;p39"/>
          <p:cNvSpPr txBox="1"/>
          <p:nvPr>
            <p:ph idx="1" type="body"/>
          </p:nvPr>
        </p:nvSpPr>
        <p:spPr>
          <a:xfrm>
            <a:off x="533400" y="990600"/>
            <a:ext cx="83820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4200" u="sng">
                <a:solidFill>
                  <a:srgbClr val="FFC000"/>
                </a:solidFill>
              </a:rPr>
              <a:t>2.b. L’Angine Plaut - Vincent</a:t>
            </a:r>
            <a:r>
              <a:rPr b="1" lang="fr-FR" sz="4200" u="sng">
                <a:solidFill>
                  <a:srgbClr val="FFC000"/>
                </a:solidFill>
              </a:rPr>
              <a:t> (fuso-spirillaire)</a:t>
            </a:r>
            <a:endParaRPr b="1" sz="42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une angine ulcéro-nécrotique unilatérale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Étiologie</a:t>
            </a:r>
            <a:r>
              <a:rPr b="1" lang="fr-FR"/>
              <a:t> </a:t>
            </a:r>
            <a:r>
              <a:rPr lang="fr-FR"/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flore buccale - association fuso-spirillaire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 hygiène dentaire buccale insuffisante.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>
                <a:solidFill>
                  <a:srgbClr val="FFC000"/>
                </a:solidFill>
              </a:rPr>
              <a:t>Symptomatologie </a:t>
            </a:r>
            <a:endParaRPr sz="3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u="sng">
                <a:solidFill>
                  <a:srgbClr val="FFC000"/>
                </a:solidFill>
              </a:rPr>
              <a:t>Subjectif</a:t>
            </a:r>
            <a:r>
              <a:rPr lang="fr-FR"/>
              <a:t> état sous fébrile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- odynophagie unilatérale modérée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- asthénie marquée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u="sng">
                <a:solidFill>
                  <a:srgbClr val="FFC000"/>
                </a:solidFill>
              </a:rPr>
              <a:t>Objectif</a:t>
            </a:r>
            <a:r>
              <a:rPr lang="fr-FR"/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ulcération  nécrotique,enfractueuse, des bords sans dureté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adénopathie discrète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>
                <a:solidFill>
                  <a:srgbClr val="FFC000"/>
                </a:solidFill>
              </a:rPr>
              <a:t>Évolution</a:t>
            </a:r>
            <a:r>
              <a:rPr b="1" lang="fr-FR"/>
              <a:t>   </a:t>
            </a:r>
            <a:r>
              <a:rPr lang="fr-FR"/>
              <a:t>7-14 jours bénins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>
                <a:solidFill>
                  <a:srgbClr val="FFC000"/>
                </a:solidFill>
              </a:rPr>
              <a:t>Traitement </a:t>
            </a:r>
            <a:r>
              <a:rPr b="1" lang="fr-FR" sz="3800"/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Corbel"/>
              <a:buChar char="-"/>
            </a:pPr>
            <a:r>
              <a:rPr lang="fr-FR"/>
              <a:t>symptomatique local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 - résolution des foyers de soins dentaires et l’amygdalectomie en cas de rechute</a:t>
            </a:r>
            <a:endParaRPr/>
          </a:p>
          <a:p>
            <a:pPr indent="-243363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descr="C:\Users\Alex\Desktop\yazvenno-plenchataya-angina-simanovskogo-plauta-vensana3.jpg" id="418" name="Google Shape;41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1667318"/>
            <a:ext cx="2895600" cy="2550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0"/>
          <p:cNvSpPr txBox="1"/>
          <p:nvPr>
            <p:ph type="title"/>
          </p:nvPr>
        </p:nvSpPr>
        <p:spPr>
          <a:xfrm>
            <a:off x="914400" y="512064"/>
            <a:ext cx="7772400" cy="707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d.  ANGINE</a:t>
            </a:r>
            <a:r>
              <a:rPr b="1" i="1" lang="fr-FR" sz="3200">
                <a:latin typeface="Corbel"/>
                <a:ea typeface="Corbel"/>
                <a:cs typeface="Corbel"/>
                <a:sym typeface="Corbel"/>
              </a:rPr>
              <a:t>  </a:t>
            </a: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ULCÉREUSE  AIGUË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24" name="Google Shape;424;p40"/>
          <p:cNvSpPr txBox="1"/>
          <p:nvPr>
            <p:ph idx="1" type="body"/>
          </p:nvPr>
        </p:nvSpPr>
        <p:spPr>
          <a:xfrm>
            <a:off x="609600" y="1447800"/>
            <a:ext cx="85344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fr-FR">
                <a:solidFill>
                  <a:srgbClr val="FFC000"/>
                </a:solidFill>
              </a:rPr>
              <a:t>Diagnostic différentiel 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t/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Font typeface="Noto Sans Symbols"/>
              <a:buChar char="✔"/>
            </a:pPr>
            <a:r>
              <a:rPr lang="fr-FR" sz="2400"/>
              <a:t> </a:t>
            </a:r>
            <a:r>
              <a:rPr lang="fr-FR" sz="2400">
                <a:solidFill>
                  <a:srgbClr val="FFC000"/>
                </a:solidFill>
              </a:rPr>
              <a:t>chancre syphilitique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     symptômes qui ressemble - ex. bactériologique + ex.   sérologique de la syphilis 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Font typeface="Noto Sans Symbols"/>
              <a:buChar char="✔"/>
            </a:pPr>
            <a:r>
              <a:rPr lang="fr-FR" sz="2400"/>
              <a:t> </a:t>
            </a:r>
            <a:r>
              <a:rPr lang="fr-FR" sz="2400">
                <a:solidFill>
                  <a:srgbClr val="FFC000"/>
                </a:solidFill>
              </a:rPr>
              <a:t>ulcération néoplasique</a:t>
            </a:r>
            <a:r>
              <a:rPr lang="fr-FR" sz="2400"/>
              <a:t> - biopsie des amygdales 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Font typeface="Noto Sans Symbols"/>
              <a:buChar char="✔"/>
            </a:pPr>
            <a:r>
              <a:rPr lang="fr-FR" sz="2400"/>
              <a:t> </a:t>
            </a:r>
            <a:r>
              <a:rPr lang="fr-FR" sz="2400">
                <a:solidFill>
                  <a:srgbClr val="FFC000"/>
                </a:solidFill>
              </a:rPr>
              <a:t>angines de maladies hématologiques</a:t>
            </a:r>
            <a:r>
              <a:rPr lang="fr-FR" sz="2400"/>
              <a:t>  - hémogramme qui précise le diagnostic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 </a:t>
            </a:r>
            <a:endParaRPr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  <p:sp>
        <p:nvSpPr>
          <p:cNvPr id="425" name="Google Shape;425;p4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fr-F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 diagnostic différentiel des angines </a:t>
            </a:r>
            <a:r>
              <a:rPr b="1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ulcéro</a:t>
            </a: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nécrotiques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 est fait avec :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chancre syphilitique - de plus en plus fréquent, a des symptômes qui ressemble - ex. bactériologique + ex. sérologique de la syphilis ;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ulcération néoplasique - biopsie des amygdales ;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l’ulcération aux angines de maladies hématologiques – c’est hémogramme qui précise le diagnostic.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orbe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1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ANGINES  AIGUËS  SPÉCIFIQUES</a:t>
            </a:r>
            <a:br>
              <a:rPr lang="fr-FR"/>
            </a:br>
            <a:endParaRPr/>
          </a:p>
        </p:txBody>
      </p:sp>
      <p:sp>
        <p:nvSpPr>
          <p:cNvPr id="431" name="Google Shape;431;p41"/>
          <p:cNvSpPr txBox="1"/>
          <p:nvPr>
            <p:ph idx="1" type="body"/>
          </p:nvPr>
        </p:nvSpPr>
        <p:spPr>
          <a:xfrm>
            <a:off x="533400" y="1219200"/>
            <a:ext cx="81534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2900" u="sng"/>
              <a:t> </a:t>
            </a:r>
            <a:r>
              <a:rPr b="1" lang="fr-FR" sz="2900" u="sng">
                <a:solidFill>
                  <a:srgbClr val="FFC000"/>
                </a:solidFill>
              </a:rPr>
              <a:t>1. ANGINE AIGUË SCARLATINE USE</a:t>
            </a:r>
            <a:endParaRPr b="1" sz="29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infectieuse contagieuse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streptocoque béta-hémolytique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céphalées, des vomissements, de la fièvre, odynophagie, adénopathie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amygdales  gonflées, congestionnées, et le voile est fortement congestionné  </a:t>
            </a:r>
            <a:r>
              <a:rPr i="1" lang="fr-FR" u="sng"/>
              <a:t>ligne nette de démarcation la congestion et la part saine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8275"/>
              <a:buChar char="▪"/>
            </a:pPr>
            <a:r>
              <a:rPr lang="fr-FR"/>
              <a:t>la langue -  </a:t>
            </a:r>
            <a:r>
              <a:rPr b="1" lang="fr-FR" u="sng"/>
              <a:t>la </a:t>
            </a:r>
            <a:r>
              <a:rPr b="1" lang="fr-FR" sz="2900" u="sng"/>
              <a:t>framboise</a:t>
            </a:r>
            <a:endParaRPr b="1" sz="2900" u="sng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2900" u="sng">
                <a:solidFill>
                  <a:srgbClr val="FFC000"/>
                </a:solidFill>
              </a:rPr>
              <a:t>2. ANGINE AIGUË GRIPPALE</a:t>
            </a:r>
            <a:endParaRPr b="1" sz="29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érythémateux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fièvre, courbature, myalgies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2900" u="sng">
                <a:solidFill>
                  <a:srgbClr val="FFC000"/>
                </a:solidFill>
              </a:rPr>
              <a:t>3. ANGINE AIGUË HERPÉTIQUE</a:t>
            </a:r>
            <a:endParaRPr b="1" sz="29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bouquets de vésicules, diffusées,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des petits ulcérations superficielles douloureuses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dans le zona Zostère, lésions  unilatéral / douleur intense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	</a:t>
            </a:r>
            <a:endParaRPr/>
          </a:p>
          <a:p>
            <a:pPr indent="-216217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id="432" name="Google Shape;43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1800" y="228600"/>
            <a:ext cx="2362200" cy="195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9400" y="3733800"/>
            <a:ext cx="2514600" cy="17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2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nsolas"/>
              <a:buNone/>
            </a:pPr>
            <a:r>
              <a:rPr b="1" lang="fr-FR" sz="3200"/>
              <a:t>ANGINES AIGUËS SPÉCIFI</a:t>
            </a: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QUE</a:t>
            </a:r>
            <a:r>
              <a:rPr b="1" lang="fr-FR" sz="3200"/>
              <a:t>S</a:t>
            </a:r>
            <a:endParaRPr sz="3200"/>
          </a:p>
        </p:txBody>
      </p:sp>
      <p:sp>
        <p:nvSpPr>
          <p:cNvPr id="439" name="Google Shape;439;p42"/>
          <p:cNvSpPr txBox="1"/>
          <p:nvPr>
            <p:ph idx="1" type="body"/>
          </p:nvPr>
        </p:nvSpPr>
        <p:spPr>
          <a:xfrm>
            <a:off x="381000" y="1143000"/>
            <a:ext cx="70104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4200" u="sng">
                <a:solidFill>
                  <a:srgbClr val="FFC000"/>
                </a:solidFill>
              </a:rPr>
              <a:t>4. ANGINE AIGUË DIPHTÉRIQUE</a:t>
            </a:r>
            <a:endParaRPr b="1" sz="42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 localisation la plus commune de la diphtérie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causée par le bacille diphtérique (Klebs - Loffler)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 rare à nous à cause de vaccinations.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400">
                <a:solidFill>
                  <a:srgbClr val="FFC000"/>
                </a:solidFill>
              </a:rPr>
              <a:t>Symptomatologie :</a:t>
            </a:r>
            <a:endParaRPr b="1" sz="3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400">
                <a:solidFill>
                  <a:srgbClr val="FFC000"/>
                </a:solidFill>
              </a:rPr>
              <a:t>S</a:t>
            </a:r>
            <a:r>
              <a:rPr b="1" i="1" lang="fr-FR" sz="3400">
                <a:solidFill>
                  <a:srgbClr val="FFC000"/>
                </a:solidFill>
              </a:rPr>
              <a:t>ubjectif</a:t>
            </a:r>
            <a:r>
              <a:rPr i="1" lang="fr-FR"/>
              <a:t> :</a:t>
            </a:r>
            <a:r>
              <a:rPr lang="fr-FR"/>
              <a:t> -fièvre 39 - 40</a:t>
            </a:r>
            <a:r>
              <a:rPr baseline="30000" lang="fr-FR"/>
              <a:t>0</a:t>
            </a:r>
            <a:r>
              <a:rPr lang="fr-FR"/>
              <a:t>C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- état toxique - pâleur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- asthénie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- céphalées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- tachycardie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400">
                <a:solidFill>
                  <a:srgbClr val="FFC000"/>
                </a:solidFill>
              </a:rPr>
              <a:t>O</a:t>
            </a:r>
            <a:r>
              <a:rPr b="1" i="1" lang="fr-FR" sz="3400">
                <a:solidFill>
                  <a:srgbClr val="FFC000"/>
                </a:solidFill>
              </a:rPr>
              <a:t>bjectif</a:t>
            </a:r>
            <a:r>
              <a:rPr i="1" lang="fr-FR"/>
              <a:t> :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-des fausses membranes jaunes ou blanches - gris, adhérentes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- le voile, les piliers, les parois latérales - même le larynx, les fosses nasales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- adénopathie sous angulo mandibulaire.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>
                <a:solidFill>
                  <a:srgbClr val="FFC000"/>
                </a:solidFill>
              </a:rPr>
              <a:t>Diagnostic positif :</a:t>
            </a:r>
            <a:r>
              <a:rPr lang="fr-FR" sz="3800">
                <a:solidFill>
                  <a:srgbClr val="FFC000"/>
                </a:solidFill>
              </a:rPr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syndrome fébrile - toxique et examen bactériologique.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>
                <a:solidFill>
                  <a:srgbClr val="FFC000"/>
                </a:solidFill>
              </a:rPr>
              <a:t>Diagnostic différentiel :</a:t>
            </a:r>
            <a:endParaRPr sz="3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angine érythémato-pultacée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pseudo-angine non diphtérique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>
                <a:solidFill>
                  <a:srgbClr val="FFC000"/>
                </a:solidFill>
              </a:rPr>
              <a:t>Traitement </a:t>
            </a:r>
            <a:r>
              <a:rPr lang="fr-FR"/>
              <a:t>: sérum antidiphtérique et pénicilline dans le Service Maladies Infectieuses.</a:t>
            </a:r>
            <a:endParaRPr/>
          </a:p>
          <a:p>
            <a:pPr indent="-256936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descr="diphtheria2" id="440" name="Google Shape;44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4600" y="1066800"/>
            <a:ext cx="2743200" cy="25080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phtheria1" id="441" name="Google Shape;441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4600" y="3733799"/>
            <a:ext cx="2743200" cy="21613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phtheria5" id="447" name="Google Shape;447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3925" y="2057400"/>
            <a:ext cx="2847975" cy="44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43"/>
          <p:cNvSpPr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4000" u="none" cap="none" strike="noStrike">
                <a:solidFill>
                  <a:srgbClr val="A7D6FF"/>
                </a:solidFill>
                <a:latin typeface="Corbel"/>
                <a:ea typeface="Corbel"/>
                <a:cs typeface="Corbel"/>
                <a:sym typeface="Corbel"/>
              </a:rPr>
              <a:t>ANGINE AIGUË DIPHTÉRIQUE </a:t>
            </a:r>
            <a:br>
              <a:rPr b="0" i="1" lang="fr-FR" sz="40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0" i="1" lang="fr-FR" sz="40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rPr>
              <a:t>Corynebacterium diphtheriae</a:t>
            </a:r>
            <a:endParaRPr b="0" i="1" sz="4000" u="none" cap="none" strike="noStrike">
              <a:solidFill>
                <a:schemeClr val="lt2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descr="diphtheria6" id="449" name="Google Shape;449;p43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2057400"/>
            <a:ext cx="363855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43"/>
          <p:cNvSpPr/>
          <p:nvPr/>
        </p:nvSpPr>
        <p:spPr>
          <a:xfrm>
            <a:off x="3200400" y="2286000"/>
            <a:ext cx="35814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8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rPr>
              <a:t>Diphtheria</a:t>
            </a:r>
            <a:br>
              <a:rPr b="0" i="0" lang="fr-FR" sz="28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0" i="0" lang="fr-FR" sz="28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rPr>
              <a:t>‘Bull-neck’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4"/>
          <p:cNvSpPr txBox="1"/>
          <p:nvPr>
            <p:ph type="title"/>
          </p:nvPr>
        </p:nvSpPr>
        <p:spPr>
          <a:xfrm>
            <a:off x="914400" y="228600"/>
            <a:ext cx="77724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nsolas"/>
              <a:buNone/>
            </a:pPr>
            <a:r>
              <a:rPr b="1" lang="fr-FR" sz="3200"/>
              <a:t>ANGINES AIGUËS SPÉCIFIQUES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56" name="Google Shape;456;p44"/>
          <p:cNvSpPr txBox="1"/>
          <p:nvPr>
            <p:ph idx="1" type="body"/>
          </p:nvPr>
        </p:nvSpPr>
        <p:spPr>
          <a:xfrm>
            <a:off x="533400" y="914400"/>
            <a:ext cx="76962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i="1" lang="fr-FR" sz="3800">
                <a:solidFill>
                  <a:srgbClr val="FFC000"/>
                </a:solidFill>
              </a:rPr>
              <a:t>5 . ANGINE DE LA MONONUCLÉOSE INFECTIEUSE</a:t>
            </a:r>
            <a:endParaRPr b="1" sz="3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>
                <a:solidFill>
                  <a:srgbClr val="FFC000"/>
                </a:solidFill>
              </a:rPr>
              <a:t>Étiologie</a:t>
            </a:r>
            <a:r>
              <a:rPr b="1" lang="fr-FR"/>
              <a:t> : </a:t>
            </a:r>
            <a:r>
              <a:rPr lang="fr-FR"/>
              <a:t>- virus Epstein - Barr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 elle se produit chez les jeunes, dans les communautés.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>
                <a:solidFill>
                  <a:srgbClr val="FFC000"/>
                </a:solidFill>
              </a:rPr>
              <a:t>Symptomatologie :</a:t>
            </a:r>
            <a:endParaRPr sz="3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général - fièvre, céphalées, asthénie marquée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 locale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Corbel"/>
              <a:buChar char="-"/>
            </a:pPr>
            <a:r>
              <a:rPr lang="fr-FR"/>
              <a:t>symptômes pharyngiens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Corbel"/>
              <a:buChar char="-"/>
            </a:pPr>
            <a:r>
              <a:rPr lang="fr-FR"/>
              <a:t>  la forme érythémato-pultacée,  ulcéro-nécrotique, érythémateuse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Corbel"/>
              <a:buChar char="-"/>
            </a:pPr>
            <a:r>
              <a:rPr lang="fr-FR"/>
              <a:t> adénopathie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>
                <a:solidFill>
                  <a:srgbClr val="FFC000"/>
                </a:solidFill>
              </a:rPr>
              <a:t>Diagnostic positif </a:t>
            </a:r>
            <a:r>
              <a:rPr lang="fr-FR" sz="3800">
                <a:solidFill>
                  <a:srgbClr val="FFC000"/>
                </a:solidFill>
              </a:rPr>
              <a:t>:</a:t>
            </a:r>
            <a:endParaRPr sz="3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2600"/>
              <a:t>facteur épidémiologique et symptomatique et laboratoire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2600"/>
              <a:t>limphomonocytose 40 à 60 % 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2600"/>
              <a:t>agglutination des hématies de bélier par le sérum du malade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600"/>
              <a:t>- Hăngănuţiu – „Paul Bunell »</a:t>
            </a:r>
            <a:endParaRPr sz="2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Diagnostic différentiel </a:t>
            </a:r>
            <a:r>
              <a:rPr lang="fr-FR">
                <a:solidFill>
                  <a:srgbClr val="FFC000"/>
                </a:solidFill>
              </a:rPr>
              <a:t>: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avec des autres „angines »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 Infection primaire par le virus de H.I.V.</a:t>
            </a:r>
            <a:endParaRPr/>
          </a:p>
          <a:p>
            <a:pPr indent="-22979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descr="C:\Users\Alex\Desktop\pathologie_angine_clip_image002_0000.jpg" id="457" name="Google Shape;457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2418" y="1295400"/>
            <a:ext cx="2611582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lex\Desktop\lOf9THc0IwfbsPOX3O6bXw_m.jpg" id="458" name="Google Shape;458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7000" y="4114800"/>
            <a:ext cx="2454484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5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ANGINES  AIGUËS  SPÉCIFIQUES</a:t>
            </a:r>
            <a:endParaRPr b="1"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64" name="Google Shape;464;p45"/>
          <p:cNvSpPr txBox="1"/>
          <p:nvPr>
            <p:ph idx="1" type="body"/>
          </p:nvPr>
        </p:nvSpPr>
        <p:spPr>
          <a:xfrm>
            <a:off x="457200" y="1143000"/>
            <a:ext cx="8229600" cy="5212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fr-FR">
                <a:solidFill>
                  <a:srgbClr val="FFC000"/>
                </a:solidFill>
              </a:rPr>
              <a:t>6. </a:t>
            </a:r>
            <a:r>
              <a:rPr b="1" i="1" lang="fr-FR">
                <a:solidFill>
                  <a:srgbClr val="FFC000"/>
                </a:solidFill>
              </a:rPr>
              <a:t>VIROSES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viroses adéno-pharyngo-conjonctivales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adénovirus de type 3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   </a:t>
            </a:r>
            <a:r>
              <a:rPr b="1" i="1" lang="fr-FR"/>
              <a:t>angine érythémateuse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b="1" i="1" lang="fr-FR"/>
              <a:t>    conjonctivite folliculaire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b="1" i="1" lang="fr-FR"/>
              <a:t>    adénopathie latéro-cervicale</a:t>
            </a:r>
            <a:endParaRPr b="1" i="1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b="1" lang="fr-FR"/>
              <a:t> </a:t>
            </a:r>
            <a:endParaRPr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6"/>
          <p:cNvSpPr txBox="1"/>
          <p:nvPr>
            <p:ph type="title"/>
          </p:nvPr>
        </p:nvSpPr>
        <p:spPr>
          <a:xfrm>
            <a:off x="685800" y="0"/>
            <a:ext cx="8001000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DES  AUTRES  TYPES   DES  ANGINES</a:t>
            </a:r>
            <a:endParaRPr b="1"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70" name="Google Shape;470;p46"/>
          <p:cNvSpPr txBox="1"/>
          <p:nvPr>
            <p:ph idx="1" type="body"/>
          </p:nvPr>
        </p:nvSpPr>
        <p:spPr>
          <a:xfrm>
            <a:off x="647700" y="924975"/>
            <a:ext cx="80772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514350" lvl="0" marL="58293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i="1" lang="fr-FR" sz="3100" u="sng">
                <a:solidFill>
                  <a:srgbClr val="FFC000"/>
                </a:solidFill>
              </a:rPr>
              <a:t>1.DES  ANGINES  DES  MALADIES  HÉMATOLOGIQUES</a:t>
            </a:r>
            <a:endParaRPr/>
          </a:p>
          <a:p>
            <a:pPr indent="-514350" lvl="0" marL="58293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Les troubles hématologiques (une neutropénie) → angine aiguë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</a:t>
            </a:r>
            <a:r>
              <a:rPr i="1" lang="fr-FR" u="sng"/>
              <a:t>la diminution de la résistance antimicrobienne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u="sng"/>
              <a:t>  par la réduction de l’activité phagocytaire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l’ulcération amygdaliennes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u="sng">
                <a:solidFill>
                  <a:srgbClr val="FFC000"/>
                </a:solidFill>
              </a:rPr>
              <a:t>l’angine aiguë ulcéro-nécrotique →</a:t>
            </a:r>
            <a:r>
              <a:rPr lang="fr-FR"/>
              <a:t> la voile, aux piliers des amygdales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Affections hématologiques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leucose aiguë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des cas d’agranulocytose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des myélopathies avec pancytopénie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Traitement - </a:t>
            </a:r>
            <a:r>
              <a:rPr lang="fr-FR"/>
              <a:t>hématologique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7"/>
          <p:cNvSpPr txBox="1"/>
          <p:nvPr>
            <p:ph type="title"/>
          </p:nvPr>
        </p:nvSpPr>
        <p:spPr>
          <a:xfrm>
            <a:off x="914400" y="512064"/>
            <a:ext cx="7772400" cy="1240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DES  AUTRES  TYPES  DES  ANGINES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76" name="Google Shape;476;p47"/>
          <p:cNvSpPr txBox="1"/>
          <p:nvPr>
            <p:ph idx="1" type="body"/>
          </p:nvPr>
        </p:nvSpPr>
        <p:spPr>
          <a:xfrm>
            <a:off x="533400" y="1371600"/>
            <a:ext cx="74676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3800" u="sng">
                <a:solidFill>
                  <a:srgbClr val="FFC000"/>
                </a:solidFill>
              </a:rPr>
              <a:t>2. L’ANGINE APHTEUSE</a:t>
            </a:r>
            <a:endParaRPr b="1" sz="38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lésion vésiculaire ronde ou ovale (5-10 mm),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 très douloureux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produire une ulcération superficielle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au niveau des gencives, de la muqueuse labiale, jugale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caractère récurrent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3800" u="sng">
                <a:solidFill>
                  <a:srgbClr val="FFC000"/>
                </a:solidFill>
              </a:rPr>
              <a:t>3. LES DERMATOSES BULLEUSES</a:t>
            </a:r>
            <a:endParaRPr sz="38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pemphigus et érythème multiforme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grandes vésicules - bulles au niveau de la muqueuse jugale et de l’oropharynx, qui brisent rapidement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très douloureuses</a:t>
            </a:r>
            <a:endParaRPr/>
          </a:p>
          <a:p>
            <a:pPr indent="-202644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202644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descr="C:\Users\Alex\Desktop\fig1.jpg" id="477" name="Google Shape;47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7000" y="990600"/>
            <a:ext cx="2612571" cy="19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8"/>
          <p:cNvSpPr txBox="1"/>
          <p:nvPr>
            <p:ph type="title"/>
          </p:nvPr>
        </p:nvSpPr>
        <p:spPr>
          <a:xfrm>
            <a:off x="914400" y="512064"/>
            <a:ext cx="7772400" cy="1164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DES  AUTRES  TYPES  DES  ANGINES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83" name="Google Shape;483;p48"/>
          <p:cNvSpPr txBox="1"/>
          <p:nvPr>
            <p:ph idx="1" type="body"/>
          </p:nvPr>
        </p:nvSpPr>
        <p:spPr>
          <a:xfrm>
            <a:off x="381000" y="1219200"/>
            <a:ext cx="76200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4400" u="sng">
                <a:solidFill>
                  <a:srgbClr val="FFC000"/>
                </a:solidFill>
              </a:rPr>
              <a:t>4. L’ŒDÈME QUINCKE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L’ œdème rapide de la peau et des muqueuses du pharynx, du larynx, tractus gastro-intestinal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 u="sng">
                <a:solidFill>
                  <a:srgbClr val="FFC000"/>
                </a:solidFill>
              </a:rPr>
              <a:t>Étiologie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u="sng">
                <a:solidFill>
                  <a:srgbClr val="FFC000"/>
                </a:solidFill>
              </a:rPr>
              <a:t> </a:t>
            </a:r>
            <a:r>
              <a:rPr b="1" i="1" lang="fr-FR"/>
              <a:t>- </a:t>
            </a:r>
            <a:r>
              <a:rPr lang="fr-FR"/>
              <a:t>allergie - réaction allergique de type I à un médicament  / aux aliments, aux piqûres d’insectes.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congénitale + œdème de Quincke angioneurotique congénital, déficit de C-1 estérase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 u="sng">
                <a:solidFill>
                  <a:srgbClr val="FFC000"/>
                </a:solidFill>
              </a:rPr>
              <a:t>Symptomatologie</a:t>
            </a:r>
            <a:r>
              <a:rPr lang="fr-FR" sz="3800"/>
              <a:t> 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début brutale, dysphagie, enrouement, une toux irritative et puis dyspnée de type laryngienne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œdème pâle, consistance accrue, sur des vastes zones de la muqueuse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affectation du larynx est un facteur de gravité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 u="sng">
                <a:solidFill>
                  <a:srgbClr val="FFC000"/>
                </a:solidFill>
              </a:rPr>
              <a:t>Traitement</a:t>
            </a:r>
            <a:endParaRPr sz="38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800">
                <a:solidFill>
                  <a:srgbClr val="FFC000"/>
                </a:solidFill>
              </a:rPr>
              <a:t>                       </a:t>
            </a:r>
            <a:r>
              <a:rPr lang="fr-FR"/>
              <a:t>- l’adrénaline  </a:t>
            </a:r>
            <a:br>
              <a:rPr lang="fr-FR"/>
            </a:br>
            <a:r>
              <a:rPr lang="fr-FR"/>
              <a:t>	  - la cortisone </a:t>
            </a:r>
            <a:br>
              <a:rPr lang="fr-FR"/>
            </a:br>
            <a:r>
              <a:rPr lang="fr-FR"/>
              <a:t> 	  - les antihistaminiques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- trachéotomie en cas de nécessité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256936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descr="C:\Users\Alex\Desktop\image_aen_groupe.jpg" id="484" name="Google Shape;48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0" y="3656637"/>
            <a:ext cx="3581400" cy="3201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9"/>
          <p:cNvSpPr txBox="1"/>
          <p:nvPr>
            <p:ph type="title"/>
          </p:nvPr>
        </p:nvSpPr>
        <p:spPr>
          <a:xfrm>
            <a:off x="914400" y="3810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COMPLICATIONS DES ANGINES AIGUËS</a:t>
            </a:r>
            <a:br>
              <a:rPr lang="fr-FR"/>
            </a:br>
            <a:endParaRPr/>
          </a:p>
        </p:txBody>
      </p:sp>
      <p:sp>
        <p:nvSpPr>
          <p:cNvPr id="490" name="Google Shape;490;p49"/>
          <p:cNvSpPr txBox="1"/>
          <p:nvPr>
            <p:ph idx="1" type="body"/>
          </p:nvPr>
        </p:nvSpPr>
        <p:spPr>
          <a:xfrm>
            <a:off x="914400" y="1447800"/>
            <a:ext cx="8458200" cy="490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b="1" lang="fr-FR" u="sng">
                <a:solidFill>
                  <a:srgbClr val="FFC000"/>
                </a:solidFill>
              </a:rPr>
              <a:t>Suppurative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     - phlegmon </a:t>
            </a:r>
            <a:r>
              <a:rPr i="1" lang="fr-FR"/>
              <a:t>péri</a:t>
            </a:r>
            <a:r>
              <a:rPr lang="fr-FR"/>
              <a:t>-</a:t>
            </a:r>
            <a:r>
              <a:rPr i="1" lang="fr-FR"/>
              <a:t>amygdalien</a:t>
            </a: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     - phlegmon latéro pharyngien (latéro-cervicale)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</a:t>
            </a:r>
            <a:r>
              <a:rPr b="1" lang="fr-FR" u="sng">
                <a:solidFill>
                  <a:srgbClr val="FFC000"/>
                </a:solidFill>
              </a:rPr>
              <a:t>Non suppurative  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     - septicémie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0"/>
          <p:cNvSpPr txBox="1"/>
          <p:nvPr>
            <p:ph type="title"/>
          </p:nvPr>
        </p:nvSpPr>
        <p:spPr>
          <a:xfrm>
            <a:off x="457200" y="1295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i="1" lang="fr-FR" sz="3200">
                <a:latin typeface="Corbel"/>
                <a:ea typeface="Corbel"/>
                <a:cs typeface="Corbel"/>
                <a:sym typeface="Corbel"/>
              </a:rPr>
              <a:t>PHLEGMON PÉRI-AMYGDALIEN 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96" name="Google Shape;496;p50"/>
          <p:cNvSpPr txBox="1"/>
          <p:nvPr>
            <p:ph idx="1" type="body"/>
          </p:nvPr>
        </p:nvSpPr>
        <p:spPr>
          <a:xfrm>
            <a:off x="381000" y="838200"/>
            <a:ext cx="71628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suppuration du tissu cellulaire lâche  entre la capsule de l’amygdale et la paroi musculo aponévrotique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 complication  de l’angine érythémato-pultacée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>
                <a:solidFill>
                  <a:srgbClr val="FFC000"/>
                </a:solidFill>
              </a:rPr>
              <a:t>Étiologie :</a:t>
            </a:r>
            <a:endParaRPr sz="3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 bactérienne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>
                <a:solidFill>
                  <a:srgbClr val="FFC000"/>
                </a:solidFill>
              </a:rPr>
              <a:t>Facteurs prédisposant</a:t>
            </a:r>
            <a:r>
              <a:rPr i="1" lang="fr-FR"/>
              <a:t> </a:t>
            </a:r>
            <a:r>
              <a:rPr lang="fr-FR"/>
              <a:t>: - la saison froide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                   - diminution de la résistance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                    - la fatigue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                    - diabète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                    - avitaminose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Anatomie pathologique :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abcès antérieur  entre l’amygdale et le pilier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 abcès postérieur - entre l’amygdale et le poteau postérieur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 </a:t>
            </a:r>
            <a:endParaRPr/>
          </a:p>
        </p:txBody>
      </p:sp>
      <p:pic>
        <p:nvPicPr>
          <p:cNvPr id="497" name="Google Shape;49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0725" y="3581400"/>
            <a:ext cx="3114675" cy="17839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lex\Desktop\phlegmon.gif" id="498" name="Google Shape;498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1219200"/>
            <a:ext cx="2895600" cy="202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1"/>
          <p:cNvSpPr txBox="1"/>
          <p:nvPr>
            <p:ph type="title"/>
          </p:nvPr>
        </p:nvSpPr>
        <p:spPr>
          <a:xfrm>
            <a:off x="533400" y="0"/>
            <a:ext cx="8153400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i="1" lang="fr-FR"/>
              <a:t>PHLEGMON PÉRI-AMYGDALIEN </a:t>
            </a:r>
            <a:endParaRPr/>
          </a:p>
        </p:txBody>
      </p:sp>
      <p:sp>
        <p:nvSpPr>
          <p:cNvPr id="504" name="Google Shape;504;p51"/>
          <p:cNvSpPr txBox="1"/>
          <p:nvPr>
            <p:ph idx="1" type="body"/>
          </p:nvPr>
        </p:nvSpPr>
        <p:spPr>
          <a:xfrm>
            <a:off x="381000" y="685801"/>
            <a:ext cx="6629400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3230"/>
              <a:buNone/>
            </a:pPr>
            <a:r>
              <a:rPr b="1" lang="fr-FR" sz="3400">
                <a:solidFill>
                  <a:srgbClr val="FFC000"/>
                </a:solidFill>
              </a:rPr>
              <a:t>Symptomatologie :</a:t>
            </a:r>
            <a:endParaRPr sz="3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Font typeface="Noto Sans Symbols"/>
              <a:buChar char="⮚"/>
            </a:pPr>
            <a:r>
              <a:rPr lang="fr-FR" sz="2200"/>
              <a:t>dysphagie, l’odynophagie , otalgie réflexe  unilatérale </a:t>
            </a:r>
            <a:endParaRPr sz="2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Font typeface="Noto Sans Symbols"/>
              <a:buChar char="⮚"/>
            </a:pPr>
            <a:r>
              <a:rPr lang="fr-FR" sz="2200"/>
              <a:t> fièvre augmente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Font typeface="Noto Sans Symbols"/>
              <a:buChar char="⮚"/>
            </a:pPr>
            <a:r>
              <a:rPr lang="fr-FR" sz="2200"/>
              <a:t> voix amygdalienne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Font typeface="Noto Sans Symbols"/>
              <a:buChar char="⮚"/>
            </a:pPr>
            <a:r>
              <a:rPr lang="fr-FR" sz="2200"/>
              <a:t>  mauvaise haleine fétide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Font typeface="Noto Sans Symbols"/>
              <a:buChar char="⮚"/>
            </a:pPr>
            <a:r>
              <a:rPr lang="fr-FR" sz="2200"/>
              <a:t> trismus</a:t>
            </a:r>
            <a:endParaRPr sz="2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Font typeface="Noto Sans Symbols"/>
              <a:buChar char="⮚"/>
            </a:pPr>
            <a:r>
              <a:rPr b="1" lang="fr-FR" sz="2200">
                <a:solidFill>
                  <a:srgbClr val="FFC000"/>
                </a:solidFill>
              </a:rPr>
              <a:t> BFS: </a:t>
            </a:r>
            <a:r>
              <a:rPr lang="fr-FR" sz="2200"/>
              <a:t>avec difficulté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None/>
            </a:pPr>
            <a:r>
              <a:t/>
            </a:r>
            <a:endParaRPr sz="2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None/>
            </a:pPr>
            <a:r>
              <a:rPr lang="fr-FR" sz="2200"/>
              <a:t> phlegmon antérieur- l’amygdale poussée vers le bas et à l’intérieur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None/>
            </a:pPr>
            <a:r>
              <a:rPr lang="fr-FR" sz="2200"/>
              <a:t>phlegmon postérieur- le bombement du poteau postérieur avec les amygdales poussées vers l’intérieur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Font typeface="Noto Sans Symbols"/>
              <a:buChar char="⮚"/>
            </a:pPr>
            <a:r>
              <a:rPr lang="fr-FR" sz="2200"/>
              <a:t>adénopathie sous angulo mandibulaire grande, sensible spontané et au toucher.</a:t>
            </a:r>
            <a:endParaRPr sz="2200"/>
          </a:p>
          <a:p>
            <a:pPr indent="-210185" lvl="0" marL="411480" rtl="0" algn="l">
              <a:spcBef>
                <a:spcPts val="700"/>
              </a:spcBef>
              <a:spcAft>
                <a:spcPts val="0"/>
              </a:spcAft>
              <a:buSzPts val="2090"/>
              <a:buNone/>
            </a:pPr>
            <a:r>
              <a:t/>
            </a:r>
            <a:endParaRPr sz="2200"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  <p:pic>
        <p:nvPicPr>
          <p:cNvPr descr="quincy" id="505" name="Google Shape;505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200" y="685800"/>
            <a:ext cx="2656668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leomorphic" id="506" name="Google Shape;506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2743200"/>
            <a:ext cx="2674497" cy="15902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2"/>
          <p:cNvSpPr txBox="1"/>
          <p:nvPr>
            <p:ph type="title"/>
          </p:nvPr>
        </p:nvSpPr>
        <p:spPr>
          <a:xfrm>
            <a:off x="381000" y="228600"/>
            <a:ext cx="8305800" cy="119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i="1" lang="fr-FR"/>
              <a:t>PHLEGMON PÉRI-AMYGDALIEN </a:t>
            </a:r>
            <a:endParaRPr/>
          </a:p>
        </p:txBody>
      </p:sp>
      <p:sp>
        <p:nvSpPr>
          <p:cNvPr id="512" name="Google Shape;512;p52"/>
          <p:cNvSpPr txBox="1"/>
          <p:nvPr>
            <p:ph idx="1" type="body"/>
          </p:nvPr>
        </p:nvSpPr>
        <p:spPr>
          <a:xfrm>
            <a:off x="457200" y="1219200"/>
            <a:ext cx="86868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Évolution</a:t>
            </a:r>
            <a:r>
              <a:rPr lang="fr-FR">
                <a:solidFill>
                  <a:srgbClr val="FFC000"/>
                </a:solidFill>
              </a:rPr>
              <a:t>/</a:t>
            </a:r>
            <a:r>
              <a:rPr b="1" lang="fr-FR">
                <a:solidFill>
                  <a:srgbClr val="FFC000"/>
                </a:solidFill>
              </a:rPr>
              <a:t>Complications :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 </a:t>
            </a:r>
            <a:r>
              <a:rPr i="1" lang="fr-FR"/>
              <a:t>évolution</a:t>
            </a:r>
            <a:r>
              <a:rPr lang="fr-FR"/>
              <a:t> spontanée - est d’ouvrir spontanément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 suppuration péri pharyngienne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la thrombophlébite de la veine jugulaire interne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 septicémie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 à la tendance de rechute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Diagnostic positif :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clinique / la ponction positive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Diagnostic différentiel :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 la prolifération de tumeur amygdalienne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 lʼanévrisme interne de l’artère carotide</a:t>
            </a:r>
            <a:endParaRPr/>
          </a:p>
          <a:p>
            <a:pPr indent="-175498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descr="ICA aneurysm" id="513" name="Google Shape;513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7400" y="3276600"/>
            <a:ext cx="2895600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3"/>
          <p:cNvSpPr txBox="1"/>
          <p:nvPr>
            <p:ph type="title"/>
          </p:nvPr>
        </p:nvSpPr>
        <p:spPr>
          <a:xfrm>
            <a:off x="457200" y="22860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lang="fr-FR"/>
              <a:t>PHLEGMON PÉRI-AMYGDALIEN </a:t>
            </a:r>
            <a:endParaRPr/>
          </a:p>
        </p:txBody>
      </p:sp>
      <p:sp>
        <p:nvSpPr>
          <p:cNvPr id="519" name="Google Shape;519;p53"/>
          <p:cNvSpPr txBox="1"/>
          <p:nvPr>
            <p:ph idx="1" type="body"/>
          </p:nvPr>
        </p:nvSpPr>
        <p:spPr>
          <a:xfrm>
            <a:off x="304800" y="1219200"/>
            <a:ext cx="88392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3400">
                <a:solidFill>
                  <a:srgbClr val="FFC000"/>
                </a:solidFill>
              </a:rPr>
              <a:t>Traitement chirurgical</a:t>
            </a:r>
            <a:endParaRPr b="1" sz="3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  ponction par aiguille longue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 incision - ouverture - avec une pince spéciale insérée dans le lieu de la ponction fermé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 la manœuvre est répétée jusqu’a ce quʼils n’apparaissent plus des sécrétions purulentes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83823"/>
              <a:buNone/>
            </a:pPr>
            <a:r>
              <a:rPr lang="fr-FR"/>
              <a:t> </a:t>
            </a:r>
            <a:r>
              <a:rPr b="1" lang="fr-FR" sz="3400">
                <a:solidFill>
                  <a:srgbClr val="FFC000"/>
                </a:solidFill>
              </a:rPr>
              <a:t>Traitement médical :</a:t>
            </a:r>
            <a:endParaRPr b="1" sz="3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antibiothérapie :  pénicilline 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 inflammatoire - antipyrétique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 analgésiques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 traitement hygiénique diététique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 régime alimentaire avec plus des liquides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  amygdalectomie dans de 4-6 semaines parce que le phlegmon péri-amygdalien tend à rechute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189071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descr="C:\Users\Alex\Desktop\figure4.jpg" id="520" name="Google Shape;520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3352800"/>
            <a:ext cx="3276600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54"/>
          <p:cNvSpPr txBox="1"/>
          <p:nvPr>
            <p:ph type="title"/>
          </p:nvPr>
        </p:nvSpPr>
        <p:spPr>
          <a:xfrm>
            <a:off x="381000" y="0"/>
            <a:ext cx="8763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nsolas"/>
              <a:buNone/>
            </a:pPr>
            <a:r>
              <a:rPr b="1" lang="fr-FR" sz="3200"/>
              <a:t>PHLEGMON LATÉRO-PHARYNGIEN</a:t>
            </a:r>
            <a:br>
              <a:rPr lang="fr-FR"/>
            </a:br>
            <a:endParaRPr/>
          </a:p>
        </p:txBody>
      </p:sp>
      <p:sp>
        <p:nvSpPr>
          <p:cNvPr id="526" name="Google Shape;526;p54"/>
          <p:cNvSpPr txBox="1"/>
          <p:nvPr>
            <p:ph idx="1" type="body"/>
          </p:nvPr>
        </p:nvSpPr>
        <p:spPr>
          <a:xfrm>
            <a:off x="381000" y="762000"/>
            <a:ext cx="8763000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4400">
                <a:solidFill>
                  <a:srgbClr val="FFC000"/>
                </a:solidFill>
              </a:rPr>
              <a:t>ADÉNO PHLEGMON LATÉRO-CERVICALE</a:t>
            </a:r>
            <a:endParaRPr sz="4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suppuration des ganglions jugulo-carotidienne surinfectés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complication des angines  érythémato-pultacée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collection entre le paquet vasculo-nerveux de la gorge et le muscle sterno-cléido-mastoïdien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4400">
                <a:solidFill>
                  <a:srgbClr val="FFC000"/>
                </a:solidFill>
              </a:rPr>
              <a:t>Symptomatologie :</a:t>
            </a:r>
            <a:endParaRPr sz="4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i="1" lang="fr-FR"/>
              <a:t> </a:t>
            </a:r>
            <a:r>
              <a:rPr lang="fr-FR"/>
              <a:t>douleur latéro-cervicale qui limite les mouvements de rotation de la tête 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 malaise, fièvre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 gonflement latéro-cervicale douloureux ne fluctuant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4400">
                <a:solidFill>
                  <a:srgbClr val="FFC000"/>
                </a:solidFill>
              </a:rPr>
              <a:t>Diagnostic positif :</a:t>
            </a:r>
            <a:endParaRPr sz="4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symptomatologie/ ponction de la collection.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800">
                <a:solidFill>
                  <a:srgbClr val="FFC000"/>
                </a:solidFill>
              </a:rPr>
              <a:t> </a:t>
            </a:r>
            <a:r>
              <a:rPr b="1" lang="fr-FR" sz="3800">
                <a:solidFill>
                  <a:srgbClr val="FFC000"/>
                </a:solidFill>
              </a:rPr>
              <a:t>Diagnostic différentiel</a:t>
            </a:r>
            <a:r>
              <a:rPr lang="fr-FR" sz="3800">
                <a:solidFill>
                  <a:srgbClr val="FFC000"/>
                </a:solidFill>
              </a:rPr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 cellulo</a:t>
            </a:r>
            <a:r>
              <a:rPr b="1" i="1" lang="fr-FR"/>
              <a:t> </a:t>
            </a:r>
            <a:r>
              <a:rPr lang="fr-FR"/>
              <a:t>phlegmon</a:t>
            </a:r>
            <a:r>
              <a:rPr b="1" i="1" lang="fr-FR"/>
              <a:t> </a:t>
            </a:r>
            <a:r>
              <a:rPr lang="fr-FR"/>
              <a:t>latéro-cervicale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 adénite non suppurée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kystes congénitaux surinfectés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 l’adénopathie néoplasique.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 </a:t>
            </a:r>
            <a:endParaRPr/>
          </a:p>
          <a:p>
            <a:pPr indent="-22979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descr="C:\Users\Alex\Desktop\figure5.gif" id="527" name="Google Shape;527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7800" y="4114800"/>
            <a:ext cx="3124200" cy="2511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5"/>
          <p:cNvSpPr txBox="1"/>
          <p:nvPr>
            <p:ph type="title"/>
          </p:nvPr>
        </p:nvSpPr>
        <p:spPr>
          <a:xfrm>
            <a:off x="457200" y="15240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lang="fr-FR"/>
              <a:t>PHLEGMON LATÉRO-PHARYNGIEN</a:t>
            </a:r>
            <a:br>
              <a:rPr lang="fr-FR"/>
            </a:br>
            <a:endParaRPr/>
          </a:p>
        </p:txBody>
      </p:sp>
      <p:sp>
        <p:nvSpPr>
          <p:cNvPr id="533" name="Google Shape;533;p55"/>
          <p:cNvSpPr txBox="1"/>
          <p:nvPr>
            <p:ph idx="1" type="body"/>
          </p:nvPr>
        </p:nvSpPr>
        <p:spPr>
          <a:xfrm>
            <a:off x="381000" y="685800"/>
            <a:ext cx="83058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660"/>
              <a:buNone/>
            </a:pPr>
            <a:r>
              <a:t/>
            </a:r>
            <a:endParaRPr b="1" i="1" sz="2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660"/>
              <a:buNone/>
            </a:pPr>
            <a:r>
              <a:rPr b="1" i="1" lang="fr-FR" sz="2800">
                <a:solidFill>
                  <a:srgbClr val="FFC000"/>
                </a:solidFill>
              </a:rPr>
              <a:t>ADÉNO PHLEGMON LATÉRO-CERVICALE </a:t>
            </a:r>
            <a:r>
              <a:rPr b="1" lang="fr-FR" sz="2400">
                <a:solidFill>
                  <a:srgbClr val="FFC000"/>
                </a:solidFill>
              </a:rPr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b="1" lang="fr-FR" sz="2400">
                <a:solidFill>
                  <a:srgbClr val="FFC000"/>
                </a:solidFill>
              </a:rPr>
              <a:t>Complications :</a:t>
            </a:r>
            <a:endParaRPr sz="2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Char char="▪"/>
            </a:pPr>
            <a:r>
              <a:rPr lang="fr-FR" sz="2400"/>
              <a:t> l’érosion des grands navires 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Char char="▪"/>
            </a:pPr>
            <a:r>
              <a:rPr lang="fr-FR" sz="2400"/>
              <a:t> la thrombophlébite de la veine jugulaire interne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Char char="▪"/>
            </a:pPr>
            <a:r>
              <a:rPr lang="fr-FR" sz="2400"/>
              <a:t> médiastinite aiguë 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b="1" lang="fr-FR" sz="2400">
                <a:solidFill>
                  <a:srgbClr val="FFC000"/>
                </a:solidFill>
              </a:rPr>
              <a:t>Traitement</a:t>
            </a:r>
            <a:r>
              <a:rPr lang="fr-FR" sz="2400">
                <a:solidFill>
                  <a:srgbClr val="FFC000"/>
                </a:solidFill>
              </a:rPr>
              <a:t>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Font typeface="Noto Sans Symbols"/>
              <a:buChar char="⮚"/>
            </a:pPr>
            <a:r>
              <a:rPr lang="fr-FR" sz="2400"/>
              <a:t>chirurgical – ouverture de la collection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Font typeface="Noto Sans Symbols"/>
              <a:buChar char="⮚"/>
            </a:pPr>
            <a:r>
              <a:rPr lang="fr-FR" sz="2400"/>
              <a:t> médical - antibiotiques 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                        -antipyrétiques </a:t>
            </a:r>
            <a:br>
              <a:rPr lang="fr-FR" sz="2400"/>
            </a:br>
            <a:r>
              <a:rPr lang="fr-FR" sz="2400"/>
              <a:t>                   - analgésiques</a:t>
            </a:r>
            <a:endParaRPr sz="2400"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  <p:pic>
        <p:nvPicPr>
          <p:cNvPr id="534" name="Google Shape;534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3505200"/>
            <a:ext cx="3333750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56"/>
          <p:cNvSpPr txBox="1"/>
          <p:nvPr>
            <p:ph type="title"/>
          </p:nvPr>
        </p:nvSpPr>
        <p:spPr>
          <a:xfrm>
            <a:off x="609600" y="304800"/>
            <a:ext cx="838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 CELLULO –</a:t>
            </a:r>
            <a:r>
              <a:rPr b="1" i="1" lang="fr-FR" sz="3200"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PHLEGMON  </a:t>
            </a:r>
            <a:r>
              <a:rPr b="1" i="1" lang="fr-FR" sz="3200"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LATÉRO-CERVICALE</a:t>
            </a:r>
            <a:br>
              <a:rPr lang="fr-FR" sz="3200">
                <a:latin typeface="Corbel"/>
                <a:ea typeface="Corbel"/>
                <a:cs typeface="Corbel"/>
                <a:sym typeface="Corbel"/>
              </a:rPr>
            </a:b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40" name="Google Shape;540;p56"/>
          <p:cNvSpPr txBox="1"/>
          <p:nvPr>
            <p:ph idx="1" type="body"/>
          </p:nvPr>
        </p:nvSpPr>
        <p:spPr>
          <a:xfrm>
            <a:off x="304800" y="1400675"/>
            <a:ext cx="8382000" cy="52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fr-FR"/>
              <a:t>collection entre le paquet vasculaire nerveux et la paroi pharyngée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>
                <a:solidFill>
                  <a:srgbClr val="FFC000"/>
                </a:solidFill>
              </a:rPr>
              <a:t>Étiologie :</a:t>
            </a:r>
            <a:endParaRPr sz="3800">
              <a:solidFill>
                <a:srgbClr val="FFC000"/>
              </a:solidFill>
            </a:endParaRPr>
          </a:p>
          <a:p>
            <a:pPr indent="-315753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 microbienne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>
                <a:solidFill>
                  <a:srgbClr val="FFC000"/>
                </a:solidFill>
              </a:rPr>
              <a:t>Symptomatologie :</a:t>
            </a:r>
            <a:endParaRPr sz="3800">
              <a:solidFill>
                <a:srgbClr val="FFC000"/>
              </a:solidFill>
            </a:endParaRPr>
          </a:p>
          <a:p>
            <a:pPr indent="-315753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i="1" lang="fr-FR"/>
              <a:t> </a:t>
            </a:r>
            <a:r>
              <a:rPr lang="fr-FR"/>
              <a:t> odynophagie </a:t>
            </a:r>
            <a:endParaRPr/>
          </a:p>
          <a:p>
            <a:pPr indent="-315753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 dysphagie </a:t>
            </a:r>
            <a:endParaRPr/>
          </a:p>
          <a:p>
            <a:pPr indent="-315753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 fièvre, malaise</a:t>
            </a:r>
            <a:endParaRPr/>
          </a:p>
          <a:p>
            <a:pPr indent="-315753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 bombement de la paroi latérale </a:t>
            </a:r>
            <a:endParaRPr/>
          </a:p>
          <a:p>
            <a:pPr indent="-315753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adénopathie </a:t>
            </a:r>
            <a:endParaRPr/>
          </a:p>
          <a:p>
            <a:pPr indent="-315753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gonflement douloureux latéro-cervicale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>
                <a:solidFill>
                  <a:srgbClr val="FFC000"/>
                </a:solidFill>
              </a:rPr>
              <a:t>Le diagnostic positif :</a:t>
            </a:r>
            <a:endParaRPr sz="3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symptomatologie subjective et objective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>
                <a:solidFill>
                  <a:srgbClr val="FFC000"/>
                </a:solidFill>
              </a:rPr>
              <a:t>Le diagnostic différentiel :</a:t>
            </a:r>
            <a:endParaRPr sz="3800">
              <a:solidFill>
                <a:srgbClr val="FFC000"/>
              </a:solidFill>
            </a:endParaRPr>
          </a:p>
          <a:p>
            <a:pPr indent="-315753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 adéno phlegmon latéro-cervicale </a:t>
            </a:r>
            <a:endParaRPr/>
          </a:p>
          <a:p>
            <a:pPr indent="-315753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 tumeurs de l’hypopharynx</a:t>
            </a:r>
            <a:endParaRPr/>
          </a:p>
          <a:p>
            <a:pPr indent="-216217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descr="ludwigs angina" id="541" name="Google Shape;541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5900" y="1828800"/>
            <a:ext cx="3619500" cy="434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7"/>
          <p:cNvSpPr txBox="1"/>
          <p:nvPr>
            <p:ph type="title"/>
          </p:nvPr>
        </p:nvSpPr>
        <p:spPr>
          <a:xfrm>
            <a:off x="533400" y="152400"/>
            <a:ext cx="8610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nsolas"/>
              <a:buNone/>
            </a:pPr>
            <a:r>
              <a:rPr b="1" lang="fr-FR" sz="3200"/>
              <a:t>CELLULO –</a:t>
            </a:r>
            <a:r>
              <a:rPr b="1" i="1" lang="fr-FR" sz="3200"/>
              <a:t> </a:t>
            </a:r>
            <a:r>
              <a:rPr b="1" lang="fr-FR" sz="3200"/>
              <a:t>PHLEGMON  </a:t>
            </a:r>
            <a:r>
              <a:rPr b="1" i="1" lang="fr-FR" sz="3200"/>
              <a:t> </a:t>
            </a:r>
            <a:r>
              <a:rPr b="1" lang="fr-FR" sz="3200"/>
              <a:t>LATÉRO-CERVICALE</a:t>
            </a:r>
            <a:endParaRPr sz="3200"/>
          </a:p>
        </p:txBody>
      </p:sp>
      <p:sp>
        <p:nvSpPr>
          <p:cNvPr id="547" name="Google Shape;547;p57"/>
          <p:cNvSpPr txBox="1"/>
          <p:nvPr>
            <p:ph idx="1" type="body"/>
          </p:nvPr>
        </p:nvSpPr>
        <p:spPr>
          <a:xfrm>
            <a:off x="533400" y="838200"/>
            <a:ext cx="57912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280"/>
              <a:buNone/>
            </a:pPr>
            <a:r>
              <a:t/>
            </a:r>
            <a:endParaRPr b="1" sz="2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660"/>
              <a:buNone/>
            </a:pPr>
            <a:r>
              <a:rPr b="1" lang="fr-FR" sz="2800">
                <a:solidFill>
                  <a:srgbClr val="FFC000"/>
                </a:solidFill>
              </a:rPr>
              <a:t>Évolution / Complications :</a:t>
            </a:r>
            <a:endParaRPr sz="2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Font typeface="Noto Sans Symbols"/>
              <a:buChar char="⮚"/>
            </a:pPr>
            <a:r>
              <a:rPr i="1" lang="fr-FR" sz="2400"/>
              <a:t>développement</a:t>
            </a:r>
            <a:r>
              <a:rPr lang="fr-FR" sz="2400"/>
              <a:t> spontané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Font typeface="Noto Sans Symbols"/>
              <a:buChar char="⮚"/>
            </a:pPr>
            <a:r>
              <a:rPr lang="fr-FR" sz="2400"/>
              <a:t> </a:t>
            </a:r>
            <a:r>
              <a:rPr i="1" lang="fr-FR" sz="2400"/>
              <a:t>complications</a:t>
            </a:r>
            <a:r>
              <a:rPr lang="fr-FR" sz="2400"/>
              <a:t> -comme l’adéno phlegmon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</a:t>
            </a:r>
            <a:br>
              <a:rPr lang="fr-FR"/>
            </a:br>
            <a:r>
              <a:rPr b="1" lang="fr-FR" sz="2800">
                <a:solidFill>
                  <a:srgbClr val="FFC000"/>
                </a:solidFill>
              </a:rPr>
              <a:t>Traitement </a:t>
            </a:r>
            <a:r>
              <a:rPr lang="fr-FR" sz="2800">
                <a:solidFill>
                  <a:srgbClr val="FFC000"/>
                </a:solidFill>
              </a:rPr>
              <a:t>: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Font typeface="Noto Sans Symbols"/>
              <a:buChar char="⮚"/>
            </a:pPr>
            <a:r>
              <a:rPr lang="fr-FR" sz="2400"/>
              <a:t> Chirurgical –ouverture sur la voie pharyngée 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Font typeface="Noto Sans Symbols"/>
              <a:buChar char="⮚"/>
            </a:pPr>
            <a:r>
              <a:rPr lang="fr-FR" sz="2400"/>
              <a:t> Médical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  - antibiotiques -  Gramm - (gentamycine, céphalosporines)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                                -anaérobie (métronidazole)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 </a:t>
            </a:r>
            <a:endParaRPr sz="2400"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  <p:pic>
        <p:nvPicPr>
          <p:cNvPr id="548" name="Google Shape;548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8400" y="2895600"/>
            <a:ext cx="2590800" cy="2905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58"/>
          <p:cNvSpPr txBox="1"/>
          <p:nvPr>
            <p:ph type="title"/>
          </p:nvPr>
        </p:nvSpPr>
        <p:spPr>
          <a:xfrm>
            <a:off x="533400" y="512064"/>
            <a:ext cx="8153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nsolas"/>
              <a:buNone/>
            </a:pPr>
            <a:r>
              <a:rPr b="1" i="1" lang="fr-FR" sz="3200"/>
              <a:t>SEPTICÉMIE</a:t>
            </a:r>
            <a:br>
              <a:rPr b="1" lang="fr-FR" sz="3200"/>
            </a:br>
            <a:endParaRPr b="1" sz="3200"/>
          </a:p>
        </p:txBody>
      </p:sp>
      <p:sp>
        <p:nvSpPr>
          <p:cNvPr id="554" name="Google Shape;554;p58"/>
          <p:cNvSpPr txBox="1"/>
          <p:nvPr>
            <p:ph idx="1" type="body"/>
          </p:nvPr>
        </p:nvSpPr>
        <p:spPr>
          <a:xfrm>
            <a:off x="457200" y="1219200"/>
            <a:ext cx="8686800" cy="513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>
                <a:solidFill>
                  <a:srgbClr val="FFC000"/>
                </a:solidFill>
              </a:rPr>
              <a:t>Symptomatologie </a:t>
            </a:r>
            <a:r>
              <a:rPr lang="fr-FR"/>
              <a:t>de l’angine +de septicémie 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Font typeface="Noto Sans Symbols"/>
              <a:buChar char="⮚"/>
            </a:pPr>
            <a:r>
              <a:rPr lang="fr-FR"/>
              <a:t> frissons sévères / fièvre septique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Font typeface="Noto Sans Symbols"/>
              <a:buChar char="⮚"/>
            </a:pPr>
            <a:r>
              <a:rPr i="1" lang="fr-FR"/>
              <a:t>hépatosplénomégalie</a:t>
            </a:r>
            <a:r>
              <a:rPr lang="fr-FR"/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Font typeface="Noto Sans Symbols"/>
              <a:buChar char="⮚"/>
            </a:pPr>
            <a:r>
              <a:rPr lang="fr-FR"/>
              <a:t> hémocultures positives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 </a:t>
            </a:r>
            <a:endParaRPr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9"/>
          <p:cNvSpPr txBox="1"/>
          <p:nvPr>
            <p:ph type="title"/>
          </p:nvPr>
        </p:nvSpPr>
        <p:spPr>
          <a:xfrm>
            <a:off x="457200" y="228600"/>
            <a:ext cx="8686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INFLAMMATIONS  AIGUËS  DE   L’HYPOPHARYNX 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60" name="Google Shape;560;p59"/>
          <p:cNvSpPr txBox="1"/>
          <p:nvPr>
            <p:ph idx="1" type="body"/>
          </p:nvPr>
        </p:nvSpPr>
        <p:spPr>
          <a:xfrm>
            <a:off x="381000" y="685800"/>
            <a:ext cx="8763000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b="1" sz="4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4400">
                <a:solidFill>
                  <a:srgbClr val="FFC000"/>
                </a:solidFill>
              </a:rPr>
              <a:t>AMYGDALITE AIGUË LINGUALE</a:t>
            </a:r>
            <a:endParaRPr b="1" sz="4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inflammation aiguë de l’amygdale linguale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accompagne  l’inflammation des amygdales palatines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 type anatomo clinique  : érythémateuses, érythémato-pultacée, pseudo-membraneuse.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fréquente chez les patients amygdalectomisés.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4400">
                <a:solidFill>
                  <a:srgbClr val="FFC000"/>
                </a:solidFill>
              </a:rPr>
              <a:t>Simptomatologie</a:t>
            </a:r>
            <a:endParaRPr b="1" sz="4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 odynophagie intense  rayonnant vers l’oreille, accentuée à la déglutition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 dysphagie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 sensation de corps étranger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4400" u="sng">
                <a:solidFill>
                  <a:srgbClr val="FFC000"/>
                </a:solidFill>
              </a:rPr>
              <a:t>Objectif</a:t>
            </a:r>
            <a:r>
              <a:rPr b="1" lang="fr-FR" sz="4400" u="sng"/>
              <a:t> </a:t>
            </a:r>
            <a:r>
              <a:rPr lang="fr-FR" u="sng"/>
              <a:t>:</a:t>
            </a:r>
            <a:r>
              <a:rPr lang="fr-FR"/>
              <a:t>  laryngoscopie indirecte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400">
                <a:solidFill>
                  <a:srgbClr val="FFC000"/>
                </a:solidFill>
              </a:rPr>
              <a:t> </a:t>
            </a:r>
            <a:r>
              <a:rPr b="1" lang="fr-FR" sz="4400">
                <a:solidFill>
                  <a:srgbClr val="FFC000"/>
                </a:solidFill>
              </a:rPr>
              <a:t>HYPOPHARYNGITE AIGUË</a:t>
            </a:r>
            <a:endParaRPr sz="4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inflammation aiguë diffuse de l’hypopharynx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formes œdémateuses (évoluent avec les odynophagies et dyspnée)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accompagne l’inflammation du larynx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0"/>
          <p:cNvSpPr txBox="1"/>
          <p:nvPr>
            <p:ph type="title"/>
          </p:nvPr>
        </p:nvSpPr>
        <p:spPr>
          <a:xfrm>
            <a:off x="533400" y="304800"/>
            <a:ext cx="8610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INFLAMMATIONS CHRONIQUES DU PHARYNX</a:t>
            </a:r>
            <a:br>
              <a:rPr lang="fr-FR" sz="3200">
                <a:latin typeface="Corbel"/>
                <a:ea typeface="Corbel"/>
                <a:cs typeface="Corbel"/>
                <a:sym typeface="Corbel"/>
              </a:rPr>
            </a:b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66" name="Google Shape;566;p60"/>
          <p:cNvSpPr txBox="1"/>
          <p:nvPr>
            <p:ph idx="1" type="body"/>
          </p:nvPr>
        </p:nvSpPr>
        <p:spPr>
          <a:xfrm>
            <a:off x="457200" y="914400"/>
            <a:ext cx="86868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4400">
                <a:solidFill>
                  <a:srgbClr val="FFC000"/>
                </a:solidFill>
              </a:rPr>
              <a:t>CLASSIFICATION :</a:t>
            </a:r>
            <a:endParaRPr sz="4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u="sng">
                <a:solidFill>
                  <a:srgbClr val="FFC000"/>
                </a:solidFill>
              </a:rPr>
              <a:t>a. PHARYNGITES CHRONIQUES NON SPÉCIFIQUES </a:t>
            </a:r>
            <a:r>
              <a:rPr b="1" lang="fr-FR">
                <a:solidFill>
                  <a:srgbClr val="FFC000"/>
                </a:solidFill>
              </a:rPr>
              <a:t>:</a:t>
            </a:r>
            <a:endParaRPr b="1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 </a:t>
            </a:r>
            <a:endParaRPr b="1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/>
              <a:t> PHARYNGITE CHRONIQUE DIFFUSE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Catarrhale </a:t>
            </a:r>
            <a:br>
              <a:rPr lang="fr-FR"/>
            </a:br>
            <a:r>
              <a:rPr lang="fr-FR"/>
              <a:t>             Hypertrophique </a:t>
            </a:r>
            <a:br>
              <a:rPr lang="fr-FR"/>
            </a:br>
            <a:r>
              <a:rPr lang="fr-FR"/>
              <a:t>             Atrophique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/>
              <a:t> PHARYNGITE CHRONIQUE LOCALISÉE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Adénoïdite chronique </a:t>
            </a:r>
            <a:br>
              <a:rPr lang="fr-FR"/>
            </a:br>
            <a:r>
              <a:rPr lang="fr-FR"/>
              <a:t>             Amygdalite chronique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 b.</a:t>
            </a:r>
            <a:r>
              <a:rPr b="1" lang="fr-FR" u="sng">
                <a:solidFill>
                  <a:srgbClr val="FFC000"/>
                </a:solidFill>
              </a:rPr>
              <a:t> PHARYNGITES CHRONIQUES</a:t>
            </a:r>
            <a:r>
              <a:rPr b="1" i="1" lang="fr-FR">
                <a:solidFill>
                  <a:srgbClr val="FFC000"/>
                </a:solidFill>
              </a:rPr>
              <a:t> </a:t>
            </a:r>
            <a:r>
              <a:rPr b="1" lang="fr-FR" u="sng">
                <a:solidFill>
                  <a:srgbClr val="FFC000"/>
                </a:solidFill>
              </a:rPr>
              <a:t>SPÉCIFIQUES </a:t>
            </a:r>
            <a:r>
              <a:rPr b="1" lang="fr-FR">
                <a:solidFill>
                  <a:srgbClr val="FFC000"/>
                </a:solidFill>
              </a:rPr>
              <a:t>:</a:t>
            </a:r>
            <a:endParaRPr b="1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PHARYNGITE CHRONIQUE</a:t>
            </a:r>
            <a:r>
              <a:rPr i="1" lang="fr-FR"/>
              <a:t> </a:t>
            </a:r>
            <a:r>
              <a:rPr lang="fr-FR"/>
              <a:t>TUBERCULEUSE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PHARYNGITE CHRONIQUE SYPHILITIQUE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PHARYNGITE CHRONIQUE MYCOSIQUE </a:t>
            </a:r>
            <a:br>
              <a:rPr lang="fr-FR"/>
            </a:b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1"/>
          <p:cNvSpPr txBox="1"/>
          <p:nvPr>
            <p:ph type="title"/>
          </p:nvPr>
        </p:nvSpPr>
        <p:spPr>
          <a:xfrm>
            <a:off x="304800" y="152400"/>
            <a:ext cx="10134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PHARYNGITES  CHRONIQUES  NON  SPÉCIFIQUES</a:t>
            </a:r>
            <a:br>
              <a:rPr lang="fr-FR"/>
            </a:br>
            <a:endParaRPr/>
          </a:p>
        </p:txBody>
      </p:sp>
      <p:sp>
        <p:nvSpPr>
          <p:cNvPr id="572" name="Google Shape;572;p61"/>
          <p:cNvSpPr txBox="1"/>
          <p:nvPr>
            <p:ph idx="1" type="body"/>
          </p:nvPr>
        </p:nvSpPr>
        <p:spPr>
          <a:xfrm>
            <a:off x="533400" y="762000"/>
            <a:ext cx="8610600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r>
              <a:rPr b="1" lang="fr-FR" sz="2800">
                <a:solidFill>
                  <a:srgbClr val="FFC000"/>
                </a:solidFill>
              </a:rPr>
              <a:t>PHARYNGITE CHRONIQUE DIFFUSE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2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2600">
                <a:solidFill>
                  <a:srgbClr val="FFC000"/>
                </a:solidFill>
              </a:rPr>
              <a:t>Étiopathogénie</a:t>
            </a:r>
            <a:r>
              <a:rPr b="1" lang="fr-FR">
                <a:solidFill>
                  <a:srgbClr val="FFC000"/>
                </a:solidFill>
              </a:rPr>
              <a:t> </a:t>
            </a:r>
            <a:r>
              <a:rPr lang="fr-FR">
                <a:solidFill>
                  <a:srgbClr val="FFC000"/>
                </a:solidFill>
              </a:rPr>
              <a:t>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 sz="2200"/>
              <a:t>obstruction nasale chronique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 sz="2200"/>
              <a:t> pharyngite aiguë répétée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 sz="2200"/>
              <a:t> infections et inflammations chroniques du nez/sinus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 sz="2200"/>
              <a:t>  tabac, l’alcool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 sz="2200"/>
              <a:t> amygdalectomie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 sz="2200"/>
              <a:t> reflux gastro-oesophagien pharyngée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2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2600">
                <a:solidFill>
                  <a:srgbClr val="FFC000"/>
                </a:solidFill>
              </a:rPr>
              <a:t>Anatomie pathologique :</a:t>
            </a:r>
            <a:endParaRPr sz="26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Corbel"/>
              <a:buChar char="-"/>
            </a:pPr>
            <a:r>
              <a:rPr lang="fr-FR" sz="2000"/>
              <a:t>catarrhale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Corbel"/>
              <a:buChar char="-"/>
            </a:pPr>
            <a:r>
              <a:rPr lang="fr-FR" sz="2000"/>
              <a:t>hypertrophique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Corbel"/>
              <a:buChar char="-"/>
            </a:pPr>
            <a:r>
              <a:rPr lang="fr-FR" sz="2000"/>
              <a:t> atrophique</a:t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000"/>
              <a:t> </a:t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br>
              <a:rPr lang="fr-FR" sz="2000"/>
            </a:br>
            <a:r>
              <a:rPr lang="fr-FR" sz="2000"/>
              <a:t>                                                                        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62"/>
          <p:cNvSpPr txBox="1"/>
          <p:nvPr>
            <p:ph type="title"/>
          </p:nvPr>
        </p:nvSpPr>
        <p:spPr>
          <a:xfrm>
            <a:off x="381000" y="152400"/>
            <a:ext cx="10058400" cy="1274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nsolas"/>
              <a:buNone/>
            </a:pPr>
            <a:r>
              <a:rPr b="1" lang="fr-FR" sz="3200"/>
              <a:t>PHARYNGITES  CHRONIQUES  NON  SPÉCIFIQUES</a:t>
            </a:r>
            <a:endParaRPr sz="3200"/>
          </a:p>
        </p:txBody>
      </p:sp>
      <p:sp>
        <p:nvSpPr>
          <p:cNvPr id="578" name="Google Shape;578;p62"/>
          <p:cNvSpPr txBox="1"/>
          <p:nvPr>
            <p:ph idx="1" type="body"/>
          </p:nvPr>
        </p:nvSpPr>
        <p:spPr>
          <a:xfrm>
            <a:off x="457200" y="762000"/>
            <a:ext cx="8686800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3200">
                <a:solidFill>
                  <a:srgbClr val="FFC000"/>
                </a:solidFill>
              </a:rPr>
              <a:t>PHARYNGITE CHRONIQUE DIFFUSE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3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Symptomatologie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 sécheresse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sensation de corps étranger/ picotement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 toux irritative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congestion diffuse de la muqueuse dans la forme catarrhale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 </a:t>
            </a:r>
            <a:r>
              <a:rPr i="1" lang="fr-FR" u="sng">
                <a:solidFill>
                  <a:srgbClr val="FFC000"/>
                </a:solidFill>
              </a:rPr>
              <a:t>forme hypertrophique- </a:t>
            </a:r>
            <a:r>
              <a:rPr lang="fr-FR"/>
              <a:t>congestion/ hypertrophie des îles de tissu lymphatique sur la paroi postérieure et les sécrétions muqueuses/muco-purulentes 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 </a:t>
            </a:r>
            <a:r>
              <a:rPr i="1" lang="fr-FR" u="sng">
                <a:solidFill>
                  <a:srgbClr val="FFC000"/>
                </a:solidFill>
              </a:rPr>
              <a:t>forme atrophique -</a:t>
            </a:r>
            <a:r>
              <a:rPr lang="fr-FR"/>
              <a:t>atrophie de la muqueuse avec l’élargissement du pharynx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>
                <a:solidFill>
                  <a:srgbClr val="FFC000"/>
                </a:solidFill>
              </a:rPr>
              <a:t>Traitement </a:t>
            </a:r>
            <a:r>
              <a:rPr lang="fr-FR"/>
              <a:t>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- prélèvement, le traitement des causes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- désinfectants locaux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- vitamines épithéliotrophes - la vitamine A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/>
              <a:t> </a:t>
            </a:r>
            <a:endParaRPr/>
          </a:p>
          <a:p>
            <a:pPr indent="-202644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3"/>
          <p:cNvSpPr txBox="1"/>
          <p:nvPr>
            <p:ph type="title"/>
          </p:nvPr>
        </p:nvSpPr>
        <p:spPr>
          <a:xfrm>
            <a:off x="152400" y="228600"/>
            <a:ext cx="8534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lang="fr-FR"/>
              <a:t> ADÉNOÏDITE CHRONIQUE</a:t>
            </a:r>
            <a:br>
              <a:rPr lang="fr-FR"/>
            </a:br>
            <a:br>
              <a:rPr lang="fr-FR"/>
            </a:br>
            <a:endParaRPr/>
          </a:p>
        </p:txBody>
      </p:sp>
      <p:sp>
        <p:nvSpPr>
          <p:cNvPr id="584" name="Google Shape;584;p63"/>
          <p:cNvSpPr txBox="1"/>
          <p:nvPr>
            <p:ph idx="1" type="body"/>
          </p:nvPr>
        </p:nvSpPr>
        <p:spPr>
          <a:xfrm>
            <a:off x="304800" y="838200"/>
            <a:ext cx="8839200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inflammation chronique/ hypertrophie de l’amygdale pharyngée Luschka</a:t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 l’enfance 3 - 6 années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b="1" lang="fr-FR" sz="2000">
                <a:solidFill>
                  <a:srgbClr val="FFC000"/>
                </a:solidFill>
              </a:rPr>
              <a:t>Étiopathogénie </a:t>
            </a:r>
            <a:r>
              <a:rPr lang="fr-FR" sz="2000">
                <a:solidFill>
                  <a:srgbClr val="FFC000"/>
                </a:solidFill>
              </a:rPr>
              <a:t>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Les adénoïdite aiguës répétées et non cicatrisées </a:t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b="1" lang="fr-FR" sz="2000">
                <a:solidFill>
                  <a:srgbClr val="FFC000"/>
                </a:solidFill>
              </a:rPr>
              <a:t> Facteurs favorisants</a:t>
            </a:r>
            <a:r>
              <a:rPr lang="fr-FR" sz="2000"/>
              <a:t>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    - de terrain lymphatique</a:t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    - climat froid et humide</a:t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    - les facteurs sociaux</a:t>
            </a:r>
            <a:endParaRPr sz="2000"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  <p:pic>
        <p:nvPicPr>
          <p:cNvPr id="585" name="Google Shape;585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5800" y="3657600"/>
            <a:ext cx="3810000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64"/>
          <p:cNvSpPr txBox="1"/>
          <p:nvPr>
            <p:ph type="title"/>
          </p:nvPr>
        </p:nvSpPr>
        <p:spPr>
          <a:xfrm>
            <a:off x="381000" y="152400"/>
            <a:ext cx="83058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lang="fr-FR"/>
              <a:t>ADÉNOÏDITE CHRONIQUE</a:t>
            </a:r>
            <a:br>
              <a:rPr lang="fr-FR"/>
            </a:br>
            <a:br>
              <a:rPr lang="fr-FR"/>
            </a:br>
            <a:endParaRPr/>
          </a:p>
        </p:txBody>
      </p:sp>
      <p:sp>
        <p:nvSpPr>
          <p:cNvPr id="591" name="Google Shape;591;p64"/>
          <p:cNvSpPr txBox="1"/>
          <p:nvPr>
            <p:ph idx="1" type="body"/>
          </p:nvPr>
        </p:nvSpPr>
        <p:spPr>
          <a:xfrm>
            <a:off x="457200" y="990600"/>
            <a:ext cx="822960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4400">
                <a:solidFill>
                  <a:srgbClr val="FFC000"/>
                </a:solidFill>
              </a:rPr>
              <a:t>Symptomatologie :</a:t>
            </a:r>
            <a:endParaRPr sz="4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>
                <a:solidFill>
                  <a:srgbClr val="FFC000"/>
                </a:solidFill>
              </a:rPr>
              <a:t>Subjectif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obstruction nasale incomplète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sommeil agité,  des périodes d’apnée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rhinorrhée purulente -  </a:t>
            </a:r>
            <a:r>
              <a:rPr lang="fr-FR">
                <a:solidFill>
                  <a:srgbClr val="FFC000"/>
                </a:solidFill>
              </a:rPr>
              <a:t>„l’enfant morveux”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</a:t>
            </a:r>
            <a:r>
              <a:rPr b="1" lang="fr-FR">
                <a:solidFill>
                  <a:srgbClr val="FFC000"/>
                </a:solidFill>
              </a:rPr>
              <a:t>faciès adénoïdien </a:t>
            </a:r>
            <a:r>
              <a:rPr lang="fr-FR"/>
              <a:t>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- nez étroit, ailes nasales aspirées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- la lèvre supérieure plus grande que le normal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- prognathisme supérieur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- la voûte du palais ogivale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- dents supérieures vicieuses implantées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aprosexie, fatigue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déficit de l’attention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le rendement scolaire réduit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aspect de </a:t>
            </a:r>
            <a:r>
              <a:rPr b="1" lang="fr-FR">
                <a:solidFill>
                  <a:srgbClr val="FFC000"/>
                </a:solidFill>
              </a:rPr>
              <a:t>„gamin stupide”</a:t>
            </a:r>
            <a:r>
              <a:rPr lang="fr-FR"/>
              <a:t> sans qu’intelligence soit affectée</a:t>
            </a:r>
            <a:endParaRPr/>
          </a:p>
          <a:p>
            <a:pPr indent="-202644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descr="C:\Users\Alex\Desktop\images.jpg" id="592" name="Google Shape;592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609600"/>
            <a:ext cx="2286000" cy="261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65"/>
          <p:cNvSpPr txBox="1"/>
          <p:nvPr>
            <p:ph type="title"/>
          </p:nvPr>
        </p:nvSpPr>
        <p:spPr>
          <a:xfrm>
            <a:off x="381000" y="228600"/>
            <a:ext cx="8305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lang="fr-FR"/>
              <a:t>ADÉNOÏDITE CHRONIQUE</a:t>
            </a:r>
            <a:br>
              <a:rPr lang="fr-FR"/>
            </a:br>
            <a:endParaRPr/>
          </a:p>
        </p:txBody>
      </p:sp>
      <p:sp>
        <p:nvSpPr>
          <p:cNvPr id="598" name="Google Shape;598;p65"/>
          <p:cNvSpPr txBox="1"/>
          <p:nvPr>
            <p:ph idx="1" type="body"/>
          </p:nvPr>
        </p:nvSpPr>
        <p:spPr>
          <a:xfrm>
            <a:off x="609600" y="990600"/>
            <a:ext cx="7391400" cy="5364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3040"/>
              <a:buNone/>
            </a:pPr>
            <a:r>
              <a:t/>
            </a:r>
            <a:endParaRPr b="1" sz="3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3040"/>
              <a:buNone/>
            </a:pPr>
            <a:r>
              <a:rPr b="1" lang="fr-FR" sz="3200">
                <a:solidFill>
                  <a:srgbClr val="FFC000"/>
                </a:solidFill>
              </a:rPr>
              <a:t>Symptomatologie :</a:t>
            </a:r>
            <a:endParaRPr sz="3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 i="1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i="1" lang="fr-FR">
                <a:solidFill>
                  <a:srgbClr val="FFC000"/>
                </a:solidFill>
              </a:rPr>
              <a:t>Objectif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- rhinoscopie antérieure : fosses avec des sécrétions muco-purulentes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- rhinoscopie postérieure réalisée aux enfants plus âgés 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- otoscopie - tympans rétractés - changements du triangle Politzer 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- toucher du nasopharynx  effectué rarement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 </a:t>
            </a:r>
            <a:endParaRPr sz="2400"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  <p:pic>
        <p:nvPicPr>
          <p:cNvPr descr="C:\Users\Alex\Desktop\adenoidectomia_400.jpg" id="599" name="Google Shape;599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4600" y="533400"/>
            <a:ext cx="2667000" cy="2766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66"/>
          <p:cNvSpPr txBox="1"/>
          <p:nvPr>
            <p:ph type="title"/>
          </p:nvPr>
        </p:nvSpPr>
        <p:spPr>
          <a:xfrm>
            <a:off x="381000" y="228600"/>
            <a:ext cx="8305800" cy="119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lang="fr-FR"/>
              <a:t>ADÉNOÏDITE CHRONIQUE</a:t>
            </a:r>
            <a:endParaRPr/>
          </a:p>
        </p:txBody>
      </p:sp>
      <p:sp>
        <p:nvSpPr>
          <p:cNvPr id="605" name="Google Shape;605;p66"/>
          <p:cNvSpPr txBox="1"/>
          <p:nvPr>
            <p:ph idx="1" type="body"/>
          </p:nvPr>
        </p:nvSpPr>
        <p:spPr>
          <a:xfrm>
            <a:off x="457200" y="914400"/>
            <a:ext cx="5943600" cy="57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>
                <a:solidFill>
                  <a:srgbClr val="FFC000"/>
                </a:solidFill>
              </a:rPr>
              <a:t>Évolution /Complications :</a:t>
            </a:r>
            <a:endParaRPr sz="3800"/>
          </a:p>
          <a:p>
            <a:pPr indent="-514350" lvl="0" marL="58293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a.loco-régionale :</a:t>
            </a:r>
            <a:br>
              <a:rPr lang="fr-FR"/>
            </a:br>
            <a:r>
              <a:rPr lang="fr-FR"/>
              <a:t>- otiques : des otites catarrhales ou suppurées </a:t>
            </a:r>
            <a:br>
              <a:rPr lang="fr-FR"/>
            </a:br>
            <a:r>
              <a:rPr lang="fr-FR"/>
              <a:t>- conjonctivite </a:t>
            </a:r>
            <a:br>
              <a:rPr lang="fr-FR"/>
            </a:br>
            <a:r>
              <a:rPr lang="fr-FR"/>
              <a:t>- sinusite – l’ethmoïdite  plus fréquente </a:t>
            </a:r>
            <a:br>
              <a:rPr lang="fr-FR"/>
            </a:br>
            <a:r>
              <a:rPr lang="fr-FR"/>
              <a:t>- laryngite (œdémateuse) </a:t>
            </a:r>
            <a:br>
              <a:rPr lang="fr-FR"/>
            </a:br>
            <a:r>
              <a:rPr lang="fr-FR"/>
              <a:t>- adéno phlegmon rétro pharyngien</a:t>
            </a:r>
            <a:endParaRPr/>
          </a:p>
          <a:p>
            <a:pPr indent="-514350" lvl="0" marL="58293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b. à distance</a:t>
            </a:r>
            <a:r>
              <a:rPr lang="fr-FR"/>
              <a:t> : - trachéo-bronchite </a:t>
            </a:r>
            <a:br>
              <a:rPr lang="fr-FR"/>
            </a:br>
            <a:r>
              <a:rPr lang="fr-FR"/>
              <a:t>                   - gastro entéro colite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>
                <a:solidFill>
                  <a:srgbClr val="FFC000"/>
                </a:solidFill>
              </a:rPr>
              <a:t>Le diagnostic positif :</a:t>
            </a:r>
            <a:endParaRPr sz="3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l’obstruction nasale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l’inspection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rhinoscopie antérieure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>
                <a:solidFill>
                  <a:srgbClr val="FFC000"/>
                </a:solidFill>
              </a:rPr>
              <a:t>Le diagnostic différentiel </a:t>
            </a:r>
            <a:endParaRPr sz="3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Rhinite allergique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Les corps étrangers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Déviations septales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>
                <a:solidFill>
                  <a:srgbClr val="FFC000"/>
                </a:solidFill>
              </a:rPr>
              <a:t>Traitement</a:t>
            </a:r>
            <a:r>
              <a:rPr lang="fr-FR" sz="3800">
                <a:solidFill>
                  <a:srgbClr val="FFC000"/>
                </a:solidFill>
              </a:rPr>
              <a:t> </a:t>
            </a:r>
            <a:r>
              <a:rPr lang="fr-FR"/>
              <a:t> chirurgical:  adénoïdectomie </a:t>
            </a:r>
            <a:endParaRPr/>
          </a:p>
        </p:txBody>
      </p:sp>
      <p:pic>
        <p:nvPicPr>
          <p:cNvPr descr="C:\Users\Alex\Desktop\adenoidectomie.jpg" id="606" name="Google Shape;606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5400" y="2438400"/>
            <a:ext cx="3810000" cy="347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67"/>
          <p:cNvSpPr txBox="1"/>
          <p:nvPr>
            <p:ph type="title"/>
          </p:nvPr>
        </p:nvSpPr>
        <p:spPr>
          <a:xfrm>
            <a:off x="533400" y="228600"/>
            <a:ext cx="8153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nsolas"/>
              <a:buNone/>
            </a:pPr>
            <a:r>
              <a:rPr b="1" lang="fr-FR" sz="3200"/>
              <a:t>AMYGDALITE CHRONIQUE</a:t>
            </a:r>
            <a:br>
              <a:rPr lang="fr-FR" sz="3200"/>
            </a:br>
            <a:endParaRPr sz="3200"/>
          </a:p>
        </p:txBody>
      </p:sp>
      <p:sp>
        <p:nvSpPr>
          <p:cNvPr id="612" name="Google Shape;612;p67"/>
          <p:cNvSpPr txBox="1"/>
          <p:nvPr>
            <p:ph idx="1" type="body"/>
          </p:nvPr>
        </p:nvSpPr>
        <p:spPr>
          <a:xfrm>
            <a:off x="457200" y="838200"/>
            <a:ext cx="79248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None/>
            </a:pPr>
            <a:r>
              <a:rPr lang="fr-FR" sz="2200"/>
              <a:t>inflammation chronique de l’amygdale palatine</a:t>
            </a:r>
            <a:endParaRPr sz="2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b="1" lang="fr-FR" sz="2400">
                <a:solidFill>
                  <a:srgbClr val="FFC000"/>
                </a:solidFill>
              </a:rPr>
              <a:t>Étiopathogénie</a:t>
            </a:r>
            <a:r>
              <a:rPr b="1" lang="fr-FR" sz="2200">
                <a:solidFill>
                  <a:srgbClr val="FFC000"/>
                </a:solidFill>
              </a:rPr>
              <a:t> : </a:t>
            </a:r>
            <a:r>
              <a:rPr lang="fr-FR" sz="2200"/>
              <a:t>adénoïdites aiguës répétée</a:t>
            </a:r>
            <a:endParaRPr sz="2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None/>
            </a:pPr>
            <a:r>
              <a:rPr b="1" lang="fr-FR" sz="2200">
                <a:solidFill>
                  <a:srgbClr val="FFC000"/>
                </a:solidFill>
              </a:rPr>
              <a:t> Facteurs favorisants :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Font typeface="Noto Sans Symbols"/>
              <a:buChar char="⮚"/>
            </a:pPr>
            <a:r>
              <a:rPr lang="fr-FR" sz="2200"/>
              <a:t>anatomie des amygdales (cryptes où les germes peuvent rester longtemps sans être détruit) </a:t>
            </a:r>
            <a:endParaRPr sz="2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Font typeface="Noto Sans Symbols"/>
              <a:buChar char="⮚"/>
            </a:pPr>
            <a:r>
              <a:rPr lang="fr-FR" sz="2200"/>
              <a:t> adénoïdite répété aigu </a:t>
            </a:r>
            <a:endParaRPr sz="2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Font typeface="Noto Sans Symbols"/>
              <a:buChar char="⮚"/>
            </a:pPr>
            <a:r>
              <a:rPr lang="fr-FR" sz="2200"/>
              <a:t> inflammation bucco-dentaire </a:t>
            </a:r>
            <a:endParaRPr sz="2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Font typeface="Noto Sans Symbols"/>
              <a:buChar char="⮚"/>
            </a:pPr>
            <a:r>
              <a:rPr lang="fr-FR" sz="2200"/>
              <a:t> climat humide et froid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None/>
            </a:pPr>
            <a:r>
              <a:t/>
            </a:r>
            <a:endParaRPr sz="2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b="1" lang="fr-FR" sz="2400">
                <a:solidFill>
                  <a:srgbClr val="FFC000"/>
                </a:solidFill>
              </a:rPr>
              <a:t>Anatomie pathologique:</a:t>
            </a:r>
            <a:endParaRPr sz="2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None/>
            </a:pPr>
            <a:r>
              <a:rPr lang="fr-FR" sz="2200"/>
              <a:t>hypertrophique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None/>
            </a:pPr>
            <a:r>
              <a:rPr i="1" lang="fr-FR" sz="2200"/>
              <a:t>scléro-atrophique</a:t>
            </a:r>
            <a:r>
              <a:rPr lang="fr-FR" sz="2200"/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None/>
            </a:pPr>
            <a:r>
              <a:rPr lang="fr-FR" sz="2200"/>
              <a:t>atrophique</a:t>
            </a:r>
            <a:endParaRPr sz="2200"/>
          </a:p>
        </p:txBody>
      </p:sp>
      <p:pic>
        <p:nvPicPr>
          <p:cNvPr id="613" name="Google Shape;613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0" y="3810000"/>
            <a:ext cx="3048000" cy="229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68"/>
          <p:cNvSpPr txBox="1"/>
          <p:nvPr>
            <p:ph type="title"/>
          </p:nvPr>
        </p:nvSpPr>
        <p:spPr>
          <a:xfrm>
            <a:off x="457200" y="22860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nsolas"/>
              <a:buNone/>
            </a:pPr>
            <a:r>
              <a:rPr b="1" lang="fr-FR" sz="3200"/>
              <a:t>AMYGDALITE CHRONIQUE</a:t>
            </a:r>
            <a:br>
              <a:rPr lang="fr-FR"/>
            </a:br>
            <a:endParaRPr/>
          </a:p>
        </p:txBody>
      </p:sp>
      <p:sp>
        <p:nvSpPr>
          <p:cNvPr id="619" name="Google Shape;619;p68"/>
          <p:cNvSpPr txBox="1"/>
          <p:nvPr>
            <p:ph idx="1" type="body"/>
          </p:nvPr>
        </p:nvSpPr>
        <p:spPr>
          <a:xfrm>
            <a:off x="381000" y="914400"/>
            <a:ext cx="8610600" cy="5441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b="1" sz="3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>
                <a:solidFill>
                  <a:srgbClr val="FFC000"/>
                </a:solidFill>
              </a:rPr>
              <a:t>Symptomatologie :</a:t>
            </a:r>
            <a:endParaRPr sz="3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>
                <a:solidFill>
                  <a:srgbClr val="FFC000"/>
                </a:solidFill>
              </a:rPr>
              <a:t>Subjectif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angines aiguës pultacées - minimums 3 sur 1 année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abcès de la loge amygdalienne après la consommation des aliments froids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après les poussées aiguës - asthénie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sous fébrilité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de gêne pharyngée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>
                <a:solidFill>
                  <a:srgbClr val="FFC000"/>
                </a:solidFill>
              </a:rPr>
              <a:t>Objectif</a:t>
            </a:r>
            <a:r>
              <a:rPr i="1" lang="fr-FR"/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les piliers antérieurs permanents congestionnés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amygdales de toute taille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adénopathie sous angulo mandibulaire /enfants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>
                <a:solidFill>
                  <a:srgbClr val="FFC000"/>
                </a:solidFill>
              </a:rPr>
              <a:t>Évolution - complications </a:t>
            </a:r>
            <a:r>
              <a:rPr b="1" lang="fr-FR"/>
              <a:t>: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 poussées périodiques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  abcès péri-amygdaliens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 pharyngites chroniques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 épidémie de foyer</a:t>
            </a:r>
            <a:endParaRPr/>
          </a:p>
          <a:p>
            <a:pPr indent="-243363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243363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id="620" name="Google Shape;620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0200" y="3429000"/>
            <a:ext cx="3000375" cy="229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69"/>
          <p:cNvSpPr txBox="1"/>
          <p:nvPr>
            <p:ph type="title"/>
          </p:nvPr>
        </p:nvSpPr>
        <p:spPr>
          <a:xfrm>
            <a:off x="533400" y="228600"/>
            <a:ext cx="8153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nsolas"/>
              <a:buNone/>
            </a:pPr>
            <a:r>
              <a:rPr b="1" lang="fr-FR" sz="3200"/>
              <a:t>AMYGDALITE CHRONIQUE</a:t>
            </a:r>
            <a:endParaRPr sz="3200"/>
          </a:p>
        </p:txBody>
      </p:sp>
      <p:sp>
        <p:nvSpPr>
          <p:cNvPr id="626" name="Google Shape;626;p69"/>
          <p:cNvSpPr txBox="1"/>
          <p:nvPr>
            <p:ph idx="1" type="body"/>
          </p:nvPr>
        </p:nvSpPr>
        <p:spPr>
          <a:xfrm>
            <a:off x="457200" y="914400"/>
            <a:ext cx="7010400" cy="5441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280"/>
              <a:buNone/>
            </a:pPr>
            <a:r>
              <a:t/>
            </a:r>
            <a:endParaRPr b="1" sz="2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b="1" lang="fr-FR" sz="2400">
                <a:solidFill>
                  <a:srgbClr val="FFC000"/>
                </a:solidFill>
              </a:rPr>
              <a:t>Diagnostic positif</a:t>
            </a:r>
            <a:r>
              <a:rPr lang="fr-FR" sz="2400">
                <a:solidFill>
                  <a:srgbClr val="FFC000"/>
                </a:solidFill>
              </a:rPr>
              <a:t> </a:t>
            </a:r>
            <a:r>
              <a:rPr lang="fr-FR" sz="2400"/>
              <a:t> - l’anamnèse 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b="1" lang="fr-FR" sz="2400">
                <a:solidFill>
                  <a:srgbClr val="FFC000"/>
                </a:solidFill>
              </a:rPr>
              <a:t>Diagnostic différentiel</a:t>
            </a:r>
            <a:r>
              <a:rPr lang="fr-FR" sz="2400"/>
              <a:t> - angines virales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t/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b="1" lang="fr-FR" sz="2400">
                <a:solidFill>
                  <a:srgbClr val="FFC000"/>
                </a:solidFill>
              </a:rPr>
              <a:t>Traitement</a:t>
            </a:r>
            <a:r>
              <a:rPr lang="fr-FR" sz="2400">
                <a:solidFill>
                  <a:srgbClr val="FFC000"/>
                </a:solidFill>
              </a:rPr>
              <a:t> -</a:t>
            </a:r>
            <a:r>
              <a:rPr lang="fr-FR" sz="2400"/>
              <a:t> l’amygdalectomie :	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Font typeface="Noto Sans Symbols"/>
              <a:buChar char="⮚"/>
            </a:pPr>
            <a:r>
              <a:rPr lang="fr-FR" sz="2400"/>
              <a:t>amygdalite chronique – des angines aiguës pultacées répétées 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Font typeface="Noto Sans Symbols"/>
              <a:buChar char="⮚"/>
            </a:pPr>
            <a:r>
              <a:rPr lang="fr-FR" sz="2400"/>
              <a:t> phlegmons amygdaliens répétées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Font typeface="Noto Sans Symbols"/>
              <a:buChar char="⮚"/>
            </a:pPr>
            <a:r>
              <a:rPr lang="fr-FR" sz="2400"/>
              <a:t> foyer d’infection amygdalienne 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Font typeface="Noto Sans Symbols"/>
              <a:buChar char="⮚"/>
            </a:pPr>
            <a:r>
              <a:rPr lang="fr-FR" sz="2400"/>
              <a:t> amygdalite chronique hypertrophique  Grade III - IV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Font typeface="Noto Sans Symbols"/>
              <a:buChar char="⮚"/>
            </a:pPr>
            <a:r>
              <a:rPr lang="fr-FR" sz="2400"/>
              <a:t> amygdalite chronique cryptique caséeuse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Font typeface="Noto Sans Symbols"/>
              <a:buChar char="⮚"/>
            </a:pPr>
            <a:r>
              <a:rPr lang="fr-FR" sz="2400"/>
              <a:t>  mauvaise haleine désagréable -indication relative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t/>
            </a:r>
            <a:endParaRPr sz="2400"/>
          </a:p>
          <a:p>
            <a:pPr indent="-19812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t/>
            </a:r>
            <a:endParaRPr sz="2400"/>
          </a:p>
        </p:txBody>
      </p:sp>
      <p:pic>
        <p:nvPicPr>
          <p:cNvPr id="627" name="Google Shape;627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685800"/>
            <a:ext cx="28956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70"/>
          <p:cNvSpPr txBox="1"/>
          <p:nvPr>
            <p:ph type="title"/>
          </p:nvPr>
        </p:nvSpPr>
        <p:spPr>
          <a:xfrm>
            <a:off x="457200" y="512064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lang="fr-FR" sz="4000"/>
              <a:t>GRADING THE SIZE OF TONSILS</a:t>
            </a:r>
            <a:endParaRPr/>
          </a:p>
        </p:txBody>
      </p:sp>
      <p:pic>
        <p:nvPicPr>
          <p:cNvPr descr="tonsil sizes" id="634" name="Google Shape;634;p7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33944" l="0" r="143" t="0"/>
          <a:stretch/>
        </p:blipFill>
        <p:spPr>
          <a:xfrm>
            <a:off x="304800" y="1371600"/>
            <a:ext cx="3910013" cy="5257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onsil sizes" id="635" name="Google Shape;635;p70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48351" t="67749"/>
          <a:stretch/>
        </p:blipFill>
        <p:spPr>
          <a:xfrm>
            <a:off x="4191000" y="1371600"/>
            <a:ext cx="2039938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70"/>
          <p:cNvSpPr txBox="1"/>
          <p:nvPr/>
        </p:nvSpPr>
        <p:spPr>
          <a:xfrm>
            <a:off x="4419600" y="4191000"/>
            <a:ext cx="4416425" cy="1920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2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Grading system: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ahoma"/>
              <a:buAutoNum type="alphaUcPeriod"/>
            </a:pPr>
            <a:r>
              <a:rPr b="1" i="0" lang="fr-FR" sz="2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   0 – tonsils in fossa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ahoma"/>
              <a:buAutoNum type="alphaUcPeriod"/>
            </a:pPr>
            <a:r>
              <a:rPr b="1" i="0" lang="fr-FR" sz="2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+1 – tonsils less than 25%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ahoma"/>
              <a:buAutoNum type="alphaUcPeriod"/>
            </a:pPr>
            <a:r>
              <a:rPr b="1" i="0" lang="fr-FR" sz="2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+2 – tonsils less than 50%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ahoma"/>
              <a:buAutoNum type="alphaUcPeriod"/>
            </a:pPr>
            <a:r>
              <a:rPr b="1" i="0" lang="fr-FR" sz="2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+3 – tonsils less than 75%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ahoma"/>
              <a:buAutoNum type="alphaUcPeriod"/>
            </a:pPr>
            <a:r>
              <a:rPr b="1" i="0" lang="fr-FR" sz="20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+4 – tonsils greater than 75%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71"/>
          <p:cNvSpPr txBox="1"/>
          <p:nvPr>
            <p:ph type="title"/>
          </p:nvPr>
        </p:nvSpPr>
        <p:spPr>
          <a:xfrm>
            <a:off x="457200" y="22860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nsolas"/>
              <a:buNone/>
            </a:pPr>
            <a:r>
              <a:rPr b="1" i="1" lang="fr-FR" sz="3200"/>
              <a:t>INFECTION DE FOYER</a:t>
            </a:r>
            <a:br>
              <a:rPr lang="fr-FR" sz="3200"/>
            </a:br>
            <a:endParaRPr sz="3200"/>
          </a:p>
        </p:txBody>
      </p:sp>
      <p:sp>
        <p:nvSpPr>
          <p:cNvPr id="642" name="Google Shape;642;p71"/>
          <p:cNvSpPr txBox="1"/>
          <p:nvPr>
            <p:ph idx="1" type="body"/>
          </p:nvPr>
        </p:nvSpPr>
        <p:spPr>
          <a:xfrm>
            <a:off x="457200" y="914400"/>
            <a:ext cx="85344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600"/>
              <a:t>affection non suppurative du tissu conjonctif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600"/>
              <a:t>manifestations au niveau de certains organes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2600"/>
              <a:t> </a:t>
            </a:r>
            <a:r>
              <a:rPr b="1" lang="fr-FR" sz="2600">
                <a:solidFill>
                  <a:srgbClr val="FFC000"/>
                </a:solidFill>
              </a:rPr>
              <a:t>Étiopathogénie </a:t>
            </a:r>
            <a:r>
              <a:rPr b="1" i="1" lang="fr-FR" sz="2600" u="sng">
                <a:solidFill>
                  <a:srgbClr val="FFC000"/>
                </a:solidFill>
              </a:rPr>
              <a:t>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2600" u="sng">
                <a:solidFill>
                  <a:srgbClr val="FFC000"/>
                </a:solidFill>
              </a:rPr>
              <a:t>  streptocoque bêta hémolytique du type de A </a:t>
            </a:r>
            <a:endParaRPr sz="2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600"/>
              <a:t> l’intensité de l’infection est nécessaire pour initier une réponse immunitaire </a:t>
            </a:r>
            <a:endParaRPr sz="2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2600">
                <a:solidFill>
                  <a:srgbClr val="FFC000"/>
                </a:solidFill>
              </a:rPr>
              <a:t>Facteurs favorisants :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 sz="2600"/>
              <a:t> âge – enfants/adolescents</a:t>
            </a:r>
            <a:endParaRPr sz="2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 sz="2600"/>
              <a:t>climat tempéré</a:t>
            </a:r>
            <a:endParaRPr sz="2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 sz="2600"/>
              <a:t> l’hiver</a:t>
            </a:r>
            <a:endParaRPr sz="2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 sz="2600"/>
              <a:t> prédisposition héréditaire (?)</a:t>
            </a:r>
            <a:endParaRPr sz="2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 sz="2600"/>
              <a:t> pathogénie - auto-immune</a:t>
            </a:r>
            <a:endParaRPr sz="2600"/>
          </a:p>
          <a:p>
            <a:pPr indent="-175498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id="643" name="Google Shape;643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5400" y="3733800"/>
            <a:ext cx="32004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72"/>
          <p:cNvSpPr txBox="1"/>
          <p:nvPr>
            <p:ph type="title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nsolas"/>
              <a:buNone/>
            </a:pPr>
            <a:r>
              <a:rPr b="1" i="1" lang="fr-FR" sz="3200"/>
              <a:t>INFECTION DE FOYER</a:t>
            </a:r>
            <a:endParaRPr sz="3200"/>
          </a:p>
        </p:txBody>
      </p:sp>
      <p:sp>
        <p:nvSpPr>
          <p:cNvPr id="649" name="Google Shape;649;p72"/>
          <p:cNvSpPr txBox="1"/>
          <p:nvPr>
            <p:ph idx="1" type="body"/>
          </p:nvPr>
        </p:nvSpPr>
        <p:spPr>
          <a:xfrm>
            <a:off x="457200" y="838200"/>
            <a:ext cx="86868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b="1" sz="60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11200">
                <a:solidFill>
                  <a:srgbClr val="FFC000"/>
                </a:solidFill>
              </a:rPr>
              <a:t>Anatomie pathologique :</a:t>
            </a:r>
            <a:endParaRPr sz="11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7400"/>
              <a:t> </a:t>
            </a:r>
            <a:r>
              <a:rPr lang="fr-FR" sz="7400" u="sng">
                <a:solidFill>
                  <a:srgbClr val="FFC000"/>
                </a:solidFill>
              </a:rPr>
              <a:t>nodule Aschoff </a:t>
            </a:r>
            <a:r>
              <a:rPr lang="fr-FR" sz="7400"/>
              <a:t>- lésion anatomopathologique caractéristique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7400"/>
              <a:t>.</a:t>
            </a:r>
            <a:endParaRPr sz="7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11200">
                <a:solidFill>
                  <a:srgbClr val="FFC000"/>
                </a:solidFill>
              </a:rPr>
              <a:t>Les manifestations cliniques </a:t>
            </a:r>
            <a:r>
              <a:rPr i="1" lang="fr-FR" sz="11200"/>
              <a:t>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br>
              <a:rPr i="1" lang="fr-FR" sz="7400"/>
            </a:br>
            <a:r>
              <a:rPr lang="fr-FR" sz="8000"/>
              <a:t> après  8-21 jours de l’infection aiguë avec le streptocoque bêta hémolytique</a:t>
            </a:r>
            <a:br>
              <a:rPr lang="fr-FR" sz="8000"/>
            </a:br>
            <a:r>
              <a:rPr b="1" lang="fr-FR" sz="8000" u="sng"/>
              <a:t> </a:t>
            </a:r>
            <a:r>
              <a:rPr b="1" i="1" lang="fr-FR" sz="8000" u="sng">
                <a:solidFill>
                  <a:srgbClr val="FFC000"/>
                </a:solidFill>
              </a:rPr>
              <a:t>signales cliniques majeurs :</a:t>
            </a:r>
            <a:endParaRPr b="1" sz="80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8000"/>
              <a:t> le rhumatisme articulaire aigu</a:t>
            </a:r>
            <a:endParaRPr sz="8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8000"/>
              <a:t>cardite rhumatismale – endomio péricardite</a:t>
            </a:r>
            <a:endParaRPr sz="8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8000"/>
              <a:t> gna post streptococcique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8000"/>
              <a:t>chorée mineure - mouvements involontaires extrapyramidaux</a:t>
            </a:r>
            <a:endParaRPr sz="8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8000"/>
              <a:t> ataxie</a:t>
            </a:r>
            <a:endParaRPr sz="8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8000"/>
              <a:t>nodules sous-cutanés</a:t>
            </a:r>
            <a:endParaRPr sz="8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8000"/>
              <a:t> érythème marginal</a:t>
            </a:r>
            <a:endParaRPr sz="8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8000"/>
              <a:t>purpura rhumatismal</a:t>
            </a:r>
            <a:endParaRPr sz="8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8000"/>
              <a:t> </a:t>
            </a:r>
            <a:r>
              <a:rPr b="1" lang="fr-FR" sz="8000"/>
              <a:t> </a:t>
            </a:r>
            <a:endParaRPr sz="80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73"/>
          <p:cNvSpPr txBox="1"/>
          <p:nvPr>
            <p:ph type="title"/>
          </p:nvPr>
        </p:nvSpPr>
        <p:spPr>
          <a:xfrm>
            <a:off x="457200" y="228600"/>
            <a:ext cx="8229600" cy="119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nsolas"/>
              <a:buNone/>
            </a:pPr>
            <a:r>
              <a:rPr b="1" i="1" lang="fr-FR" sz="3200"/>
              <a:t>INFECTION DE FOYER</a:t>
            </a:r>
            <a:endParaRPr sz="3200"/>
          </a:p>
        </p:txBody>
      </p:sp>
      <p:sp>
        <p:nvSpPr>
          <p:cNvPr id="655" name="Google Shape;655;p73"/>
          <p:cNvSpPr txBox="1"/>
          <p:nvPr>
            <p:ph idx="1" type="body"/>
          </p:nvPr>
        </p:nvSpPr>
        <p:spPr>
          <a:xfrm>
            <a:off x="304800" y="914400"/>
            <a:ext cx="8534400" cy="57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i="1" lang="fr-FR" sz="2400">
                <a:solidFill>
                  <a:srgbClr val="FFC000"/>
                </a:solidFill>
              </a:rPr>
              <a:t> </a:t>
            </a:r>
            <a:r>
              <a:rPr b="1" i="1" lang="fr-FR" sz="2800" u="sng">
                <a:solidFill>
                  <a:srgbClr val="FFC000"/>
                </a:solidFill>
              </a:rPr>
              <a:t>signales mineurs :</a:t>
            </a:r>
            <a:endParaRPr b="1" sz="2800" u="sng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2400"/>
              <a:t> la fièvre, arthralgies, tachycardie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2400"/>
              <a:t> p + r intervalle prolongé de l’ECG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2400"/>
              <a:t>streptocoque présent dans l’exsudat - ASLO &gt; 300 u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400"/>
              <a:t>                                                                                   - VSH &gt; 40/h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2400"/>
              <a:t> augmentation de fibrinogène 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2400"/>
              <a:t> hyper </a:t>
            </a:r>
            <a:r>
              <a:rPr i="1" lang="fr-FR" sz="2400"/>
              <a:t>alpha2 globulinémie</a:t>
            </a:r>
            <a:r>
              <a:rPr lang="fr-FR" sz="2400"/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2400"/>
              <a:t> la protéine c réactive présente (+)</a:t>
            </a:r>
            <a:r>
              <a:rPr b="1" lang="fr-FR" sz="2400"/>
              <a:t> 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2800">
                <a:solidFill>
                  <a:srgbClr val="FFC000"/>
                </a:solidFill>
              </a:rPr>
              <a:t>Diagnostic positif :</a:t>
            </a:r>
            <a:endParaRPr sz="2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2000"/>
              <a:t>score Duckett-Jones - deux signes majeurs </a:t>
            </a:r>
            <a:br>
              <a:rPr lang="fr-FR" sz="2000"/>
            </a:br>
            <a:r>
              <a:rPr lang="fr-FR" sz="2000"/>
              <a:t>                                           - 1 signe majeur + 2 signes mineurs</a:t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2800">
                <a:solidFill>
                  <a:srgbClr val="FFC000"/>
                </a:solidFill>
              </a:rPr>
              <a:t>Évolution :</a:t>
            </a:r>
            <a:endParaRPr sz="2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000"/>
              <a:t>en poussées= une nouvelle poussée survient après une nouvelle infection streptococcique</a:t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2800">
                <a:solidFill>
                  <a:srgbClr val="FFC000"/>
                </a:solidFill>
              </a:rPr>
              <a:t>Traitement :</a:t>
            </a:r>
            <a:endParaRPr sz="2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2000"/>
              <a:t>    prophylactique – Moldamin</a:t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2000"/>
              <a:t>   amygdalectomie.</a:t>
            </a:r>
            <a:endParaRPr sz="2000"/>
          </a:p>
          <a:p>
            <a:pPr indent="-189071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id="656" name="Google Shape;656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200" y="2571750"/>
            <a:ext cx="2743200" cy="222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74"/>
          <p:cNvSpPr txBox="1"/>
          <p:nvPr>
            <p:ph type="title"/>
          </p:nvPr>
        </p:nvSpPr>
        <p:spPr>
          <a:xfrm>
            <a:off x="304800" y="152400"/>
            <a:ext cx="8839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INFLAMMATIONS CHRONIQUES SPÉCIFIQUES</a:t>
            </a:r>
            <a:br>
              <a:rPr b="1" lang="fr-FR" sz="3200">
                <a:latin typeface="Corbel"/>
                <a:ea typeface="Corbel"/>
                <a:cs typeface="Corbel"/>
                <a:sym typeface="Corbel"/>
              </a:rPr>
            </a:b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62" name="Google Shape;662;p74"/>
          <p:cNvSpPr txBox="1"/>
          <p:nvPr>
            <p:ph idx="1" type="body"/>
          </p:nvPr>
        </p:nvSpPr>
        <p:spPr>
          <a:xfrm>
            <a:off x="381000" y="1066800"/>
            <a:ext cx="7315200" cy="57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660"/>
              <a:buNone/>
            </a:pPr>
            <a:r>
              <a:rPr b="1" i="1" lang="fr-FR" sz="2800">
                <a:solidFill>
                  <a:srgbClr val="FFC000"/>
                </a:solidFill>
              </a:rPr>
              <a:t>TUBERCULOSE</a:t>
            </a:r>
            <a:endParaRPr b="1" sz="2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470"/>
              <a:buNone/>
            </a:pPr>
            <a:r>
              <a:rPr lang="fr-FR" sz="2600"/>
              <a:t>  </a:t>
            </a:r>
            <a:r>
              <a:rPr lang="fr-FR" sz="2000"/>
              <a:t>forme- ulcéreuse caséeuse, complication de la TB pulmonaire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   -ulcérations étendues, avec un fond gris sale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 </a:t>
            </a:r>
            <a:r>
              <a:rPr b="1" lang="fr-FR" sz="2000">
                <a:solidFill>
                  <a:srgbClr val="FFC000"/>
                </a:solidFill>
              </a:rPr>
              <a:t>Diagnostic </a:t>
            </a:r>
            <a:r>
              <a:rPr lang="fr-FR" sz="2000">
                <a:solidFill>
                  <a:srgbClr val="FFC000"/>
                </a:solidFill>
              </a:rPr>
              <a:t>:</a:t>
            </a:r>
            <a:r>
              <a:rPr lang="fr-FR" sz="2000"/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    biopsie + examen radiologique pulmonaire</a:t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470"/>
              <a:buNone/>
            </a:pPr>
            <a:r>
              <a:rPr lang="fr-FR" sz="2600"/>
              <a:t> </a:t>
            </a:r>
            <a:endParaRPr sz="2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470"/>
              <a:buNone/>
            </a:pPr>
            <a:r>
              <a:rPr b="1" i="1" lang="fr-FR" sz="2600">
                <a:solidFill>
                  <a:srgbClr val="FFC000"/>
                </a:solidFill>
              </a:rPr>
              <a:t> </a:t>
            </a:r>
            <a:r>
              <a:rPr b="1" i="1" lang="fr-FR" sz="2800">
                <a:solidFill>
                  <a:srgbClr val="FFC000"/>
                </a:solidFill>
              </a:rPr>
              <a:t>SYPHILIS</a:t>
            </a:r>
            <a:endParaRPr b="1" sz="2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470"/>
              <a:buNone/>
            </a:pPr>
            <a:r>
              <a:rPr lang="fr-FR" sz="2600"/>
              <a:t> </a:t>
            </a:r>
            <a:r>
              <a:rPr lang="fr-FR" sz="2000"/>
              <a:t>chancre syphilitique - une ulcération profonde unilatérale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adénopathie sous-maxillaire, constante, indolore</a:t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b="1" lang="fr-FR" sz="2000">
                <a:solidFill>
                  <a:srgbClr val="FFC000"/>
                </a:solidFill>
              </a:rPr>
              <a:t>Diagnostic positif</a:t>
            </a:r>
            <a:endParaRPr sz="20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 anamnèse + ex objectif + sérologie + biopsie</a:t>
            </a:r>
            <a:endParaRPr sz="2000"/>
          </a:p>
          <a:p>
            <a:pPr indent="-22225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 sz="2000"/>
          </a:p>
        </p:txBody>
      </p:sp>
      <p:pic>
        <p:nvPicPr>
          <p:cNvPr descr="tuberculosis" id="663" name="Google Shape;663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7401" y="2017300"/>
            <a:ext cx="2895600" cy="232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yphillis, ulcers" id="664" name="Google Shape;664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67400" y="4724400"/>
            <a:ext cx="2895600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75"/>
          <p:cNvSpPr txBox="1"/>
          <p:nvPr>
            <p:ph type="title"/>
          </p:nvPr>
        </p:nvSpPr>
        <p:spPr>
          <a:xfrm>
            <a:off x="457200" y="228600"/>
            <a:ext cx="111252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INFLAMMATIONS CHRONIQUES SPÉCIFIQUES</a:t>
            </a:r>
            <a:br>
              <a:rPr b="1" lang="fr-FR" sz="3200">
                <a:latin typeface="Corbel"/>
                <a:ea typeface="Corbel"/>
                <a:cs typeface="Corbel"/>
                <a:sym typeface="Corbel"/>
              </a:rPr>
            </a:b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70" name="Google Shape;670;p75"/>
          <p:cNvSpPr txBox="1"/>
          <p:nvPr>
            <p:ph idx="1" type="body"/>
          </p:nvPr>
        </p:nvSpPr>
        <p:spPr>
          <a:xfrm>
            <a:off x="381000" y="838200"/>
            <a:ext cx="72390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i="1" lang="fr-FR" sz="4400">
                <a:solidFill>
                  <a:srgbClr val="FFC000"/>
                </a:solidFill>
              </a:rPr>
              <a:t>CANDIDOSE</a:t>
            </a:r>
            <a:endParaRPr sz="4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4400">
                <a:solidFill>
                  <a:srgbClr val="FFC000"/>
                </a:solidFill>
              </a:rPr>
              <a:t>Étiologie</a:t>
            </a:r>
            <a:r>
              <a:rPr b="1" lang="fr-FR" sz="4200">
                <a:solidFill>
                  <a:srgbClr val="FFC000"/>
                </a:solidFill>
              </a:rPr>
              <a:t> </a:t>
            </a:r>
            <a:r>
              <a:rPr lang="fr-FR"/>
              <a:t>- Candida albicans	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- SIDA / immunosuppresseur </a:t>
            </a:r>
            <a:br>
              <a:rPr lang="fr-FR"/>
            </a:br>
            <a:r>
              <a:rPr lang="fr-FR"/>
              <a:t>                   - bébés dystrophiques</a:t>
            </a:r>
            <a:br>
              <a:rPr lang="fr-FR"/>
            </a:br>
            <a:r>
              <a:rPr lang="fr-FR"/>
              <a:t>                    -long traitement avec des antibiotiques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64772"/>
              <a:buNone/>
            </a:pPr>
            <a:r>
              <a:rPr lang="fr-FR"/>
              <a:t> </a:t>
            </a:r>
            <a:r>
              <a:rPr b="1" lang="fr-FR" sz="4400">
                <a:solidFill>
                  <a:srgbClr val="FFC000"/>
                </a:solidFill>
              </a:rPr>
              <a:t>Symptomatologie :</a:t>
            </a:r>
            <a:endParaRPr sz="4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S</a:t>
            </a:r>
            <a:r>
              <a:rPr b="1" i="1" lang="fr-FR">
                <a:solidFill>
                  <a:srgbClr val="FFC000"/>
                </a:solidFill>
              </a:rPr>
              <a:t>ubjectif </a:t>
            </a:r>
            <a:r>
              <a:rPr i="1" lang="fr-FR"/>
              <a:t>: </a:t>
            </a:r>
            <a:r>
              <a:rPr lang="fr-FR"/>
              <a:t>- goût désagréable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- gêne de la bouche et / ou pharyngienne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O</a:t>
            </a:r>
            <a:r>
              <a:rPr b="1" i="1" lang="fr-FR">
                <a:solidFill>
                  <a:srgbClr val="FFC000"/>
                </a:solidFill>
              </a:rPr>
              <a:t>bjectif :</a:t>
            </a:r>
            <a:r>
              <a:rPr i="1" lang="fr-FR"/>
              <a:t> </a:t>
            </a:r>
            <a:r>
              <a:rPr lang="fr-FR"/>
              <a:t>- taches blanches sur de fond congestif </a:t>
            </a:r>
            <a:r>
              <a:rPr b="1" lang="fr-FR">
                <a:solidFill>
                  <a:srgbClr val="FFC000"/>
                </a:solidFill>
              </a:rPr>
              <a:t>(„il a mangé du yogourt”) ;</a:t>
            </a:r>
            <a:endParaRPr b="1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- lésions  ternes et sèches en alternant avec celles érythémateuses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- la langue  brune au noir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4400">
                <a:solidFill>
                  <a:srgbClr val="FFC000"/>
                </a:solidFill>
              </a:rPr>
              <a:t> </a:t>
            </a:r>
            <a:r>
              <a:rPr b="1" lang="fr-FR" sz="4400">
                <a:solidFill>
                  <a:srgbClr val="FFC000"/>
                </a:solidFill>
              </a:rPr>
              <a:t>Diagnostic positif :</a:t>
            </a:r>
            <a:endParaRPr sz="4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-ex  mycologique- candida albicans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4400"/>
              <a:t> </a:t>
            </a:r>
            <a:r>
              <a:rPr b="1" lang="fr-FR" sz="4400">
                <a:solidFill>
                  <a:srgbClr val="FFC000"/>
                </a:solidFill>
              </a:rPr>
              <a:t>Traitement :</a:t>
            </a:r>
            <a:endParaRPr sz="4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Local - alcalinisant - borax glycérine nourrisson </a:t>
            </a:r>
            <a:br>
              <a:rPr lang="fr-FR"/>
            </a:br>
            <a:r>
              <a:rPr lang="fr-FR"/>
              <a:t>      - nystatine (Stamicin) ou Pimafucin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Général - Nizoral, Diflucan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</p:txBody>
      </p:sp>
      <p:pic>
        <p:nvPicPr>
          <p:cNvPr descr="candida1" id="671" name="Google Shape;671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1" y="4114800"/>
            <a:ext cx="29718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ndida2" id="672" name="Google Shape;672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914400"/>
            <a:ext cx="3060656" cy="207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76"/>
          <p:cNvSpPr txBox="1"/>
          <p:nvPr>
            <p:ph type="title"/>
          </p:nvPr>
        </p:nvSpPr>
        <p:spPr>
          <a:xfrm>
            <a:off x="457200" y="1524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nsolas"/>
              <a:buNone/>
            </a:pPr>
            <a:r>
              <a:rPr b="1" lang="fr-FR" sz="3200"/>
              <a:t>TUMEURS BÉNIGNES</a:t>
            </a:r>
            <a:br>
              <a:rPr lang="fr-FR" sz="3200"/>
            </a:br>
            <a:endParaRPr sz="3200"/>
          </a:p>
        </p:txBody>
      </p:sp>
      <p:sp>
        <p:nvSpPr>
          <p:cNvPr id="678" name="Google Shape;678;p76"/>
          <p:cNvSpPr txBox="1"/>
          <p:nvPr>
            <p:ph idx="1" type="body"/>
          </p:nvPr>
        </p:nvSpPr>
        <p:spPr>
          <a:xfrm>
            <a:off x="457200" y="838200"/>
            <a:ext cx="8382000" cy="57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r>
              <a:rPr b="1" lang="fr-FR">
                <a:solidFill>
                  <a:srgbClr val="FFC000"/>
                </a:solidFill>
              </a:rPr>
              <a:t>Nasopharynx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b="1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2600">
                <a:solidFill>
                  <a:srgbClr val="FFC000"/>
                </a:solidFill>
              </a:rPr>
              <a:t>Polype choanale </a:t>
            </a:r>
            <a:r>
              <a:rPr lang="fr-FR" sz="2600"/>
              <a:t>- fibromyxoma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600"/>
              <a:t>      tumeur pédiculée, insertion choanale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2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2600">
                <a:solidFill>
                  <a:srgbClr val="FFC000"/>
                </a:solidFill>
              </a:rPr>
              <a:t>Fibrome nasopharyngée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2600"/>
              <a:t> riche en vaisseaux sanguine,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2600"/>
              <a:t>l’endothélium (pas de couche musculaire)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2600"/>
              <a:t>envahit les cavités nasales,  sinus, fosses pterygo maxillaire </a:t>
            </a:r>
            <a:r>
              <a:rPr i="1" lang="fr-FR" sz="2600">
                <a:solidFill>
                  <a:srgbClr val="FFC000"/>
                </a:solidFill>
              </a:rPr>
              <a:t>comme une tumeur maligne</a:t>
            </a:r>
            <a:r>
              <a:rPr lang="fr-FR" sz="2600"/>
              <a:t> </a:t>
            </a:r>
            <a:endParaRPr sz="2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2600"/>
              <a:t> affecte les adolescents  masculine à puberté </a:t>
            </a:r>
            <a:endParaRPr sz="2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2600"/>
              <a:t> obstruction nasale progressive et épistaxis à un adolescent mâle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600"/>
              <a:t>      </a:t>
            </a:r>
            <a:r>
              <a:rPr lang="fr-FR" sz="2600">
                <a:solidFill>
                  <a:srgbClr val="FFC000"/>
                </a:solidFill>
              </a:rPr>
              <a:t>Traitement</a:t>
            </a:r>
            <a:r>
              <a:rPr lang="fr-FR" sz="2600"/>
              <a:t> chirurgical et l’embolisation</a:t>
            </a:r>
            <a:endParaRPr sz="26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77"/>
          <p:cNvSpPr txBox="1"/>
          <p:nvPr>
            <p:ph type="title"/>
          </p:nvPr>
        </p:nvSpPr>
        <p:spPr>
          <a:xfrm>
            <a:off x="457200" y="512064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1D8FE"/>
              </a:buClr>
              <a:buSzPts val="3200"/>
              <a:buFont typeface="Consolas"/>
              <a:buNone/>
            </a:pPr>
            <a:r>
              <a:rPr b="1" lang="fr-FR" sz="3200">
                <a:solidFill>
                  <a:srgbClr val="51D8FE"/>
                </a:solidFill>
              </a:rPr>
              <a:t> FIBROME NASOPHARYNGÉE </a:t>
            </a:r>
            <a:br>
              <a:rPr b="1" lang="fr-FR" sz="3200">
                <a:solidFill>
                  <a:srgbClr val="51D8FE"/>
                </a:solidFill>
              </a:rPr>
            </a:br>
            <a:endParaRPr b="1" sz="3200">
              <a:solidFill>
                <a:srgbClr val="51D8FE"/>
              </a:solidFill>
            </a:endParaRPr>
          </a:p>
        </p:txBody>
      </p:sp>
      <p:pic>
        <p:nvPicPr>
          <p:cNvPr descr="fibrom7" id="684" name="Google Shape;684;p7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1143000"/>
            <a:ext cx="3048000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brom2" id="685" name="Google Shape;685;p77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6800" y="4114800"/>
            <a:ext cx="31242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brom11" id="686" name="Google Shape;686;p7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" y="4114800"/>
            <a:ext cx="30480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brom12" id="687" name="Google Shape;687;p7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76800" y="1143001"/>
            <a:ext cx="3200400" cy="2819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7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1D8FE"/>
              </a:buClr>
              <a:buSzPts val="4000"/>
              <a:buFont typeface="Consolas"/>
              <a:buNone/>
            </a:pPr>
            <a:r>
              <a:rPr b="1" lang="fr-FR">
                <a:solidFill>
                  <a:srgbClr val="51D8FE"/>
                </a:solidFill>
              </a:rPr>
              <a:t> </a:t>
            </a:r>
            <a:r>
              <a:rPr b="1" lang="fr-FR" sz="3200">
                <a:solidFill>
                  <a:srgbClr val="51D8FE"/>
                </a:solidFill>
              </a:rPr>
              <a:t>FIBROME NASOPHARYNGÉE </a:t>
            </a:r>
            <a:endParaRPr b="1" sz="3200">
              <a:solidFill>
                <a:schemeClr val="lt1"/>
              </a:solidFill>
            </a:endParaRPr>
          </a:p>
        </p:txBody>
      </p:sp>
      <p:pic>
        <p:nvPicPr>
          <p:cNvPr descr="fibrom10" id="693" name="Google Shape;693;p7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066800"/>
            <a:ext cx="4105275" cy="3349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brom5" id="694" name="Google Shape;694;p78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7800" y="1143000"/>
            <a:ext cx="3200400" cy="268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brom6" id="695" name="Google Shape;695;p78"/>
          <p:cNvPicPr preferRelativeResize="0"/>
          <p:nvPr>
            <p:ph idx="3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92725" y="4005263"/>
            <a:ext cx="3089275" cy="2403475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78"/>
          <p:cNvSpPr txBox="1"/>
          <p:nvPr/>
        </p:nvSpPr>
        <p:spPr>
          <a:xfrm>
            <a:off x="592138" y="5392738"/>
            <a:ext cx="3908425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97" name="Google Shape;697;p78"/>
          <p:cNvSpPr txBox="1"/>
          <p:nvPr/>
        </p:nvSpPr>
        <p:spPr>
          <a:xfrm>
            <a:off x="611188" y="4724400"/>
            <a:ext cx="3600450" cy="1370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ParaLateroNasal Technique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fr-FR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Without recurrence at 2 years postoperative</a:t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79"/>
          <p:cNvSpPr txBox="1"/>
          <p:nvPr>
            <p:ph type="title"/>
          </p:nvPr>
        </p:nvSpPr>
        <p:spPr>
          <a:xfrm>
            <a:off x="457200" y="152400"/>
            <a:ext cx="8229600" cy="1274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nsolas"/>
              <a:buNone/>
            </a:pPr>
            <a:r>
              <a:rPr b="1" lang="fr-FR" sz="3200"/>
              <a:t>TUMEURS BÉNIGNES</a:t>
            </a:r>
            <a:br>
              <a:rPr lang="fr-FR" sz="3200"/>
            </a:br>
            <a:endParaRPr sz="3200"/>
          </a:p>
        </p:txBody>
      </p:sp>
      <p:sp>
        <p:nvSpPr>
          <p:cNvPr id="703" name="Google Shape;703;p79"/>
          <p:cNvSpPr txBox="1"/>
          <p:nvPr>
            <p:ph idx="1" type="body"/>
          </p:nvPr>
        </p:nvSpPr>
        <p:spPr>
          <a:xfrm>
            <a:off x="381000" y="1143000"/>
            <a:ext cx="85344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Oropharynx :</a:t>
            </a:r>
            <a:endParaRPr b="1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>
                <a:solidFill>
                  <a:srgbClr val="FFC000"/>
                </a:solidFill>
              </a:rPr>
              <a:t> Le papillome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600"/>
              <a:t>     étiologie virale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600"/>
              <a:t>     localisation  le voile / luette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600"/>
              <a:t>     petites tumeurs roses ou blanches, müriforme, pédonculés ou sessiles</a:t>
            </a:r>
            <a:endParaRPr sz="2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109615"/>
              <a:buNone/>
            </a:pPr>
            <a:r>
              <a:rPr lang="fr-FR">
                <a:solidFill>
                  <a:srgbClr val="FFC000"/>
                </a:solidFill>
              </a:rPr>
              <a:t>Traitement </a:t>
            </a:r>
            <a:r>
              <a:rPr lang="fr-FR"/>
              <a:t>  </a:t>
            </a:r>
            <a:r>
              <a:rPr lang="fr-FR" sz="2600"/>
              <a:t>chirurgie laser</a:t>
            </a:r>
            <a:endParaRPr sz="2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600"/>
              <a:t>                          diathérmocoagulation</a:t>
            </a:r>
            <a:endParaRPr sz="2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Hypopharynx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</a:t>
            </a:r>
            <a:r>
              <a:rPr lang="fr-FR" sz="2600"/>
              <a:t>localisation- ​​la face linguale de l’épiglotte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600"/>
              <a:t>                         -sinus piriformes</a:t>
            </a:r>
            <a:endParaRPr sz="2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 </a:t>
            </a:r>
            <a:endParaRPr/>
          </a:p>
          <a:p>
            <a:pPr indent="-175498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80"/>
          <p:cNvSpPr txBox="1"/>
          <p:nvPr>
            <p:ph type="title"/>
          </p:nvPr>
        </p:nvSpPr>
        <p:spPr>
          <a:xfrm>
            <a:off x="457200" y="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nsolas"/>
              <a:buNone/>
            </a:pPr>
            <a:r>
              <a:rPr b="1" lang="fr-FR" sz="3200"/>
              <a:t>TUMEURS MALIGNES   RHINO-PHARYNX</a:t>
            </a:r>
            <a:br>
              <a:rPr b="1" lang="fr-FR" sz="3200"/>
            </a:br>
            <a:br>
              <a:rPr lang="fr-FR" sz="3200"/>
            </a:br>
            <a:endParaRPr sz="3200"/>
          </a:p>
        </p:txBody>
      </p:sp>
      <p:sp>
        <p:nvSpPr>
          <p:cNvPr id="709" name="Google Shape;709;p80"/>
          <p:cNvSpPr txBox="1"/>
          <p:nvPr>
            <p:ph idx="1" type="body"/>
          </p:nvPr>
        </p:nvSpPr>
        <p:spPr>
          <a:xfrm>
            <a:off x="457200" y="762000"/>
            <a:ext cx="8686800" cy="6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>
                <a:solidFill>
                  <a:srgbClr val="FFC000"/>
                </a:solidFill>
              </a:rPr>
              <a:t>Anatomie pathologique :</a:t>
            </a:r>
            <a:endParaRPr b="1" sz="3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900"/>
              <a:t>carcinome épidermoïde</a:t>
            </a:r>
            <a:endParaRPr sz="2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900"/>
              <a:t> lymphomes, sarcomes – lympho-épithéliomas, lymphosarcome, réticulo-sarcome</a:t>
            </a:r>
            <a:endParaRPr sz="2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900"/>
              <a:t>infiltro-végétantes et infiltro-ulcérées</a:t>
            </a:r>
            <a:endParaRPr sz="2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200">
                <a:solidFill>
                  <a:srgbClr val="FFC000"/>
                </a:solidFill>
              </a:rPr>
              <a:t>Localisation</a:t>
            </a:r>
            <a:r>
              <a:rPr b="1" lang="fr-FR" sz="2900">
                <a:solidFill>
                  <a:srgbClr val="FFC000"/>
                </a:solidFill>
              </a:rPr>
              <a:t> </a:t>
            </a:r>
            <a:r>
              <a:rPr b="1" lang="fr-FR" sz="2900"/>
              <a:t>:</a:t>
            </a:r>
            <a:r>
              <a:rPr lang="fr-FR" sz="2900"/>
              <a:t>  la fossette Rosemmüller</a:t>
            </a:r>
            <a:endParaRPr sz="2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>
                <a:solidFill>
                  <a:srgbClr val="FFC000"/>
                </a:solidFill>
              </a:rPr>
              <a:t>Symptomatologie :</a:t>
            </a:r>
            <a:endParaRPr sz="3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900"/>
              <a:t>-   obstruction nasale, rhinorrhée  muco-purulentes, épistaxis </a:t>
            </a:r>
            <a:endParaRPr sz="2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900"/>
              <a:t> -   otologique - otite catarrhale, hypoacousie de type transmission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900"/>
              <a:t> -   ganglionnaire -adénopathie latéro-cervicale haute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900"/>
              <a:t> -  neurologique -névralgie du trijumeau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900"/>
              <a:t> -  parésie du nerf crânien - nerfs oculomoteurs</a:t>
            </a:r>
            <a:endParaRPr sz="2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>
                <a:solidFill>
                  <a:srgbClr val="FFC000"/>
                </a:solidFill>
              </a:rPr>
              <a:t>Objectif</a:t>
            </a:r>
            <a:r>
              <a:rPr b="1" lang="fr-FR" sz="3800"/>
              <a:t> </a:t>
            </a:r>
            <a:r>
              <a:rPr lang="fr-FR" sz="3800"/>
              <a:t>-</a:t>
            </a:r>
            <a:r>
              <a:rPr lang="fr-FR" sz="2900"/>
              <a:t> endoscopie nasopharyngée  </a:t>
            </a:r>
            <a:endParaRPr sz="2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2900"/>
              <a:t>                      </a:t>
            </a:r>
            <a:r>
              <a:rPr lang="fr-FR" sz="2900"/>
              <a:t> - tomographie par ordinateur </a:t>
            </a:r>
            <a:endParaRPr sz="2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900"/>
              <a:t>          	     - biopsie</a:t>
            </a:r>
            <a:endParaRPr sz="2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>
                <a:solidFill>
                  <a:srgbClr val="FFC000"/>
                </a:solidFill>
              </a:rPr>
              <a:t>Diagnostic positif :</a:t>
            </a:r>
            <a:r>
              <a:rPr lang="fr-FR" sz="2900">
                <a:solidFill>
                  <a:srgbClr val="FFC000"/>
                </a:solidFill>
              </a:rPr>
              <a:t> biopsie</a:t>
            </a:r>
            <a:endParaRPr sz="29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>
                <a:solidFill>
                  <a:srgbClr val="FFC000"/>
                </a:solidFill>
              </a:rPr>
              <a:t>Traitement</a:t>
            </a:r>
            <a:r>
              <a:rPr b="1" lang="fr-FR" sz="2900">
                <a:solidFill>
                  <a:srgbClr val="FFC000"/>
                </a:solidFill>
              </a:rPr>
              <a:t> </a:t>
            </a:r>
            <a:r>
              <a:rPr lang="fr-FR" sz="2900">
                <a:solidFill>
                  <a:srgbClr val="FFC000"/>
                </a:solidFill>
              </a:rPr>
              <a:t>: </a:t>
            </a:r>
            <a:r>
              <a:rPr lang="fr-FR" sz="2900"/>
              <a:t>radiothérapie + chimiothérapie </a:t>
            </a:r>
            <a:br>
              <a:rPr lang="fr-FR" sz="2900"/>
            </a:br>
            <a:r>
              <a:rPr lang="fr-FR" sz="2900"/>
              <a:t>                 -40-50 % de survie à 5 ans.</a:t>
            </a:r>
            <a:endParaRPr sz="290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81"/>
          <p:cNvSpPr txBox="1"/>
          <p:nvPr>
            <p:ph type="title"/>
          </p:nvPr>
        </p:nvSpPr>
        <p:spPr>
          <a:xfrm>
            <a:off x="381000" y="381000"/>
            <a:ext cx="830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nsolas"/>
              <a:buNone/>
            </a:pPr>
            <a:r>
              <a:rPr b="1" lang="fr-FR" sz="3200"/>
              <a:t>TUMEURS MALIGNES   RHINO-PHARYNX</a:t>
            </a:r>
            <a:br>
              <a:rPr lang="fr-FR"/>
            </a:br>
            <a:endParaRPr b="1">
              <a:solidFill>
                <a:srgbClr val="FFFFCC"/>
              </a:solidFill>
            </a:endParaRPr>
          </a:p>
        </p:txBody>
      </p:sp>
      <p:pic>
        <p:nvPicPr>
          <p:cNvPr id="715" name="Google Shape;715;p8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2934" y="1981200"/>
            <a:ext cx="4808866" cy="4186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82"/>
          <p:cNvSpPr txBox="1"/>
          <p:nvPr>
            <p:ph type="title"/>
          </p:nvPr>
        </p:nvSpPr>
        <p:spPr>
          <a:xfrm>
            <a:off x="533400" y="152400"/>
            <a:ext cx="8153400" cy="1274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nsolas"/>
              <a:buNone/>
            </a:pPr>
            <a:r>
              <a:rPr b="1" lang="fr-FR" sz="3200"/>
              <a:t>TUMEURS MALIGNES OROPHARYNX </a:t>
            </a:r>
            <a:br>
              <a:rPr lang="fr-FR" sz="3200"/>
            </a:br>
            <a:endParaRPr sz="3200"/>
          </a:p>
        </p:txBody>
      </p:sp>
      <p:sp>
        <p:nvSpPr>
          <p:cNvPr id="721" name="Google Shape;721;p82"/>
          <p:cNvSpPr txBox="1"/>
          <p:nvPr>
            <p:ph idx="1" type="body"/>
          </p:nvPr>
        </p:nvSpPr>
        <p:spPr>
          <a:xfrm>
            <a:off x="990600" y="762000"/>
            <a:ext cx="8001000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fr-FR"/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4500">
                <a:solidFill>
                  <a:srgbClr val="FFC000"/>
                </a:solidFill>
              </a:rPr>
              <a:t>L’épithélioma :</a:t>
            </a:r>
            <a:endParaRPr sz="45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>
                <a:solidFill>
                  <a:srgbClr val="FFC000"/>
                </a:solidFill>
              </a:rPr>
              <a:t>Subjectif  </a:t>
            </a:r>
            <a:r>
              <a:rPr lang="fr-FR"/>
              <a:t>-  gêne pharyngienne unilatérale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- d’odynophagie,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- haleine fétide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-des saignements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>
                <a:solidFill>
                  <a:srgbClr val="FFC000"/>
                </a:solidFill>
              </a:rPr>
              <a:t>Objectif  </a:t>
            </a:r>
            <a:r>
              <a:rPr lang="fr-FR"/>
              <a:t> - ulcérations au voile, à la langue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- amygdale plus grande, dur, infiltrée tumorale</a:t>
            </a:r>
            <a:br>
              <a:rPr lang="fr-FR"/>
            </a:br>
            <a:r>
              <a:rPr lang="fr-FR"/>
              <a:t>             - adénopathie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Diagnostic positif</a:t>
            </a:r>
            <a:r>
              <a:rPr b="1" lang="fr-FR"/>
              <a:t> </a:t>
            </a:r>
            <a:r>
              <a:rPr lang="fr-FR"/>
              <a:t>: clinique / biopsie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Diagnostic différentiel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- sarcome</a:t>
            </a:r>
            <a:br>
              <a:rPr lang="fr-FR"/>
            </a:br>
            <a:r>
              <a:rPr lang="fr-FR"/>
              <a:t>	- angines avec ulcération profonde</a:t>
            </a:r>
            <a:br>
              <a:rPr lang="fr-FR"/>
            </a:br>
            <a:r>
              <a:rPr lang="fr-FR"/>
              <a:t>	- chancre syphilitique</a:t>
            </a:r>
            <a:br>
              <a:rPr lang="fr-FR"/>
            </a:br>
            <a:r>
              <a:rPr lang="fr-FR"/>
              <a:t>	- angines hématologiques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Traitement</a:t>
            </a:r>
            <a:r>
              <a:rPr lang="fr-FR">
                <a:solidFill>
                  <a:srgbClr val="FFC000"/>
                </a:solidFill>
              </a:rPr>
              <a:t> :</a:t>
            </a:r>
            <a:r>
              <a:rPr lang="fr-FR"/>
              <a:t> chirurgical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radiothérapie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/>
              <a:t> 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nsillymphoma" id="726" name="Google Shape;726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219200"/>
            <a:ext cx="2819399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83"/>
          <p:cNvSpPr/>
          <p:nvPr/>
        </p:nvSpPr>
        <p:spPr>
          <a:xfrm>
            <a:off x="0" y="381000"/>
            <a:ext cx="8686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3200" u="none" cap="none" strike="noStrike">
                <a:solidFill>
                  <a:srgbClr val="51D8FE"/>
                </a:solidFill>
                <a:latin typeface="Corbel"/>
                <a:ea typeface="Corbel"/>
                <a:cs typeface="Corbel"/>
                <a:sym typeface="Corbel"/>
              </a:rPr>
              <a:t>TUMEURS MALIGNES OROPHARYNX  </a:t>
            </a:r>
            <a:br>
              <a:rPr b="0" i="0" lang="fr-FR" sz="4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</a:br>
            <a:endParaRPr b="1" i="0" sz="4400" u="none" cap="none" strike="noStrike">
              <a:solidFill>
                <a:schemeClr val="lt2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28" name="Google Shape;728;p83"/>
          <p:cNvSpPr/>
          <p:nvPr/>
        </p:nvSpPr>
        <p:spPr>
          <a:xfrm>
            <a:off x="1371600" y="5715000"/>
            <a:ext cx="64008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2400" u="none" cap="none" strike="noStrike">
                <a:solidFill>
                  <a:srgbClr val="51D8FE"/>
                </a:solidFill>
                <a:latin typeface="Corbel"/>
                <a:ea typeface="Corbel"/>
                <a:cs typeface="Corbel"/>
                <a:sym typeface="Corbel"/>
              </a:rPr>
              <a:t>Cancer  amygdalien </a:t>
            </a:r>
            <a:endParaRPr b="0" i="0" sz="2400" u="none" cap="none" strike="noStrike">
              <a:solidFill>
                <a:srgbClr val="51D8FE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51D8FE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descr="SCCAtonsil" id="729" name="Google Shape;729;p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40569" y="1143000"/>
            <a:ext cx="2846231" cy="20761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CAtonsil2" id="730" name="Google Shape;730;p8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3657600"/>
            <a:ext cx="2802516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uto0" id="731" name="Google Shape;731;p8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46958" y="3733800"/>
            <a:ext cx="3016042" cy="2124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2" name="Google Shape;732;p8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24200" y="2819400"/>
            <a:ext cx="2743200" cy="1903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84"/>
          <p:cNvSpPr txBox="1"/>
          <p:nvPr>
            <p:ph type="title"/>
          </p:nvPr>
        </p:nvSpPr>
        <p:spPr>
          <a:xfrm>
            <a:off x="381000" y="304800"/>
            <a:ext cx="8305800" cy="1121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nsolas"/>
              <a:buNone/>
            </a:pPr>
            <a:r>
              <a:rPr b="1" lang="fr-FR" sz="3200"/>
              <a:t>TUMEURS MALIGNES OROPHARYNX </a:t>
            </a:r>
            <a:br>
              <a:rPr lang="fr-FR" sz="3200"/>
            </a:b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38" name="Google Shape;738;p84"/>
          <p:cNvSpPr txBox="1"/>
          <p:nvPr>
            <p:ph idx="1" type="body"/>
          </p:nvPr>
        </p:nvSpPr>
        <p:spPr>
          <a:xfrm>
            <a:off x="457200" y="1219200"/>
            <a:ext cx="8229600" cy="513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660"/>
              <a:buNone/>
            </a:pPr>
            <a:r>
              <a:rPr b="1" i="1" lang="fr-FR" sz="2800">
                <a:solidFill>
                  <a:srgbClr val="FFC000"/>
                </a:solidFill>
              </a:rPr>
              <a:t>LYMPHOME NON HODGKINIEN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660"/>
              <a:buNone/>
            </a:pPr>
            <a:r>
              <a:t/>
            </a:r>
            <a:endParaRPr b="1" i="1" sz="2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Font typeface="Corbel"/>
              <a:buChar char="-"/>
            </a:pPr>
            <a:r>
              <a:rPr lang="fr-FR"/>
              <a:t>rarement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 </a:t>
            </a:r>
            <a:r>
              <a:rPr b="1" lang="fr-FR">
                <a:solidFill>
                  <a:srgbClr val="FFC000"/>
                </a:solidFill>
              </a:rPr>
              <a:t>Objectif:</a:t>
            </a:r>
            <a:r>
              <a:rPr lang="fr-FR"/>
              <a:t> - l’amygdale  accrue en volume, lisse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                   -ulcération  tardive</a:t>
            </a:r>
            <a:br>
              <a:rPr lang="fr-FR"/>
            </a:br>
            <a:r>
              <a:rPr lang="fr-FR"/>
              <a:t>                - adénopathie  bilatérale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b="1" lang="fr-FR">
                <a:solidFill>
                  <a:srgbClr val="FFC000"/>
                </a:solidFill>
              </a:rPr>
              <a:t>Diagnostic :</a:t>
            </a:r>
            <a:r>
              <a:rPr lang="fr-FR"/>
              <a:t> biopsie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b="1" lang="fr-FR">
                <a:solidFill>
                  <a:srgbClr val="FFC000"/>
                </a:solidFill>
              </a:rPr>
              <a:t> Traitement :</a:t>
            </a:r>
            <a:r>
              <a:rPr lang="fr-FR"/>
              <a:t>  radio /chimiothérapique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 </a:t>
            </a:r>
            <a:endParaRPr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3729_4" id="743" name="Google Shape;743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00" y="1193800"/>
            <a:ext cx="5044594" cy="2463800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p85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rgbClr val="51D8FE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3200" u="none" cap="none" strike="noStrike">
                <a:solidFill>
                  <a:srgbClr val="51D8FE"/>
                </a:solidFill>
                <a:latin typeface="Corbel"/>
                <a:ea typeface="Corbel"/>
                <a:cs typeface="Corbel"/>
                <a:sym typeface="Corbel"/>
              </a:rPr>
              <a:t>TUMEURS MALIGNES OROPHARYNX </a:t>
            </a:r>
            <a:br>
              <a:rPr b="0" i="0" lang="fr-FR" sz="4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</a:br>
            <a:endParaRPr b="1" i="0" sz="4400" u="none" cap="none" strike="noStrike">
              <a:solidFill>
                <a:schemeClr val="lt2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745" name="Google Shape;745;p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81200" y="4038600"/>
            <a:ext cx="5029200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86"/>
          <p:cNvSpPr txBox="1"/>
          <p:nvPr>
            <p:ph type="title"/>
          </p:nvPr>
        </p:nvSpPr>
        <p:spPr>
          <a:xfrm>
            <a:off x="381000" y="228600"/>
            <a:ext cx="8305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1D8FE"/>
              </a:buClr>
              <a:buSzPts val="3200"/>
              <a:buFont typeface="Consolas"/>
              <a:buNone/>
            </a:pPr>
            <a:r>
              <a:rPr b="1" lang="fr-FR" sz="3200">
                <a:solidFill>
                  <a:srgbClr val="51D8FE"/>
                </a:solidFill>
              </a:rPr>
              <a:t>TUMEURS MALIGNES HYPOPHARYNX</a:t>
            </a:r>
            <a:endParaRPr sz="3200">
              <a:solidFill>
                <a:srgbClr val="51D8FE"/>
              </a:solidFill>
            </a:endParaRPr>
          </a:p>
        </p:txBody>
      </p:sp>
      <p:sp>
        <p:nvSpPr>
          <p:cNvPr id="751" name="Google Shape;751;p86"/>
          <p:cNvSpPr txBox="1"/>
          <p:nvPr>
            <p:ph idx="1" type="body"/>
          </p:nvPr>
        </p:nvSpPr>
        <p:spPr>
          <a:xfrm>
            <a:off x="457200" y="838200"/>
            <a:ext cx="86868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 b="1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b="1" lang="fr-FR">
                <a:solidFill>
                  <a:srgbClr val="FFC000"/>
                </a:solidFill>
              </a:rPr>
              <a:t>Carcinome épidermoïde</a:t>
            </a:r>
            <a:r>
              <a:rPr lang="fr-FR">
                <a:solidFill>
                  <a:srgbClr val="FFC000"/>
                </a:solidFill>
              </a:rPr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>
                <a:solidFill>
                  <a:srgbClr val="FFC000"/>
                </a:solidFill>
              </a:rPr>
              <a:t>Symptomatologie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>
                <a:solidFill>
                  <a:srgbClr val="FFC000"/>
                </a:solidFill>
              </a:rPr>
              <a:t>        </a:t>
            </a:r>
            <a:r>
              <a:rPr lang="fr-FR" sz="2400"/>
              <a:t>non spécifique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         dysphagie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         sensation de corps étranger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         odynophagie / rayonnement à l’oreille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 </a:t>
            </a:r>
            <a:r>
              <a:rPr lang="fr-FR" sz="2400">
                <a:solidFill>
                  <a:srgbClr val="FFC000"/>
                </a:solidFill>
              </a:rPr>
              <a:t>Debut </a:t>
            </a:r>
            <a:r>
              <a:rPr lang="fr-FR" sz="2400"/>
              <a:t>-sinus piriforme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              -fibro-cartilagineuse (aryténoïdes + cricoïde) 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470"/>
              <a:buNone/>
            </a:pPr>
            <a:r>
              <a:rPr lang="fr-FR" sz="2600"/>
              <a:t> </a:t>
            </a:r>
            <a:endParaRPr sz="2600"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glionmalininflamcou" id="756" name="Google Shape;756;p8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447800"/>
            <a:ext cx="3494088" cy="46482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57" name="Google Shape;757;p87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1447800"/>
            <a:ext cx="3886200" cy="472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58" name="Google Shape;758;p87"/>
          <p:cNvSpPr/>
          <p:nvPr/>
        </p:nvSpPr>
        <p:spPr>
          <a:xfrm>
            <a:off x="0" y="152400"/>
            <a:ext cx="8686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3200" u="none" cap="none" strike="noStrike">
                <a:solidFill>
                  <a:srgbClr val="51D8FE"/>
                </a:solidFill>
                <a:latin typeface="Corbel"/>
                <a:ea typeface="Corbel"/>
                <a:cs typeface="Corbel"/>
                <a:sym typeface="Corbel"/>
              </a:rPr>
              <a:t>TUMEURS MALIGNES HYPOPHARYNX</a:t>
            </a:r>
            <a:endParaRPr b="1" i="0" sz="3200" u="none" cap="none" strike="noStrike">
              <a:solidFill>
                <a:schemeClr val="lt2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88"/>
          <p:cNvSpPr txBox="1"/>
          <p:nvPr>
            <p:ph type="title"/>
          </p:nvPr>
        </p:nvSpPr>
        <p:spPr>
          <a:xfrm>
            <a:off x="381000" y="228600"/>
            <a:ext cx="830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nsolas"/>
              <a:buNone/>
            </a:pPr>
            <a:r>
              <a:rPr b="1" lang="fr-FR" sz="3200"/>
              <a:t>TROUBLES NERVEUX DU PHARYNX</a:t>
            </a:r>
            <a:br>
              <a:rPr lang="fr-FR" sz="3200"/>
            </a:br>
            <a:endParaRPr sz="3200"/>
          </a:p>
        </p:txBody>
      </p:sp>
      <p:sp>
        <p:nvSpPr>
          <p:cNvPr id="764" name="Google Shape;764;p88"/>
          <p:cNvSpPr txBox="1"/>
          <p:nvPr>
            <p:ph idx="1" type="body"/>
          </p:nvPr>
        </p:nvSpPr>
        <p:spPr>
          <a:xfrm>
            <a:off x="533400" y="838200"/>
            <a:ext cx="8382000" cy="6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fr-FR" sz="3200"/>
              <a:t> 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5100" u="sng">
                <a:solidFill>
                  <a:srgbClr val="FFC000"/>
                </a:solidFill>
              </a:rPr>
              <a:t>TROUBLES MOTEURS</a:t>
            </a:r>
            <a:endParaRPr b="1" sz="51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5100">
                <a:solidFill>
                  <a:srgbClr val="FFC000"/>
                </a:solidFill>
              </a:rPr>
              <a:t> </a:t>
            </a:r>
            <a:r>
              <a:rPr b="1" i="1" lang="fr-FR" sz="5100">
                <a:solidFill>
                  <a:srgbClr val="FFC000"/>
                </a:solidFill>
              </a:rPr>
              <a:t>La paralysie du voile du palais</a:t>
            </a:r>
            <a:r>
              <a:rPr b="1" i="1" lang="fr-FR" sz="4200"/>
              <a:t> 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200">
                <a:solidFill>
                  <a:srgbClr val="FFC000"/>
                </a:solidFill>
              </a:rPr>
              <a:t>unilatérale</a:t>
            </a:r>
            <a:r>
              <a:rPr lang="fr-FR" sz="3200"/>
              <a:t> / associée à une hémiplégie laryngée bilatérale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200">
                <a:solidFill>
                  <a:srgbClr val="FFC000"/>
                </a:solidFill>
              </a:rPr>
              <a:t>Étiologie </a:t>
            </a:r>
            <a:r>
              <a:rPr lang="fr-FR" sz="3200"/>
              <a:t>- zone Zostère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200"/>
              <a:t>                     - centrale - accidents vasculaires cérébraux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200"/>
              <a:t>                     - tumeurs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200"/>
              <a:t>                     - affaiblissement de nerfs crâniens au niveau du trou déchiré postérieur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200"/>
              <a:t> </a:t>
            </a:r>
            <a:r>
              <a:rPr b="1" lang="fr-FR" sz="3200">
                <a:solidFill>
                  <a:srgbClr val="FFC000"/>
                </a:solidFill>
              </a:rPr>
              <a:t>Symptomatologie :</a:t>
            </a:r>
            <a:endParaRPr sz="3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3200"/>
              <a:t>Subjectif</a:t>
            </a:r>
            <a:r>
              <a:rPr lang="fr-FR" sz="3200"/>
              <a:t> –  mineure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3200"/>
              <a:t>Objectif</a:t>
            </a:r>
            <a:r>
              <a:rPr lang="fr-FR" sz="3200"/>
              <a:t> – la voûte palatine touchée est plus abaissée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200"/>
              <a:t>                    - la luette est déviée vers la partie saine, en  phonation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200">
                <a:solidFill>
                  <a:srgbClr val="FFC000"/>
                </a:solidFill>
              </a:rPr>
              <a:t>bilatérale :</a:t>
            </a:r>
            <a:endParaRPr sz="3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200"/>
              <a:t>                 -liquides refluent dans les cavités nasales à la déglutition,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200"/>
              <a:t>                 - le voile est inerte, immobile en phonation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200"/>
              <a:t> </a:t>
            </a:r>
            <a:r>
              <a:rPr b="1" lang="fr-FR" sz="5100">
                <a:solidFill>
                  <a:srgbClr val="FFC000"/>
                </a:solidFill>
              </a:rPr>
              <a:t> </a:t>
            </a:r>
            <a:r>
              <a:rPr b="1" i="1" lang="fr-FR" sz="5100">
                <a:solidFill>
                  <a:srgbClr val="FFC000"/>
                </a:solidFill>
              </a:rPr>
              <a:t>La paralysie du pharynx :</a:t>
            </a:r>
            <a:endParaRPr sz="51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200"/>
              <a:t>unilatéral / bilatérale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200"/>
              <a:t>  isolé ou associé à la paralysie du voile palatin et /  larynx  / l’œsophage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200">
                <a:solidFill>
                  <a:srgbClr val="FFC000"/>
                </a:solidFill>
              </a:rPr>
              <a:t>Symptomatologie :</a:t>
            </a:r>
            <a:endParaRPr sz="3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3200">
                <a:solidFill>
                  <a:srgbClr val="FFC000"/>
                </a:solidFill>
              </a:rPr>
              <a:t>Subjectif</a:t>
            </a:r>
            <a:r>
              <a:rPr lang="fr-FR" sz="3200">
                <a:solidFill>
                  <a:srgbClr val="FFC000"/>
                </a:solidFill>
              </a:rPr>
              <a:t> </a:t>
            </a:r>
            <a:r>
              <a:rPr lang="fr-FR" sz="3200"/>
              <a:t>- trouble de la déglutition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3200">
                <a:solidFill>
                  <a:srgbClr val="FFC000"/>
                </a:solidFill>
              </a:rPr>
              <a:t>Objectif</a:t>
            </a:r>
            <a:r>
              <a:rPr lang="fr-FR" sz="3200"/>
              <a:t> - l’immobilité du pharynx dans la phonation / déglutition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200"/>
              <a:t> </a:t>
            </a:r>
            <a:endParaRPr sz="3200"/>
          </a:p>
          <a:p>
            <a:pPr indent="-256936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89"/>
          <p:cNvSpPr txBox="1"/>
          <p:nvPr>
            <p:ph type="title"/>
          </p:nvPr>
        </p:nvSpPr>
        <p:spPr>
          <a:xfrm>
            <a:off x="381000" y="228600"/>
            <a:ext cx="8305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nsolas"/>
              <a:buNone/>
            </a:pPr>
            <a:r>
              <a:rPr b="1" lang="fr-FR" sz="3200"/>
              <a:t>TROUBLES NERVEUX DU PHARYNX</a:t>
            </a:r>
            <a:endParaRPr sz="3200"/>
          </a:p>
        </p:txBody>
      </p:sp>
      <p:sp>
        <p:nvSpPr>
          <p:cNvPr id="770" name="Google Shape;770;p89"/>
          <p:cNvSpPr txBox="1"/>
          <p:nvPr>
            <p:ph idx="1" type="body"/>
          </p:nvPr>
        </p:nvSpPr>
        <p:spPr>
          <a:xfrm>
            <a:off x="533400" y="1066800"/>
            <a:ext cx="86106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3800">
                <a:solidFill>
                  <a:srgbClr val="FFC000"/>
                </a:solidFill>
              </a:rPr>
              <a:t>TROUBLES SENSITIFS</a:t>
            </a:r>
            <a:endParaRPr sz="3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br>
              <a:rPr lang="fr-FR"/>
            </a:br>
            <a:r>
              <a:rPr lang="fr-FR"/>
              <a:t>- anesthésie et hypoesthésie – épilepsie, affections virales </a:t>
            </a:r>
            <a:br>
              <a:rPr lang="fr-FR"/>
            </a:br>
            <a:r>
              <a:rPr lang="fr-FR"/>
              <a:t>- hyperesthésie - l’inflammation aiguë, névrotiques, hystériques </a:t>
            </a:r>
            <a:br>
              <a:rPr lang="fr-FR"/>
            </a:br>
            <a:r>
              <a:rPr lang="fr-FR"/>
              <a:t> - paresthésie pharyngée -  courante dans la pratique quotidienne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</a:t>
            </a:r>
            <a:r>
              <a:rPr lang="fr-FR">
                <a:solidFill>
                  <a:srgbClr val="FFC000"/>
                </a:solidFill>
              </a:rPr>
              <a:t>Symptomatologie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- sensation de brûlure/  corps étranger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- sentiment de boule dans la gorge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- douleurs différentes/ localisation fixe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u="sng"/>
              <a:t> Patients -anxieux à cancérophobie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b="1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Diagnostic  </a:t>
            </a:r>
            <a:r>
              <a:rPr lang="fr-FR"/>
              <a:t>- ex endoscopique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- ex gastro-oesophagien (reflux gastro-oesophagien)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- tests de laboratoire courant</a:t>
            </a:r>
            <a:endParaRPr/>
          </a:p>
          <a:p>
            <a:pPr indent="-202644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90"/>
          <p:cNvSpPr txBox="1"/>
          <p:nvPr>
            <p:ph type="title"/>
          </p:nvPr>
        </p:nvSpPr>
        <p:spPr>
          <a:xfrm>
            <a:off x="457200" y="228600"/>
            <a:ext cx="8229600" cy="119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nsolas"/>
              <a:buNone/>
            </a:pPr>
            <a:r>
              <a:rPr b="1" lang="fr-FR" sz="3200"/>
              <a:t>CONCLUSIONS</a:t>
            </a:r>
            <a:br>
              <a:rPr lang="fr-FR" sz="3200"/>
            </a:br>
            <a:endParaRPr sz="3200"/>
          </a:p>
        </p:txBody>
      </p:sp>
      <p:sp>
        <p:nvSpPr>
          <p:cNvPr id="776" name="Google Shape;776;p90"/>
          <p:cNvSpPr txBox="1"/>
          <p:nvPr>
            <p:ph idx="1" type="body"/>
          </p:nvPr>
        </p:nvSpPr>
        <p:spPr>
          <a:xfrm>
            <a:off x="533400" y="1143000"/>
            <a:ext cx="81534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 le buccopharynx est le plus abordable et le plus facile d’examiner parmi les organes de notre spécialité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affections inflammatoires aiguës (ou chroniques), du pharynx sont les maladies les plus courantes de la pathologie générale en O.R.L., en particulier chez les enfants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⮚"/>
            </a:pPr>
            <a:r>
              <a:rPr lang="fr-FR"/>
              <a:t>  </a:t>
            </a:r>
            <a:r>
              <a:rPr lang="fr-FR">
                <a:solidFill>
                  <a:srgbClr val="FFC000"/>
                </a:solidFill>
              </a:rPr>
              <a:t>Traitement :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angine érythémateuse, virale („cou rouge”) symptomatiques (désinfectants locaux antipyrétiques anti-inflammatoires, vitamine C)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angine érythémato-pultacée pénicilline  (pas l’ampicilline, l’érythromycine, etc.)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202644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etro">
  <a:themeElements>
    <a:clrScheme name="Metro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2015-10-06T20:41:03Z</dcterms:created>
  <dc:creator>Raica</dc:creator>
</cp:coreProperties>
</file>