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</p:sldIdLst>
  <p:sldSz cy="6858000" cx="9144000"/>
  <p:notesSz cx="6858000" cy="9144000"/>
  <p:embeddedFontLst>
    <p:embeddedFont>
      <p:font typeface="Corbel"/>
      <p:regular r:id="rId96"/>
      <p:bold r:id="rId97"/>
      <p:italic r:id="rId98"/>
      <p:boldItalic r:id="rId9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00" roundtripDataSignature="AMtx7mhyPLZ06OqlXT604tUUPTLWsTnq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0" Type="http://customschemas.google.com/relationships/presentationmetadata" Target="meta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font" Target="fonts/Corbel-bold.fntdata"/><Relationship Id="rId96" Type="http://schemas.openxmlformats.org/officeDocument/2006/relationships/font" Target="fonts/Corbel-regular.fntdata"/><Relationship Id="rId11" Type="http://schemas.openxmlformats.org/officeDocument/2006/relationships/slide" Target="slides/slide6.xml"/><Relationship Id="rId99" Type="http://schemas.openxmlformats.org/officeDocument/2006/relationships/font" Target="fonts/Corbel-boldItalic.fntdata"/><Relationship Id="rId10" Type="http://schemas.openxmlformats.org/officeDocument/2006/relationships/slide" Target="slides/slide5.xml"/><Relationship Id="rId98" Type="http://schemas.openxmlformats.org/officeDocument/2006/relationships/font" Target="fonts/Corbel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5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7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8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8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3" name="Google Shape;683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8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8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8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8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2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2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2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8" name="Google Shape;28;p92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9" name="Google Shape;29;p92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0" name="Google Shape;30;p92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1" name="Google Shape;31;p92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2" name="Google Shape;32;p92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3" name="Google Shape;33;p92"/>
          <p:cNvSpPr txBox="1"/>
          <p:nvPr>
            <p:ph type="ctrTitle"/>
          </p:nvPr>
        </p:nvSpPr>
        <p:spPr>
          <a:xfrm>
            <a:off x="914400" y="4343400"/>
            <a:ext cx="7772400" cy="197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9144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2"/>
          <p:cNvSpPr txBox="1"/>
          <p:nvPr>
            <p:ph idx="1" type="subTitle"/>
          </p:nvPr>
        </p:nvSpPr>
        <p:spPr>
          <a:xfrm>
            <a:off x="914400" y="2834640"/>
            <a:ext cx="777240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10057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62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5" name="Google Shape;35;p92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6" name="Google Shape;36;p92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7" name="Google Shape;37;p92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8" name="Google Shape;38;p92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3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3"/>
          <p:cNvSpPr txBox="1"/>
          <p:nvPr>
            <p:ph idx="1" type="body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700"/>
              </a:spcBef>
              <a:spcAft>
                <a:spcPts val="0"/>
              </a:spcAft>
              <a:buSzPts val="1710"/>
              <a:buChar char="▪"/>
              <a:defRPr/>
            </a:lvl1pPr>
            <a:lvl2pPr indent="-331469" lvl="1" marL="914400" algn="l">
              <a:spcBef>
                <a:spcPts val="360"/>
              </a:spcBef>
              <a:spcAft>
                <a:spcPts val="0"/>
              </a:spcAft>
              <a:buSzPts val="1620"/>
              <a:buChar char="🢭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2" name="Google Shape;42;p93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3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3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4"/>
          <p:cNvSpPr/>
          <p:nvPr/>
        </p:nvSpPr>
        <p:spPr>
          <a:xfrm>
            <a:off x="4828952" y="1073888"/>
            <a:ext cx="4322136" cy="5791200"/>
          </a:xfrm>
          <a:custGeom>
            <a:rect b="b" l="l" r="r" t="t"/>
            <a:pathLst>
              <a:path extrusionOk="0" h="3648" w="2736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cap="flat" cmpd="sng" w="9525">
            <a:solidFill>
              <a:schemeClr val="accent2">
                <a:alpha val="52941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7" name="Google Shape;47;p94"/>
          <p:cNvSpPr/>
          <p:nvPr/>
        </p:nvSpPr>
        <p:spPr>
          <a:xfrm>
            <a:off x="373966" y="0"/>
            <a:ext cx="5514536" cy="6615332"/>
          </a:xfrm>
          <a:custGeom>
            <a:rect b="b" l="l" r="r" t="t"/>
            <a:pathLst>
              <a:path extrusionOk="0" h="4128" w="3504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cap="flat" cmpd="sng" w="9525">
            <a:solidFill>
              <a:schemeClr val="accent2">
                <a:alpha val="52941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8" name="Google Shape;48;p94"/>
          <p:cNvSpPr/>
          <p:nvPr/>
        </p:nvSpPr>
        <p:spPr>
          <a:xfrm rot="5236414">
            <a:off x="4462128" y="1483600"/>
            <a:ext cx="4114800" cy="1188720"/>
          </a:xfrm>
          <a:custGeom>
            <a:rect b="b" l="l" r="r" t="t"/>
            <a:pathLst>
              <a:path extrusionOk="0" h="1344" w="3552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rgbClr val="566885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9" name="Google Shape;49;p94"/>
          <p:cNvSpPr/>
          <p:nvPr/>
        </p:nvSpPr>
        <p:spPr>
          <a:xfrm>
            <a:off x="5943600" y="0"/>
            <a:ext cx="2743200" cy="4267200"/>
          </a:xfrm>
          <a:custGeom>
            <a:rect b="b" l="l" r="r" t="t"/>
            <a:pathLst>
              <a:path extrusionOk="0" h="2688" w="172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0" name="Google Shape;50;p94"/>
          <p:cNvSpPr/>
          <p:nvPr/>
        </p:nvSpPr>
        <p:spPr>
          <a:xfrm>
            <a:off x="5943600" y="4267200"/>
            <a:ext cx="3200400" cy="1143000"/>
          </a:xfrm>
          <a:custGeom>
            <a:rect b="b" l="l" r="r" t="t"/>
            <a:pathLst>
              <a:path extrusionOk="0" h="720" w="2016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1" name="Google Shape;51;p94"/>
          <p:cNvSpPr/>
          <p:nvPr/>
        </p:nvSpPr>
        <p:spPr>
          <a:xfrm>
            <a:off x="5943600" y="0"/>
            <a:ext cx="1371600" cy="4267200"/>
          </a:xfrm>
          <a:custGeom>
            <a:rect b="b" l="l" r="r" t="t"/>
            <a:pathLst>
              <a:path extrusionOk="0" h="2688" w="864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2" name="Google Shape;52;p94"/>
          <p:cNvSpPr/>
          <p:nvPr/>
        </p:nvSpPr>
        <p:spPr>
          <a:xfrm>
            <a:off x="5948363" y="4246563"/>
            <a:ext cx="2090737" cy="2611437"/>
          </a:xfrm>
          <a:custGeom>
            <a:rect b="b" l="l" r="r" t="t"/>
            <a:pathLst>
              <a:path extrusionOk="0" h="1645" w="1317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3" name="Google Shape;53;p94"/>
          <p:cNvSpPr/>
          <p:nvPr/>
        </p:nvSpPr>
        <p:spPr>
          <a:xfrm>
            <a:off x="5943600" y="4267200"/>
            <a:ext cx="1600200" cy="2590800"/>
          </a:xfrm>
          <a:custGeom>
            <a:rect b="b" l="l" r="r" t="t"/>
            <a:pathLst>
              <a:path extrusionOk="0" h="1632" w="1008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4" name="Google Shape;54;p94"/>
          <p:cNvSpPr/>
          <p:nvPr/>
        </p:nvSpPr>
        <p:spPr>
          <a:xfrm>
            <a:off x="5943600" y="1371600"/>
            <a:ext cx="3200400" cy="2895600"/>
          </a:xfrm>
          <a:custGeom>
            <a:rect b="b" l="l" r="r" t="t"/>
            <a:pathLst>
              <a:path extrusionOk="0" h="1824" w="2016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5" name="Google Shape;55;p94"/>
          <p:cNvSpPr/>
          <p:nvPr/>
        </p:nvSpPr>
        <p:spPr>
          <a:xfrm>
            <a:off x="5943600" y="1752600"/>
            <a:ext cx="3200400" cy="2514600"/>
          </a:xfrm>
          <a:custGeom>
            <a:rect b="b" l="l" r="r" t="t"/>
            <a:pathLst>
              <a:path extrusionOk="0" h="1584" w="2016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6" name="Google Shape;56;p94"/>
          <p:cNvSpPr/>
          <p:nvPr/>
        </p:nvSpPr>
        <p:spPr>
          <a:xfrm>
            <a:off x="990600" y="4267200"/>
            <a:ext cx="4953000" cy="2590800"/>
          </a:xfrm>
          <a:custGeom>
            <a:rect b="b" l="l" r="r" t="t"/>
            <a:pathLst>
              <a:path extrusionOk="0" h="1632" w="3120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7" name="Google Shape;57;p94"/>
          <p:cNvSpPr/>
          <p:nvPr/>
        </p:nvSpPr>
        <p:spPr>
          <a:xfrm>
            <a:off x="533400" y="4267200"/>
            <a:ext cx="5334000" cy="2590800"/>
          </a:xfrm>
          <a:custGeom>
            <a:rect b="b" l="l" r="r" t="t"/>
            <a:pathLst>
              <a:path extrusionOk="0" h="1632" w="3360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8" name="Google Shape;58;p94"/>
          <p:cNvSpPr/>
          <p:nvPr/>
        </p:nvSpPr>
        <p:spPr>
          <a:xfrm>
            <a:off x="366824" y="2438400"/>
            <a:ext cx="5638800" cy="1828800"/>
          </a:xfrm>
          <a:custGeom>
            <a:rect b="b" l="l" r="r" t="t"/>
            <a:pathLst>
              <a:path extrusionOk="0" h="1152" w="35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9" name="Google Shape;59;p94"/>
          <p:cNvSpPr/>
          <p:nvPr/>
        </p:nvSpPr>
        <p:spPr>
          <a:xfrm>
            <a:off x="366824" y="2133600"/>
            <a:ext cx="5638800" cy="2133600"/>
          </a:xfrm>
          <a:custGeom>
            <a:rect b="b" l="l" r="r" t="t"/>
            <a:pathLst>
              <a:path extrusionOk="0" h="1344" w="3552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0" name="Google Shape;60;p94"/>
          <p:cNvSpPr/>
          <p:nvPr/>
        </p:nvSpPr>
        <p:spPr>
          <a:xfrm>
            <a:off x="4572000" y="4267200"/>
            <a:ext cx="1371600" cy="2590800"/>
          </a:xfrm>
          <a:custGeom>
            <a:rect b="b" l="l" r="r" t="t"/>
            <a:pathLst>
              <a:path extrusionOk="0" h="1632" w="864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rgbClr val="566885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1" name="Google Shape;61;p94"/>
          <p:cNvSpPr txBox="1"/>
          <p:nvPr>
            <p:ph idx="1" type="body"/>
          </p:nvPr>
        </p:nvSpPr>
        <p:spPr>
          <a:xfrm>
            <a:off x="706902" y="1351672"/>
            <a:ext cx="5718048" cy="977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2275" spcFirstLastPara="1" rIns="91425" wrap="square" tIns="45700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2" name="Google Shape;62;p94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4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4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65" name="Google Shape;65;p94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rgbClr val="566885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6" name="Google Shape;66;p94"/>
          <p:cNvSpPr txBox="1"/>
          <p:nvPr>
            <p:ph type="title"/>
          </p:nvPr>
        </p:nvSpPr>
        <p:spPr>
          <a:xfrm>
            <a:off x="706902" y="512064"/>
            <a:ext cx="815644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64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800"/>
              <a:buFont typeface="Consolas"/>
              <a:buNone/>
              <a:defRPr b="0" sz="38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4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8" name="Google Shape;68;p94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9" name="Google Shape;69;p94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0" name="Google Shape;70;p94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1" name="Google Shape;71;p94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 type="twoObj">
  <p:cSld name="TWO_OBJECT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5"/>
          <p:cNvSpPr txBox="1"/>
          <p:nvPr>
            <p:ph type="title"/>
          </p:nvPr>
        </p:nvSpPr>
        <p:spPr>
          <a:xfrm>
            <a:off x="457200" y="512064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95"/>
          <p:cNvSpPr txBox="1"/>
          <p:nvPr>
            <p:ph idx="1" type="body"/>
          </p:nvPr>
        </p:nvSpPr>
        <p:spPr>
          <a:xfrm>
            <a:off x="464344" y="17705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7510" lvl="0" marL="457200" algn="l">
              <a:spcBef>
                <a:spcPts val="700"/>
              </a:spcBef>
              <a:spcAft>
                <a:spcPts val="0"/>
              </a:spcAft>
              <a:buSzPts val="2660"/>
              <a:buChar char="▪"/>
              <a:defRPr sz="2800"/>
            </a:lvl1pPr>
            <a:lvl2pPr indent="-365760" lvl="1" marL="914400" algn="l">
              <a:spcBef>
                <a:spcPts val="480"/>
              </a:spcBef>
              <a:spcAft>
                <a:spcPts val="0"/>
              </a:spcAft>
              <a:buSzPts val="2160"/>
              <a:buChar char="🢭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5" name="Google Shape;75;p95"/>
          <p:cNvSpPr txBox="1"/>
          <p:nvPr>
            <p:ph idx="2" type="body"/>
          </p:nvPr>
        </p:nvSpPr>
        <p:spPr>
          <a:xfrm>
            <a:off x="4655344" y="17705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7510" lvl="0" marL="457200" algn="l">
              <a:spcBef>
                <a:spcPts val="700"/>
              </a:spcBef>
              <a:spcAft>
                <a:spcPts val="0"/>
              </a:spcAft>
              <a:buSzPts val="2660"/>
              <a:buChar char="▪"/>
              <a:defRPr sz="2800"/>
            </a:lvl1pPr>
            <a:lvl2pPr indent="-365760" lvl="1" marL="914400" algn="l">
              <a:spcBef>
                <a:spcPts val="480"/>
              </a:spcBef>
              <a:spcAft>
                <a:spcPts val="0"/>
              </a:spcAft>
              <a:buSzPts val="2160"/>
              <a:buChar char="🢭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6" name="Google Shape;76;p95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5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5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6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rgbClr val="566885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1" name="Google Shape;81;p96"/>
          <p:cNvSpPr txBox="1"/>
          <p:nvPr>
            <p:ph type="title"/>
          </p:nvPr>
        </p:nvSpPr>
        <p:spPr>
          <a:xfrm>
            <a:off x="504824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96"/>
          <p:cNvSpPr txBox="1"/>
          <p:nvPr>
            <p:ph idx="1" type="body"/>
          </p:nvPr>
        </p:nvSpPr>
        <p:spPr>
          <a:xfrm>
            <a:off x="457200" y="1809750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2280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8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3" name="Google Shape;83;p96"/>
          <p:cNvSpPr txBox="1"/>
          <p:nvPr>
            <p:ph idx="2" type="body"/>
          </p:nvPr>
        </p:nvSpPr>
        <p:spPr>
          <a:xfrm>
            <a:off x="4645025" y="1809750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2280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8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4" name="Google Shape;84;p96"/>
          <p:cNvSpPr txBox="1"/>
          <p:nvPr>
            <p:ph idx="3" type="body"/>
          </p:nvPr>
        </p:nvSpPr>
        <p:spPr>
          <a:xfrm>
            <a:off x="457200" y="2459037"/>
            <a:ext cx="4040188" cy="3959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3380" lvl="0" marL="457200" algn="l">
              <a:spcBef>
                <a:spcPts val="700"/>
              </a:spcBef>
              <a:spcAft>
                <a:spcPts val="0"/>
              </a:spcAft>
              <a:buSzPts val="2280"/>
              <a:buChar char="▪"/>
              <a:defRPr sz="24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SzPts val="1800"/>
              <a:buChar char="🢭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🢝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5" name="Google Shape;85;p96"/>
          <p:cNvSpPr txBox="1"/>
          <p:nvPr>
            <p:ph idx="4" type="body"/>
          </p:nvPr>
        </p:nvSpPr>
        <p:spPr>
          <a:xfrm>
            <a:off x="4645025" y="2459037"/>
            <a:ext cx="4041775" cy="3959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3380" lvl="0" marL="457200" algn="l">
              <a:spcBef>
                <a:spcPts val="700"/>
              </a:spcBef>
              <a:spcAft>
                <a:spcPts val="0"/>
              </a:spcAft>
              <a:buSzPts val="2280"/>
              <a:buChar char="▪"/>
              <a:defRPr sz="24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SzPts val="1800"/>
              <a:buChar char="🢭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🢝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6" name="Google Shape;86;p96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96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96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89" name="Google Shape;89;p96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0" name="Google Shape;90;p9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1" name="Google Shape;91;p96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2" name="Google Shape;92;p96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3" name="Google Shape;93;p96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4" name="Google Shape;94;p96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5" name="Google Shape;95;p96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6" name="Google Shape;96;p96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7" name="Google Shape;97;p96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7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  <a:defRPr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97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97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97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8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98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98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9"/>
          <p:cNvSpPr txBox="1"/>
          <p:nvPr>
            <p:ph type="title"/>
          </p:nvPr>
        </p:nvSpPr>
        <p:spPr>
          <a:xfrm>
            <a:off x="685800" y="273050"/>
            <a:ext cx="82296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nsolas"/>
              <a:buNone/>
              <a:defRPr b="0"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99"/>
          <p:cNvSpPr txBox="1"/>
          <p:nvPr>
            <p:ph idx="1" type="body"/>
          </p:nvPr>
        </p:nvSpPr>
        <p:spPr>
          <a:xfrm>
            <a:off x="685800" y="1435100"/>
            <a:ext cx="2514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710"/>
              <a:buNone/>
              <a:defRPr sz="18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10" name="Google Shape;110;p99"/>
          <p:cNvSpPr txBox="1"/>
          <p:nvPr>
            <p:ph idx="2" type="body"/>
          </p:nvPr>
        </p:nvSpPr>
        <p:spPr>
          <a:xfrm>
            <a:off x="3429000" y="1435100"/>
            <a:ext cx="5486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21640" lvl="0" marL="457200" algn="l">
              <a:spcBef>
                <a:spcPts val="700"/>
              </a:spcBef>
              <a:spcAft>
                <a:spcPts val="0"/>
              </a:spcAft>
              <a:buSzPts val="3040"/>
              <a:buChar char="▪"/>
              <a:defRPr sz="3200"/>
            </a:lvl1pPr>
            <a:lvl2pPr indent="-388619" lvl="1" marL="914400" algn="l">
              <a:spcBef>
                <a:spcPts val="560"/>
              </a:spcBef>
              <a:spcAft>
                <a:spcPts val="0"/>
              </a:spcAft>
              <a:buSzPts val="2520"/>
              <a:buChar char="🢭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🢝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11" name="Google Shape;111;p99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99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99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0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116" name="Google Shape;116;p100"/>
          <p:cNvCxnSpPr/>
          <p:nvPr/>
        </p:nvCxnSpPr>
        <p:spPr>
          <a:xfrm>
            <a:off x="363195" y="1885028"/>
            <a:ext cx="8782622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17" name="Google Shape;117;p100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18" name="Google Shape;118;p100"/>
            <p:cNvCxnSpPr/>
            <p:nvPr/>
          </p:nvCxnSpPr>
          <p:spPr>
            <a:xfrm rot="-5400000">
              <a:off x="6664064" y="1301769"/>
              <a:ext cx="88509" cy="80463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" name="Google Shape;119;p100"/>
            <p:cNvCxnSpPr/>
            <p:nvPr/>
          </p:nvCxnSpPr>
          <p:spPr>
            <a:xfrm flipH="1" rot="5400000">
              <a:off x="6685888" y="1391257"/>
              <a:ext cx="125755" cy="427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0" name="Google Shape;120;p100"/>
            <p:cNvCxnSpPr/>
            <p:nvPr/>
          </p:nvCxnSpPr>
          <p:spPr>
            <a:xfrm flipH="1" rot="5400000">
              <a:off x="6744524" y="1300853"/>
              <a:ext cx="88509" cy="82296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1" name="Google Shape;121;p100"/>
          <p:cNvSpPr txBox="1"/>
          <p:nvPr>
            <p:ph type="title"/>
          </p:nvPr>
        </p:nvSpPr>
        <p:spPr>
          <a:xfrm>
            <a:off x="914400" y="441251"/>
            <a:ext cx="6858000" cy="7017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2100"/>
              <a:buFont typeface="Consolas"/>
              <a:buNone/>
              <a:defRPr b="0" sz="2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00"/>
          <p:cNvSpPr/>
          <p:nvPr>
            <p:ph idx="2" type="pic"/>
          </p:nvPr>
        </p:nvSpPr>
        <p:spPr>
          <a:xfrm>
            <a:off x="368032" y="1893781"/>
            <a:ext cx="8778240" cy="4960144"/>
          </a:xfrm>
          <a:prstGeom prst="rect">
            <a:avLst/>
          </a:prstGeom>
          <a:solidFill>
            <a:schemeClr val="dk2"/>
          </a:solidFill>
          <a:ln>
            <a:noFill/>
          </a:ln>
        </p:spPr>
      </p:sp>
      <p:sp>
        <p:nvSpPr>
          <p:cNvPr id="123" name="Google Shape;123;p100"/>
          <p:cNvSpPr txBox="1"/>
          <p:nvPr>
            <p:ph idx="1" type="body"/>
          </p:nvPr>
        </p:nvSpPr>
        <p:spPr>
          <a:xfrm>
            <a:off x="914400" y="1150144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330"/>
              <a:buNone/>
              <a:defRPr sz="1400">
                <a:solidFill>
                  <a:srgbClr val="FFFFFF"/>
                </a:solidFill>
              </a:defRPr>
            </a:lvl1pPr>
            <a:lvl2pPr indent="-297180" lvl="1" marL="914400" algn="l">
              <a:spcBef>
                <a:spcPts val="240"/>
              </a:spcBef>
              <a:spcAft>
                <a:spcPts val="0"/>
              </a:spcAft>
              <a:buSzPts val="1080"/>
              <a:buChar char="🢭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85750" lvl="3" marL="1828800" algn="l">
              <a:spcBef>
                <a:spcPts val="180"/>
              </a:spcBef>
              <a:spcAft>
                <a:spcPts val="0"/>
              </a:spcAft>
              <a:buSzPts val="900"/>
              <a:buChar char="🢝"/>
              <a:defRPr sz="900"/>
            </a:lvl4pPr>
            <a:lvl5pPr indent="-285750" lvl="4" marL="2286000" algn="l"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grpSp>
        <p:nvGrpSpPr>
          <p:cNvPr id="124" name="Google Shape;124;p100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25" name="Google Shape;125;p100"/>
            <p:cNvCxnSpPr/>
            <p:nvPr/>
          </p:nvCxnSpPr>
          <p:spPr>
            <a:xfrm rot="-5400000">
              <a:off x="6664064" y="1301769"/>
              <a:ext cx="88509" cy="80463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" name="Google Shape;126;p100"/>
            <p:cNvCxnSpPr/>
            <p:nvPr/>
          </p:nvCxnSpPr>
          <p:spPr>
            <a:xfrm flipH="1" rot="5400000">
              <a:off x="6685888" y="1391257"/>
              <a:ext cx="125755" cy="427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" name="Google Shape;127;p100"/>
            <p:cNvCxnSpPr/>
            <p:nvPr/>
          </p:nvCxnSpPr>
          <p:spPr>
            <a:xfrm flipH="1" rot="5400000">
              <a:off x="6744524" y="1300853"/>
              <a:ext cx="88509" cy="82296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8" name="Google Shape;128;p100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29" name="Google Shape;129;p100"/>
            <p:cNvCxnSpPr/>
            <p:nvPr/>
          </p:nvCxnSpPr>
          <p:spPr>
            <a:xfrm rot="-5400000">
              <a:off x="6664064" y="1301769"/>
              <a:ext cx="88509" cy="80463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" name="Google Shape;130;p100"/>
            <p:cNvCxnSpPr/>
            <p:nvPr/>
          </p:nvCxnSpPr>
          <p:spPr>
            <a:xfrm flipH="1" rot="5400000">
              <a:off x="6685888" y="1391257"/>
              <a:ext cx="125755" cy="427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" name="Google Shape;131;p100"/>
            <p:cNvCxnSpPr/>
            <p:nvPr/>
          </p:nvCxnSpPr>
          <p:spPr>
            <a:xfrm flipH="1" rot="5400000">
              <a:off x="6744524" y="1300853"/>
              <a:ext cx="88509" cy="82296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2" name="Google Shape;132;p100"/>
          <p:cNvSpPr txBox="1"/>
          <p:nvPr>
            <p:ph idx="10" type="dt"/>
          </p:nvPr>
        </p:nvSpPr>
        <p:spPr>
          <a:xfrm>
            <a:off x="6477000" y="5549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00"/>
          <p:cNvSpPr txBox="1"/>
          <p:nvPr>
            <p:ph idx="11" type="ftr"/>
          </p:nvPr>
        </p:nvSpPr>
        <p:spPr>
          <a:xfrm>
            <a:off x="914400" y="55499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00"/>
          <p:cNvSpPr txBox="1"/>
          <p:nvPr>
            <p:ph idx="12" type="sldNum"/>
          </p:nvPr>
        </p:nvSpPr>
        <p:spPr>
          <a:xfrm>
            <a:off x="8610600" y="55499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1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01"/>
          <p:cNvSpPr txBox="1"/>
          <p:nvPr>
            <p:ph idx="1" type="body"/>
          </p:nvPr>
        </p:nvSpPr>
        <p:spPr>
          <a:xfrm rot="5400000">
            <a:off x="2514600" y="183360"/>
            <a:ext cx="45720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700"/>
              </a:spcBef>
              <a:spcAft>
                <a:spcPts val="0"/>
              </a:spcAft>
              <a:buSzPts val="1710"/>
              <a:buChar char="▪"/>
              <a:defRPr/>
            </a:lvl1pPr>
            <a:lvl2pPr indent="-331469" lvl="1" marL="914400" algn="l">
              <a:spcBef>
                <a:spcPts val="360"/>
              </a:spcBef>
              <a:spcAft>
                <a:spcPts val="0"/>
              </a:spcAft>
              <a:buSzPts val="1620"/>
              <a:buChar char="🢭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38" name="Google Shape;138;p101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01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01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2"/>
          <p:cNvSpPr txBox="1"/>
          <p:nvPr>
            <p:ph type="title"/>
          </p:nvPr>
        </p:nvSpPr>
        <p:spPr>
          <a:xfrm rot="5400000">
            <a:off x="4694238" y="2209802"/>
            <a:ext cx="5851525" cy="19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02"/>
          <p:cNvSpPr txBox="1"/>
          <p:nvPr>
            <p:ph idx="1" type="body"/>
          </p:nvPr>
        </p:nvSpPr>
        <p:spPr>
          <a:xfrm rot="5400000">
            <a:off x="617538" y="266701"/>
            <a:ext cx="5851525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700"/>
              </a:spcBef>
              <a:spcAft>
                <a:spcPts val="0"/>
              </a:spcAft>
              <a:buSzPts val="1710"/>
              <a:buChar char="▪"/>
              <a:defRPr/>
            </a:lvl1pPr>
            <a:lvl2pPr indent="-331469" lvl="1" marL="914400" algn="l">
              <a:spcBef>
                <a:spcPts val="360"/>
              </a:spcBef>
              <a:spcAft>
                <a:spcPts val="0"/>
              </a:spcAft>
              <a:buSzPts val="1620"/>
              <a:buChar char="🢭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44" name="Google Shape;144;p102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02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02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1"/>
            </a:gs>
            <a:gs pos="65000">
              <a:schemeClr val="dk1"/>
            </a:gs>
            <a:gs pos="100000">
              <a:srgbClr val="5676AA"/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" name="Google Shape;11;p91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" name="Google Shape;12;p91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" name="Google Shape;13;p91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4" name="Google Shape;14;p91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5" name="Google Shape;15;p9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6" name="Google Shape;16;p91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7" name="Google Shape;17;p91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8" name="Google Shape;18;p9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" name="Google Shape;19;p91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  <a:defRPr b="0" i="0" sz="4000" u="none" cap="none" strike="noStrike">
                <a:solidFill>
                  <a:srgbClr val="C1EDFF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" name="Google Shape;20;p91"/>
          <p:cNvSpPr txBox="1"/>
          <p:nvPr>
            <p:ph idx="1" type="body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9575" lvl="0" marL="457200" marR="0" rtl="0" algn="l"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2850"/>
              <a:buFont typeface="Noto Sans Symbols"/>
              <a:buChar char="▪"/>
              <a:defRPr b="0" i="0" sz="3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7719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Noto Sans Symbols"/>
              <a:buChar char="🢭"/>
              <a:defRPr b="0" i="0" sz="2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68300" lvl="3" marL="1828800" marR="0" rtl="0" algn="l">
              <a:spcBef>
                <a:spcPts val="44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Noto Sans Symbols"/>
              <a:buChar char="🢝"/>
              <a:defRPr b="0" i="0" sz="2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91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2" name="Google Shape;22;p91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3" name="Google Shape;23;p91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8.png"/><Relationship Id="rId4" Type="http://schemas.openxmlformats.org/officeDocument/2006/relationships/image" Target="../media/image2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8.jpg"/><Relationship Id="rId6" Type="http://schemas.openxmlformats.org/officeDocument/2006/relationships/image" Target="../media/image2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0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1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5.pn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.jpg"/><Relationship Id="rId4" Type="http://schemas.openxmlformats.org/officeDocument/2006/relationships/image" Target="../media/image14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9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6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1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1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7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5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6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7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30.png"/><Relationship Id="rId6" Type="http://schemas.openxmlformats.org/officeDocument/2006/relationships/image" Target="../media/image32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35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40.jp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39.png"/><Relationship Id="rId4" Type="http://schemas.openxmlformats.org/officeDocument/2006/relationships/image" Target="../media/image41.jp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42.jpg"/><Relationship Id="rId4" Type="http://schemas.openxmlformats.org/officeDocument/2006/relationships/image" Target="../media/image43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44.png"/><Relationship Id="rId4" Type="http://schemas.openxmlformats.org/officeDocument/2006/relationships/image" Target="../media/image48.jpg"/><Relationship Id="rId5" Type="http://schemas.openxmlformats.org/officeDocument/2006/relationships/image" Target="../media/image45.jp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46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47.png"/><Relationship Id="rId4" Type="http://schemas.openxmlformats.org/officeDocument/2006/relationships/image" Target="../media/image51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49.jpg"/><Relationship Id="rId4" Type="http://schemas.openxmlformats.org/officeDocument/2006/relationships/image" Target="../media/image50.jpg"/><Relationship Id="rId5" Type="http://schemas.openxmlformats.org/officeDocument/2006/relationships/image" Target="../media/image53.png"/><Relationship Id="rId6" Type="http://schemas.openxmlformats.org/officeDocument/2006/relationships/image" Target="../media/image54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52.jpg"/><Relationship Id="rId4" Type="http://schemas.openxmlformats.org/officeDocument/2006/relationships/image" Target="../media/image57.jpg"/><Relationship Id="rId5" Type="http://schemas.openxmlformats.org/officeDocument/2006/relationships/image" Target="../media/image56.jpg"/><Relationship Id="rId6" Type="http://schemas.openxmlformats.org/officeDocument/2006/relationships/image" Target="../media/image58.jp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60.png"/><Relationship Id="rId4" Type="http://schemas.openxmlformats.org/officeDocument/2006/relationships/image" Target="../media/image55.png"/><Relationship Id="rId5" Type="http://schemas.openxmlformats.org/officeDocument/2006/relationships/image" Target="../media/image59.png"/><Relationship Id="rId6" Type="http://schemas.openxmlformats.org/officeDocument/2006/relationships/image" Target="../media/image61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"/>
          <p:cNvSpPr txBox="1"/>
          <p:nvPr>
            <p:ph type="ctrTitle"/>
          </p:nvPr>
        </p:nvSpPr>
        <p:spPr>
          <a:xfrm>
            <a:off x="914400" y="4343400"/>
            <a:ext cx="7772400" cy="197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9144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i="1" lang="fr-FR"/>
              <a:t>RHINOLOGIE</a:t>
            </a:r>
            <a:br>
              <a:rPr lang="fr-FR"/>
            </a:br>
            <a:r>
              <a:rPr lang="fr-FR"/>
              <a:t> </a:t>
            </a:r>
            <a:br>
              <a:rPr lang="fr-FR"/>
            </a:br>
            <a:endParaRPr/>
          </a:p>
        </p:txBody>
      </p:sp>
      <p:sp>
        <p:nvSpPr>
          <p:cNvPr id="152" name="Google Shape;152;p1"/>
          <p:cNvSpPr txBox="1"/>
          <p:nvPr>
            <p:ph idx="1" type="subTitle"/>
          </p:nvPr>
        </p:nvSpPr>
        <p:spPr>
          <a:xfrm>
            <a:off x="1371600" y="40386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10057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b="1" lang="fr-FR"/>
              <a:t>L’ANATOMIE DU NEZ</a:t>
            </a:r>
            <a:br>
              <a:rPr lang="fr-FR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"/>
          <p:cNvSpPr txBox="1"/>
          <p:nvPr>
            <p:ph idx="1" type="body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fr-FR"/>
              <a:t>Le nez est situé dans la partie médiane de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l’étage du milieu du visage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	- la pyramide nasale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   - les cavités (fosses) nasale</a:t>
            </a:r>
            <a:endParaRPr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  <p:pic>
        <p:nvPicPr>
          <p:cNvPr id="158" name="Google Shape;15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200" y="2667000"/>
            <a:ext cx="2286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"/>
          <p:cNvSpPr txBox="1"/>
          <p:nvPr>
            <p:ph type="title"/>
          </p:nvPr>
        </p:nvSpPr>
        <p:spPr>
          <a:xfrm>
            <a:off x="152400" y="457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ct val="100000"/>
              <a:buFont typeface="Consolas"/>
              <a:buNone/>
            </a:pPr>
            <a:br>
              <a:rPr lang="fr-FR"/>
            </a:br>
            <a:r>
              <a:rPr lang="fr-FR"/>
              <a:t>  </a:t>
            </a:r>
            <a:r>
              <a:rPr b="1" lang="fr-FR"/>
              <a:t>LA PYRAMIDE NASALE :</a:t>
            </a:r>
            <a:r>
              <a:rPr lang="fr-FR"/>
              <a:t> </a:t>
            </a:r>
            <a:br>
              <a:rPr lang="fr-FR"/>
            </a:br>
            <a:br>
              <a:rPr lang="fr-FR"/>
            </a:br>
            <a:endParaRPr/>
          </a:p>
        </p:txBody>
      </p:sp>
      <p:sp>
        <p:nvSpPr>
          <p:cNvPr id="164" name="Google Shape;164;p3"/>
          <p:cNvSpPr txBox="1"/>
          <p:nvPr>
            <p:ph idx="1" type="body"/>
          </p:nvPr>
        </p:nvSpPr>
        <p:spPr>
          <a:xfrm>
            <a:off x="685800" y="1783560"/>
            <a:ext cx="80010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À la forme d’une </a:t>
            </a:r>
            <a:r>
              <a:rPr b="1" lang="fr-FR"/>
              <a:t>pyramide triangulaire</a:t>
            </a:r>
            <a:endParaRPr/>
          </a:p>
          <a:p>
            <a:pPr indent="-27432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Il se compose d’un squelette ostéo - cartilagineux :</a:t>
            </a:r>
            <a:br>
              <a:rPr lang="fr-FR"/>
            </a:br>
            <a:r>
              <a:rPr b="1" lang="fr-FR">
                <a:solidFill>
                  <a:srgbClr val="FFC000"/>
                </a:solidFill>
              </a:rPr>
              <a:t>- squelette osseux</a:t>
            </a:r>
            <a:r>
              <a:rPr lang="fr-FR"/>
              <a:t> : - propres os du nez </a:t>
            </a:r>
            <a:br>
              <a:rPr lang="fr-FR"/>
            </a:br>
            <a:r>
              <a:rPr lang="fr-FR"/>
              <a:t>                                   - les apophyses montantes de   l’os maxillaire   supérieur </a:t>
            </a:r>
            <a:br>
              <a:rPr lang="fr-FR"/>
            </a:br>
            <a:r>
              <a:rPr b="1" lang="fr-FR">
                <a:solidFill>
                  <a:srgbClr val="FFC000"/>
                </a:solidFill>
              </a:rPr>
              <a:t>- squelette cartilagineux</a:t>
            </a:r>
            <a:r>
              <a:rPr b="1" lang="fr-FR"/>
              <a:t> </a:t>
            </a:r>
            <a:r>
              <a:rPr lang="fr-FR"/>
              <a:t>:	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-cartilages alaires font partie de l’aile du nez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-cartilage triangulaire - se trouvent   latéralement dans la continuité du bord inférieur de l’os nasal.</a:t>
            </a:r>
            <a:endParaRPr/>
          </a:p>
          <a:p>
            <a:pPr indent="-175498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ct val="100000"/>
              <a:buFont typeface="Consolas"/>
              <a:buNone/>
            </a:pPr>
            <a:r>
              <a:rPr b="1" lang="fr-FR"/>
              <a:t>LA CAVITÉ NASALE</a:t>
            </a:r>
            <a:br>
              <a:rPr lang="fr-FR"/>
            </a:br>
            <a:endParaRPr/>
          </a:p>
        </p:txBody>
      </p:sp>
      <p:sp>
        <p:nvSpPr>
          <p:cNvPr id="170" name="Google Shape;170;p4"/>
          <p:cNvSpPr txBox="1"/>
          <p:nvPr>
            <p:ph idx="1" type="body"/>
          </p:nvPr>
        </p:nvSpPr>
        <p:spPr>
          <a:xfrm>
            <a:off x="381000" y="1143000"/>
            <a:ext cx="8763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Il y ont deux cavités symétriques, orientation antéropostérieure, au-dessous de l’étage antérieur de la base du crâne, au-dessus de la bouche, à l’intérieur de l’orbite et avant le nasopharynx.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La cavité nasale est formée par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1.</a:t>
            </a:r>
            <a:r>
              <a:rPr lang="fr-FR">
                <a:solidFill>
                  <a:srgbClr val="FFC000"/>
                </a:solidFill>
              </a:rPr>
              <a:t> </a:t>
            </a:r>
            <a:r>
              <a:rPr b="1" lang="fr-FR">
                <a:solidFill>
                  <a:srgbClr val="FFC000"/>
                </a:solidFill>
              </a:rPr>
              <a:t>Le vestibule nasal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La partie antérieure de la cavité nasale ; est couverte par de tégument et présente des follicules pileux - nommés vibrisses.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Latéralement il est formé par la face interne de l’aile nasale - représenté par le cartilage alaire et médial - la partie antérieure de la cloison nasale et la sous-cloison.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2.</a:t>
            </a:r>
            <a:r>
              <a:rPr lang="fr-FR">
                <a:solidFill>
                  <a:srgbClr val="FFC000"/>
                </a:solidFill>
              </a:rPr>
              <a:t> </a:t>
            </a:r>
            <a:r>
              <a:rPr b="1" lang="fr-FR">
                <a:solidFill>
                  <a:srgbClr val="FFC000"/>
                </a:solidFill>
              </a:rPr>
              <a:t>La cavité nasale proprement </a:t>
            </a:r>
            <a:r>
              <a:rPr lang="fr-FR"/>
              <a:t>dite se présente pour l’étude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*      antérieur -la narine                     * inférieure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*      postérieur – le choane                 * externe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*      4 parois – supérieure                   *interne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202644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"/>
          <p:cNvSpPr txBox="1"/>
          <p:nvPr>
            <p:ph type="title"/>
          </p:nvPr>
        </p:nvSpPr>
        <p:spPr>
          <a:xfrm>
            <a:off x="914400" y="228600"/>
            <a:ext cx="7772400" cy="119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ct val="100000"/>
              <a:buFont typeface="Consolas"/>
              <a:buNone/>
            </a:pPr>
            <a:r>
              <a:rPr b="1" lang="fr-FR"/>
              <a:t>LA CAVITÉ NASALE</a:t>
            </a:r>
            <a:br>
              <a:rPr lang="fr-FR"/>
            </a:br>
            <a:endParaRPr/>
          </a:p>
        </p:txBody>
      </p:sp>
      <p:sp>
        <p:nvSpPr>
          <p:cNvPr id="176" name="Google Shape;176;p5"/>
          <p:cNvSpPr txBox="1"/>
          <p:nvPr>
            <p:ph idx="1" type="body"/>
          </p:nvPr>
        </p:nvSpPr>
        <p:spPr>
          <a:xfrm>
            <a:off x="304800" y="9144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3400">
                <a:solidFill>
                  <a:srgbClr val="FFC000"/>
                </a:solidFill>
              </a:rPr>
              <a:t>a. La paroi supérieure </a:t>
            </a:r>
            <a:r>
              <a:rPr lang="fr-FR" sz="3400">
                <a:solidFill>
                  <a:srgbClr val="FFC000"/>
                </a:solidFill>
              </a:rPr>
              <a:t>- </a:t>
            </a:r>
            <a:r>
              <a:rPr lang="fr-FR" sz="3400"/>
              <a:t>présente trois segments avant-arrière :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3400"/>
              <a:t>Segment fronto nasale 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3400"/>
              <a:t>Segment ethmoïde - lame criblée 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3400"/>
              <a:t>Le segment sphénoïdal - corps du sphénoïde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400">
                <a:solidFill>
                  <a:srgbClr val="FFC000"/>
                </a:solidFill>
              </a:rPr>
              <a:t>b. La paroi inférieure </a:t>
            </a:r>
            <a:r>
              <a:rPr lang="fr-FR" sz="3400"/>
              <a:t>- le plancher nasale sépare la cavité nasale de la cavité buccale et se compose de :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3400"/>
              <a:t>l’apophyse palatine du maxillaire supérieur 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3400"/>
              <a:t> apophyse horizontale de l’os palatine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400">
                <a:solidFill>
                  <a:srgbClr val="FFC000"/>
                </a:solidFill>
              </a:rPr>
              <a:t>c. La paroi interne (septal</a:t>
            </a:r>
            <a:r>
              <a:rPr lang="fr-FR" sz="3400"/>
              <a:t>) - se compose de :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3400"/>
              <a:t> le cartilage carré antérieur 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3400"/>
              <a:t>le vomer postérieur de et inférieure 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3400"/>
              <a:t> la lame perpendiculaire de l’ethmoïde - postérieure et supérieure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400">
                <a:solidFill>
                  <a:srgbClr val="FFC000"/>
                </a:solidFill>
              </a:rPr>
              <a:t>d. La paroi externe </a:t>
            </a:r>
            <a:r>
              <a:rPr lang="fr-FR" sz="3400"/>
              <a:t>- est l’élément le plus complexe, à sa formation participe six formations osseuses :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3400"/>
              <a:t> le maxillaire supérieur 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3400"/>
              <a:t> l’unguis (os lacrymal) 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3400"/>
              <a:t> l’ethmoïde 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3400"/>
              <a:t> le palatine 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3400"/>
              <a:t> le sphénoïde 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3400"/>
              <a:t>-le cornet inférieur</a:t>
            </a:r>
            <a:endParaRPr sz="3400"/>
          </a:p>
          <a:p>
            <a:pPr indent="-256936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ct val="100000"/>
              <a:buFont typeface="Consolas"/>
              <a:buNone/>
            </a:pPr>
            <a:r>
              <a:rPr lang="fr-FR"/>
              <a:t>Les </a:t>
            </a:r>
            <a:r>
              <a:rPr i="1" lang="fr-FR"/>
              <a:t>cornets</a:t>
            </a:r>
            <a:r>
              <a:rPr lang="fr-FR"/>
              <a:t> et les </a:t>
            </a:r>
            <a:r>
              <a:rPr i="1" lang="fr-FR"/>
              <a:t>méats nasaux</a:t>
            </a:r>
            <a:br>
              <a:rPr i="1" lang="fr-FR"/>
            </a:br>
            <a:r>
              <a:rPr i="1" lang="fr-FR"/>
              <a:t>(a</a:t>
            </a:r>
            <a:r>
              <a:rPr lang="fr-FR"/>
              <a:t>u niveau de la paroi externe)</a:t>
            </a:r>
            <a:endParaRPr/>
          </a:p>
        </p:txBody>
      </p:sp>
      <p:sp>
        <p:nvSpPr>
          <p:cNvPr id="182" name="Google Shape;182;p6"/>
          <p:cNvSpPr txBox="1"/>
          <p:nvPr>
            <p:ph idx="1" type="body"/>
          </p:nvPr>
        </p:nvSpPr>
        <p:spPr>
          <a:xfrm>
            <a:off x="190500" y="1069700"/>
            <a:ext cx="8763000" cy="54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/>
              <a:t>		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b="1" sz="6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7200"/>
              <a:t>   Les cornets </a:t>
            </a:r>
            <a:r>
              <a:rPr lang="fr-FR" sz="7200"/>
              <a:t>sont des lames osseuses disposés antéropostérieures, </a:t>
            </a:r>
            <a:r>
              <a:rPr b="1" i="1" lang="fr-FR" sz="7200"/>
              <a:t>l’inférieur</a:t>
            </a:r>
            <a:r>
              <a:rPr lang="fr-FR" sz="7200"/>
              <a:t> est os immobile, </a:t>
            </a:r>
            <a:r>
              <a:rPr b="1" i="1" lang="fr-FR" sz="7200"/>
              <a:t>le moyen </a:t>
            </a:r>
            <a:r>
              <a:rPr lang="fr-FR" sz="7200"/>
              <a:t>et </a:t>
            </a:r>
            <a:r>
              <a:rPr b="1" i="1" lang="fr-FR" sz="7200"/>
              <a:t>le supérieure </a:t>
            </a:r>
            <a:r>
              <a:rPr lang="fr-FR" sz="7200"/>
              <a:t>appartenant de l’os ethmoïde.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7200"/>
              <a:t>    Chaque cornet présente :</a:t>
            </a:r>
            <a:endParaRPr sz="7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7200"/>
              <a:t>  une extrémité antérieure = tête de cornet</a:t>
            </a:r>
            <a:endParaRPr sz="7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7200"/>
              <a:t>  un corps</a:t>
            </a:r>
            <a:endParaRPr sz="7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7200"/>
              <a:t>  une extrémité postérieure = la queue du cornet qui se trouve au niveau du choane.</a:t>
            </a:r>
            <a:endParaRPr sz="7200"/>
          </a:p>
          <a:p>
            <a:pPr indent="-234315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7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7200"/>
              <a:t>    Les méats</a:t>
            </a:r>
            <a:r>
              <a:rPr lang="fr-FR" sz="7200"/>
              <a:t> sont des espaces entre la paroi externe osseuse et cornet nasal, donc il y a trois méats:</a:t>
            </a:r>
            <a:endParaRPr sz="7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6400">
                <a:solidFill>
                  <a:srgbClr val="FFC000"/>
                </a:solidFill>
              </a:rPr>
              <a:t>-   </a:t>
            </a:r>
            <a:r>
              <a:rPr b="1" i="1" lang="fr-FR" sz="6400" u="sng">
                <a:solidFill>
                  <a:srgbClr val="FFC000"/>
                </a:solidFill>
              </a:rPr>
              <a:t>inférieure</a:t>
            </a:r>
            <a:r>
              <a:rPr b="1" lang="fr-FR" sz="6400">
                <a:solidFill>
                  <a:srgbClr val="FFC000"/>
                </a:solidFill>
              </a:rPr>
              <a:t> </a:t>
            </a:r>
            <a:r>
              <a:rPr lang="fr-FR" sz="6400"/>
              <a:t>- en ouvre: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                 canal lacrymo-nasal;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>
                <a:solidFill>
                  <a:srgbClr val="FFC000"/>
                </a:solidFill>
              </a:rPr>
              <a:t>-  </a:t>
            </a:r>
            <a:r>
              <a:rPr b="1" lang="fr-FR" sz="6400">
                <a:solidFill>
                  <a:srgbClr val="FFC000"/>
                </a:solidFill>
              </a:rPr>
              <a:t> </a:t>
            </a:r>
            <a:r>
              <a:rPr b="1" i="1" lang="fr-FR" sz="6400" u="sng">
                <a:solidFill>
                  <a:srgbClr val="FFC000"/>
                </a:solidFill>
              </a:rPr>
              <a:t>moyen</a:t>
            </a:r>
            <a:r>
              <a:rPr b="1" lang="fr-FR" sz="6400">
                <a:solidFill>
                  <a:srgbClr val="FFC000"/>
                </a:solidFill>
              </a:rPr>
              <a:t> </a:t>
            </a:r>
            <a:r>
              <a:rPr lang="fr-FR" sz="6400">
                <a:solidFill>
                  <a:srgbClr val="FFC000"/>
                </a:solidFill>
              </a:rPr>
              <a:t>- </a:t>
            </a:r>
            <a:r>
              <a:rPr lang="fr-FR" sz="6400"/>
              <a:t>en ouvre: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               sinus frontal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                sinus maxillaire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                sinus ethmoïdal antérieur ;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6400" u="sng"/>
              <a:t>- </a:t>
            </a:r>
            <a:r>
              <a:rPr b="1" i="1" lang="fr-FR" sz="6400" u="sng">
                <a:solidFill>
                  <a:srgbClr val="FFC000"/>
                </a:solidFill>
              </a:rPr>
              <a:t>supérieur</a:t>
            </a:r>
            <a:r>
              <a:rPr i="1" lang="fr-FR" sz="6400" u="sng"/>
              <a:t> </a:t>
            </a:r>
            <a:r>
              <a:rPr lang="fr-FR" sz="6400"/>
              <a:t>- en ouvre:sinus sphénoïdal ;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                  sinus ethmoïde postérieur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br>
              <a:rPr b="1" i="1" lang="fr-FR" sz="6400"/>
            </a:br>
            <a:endParaRPr sz="6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lang="fr-FR"/>
              <a:t>La muqueuse de la cavité nasale</a:t>
            </a:r>
            <a:endParaRPr/>
          </a:p>
        </p:txBody>
      </p:sp>
      <p:sp>
        <p:nvSpPr>
          <p:cNvPr id="188" name="Google Shape;188;p7"/>
          <p:cNvSpPr txBox="1"/>
          <p:nvPr>
            <p:ph idx="1" type="body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Char char="▪"/>
            </a:pPr>
            <a:r>
              <a:rPr b="1" i="1" lang="fr-FR"/>
              <a:t> </a:t>
            </a:r>
            <a:r>
              <a:rPr b="1" i="1" lang="fr-FR">
                <a:solidFill>
                  <a:srgbClr val="FFC000"/>
                </a:solidFill>
              </a:rPr>
              <a:t>muqueuse respiratoire </a:t>
            </a:r>
            <a:r>
              <a:rPr lang="fr-FR"/>
              <a:t>- épithélium cylindrique cilié pseudo-stratifié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Char char="▪"/>
            </a:pPr>
            <a:r>
              <a:rPr lang="fr-FR">
                <a:solidFill>
                  <a:srgbClr val="FFC000"/>
                </a:solidFill>
              </a:rPr>
              <a:t> </a:t>
            </a:r>
            <a:r>
              <a:rPr b="1" i="1" lang="fr-FR">
                <a:solidFill>
                  <a:srgbClr val="FFC000"/>
                </a:solidFill>
              </a:rPr>
              <a:t>muqueuse olfactive </a:t>
            </a:r>
            <a:r>
              <a:rPr lang="fr-FR"/>
              <a:t>- l’épithélium sensoriel constitué par les cellules olfactives dans l’étage supérieur de la cavité nasale (au-dessus du cornet supérieur)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 </a:t>
            </a:r>
            <a:endParaRPr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i="1" lang="fr-FR"/>
              <a:t>Vascularisation</a:t>
            </a:r>
            <a:endParaRPr/>
          </a:p>
        </p:txBody>
      </p:sp>
      <p:sp>
        <p:nvSpPr>
          <p:cNvPr id="194" name="Google Shape;194;p8"/>
          <p:cNvSpPr txBox="1"/>
          <p:nvPr>
            <p:ph idx="1" type="body"/>
          </p:nvPr>
        </p:nvSpPr>
        <p:spPr>
          <a:xfrm>
            <a:off x="457200" y="1295400"/>
            <a:ext cx="82296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>
                <a:solidFill>
                  <a:srgbClr val="FFC000"/>
                </a:solidFill>
              </a:rPr>
              <a:t>l’artère carotide externe - </a:t>
            </a:r>
            <a:r>
              <a:rPr lang="fr-FR">
                <a:solidFill>
                  <a:srgbClr val="F2F2F2"/>
                </a:solidFill>
              </a:rPr>
              <a:t>principalement </a:t>
            </a:r>
            <a:endParaRPr>
              <a:solidFill>
                <a:srgbClr val="F2F2F2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>
                <a:solidFill>
                  <a:srgbClr val="FFC000"/>
                </a:solidFill>
              </a:rPr>
              <a:t> l’artère carotide interne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❖"/>
            </a:pPr>
            <a:r>
              <a:rPr lang="fr-FR"/>
              <a:t> </a:t>
            </a:r>
            <a:r>
              <a:rPr b="1" i="1" lang="fr-FR">
                <a:solidFill>
                  <a:srgbClr val="FFC000"/>
                </a:solidFill>
              </a:rPr>
              <a:t>Tache vasculaire (Kiesselbach): 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▪"/>
            </a:pPr>
            <a:r>
              <a:rPr lang="fr-FR"/>
              <a:t>situé au niveau de la partie antéro-inférieure de la cloison nasale - à environ 1,5 cm de l’orifice narinaire.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▪"/>
            </a:pPr>
            <a:r>
              <a:rPr lang="fr-FR"/>
              <a:t>  les vaisseaux sont les plus superficiels, en saignant facilement au toucher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▪"/>
            </a:pPr>
            <a:r>
              <a:rPr lang="fr-FR"/>
              <a:t> le siège de saignements de nez les plus fréquents - épistaxis</a:t>
            </a:r>
            <a:endParaRPr/>
          </a:p>
          <a:p>
            <a:pPr indent="-175498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lang="fr-FR"/>
              <a:t>LA PHYSIOLOGIE NASALE</a:t>
            </a:r>
            <a:endParaRPr/>
          </a:p>
        </p:txBody>
      </p:sp>
      <p:sp>
        <p:nvSpPr>
          <p:cNvPr id="200" name="Google Shape;200;p9"/>
          <p:cNvSpPr txBox="1"/>
          <p:nvPr>
            <p:ph idx="1" type="body"/>
          </p:nvPr>
        </p:nvSpPr>
        <p:spPr>
          <a:xfrm>
            <a:off x="228600" y="1447800"/>
            <a:ext cx="86106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  1. La fonction respiratoire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      C’est  la fonction la plus importante de la cavité nasale, avec une grande influence sur les autres fonctions et aussi sur la pathologie complexe de l’entité rhinosinusienne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>
                <a:solidFill>
                  <a:srgbClr val="FFC000"/>
                </a:solidFill>
              </a:rPr>
              <a:t> </a:t>
            </a:r>
            <a:r>
              <a:rPr b="1" lang="fr-FR">
                <a:solidFill>
                  <a:srgbClr val="FFC000"/>
                </a:solidFill>
              </a:rPr>
              <a:t>2. La fonction muco-ciliaire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     La muqueuse nasale est couverte par une </a:t>
            </a:r>
            <a:r>
              <a:rPr b="1" i="1" lang="fr-FR"/>
              <a:t>couche de mucus</a:t>
            </a:r>
            <a:r>
              <a:rPr lang="fr-FR"/>
              <a:t>, une situation très important pour le bon fonctionnement de la cavité nasale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     </a:t>
            </a:r>
            <a:r>
              <a:rPr b="1" i="1" lang="fr-FR"/>
              <a:t>Le mouvement ciliaire </a:t>
            </a:r>
            <a:r>
              <a:rPr lang="fr-FR"/>
              <a:t>a direction avant - arrière vers le nasopharynx, où il dirige la sécrétion nasale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3. La fonction de conditionnement</a:t>
            </a:r>
            <a:r>
              <a:rPr b="1" lang="fr-FR"/>
              <a:t> (modification) de l’air inspiré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L’air inspiré passé à travers de la cavité nasale subit une série de changements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>
                <a:solidFill>
                  <a:srgbClr val="FFC000"/>
                </a:solidFill>
              </a:rPr>
              <a:t>  </a:t>
            </a:r>
            <a:r>
              <a:rPr b="1" i="1" lang="fr-FR">
                <a:solidFill>
                  <a:srgbClr val="FFC000"/>
                </a:solidFill>
              </a:rPr>
              <a:t>humectage </a:t>
            </a:r>
            <a:endParaRPr b="1" i="1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b="1" i="1" lang="fr-FR">
                <a:solidFill>
                  <a:srgbClr val="FFC000"/>
                </a:solidFill>
              </a:rPr>
              <a:t>  chauffage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b="1" i="1" lang="fr-FR">
                <a:solidFill>
                  <a:srgbClr val="FFC000"/>
                </a:solidFill>
              </a:rPr>
              <a:t>  purification</a:t>
            </a:r>
            <a:endParaRPr b="1" i="1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lang="fr-FR"/>
              <a:t>LA PHYSIOLOGIE NASALE</a:t>
            </a:r>
            <a:endParaRPr/>
          </a:p>
        </p:txBody>
      </p:sp>
      <p:sp>
        <p:nvSpPr>
          <p:cNvPr id="206" name="Google Shape;206;p10"/>
          <p:cNvSpPr txBox="1"/>
          <p:nvPr>
            <p:ph idx="1" type="body"/>
          </p:nvPr>
        </p:nvSpPr>
        <p:spPr>
          <a:xfrm>
            <a:off x="457200" y="12192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4. La fonction de défense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Il est plus complexe et présente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la ligne de </a:t>
            </a:r>
            <a:r>
              <a:rPr b="1" i="1" lang="fr-FR"/>
              <a:t>défense épithéliale</a:t>
            </a:r>
            <a:r>
              <a:rPr lang="fr-FR"/>
              <a:t> de la muqueuse nasale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b="1" i="1" lang="fr-FR"/>
              <a:t>l’inflammation</a:t>
            </a:r>
            <a:r>
              <a:rPr lang="fr-FR"/>
              <a:t> non spécifique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</a:t>
            </a:r>
            <a:r>
              <a:rPr b="1" i="1" lang="fr-FR"/>
              <a:t>le système immunitaire </a:t>
            </a:r>
            <a:r>
              <a:rPr lang="fr-FR"/>
              <a:t>attaché à la muqueuse nasale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5. La fonction phonatoire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Cavités nasales et les sinus paranasaux sont des </a:t>
            </a:r>
            <a:r>
              <a:rPr b="1" i="1" lang="fr-FR"/>
              <a:t>cavités de résonance</a:t>
            </a:r>
            <a:r>
              <a:rPr lang="fr-FR"/>
              <a:t>, l’obstruction nasale provoquant des rhinolalie fermées.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6. La fonction olfactive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Il est peu développé chez l’homme.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7. La fonction sociale esthétique du nez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189071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"/>
          <p:cNvSpPr txBox="1"/>
          <p:nvPr>
            <p:ph type="title"/>
          </p:nvPr>
        </p:nvSpPr>
        <p:spPr>
          <a:xfrm>
            <a:off x="457200" y="4572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ct val="100000"/>
              <a:buFont typeface="Consolas"/>
              <a:buNone/>
            </a:pPr>
            <a:r>
              <a:rPr b="1" lang="fr-FR"/>
              <a:t>LES SYNDROMES RHINOLOGIQUES</a:t>
            </a:r>
            <a:br>
              <a:rPr lang="fr-FR"/>
            </a:br>
            <a:endParaRPr/>
          </a:p>
        </p:txBody>
      </p:sp>
      <p:sp>
        <p:nvSpPr>
          <p:cNvPr id="212" name="Google Shape;212;p11"/>
          <p:cNvSpPr txBox="1"/>
          <p:nvPr>
            <p:ph idx="1" type="body"/>
          </p:nvPr>
        </p:nvSpPr>
        <p:spPr>
          <a:xfrm>
            <a:off x="228600" y="1143000"/>
            <a:ext cx="86868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1.  LE SYNDROME OBSTRUCTIF (</a:t>
            </a:r>
            <a:r>
              <a:rPr b="1" i="1" lang="fr-FR">
                <a:solidFill>
                  <a:srgbClr val="FFC000"/>
                </a:solidFill>
              </a:rPr>
              <a:t>l’obstruction nasale</a:t>
            </a:r>
            <a:r>
              <a:rPr b="1" lang="fr-FR">
                <a:solidFill>
                  <a:srgbClr val="FFC000"/>
                </a:solidFill>
              </a:rPr>
              <a:t>)</a:t>
            </a:r>
            <a:endParaRPr b="1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Il est manifeste par de gêne, de difficulté à respirer par le nez et / ou respiration par la bouche lorsque l’obstruction nasale est bilatérale; hyposmie ou anosmie; rhinolalie fermée - voix nasale (nasalisée).</a:t>
            </a:r>
            <a:br>
              <a:rPr lang="fr-FR"/>
            </a:br>
            <a:r>
              <a:rPr b="1" i="1" lang="fr-FR">
                <a:solidFill>
                  <a:srgbClr val="FFC000"/>
                </a:solidFill>
              </a:rPr>
              <a:t>Les causes de l’obstruction nasale sont différents:</a:t>
            </a:r>
            <a:br>
              <a:rPr lang="fr-FR"/>
            </a:br>
            <a:r>
              <a:rPr b="1" i="1" lang="fr-FR">
                <a:solidFill>
                  <a:srgbClr val="FFC000"/>
                </a:solidFill>
              </a:rPr>
              <a:t>a. À l’enfant:</a:t>
            </a:r>
            <a:endParaRPr b="1" i="1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anomalies congénitales : -atrésie narinaire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                      -imperforation des choanes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traumatismes et des corps étrangers nasaux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inflammation aiguë : - la rhinite aiguë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              - l’ adénoïdite aiguë </a:t>
            </a:r>
            <a:br>
              <a:rPr lang="fr-FR"/>
            </a:br>
            <a:r>
              <a:rPr lang="fr-FR"/>
              <a:t>                                       - la sinusite aiguë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l’inflammation chronique : - la rhinite chronique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                        - adénoïdite chronique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allergie nasale : - la rhinite allergique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 polypose nasale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tumeurs nasales : - bénigne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        - maligne.</a:t>
            </a:r>
            <a:endParaRPr/>
          </a:p>
          <a:p>
            <a:pPr indent="-243363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ct val="100000"/>
              <a:buFont typeface="Consolas"/>
              <a:buNone/>
            </a:pPr>
            <a:r>
              <a:rPr b="1" lang="fr-FR"/>
              <a:t>LES SYNDROMES RHINOLOGIQUES</a:t>
            </a:r>
            <a:br>
              <a:rPr lang="fr-FR"/>
            </a:br>
            <a:endParaRPr/>
          </a:p>
        </p:txBody>
      </p:sp>
      <p:sp>
        <p:nvSpPr>
          <p:cNvPr id="218" name="Google Shape;218;p12"/>
          <p:cNvSpPr txBox="1"/>
          <p:nvPr>
            <p:ph idx="1" type="body"/>
          </p:nvPr>
        </p:nvSpPr>
        <p:spPr>
          <a:xfrm>
            <a:off x="457200" y="1143000"/>
            <a:ext cx="8229600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r>
              <a:rPr b="1" lang="fr-FR">
                <a:solidFill>
                  <a:srgbClr val="FFC000"/>
                </a:solidFill>
              </a:rPr>
              <a:t> 1.  LE SYNDROME OBSTRUCTIF</a:t>
            </a:r>
            <a:r>
              <a:rPr lang="fr-FR">
                <a:solidFill>
                  <a:srgbClr val="FFC000"/>
                </a:solidFill>
              </a:rPr>
              <a:t> 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</a:t>
            </a:r>
            <a:r>
              <a:rPr lang="fr-FR">
                <a:solidFill>
                  <a:srgbClr val="FFC000"/>
                </a:solidFill>
              </a:rPr>
              <a:t>b. Chez adulte </a:t>
            </a:r>
            <a:r>
              <a:rPr lang="fr-FR"/>
              <a:t>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malformations acquises (déviation de la cloison nasale)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les traumatismes nasaux et les séquelles de celles-ci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corps étrangers nasaux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inflammation aiguë : - la rhinite aiguë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             - la sinusite aiguë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gonflements chroniques - rhinites chroniques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                                              - les sinusites chroniques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l’allergie nasale : - la rhinite allergique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polypose nasale allergique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tumeurs nasales : - bénigne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         -maligne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ct val="100000"/>
              <a:buFont typeface="Consolas"/>
              <a:buNone/>
            </a:pPr>
            <a:r>
              <a:rPr b="1" lang="fr-FR"/>
              <a:t>LES SYNDROMES RHINOLOGIQUES</a:t>
            </a:r>
            <a:br>
              <a:rPr lang="fr-FR"/>
            </a:br>
            <a:endParaRPr/>
          </a:p>
        </p:txBody>
      </p:sp>
      <p:sp>
        <p:nvSpPr>
          <p:cNvPr id="224" name="Google Shape;224;p13"/>
          <p:cNvSpPr txBox="1"/>
          <p:nvPr>
            <p:ph idx="1" type="body"/>
          </p:nvPr>
        </p:nvSpPr>
        <p:spPr>
          <a:xfrm>
            <a:off x="304800" y="838200"/>
            <a:ext cx="83820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b="1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2.  LE SYNDROME SÉCRÉTEUR (</a:t>
            </a:r>
            <a:r>
              <a:rPr b="1" i="1" lang="fr-FR">
                <a:solidFill>
                  <a:srgbClr val="FFC000"/>
                </a:solidFill>
              </a:rPr>
              <a:t>la rhinorrhée</a:t>
            </a:r>
            <a:r>
              <a:rPr b="1" lang="fr-FR">
                <a:solidFill>
                  <a:srgbClr val="FFC000"/>
                </a:solidFill>
              </a:rPr>
              <a:t>)</a:t>
            </a:r>
            <a:endParaRPr b="1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Des sécrétions nasales - la rhinorrhée - accompagne presque toutes les maladies du nez et elle peut être :	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>
                <a:solidFill>
                  <a:srgbClr val="FFC000"/>
                </a:solidFill>
              </a:rPr>
              <a:t> </a:t>
            </a:r>
            <a:r>
              <a:rPr b="1" i="1" lang="fr-FR">
                <a:solidFill>
                  <a:srgbClr val="FFC000"/>
                </a:solidFill>
              </a:rPr>
              <a:t>aqueuse séreuse </a:t>
            </a:r>
            <a:r>
              <a:rPr lang="fr-FR"/>
              <a:t>- hydrorhée : - la rhinite aiguë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                                - la rhinite allergique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        -cérébrospinal - rhinolicvorhée, fuite du liquide céphalorachidien - habituellement traumatique par une fracture de la lame criblée l’ethmoïde - est essentiellement unilatérale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     -la sinusite chronique.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b="1" i="1" lang="fr-FR">
                <a:solidFill>
                  <a:srgbClr val="FFC000"/>
                </a:solidFill>
              </a:rPr>
              <a:t>muco-purulentes</a:t>
            </a:r>
            <a:r>
              <a:rPr lang="fr-FR">
                <a:solidFill>
                  <a:srgbClr val="FFC000"/>
                </a:solidFill>
              </a:rPr>
              <a:t> </a:t>
            </a:r>
            <a:r>
              <a:rPr lang="fr-FR"/>
              <a:t>: - la rhinite aiguë suppurée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         - la rhinite chronique </a:t>
            </a:r>
            <a:br>
              <a:rPr lang="fr-FR"/>
            </a:br>
            <a:r>
              <a:rPr lang="fr-FR"/>
              <a:t>                                   - sinusite épanchement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b="1" i="1" lang="fr-FR">
                <a:solidFill>
                  <a:srgbClr val="FFC000"/>
                </a:solidFill>
              </a:rPr>
              <a:t> sanguinolente </a:t>
            </a:r>
            <a:r>
              <a:rPr lang="fr-FR"/>
              <a:t>- traumatisme 	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    - les tumeurs.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>
                <a:solidFill>
                  <a:srgbClr val="FFC000"/>
                </a:solidFill>
              </a:rPr>
              <a:t> </a:t>
            </a:r>
            <a:r>
              <a:rPr b="1" i="1" lang="fr-FR">
                <a:solidFill>
                  <a:srgbClr val="FFC000"/>
                </a:solidFill>
              </a:rPr>
              <a:t>croûteuse </a:t>
            </a:r>
            <a:r>
              <a:rPr lang="fr-FR">
                <a:solidFill>
                  <a:srgbClr val="FFC000"/>
                </a:solidFill>
              </a:rPr>
              <a:t>: </a:t>
            </a:r>
            <a:r>
              <a:rPr lang="fr-FR"/>
              <a:t>- la rhinite atrophique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- ozène.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243363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4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lang="fr-FR"/>
              <a:t>LES SYNDROMES RHINOLOGIQUES</a:t>
            </a:r>
            <a:endParaRPr/>
          </a:p>
        </p:txBody>
      </p:sp>
      <p:sp>
        <p:nvSpPr>
          <p:cNvPr id="230" name="Google Shape;230;p14"/>
          <p:cNvSpPr txBox="1"/>
          <p:nvPr>
            <p:ph idx="1" type="body"/>
          </p:nvPr>
        </p:nvSpPr>
        <p:spPr>
          <a:xfrm>
            <a:off x="304800" y="1295400"/>
            <a:ext cx="88392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b="1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3. LE SYNDROME SENSITIF</a:t>
            </a:r>
            <a:endParaRPr b="1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   a. </a:t>
            </a:r>
            <a:r>
              <a:rPr b="1" i="1" lang="fr-FR">
                <a:solidFill>
                  <a:srgbClr val="FFC000"/>
                </a:solidFill>
              </a:rPr>
              <a:t>Douleur</a:t>
            </a:r>
            <a:r>
              <a:rPr i="1" lang="fr-FR"/>
              <a:t> </a:t>
            </a:r>
            <a:r>
              <a:rPr lang="fr-FR"/>
              <a:t>: peut être spontanée ou provoquée.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Comme emplacement :-  au niveau de la pyramide nasale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                  - au niveau de la projection superficielle des sinus antérieure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                 - au niveau de la base du crâne, les sinusites postérieures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   b</a:t>
            </a:r>
            <a:r>
              <a:rPr i="1" lang="fr-FR">
                <a:solidFill>
                  <a:srgbClr val="FFC000"/>
                </a:solidFill>
              </a:rPr>
              <a:t>. </a:t>
            </a:r>
            <a:r>
              <a:rPr b="1" i="1" lang="fr-FR">
                <a:solidFill>
                  <a:srgbClr val="FFC000"/>
                </a:solidFill>
              </a:rPr>
              <a:t>Hyperesthésie</a:t>
            </a:r>
            <a:r>
              <a:rPr i="1" lang="fr-FR">
                <a:solidFill>
                  <a:srgbClr val="FFC000"/>
                </a:solidFill>
              </a:rPr>
              <a:t> </a:t>
            </a:r>
            <a:r>
              <a:rPr lang="fr-FR">
                <a:solidFill>
                  <a:srgbClr val="FFC000"/>
                </a:solidFill>
              </a:rPr>
              <a:t>: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Elle se produit dans l’inflammation aiguë et se manifeste par l’inconfort, même par de douleur à l’inspiration, plus intensément à l’air froid, éternuement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>
                <a:solidFill>
                  <a:srgbClr val="FFC000"/>
                </a:solidFill>
              </a:rPr>
              <a:t>c. Hypoesthésie ou l’anesthésie</a:t>
            </a:r>
            <a:r>
              <a:rPr i="1" lang="fr-FR"/>
              <a:t> :</a:t>
            </a:r>
            <a:r>
              <a:rPr lang="fr-FR"/>
              <a:t> </a:t>
            </a:r>
            <a:br>
              <a:rPr lang="fr-FR"/>
            </a:br>
            <a:r>
              <a:rPr lang="fr-FR"/>
              <a:t>Elle se produit dans la rhinite atrophique et ozène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 </a:t>
            </a:r>
            <a:endParaRPr/>
          </a:p>
          <a:p>
            <a:pPr indent="-22979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5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lang="fr-FR"/>
              <a:t>LES SYNDROMES RHINOLOGIQUES</a:t>
            </a:r>
            <a:endParaRPr/>
          </a:p>
        </p:txBody>
      </p:sp>
      <p:sp>
        <p:nvSpPr>
          <p:cNvPr id="236" name="Google Shape;236;p15"/>
          <p:cNvSpPr txBox="1"/>
          <p:nvPr>
            <p:ph idx="1" type="body"/>
          </p:nvPr>
        </p:nvSpPr>
        <p:spPr>
          <a:xfrm>
            <a:off x="304800" y="1066800"/>
            <a:ext cx="86106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b="1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4. LE SYNDROME SENSORIEL </a:t>
            </a:r>
            <a:r>
              <a:rPr lang="fr-FR">
                <a:solidFill>
                  <a:srgbClr val="FFC000"/>
                </a:solidFill>
              </a:rPr>
              <a:t>(</a:t>
            </a:r>
            <a:r>
              <a:rPr i="1" lang="fr-FR">
                <a:solidFill>
                  <a:srgbClr val="FFC000"/>
                </a:solidFill>
              </a:rPr>
              <a:t>olfactif</a:t>
            </a:r>
            <a:r>
              <a:rPr lang="fr-FR">
                <a:solidFill>
                  <a:srgbClr val="FFC000"/>
                </a:solidFill>
              </a:rPr>
              <a:t>)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Troubles olfactifs peuvent être quantitatives ou qualitatives.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b="1" lang="fr-FR">
                <a:solidFill>
                  <a:srgbClr val="FFC000"/>
                </a:solidFill>
              </a:rPr>
              <a:t>Troubles quantitatifs :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>
                <a:solidFill>
                  <a:srgbClr val="FFC000"/>
                </a:solidFill>
              </a:rPr>
              <a:t> </a:t>
            </a:r>
            <a:r>
              <a:rPr b="1" lang="fr-FR">
                <a:solidFill>
                  <a:srgbClr val="FFC000"/>
                </a:solidFill>
              </a:rPr>
              <a:t>hyposmie</a:t>
            </a:r>
            <a:endParaRPr b="1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b="1" lang="fr-FR">
                <a:solidFill>
                  <a:srgbClr val="FFC000"/>
                </a:solidFill>
              </a:rPr>
              <a:t>anosmie</a:t>
            </a:r>
            <a:r>
              <a:rPr lang="fr-FR">
                <a:solidFill>
                  <a:srgbClr val="FFC000"/>
                </a:solidFill>
              </a:rPr>
              <a:t> </a:t>
            </a:r>
            <a:r>
              <a:rPr lang="fr-FR"/>
              <a:t>peut qu’il ait causé rhinologique (l’obstruction nasale) ou neurologique (lésions de l’épithélium sensoriel ou de la conduction nerveuse) - la grippe, un traumatisme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b="1" lang="fr-FR">
                <a:solidFill>
                  <a:srgbClr val="FFC000"/>
                </a:solidFill>
              </a:rPr>
              <a:t> hyperosmie </a:t>
            </a:r>
            <a:r>
              <a:rPr lang="fr-FR"/>
              <a:t>– hystérie, enceintes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b="1" lang="fr-FR">
                <a:solidFill>
                  <a:srgbClr val="FFC000"/>
                </a:solidFill>
              </a:rPr>
              <a:t>Troubles qualitatifs </a:t>
            </a:r>
            <a:r>
              <a:rPr lang="fr-FR">
                <a:solidFill>
                  <a:srgbClr val="FFC000"/>
                </a:solidFill>
              </a:rPr>
              <a:t>: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b="1" lang="fr-FR">
                <a:solidFill>
                  <a:srgbClr val="FFC000"/>
                </a:solidFill>
              </a:rPr>
              <a:t> parosmie </a:t>
            </a:r>
            <a:r>
              <a:rPr lang="fr-FR"/>
              <a:t>- est la perception d’une odeur inexistante ou déformé - enceintes, l’épilepsie, l’hystérie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b="1" lang="fr-FR">
                <a:solidFill>
                  <a:srgbClr val="FFC000"/>
                </a:solidFill>
              </a:rPr>
              <a:t> cacosmie </a:t>
            </a:r>
            <a:r>
              <a:rPr b="1" lang="fr-FR"/>
              <a:t>- </a:t>
            </a:r>
            <a:r>
              <a:rPr lang="fr-FR"/>
              <a:t>est la perception d’une odeur désagréable, il peut qu’il soit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• subjective - est perçue uniquement par le patient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• objective - est perçue aussi de son entourage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/>
              <a:t>      </a:t>
            </a:r>
            <a:r>
              <a:rPr b="1" i="1" lang="fr-FR">
                <a:solidFill>
                  <a:srgbClr val="FFC000"/>
                </a:solidFill>
              </a:rPr>
              <a:t>Cacosmie</a:t>
            </a:r>
            <a:r>
              <a:rPr lang="fr-FR"/>
              <a:t> se produit principalement dans les sinusites chroniques surtout dans les odontopathiques, les rhinites atrophiques, ozènes, des corps étrangers négligés chez les enfants.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256936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lang="fr-FR"/>
              <a:t>LES SYNDROMES RHINOLOGIQUES</a:t>
            </a:r>
            <a:endParaRPr/>
          </a:p>
        </p:txBody>
      </p:sp>
      <p:sp>
        <p:nvSpPr>
          <p:cNvPr id="242" name="Google Shape;242;p16"/>
          <p:cNvSpPr txBox="1"/>
          <p:nvPr>
            <p:ph idx="1" type="body"/>
          </p:nvPr>
        </p:nvSpPr>
        <p:spPr>
          <a:xfrm>
            <a:off x="685800" y="1783560"/>
            <a:ext cx="80010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fr-FR">
                <a:solidFill>
                  <a:srgbClr val="FFC000"/>
                </a:solidFill>
              </a:rPr>
              <a:t>5. LE SYNDROME VASCULAIRE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    Elle se manifeste par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Char char="▪"/>
            </a:pPr>
            <a:r>
              <a:rPr lang="fr-FR">
                <a:solidFill>
                  <a:srgbClr val="FFC000"/>
                </a:solidFill>
              </a:rPr>
              <a:t> </a:t>
            </a:r>
            <a:r>
              <a:rPr b="1" i="1" lang="fr-FR">
                <a:solidFill>
                  <a:srgbClr val="FFC000"/>
                </a:solidFill>
              </a:rPr>
              <a:t>hyperémie</a:t>
            </a:r>
            <a:r>
              <a:rPr lang="fr-FR">
                <a:solidFill>
                  <a:srgbClr val="FFC000"/>
                </a:solidFill>
              </a:rPr>
              <a:t> </a:t>
            </a:r>
            <a:r>
              <a:rPr lang="fr-FR"/>
              <a:t>de la muqueuse - congestion - inflammation aiguë du nez et / ou rhinosinusale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Char char="▪"/>
            </a:pPr>
            <a:r>
              <a:rPr lang="fr-FR"/>
              <a:t> </a:t>
            </a:r>
            <a:r>
              <a:rPr b="1" i="1" lang="fr-FR">
                <a:solidFill>
                  <a:srgbClr val="FFC000"/>
                </a:solidFill>
              </a:rPr>
              <a:t>anémie</a:t>
            </a:r>
            <a:r>
              <a:rPr lang="fr-FR">
                <a:solidFill>
                  <a:srgbClr val="FFC000"/>
                </a:solidFill>
              </a:rPr>
              <a:t> </a:t>
            </a:r>
            <a:r>
              <a:rPr lang="fr-FR"/>
              <a:t>de la muqueuse dans les rhinites atrophiques nasales après l’utilisation des vasoconstricteurs locaux</a:t>
            </a:r>
            <a:endParaRPr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7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lang="fr-FR"/>
              <a:t>L’ÉPISTAXIS</a:t>
            </a:r>
            <a:endParaRPr/>
          </a:p>
        </p:txBody>
      </p:sp>
      <p:sp>
        <p:nvSpPr>
          <p:cNvPr id="248" name="Google Shape;248;p17"/>
          <p:cNvSpPr txBox="1"/>
          <p:nvPr>
            <p:ph idx="1" type="body"/>
          </p:nvPr>
        </p:nvSpPr>
        <p:spPr>
          <a:xfrm>
            <a:off x="381000" y="1295400"/>
            <a:ext cx="8305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Font typeface="Noto Sans Symbols"/>
              <a:buChar char="⮚"/>
            </a:pPr>
            <a:r>
              <a:rPr b="1" i="1" lang="fr-FR">
                <a:solidFill>
                  <a:srgbClr val="FFC000"/>
                </a:solidFill>
              </a:rPr>
              <a:t>Une hémorragie </a:t>
            </a:r>
            <a:r>
              <a:rPr lang="fr-FR"/>
              <a:t>ayant le point de départ dans les cavités nasales et lʼextériorisation au niveau des: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Char char="▪"/>
            </a:pPr>
            <a:r>
              <a:rPr lang="fr-FR"/>
              <a:t> orifice narinaire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Char char="▪"/>
            </a:pPr>
            <a:r>
              <a:rPr lang="fr-FR"/>
              <a:t> orifice des choanes </a:t>
            </a:r>
            <a:r>
              <a:rPr lang="fr-FR" sz="2600"/>
              <a:t>(lorsque le patient est en décubitus dorsal – le sang s’écoule dans le nasopharynx)</a:t>
            </a:r>
            <a:endParaRPr sz="2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Char char="▪"/>
            </a:pPr>
            <a:r>
              <a:rPr b="1" i="1" lang="fr-FR">
                <a:solidFill>
                  <a:srgbClr val="FFC000"/>
                </a:solidFill>
              </a:rPr>
              <a:t>Épistaxis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>
                <a:solidFill>
                  <a:srgbClr val="FFC000"/>
                </a:solidFill>
              </a:rPr>
              <a:t>         </a:t>
            </a:r>
            <a:r>
              <a:rPr i="1" lang="fr-FR">
                <a:solidFill>
                  <a:srgbClr val="FFC000"/>
                </a:solidFill>
              </a:rPr>
              <a:t>est souvent rencontré dans la pathologie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Char char="▪"/>
            </a:pPr>
            <a:r>
              <a:rPr b="1" i="1" lang="fr-FR">
                <a:solidFill>
                  <a:srgbClr val="FFC000"/>
                </a:solidFill>
              </a:rPr>
              <a:t>la forme bénigne </a:t>
            </a:r>
            <a:r>
              <a:rPr b="1" i="1" lang="fr-FR"/>
              <a:t>-</a:t>
            </a:r>
            <a:r>
              <a:rPr lang="fr-FR"/>
              <a:t> légère représente environ </a:t>
            </a:r>
            <a:r>
              <a:rPr lang="fr-FR">
                <a:solidFill>
                  <a:srgbClr val="FFC000"/>
                </a:solidFill>
              </a:rPr>
              <a:t>90 %</a:t>
            </a:r>
            <a:r>
              <a:rPr lang="fr-FR"/>
              <a:t> des cas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Char char="▪"/>
            </a:pPr>
            <a:r>
              <a:rPr b="1" i="1" lang="fr-FR">
                <a:solidFill>
                  <a:srgbClr val="FFC000"/>
                </a:solidFill>
              </a:rPr>
              <a:t>la forme grave </a:t>
            </a:r>
            <a:r>
              <a:rPr b="1" i="1" lang="fr-FR"/>
              <a:t>- </a:t>
            </a:r>
            <a:r>
              <a:rPr lang="fr-FR"/>
              <a:t>met en danger la vie du patient</a:t>
            </a:r>
            <a:endParaRPr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8"/>
          <p:cNvSpPr txBox="1"/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ct val="100000"/>
              <a:buFont typeface="Consolas"/>
              <a:buNone/>
            </a:pPr>
            <a:r>
              <a:rPr b="1" lang="fr-FR"/>
              <a:t>  Éléments d’anatomie :</a:t>
            </a:r>
            <a:br>
              <a:rPr lang="fr-FR"/>
            </a:br>
            <a:endParaRPr/>
          </a:p>
        </p:txBody>
      </p:sp>
      <p:sp>
        <p:nvSpPr>
          <p:cNvPr id="254" name="Google Shape;254;p18"/>
          <p:cNvSpPr txBox="1"/>
          <p:nvPr>
            <p:ph idx="1" type="body"/>
          </p:nvPr>
        </p:nvSpPr>
        <p:spPr>
          <a:xfrm>
            <a:off x="457200" y="914400"/>
            <a:ext cx="85344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La vascularisation  implique deux systèmes carotidiens :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Char char="▪"/>
            </a:pPr>
            <a:r>
              <a:rPr lang="fr-FR" sz="1600"/>
              <a:t> </a:t>
            </a:r>
            <a:r>
              <a:rPr b="1" i="1" lang="fr-FR" sz="1600"/>
              <a:t>artère carotide externe </a:t>
            </a:r>
            <a:r>
              <a:rPr lang="fr-FR" sz="1600"/>
              <a:t>- </a:t>
            </a:r>
            <a:r>
              <a:rPr b="1" lang="fr-FR" sz="1600">
                <a:solidFill>
                  <a:srgbClr val="FFC000"/>
                </a:solidFill>
              </a:rPr>
              <a:t>par </a:t>
            </a:r>
            <a:r>
              <a:rPr b="1" i="1" lang="fr-FR" sz="1600" u="sng">
                <a:solidFill>
                  <a:srgbClr val="FFC000"/>
                </a:solidFill>
              </a:rPr>
              <a:t>l’artère sphéno-palatine </a:t>
            </a:r>
            <a:r>
              <a:rPr lang="fr-FR" sz="1600"/>
              <a:t>(branche terminale de l’artère maxillaire interne) fournit la vascularisation de la majorité de la cavité nasale 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Char char="▪"/>
            </a:pPr>
            <a:r>
              <a:rPr lang="fr-FR" sz="1600"/>
              <a:t> </a:t>
            </a:r>
            <a:r>
              <a:rPr b="1" i="1" lang="fr-FR" sz="1600"/>
              <a:t>artère carotide interne </a:t>
            </a:r>
            <a:r>
              <a:rPr lang="fr-FR" sz="1600"/>
              <a:t>– par </a:t>
            </a:r>
            <a:r>
              <a:rPr b="1" i="1" lang="fr-FR" sz="1600" u="sng">
                <a:solidFill>
                  <a:srgbClr val="FFC000"/>
                </a:solidFill>
              </a:rPr>
              <a:t>les artères ethmoïdales antérieure et postérieure</a:t>
            </a:r>
            <a:r>
              <a:rPr lang="fr-FR" sz="1600"/>
              <a:t>, branches de l’artère ophtalmique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b="1" i="1" lang="fr-FR" sz="1600">
                <a:solidFill>
                  <a:srgbClr val="FFC000"/>
                </a:solidFill>
              </a:rPr>
              <a:t>Les veines </a:t>
            </a:r>
            <a:r>
              <a:rPr lang="fr-FR" sz="1600"/>
              <a:t>- drainent de sang :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      </a:t>
            </a:r>
            <a:r>
              <a:rPr lang="fr-FR" sz="1600">
                <a:solidFill>
                  <a:srgbClr val="FFC000"/>
                </a:solidFill>
              </a:rPr>
              <a:t>- </a:t>
            </a:r>
            <a:r>
              <a:rPr i="1" lang="fr-FR" sz="1600">
                <a:solidFill>
                  <a:srgbClr val="FFC000"/>
                </a:solidFill>
              </a:rPr>
              <a:t>veine angulair</a:t>
            </a:r>
            <a:r>
              <a:rPr i="1" lang="fr-FR" sz="1600"/>
              <a:t>e </a:t>
            </a:r>
            <a:r>
              <a:rPr lang="fr-FR" sz="1600"/>
              <a:t>: partie antérieure 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      </a:t>
            </a:r>
            <a:r>
              <a:rPr lang="fr-FR" sz="1600">
                <a:solidFill>
                  <a:srgbClr val="FFC000"/>
                </a:solidFill>
              </a:rPr>
              <a:t>- </a:t>
            </a:r>
            <a:r>
              <a:rPr i="1" lang="fr-FR" sz="1600">
                <a:solidFill>
                  <a:srgbClr val="FFC000"/>
                </a:solidFill>
              </a:rPr>
              <a:t>plexus ptérygoïdien</a:t>
            </a:r>
            <a:r>
              <a:rPr lang="fr-FR" sz="1600">
                <a:solidFill>
                  <a:srgbClr val="FFC000"/>
                </a:solidFill>
              </a:rPr>
              <a:t> </a:t>
            </a:r>
            <a:r>
              <a:rPr lang="fr-FR" sz="1600"/>
              <a:t>- partie arrière 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lang="fr-FR" sz="1600"/>
              <a:t>       - </a:t>
            </a:r>
            <a:r>
              <a:rPr i="1" lang="fr-FR" sz="1600">
                <a:solidFill>
                  <a:srgbClr val="FFC000"/>
                </a:solidFill>
              </a:rPr>
              <a:t>veines ophtalmiques</a:t>
            </a:r>
            <a:r>
              <a:rPr lang="fr-FR" sz="1600">
                <a:solidFill>
                  <a:srgbClr val="FFC000"/>
                </a:solidFill>
              </a:rPr>
              <a:t> </a:t>
            </a:r>
            <a:r>
              <a:rPr lang="fr-FR" sz="1600"/>
              <a:t>- la partie supérieure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None/>
            </a:pPr>
            <a:r>
              <a:rPr b="1" lang="fr-FR" sz="1600">
                <a:solidFill>
                  <a:srgbClr val="FFC000"/>
                </a:solidFill>
              </a:rPr>
              <a:t>Tache vasculaire (Kiesselbach)</a:t>
            </a:r>
            <a:r>
              <a:rPr lang="fr-FR" sz="1600">
                <a:solidFill>
                  <a:srgbClr val="FFC000"/>
                </a:solidFill>
              </a:rPr>
              <a:t>,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Char char="▪"/>
            </a:pPr>
            <a:r>
              <a:rPr lang="fr-FR" sz="1600"/>
              <a:t> zone anastomotique où les vaisseaux sont superficiels et ont des parois minces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Char char="▪"/>
            </a:pPr>
            <a:r>
              <a:rPr lang="fr-FR" sz="1600"/>
              <a:t> situe antéro-inférieure de la cloison nasale, à 1 jusqu’à 1,5 mm de l’épine nasale postérieure (orifice narinaire)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Font typeface="Noto Sans Symbols"/>
              <a:buChar char="⮚"/>
            </a:pPr>
            <a:r>
              <a:rPr lang="fr-FR" sz="1600"/>
              <a:t> au niveau de cornet inférieur se trouvent des </a:t>
            </a:r>
            <a:r>
              <a:rPr b="1" lang="fr-FR" sz="1600"/>
              <a:t>réservoirs veineux </a:t>
            </a:r>
            <a:r>
              <a:rPr lang="fr-FR" sz="1600"/>
              <a:t>du tissu vasculaire érectile - </a:t>
            </a:r>
            <a:r>
              <a:rPr i="1" lang="fr-FR" sz="1600" u="sng"/>
              <a:t>la </a:t>
            </a:r>
            <a:r>
              <a:rPr b="1" i="1" lang="fr-FR" sz="1600" u="sng">
                <a:solidFill>
                  <a:srgbClr val="FFC000"/>
                </a:solidFill>
              </a:rPr>
              <a:t>source important d’hémorragie</a:t>
            </a:r>
            <a:r>
              <a:rPr b="1" lang="fr-FR" sz="1600">
                <a:solidFill>
                  <a:srgbClr val="FFC000"/>
                </a:solidFill>
              </a:rPr>
              <a:t> </a:t>
            </a:r>
            <a:r>
              <a:rPr lang="fr-FR" sz="1600"/>
              <a:t>particulièrement dans les traumatismes chirurgicaux ou accidentels</a:t>
            </a:r>
            <a:endParaRPr sz="1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520"/>
              <a:buFont typeface="Noto Sans Symbols"/>
              <a:buChar char="⮚"/>
            </a:pPr>
            <a:r>
              <a:rPr lang="fr-FR" sz="1600"/>
              <a:t> les vaseux de la muqueuse nasale sont </a:t>
            </a:r>
            <a:r>
              <a:rPr b="1" lang="fr-FR" sz="1600"/>
              <a:t>pauvres en tissu contractile </a:t>
            </a:r>
            <a:r>
              <a:rPr lang="fr-FR" sz="1600"/>
              <a:t>et se dilate facilement à l’augmentation de la tension artérielle systémique</a:t>
            </a:r>
            <a:endParaRPr sz="1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9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t/>
            </a:r>
            <a:endParaRPr/>
          </a:p>
        </p:txBody>
      </p:sp>
      <p:sp>
        <p:nvSpPr>
          <p:cNvPr id="260" name="Google Shape;260;p19"/>
          <p:cNvSpPr txBox="1"/>
          <p:nvPr>
            <p:ph idx="1" type="body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61925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0"/>
          <p:cNvSpPr txBox="1"/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ct val="100000"/>
              <a:buFont typeface="Consolas"/>
              <a:buNone/>
            </a:pPr>
            <a:r>
              <a:rPr b="1" lang="fr-FR"/>
              <a:t>  L’ÉPISTAXIS : CLASSIFICATION </a:t>
            </a:r>
            <a:br>
              <a:rPr lang="fr-FR"/>
            </a:br>
            <a:endParaRPr/>
          </a:p>
        </p:txBody>
      </p:sp>
      <p:sp>
        <p:nvSpPr>
          <p:cNvPr id="266" name="Google Shape;266;p20"/>
          <p:cNvSpPr txBox="1"/>
          <p:nvPr>
            <p:ph idx="1" type="body"/>
          </p:nvPr>
        </p:nvSpPr>
        <p:spPr>
          <a:xfrm>
            <a:off x="457200" y="1371600"/>
            <a:ext cx="8229600" cy="4754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fr-FR">
                <a:solidFill>
                  <a:srgbClr val="FFC000"/>
                </a:solidFill>
              </a:rPr>
              <a:t> 1. Après la localisation :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Font typeface="Noto Sans Symbols"/>
              <a:buChar char="▪"/>
            </a:pPr>
            <a:r>
              <a:rPr b="1" i="1" lang="fr-FR">
                <a:solidFill>
                  <a:srgbClr val="FFC000"/>
                </a:solidFill>
              </a:rPr>
              <a:t>épistaxis antérieure </a:t>
            </a:r>
            <a:r>
              <a:rPr b="1" i="1" lang="fr-FR"/>
              <a:t>:</a:t>
            </a:r>
            <a:r>
              <a:rPr lang="fr-FR"/>
              <a:t> à partir de la tâche vasculaire - est habituellement </a:t>
            </a:r>
            <a:r>
              <a:rPr b="1" i="1" lang="fr-FR"/>
              <a:t>bénigne</a:t>
            </a: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Font typeface="Noto Sans Symbols"/>
              <a:buChar char="▪"/>
            </a:pPr>
            <a:r>
              <a:rPr lang="fr-FR"/>
              <a:t> </a:t>
            </a:r>
            <a:r>
              <a:rPr b="1" i="1" lang="fr-FR">
                <a:solidFill>
                  <a:srgbClr val="FFC000"/>
                </a:solidFill>
              </a:rPr>
              <a:t>épistaxis postérieure </a:t>
            </a:r>
            <a:r>
              <a:rPr b="1" i="1" lang="fr-FR"/>
              <a:t>:</a:t>
            </a:r>
            <a:r>
              <a:rPr lang="fr-FR"/>
              <a:t> lésion de l’artère sphéno-palatine - est généralement </a:t>
            </a:r>
            <a:r>
              <a:rPr b="1" i="1" lang="fr-FR"/>
              <a:t>plus grave </a:t>
            </a:r>
            <a:endParaRPr b="1" i="1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Font typeface="Noto Sans Symbols"/>
              <a:buChar char="▪"/>
            </a:pPr>
            <a:r>
              <a:rPr lang="fr-FR"/>
              <a:t> </a:t>
            </a:r>
            <a:r>
              <a:rPr b="1" i="1" lang="fr-FR">
                <a:solidFill>
                  <a:srgbClr val="FFC000"/>
                </a:solidFill>
              </a:rPr>
              <a:t>épistaxis diffuse </a:t>
            </a:r>
            <a:r>
              <a:rPr b="1" i="1" lang="fr-FR"/>
              <a:t>:</a:t>
            </a:r>
            <a:r>
              <a:rPr lang="fr-FR"/>
              <a:t>„en toile” - dans de nombreux petits vaisseaux - est fréquente dans les </a:t>
            </a:r>
            <a:r>
              <a:rPr b="1" lang="fr-FR"/>
              <a:t>troubles hématologiques</a:t>
            </a:r>
            <a:endParaRPr b="1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 </a:t>
            </a:r>
            <a:endParaRPr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1"/>
          <p:cNvSpPr txBox="1"/>
          <p:nvPr>
            <p:ph type="title"/>
          </p:nvPr>
        </p:nvSpPr>
        <p:spPr>
          <a:xfrm>
            <a:off x="914400" y="228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lang="fr-FR"/>
              <a:t>L’ÉPISTAXIS : CLASSIFICATION</a:t>
            </a:r>
            <a:endParaRPr/>
          </a:p>
        </p:txBody>
      </p:sp>
      <p:sp>
        <p:nvSpPr>
          <p:cNvPr id="272" name="Google Shape;272;p21"/>
          <p:cNvSpPr txBox="1"/>
          <p:nvPr>
            <p:ph idx="1" type="body"/>
          </p:nvPr>
        </p:nvSpPr>
        <p:spPr>
          <a:xfrm>
            <a:off x="457200" y="990600"/>
            <a:ext cx="82296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     2. Après étiologie</a:t>
            </a:r>
            <a:r>
              <a:rPr b="1" lang="fr-FR"/>
              <a:t>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     a. L’épistaxis de cause locale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b="1" i="1" lang="fr-FR">
                <a:solidFill>
                  <a:srgbClr val="FFC000"/>
                </a:solidFill>
              </a:rPr>
              <a:t>L’épistaxis idiopathique juvénile</a:t>
            </a:r>
            <a:r>
              <a:rPr b="1" lang="fr-FR">
                <a:solidFill>
                  <a:srgbClr val="FFC000"/>
                </a:solidFill>
              </a:rPr>
              <a:t> </a:t>
            </a:r>
            <a:r>
              <a:rPr lang="fr-FR"/>
              <a:t>- se produisent chez les enfants et les adolescents étant un saignement répété dans des circonstances variées, parfois sans une cause identifiable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                              - est due à une fragilité vasculaire constitutionnelle, pas grave et disparaît spontanément à l’âge de 20 ans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b="1" i="1" lang="fr-FR">
                <a:solidFill>
                  <a:srgbClr val="FFC000"/>
                </a:solidFill>
              </a:rPr>
              <a:t>Traumatisme nasal</a:t>
            </a:r>
            <a:r>
              <a:rPr b="1" lang="fr-FR">
                <a:solidFill>
                  <a:srgbClr val="FFC000"/>
                </a:solidFill>
              </a:rPr>
              <a:t> </a:t>
            </a:r>
            <a:r>
              <a:rPr lang="fr-FR"/>
              <a:t>- accidentels ou chirurgicaux - produisent généralement épistaxis massive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b="1" i="1" lang="fr-FR">
                <a:solidFill>
                  <a:srgbClr val="FFC000"/>
                </a:solidFill>
              </a:rPr>
              <a:t>Les</a:t>
            </a:r>
            <a:r>
              <a:rPr b="1" lang="fr-FR">
                <a:solidFill>
                  <a:srgbClr val="FFC000"/>
                </a:solidFill>
              </a:rPr>
              <a:t> </a:t>
            </a:r>
            <a:r>
              <a:rPr b="1" i="1" lang="fr-FR">
                <a:solidFill>
                  <a:srgbClr val="FFC000"/>
                </a:solidFill>
              </a:rPr>
              <a:t>corps étrangers</a:t>
            </a:r>
            <a:r>
              <a:rPr b="1" lang="fr-FR">
                <a:solidFill>
                  <a:srgbClr val="FFC000"/>
                </a:solidFill>
              </a:rPr>
              <a:t> </a:t>
            </a:r>
            <a:r>
              <a:rPr b="1" i="1" lang="fr-FR">
                <a:solidFill>
                  <a:srgbClr val="FFC000"/>
                </a:solidFill>
              </a:rPr>
              <a:t>nasaux</a:t>
            </a:r>
            <a:r>
              <a:rPr i="1" lang="fr-FR">
                <a:solidFill>
                  <a:srgbClr val="FFC000"/>
                </a:solidFill>
              </a:rPr>
              <a:t> </a:t>
            </a:r>
            <a:r>
              <a:rPr lang="fr-FR"/>
              <a:t>- produisent habituellement des épistaxis unilatérales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b="1" i="1" lang="fr-FR">
                <a:solidFill>
                  <a:srgbClr val="FFC000"/>
                </a:solidFill>
              </a:rPr>
              <a:t>L’inflammation aiguë ou chronique</a:t>
            </a:r>
            <a:r>
              <a:rPr b="1" lang="fr-FR">
                <a:solidFill>
                  <a:srgbClr val="FFC000"/>
                </a:solidFill>
              </a:rPr>
              <a:t> </a:t>
            </a:r>
            <a:r>
              <a:rPr lang="fr-FR"/>
              <a:t>de la muqueuse - non spécifique ou spécifique produit épistaxis par une vasodilatation locale, quelquefois par une ulcération de la muqueuse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b="1" i="1" lang="fr-FR">
                <a:solidFill>
                  <a:srgbClr val="FFC000"/>
                </a:solidFill>
              </a:rPr>
              <a:t>Tumeurs nasales</a:t>
            </a:r>
            <a:r>
              <a:rPr lang="fr-FR">
                <a:solidFill>
                  <a:srgbClr val="FFC000"/>
                </a:solidFill>
              </a:rPr>
              <a:t> :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- polype saignement du septum nasal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- fibrome nasopharyngé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- maligne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b="1" i="1" lang="fr-FR">
                <a:solidFill>
                  <a:srgbClr val="FFC000"/>
                </a:solidFill>
              </a:rPr>
              <a:t>Perforation trophique du septum nasal.</a:t>
            </a:r>
            <a:endParaRPr b="1" i="1">
              <a:solidFill>
                <a:srgbClr val="FFC000"/>
              </a:solidFill>
            </a:endParaRPr>
          </a:p>
          <a:p>
            <a:pPr indent="-22979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b="1" i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2"/>
          <p:cNvSpPr txBox="1"/>
          <p:nvPr>
            <p:ph type="title"/>
          </p:nvPr>
        </p:nvSpPr>
        <p:spPr>
          <a:xfrm>
            <a:off x="914400" y="2286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lang="fr-FR"/>
              <a:t>L’ÉPISTAXIS : CLASSIFICATION</a:t>
            </a:r>
            <a:endParaRPr/>
          </a:p>
        </p:txBody>
      </p:sp>
      <p:sp>
        <p:nvSpPr>
          <p:cNvPr id="278" name="Google Shape;278;p22"/>
          <p:cNvSpPr txBox="1"/>
          <p:nvPr>
            <p:ph idx="1" type="body"/>
          </p:nvPr>
        </p:nvSpPr>
        <p:spPr>
          <a:xfrm>
            <a:off x="457200" y="990600"/>
            <a:ext cx="845820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  </a:t>
            </a:r>
            <a:r>
              <a:rPr b="1" lang="fr-FR">
                <a:solidFill>
                  <a:srgbClr val="FFC000"/>
                </a:solidFill>
              </a:rPr>
              <a:t>b. L’épistaxis de cause générale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▪"/>
            </a:pPr>
            <a:r>
              <a:rPr b="1" lang="fr-FR">
                <a:solidFill>
                  <a:srgbClr val="FFC000"/>
                </a:solidFill>
              </a:rPr>
              <a:t>      </a:t>
            </a:r>
            <a:r>
              <a:rPr b="1" i="1" lang="fr-FR" u="sng">
                <a:solidFill>
                  <a:srgbClr val="FFC000"/>
                </a:solidFill>
              </a:rPr>
              <a:t>les maladies cardiovasculaires :</a:t>
            </a:r>
            <a:br>
              <a:rPr lang="fr-FR"/>
            </a:br>
            <a:r>
              <a:rPr lang="fr-FR"/>
              <a:t>         - l’hypertension artérielle est la cause la plus fréquente d’épistaxis chez les adultes en général </a:t>
            </a:r>
            <a:br>
              <a:rPr lang="fr-FR"/>
            </a:br>
            <a:r>
              <a:rPr lang="fr-FR"/>
              <a:t>         - maladie cardiaque décompensée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▪"/>
            </a:pPr>
            <a:r>
              <a:rPr b="1" i="1" lang="fr-FR" u="sng">
                <a:solidFill>
                  <a:srgbClr val="FFC000"/>
                </a:solidFill>
              </a:rPr>
              <a:t>les maladies hépatiques</a:t>
            </a:r>
            <a:r>
              <a:rPr lang="fr-FR"/>
              <a:t> :  -hépatite chronique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                      -cirrhose hépatique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▪"/>
            </a:pPr>
            <a:r>
              <a:rPr b="1" lang="fr-FR">
                <a:solidFill>
                  <a:srgbClr val="FFC000"/>
                </a:solidFill>
              </a:rPr>
              <a:t> </a:t>
            </a:r>
            <a:r>
              <a:rPr b="1" i="1" lang="fr-FR" u="sng">
                <a:solidFill>
                  <a:srgbClr val="FFC000"/>
                </a:solidFill>
              </a:rPr>
              <a:t>maladies et troubles de la coagulation du sang :</a:t>
            </a:r>
            <a:endParaRPr b="1" i="1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                - l’hémophilie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                - la leucémie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               - des cas d’agranulocytose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               - thrombocytopénie et trombocythopathies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▪"/>
            </a:pPr>
            <a:r>
              <a:rPr lang="fr-FR"/>
              <a:t> </a:t>
            </a:r>
            <a:r>
              <a:rPr b="1" i="1" lang="fr-FR" u="sng">
                <a:solidFill>
                  <a:srgbClr val="FFC000"/>
                </a:solidFill>
              </a:rPr>
              <a:t>maladies rénales </a:t>
            </a:r>
            <a:r>
              <a:rPr lang="fr-FR"/>
              <a:t>: -insuffisance rénale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        - néphrite interstitielle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        - télangiectasie de famille (Randu-Osler)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▪"/>
            </a:pPr>
            <a:r>
              <a:rPr i="1" lang="fr-FR" u="sng"/>
              <a:t> </a:t>
            </a:r>
            <a:r>
              <a:rPr b="1" i="1" lang="fr-FR" u="sng">
                <a:solidFill>
                  <a:srgbClr val="FFC000"/>
                </a:solidFill>
              </a:rPr>
              <a:t>le traitement avec des anticoagulants</a:t>
            </a:r>
            <a:endParaRPr b="1" i="1" u="sng">
              <a:solidFill>
                <a:srgbClr val="FFC000"/>
              </a:solidFill>
            </a:endParaRPr>
          </a:p>
          <a:p>
            <a:pPr indent="-202644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3"/>
          <p:cNvSpPr txBox="1"/>
          <p:nvPr>
            <p:ph type="title"/>
          </p:nvPr>
        </p:nvSpPr>
        <p:spPr>
          <a:xfrm>
            <a:off x="533400" y="381000"/>
            <a:ext cx="8610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ct val="111111"/>
              <a:buFont typeface="Consolas"/>
              <a:buNone/>
            </a:pPr>
            <a:r>
              <a:rPr b="1" lang="fr-FR"/>
              <a:t>L’ÉPISTAXIS</a:t>
            </a:r>
            <a:br>
              <a:rPr b="1" lang="fr-FR"/>
            </a:br>
            <a:r>
              <a:rPr b="1" lang="fr-FR"/>
              <a:t> </a:t>
            </a:r>
            <a:r>
              <a:rPr b="1" lang="fr-FR" sz="3600"/>
              <a:t>DIAGNOSTIC POSITIF</a:t>
            </a:r>
            <a:endParaRPr sz="3600"/>
          </a:p>
        </p:txBody>
      </p:sp>
      <p:sp>
        <p:nvSpPr>
          <p:cNvPr id="284" name="Google Shape;284;p23"/>
          <p:cNvSpPr txBox="1"/>
          <p:nvPr>
            <p:ph idx="1" type="body"/>
          </p:nvPr>
        </p:nvSpPr>
        <p:spPr>
          <a:xfrm>
            <a:off x="457200" y="914400"/>
            <a:ext cx="86868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Se compose de plusieurs étapes :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a.  L’anamnèse</a:t>
            </a:r>
            <a:r>
              <a:rPr lang="fr-FR"/>
              <a:t>: vous devez spécifier le début de l’hémorragie, la quantité et la fréquence des hémorragies (Attention à l’exagération !), éventuellement, les affections généraux ou familiaux connues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>
                <a:solidFill>
                  <a:srgbClr val="FFC000"/>
                </a:solidFill>
              </a:rPr>
              <a:t>b.  </a:t>
            </a:r>
            <a:r>
              <a:rPr b="1" lang="fr-FR">
                <a:solidFill>
                  <a:srgbClr val="FFC000"/>
                </a:solidFill>
              </a:rPr>
              <a:t>L’examen physique </a:t>
            </a:r>
            <a:r>
              <a:rPr lang="fr-FR"/>
              <a:t>comprend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      1. </a:t>
            </a:r>
            <a:r>
              <a:rPr b="1" i="1" lang="fr-FR" u="sng">
                <a:solidFill>
                  <a:srgbClr val="FFC000"/>
                </a:solidFill>
              </a:rPr>
              <a:t>examen clinique général </a:t>
            </a:r>
            <a:r>
              <a:rPr lang="fr-FR"/>
              <a:t>- définit la quantité de sang perdu, pouls, la pression artérielle, l’apparence de la peau, l’apparence de la peau palmier et, s’il est possible, les affections générales associées.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</a:t>
            </a:r>
            <a:r>
              <a:rPr b="1" lang="fr-FR">
                <a:solidFill>
                  <a:srgbClr val="FFC000"/>
                </a:solidFill>
              </a:rPr>
              <a:t>2. </a:t>
            </a:r>
            <a:r>
              <a:rPr b="1" i="1" lang="fr-FR" u="sng">
                <a:solidFill>
                  <a:srgbClr val="FFC000"/>
                </a:solidFill>
              </a:rPr>
              <a:t>examen clinique ORL </a:t>
            </a:r>
            <a:r>
              <a:rPr lang="fr-FR"/>
              <a:t>comprend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▪"/>
            </a:pPr>
            <a:r>
              <a:rPr lang="fr-FR"/>
              <a:t> rhinoscopie antérieure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▪"/>
            </a:pPr>
            <a:r>
              <a:rPr lang="fr-FR"/>
              <a:t> rhinoscopie postérieure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▪"/>
            </a:pPr>
            <a:r>
              <a:rPr lang="fr-FR"/>
              <a:t> l’endoscopie nasale - préféré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L’examen physique ORL déterminera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</a:t>
            </a:r>
            <a:r>
              <a:rPr lang="fr-FR">
                <a:solidFill>
                  <a:srgbClr val="FFC000"/>
                </a:solidFill>
              </a:rPr>
              <a:t>- localisation d’hémorragie 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>
                <a:solidFill>
                  <a:srgbClr val="FFC000"/>
                </a:solidFill>
              </a:rPr>
              <a:t>                            - taux d’hémorragie 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>
                <a:solidFill>
                  <a:srgbClr val="FFC000"/>
                </a:solidFill>
              </a:rPr>
              <a:t>                            - s’il y a des causes locales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b="1" i="1" lang="fr-FR" sz="3600" u="sng">
                <a:solidFill>
                  <a:srgbClr val="FFC000"/>
                </a:solidFill>
              </a:rPr>
              <a:t>En conclusion </a:t>
            </a:r>
            <a:r>
              <a:rPr lang="fr-FR"/>
              <a:t>- il est idéal qu’on établit un diagnostic étiologique. Pour compléter le diagnostic positif est préférable de recourir à consultes disciplinaires internes, de la neurologie et d’autres spécialités selon le cas.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243363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4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lang="fr-FR"/>
              <a:t>L’ÉPISTAXIS</a:t>
            </a:r>
            <a:endParaRPr/>
          </a:p>
        </p:txBody>
      </p:sp>
      <p:sp>
        <p:nvSpPr>
          <p:cNvPr id="290" name="Google Shape;290;p24"/>
          <p:cNvSpPr txBox="1"/>
          <p:nvPr>
            <p:ph idx="1" type="body"/>
          </p:nvPr>
        </p:nvSpPr>
        <p:spPr>
          <a:xfrm>
            <a:off x="457200" y="12954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fr-FR"/>
              <a:t>     </a:t>
            </a:r>
            <a:r>
              <a:rPr b="1" lang="fr-FR">
                <a:solidFill>
                  <a:srgbClr val="FFC000"/>
                </a:solidFill>
              </a:rPr>
              <a:t>TRAITEMENT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Font typeface="Noto Sans Symbols"/>
              <a:buChar char="⮚"/>
            </a:pPr>
            <a:r>
              <a:rPr lang="fr-FR"/>
              <a:t>Les buts du traitement sont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>
                <a:solidFill>
                  <a:srgbClr val="FFC000"/>
                </a:solidFill>
              </a:rPr>
              <a:t>   1. l’arrêt d’hémorragie 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>
                <a:solidFill>
                  <a:srgbClr val="FFC000"/>
                </a:solidFill>
              </a:rPr>
              <a:t>   2. traitements l’affection causale 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>
                <a:solidFill>
                  <a:srgbClr val="FFC000"/>
                </a:solidFill>
              </a:rPr>
              <a:t>   3. traitement du choc hémorragiqu-lorsqu’il y a</a:t>
            </a:r>
            <a:endParaRPr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5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4000"/>
              <a:buFont typeface="Consolas"/>
              <a:buNone/>
            </a:pPr>
            <a:r>
              <a:rPr b="1" lang="fr-FR">
                <a:solidFill>
                  <a:srgbClr val="FFC000"/>
                </a:solidFill>
              </a:rPr>
              <a:t>TRAITEMENT</a:t>
            </a:r>
            <a:endParaRPr>
              <a:solidFill>
                <a:srgbClr val="FFC000"/>
              </a:solidFill>
            </a:endParaRPr>
          </a:p>
        </p:txBody>
      </p:sp>
      <p:sp>
        <p:nvSpPr>
          <p:cNvPr id="296" name="Google Shape;296;p25"/>
          <p:cNvSpPr txBox="1"/>
          <p:nvPr>
            <p:ph idx="1" type="body"/>
          </p:nvPr>
        </p:nvSpPr>
        <p:spPr>
          <a:xfrm>
            <a:off x="457200" y="1219200"/>
            <a:ext cx="85344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 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 </a:t>
            </a:r>
            <a:r>
              <a:rPr b="1" lang="fr-FR">
                <a:solidFill>
                  <a:srgbClr val="FFC000"/>
                </a:solidFill>
              </a:rPr>
              <a:t>1. L’ARRÊT D’HÉMORRAGIE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        </a:t>
            </a:r>
            <a:r>
              <a:rPr b="1" lang="fr-FR">
                <a:solidFill>
                  <a:srgbClr val="FFC000"/>
                </a:solidFill>
              </a:rPr>
              <a:t>a. </a:t>
            </a:r>
            <a:r>
              <a:rPr b="1" i="1" lang="fr-FR">
                <a:solidFill>
                  <a:srgbClr val="FFC000"/>
                </a:solidFill>
              </a:rPr>
              <a:t>La position du patient :</a:t>
            </a:r>
            <a:endParaRPr b="1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La position correcte :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la tête penchée en avant </a:t>
            </a:r>
            <a:r>
              <a:rPr lang="fr-FR" sz="2300"/>
              <a:t> </a:t>
            </a:r>
            <a:r>
              <a:rPr lang="fr-FR"/>
              <a:t>pour visualiser hémorragie (quantité, rythme)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109615"/>
              <a:buFont typeface="Noto Sans Symbols"/>
              <a:buChar char="✔"/>
            </a:pPr>
            <a:r>
              <a:rPr lang="fr-FR"/>
              <a:t>en décubitus latéral si le patient a une tendance à l’hypotension, lipothymie (</a:t>
            </a:r>
            <a:r>
              <a:rPr lang="fr-FR" sz="2600"/>
              <a:t>s’asseye la tête placée de telle sorte que le sang ne peut pas circuler à l’arrière, vers le nasopharynx)</a:t>
            </a:r>
            <a:endParaRPr sz="2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>
                <a:solidFill>
                  <a:srgbClr val="FFC000"/>
                </a:solidFill>
              </a:rPr>
              <a:t>      </a:t>
            </a:r>
            <a:r>
              <a:rPr b="1" lang="fr-FR">
                <a:solidFill>
                  <a:srgbClr val="FFC000"/>
                </a:solidFill>
              </a:rPr>
              <a:t>b</a:t>
            </a:r>
            <a:r>
              <a:rPr lang="fr-FR">
                <a:solidFill>
                  <a:srgbClr val="FFC000"/>
                </a:solidFill>
              </a:rPr>
              <a:t>. </a:t>
            </a:r>
            <a:r>
              <a:rPr b="1" i="1" lang="fr-FR">
                <a:solidFill>
                  <a:srgbClr val="FFC000"/>
                </a:solidFill>
              </a:rPr>
              <a:t>Nettoyage (vidage) des cavités nasales</a:t>
            </a:r>
            <a:r>
              <a:rPr i="1" lang="fr-FR">
                <a:solidFill>
                  <a:srgbClr val="FFC000"/>
                </a:solidFill>
              </a:rPr>
              <a:t> :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Il se réalise: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- en invitant le patient à moucher le nez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-ou par l’aspiration des caillots de sang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/>
              <a:t>      </a:t>
            </a:r>
            <a:r>
              <a:rPr b="1" i="1" lang="fr-FR">
                <a:solidFill>
                  <a:srgbClr val="FFC000"/>
                </a:solidFill>
              </a:rPr>
              <a:t>Par cette manœuvre nous determinons l’emplacement de l’hémorragie et les possibles causes locales</a:t>
            </a:r>
            <a:endParaRPr b="1" i="1">
              <a:solidFill>
                <a:srgbClr val="FFC000"/>
              </a:solidFill>
            </a:endParaRPr>
          </a:p>
          <a:p>
            <a:pPr indent="-216217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6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lang="fr-FR"/>
              <a:t>TRAITEMENT</a:t>
            </a:r>
            <a:endParaRPr/>
          </a:p>
        </p:txBody>
      </p:sp>
      <p:sp>
        <p:nvSpPr>
          <p:cNvPr id="302" name="Google Shape;302;p26"/>
          <p:cNvSpPr txBox="1"/>
          <p:nvPr>
            <p:ph idx="1" type="body"/>
          </p:nvPr>
        </p:nvSpPr>
        <p:spPr>
          <a:xfrm>
            <a:off x="304800" y="1066800"/>
            <a:ext cx="8686800" cy="57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i="1" lang="fr-FR" sz="4000"/>
              <a:t>    </a:t>
            </a:r>
            <a:r>
              <a:rPr b="1" i="1" lang="fr-FR" sz="4000">
                <a:solidFill>
                  <a:srgbClr val="FFC000"/>
                </a:solidFill>
              </a:rPr>
              <a:t>C.  Hémostase - arrêter le saigneme</a:t>
            </a:r>
            <a:r>
              <a:rPr b="1" i="1" lang="fr-FR" sz="4000"/>
              <a:t>nt</a:t>
            </a:r>
            <a:endParaRPr b="1" i="1" sz="4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Hémostase peut être : - local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                - régionale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                - générale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>
                <a:solidFill>
                  <a:srgbClr val="FFC000"/>
                </a:solidFill>
              </a:rPr>
              <a:t>       1. Hémostase locale </a:t>
            </a:r>
            <a:r>
              <a:rPr i="1" lang="fr-FR"/>
              <a:t>comprend </a:t>
            </a:r>
            <a:r>
              <a:rPr lang="fr-FR"/>
              <a:t>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>
                <a:solidFill>
                  <a:srgbClr val="FFC000"/>
                </a:solidFill>
              </a:rPr>
              <a:t>   </a:t>
            </a:r>
            <a:r>
              <a:rPr b="1" lang="fr-FR">
                <a:solidFill>
                  <a:srgbClr val="FFC000"/>
                </a:solidFill>
              </a:rPr>
              <a:t>Compression digitale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     -</a:t>
            </a:r>
            <a:r>
              <a:rPr lang="fr-FR"/>
              <a:t> elle s’accomplit au niveau de l’aile du nez ( en compressant la tache vasculaire)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- doit qu’il soit ferme et elle devrait durer au moins 10 minutes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/>
              <a:t>   Par cette manœuvre simple la plupart des saignements cessent (l’épistaxis bénigne au niveau de tache vasculaire)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/>
              <a:t>   </a:t>
            </a:r>
            <a:endParaRPr i="1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/>
              <a:t> Si le saignement ne cesse pas, on va envoyer le patient vers un service spécialisé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i="1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b="1" lang="fr-FR">
                <a:solidFill>
                  <a:srgbClr val="FFC000"/>
                </a:solidFill>
              </a:rPr>
              <a:t> La cautérisation locale </a:t>
            </a:r>
            <a:r>
              <a:rPr lang="fr-FR"/>
              <a:t>de la tache vasculaire est effectuée par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- nitrate d’argent - perles (cristaux)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- l’électrocautère bipolaire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- laser</a:t>
            </a:r>
            <a:endParaRPr/>
          </a:p>
          <a:p>
            <a:pPr indent="-22979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7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lang="fr-FR"/>
              <a:t>TRAITEMENT</a:t>
            </a:r>
            <a:endParaRPr/>
          </a:p>
        </p:txBody>
      </p:sp>
      <p:sp>
        <p:nvSpPr>
          <p:cNvPr id="308" name="Google Shape;308;p27"/>
          <p:cNvSpPr txBox="1"/>
          <p:nvPr>
            <p:ph idx="1" type="body"/>
          </p:nvPr>
        </p:nvSpPr>
        <p:spPr>
          <a:xfrm>
            <a:off x="457200" y="1371600"/>
            <a:ext cx="86868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b="1" lang="fr-FR">
                <a:solidFill>
                  <a:srgbClr val="FFC000"/>
                </a:solidFill>
              </a:rPr>
              <a:t> Le tamponnement antérieur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▪"/>
            </a:pPr>
            <a:r>
              <a:rPr lang="fr-FR"/>
              <a:t> une mèche de gaze - classique, manœuvre douloureuse et traumatisante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▪"/>
            </a:pPr>
            <a:r>
              <a:rPr lang="fr-FR"/>
              <a:t> des sondes spéciales avec ballonnet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▪"/>
            </a:pPr>
            <a:r>
              <a:rPr lang="fr-FR"/>
              <a:t>éponges hygroscopiques type Merocel</a:t>
            </a:r>
            <a:endParaRPr/>
          </a:p>
          <a:p>
            <a:pPr indent="-189071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 </a:t>
            </a:r>
            <a:r>
              <a:rPr b="1" lang="fr-FR">
                <a:solidFill>
                  <a:srgbClr val="FFC000"/>
                </a:solidFill>
              </a:rPr>
              <a:t>Le tamponnement postérieur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il se réalise: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▪"/>
            </a:pPr>
            <a:r>
              <a:rPr lang="fr-FR"/>
              <a:t>classique, avec des tampons de gaze spéciales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la manœuvre en étant  traumatisante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▪"/>
            </a:pPr>
            <a:r>
              <a:rPr lang="fr-FR"/>
              <a:t>une sonde spéciale avec ballonnet, Merocel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 </a:t>
            </a:r>
            <a:endParaRPr/>
          </a:p>
          <a:p>
            <a:pPr indent="-189071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8"/>
          <p:cNvSpPr txBox="1"/>
          <p:nvPr>
            <p:ph type="title"/>
          </p:nvPr>
        </p:nvSpPr>
        <p:spPr>
          <a:xfrm>
            <a:off x="762000" y="274638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ct val="100000"/>
              <a:buFont typeface="Consolas"/>
              <a:buNone/>
            </a:pPr>
            <a:r>
              <a:rPr b="1" lang="fr-FR"/>
              <a:t>Le tamponnement antérieur </a:t>
            </a:r>
            <a:br>
              <a:rPr b="1" lang="fr-FR"/>
            </a:br>
            <a:r>
              <a:rPr b="1" lang="fr-FR"/>
              <a:t>et postérieur</a:t>
            </a:r>
            <a:endParaRPr/>
          </a:p>
        </p:txBody>
      </p:sp>
      <p:pic>
        <p:nvPicPr>
          <p:cNvPr id="314" name="Google Shape;314;p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8860" y="1784350"/>
            <a:ext cx="498348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9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lang="fr-FR"/>
              <a:t>TRAITEMENT</a:t>
            </a:r>
            <a:endParaRPr/>
          </a:p>
        </p:txBody>
      </p:sp>
      <p:sp>
        <p:nvSpPr>
          <p:cNvPr id="320" name="Google Shape;320;p29"/>
          <p:cNvSpPr txBox="1"/>
          <p:nvPr>
            <p:ph idx="1" type="body"/>
          </p:nvPr>
        </p:nvSpPr>
        <p:spPr>
          <a:xfrm>
            <a:off x="228600" y="1600200"/>
            <a:ext cx="89154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i="1" lang="fr-FR"/>
              <a:t>    </a:t>
            </a:r>
            <a:r>
              <a:rPr b="1" i="1" lang="fr-FR">
                <a:solidFill>
                  <a:srgbClr val="FFC000"/>
                </a:solidFill>
              </a:rPr>
              <a:t>2. Hémostase régionale</a:t>
            </a:r>
            <a:endParaRPr b="1" i="1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 </a:t>
            </a:r>
            <a:r>
              <a:rPr b="1" lang="fr-FR"/>
              <a:t>ligatures artérielles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  </a:t>
            </a:r>
            <a:r>
              <a:rPr lang="fr-FR" sz="3000"/>
              <a:t>- artère maxillaire ptérygo-palatine dans la fosse interne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000"/>
              <a:t>   -artère ethmoïdale ou l’artère carotide externe.</a:t>
            </a:r>
            <a:endParaRPr sz="3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</a:t>
            </a:r>
            <a:r>
              <a:rPr b="1" lang="fr-FR"/>
              <a:t>embolisation sélective</a:t>
            </a:r>
            <a:endParaRPr b="1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>
                <a:solidFill>
                  <a:srgbClr val="FFC000"/>
                </a:solidFill>
              </a:rPr>
              <a:t>    3.</a:t>
            </a:r>
            <a:r>
              <a:rPr lang="fr-FR">
                <a:solidFill>
                  <a:srgbClr val="FFC000"/>
                </a:solidFill>
              </a:rPr>
              <a:t>  </a:t>
            </a:r>
            <a:r>
              <a:rPr b="1" i="1" lang="fr-FR">
                <a:solidFill>
                  <a:srgbClr val="FFC000"/>
                </a:solidFill>
              </a:rPr>
              <a:t>Hémostase générale</a:t>
            </a:r>
            <a:endParaRPr b="1" i="1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000"/>
              <a:t>   - lʼexamen des causes - traitement spécifique</a:t>
            </a:r>
            <a:endParaRPr sz="3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000"/>
              <a:t>   - des transfusions sanguines </a:t>
            </a:r>
            <a:endParaRPr sz="3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000"/>
              <a:t>   - le traitement général</a:t>
            </a:r>
            <a:endParaRPr sz="3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175498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0"/>
          <p:cNvSpPr txBox="1"/>
          <p:nvPr>
            <p:ph type="title"/>
          </p:nvPr>
        </p:nvSpPr>
        <p:spPr>
          <a:xfrm>
            <a:off x="914400" y="3048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ct val="100000"/>
              <a:buFont typeface="Consolas"/>
              <a:buNone/>
            </a:pPr>
            <a:r>
              <a:rPr b="1" lang="fr-FR"/>
              <a:t>LES MALFORMATIONS NASALES</a:t>
            </a:r>
            <a:br>
              <a:rPr lang="fr-FR"/>
            </a:br>
            <a:r>
              <a:rPr lang="fr-FR"/>
              <a:t> </a:t>
            </a:r>
            <a:br>
              <a:rPr lang="fr-FR"/>
            </a:br>
            <a:endParaRPr/>
          </a:p>
        </p:txBody>
      </p:sp>
      <p:sp>
        <p:nvSpPr>
          <p:cNvPr id="326" name="Google Shape;326;p30"/>
          <p:cNvSpPr txBox="1"/>
          <p:nvPr>
            <p:ph idx="1" type="body"/>
          </p:nvPr>
        </p:nvSpPr>
        <p:spPr>
          <a:xfrm>
            <a:off x="457200" y="990600"/>
            <a:ext cx="868680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i="1" lang="fr-FR">
                <a:solidFill>
                  <a:srgbClr val="FFC000"/>
                </a:solidFill>
              </a:rPr>
              <a:t>1. LES MALFORMATIONS CONGÉNITALES</a:t>
            </a:r>
            <a:endParaRPr b="1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 </a:t>
            </a:r>
            <a:r>
              <a:rPr lang="fr-FR">
                <a:solidFill>
                  <a:srgbClr val="FFC000"/>
                </a:solidFill>
              </a:rPr>
              <a:t>La </a:t>
            </a:r>
            <a:r>
              <a:rPr b="1" lang="fr-FR">
                <a:solidFill>
                  <a:srgbClr val="FFC000"/>
                </a:solidFill>
              </a:rPr>
              <a:t>fente du nez et du visage </a:t>
            </a:r>
            <a:r>
              <a:rPr b="1" lang="fr-FR"/>
              <a:t>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Fente médiane (nez bouledogue)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Double nez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Fente oblique - rare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Fente transversale (macrostoma)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b="1" lang="fr-FR">
                <a:solidFill>
                  <a:srgbClr val="FFC000"/>
                </a:solidFill>
              </a:rPr>
              <a:t>Fistules et des kystes nasaux</a:t>
            </a:r>
            <a:r>
              <a:rPr lang="fr-FR">
                <a:solidFill>
                  <a:srgbClr val="FFC000"/>
                </a:solidFill>
              </a:rPr>
              <a:t> :</a:t>
            </a:r>
            <a:r>
              <a:rPr lang="fr-FR"/>
              <a:t>	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</a:t>
            </a:r>
            <a:r>
              <a:rPr b="1" i="1" lang="fr-FR">
                <a:solidFill>
                  <a:srgbClr val="FFC000"/>
                </a:solidFill>
              </a:rPr>
              <a:t>les fistules </a:t>
            </a:r>
            <a:r>
              <a:rPr b="1" i="1" lang="fr-FR"/>
              <a:t>-</a:t>
            </a:r>
            <a:r>
              <a:rPr lang="fr-FR"/>
              <a:t> des orifices par lesquels on s’écoule une sécrétion jaunâtre, malodorante - au niveau de la glabelle, de la partie dorsale de la pyramide ou de l’ethmoïde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>
                <a:solidFill>
                  <a:srgbClr val="FFC000"/>
                </a:solidFill>
              </a:rPr>
              <a:t> </a:t>
            </a:r>
            <a:r>
              <a:rPr b="1" i="1" lang="fr-FR">
                <a:solidFill>
                  <a:srgbClr val="FFC000"/>
                </a:solidFill>
              </a:rPr>
              <a:t>les kystes dermique</a:t>
            </a:r>
            <a:r>
              <a:rPr b="1" i="1" lang="fr-FR"/>
              <a:t>s</a:t>
            </a:r>
            <a:r>
              <a:rPr lang="fr-FR"/>
              <a:t> - contiennent des inclusions ectodermiques (poils, de magma de cellules tégumentaires exfoliées), généralement au niveau, de la partie dorsale de la pyramide nasale</a:t>
            </a:r>
            <a:endParaRPr/>
          </a:p>
          <a:p>
            <a:pPr indent="-22979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b="1" lang="fr-FR">
                <a:solidFill>
                  <a:srgbClr val="FFC000"/>
                </a:solidFill>
              </a:rPr>
              <a:t>Le méningocèle et le </a:t>
            </a:r>
            <a:r>
              <a:rPr b="1" i="1" lang="fr-FR">
                <a:solidFill>
                  <a:srgbClr val="FFC000"/>
                </a:solidFill>
              </a:rPr>
              <a:t>méningo</a:t>
            </a:r>
            <a:r>
              <a:rPr b="1" lang="fr-FR">
                <a:solidFill>
                  <a:srgbClr val="FFC000"/>
                </a:solidFill>
              </a:rPr>
              <a:t>-</a:t>
            </a:r>
            <a:r>
              <a:rPr b="1" i="1" lang="fr-FR">
                <a:solidFill>
                  <a:srgbClr val="FFC000"/>
                </a:solidFill>
              </a:rPr>
              <a:t>encéphalocèle</a:t>
            </a:r>
            <a:r>
              <a:rPr b="1" i="1" lang="fr-FR"/>
              <a:t> </a:t>
            </a:r>
            <a:r>
              <a:rPr b="1" lang="fr-FR"/>
              <a:t>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une herniation de la dure-mère et du contenu endocrinien par la déhiscence de la lame criblée de l’ethmoïde nasale au niveau de la fosse nasale</a:t>
            </a:r>
            <a:endParaRPr/>
          </a:p>
          <a:p>
            <a:pPr indent="-342900" lvl="0" marL="411480" rtl="0" algn="ctr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>
                <a:solidFill>
                  <a:srgbClr val="FFC000"/>
                </a:solidFill>
              </a:rPr>
              <a:t> Présente risque d’infection par la rupture ses parois.</a:t>
            </a:r>
            <a:endParaRPr i="1">
              <a:solidFill>
                <a:srgbClr val="FFC000"/>
              </a:solidFill>
            </a:endParaRPr>
          </a:p>
          <a:p>
            <a:pPr indent="-22979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i="1">
              <a:solidFill>
                <a:srgbClr val="FFC000"/>
              </a:solidFill>
            </a:endParaRPr>
          </a:p>
          <a:p>
            <a:pPr indent="-22979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i="1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1"/>
          <p:cNvSpPr txBox="1"/>
          <p:nvPr>
            <p:ph type="title"/>
          </p:nvPr>
        </p:nvSpPr>
        <p:spPr>
          <a:xfrm>
            <a:off x="457200" y="274638"/>
            <a:ext cx="8229600" cy="258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ct val="100000"/>
              <a:buFont typeface="Consolas"/>
              <a:buNone/>
            </a:pPr>
            <a:r>
              <a:rPr b="1" lang="fr-FR"/>
              <a:t>  LES MALFORMATIONS NASALES</a:t>
            </a:r>
            <a:br>
              <a:rPr lang="fr-FR"/>
            </a:br>
            <a:endParaRPr/>
          </a:p>
        </p:txBody>
      </p:sp>
      <p:sp>
        <p:nvSpPr>
          <p:cNvPr id="332" name="Google Shape;332;p31"/>
          <p:cNvSpPr txBox="1"/>
          <p:nvPr>
            <p:ph idx="1" type="body"/>
          </p:nvPr>
        </p:nvSpPr>
        <p:spPr>
          <a:xfrm>
            <a:off x="381000" y="838200"/>
            <a:ext cx="83820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30" lvl="0" marL="411480" rtl="0" algn="l">
              <a:spcBef>
                <a:spcPts val="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b="1" lang="fr-FR" sz="5100">
                <a:solidFill>
                  <a:srgbClr val="FFC000"/>
                </a:solidFill>
              </a:rPr>
              <a:t>Sténose - atrésie narinaire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▪"/>
            </a:pPr>
            <a:r>
              <a:rPr lang="fr-FR" sz="3400"/>
              <a:t>Peut-être congénitale (rarement), plus fréquentèrent acquis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3400">
                <a:solidFill>
                  <a:srgbClr val="FFC000"/>
                </a:solidFill>
              </a:rPr>
              <a:t>Imperforation choanale</a:t>
            </a:r>
            <a:r>
              <a:rPr lang="fr-FR" sz="3400"/>
              <a:t>: -le choane est obstrué par un diaphragme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400"/>
              <a:t>                                                                                                 - osseux </a:t>
            </a:r>
            <a:br>
              <a:rPr lang="fr-FR" sz="3400"/>
            </a:br>
            <a:r>
              <a:rPr lang="fr-FR" sz="3400"/>
              <a:t>                                                                                           - membraneuse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400"/>
              <a:t>                                                         -plus fréquente chez les femmes 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400"/>
              <a:t>                                                          -souvent héréditaire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400"/>
              <a:t>                                                          - peut être :  - unilatérale 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400"/>
              <a:t>                                                                                   - bilatérale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400"/>
              <a:t>                                                                                    - incomplète</a:t>
            </a:r>
            <a:br>
              <a:rPr lang="fr-FR" sz="3400"/>
            </a:br>
            <a:r>
              <a:rPr lang="fr-FR" sz="3400"/>
              <a:t>                                                                            - complet - l’asphyxie du nouveau-né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400"/>
              <a:t>                                                                                              - </a:t>
            </a:r>
            <a:r>
              <a:rPr b="1" lang="fr-FR" sz="3400"/>
              <a:t>&gt; </a:t>
            </a:r>
            <a:r>
              <a:rPr lang="fr-FR" sz="3400"/>
              <a:t>insérez  une pipe de type anesthésie (Guedel).</a:t>
            </a:r>
            <a:br>
              <a:rPr lang="fr-FR" sz="3400"/>
            </a:br>
            <a:r>
              <a:rPr b="1" i="1" lang="fr-FR" sz="3400">
                <a:solidFill>
                  <a:srgbClr val="FFC000"/>
                </a:solidFill>
              </a:rPr>
              <a:t>Symptomatologie :</a:t>
            </a:r>
            <a:endParaRPr i="1" sz="3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400"/>
              <a:t>           - obstruction nasale ;  sécrétion chronique muco-purulente ; anosmie.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3400"/>
              <a:t>         </a:t>
            </a:r>
            <a:r>
              <a:rPr b="1" i="1" lang="fr-FR" sz="3400">
                <a:solidFill>
                  <a:srgbClr val="FFC000"/>
                </a:solidFill>
              </a:rPr>
              <a:t>Diagnostic :</a:t>
            </a:r>
            <a:endParaRPr b="1" i="1" sz="3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400"/>
              <a:t>       - rhinoscopie antérieure </a:t>
            </a:r>
            <a:br>
              <a:rPr lang="fr-FR" sz="3400"/>
            </a:br>
            <a:r>
              <a:rPr lang="fr-FR" sz="3400"/>
              <a:t>- rhinoscopie postérieure </a:t>
            </a:r>
            <a:br>
              <a:rPr lang="fr-FR" sz="3400"/>
            </a:br>
            <a:r>
              <a:rPr lang="fr-FR" sz="3400"/>
              <a:t>- l’endoscopie nasale </a:t>
            </a:r>
            <a:br>
              <a:rPr lang="fr-FR" sz="3400"/>
            </a:br>
            <a:r>
              <a:rPr lang="fr-FR" sz="3400"/>
              <a:t>- radiographie avec agent de contraste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br>
              <a:rPr lang="fr-FR" sz="3400"/>
            </a:br>
            <a:r>
              <a:rPr b="1" lang="fr-FR" sz="3400">
                <a:solidFill>
                  <a:srgbClr val="FFC000"/>
                </a:solidFill>
              </a:rPr>
              <a:t>Traitement</a:t>
            </a:r>
            <a:r>
              <a:rPr b="1" lang="fr-FR" sz="3400"/>
              <a:t> </a:t>
            </a:r>
            <a:r>
              <a:rPr lang="fr-FR" sz="3400"/>
              <a:t>- chirurgical - résection du diaphragme, ou au laser </a:t>
            </a:r>
            <a:endParaRPr/>
          </a:p>
          <a:p>
            <a:pPr indent="-342900" lvl="0" marL="411480" rtl="0" algn="ctr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400"/>
              <a:t>          </a:t>
            </a:r>
            <a:r>
              <a:rPr b="1" i="1" lang="fr-FR" sz="3400">
                <a:solidFill>
                  <a:srgbClr val="FFC000"/>
                </a:solidFill>
              </a:rPr>
              <a:t>De préférence, après l’âge de 1 an.</a:t>
            </a:r>
            <a:endParaRPr b="1" i="1" sz="3400">
              <a:solidFill>
                <a:srgbClr val="FFC000"/>
              </a:solidFill>
            </a:endParaRPr>
          </a:p>
          <a:p>
            <a:pPr indent="-239744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36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2"/>
          <p:cNvSpPr txBox="1"/>
          <p:nvPr>
            <p:ph type="title"/>
          </p:nvPr>
        </p:nvSpPr>
        <p:spPr>
          <a:xfrm>
            <a:off x="914400" y="3048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ct val="100000"/>
              <a:buFont typeface="Consolas"/>
              <a:buNone/>
            </a:pPr>
            <a:r>
              <a:rPr b="1" i="1" lang="fr-FR"/>
              <a:t>LES MALFORMATIONS ACQUISES</a:t>
            </a:r>
            <a:br>
              <a:rPr lang="fr-FR"/>
            </a:br>
            <a:endParaRPr/>
          </a:p>
        </p:txBody>
      </p:sp>
      <p:sp>
        <p:nvSpPr>
          <p:cNvPr id="338" name="Google Shape;338;p32"/>
          <p:cNvSpPr txBox="1"/>
          <p:nvPr>
            <p:ph idx="1" type="body"/>
          </p:nvPr>
        </p:nvSpPr>
        <p:spPr>
          <a:xfrm>
            <a:off x="228600" y="914400"/>
            <a:ext cx="89154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        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6400">
                <a:solidFill>
                  <a:srgbClr val="FFC000"/>
                </a:solidFill>
              </a:rPr>
              <a:t>a. DE LA PYRAMIDE NASALE</a:t>
            </a:r>
            <a:endParaRPr sz="6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b="1" lang="fr-FR" sz="6400">
                <a:solidFill>
                  <a:srgbClr val="FFC000"/>
                </a:solidFill>
              </a:rPr>
              <a:t>Étiologie :</a:t>
            </a:r>
            <a:r>
              <a:rPr lang="fr-FR" sz="6400"/>
              <a:t>- traumatique - traumatisme obstétrical – physiologique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                                                       - traumatismes de l’enfance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                                                        - traumatismes – accidentelles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                                                                        - routiers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                                                                        - sportives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                                                                         - de travail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                           - troubles de la morphogenèse - d’obstruction chronique nasale due à des végétations adénoïdes qui provoquent le nez rétréci, bossu.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                          - des conditions diverses : - lupus érythémateux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                           - syphilis – nez en selle</a:t>
            </a:r>
            <a:br>
              <a:rPr lang="fr-FR" sz="6400"/>
            </a:br>
            <a:r>
              <a:rPr lang="fr-FR" sz="6400"/>
              <a:t>                    - les tumeurs malignes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b="1" lang="fr-FR" sz="6400"/>
              <a:t>    </a:t>
            </a:r>
            <a:r>
              <a:rPr b="1" lang="fr-FR" sz="6400">
                <a:solidFill>
                  <a:srgbClr val="FFC000"/>
                </a:solidFill>
              </a:rPr>
              <a:t>Anatomie pathologique</a:t>
            </a:r>
            <a:r>
              <a:rPr b="1" lang="fr-FR" sz="6400"/>
              <a:t> </a:t>
            </a:r>
            <a:r>
              <a:rPr lang="fr-FR" sz="6400"/>
              <a:t>: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                           - par une hyperplasie	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                           - par hypoplasie - manque de substance </a:t>
            </a:r>
            <a:br>
              <a:rPr lang="fr-FR" sz="6400"/>
            </a:br>
            <a:r>
              <a:rPr lang="fr-FR" sz="6400"/>
              <a:t>                    - latéro-déviations – déviations de la pyramide nasale par rapport de la ligne médiane </a:t>
            </a:r>
            <a:br>
              <a:rPr lang="fr-FR" sz="6400"/>
            </a:br>
            <a:r>
              <a:rPr lang="fr-FR" sz="6400"/>
              <a:t>                    - combiné</a:t>
            </a:r>
            <a:endParaRPr/>
          </a:p>
          <a:p>
            <a:pPr indent="-342900" lvl="0" marL="411480" rtl="0" algn="just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6400">
                <a:solidFill>
                  <a:srgbClr val="FFC000"/>
                </a:solidFill>
              </a:rPr>
              <a:t>Le traitement</a:t>
            </a:r>
            <a:r>
              <a:rPr i="1" lang="fr-FR" sz="6400">
                <a:solidFill>
                  <a:srgbClr val="FFC000"/>
                </a:solidFill>
              </a:rPr>
              <a:t> est une intervention chirurgicale  rhinoplastie à des fins esthétiques et fonctionnelles</a:t>
            </a:r>
            <a:endParaRPr sz="6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6400">
                <a:solidFill>
                  <a:srgbClr val="FFC000"/>
                </a:solidFill>
              </a:rPr>
              <a:t> </a:t>
            </a:r>
            <a:endParaRPr sz="6400">
              <a:solidFill>
                <a:srgbClr val="FFC000"/>
              </a:solidFill>
            </a:endParaRPr>
          </a:p>
          <a:p>
            <a:pPr indent="-24638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640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3"/>
          <p:cNvSpPr txBox="1"/>
          <p:nvPr>
            <p:ph type="title"/>
          </p:nvPr>
        </p:nvSpPr>
        <p:spPr>
          <a:xfrm>
            <a:off x="914400" y="512064"/>
            <a:ext cx="7772400" cy="554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ct val="100000"/>
              <a:buFont typeface="Consolas"/>
              <a:buNone/>
            </a:pPr>
            <a:r>
              <a:rPr b="1" lang="fr-FR"/>
              <a:t>LES TRAUMATISMES NASAUX</a:t>
            </a:r>
            <a:br>
              <a:rPr lang="fr-FR"/>
            </a:br>
            <a:endParaRPr/>
          </a:p>
        </p:txBody>
      </p:sp>
      <p:sp>
        <p:nvSpPr>
          <p:cNvPr id="344" name="Google Shape;344;p33"/>
          <p:cNvSpPr txBox="1"/>
          <p:nvPr>
            <p:ph idx="1" type="body"/>
          </p:nvPr>
        </p:nvSpPr>
        <p:spPr>
          <a:xfrm>
            <a:off x="381000" y="1066800"/>
            <a:ext cx="87630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3700"/>
              <a:t> </a:t>
            </a:r>
            <a:endParaRPr sz="37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b="1" lang="fr-FR" sz="5600">
                <a:solidFill>
                  <a:srgbClr val="FFC000"/>
                </a:solidFill>
              </a:rPr>
              <a:t>Étiologie :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                          - des accidents routiers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                           - des accidents de travail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                           - les blessures sportives </a:t>
            </a:r>
            <a:br>
              <a:rPr lang="fr-FR" sz="5600"/>
            </a:br>
            <a:r>
              <a:rPr lang="fr-FR" sz="5600"/>
              <a:t>	      - des agressions  </a:t>
            </a:r>
            <a:br>
              <a:rPr lang="fr-FR" sz="5600"/>
            </a:br>
            <a:r>
              <a:rPr lang="fr-FR" sz="5600"/>
              <a:t>	      - des armes à feu </a:t>
            </a:r>
            <a:br>
              <a:rPr lang="fr-FR" sz="5600"/>
            </a:br>
            <a:r>
              <a:rPr lang="fr-FR" sz="5600"/>
              <a:t>	      - des armes blanches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b="1" lang="fr-FR" sz="5600">
                <a:solidFill>
                  <a:srgbClr val="FFC000"/>
                </a:solidFill>
              </a:rPr>
              <a:t>Classification :</a:t>
            </a:r>
            <a:endParaRPr sz="56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5600">
                <a:solidFill>
                  <a:srgbClr val="FFC000"/>
                </a:solidFill>
              </a:rPr>
              <a:t>        a. traumatismes fermés</a:t>
            </a:r>
            <a:r>
              <a:rPr lang="fr-FR" sz="5600">
                <a:solidFill>
                  <a:srgbClr val="FFC000"/>
                </a:solidFill>
              </a:rPr>
              <a:t> </a:t>
            </a:r>
            <a:r>
              <a:rPr lang="fr-FR" sz="5600"/>
              <a:t>- </a:t>
            </a:r>
            <a:r>
              <a:rPr b="1" lang="fr-FR" sz="5600"/>
              <a:t>contusion -</a:t>
            </a:r>
            <a:r>
              <a:rPr lang="fr-FR" sz="5600"/>
              <a:t> en cas que le traumatisme n’est pas pénétrant et le squelette osseux (nasale et des sinus) est couvert par des tissus mous.</a:t>
            </a:r>
            <a:br>
              <a:rPr lang="fr-FR" sz="5600"/>
            </a:br>
            <a:r>
              <a:rPr lang="fr-FR" sz="5600"/>
              <a:t> </a:t>
            </a:r>
            <a:r>
              <a:rPr i="1" lang="fr-FR" sz="5600"/>
              <a:t>avec ou sans fracture de la pyramide nasale</a:t>
            </a:r>
            <a:endParaRPr i="1"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5600"/>
              <a:t> </a:t>
            </a:r>
            <a:endParaRPr i="1"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5600">
                <a:solidFill>
                  <a:srgbClr val="FFC000"/>
                </a:solidFill>
              </a:rPr>
              <a:t>         b. traumatismes ouverts </a:t>
            </a:r>
            <a:r>
              <a:rPr lang="fr-FR" sz="5600"/>
              <a:t>- </a:t>
            </a:r>
            <a:r>
              <a:rPr b="1" lang="fr-FR" sz="5600"/>
              <a:t>les plaies </a:t>
            </a:r>
            <a:r>
              <a:rPr lang="fr-FR" sz="5600"/>
              <a:t>- les plus courantes</a:t>
            </a:r>
            <a:br>
              <a:rPr lang="fr-FR" sz="5600"/>
            </a:br>
            <a:r>
              <a:rPr lang="fr-FR" sz="5600"/>
              <a:t>contusions, mais aussi coupés, percés, piqués</a:t>
            </a:r>
            <a:br>
              <a:rPr lang="fr-FR" sz="5600"/>
            </a:br>
            <a:r>
              <a:rPr lang="fr-FR" sz="5600"/>
              <a:t> </a:t>
            </a:r>
            <a:r>
              <a:rPr i="1" lang="fr-FR" sz="5600"/>
              <a:t>avec ou sans fracture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5600"/>
              <a:t>         </a:t>
            </a:r>
            <a:r>
              <a:rPr b="1" lang="fr-FR" sz="5600">
                <a:solidFill>
                  <a:srgbClr val="FFC000"/>
                </a:solidFill>
              </a:rPr>
              <a:t>c. les fractures de la pyramide nasale</a:t>
            </a:r>
            <a:r>
              <a:rPr b="1" lang="fr-FR" sz="5600"/>
              <a:t> :     </a:t>
            </a:r>
            <a:r>
              <a:rPr lang="fr-FR" sz="5600"/>
              <a:t>- sans déplacement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                                                                                                - avec de déplacement</a:t>
            </a:r>
            <a:br>
              <a:rPr lang="fr-FR" sz="5600"/>
            </a:br>
            <a:r>
              <a:rPr lang="fr-FR" sz="5600"/>
              <a:t>                                                                                       - fermées/ ouvertes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5600"/>
              <a:t>          </a:t>
            </a:r>
            <a:r>
              <a:rPr b="1" lang="fr-FR" sz="5600">
                <a:solidFill>
                  <a:srgbClr val="FFC000"/>
                </a:solidFill>
              </a:rPr>
              <a:t>d.- du massif facial </a:t>
            </a:r>
            <a:r>
              <a:rPr lang="fr-FR" sz="5600"/>
              <a:t>- est effectuée après de trajets vulnérables </a:t>
            </a:r>
            <a:r>
              <a:rPr b="1" lang="fr-FR" sz="5600"/>
              <a:t>(</a:t>
            </a:r>
            <a:r>
              <a:rPr b="1" i="1" lang="fr-FR" sz="5600"/>
              <a:t>Le Fort)</a:t>
            </a:r>
            <a:br>
              <a:rPr lang="fr-FR" sz="5600"/>
            </a:br>
            <a:r>
              <a:rPr b="1" lang="fr-FR" sz="5600">
                <a:solidFill>
                  <a:srgbClr val="FFC000"/>
                </a:solidFill>
              </a:rPr>
              <a:t>  e. associés</a:t>
            </a:r>
            <a:endParaRPr b="1" sz="56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5600"/>
              <a:t>          </a:t>
            </a:r>
            <a:r>
              <a:rPr b="1" lang="fr-FR" sz="5600">
                <a:solidFill>
                  <a:srgbClr val="FFC000"/>
                </a:solidFill>
              </a:rPr>
              <a:t>f. les barotraumatismes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5600">
                <a:solidFill>
                  <a:srgbClr val="FFC000"/>
                </a:solidFill>
              </a:rPr>
              <a:t>            </a:t>
            </a:r>
            <a:r>
              <a:rPr lang="fr-FR" sz="5600"/>
              <a:t>– du fait des grandes différences entre la pression atmosphérique et la pression intrasinusale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            - aux plongeurs, pilotes, aux parachutistes</a:t>
            </a:r>
            <a:endParaRPr sz="5600"/>
          </a:p>
          <a:p>
            <a:pPr indent="-258445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b="1" sz="56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5600"/>
              <a:t>             </a:t>
            </a:r>
            <a:endParaRPr sz="56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4"/>
          <p:cNvSpPr txBox="1"/>
          <p:nvPr>
            <p:ph type="title"/>
          </p:nvPr>
        </p:nvSpPr>
        <p:spPr>
          <a:xfrm>
            <a:off x="914400" y="3048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ct val="100000"/>
              <a:buFont typeface="Consolas"/>
              <a:buNone/>
            </a:pPr>
            <a:r>
              <a:rPr b="1" lang="fr-FR"/>
              <a:t>LES TRAUMATISMES NASAUX</a:t>
            </a:r>
            <a:br>
              <a:rPr lang="fr-FR"/>
            </a:br>
            <a:endParaRPr/>
          </a:p>
        </p:txBody>
      </p:sp>
      <p:sp>
        <p:nvSpPr>
          <p:cNvPr id="350" name="Google Shape;350;p34"/>
          <p:cNvSpPr txBox="1"/>
          <p:nvPr>
            <p:ph idx="1" type="body"/>
          </p:nvPr>
        </p:nvSpPr>
        <p:spPr>
          <a:xfrm>
            <a:off x="457200" y="990600"/>
            <a:ext cx="82296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Symptomatologie</a:t>
            </a:r>
            <a:r>
              <a:rPr lang="fr-FR">
                <a:solidFill>
                  <a:srgbClr val="FFC000"/>
                </a:solidFill>
              </a:rPr>
              <a:t> :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>
                <a:solidFill>
                  <a:srgbClr val="FFC000"/>
                </a:solidFill>
              </a:rPr>
              <a:t>       </a:t>
            </a:r>
            <a:r>
              <a:rPr b="1" i="1" lang="fr-FR">
                <a:solidFill>
                  <a:srgbClr val="FFC000"/>
                </a:solidFill>
              </a:rPr>
              <a:t>Les signes </a:t>
            </a:r>
            <a:r>
              <a:rPr lang="fr-FR"/>
              <a:t>de certitude sont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▪"/>
            </a:pPr>
            <a:r>
              <a:rPr lang="fr-FR"/>
              <a:t>déplacement - déformation de la pyramide nasale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▪"/>
            </a:pPr>
            <a:r>
              <a:rPr lang="fr-FR"/>
              <a:t> des crépitations osseuses à la palpation de la pyramide nasale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▪"/>
            </a:pPr>
            <a:r>
              <a:rPr lang="fr-FR"/>
              <a:t> mobilité des os du nez anormale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/>
              <a:t>        </a:t>
            </a:r>
            <a:r>
              <a:rPr b="1" i="1" lang="fr-FR">
                <a:solidFill>
                  <a:srgbClr val="FFC000"/>
                </a:solidFill>
              </a:rPr>
              <a:t>Symptômes:</a:t>
            </a:r>
            <a:r>
              <a:rPr b="1" lang="fr-FR"/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  la douleur et / ou de choc et / ou des signes de souffrance cérébrale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oedémation des tissus, des ecchymoses, surtout palpébral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emphysème sous-cutané (paupière le plus fréquente), parfois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l’obstruction nasale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épistaxis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 rhinolicvorhée - fuite de liquide céphalorachidien, qui est unilatérale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5"/>
          <p:cNvSpPr txBox="1"/>
          <p:nvPr>
            <p:ph type="title"/>
          </p:nvPr>
        </p:nvSpPr>
        <p:spPr>
          <a:xfrm>
            <a:off x="914400" y="228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ct val="100000"/>
              <a:buFont typeface="Consolas"/>
              <a:buNone/>
            </a:pPr>
            <a:r>
              <a:rPr b="1" lang="fr-FR"/>
              <a:t>LES TRAUMATISMES NASAUX</a:t>
            </a:r>
            <a:br>
              <a:rPr lang="fr-FR"/>
            </a:br>
            <a:endParaRPr/>
          </a:p>
        </p:txBody>
      </p:sp>
      <p:sp>
        <p:nvSpPr>
          <p:cNvPr id="356" name="Google Shape;356;p35"/>
          <p:cNvSpPr txBox="1"/>
          <p:nvPr>
            <p:ph idx="1" type="body"/>
          </p:nvPr>
        </p:nvSpPr>
        <p:spPr>
          <a:xfrm>
            <a:off x="457200" y="1143000"/>
            <a:ext cx="82296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      Diagnostic :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>
                <a:solidFill>
                  <a:srgbClr val="FFC000"/>
                </a:solidFill>
              </a:rPr>
              <a:t>      L’examen clinique ORL</a:t>
            </a:r>
            <a:r>
              <a:rPr lang="fr-FR">
                <a:solidFill>
                  <a:srgbClr val="FFC000"/>
                </a:solidFill>
              </a:rPr>
              <a:t>  :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 anamnèse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 examen physique </a:t>
            </a:r>
            <a:r>
              <a:rPr lang="fr-FR">
                <a:solidFill>
                  <a:srgbClr val="FFC000"/>
                </a:solidFill>
              </a:rPr>
              <a:t>- inspection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>
                <a:solidFill>
                  <a:srgbClr val="FFC000"/>
                </a:solidFill>
              </a:rPr>
              <a:t>                                           - la palpation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>
                <a:solidFill>
                  <a:srgbClr val="FFC000"/>
                </a:solidFill>
              </a:rPr>
              <a:t>                                           - rhinoscopie antérieure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>
                <a:solidFill>
                  <a:srgbClr val="FFC000"/>
                </a:solidFill>
              </a:rPr>
              <a:t>                                           - endoscopie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i="1" lang="fr-FR"/>
              <a:t>l’examen radiologique et / ou tomographie par ordinateur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i="1" lang="fr-FR"/>
              <a:t>examen ophtalmologique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i="1" lang="fr-FR"/>
              <a:t>l’examen neurologique</a:t>
            </a:r>
            <a:endParaRPr/>
          </a:p>
          <a:p>
            <a:pPr indent="-175498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6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lang="fr-FR"/>
              <a:t>LES TRAUMATISMES NASAUX</a:t>
            </a:r>
            <a:br>
              <a:rPr lang="fr-FR"/>
            </a:br>
            <a:endParaRPr/>
          </a:p>
        </p:txBody>
      </p:sp>
      <p:sp>
        <p:nvSpPr>
          <p:cNvPr id="362" name="Google Shape;362;p36"/>
          <p:cNvSpPr txBox="1"/>
          <p:nvPr>
            <p:ph idx="1" type="body"/>
          </p:nvPr>
        </p:nvSpPr>
        <p:spPr>
          <a:xfrm>
            <a:off x="609600" y="1143000"/>
            <a:ext cx="83058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b="1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Traitement </a:t>
            </a:r>
            <a:r>
              <a:rPr lang="fr-FR"/>
              <a:t>: Il comprend plusieurs étapes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</a:t>
            </a:r>
            <a:r>
              <a:rPr b="1" lang="fr-FR">
                <a:solidFill>
                  <a:srgbClr val="FFC000"/>
                </a:solidFill>
              </a:rPr>
              <a:t>1. assurer les fonctions vitales</a:t>
            </a:r>
            <a:r>
              <a:rPr lang="fr-FR"/>
              <a:t> : - la respiration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                                          - le cœur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                                          - circulation – perfusion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      2. bilan lésionnel général</a:t>
            </a:r>
            <a:r>
              <a:rPr lang="fr-FR"/>
              <a:t> : - la souffrance du cerveau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                               - épine dorsale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                               - poitrine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                               - abdomen - hémostase quand il faut</a:t>
            </a:r>
            <a:br>
              <a:rPr lang="fr-FR"/>
            </a:br>
            <a:r>
              <a:rPr b="1" lang="fr-FR">
                <a:solidFill>
                  <a:srgbClr val="FFC000"/>
                </a:solidFill>
              </a:rPr>
              <a:t>3. bilan lésionnel rhinologique :</a:t>
            </a:r>
            <a:endParaRPr b="1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- rétablissement digital et / ou instrumentale de la pyramide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- contention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- traitement des épistaxis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- suture des plaies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7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ct val="100000"/>
              <a:buFont typeface="Consolas"/>
              <a:buNone/>
            </a:pPr>
            <a:r>
              <a:rPr b="1" lang="fr-FR"/>
              <a:t>HÉMATOME SEPTAL</a:t>
            </a:r>
            <a:br>
              <a:rPr lang="fr-FR"/>
            </a:br>
            <a:r>
              <a:rPr lang="fr-FR"/>
              <a:t> </a:t>
            </a:r>
            <a:br>
              <a:rPr lang="fr-FR"/>
            </a:br>
            <a:endParaRPr/>
          </a:p>
        </p:txBody>
      </p:sp>
      <p:sp>
        <p:nvSpPr>
          <p:cNvPr id="368" name="Google Shape;368;p37"/>
          <p:cNvSpPr txBox="1"/>
          <p:nvPr>
            <p:ph idx="1" type="body"/>
          </p:nvPr>
        </p:nvSpPr>
        <p:spPr>
          <a:xfrm>
            <a:off x="228600" y="1447800"/>
            <a:ext cx="89154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Font typeface="Noto Sans Symbols"/>
              <a:buChar char="⮚"/>
            </a:pPr>
            <a:r>
              <a:rPr lang="fr-FR"/>
              <a:t> il apparaît dans le traumatisme nasal avec la fracture du septum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Font typeface="Noto Sans Symbols"/>
              <a:buChar char="⮚"/>
            </a:pPr>
            <a:r>
              <a:rPr lang="fr-FR"/>
              <a:t> bombement fluctuant sur les deux côtés de la cloison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Font typeface="Noto Sans Symbols"/>
              <a:buChar char="⮚"/>
            </a:pPr>
            <a:r>
              <a:rPr lang="fr-FR"/>
              <a:t>obstruction nasale bilatérale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Font typeface="Noto Sans Symbols"/>
              <a:buChar char="⮚"/>
            </a:pPr>
            <a:r>
              <a:rPr lang="fr-FR"/>
              <a:t> si ce n’est pas évacué et surinfecté = &gt; abcès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just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b="1" lang="fr-FR">
                <a:solidFill>
                  <a:srgbClr val="FFC000"/>
                </a:solidFill>
              </a:rPr>
              <a:t>Traitement</a:t>
            </a:r>
            <a:r>
              <a:rPr lang="fr-FR">
                <a:solidFill>
                  <a:srgbClr val="FFC000"/>
                </a:solidFill>
              </a:rPr>
              <a:t>: incision et drainage avec de tamponnement compressif bilatéral.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8"/>
          <p:cNvSpPr txBox="1"/>
          <p:nvPr>
            <p:ph type="title"/>
          </p:nvPr>
        </p:nvSpPr>
        <p:spPr>
          <a:xfrm>
            <a:off x="914400" y="3810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ct val="100000"/>
              <a:buFont typeface="Consolas"/>
              <a:buNone/>
            </a:pPr>
            <a:r>
              <a:rPr b="1" lang="fr-FR"/>
              <a:t>CORPS ÉTRANGERS NASAUX</a:t>
            </a:r>
            <a:br>
              <a:rPr lang="fr-FR"/>
            </a:br>
            <a:endParaRPr/>
          </a:p>
        </p:txBody>
      </p:sp>
      <p:sp>
        <p:nvSpPr>
          <p:cNvPr id="374" name="Google Shape;374;p38"/>
          <p:cNvSpPr txBox="1"/>
          <p:nvPr>
            <p:ph idx="1" type="body"/>
          </p:nvPr>
        </p:nvSpPr>
        <p:spPr>
          <a:xfrm>
            <a:off x="457200" y="1219200"/>
            <a:ext cx="86868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 </a:t>
            </a:r>
            <a:r>
              <a:rPr b="1" lang="fr-FR">
                <a:solidFill>
                  <a:srgbClr val="FFC000"/>
                </a:solidFill>
              </a:rPr>
              <a:t>Classification </a:t>
            </a:r>
            <a:r>
              <a:rPr i="1" lang="fr-FR">
                <a:solidFill>
                  <a:srgbClr val="FFC000"/>
                </a:solidFill>
              </a:rPr>
              <a:t>- exogènes</a:t>
            </a:r>
            <a:r>
              <a:rPr lang="fr-FR">
                <a:solidFill>
                  <a:srgbClr val="FFC000"/>
                </a:solidFill>
              </a:rPr>
              <a:t> </a:t>
            </a:r>
            <a:r>
              <a:rPr lang="fr-FR"/>
              <a:t>- corps étrangers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              - anorganique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              - organique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>
                <a:solidFill>
                  <a:srgbClr val="FFC000"/>
                </a:solidFill>
              </a:rPr>
              <a:t>                         - endogène</a:t>
            </a:r>
            <a:r>
              <a:rPr lang="fr-FR">
                <a:solidFill>
                  <a:srgbClr val="FFC000"/>
                </a:solidFill>
              </a:rPr>
              <a:t> </a:t>
            </a:r>
            <a:r>
              <a:rPr lang="fr-FR"/>
              <a:t>– la rhyolite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Symptomatologie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                        </a:t>
            </a:r>
            <a:r>
              <a:rPr lang="fr-FR"/>
              <a:t>- obstruction nasale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- rhinorrhée unilatérale purulente, fétide </a:t>
            </a:r>
            <a:br>
              <a:rPr lang="fr-FR"/>
            </a:br>
            <a:r>
              <a:rPr lang="fr-FR"/>
              <a:t>                  - épistaxis répétées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r>
              <a:rPr b="1" lang="fr-FR">
                <a:solidFill>
                  <a:srgbClr val="FFC000"/>
                </a:solidFill>
              </a:rPr>
              <a:t>Traitement</a:t>
            </a:r>
            <a:r>
              <a:rPr lang="fr-FR">
                <a:solidFill>
                  <a:srgbClr val="FFC000"/>
                </a:solidFill>
              </a:rPr>
              <a:t> </a:t>
            </a:r>
            <a:r>
              <a:rPr lang="fr-FR"/>
              <a:t>- extraction - sous le contrôle visuel – il faut qu’il dépasse le corps étranger - dessus de lui, alors s’oriente l’outil vers le plancher et s’extrait le corps étranger avec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- pinces</a:t>
            </a:r>
            <a:br>
              <a:rPr lang="fr-FR"/>
            </a:br>
            <a:r>
              <a:rPr lang="fr-FR"/>
              <a:t>                      - crochets</a:t>
            </a:r>
            <a:br>
              <a:rPr lang="fr-FR"/>
            </a:br>
            <a:r>
              <a:rPr lang="fr-FR"/>
              <a:t>                      - curettes</a:t>
            </a:r>
            <a:endParaRPr/>
          </a:p>
          <a:p>
            <a:pPr indent="-202644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9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lang="fr-FR"/>
              <a:t>MALADIES CUTANÉES DU NEZ</a:t>
            </a:r>
            <a:br>
              <a:rPr lang="fr-FR"/>
            </a:br>
            <a:endParaRPr/>
          </a:p>
        </p:txBody>
      </p:sp>
      <p:sp>
        <p:nvSpPr>
          <p:cNvPr id="380" name="Google Shape;380;p39"/>
          <p:cNvSpPr txBox="1"/>
          <p:nvPr>
            <p:ph idx="1" type="body"/>
          </p:nvPr>
        </p:nvSpPr>
        <p:spPr>
          <a:xfrm>
            <a:off x="304800" y="1447800"/>
            <a:ext cx="655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44531"/>
              <a:buNone/>
            </a:pPr>
            <a:r>
              <a:rPr lang="fr-FR"/>
              <a:t> 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8000" u="sng"/>
              <a:t>Maladies cutanées de la peau du nez sont des problèmes dermatologiques, et par conséquence, l’apanage de cette spécialité</a:t>
            </a:r>
            <a:endParaRPr i="1" sz="8000" u="sng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 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9600">
                <a:solidFill>
                  <a:srgbClr val="FFC000"/>
                </a:solidFill>
              </a:rPr>
              <a:t>FOLLICULITE  DU  VESTIBULE NASAL</a:t>
            </a:r>
            <a:r>
              <a:rPr lang="fr-FR" sz="6400"/>
              <a:t> 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C’est une affection staphylococcique du tégument, des follicules pilo-sébacés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7200">
                <a:solidFill>
                  <a:srgbClr val="FFC000"/>
                </a:solidFill>
              </a:rPr>
              <a:t>Symptomatologie :</a:t>
            </a:r>
            <a:endParaRPr sz="7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6400"/>
              <a:t>Subjectif</a:t>
            </a:r>
            <a:r>
              <a:rPr lang="fr-FR" sz="6400"/>
              <a:t> - prurit du vestibule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                 - picotement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                 - douleur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6400"/>
              <a:t>Objectif </a:t>
            </a:r>
            <a:r>
              <a:rPr lang="fr-FR" sz="6400"/>
              <a:t>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- congestion, gonflement du vestibule nasal, centrée par un poil 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- croutes dans le vestibule 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- congestion du lobule nasal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 </a:t>
            </a:r>
            <a:r>
              <a:rPr b="1" lang="fr-FR" sz="7200">
                <a:solidFill>
                  <a:srgbClr val="FFC000"/>
                </a:solidFill>
              </a:rPr>
              <a:t>Traitement :</a:t>
            </a:r>
            <a:endParaRPr b="1" sz="7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 Toilette correcte de la cavité nasale et  des onguents antibiotiques locaux.</a:t>
            </a:r>
            <a:r>
              <a:rPr b="1" i="1" lang="fr-FR"/>
              <a:t> </a:t>
            </a:r>
            <a:endParaRPr/>
          </a:p>
          <a:p>
            <a:pPr indent="-297656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id="381" name="Google Shape;38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2362201"/>
            <a:ext cx="2236236" cy="167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53200" y="4363720"/>
            <a:ext cx="2133600" cy="1732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0"/>
          <p:cNvSpPr txBox="1"/>
          <p:nvPr>
            <p:ph type="title"/>
          </p:nvPr>
        </p:nvSpPr>
        <p:spPr>
          <a:xfrm>
            <a:off x="762000" y="228600"/>
            <a:ext cx="944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nsolas"/>
              <a:buNone/>
            </a:pPr>
            <a:r>
              <a:rPr b="1" i="1" lang="fr-FR" sz="3200"/>
              <a:t>LE FURONCLE DU VESTIBULE NASAL</a:t>
            </a:r>
            <a:br>
              <a:rPr lang="fr-FR"/>
            </a:br>
            <a:endParaRPr/>
          </a:p>
        </p:txBody>
      </p:sp>
      <p:sp>
        <p:nvSpPr>
          <p:cNvPr id="388" name="Google Shape;388;p40"/>
          <p:cNvSpPr txBox="1"/>
          <p:nvPr>
            <p:ph idx="1" type="body"/>
          </p:nvPr>
        </p:nvSpPr>
        <p:spPr>
          <a:xfrm>
            <a:off x="914400" y="1066800"/>
            <a:ext cx="7772400" cy="528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600">
                <a:solidFill>
                  <a:srgbClr val="FFC000"/>
                </a:solidFill>
              </a:rPr>
              <a:t>Étiologie</a:t>
            </a:r>
            <a:r>
              <a:rPr b="1" lang="fr-FR" sz="3600"/>
              <a:t> </a:t>
            </a:r>
            <a:r>
              <a:rPr b="1" lang="fr-FR"/>
              <a:t>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La principale cause est staphylococcus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- le diabète sucré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- les maladies hépatiques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600">
                <a:solidFill>
                  <a:srgbClr val="FFC000"/>
                </a:solidFill>
              </a:rPr>
              <a:t>Symptomatologie :</a:t>
            </a:r>
            <a:endParaRPr sz="36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/>
              <a:t>Subjectif : </a:t>
            </a:r>
            <a:r>
              <a:rPr lang="fr-FR"/>
              <a:t>- initial de prurit au niveau du vestibule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- puis la douleur vive, pulsatile.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/>
              <a:t>Objectif : </a:t>
            </a:r>
            <a:r>
              <a:rPr lang="fr-FR"/>
              <a:t>lobe nasal - congestion - gonflement </a:t>
            </a:r>
            <a:br>
              <a:rPr lang="fr-FR"/>
            </a:br>
            <a:r>
              <a:rPr lang="fr-FR"/>
              <a:t>           vestibule - une proéminence rouge, centrée sur un poil,  il définit le bourbillon qui s’éliminera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600">
                <a:solidFill>
                  <a:srgbClr val="FFC000"/>
                </a:solidFill>
              </a:rPr>
              <a:t>Complications</a:t>
            </a:r>
            <a:r>
              <a:rPr b="1" lang="fr-FR" sz="3600"/>
              <a:t> </a:t>
            </a:r>
            <a:r>
              <a:rPr lang="fr-FR"/>
              <a:t> </a:t>
            </a:r>
            <a:r>
              <a:rPr i="1" lang="fr-FR" u="sng"/>
              <a:t>- rares, mais très graves: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u="sng">
                <a:solidFill>
                  <a:srgbClr val="FFC000"/>
                </a:solidFill>
              </a:rPr>
              <a:t>thrombophlébite du sinus caverneux- </a:t>
            </a:r>
            <a:r>
              <a:rPr lang="fr-FR"/>
              <a:t>par l’infection qui se propage à travers les veines angulaire et orbitaire (le gonflement palpébral, chémosis, exophtalmie, troubles de la motilité oculaire, des signes des lésions cérébrales)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600">
                <a:solidFill>
                  <a:srgbClr val="FFC000"/>
                </a:solidFill>
              </a:rPr>
              <a:t>Traitement</a:t>
            </a:r>
            <a:r>
              <a:rPr lang="fr-FR"/>
              <a:t> - </a:t>
            </a:r>
            <a:r>
              <a:rPr i="1" lang="fr-FR" u="sng"/>
              <a:t>ne sera pas maltraité </a:t>
            </a:r>
            <a:endParaRPr i="1" u="sng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antibiotiques agissant staphylococcique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243363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1"/>
          <p:cNvSpPr txBox="1"/>
          <p:nvPr>
            <p:ph type="title"/>
          </p:nvPr>
        </p:nvSpPr>
        <p:spPr>
          <a:xfrm>
            <a:off x="533400" y="228600"/>
            <a:ext cx="8610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i="1" lang="fr-FR"/>
              <a:t>LE FURONCLE DU VESTIBULE NASAL</a:t>
            </a:r>
            <a:endParaRPr/>
          </a:p>
        </p:txBody>
      </p:sp>
      <p:pic>
        <p:nvPicPr>
          <p:cNvPr id="394" name="Google Shape;394;p4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066800"/>
            <a:ext cx="3200400" cy="234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5401" y="1066800"/>
            <a:ext cx="28956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1" y="4114800"/>
            <a:ext cx="3175846" cy="2401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53000" y="4191001"/>
            <a:ext cx="3114675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2"/>
          <p:cNvSpPr txBox="1"/>
          <p:nvPr>
            <p:ph type="title"/>
          </p:nvPr>
        </p:nvSpPr>
        <p:spPr>
          <a:xfrm>
            <a:off x="685800" y="512064"/>
            <a:ext cx="9067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lang="fr-FR"/>
              <a:t>LES RHINITES AIGUËS</a:t>
            </a:r>
            <a:br>
              <a:rPr lang="fr-FR"/>
            </a:br>
            <a:endParaRPr/>
          </a:p>
        </p:txBody>
      </p:sp>
      <p:sp>
        <p:nvSpPr>
          <p:cNvPr id="403" name="Google Shape;403;p42"/>
          <p:cNvSpPr txBox="1"/>
          <p:nvPr>
            <p:ph idx="1" type="body"/>
          </p:nvPr>
        </p:nvSpPr>
        <p:spPr>
          <a:xfrm>
            <a:off x="609600" y="1371600"/>
            <a:ext cx="8534400" cy="498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4000">
                <a:solidFill>
                  <a:srgbClr val="FFC000"/>
                </a:solidFill>
              </a:rPr>
              <a:t>LA  RHINITE  AIGUË  BANALE  (</a:t>
            </a:r>
            <a:r>
              <a:rPr lang="fr-FR" sz="4000">
                <a:solidFill>
                  <a:srgbClr val="FFC000"/>
                </a:solidFill>
              </a:rPr>
              <a:t> le coryza ou le catarrhe 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40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Étiopathogénie :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Il a de caractère épidémique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▪"/>
            </a:pPr>
            <a:r>
              <a:rPr lang="fr-FR">
                <a:solidFill>
                  <a:srgbClr val="FFC000"/>
                </a:solidFill>
              </a:rPr>
              <a:t>Facteurs favorisants :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- les rhinovirus - le plus souvent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- les myxovirus</a:t>
            </a:r>
            <a:br>
              <a:rPr lang="fr-FR"/>
            </a:br>
            <a:r>
              <a:rPr lang="fr-FR"/>
              <a:t>- les adénovirus</a:t>
            </a:r>
            <a:br>
              <a:rPr lang="fr-FR"/>
            </a:br>
            <a:r>
              <a:rPr lang="fr-FR"/>
              <a:t>- virus respiratoire syncytial (VRS)</a:t>
            </a:r>
            <a:br>
              <a:rPr lang="fr-FR"/>
            </a:br>
            <a:r>
              <a:rPr lang="fr-FR"/>
              <a:t>- rhéovirus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▪"/>
            </a:pPr>
            <a:r>
              <a:rPr lang="fr-FR">
                <a:solidFill>
                  <a:srgbClr val="FFC000"/>
                </a:solidFill>
              </a:rPr>
              <a:t>Facteurs prédisposants :</a:t>
            </a:r>
            <a:br>
              <a:rPr lang="fr-FR"/>
            </a:br>
            <a:r>
              <a:rPr lang="fr-FR"/>
              <a:t>- froid, humidité, changements de température ;</a:t>
            </a:r>
            <a:br>
              <a:rPr lang="fr-FR"/>
            </a:br>
            <a:r>
              <a:rPr lang="fr-FR"/>
              <a:t>- abaissement de la résistance du corps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br>
              <a:rPr i="1" lang="fr-FR" u="sng"/>
            </a:br>
            <a:r>
              <a:rPr i="1" lang="fr-FR" u="sng"/>
              <a:t>L’incubation - 2-3 jours </a:t>
            </a:r>
            <a:br>
              <a:rPr i="1" lang="fr-FR" u="sng"/>
            </a:br>
            <a:r>
              <a:rPr i="1" lang="fr-FR" u="sng"/>
              <a:t>L’immunité obtenue est de courte durée.</a:t>
            </a:r>
            <a:endParaRPr i="1" u="sng"/>
          </a:p>
          <a:p>
            <a:pPr indent="-243363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3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800"/>
              <a:buFont typeface="Corbel"/>
              <a:buNone/>
            </a:pPr>
            <a:r>
              <a:rPr b="1" lang="fr-FR" sz="2800">
                <a:solidFill>
                  <a:srgbClr val="FFC000"/>
                </a:solidFill>
                <a:latin typeface="Corbel"/>
                <a:ea typeface="Corbel"/>
                <a:cs typeface="Corbel"/>
                <a:sym typeface="Corbel"/>
              </a:rPr>
              <a:t>LA  RHINITE  AIGUË  BANALE     </a:t>
            </a:r>
            <a:r>
              <a:rPr b="1" lang="fr-FR" sz="2400">
                <a:solidFill>
                  <a:srgbClr val="FFC000"/>
                </a:solidFill>
                <a:latin typeface="Corbel"/>
                <a:ea typeface="Corbel"/>
                <a:cs typeface="Corbel"/>
                <a:sym typeface="Corbel"/>
              </a:rPr>
              <a:t>(</a:t>
            </a:r>
            <a:r>
              <a:rPr lang="fr-FR" sz="2400">
                <a:solidFill>
                  <a:srgbClr val="FFC000"/>
                </a:solidFill>
                <a:latin typeface="Corbel"/>
                <a:ea typeface="Corbel"/>
                <a:cs typeface="Corbel"/>
                <a:sym typeface="Corbel"/>
              </a:rPr>
              <a:t>le coryza ou le catarrhe)</a:t>
            </a:r>
            <a:br>
              <a:rPr lang="fr-FR">
                <a:solidFill>
                  <a:srgbClr val="FFC000"/>
                </a:solidFill>
              </a:rPr>
            </a:br>
            <a:endParaRPr/>
          </a:p>
        </p:txBody>
      </p:sp>
      <p:sp>
        <p:nvSpPr>
          <p:cNvPr id="409" name="Google Shape;409;p43"/>
          <p:cNvSpPr txBox="1"/>
          <p:nvPr>
            <p:ph idx="1" type="body"/>
          </p:nvPr>
        </p:nvSpPr>
        <p:spPr>
          <a:xfrm>
            <a:off x="914400" y="1371600"/>
            <a:ext cx="77724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3200">
                <a:solidFill>
                  <a:srgbClr val="FFC000"/>
                </a:solidFill>
              </a:rPr>
              <a:t>Symptomatologie :</a:t>
            </a:r>
            <a:endParaRPr sz="3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>
                <a:solidFill>
                  <a:srgbClr val="FFC000"/>
                </a:solidFill>
              </a:rPr>
              <a:t>1. Phase prodromique :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- </a:t>
            </a:r>
            <a:r>
              <a:rPr i="1" lang="fr-FR"/>
              <a:t>subjectif :</a:t>
            </a:r>
            <a:r>
              <a:rPr lang="fr-FR"/>
              <a:t>- sous fébrilité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- fatigue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- céphalée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- chez les enfants - de la fièvre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/>
              <a:t>         - objectif </a:t>
            </a:r>
            <a:r>
              <a:rPr lang="fr-FR"/>
              <a:t>- la muqueuse pâle et sèche.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>
                <a:solidFill>
                  <a:srgbClr val="FFC000"/>
                </a:solidFill>
              </a:rPr>
              <a:t>2. La phase catarrhale :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/>
              <a:t>         - subjectif  </a:t>
            </a:r>
            <a:r>
              <a:rPr lang="fr-FR"/>
              <a:t>- quelques heures plus tard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- hydrorhée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		              - éternuements  </a:t>
            </a:r>
            <a:br>
              <a:rPr lang="fr-FR"/>
            </a:br>
            <a:r>
              <a:rPr lang="fr-FR"/>
              <a:t>                        - hypo-anosmie  </a:t>
            </a:r>
            <a:br>
              <a:rPr lang="fr-FR"/>
            </a:br>
            <a:r>
              <a:rPr lang="fr-FR"/>
              <a:t> 	              - rhinolalie fermé </a:t>
            </a:r>
            <a:br>
              <a:rPr lang="fr-FR"/>
            </a:br>
            <a:r>
              <a:rPr lang="fr-FR"/>
              <a:t>  -</a:t>
            </a:r>
            <a:r>
              <a:rPr i="1" lang="fr-FR"/>
              <a:t>objectif     </a:t>
            </a:r>
            <a:r>
              <a:rPr lang="fr-FR"/>
              <a:t> - muqueuse intensément encombrée, oedématiée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3. </a:t>
            </a:r>
            <a:r>
              <a:rPr lang="fr-FR">
                <a:solidFill>
                  <a:srgbClr val="FFC000"/>
                </a:solidFill>
              </a:rPr>
              <a:t>Phase muqueuse </a:t>
            </a:r>
            <a:r>
              <a:rPr lang="fr-FR"/>
              <a:t>– les symptômes généraux sont améliorés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- l’obstruction nasale réduit progressivement </a:t>
            </a:r>
            <a:br>
              <a:rPr lang="fr-FR"/>
            </a:br>
            <a:r>
              <a:rPr lang="fr-FR"/>
              <a:t>                        - la sécrétion est muqueuse.</a:t>
            </a:r>
            <a:endParaRPr/>
          </a:p>
          <a:p>
            <a:pPr indent="-22979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id="410" name="Google Shape;41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1447800"/>
            <a:ext cx="2609850" cy="234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4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800"/>
              <a:buFont typeface="Corbel"/>
              <a:buNone/>
            </a:pPr>
            <a:r>
              <a:rPr b="1" lang="fr-FR" sz="2800">
                <a:solidFill>
                  <a:srgbClr val="FFC000"/>
                </a:solidFill>
                <a:latin typeface="Corbel"/>
                <a:ea typeface="Corbel"/>
                <a:cs typeface="Corbel"/>
                <a:sym typeface="Corbel"/>
              </a:rPr>
              <a:t>LA  RHINITE  AIGUË  BANALE     </a:t>
            </a:r>
            <a:r>
              <a:rPr b="1" lang="fr-FR" sz="2400">
                <a:solidFill>
                  <a:srgbClr val="FFC000"/>
                </a:solidFill>
                <a:latin typeface="Corbel"/>
                <a:ea typeface="Corbel"/>
                <a:cs typeface="Corbel"/>
                <a:sym typeface="Corbel"/>
              </a:rPr>
              <a:t>(</a:t>
            </a:r>
            <a:r>
              <a:rPr lang="fr-FR" sz="2400">
                <a:solidFill>
                  <a:srgbClr val="FFC000"/>
                </a:solidFill>
                <a:latin typeface="Corbel"/>
                <a:ea typeface="Corbel"/>
                <a:cs typeface="Corbel"/>
                <a:sym typeface="Corbel"/>
              </a:rPr>
              <a:t>le coryza ou le catarrhe)</a:t>
            </a:r>
            <a:endParaRPr sz="24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16" name="Google Shape;416;p44"/>
          <p:cNvSpPr txBox="1"/>
          <p:nvPr>
            <p:ph idx="1" type="body"/>
          </p:nvPr>
        </p:nvSpPr>
        <p:spPr>
          <a:xfrm>
            <a:off x="457200" y="1219200"/>
            <a:ext cx="6400800" cy="513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Char char="▪"/>
            </a:pPr>
            <a:r>
              <a:rPr b="1" lang="fr-FR">
                <a:solidFill>
                  <a:srgbClr val="FFC000"/>
                </a:solidFill>
              </a:rPr>
              <a:t>Évolution -</a:t>
            </a:r>
            <a:r>
              <a:rPr lang="fr-FR">
                <a:solidFill>
                  <a:srgbClr val="FFC000"/>
                </a:solidFill>
              </a:rPr>
              <a:t> </a:t>
            </a:r>
            <a:r>
              <a:rPr b="1" lang="fr-FR">
                <a:solidFill>
                  <a:srgbClr val="FFC000"/>
                </a:solidFill>
              </a:rPr>
              <a:t>complications :</a:t>
            </a:r>
            <a:br>
              <a:rPr lang="fr-FR"/>
            </a:br>
            <a:r>
              <a:rPr lang="fr-FR"/>
              <a:t>L’évolution est bénigne vers la guérison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br>
              <a:rPr lang="fr-FR"/>
            </a:br>
            <a:r>
              <a:rPr lang="fr-FR" u="sng">
                <a:solidFill>
                  <a:srgbClr val="FFC000"/>
                </a:solidFill>
              </a:rPr>
              <a:t>Complications :</a:t>
            </a:r>
            <a:br>
              <a:rPr lang="fr-FR"/>
            </a:br>
            <a:r>
              <a:rPr lang="fr-FR"/>
              <a:t>- la surinfection bactérienne </a:t>
            </a:r>
            <a:br>
              <a:rPr lang="fr-FR"/>
            </a:br>
            <a:r>
              <a:rPr lang="fr-FR"/>
              <a:t>- otiques - les plus courantes chez les enfants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b="1" lang="fr-FR">
                <a:solidFill>
                  <a:srgbClr val="FFC000"/>
                </a:solidFill>
              </a:rPr>
              <a:t>Traitement :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Le traitement est symptomatique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- anti-inflammatoires non stéroïdiens (AINS) </a:t>
            </a:r>
            <a:br>
              <a:rPr lang="fr-FR"/>
            </a:br>
            <a:r>
              <a:rPr lang="fr-FR"/>
              <a:t>- antipyrétiques </a:t>
            </a:r>
            <a:br>
              <a:rPr lang="fr-FR"/>
            </a:br>
            <a:r>
              <a:rPr lang="fr-FR"/>
              <a:t>- vasoconstricteurs locaux.</a:t>
            </a:r>
            <a:endParaRPr/>
          </a:p>
          <a:p>
            <a:pPr indent="-189071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b="1"/>
          </a:p>
        </p:txBody>
      </p:sp>
      <p:pic>
        <p:nvPicPr>
          <p:cNvPr id="417" name="Google Shape;417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200" y="2286000"/>
            <a:ext cx="2628900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5"/>
          <p:cNvSpPr txBox="1"/>
          <p:nvPr>
            <p:ph type="title"/>
          </p:nvPr>
        </p:nvSpPr>
        <p:spPr>
          <a:xfrm>
            <a:off x="914400" y="228600"/>
            <a:ext cx="7772400" cy="119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 LES  RHINITES  AIGUËS  DU  NOURRISSON</a:t>
            </a:r>
            <a:br>
              <a:rPr lang="fr-FR"/>
            </a:br>
            <a:r>
              <a:rPr lang="fr-FR"/>
              <a:t> </a:t>
            </a:r>
            <a:endParaRPr/>
          </a:p>
        </p:txBody>
      </p:sp>
      <p:sp>
        <p:nvSpPr>
          <p:cNvPr id="423" name="Google Shape;423;p45"/>
          <p:cNvSpPr txBox="1"/>
          <p:nvPr>
            <p:ph idx="1" type="body"/>
          </p:nvPr>
        </p:nvSpPr>
        <p:spPr>
          <a:xfrm>
            <a:off x="381000" y="1066800"/>
            <a:ext cx="91440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7200">
                <a:solidFill>
                  <a:srgbClr val="FFC000"/>
                </a:solidFill>
              </a:rPr>
              <a:t>Symptomatologie</a:t>
            </a:r>
            <a:r>
              <a:rPr b="1" lang="fr-FR" sz="6400"/>
              <a:t> (</a:t>
            </a:r>
            <a:r>
              <a:rPr lang="fr-FR" sz="6400"/>
              <a:t>les symptômes sont plus dramatiques)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6400"/>
              <a:t> </a:t>
            </a:r>
            <a:r>
              <a:rPr i="1" lang="fr-FR" sz="6400" u="sng"/>
              <a:t>Locale</a:t>
            </a:r>
            <a:r>
              <a:rPr i="1" lang="fr-FR" sz="6400"/>
              <a:t> </a:t>
            </a:r>
            <a:r>
              <a:rPr lang="fr-FR" sz="6400"/>
              <a:t>- l’obstruction nasale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- empêche la succion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 - dans les premiers mois il s’adapte plus difficile à la respiration buccale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 - rhinorrhée abondante.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6400" u="sng"/>
              <a:t> Général </a:t>
            </a:r>
            <a:r>
              <a:rPr lang="fr-FR" sz="6400"/>
              <a:t>- comme l’adulte, mais plus prononcé :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- fièvre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- malaise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- d’agitation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- respiration sifflante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7200">
                <a:solidFill>
                  <a:srgbClr val="FFC000"/>
                </a:solidFill>
              </a:rPr>
              <a:t>Évolution. Complications</a:t>
            </a:r>
            <a:r>
              <a:rPr b="1" lang="fr-FR" sz="6400"/>
              <a:t> - </a:t>
            </a:r>
            <a:r>
              <a:rPr lang="fr-FR" sz="6400"/>
              <a:t>est plus grave, avec des complications plus fréquentes :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- adenoïdite aiguë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- otite moyenne aiguë 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- de laryngite aiguë - spasme laryngé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- des troubles digestifs – muco-pyophagie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7200">
                <a:solidFill>
                  <a:srgbClr val="FFC000"/>
                </a:solidFill>
              </a:rPr>
              <a:t>Traitement</a:t>
            </a:r>
            <a:r>
              <a:rPr lang="fr-FR" sz="7200">
                <a:solidFill>
                  <a:srgbClr val="FFC000"/>
                </a:solidFill>
              </a:rPr>
              <a:t>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- Symptomatique - comme l’adulte, l’attention aux vasoconstricteurs 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- Antibiotiques - parfois - chez les nourrissons ayant du terrain lymphatique, immunité insuffisante 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- Aspiration des sécrétions nasales - devient parfois nécessaire.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800"/>
              <a:t> </a:t>
            </a:r>
            <a:endParaRPr sz="4800"/>
          </a:p>
          <a:p>
            <a:pPr indent="-297656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id="424" name="Google Shape;42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2289" y="1981200"/>
            <a:ext cx="2421686" cy="186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6"/>
          <p:cNvSpPr txBox="1"/>
          <p:nvPr>
            <p:ph type="title"/>
          </p:nvPr>
        </p:nvSpPr>
        <p:spPr>
          <a:xfrm>
            <a:off x="914400" y="152400"/>
            <a:ext cx="7772400" cy="1274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LES  RHINITES  AIGUËS  SEPTIQUES :</a:t>
            </a:r>
            <a:br>
              <a:rPr lang="fr-FR"/>
            </a:br>
            <a:endParaRPr/>
          </a:p>
        </p:txBody>
      </p:sp>
      <p:sp>
        <p:nvSpPr>
          <p:cNvPr id="430" name="Google Shape;430;p46"/>
          <p:cNvSpPr txBox="1"/>
          <p:nvPr>
            <p:ph idx="1" type="body"/>
          </p:nvPr>
        </p:nvSpPr>
        <p:spPr>
          <a:xfrm>
            <a:off x="685800" y="762000"/>
            <a:ext cx="8458200" cy="6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 sz="4200"/>
              <a:t> Etiologie:  </a:t>
            </a:r>
            <a:r>
              <a:rPr lang="fr-FR" sz="3500"/>
              <a:t>le staphylocoque, le streptocoque, le méningocoque</a:t>
            </a:r>
            <a:endParaRPr sz="35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500">
                <a:solidFill>
                  <a:srgbClr val="FFC000"/>
                </a:solidFill>
              </a:rPr>
              <a:t>A. RHINITE PURULENTE CITRINE</a:t>
            </a:r>
            <a:endParaRPr b="1" sz="35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b="1" lang="fr-FR" sz="3400" u="sng"/>
              <a:t>Étiologie</a:t>
            </a:r>
            <a:r>
              <a:rPr b="1" lang="fr-FR" sz="3400"/>
              <a:t> : </a:t>
            </a:r>
            <a:r>
              <a:rPr lang="fr-FR" sz="3400"/>
              <a:t>Staphylococcus au niveau des rhagades mamelonnaires ou la mastite de la mère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b="1" lang="fr-FR" sz="3400" u="sng"/>
              <a:t>Symptomatologie </a:t>
            </a:r>
            <a:r>
              <a:rPr b="1" lang="fr-FR" sz="3400"/>
              <a:t>: </a:t>
            </a:r>
            <a:r>
              <a:rPr lang="fr-FR" sz="3400"/>
              <a:t>Apparition à 3-7 jours d’âge avec :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400"/>
              <a:t>          - malaise général 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400"/>
              <a:t>          - l’obstruction nasale 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400"/>
              <a:t>          - rhinorrhée purulente abondante jaune qui forme des croûtes jaunâtres sur la lèvre supérieure (comme le citron et le jaune d’oeuf)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b="1" lang="fr-FR" sz="3400" u="sng"/>
              <a:t>Évolution. Complications</a:t>
            </a:r>
            <a:r>
              <a:rPr b="1" lang="fr-FR" sz="3400"/>
              <a:t> :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3400"/>
              <a:t>Évolution – grave, avec des complications pulmonaires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b="1" lang="fr-FR" sz="3400" u="sng"/>
              <a:t>Traitement</a:t>
            </a:r>
            <a:endParaRPr sz="3400" u="sng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400"/>
              <a:t>          - se fait la toilette - aspirations locales </a:t>
            </a:r>
            <a:br>
              <a:rPr lang="fr-FR" sz="3400"/>
            </a:br>
            <a:r>
              <a:rPr lang="fr-FR" sz="3400"/>
              <a:t> - antibiotique antistaphylococciques</a:t>
            </a:r>
            <a:endParaRPr sz="3400"/>
          </a:p>
          <a:p>
            <a:pPr indent="-260858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500">
                <a:solidFill>
                  <a:srgbClr val="FFC000"/>
                </a:solidFill>
              </a:rPr>
              <a:t>B. RHINITE STREPTOCOCCIQUE :</a:t>
            </a:r>
            <a:br>
              <a:rPr lang="fr-FR"/>
            </a:br>
            <a:r>
              <a:rPr lang="fr-FR" sz="3500"/>
              <a:t>- a un tableau clinique similaire.</a:t>
            </a:r>
            <a:br>
              <a:rPr lang="fr-FR" sz="3500"/>
            </a:br>
            <a:r>
              <a:rPr lang="fr-FR" sz="3500"/>
              <a:t>- diagnostic bactériologique positif</a:t>
            </a:r>
            <a:br>
              <a:rPr lang="fr-FR" sz="3500"/>
            </a:br>
            <a:r>
              <a:rPr lang="fr-FR" sz="3500"/>
              <a:t>- le traitement est différent - pénicilline injectable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br>
              <a:rPr lang="fr-FR"/>
            </a:br>
            <a:endParaRPr b="1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500">
                <a:solidFill>
                  <a:srgbClr val="FFC000"/>
                </a:solidFill>
              </a:rPr>
              <a:t>C. RHINITE MÉNINGOCOCCIQUE :</a:t>
            </a:r>
            <a:endParaRPr b="1" sz="35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3500"/>
              <a:t>Elle est fréquemment compliquée avec une pneumonie ou d’une méningite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3500" u="sng">
                <a:solidFill>
                  <a:srgbClr val="FFC000"/>
                </a:solidFill>
              </a:rPr>
              <a:t> Le diagnostic positif des rhinites septiques est bactériologique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3500" u="sng">
                <a:solidFill>
                  <a:srgbClr val="FFC000"/>
                </a:solidFill>
              </a:rPr>
              <a:t> Le traitement - selon l’antibiogramme.</a:t>
            </a:r>
            <a:endParaRPr i="1" sz="35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 </a:t>
            </a:r>
            <a:endParaRPr/>
          </a:p>
          <a:p>
            <a:pPr indent="-27051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id="431" name="Google Shape;431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200" y="3048000"/>
            <a:ext cx="2514600" cy="272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7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RHINITES  AIGUËS  SPÉCIFIQUES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37" name="Google Shape;437;p47"/>
          <p:cNvSpPr txBox="1"/>
          <p:nvPr>
            <p:ph idx="1" type="body"/>
          </p:nvPr>
        </p:nvSpPr>
        <p:spPr>
          <a:xfrm>
            <a:off x="914400" y="1219200"/>
            <a:ext cx="77724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br>
              <a:rPr b="1" lang="fr-FR"/>
            </a:b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4400">
                <a:solidFill>
                  <a:srgbClr val="FFC000"/>
                </a:solidFill>
              </a:rPr>
              <a:t>1. LA RHINITE AIGUË GONOCOCCIQUE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4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400"/>
              <a:t>Étiologie :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3400"/>
              <a:t>Le gonocoque, quand le bébé traverse la filière pelvigénitale de la mère infectée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400"/>
              <a:t>Symptomatologie :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3400"/>
              <a:t>Début 2 - 3 jours, avec :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3400"/>
              <a:t>- l’obstruction nasale </a:t>
            </a:r>
            <a:br>
              <a:rPr lang="fr-FR" sz="3400"/>
            </a:br>
            <a:r>
              <a:rPr lang="fr-FR" sz="3400"/>
              <a:t>- rhinorrhée purulente verdâtre, ulcérations de la muqueuse </a:t>
            </a:r>
            <a:br>
              <a:rPr lang="fr-FR" sz="3400"/>
            </a:br>
            <a:r>
              <a:rPr lang="fr-FR" sz="3400"/>
              <a:t>- croûtes - lèvre supérieure gonflée</a:t>
            </a:r>
            <a:endParaRPr/>
          </a:p>
          <a:p>
            <a:pPr indent="-260858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400"/>
              <a:t>Diagnostic positif :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3400"/>
              <a:t>La symptomatologie, l’examen bactériologique et l’examen de la mère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400"/>
              <a:t>Traitement :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i="1" lang="fr-FR" sz="3400"/>
              <a:t>Prophylactique</a:t>
            </a:r>
            <a:r>
              <a:rPr lang="fr-FR" sz="3400"/>
              <a:t> - immédiatement après la naissance est instillé dans le nez de </a:t>
            </a:r>
            <a:r>
              <a:rPr lang="fr-FR" sz="3400" u="sng">
                <a:solidFill>
                  <a:srgbClr val="FFC000"/>
                </a:solidFill>
              </a:rPr>
              <a:t>nitrate d’argent 1 % </a:t>
            </a:r>
            <a:r>
              <a:rPr lang="fr-FR" sz="3400"/>
              <a:t>ou de </a:t>
            </a:r>
            <a:r>
              <a:rPr lang="fr-FR" sz="3400" u="sng">
                <a:solidFill>
                  <a:srgbClr val="FFC000"/>
                </a:solidFill>
              </a:rPr>
              <a:t>Protargol 1 %.</a:t>
            </a:r>
            <a:endParaRPr sz="34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i="1" lang="fr-FR" sz="3400"/>
              <a:t>Curative</a:t>
            </a:r>
            <a:r>
              <a:rPr lang="fr-FR" sz="3400"/>
              <a:t> - toilette locale et d’aspiration 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400"/>
              <a:t>                             - des antibiotiques.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400"/>
              <a:t> </a:t>
            </a:r>
            <a:endParaRPr sz="3400"/>
          </a:p>
          <a:p>
            <a:pPr indent="-27051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8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RHINITES  AIGUËS  SPÉCIFIQUES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43" name="Google Shape;443;p48"/>
          <p:cNvSpPr txBox="1"/>
          <p:nvPr>
            <p:ph idx="1" type="body"/>
          </p:nvPr>
        </p:nvSpPr>
        <p:spPr>
          <a:xfrm>
            <a:off x="914400" y="1295400"/>
            <a:ext cx="84582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58163"/>
              <a:buNone/>
            </a:pPr>
            <a:r>
              <a:rPr lang="fr-FR"/>
              <a:t> </a:t>
            </a:r>
            <a:endParaRPr sz="4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5600">
                <a:solidFill>
                  <a:srgbClr val="FFC000"/>
                </a:solidFill>
              </a:rPr>
              <a:t>2.LA RHINITE SYPHILITIQUE </a:t>
            </a:r>
            <a:endParaRPr/>
          </a:p>
          <a:p>
            <a:pPr indent="-514350" lvl="0" marL="58293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5600" u="sng"/>
              <a:t>SYPHILIS CONGÉNITALE PRÉCOCE</a:t>
            </a:r>
            <a:endParaRPr/>
          </a:p>
          <a:p>
            <a:pPr indent="-514350" lvl="0" marL="58293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Le début se passe a approximativement trois semaines avec rhinite persistante - rhinorrhée purulente et sanguinolente fétide</a:t>
            </a:r>
            <a:endParaRPr/>
          </a:p>
          <a:p>
            <a:pPr indent="-742950" lvl="0" marL="81153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Autres signes :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- pemphigus palmoplantaire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- hépato spléno mégalithes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- syphilides cutanées et bucco-linguales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5600"/>
              <a:t> </a:t>
            </a:r>
            <a:endParaRPr b="1" sz="56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5600" u="sng"/>
              <a:t>SYPHILIS CONGÉNITALE TARDIVE</a:t>
            </a:r>
            <a:endParaRPr b="1" sz="5600" u="sng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Apparition a l’âge de trois ans, l’enfant présente </a:t>
            </a:r>
            <a:r>
              <a:rPr i="1" lang="fr-FR" sz="5600" u="sng">
                <a:solidFill>
                  <a:srgbClr val="FFC000"/>
                </a:solidFill>
              </a:rPr>
              <a:t>la triade Hutchinson </a:t>
            </a:r>
            <a:r>
              <a:rPr i="1" lang="fr-FR" sz="5600" u="sng"/>
              <a:t>:</a:t>
            </a:r>
            <a:endParaRPr i="1" sz="5600" u="sng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- kératite interstitielle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- dents de scie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- hypoacousie neuro-sensorielle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5600">
                <a:solidFill>
                  <a:srgbClr val="FFC000"/>
                </a:solidFill>
              </a:rPr>
              <a:t>3.</a:t>
            </a:r>
            <a:r>
              <a:rPr lang="fr-FR" sz="5600">
                <a:solidFill>
                  <a:srgbClr val="FFC000"/>
                </a:solidFill>
              </a:rPr>
              <a:t> </a:t>
            </a:r>
            <a:r>
              <a:rPr b="1" lang="fr-FR" sz="5600">
                <a:solidFill>
                  <a:srgbClr val="FFC000"/>
                </a:solidFill>
              </a:rPr>
              <a:t>LA RHINITE DIPHTÉRIQUE </a:t>
            </a:r>
            <a:endParaRPr sz="56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- Accompagne l’angine diphtérique - la lésion caractéristique est la fausse membrane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 </a:t>
            </a:r>
            <a:endParaRPr sz="56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5600">
                <a:solidFill>
                  <a:srgbClr val="FFC000"/>
                </a:solidFill>
              </a:rPr>
              <a:t>4. LA RHINITE DES MALADIES ÉRUPTIVES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- La rougeole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- La scarlatine dans les formes sévères</a:t>
            </a:r>
            <a:endParaRPr sz="5600"/>
          </a:p>
          <a:p>
            <a:pPr indent="-258445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56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9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lang="fr-FR"/>
              <a:t> </a:t>
            </a: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LA  RHINITE  CHRONIQUE</a:t>
            </a:r>
            <a:br>
              <a:rPr lang="fr-FR"/>
            </a:br>
            <a:endParaRPr/>
          </a:p>
        </p:txBody>
      </p:sp>
      <p:sp>
        <p:nvSpPr>
          <p:cNvPr id="449" name="Google Shape;449;p49"/>
          <p:cNvSpPr txBox="1"/>
          <p:nvPr>
            <p:ph idx="1" type="body"/>
          </p:nvPr>
        </p:nvSpPr>
        <p:spPr>
          <a:xfrm>
            <a:off x="914400" y="1447800"/>
            <a:ext cx="77724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02644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b="1" lang="fr-FR"/>
              <a:t>Il peut être</a:t>
            </a:r>
            <a:r>
              <a:rPr lang="fr-FR"/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</a:t>
            </a:r>
            <a:r>
              <a:rPr lang="fr-FR">
                <a:solidFill>
                  <a:srgbClr val="FFC000"/>
                </a:solidFill>
              </a:rPr>
              <a:t>- allergique </a:t>
            </a:r>
            <a:r>
              <a:rPr lang="fr-FR"/>
              <a:t>- voir allergie nasale </a:t>
            </a:r>
            <a:br>
              <a:rPr lang="fr-FR"/>
            </a:br>
            <a:r>
              <a:rPr lang="fr-FR"/>
              <a:t> 	            </a:t>
            </a:r>
            <a:r>
              <a:rPr lang="fr-FR">
                <a:solidFill>
                  <a:srgbClr val="FFC000"/>
                </a:solidFill>
              </a:rPr>
              <a:t>- non allergique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b="1" lang="fr-FR"/>
              <a:t>Après étiologie</a:t>
            </a:r>
            <a:r>
              <a:rPr lang="fr-FR"/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</a:t>
            </a:r>
            <a:r>
              <a:rPr lang="fr-FR">
                <a:solidFill>
                  <a:srgbClr val="FFC000"/>
                </a:solidFill>
              </a:rPr>
              <a:t> - non spécifié </a:t>
            </a:r>
            <a:br>
              <a:rPr lang="fr-FR"/>
            </a:br>
            <a:r>
              <a:rPr lang="fr-FR"/>
              <a:t> 	            </a:t>
            </a:r>
            <a:r>
              <a:rPr lang="fr-FR">
                <a:solidFill>
                  <a:srgbClr val="FFC000"/>
                </a:solidFill>
              </a:rPr>
              <a:t>- spécifique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b="1" lang="fr-FR"/>
              <a:t>Anatomopathologique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</a:t>
            </a:r>
            <a:r>
              <a:rPr lang="fr-FR">
                <a:solidFill>
                  <a:srgbClr val="FFC000"/>
                </a:solidFill>
              </a:rPr>
              <a:t>- hypertrophiqu</a:t>
            </a:r>
            <a:r>
              <a:rPr i="1" lang="fr-FR">
                <a:solidFill>
                  <a:srgbClr val="FFC000"/>
                </a:solidFill>
              </a:rPr>
              <a:t>e</a:t>
            </a:r>
            <a:r>
              <a:rPr lang="fr-FR">
                <a:solidFill>
                  <a:srgbClr val="FFC000"/>
                </a:solidFill>
              </a:rPr>
              <a:t> </a:t>
            </a:r>
            <a:r>
              <a:rPr lang="fr-FR"/>
              <a:t>- </a:t>
            </a:r>
            <a:r>
              <a:rPr i="1" lang="fr-FR" u="sng"/>
              <a:t>diffuse ou localisée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tête ou la queue du cornet inférieur </a:t>
            </a:r>
            <a:br>
              <a:rPr lang="fr-FR"/>
            </a:br>
            <a:r>
              <a:rPr lang="fr-FR"/>
              <a:t>                    </a:t>
            </a:r>
            <a:r>
              <a:rPr lang="fr-FR">
                <a:solidFill>
                  <a:srgbClr val="FFC000"/>
                </a:solidFill>
              </a:rPr>
              <a:t>- atrophique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 </a:t>
            </a:r>
            <a:endParaRPr/>
          </a:p>
        </p:txBody>
      </p:sp>
      <p:pic>
        <p:nvPicPr>
          <p:cNvPr id="450" name="Google Shape;45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6635003" y="1605803"/>
            <a:ext cx="2274794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0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LA RHINITE CHRONIQUE NON SPÉCIFIQUE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56" name="Google Shape;456;p50"/>
          <p:cNvSpPr txBox="1"/>
          <p:nvPr>
            <p:ph idx="1" type="body"/>
          </p:nvPr>
        </p:nvSpPr>
        <p:spPr>
          <a:xfrm>
            <a:off x="304800" y="1143000"/>
            <a:ext cx="83820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8000">
                <a:solidFill>
                  <a:srgbClr val="FFC000"/>
                </a:solidFill>
              </a:rPr>
              <a:t>RHINITE CHRONIQUE NON ALLERGIQUE - NON INFECTIEUSE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b="1" sz="8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5600"/>
              <a:t> </a:t>
            </a:r>
            <a:r>
              <a:rPr lang="fr-FR" sz="5600"/>
              <a:t> Est très courante - l’inflammation chronique de la muqueuse nasal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   Mécanisme étiopathogénique inconnu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6400" u="sng"/>
              <a:t>Classification:</a:t>
            </a:r>
            <a:endParaRPr sz="6400" u="sng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8000" u="sng">
                <a:solidFill>
                  <a:srgbClr val="FFC000"/>
                </a:solidFill>
              </a:rPr>
              <a:t>1. </a:t>
            </a:r>
            <a:r>
              <a:rPr b="1" i="1" lang="fr-FR" sz="8000" u="sng">
                <a:solidFill>
                  <a:srgbClr val="FFC000"/>
                </a:solidFill>
              </a:rPr>
              <a:t>Rhinite chronique non allergique</a:t>
            </a:r>
            <a:r>
              <a:rPr b="1" lang="fr-FR" sz="8000" u="sng">
                <a:solidFill>
                  <a:srgbClr val="FFC000"/>
                </a:solidFill>
              </a:rPr>
              <a:t> – </a:t>
            </a:r>
            <a:r>
              <a:rPr lang="fr-FR" sz="5600"/>
              <a:t>non infectieuse de causes connues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5600">
                <a:solidFill>
                  <a:srgbClr val="FFC000"/>
                </a:solidFill>
              </a:rPr>
              <a:t>- Médicaments</a:t>
            </a:r>
            <a:r>
              <a:rPr lang="fr-FR" sz="5600"/>
              <a:t> : 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                 - général - hypotenseurs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                                    - coronaro dilatateurs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                                     - sédatifs et hypnotiques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                                     - anticonceptionnels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                  - local - abus des décongestionnants nasaux (naphtazoline, oxymétasoline)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5600">
                <a:solidFill>
                  <a:srgbClr val="FFC000"/>
                </a:solidFill>
              </a:rPr>
              <a:t>- La rhinite chronique chimique et irritative </a:t>
            </a:r>
            <a:r>
              <a:rPr lang="fr-FR" sz="5600"/>
              <a:t>– des irritants :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                                      - climatisation - tous fréquemment incriminé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                                       - l’air sec - chauffage central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                                       - la fumée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                                       - poudre de farine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5600">
                <a:solidFill>
                  <a:srgbClr val="FFC000"/>
                </a:solidFill>
              </a:rPr>
              <a:t>- Rhinites chroniques endocrines </a:t>
            </a:r>
            <a:r>
              <a:rPr lang="fr-FR" sz="5600"/>
              <a:t>– la grossesse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                                                                               - l’hypothyroïdie.</a:t>
            </a:r>
            <a:endParaRPr sz="5600"/>
          </a:p>
          <a:p>
            <a:pPr indent="-297656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id="457" name="Google Shape;45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6777435" y="4500166"/>
            <a:ext cx="2051049" cy="23471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1"/>
          <p:cNvSpPr txBox="1"/>
          <p:nvPr>
            <p:ph type="title"/>
          </p:nvPr>
        </p:nvSpPr>
        <p:spPr>
          <a:xfrm>
            <a:off x="609600" y="228600"/>
            <a:ext cx="77724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LA  RHINITE  CHRONIQUE  NON SPÉCIFIQUE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63" name="Google Shape;463;p51"/>
          <p:cNvSpPr txBox="1"/>
          <p:nvPr>
            <p:ph idx="1" type="body"/>
          </p:nvPr>
        </p:nvSpPr>
        <p:spPr>
          <a:xfrm>
            <a:off x="228600" y="990600"/>
            <a:ext cx="8915400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8000" u="sng">
                <a:solidFill>
                  <a:srgbClr val="FFC000"/>
                </a:solidFill>
              </a:rPr>
              <a:t>2. </a:t>
            </a:r>
            <a:r>
              <a:rPr b="1" i="1" lang="fr-FR" sz="8000" u="sng">
                <a:solidFill>
                  <a:srgbClr val="FFC000"/>
                </a:solidFill>
              </a:rPr>
              <a:t>Les rhinites chroniques de cause inconnue</a:t>
            </a:r>
            <a:r>
              <a:rPr b="1" lang="fr-FR" sz="8000" u="sng">
                <a:solidFill>
                  <a:srgbClr val="FFC000"/>
                </a:solidFill>
              </a:rPr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b="1" sz="80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7200" u="sng">
                <a:solidFill>
                  <a:srgbClr val="FFC000"/>
                </a:solidFill>
              </a:rPr>
              <a:t> </a:t>
            </a:r>
            <a:r>
              <a:rPr b="1" lang="fr-FR" sz="7200">
                <a:solidFill>
                  <a:srgbClr val="FFC000"/>
                </a:solidFill>
              </a:rPr>
              <a:t>      </a:t>
            </a:r>
            <a:r>
              <a:rPr b="1" lang="fr-FR" sz="8000" u="sng">
                <a:solidFill>
                  <a:srgbClr val="FFC000"/>
                </a:solidFill>
              </a:rPr>
              <a:t>Idiopathique, vasomoteur </a:t>
            </a:r>
            <a:r>
              <a:rPr lang="fr-FR" sz="8000"/>
              <a:t>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7200"/>
              <a:t>       </a:t>
            </a:r>
            <a:r>
              <a:rPr lang="fr-FR" sz="7200">
                <a:solidFill>
                  <a:srgbClr val="FFC000"/>
                </a:solidFill>
              </a:rPr>
              <a:t>a.La rhinite chronique non allergique </a:t>
            </a:r>
            <a:r>
              <a:rPr lang="fr-FR" sz="7200"/>
              <a:t>– non infectieuse </a:t>
            </a:r>
            <a:endParaRPr sz="7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7200">
                <a:solidFill>
                  <a:srgbClr val="FFC000"/>
                </a:solidFill>
              </a:rPr>
              <a:t>       b.  La rhinite chronique non allergique – </a:t>
            </a:r>
            <a:r>
              <a:rPr lang="fr-FR" sz="7200"/>
              <a:t>non infectieuse à une augmentation de    l’éosinophilie (non allergique - des tests cutanés négatifs)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7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b="1" lang="fr-FR" sz="8000">
                <a:solidFill>
                  <a:srgbClr val="FFC000"/>
                </a:solidFill>
              </a:rPr>
              <a:t>Symptomatologie :</a:t>
            </a:r>
            <a:endParaRPr b="1" sz="80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7200"/>
              <a:t>        </a:t>
            </a:r>
            <a:r>
              <a:rPr i="1" lang="fr-FR" sz="7200" u="sng"/>
              <a:t>La symptomatologie  subjective</a:t>
            </a:r>
            <a:r>
              <a:rPr lang="fr-FR" sz="7200" u="sng"/>
              <a:t> </a:t>
            </a:r>
            <a:r>
              <a:rPr lang="fr-FR" sz="7200"/>
              <a:t> </a:t>
            </a:r>
            <a:r>
              <a:rPr lang="fr-FR" sz="7200">
                <a:solidFill>
                  <a:srgbClr val="FFC000"/>
                </a:solidFill>
              </a:rPr>
              <a:t>l’obstruction nasale , la rhinorrhée </a:t>
            </a:r>
            <a:r>
              <a:rPr lang="fr-FR" sz="7200"/>
              <a:t>et  - symptômes non caractéristiques, communes, dans les rhinites allergiques ou infectieuses</a:t>
            </a:r>
            <a:endParaRPr sz="7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7200"/>
              <a:t>        </a:t>
            </a:r>
            <a:r>
              <a:rPr i="1" lang="fr-FR" sz="7200" u="sng"/>
              <a:t>La symptomatologie objective</a:t>
            </a:r>
            <a:r>
              <a:rPr lang="fr-FR" sz="7200" u="sng"/>
              <a:t> </a:t>
            </a:r>
            <a:r>
              <a:rPr lang="fr-FR" sz="7200"/>
              <a:t> dans les stades avancés la dégénération des muqueuses devient </a:t>
            </a:r>
            <a:r>
              <a:rPr lang="fr-FR" sz="7200">
                <a:solidFill>
                  <a:srgbClr val="FFC000"/>
                </a:solidFill>
              </a:rPr>
              <a:t>polypoïde </a:t>
            </a:r>
            <a:r>
              <a:rPr lang="fr-FR" sz="7200"/>
              <a:t>et l’application des vasoconstricteurs n’a aucun effet - est la phase la </a:t>
            </a:r>
            <a:r>
              <a:rPr lang="fr-FR" sz="7200">
                <a:solidFill>
                  <a:srgbClr val="FFC000"/>
                </a:solidFill>
              </a:rPr>
              <a:t>rhinite chronique hypertrophique</a:t>
            </a:r>
            <a:r>
              <a:rPr lang="fr-FR" sz="7200"/>
              <a:t>, est le stade chirurgical de la maladie</a:t>
            </a:r>
            <a:endParaRPr sz="7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b="1" lang="fr-FR" sz="8000">
                <a:solidFill>
                  <a:srgbClr val="FFC000"/>
                </a:solidFill>
              </a:rPr>
              <a:t>Traitement :</a:t>
            </a:r>
            <a:endParaRPr sz="80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Arial"/>
              <a:buChar char="•"/>
            </a:pPr>
            <a:r>
              <a:rPr lang="fr-FR" sz="7200"/>
              <a:t> thérapie vise trouver tout d’abord les causes et de les enlever - la situation idéale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Arial"/>
              <a:buChar char="•"/>
            </a:pPr>
            <a:r>
              <a:rPr lang="fr-FR" sz="7200"/>
              <a:t> le traitement symptomatique : vasoconstricteurs , la cortisone en pulvérisateurs locaux.</a:t>
            </a:r>
            <a:endParaRPr sz="7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500"/>
              <a:t> </a:t>
            </a:r>
            <a:endParaRPr sz="5500"/>
          </a:p>
          <a:p>
            <a:pPr indent="-297656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2"/>
          <p:cNvSpPr txBox="1"/>
          <p:nvPr>
            <p:ph type="title"/>
          </p:nvPr>
        </p:nvSpPr>
        <p:spPr>
          <a:xfrm>
            <a:off x="457200" y="381000"/>
            <a:ext cx="9144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            LA  RHINITE  CHRONIQUE  ATROPHIQUE  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69" name="Google Shape;469;p52"/>
          <p:cNvSpPr txBox="1"/>
          <p:nvPr>
            <p:ph idx="1" type="body"/>
          </p:nvPr>
        </p:nvSpPr>
        <p:spPr>
          <a:xfrm>
            <a:off x="457200" y="762000"/>
            <a:ext cx="8229600" cy="6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67857"/>
              <a:buNone/>
            </a:pPr>
            <a:br>
              <a:rPr b="1" lang="fr-FR"/>
            </a:br>
            <a:r>
              <a:rPr b="1" lang="fr-FR"/>
              <a:t> </a:t>
            </a:r>
            <a:br>
              <a:rPr b="1" lang="fr-FR"/>
            </a:br>
            <a:r>
              <a:rPr b="1" lang="fr-FR" sz="4200">
                <a:solidFill>
                  <a:srgbClr val="FFC000"/>
                </a:solidFill>
              </a:rPr>
              <a:t>LA RHINITE CHRONIQUE ATROPHIQUE SIMPLE</a:t>
            </a:r>
            <a:endParaRPr sz="4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Il est le résultat des rhinites aiguës répétées, des sinusites chroniques, de l’exposition à la poussière, aux vapeurs toxiques - certaines professions sont favorisées : meuniers, maçons, verriers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Elle est caractérisée par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>
                <a:solidFill>
                  <a:srgbClr val="FFC000"/>
                </a:solidFill>
              </a:rPr>
              <a:t>         </a:t>
            </a:r>
            <a:r>
              <a:rPr lang="fr-FR" u="sng">
                <a:solidFill>
                  <a:srgbClr val="FFC000"/>
                </a:solidFill>
              </a:rPr>
              <a:t>une atrophie de la muqueuse nasale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>
                <a:solidFill>
                  <a:srgbClr val="FFC000"/>
                </a:solidFill>
              </a:rPr>
              <a:t>         </a:t>
            </a:r>
            <a:r>
              <a:rPr lang="fr-FR" u="sng">
                <a:solidFill>
                  <a:srgbClr val="FFC000"/>
                </a:solidFill>
              </a:rPr>
              <a:t>la diminution de la sécrétion nasale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>
                <a:solidFill>
                  <a:srgbClr val="FFC000"/>
                </a:solidFill>
              </a:rPr>
              <a:t>         </a:t>
            </a:r>
            <a:r>
              <a:rPr lang="fr-FR" u="sng">
                <a:solidFill>
                  <a:srgbClr val="FFC000"/>
                </a:solidFill>
              </a:rPr>
              <a:t>l’élargissement des cavités nasales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       </a:t>
            </a:r>
            <a:r>
              <a:rPr b="1" lang="fr-FR">
                <a:solidFill>
                  <a:srgbClr val="FFC000"/>
                </a:solidFill>
              </a:rPr>
              <a:t>Symptomatologie :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/>
              <a:t>       </a:t>
            </a:r>
            <a:r>
              <a:rPr i="1" lang="fr-FR" u="sng"/>
              <a:t> Subjectif</a:t>
            </a:r>
            <a:r>
              <a:rPr lang="fr-FR" u="sng"/>
              <a:t> </a:t>
            </a:r>
            <a:endParaRPr u="sng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- obstruction nasale fonctionnelle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- sensation de sécheresse de la muqueuse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- le drainage postérieur des sécrétions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/>
              <a:t>        </a:t>
            </a:r>
            <a:r>
              <a:rPr i="1" lang="fr-FR" u="sng"/>
              <a:t>Objectif</a:t>
            </a:r>
            <a:r>
              <a:rPr lang="fr-FR"/>
              <a:t> – (la rhinoscopie antérieure)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- une muqueuse nasale pâle, maigre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- des cavités nasales sèches plus larges, sans des croûtes et / ou fétidité.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22979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3"/>
          <p:cNvSpPr txBox="1"/>
          <p:nvPr>
            <p:ph type="title"/>
          </p:nvPr>
        </p:nvSpPr>
        <p:spPr>
          <a:xfrm>
            <a:off x="228600" y="304800"/>
            <a:ext cx="96012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      LA RHINITE CHRONIQUE ATROPHIQUE 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75" name="Google Shape;475;p53"/>
          <p:cNvSpPr txBox="1"/>
          <p:nvPr>
            <p:ph idx="1" type="body"/>
          </p:nvPr>
        </p:nvSpPr>
        <p:spPr>
          <a:xfrm>
            <a:off x="228600" y="838200"/>
            <a:ext cx="8686800" cy="7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32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7400">
                <a:solidFill>
                  <a:srgbClr val="FFC000"/>
                </a:solidFill>
              </a:rPr>
              <a:t>     OZÈNE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▪"/>
            </a:pPr>
            <a:r>
              <a:rPr lang="fr-FR" sz="6200"/>
              <a:t> </a:t>
            </a:r>
            <a:r>
              <a:rPr lang="fr-FR" sz="4300"/>
              <a:t>forme avancée de la rhinite chronique atrophique </a:t>
            </a:r>
            <a:endParaRPr/>
          </a:p>
          <a:p>
            <a:pPr indent="-34293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4300"/>
              <a:t>   l’atrophie de la muqueuse se produit la sécrétion croûteuse, et la fétidité de la sécrétion</a:t>
            </a:r>
            <a:endParaRPr sz="43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4300"/>
              <a:t>          </a:t>
            </a:r>
            <a:r>
              <a:rPr b="1" lang="fr-FR" sz="6200">
                <a:solidFill>
                  <a:srgbClr val="FFC000"/>
                </a:solidFill>
              </a:rPr>
              <a:t>Pathogénie</a:t>
            </a:r>
            <a:r>
              <a:rPr b="1" lang="fr-FR" sz="4300">
                <a:solidFill>
                  <a:srgbClr val="FFC000"/>
                </a:solidFill>
              </a:rPr>
              <a:t> (</a:t>
            </a:r>
            <a:r>
              <a:rPr lang="fr-FR" sz="4300"/>
              <a:t>n’est pas connu, mais il semble qu’il est </a:t>
            </a:r>
            <a:r>
              <a:rPr lang="fr-FR" sz="4300">
                <a:solidFill>
                  <a:srgbClr val="FFC000"/>
                </a:solidFill>
              </a:rPr>
              <a:t>plurifactorielle):</a:t>
            </a:r>
            <a:endParaRPr sz="43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300"/>
              <a:t>             - hormone - se produit principalement chez les femmes  </a:t>
            </a:r>
            <a:endParaRPr sz="43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300"/>
              <a:t>              - nutrition - hypovitaminose </a:t>
            </a:r>
            <a:endParaRPr sz="43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300"/>
              <a:t>              - profession - voir la rhinite atrophique chronique</a:t>
            </a:r>
            <a:endParaRPr sz="4300"/>
          </a:p>
          <a:p>
            <a:pPr indent="-34293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4300"/>
              <a:t>L’atrophie comprend la muqueuse et le squelette nasal, les glandes et les fibres nerveuses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300"/>
              <a:t>          le système muco-ciliaire est détruit</a:t>
            </a:r>
            <a:endParaRPr sz="4300"/>
          </a:p>
          <a:p>
            <a:pPr indent="-34293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4300"/>
              <a:t>La sécrétion nasale est croûteuse et elle est décomposée par les bactéries productrices d’enzymes protéolytiques.</a:t>
            </a:r>
            <a:endParaRPr sz="43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4300"/>
              <a:t>          </a:t>
            </a:r>
            <a:r>
              <a:rPr b="1" lang="fr-FR" sz="6200">
                <a:solidFill>
                  <a:srgbClr val="FFC000"/>
                </a:solidFill>
              </a:rPr>
              <a:t>Symptomatologie :</a:t>
            </a:r>
            <a:endParaRPr sz="6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4300"/>
              <a:t>          </a:t>
            </a:r>
            <a:r>
              <a:rPr b="1" i="1" lang="fr-FR" sz="4300" u="sng"/>
              <a:t>Subjectif</a:t>
            </a:r>
            <a:r>
              <a:rPr i="1" lang="fr-FR" sz="4300"/>
              <a:t>	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300"/>
              <a:t>          - sécheresse de la muqueuse </a:t>
            </a:r>
            <a:br>
              <a:rPr lang="fr-FR" sz="4300"/>
            </a:br>
            <a:r>
              <a:rPr lang="fr-FR" sz="4300"/>
              <a:t>- obstruction nasale (paradoxalement) </a:t>
            </a:r>
            <a:br>
              <a:rPr lang="fr-FR" sz="4300"/>
            </a:br>
            <a:r>
              <a:rPr lang="fr-FR" sz="4300"/>
              <a:t>- fétidité de la respiration - cacosmie - subjective dans les premières phases</a:t>
            </a:r>
            <a:endParaRPr sz="43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4300"/>
              <a:t>          </a:t>
            </a:r>
            <a:r>
              <a:rPr b="1" i="1" lang="fr-FR" sz="4300" u="sng"/>
              <a:t>Objectif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4300"/>
              <a:t>          </a:t>
            </a:r>
            <a:r>
              <a:rPr lang="fr-FR" sz="4300"/>
              <a:t> - très grandes cavités nasales, le cornet inférieur atrophié </a:t>
            </a:r>
            <a:br>
              <a:rPr lang="fr-FR" sz="4300"/>
            </a:br>
            <a:r>
              <a:rPr lang="fr-FR" sz="4300"/>
              <a:t> - sécrétion croûteuse - croûtes jaunes, verts </a:t>
            </a:r>
            <a:br>
              <a:rPr lang="fr-FR" sz="4300"/>
            </a:br>
            <a:r>
              <a:rPr lang="fr-FR" sz="4300"/>
              <a:t> - fétidité des sécrétions - initialement cacosmie est subjective , puis devient objectif  (perçue par les pairs )</a:t>
            </a:r>
            <a:endParaRPr sz="43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6200">
                <a:solidFill>
                  <a:srgbClr val="FFC000"/>
                </a:solidFill>
              </a:rPr>
              <a:t>       Traitement :</a:t>
            </a:r>
            <a:endParaRPr b="1" sz="6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300"/>
              <a:t>           conservateur ou chirurgical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300"/>
              <a:t>           </a:t>
            </a:r>
            <a:r>
              <a:rPr lang="fr-FR" sz="4300" u="sng"/>
              <a:t>des résultats médiocres</a:t>
            </a:r>
            <a:r>
              <a:rPr lang="fr-FR" sz="4300"/>
              <a:t>, les diverses méthodes ne pouvaient qu’améliorer les symptômes.</a:t>
            </a:r>
            <a:endParaRPr sz="43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 b="1"/>
          </a:p>
          <a:p>
            <a:pPr indent="-284083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4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0B5FE"/>
              </a:buClr>
              <a:buSzPts val="4000"/>
              <a:buFont typeface="Consolas"/>
              <a:buNone/>
            </a:pPr>
            <a:r>
              <a:rPr b="1" lang="fr-FR">
                <a:solidFill>
                  <a:srgbClr val="60B5FE"/>
                </a:solidFill>
              </a:rPr>
              <a:t>OZÈNE</a:t>
            </a:r>
            <a:endParaRPr>
              <a:solidFill>
                <a:srgbClr val="60B5FE"/>
              </a:solidFill>
            </a:endParaRPr>
          </a:p>
        </p:txBody>
      </p:sp>
      <p:pic>
        <p:nvPicPr>
          <p:cNvPr id="481" name="Google Shape;481;p5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1504950"/>
            <a:ext cx="2857500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01747" y="1524000"/>
            <a:ext cx="3004053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kone20" id="483" name="Google Shape;483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32667" y="3886200"/>
            <a:ext cx="2920533" cy="28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5"/>
          <p:cNvSpPr txBox="1"/>
          <p:nvPr>
            <p:ph type="title"/>
          </p:nvPr>
        </p:nvSpPr>
        <p:spPr>
          <a:xfrm>
            <a:off x="381000" y="512064"/>
            <a:ext cx="830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LES  RHINITES  CHRONIQUES  SPÉCIFIQUES</a:t>
            </a:r>
            <a:br>
              <a:rPr lang="fr-FR" sz="3200">
                <a:latin typeface="Corbel"/>
                <a:ea typeface="Corbel"/>
                <a:cs typeface="Corbel"/>
                <a:sym typeface="Corbel"/>
              </a:rPr>
            </a:b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89" name="Google Shape;489;p55"/>
          <p:cNvSpPr txBox="1"/>
          <p:nvPr>
            <p:ph idx="1" type="body"/>
          </p:nvPr>
        </p:nvSpPr>
        <p:spPr>
          <a:xfrm>
            <a:off x="228600" y="685800"/>
            <a:ext cx="8686800" cy="6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 </a:t>
            </a:r>
            <a:endParaRPr/>
          </a:p>
          <a:p>
            <a:pPr indent="-514350" lvl="0" marL="58293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4000">
                <a:solidFill>
                  <a:srgbClr val="FFC000"/>
                </a:solidFill>
              </a:rPr>
              <a:t>a.RHINITE CHRONIQUE TUBERCULEUSE</a:t>
            </a:r>
            <a:endParaRPr/>
          </a:p>
          <a:p>
            <a:pPr indent="-514350" lvl="0" marL="58293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000">
                <a:solidFill>
                  <a:srgbClr val="FFC000"/>
                </a:solidFill>
              </a:rPr>
              <a:t>       </a:t>
            </a:r>
            <a:r>
              <a:rPr lang="fr-FR" sz="4000"/>
              <a:t>Peuvent présenter différentes formes anatomo cliniques :</a:t>
            </a:r>
            <a:endParaRPr sz="4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000"/>
              <a:t>      - lupus nasal </a:t>
            </a:r>
            <a:endParaRPr sz="4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000"/>
              <a:t>      - le tuberculome - en tant que pseudo-tumeur </a:t>
            </a:r>
            <a:endParaRPr sz="4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000"/>
              <a:t>      - tuberculose ulcéreuse caséeuse.</a:t>
            </a:r>
            <a:br>
              <a:rPr lang="fr-FR" sz="4000"/>
            </a:br>
            <a:r>
              <a:rPr lang="fr-FR" sz="4000"/>
              <a:t>Le diagnostic positif -  biopsie et bactériologique</a:t>
            </a:r>
            <a:endParaRPr sz="4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000"/>
              <a:t> </a:t>
            </a:r>
            <a:endParaRPr sz="4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4000">
                <a:solidFill>
                  <a:srgbClr val="FFC000"/>
                </a:solidFill>
              </a:rPr>
              <a:t>b.RHINITE CHRONIQUE SYPHILITIQUE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4000">
                <a:solidFill>
                  <a:srgbClr val="FFC000"/>
                </a:solidFill>
              </a:rPr>
              <a:t>       </a:t>
            </a:r>
            <a:r>
              <a:rPr lang="fr-FR" sz="4000"/>
              <a:t>Elle</a:t>
            </a:r>
            <a:r>
              <a:rPr b="1" lang="fr-FR" sz="4000"/>
              <a:t> e</a:t>
            </a:r>
            <a:r>
              <a:rPr lang="fr-FR" sz="4000"/>
              <a:t>st rare. Il se manifeste cliniquement par les trois stades de la maladie</a:t>
            </a:r>
            <a:endParaRPr sz="4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000"/>
              <a:t>       Le diagnostic positif - un examen sérologique et la biopsie</a:t>
            </a:r>
            <a:endParaRPr sz="4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000"/>
              <a:t> </a:t>
            </a:r>
            <a:endParaRPr sz="4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4000">
                <a:solidFill>
                  <a:srgbClr val="FFC000"/>
                </a:solidFill>
              </a:rPr>
              <a:t>c. LA GRANULOMATOSE DE WEGENER</a:t>
            </a:r>
            <a:endParaRPr sz="40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000"/>
              <a:t>         Est une vascularisation systémique avec affectation nasale à un tiers des patients au début</a:t>
            </a:r>
            <a:endParaRPr sz="4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000"/>
              <a:t>         L’obstruction nasale, </a:t>
            </a:r>
            <a:r>
              <a:rPr i="1" lang="fr-FR" sz="4000" u="sng"/>
              <a:t>rhinorrhée sérosanguinolente</a:t>
            </a:r>
            <a:r>
              <a:rPr lang="fr-FR" sz="4000"/>
              <a:t> et croûteuse, des ulcérations de la muqueuse nasale, épistaxis, déformation de la pyramide nasale, ulcération de la muqueuse buccale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4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4000">
                <a:solidFill>
                  <a:srgbClr val="FFC000"/>
                </a:solidFill>
              </a:rPr>
              <a:t> d.SARCOÏDOSE </a:t>
            </a:r>
            <a:r>
              <a:rPr b="1" lang="fr-FR" sz="4000"/>
              <a:t>(la maladie Besnier - Boeck Schaumann)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4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4000">
                <a:solidFill>
                  <a:srgbClr val="FFC000"/>
                </a:solidFill>
              </a:rPr>
              <a:t> e.LE RHINOSCLÉROME</a:t>
            </a:r>
            <a:endParaRPr sz="40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000"/>
              <a:t> </a:t>
            </a:r>
            <a:endParaRPr sz="4000"/>
          </a:p>
          <a:p>
            <a:pPr indent="-27051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descr="5" id="490" name="Google Shape;49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8400" y="1206575"/>
            <a:ext cx="2647950" cy="207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7" id="491" name="Google Shape;491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7000" y="5206425"/>
            <a:ext cx="2362200" cy="172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6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ALLERGIE   RHINOSINUSALE 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98" name="Google Shape;498;p56"/>
          <p:cNvSpPr txBox="1"/>
          <p:nvPr>
            <p:ph idx="1" type="body"/>
          </p:nvPr>
        </p:nvSpPr>
        <p:spPr>
          <a:xfrm>
            <a:off x="533400" y="1066800"/>
            <a:ext cx="82296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63333"/>
              <a:buNone/>
            </a:pPr>
            <a:br>
              <a:rPr lang="fr-FR"/>
            </a:br>
            <a:endParaRPr sz="45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4500">
                <a:solidFill>
                  <a:srgbClr val="FFC000"/>
                </a:solidFill>
              </a:rPr>
              <a:t>DÉFINITION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La rhinite allergique (RA) est une maladie inflammatoire de la muqueuse nasale induite par une inflammation médiée par les IgE secondaires à l’exposition accidentelle (de saison) ou allergènes aériens persistants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Les études sur la pathogenèse de la RA ont beaucoup progressé, insistant sur ​​la compréhension de la nature inflammatoire de la rhinite allergique, voilà pourquoi la thérapie de combinaison antiallergique / anti-inflammatoire a une efficacité de plus en plus élevée.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202644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descr="Allergic rhinitis" id="499" name="Google Shape;499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46112" y="152400"/>
            <a:ext cx="2445488" cy="2503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7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ALLERGIE  RHINOSINUSALE 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05" name="Google Shape;505;p57"/>
          <p:cNvSpPr txBox="1"/>
          <p:nvPr>
            <p:ph idx="1" type="body"/>
          </p:nvPr>
        </p:nvSpPr>
        <p:spPr>
          <a:xfrm>
            <a:off x="914400" y="2667000"/>
            <a:ext cx="7772400" cy="3688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61925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b="1" lang="fr-FR">
                <a:solidFill>
                  <a:srgbClr val="FFC000"/>
                </a:solidFill>
              </a:rPr>
              <a:t>Anatomopathologie :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    Épithélium nasal est l’hyperplasie et le chorion est œdémateux et avec des infiltrés éosinophiles.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 </a:t>
            </a:r>
            <a:endParaRPr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  <p:sp>
        <p:nvSpPr>
          <p:cNvPr id="506" name="Google Shape;506;p5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07" name="Google Shape;507;p57"/>
          <p:cNvSpPr/>
          <p:nvPr/>
        </p:nvSpPr>
        <p:spPr>
          <a:xfrm>
            <a:off x="0" y="35052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8" name="Google Shape;508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78708" y="1181100"/>
            <a:ext cx="2455692" cy="21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8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ALLERGIE  RHINOSINUSALE 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14" name="Google Shape;514;p58"/>
          <p:cNvSpPr txBox="1"/>
          <p:nvPr>
            <p:ph idx="1" type="body"/>
          </p:nvPr>
        </p:nvSpPr>
        <p:spPr>
          <a:xfrm>
            <a:off x="609600" y="1219200"/>
            <a:ext cx="8077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CLASSIFICATION :</a:t>
            </a:r>
            <a:endParaRPr b="1" sz="3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u="sng"/>
              <a:t>Selon la persistance des symptômes : </a:t>
            </a:r>
            <a:br>
              <a:rPr lang="fr-FR" u="sng"/>
            </a:br>
            <a:r>
              <a:rPr lang="fr-FR"/>
              <a:t> A) </a:t>
            </a:r>
            <a:r>
              <a:rPr i="1" lang="fr-FR"/>
              <a:t>RA intermittente :</a:t>
            </a:r>
            <a:r>
              <a:rPr lang="fr-FR"/>
              <a:t> </a:t>
            </a:r>
            <a:br>
              <a:rPr lang="fr-FR"/>
            </a:br>
            <a:r>
              <a:rPr lang="fr-FR"/>
              <a:t>      - Symptômes : - moins de 4 jours / semaine</a:t>
            </a:r>
            <a:br>
              <a:rPr lang="fr-FR"/>
            </a:br>
            <a:r>
              <a:rPr lang="fr-FR"/>
              <a:t>      - Moins de 4 semaines</a:t>
            </a:r>
            <a:br>
              <a:rPr lang="fr-FR"/>
            </a:br>
            <a:br>
              <a:rPr lang="fr-FR"/>
            </a:br>
            <a:r>
              <a:rPr lang="fr-FR"/>
              <a:t> B) </a:t>
            </a:r>
            <a:r>
              <a:rPr i="1" lang="fr-FR"/>
              <a:t>RA persistant :</a:t>
            </a:r>
            <a:r>
              <a:rPr lang="fr-FR"/>
              <a:t> </a:t>
            </a:r>
            <a:br>
              <a:rPr lang="fr-FR"/>
            </a:br>
            <a:r>
              <a:rPr lang="fr-FR"/>
              <a:t>      - Symptômes - plus de 4 jours / semaine </a:t>
            </a:r>
            <a:br>
              <a:rPr lang="fr-FR"/>
            </a:br>
            <a:r>
              <a:rPr lang="fr-FR"/>
              <a:t>      - Plus de 4 semaines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u="sng"/>
              <a:t>En fonction de la gravité des symptômes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- </a:t>
            </a:r>
            <a:r>
              <a:rPr i="1" lang="fr-FR"/>
              <a:t>RA facile</a:t>
            </a:r>
            <a:r>
              <a:rPr lang="fr-FR"/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symptômes sans affecter les activités quotidiennes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- </a:t>
            </a:r>
            <a:r>
              <a:rPr i="1" lang="fr-FR"/>
              <a:t>RA modérés / sévères</a:t>
            </a:r>
            <a:r>
              <a:rPr lang="fr-FR"/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symptômes affectant les activités quotidiennes( implications   psychosociales)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La prévalence de la rhinite allergique </a:t>
            </a:r>
            <a:r>
              <a:rPr b="1" lang="fr-FR"/>
              <a:t>:</a:t>
            </a:r>
            <a:r>
              <a:rPr lang="fr-FR"/>
              <a:t> </a:t>
            </a:r>
            <a:br>
              <a:rPr lang="fr-FR"/>
            </a:br>
            <a:r>
              <a:rPr lang="fr-FR"/>
              <a:t> - prévalence variable dans la population : 20 % - 40 % </a:t>
            </a:r>
            <a:br>
              <a:rPr lang="fr-FR"/>
            </a:br>
            <a:r>
              <a:rPr lang="fr-FR"/>
              <a:t> - le plus souvent installé après 3 ans </a:t>
            </a:r>
            <a:br>
              <a:rPr lang="fr-FR"/>
            </a:br>
            <a:r>
              <a:rPr lang="fr-FR"/>
              <a:t> - fréquence maximale entre 20 et 35 ans</a:t>
            </a:r>
            <a:endParaRPr/>
          </a:p>
          <a:p>
            <a:pPr indent="-243363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id="515" name="Google Shape;515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1143000"/>
            <a:ext cx="2790825" cy="248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59"/>
          <p:cNvSpPr txBox="1"/>
          <p:nvPr>
            <p:ph type="title"/>
          </p:nvPr>
        </p:nvSpPr>
        <p:spPr>
          <a:xfrm>
            <a:off x="457200" y="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ALLERGIE  RHINOSINUSALE 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21" name="Google Shape;521;p59"/>
          <p:cNvSpPr txBox="1"/>
          <p:nvPr>
            <p:ph idx="1" type="body"/>
          </p:nvPr>
        </p:nvSpPr>
        <p:spPr>
          <a:xfrm>
            <a:off x="381000" y="685800"/>
            <a:ext cx="8305800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8000">
                <a:solidFill>
                  <a:srgbClr val="FFC000"/>
                </a:solidFill>
              </a:rPr>
              <a:t>Étiopathogénie </a:t>
            </a:r>
            <a:endParaRPr sz="80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7200">
                <a:solidFill>
                  <a:srgbClr val="FFC000"/>
                </a:solidFill>
              </a:rPr>
              <a:t>Allergènes</a:t>
            </a:r>
            <a:r>
              <a:rPr lang="fr-FR" sz="7200"/>
              <a:t> </a:t>
            </a:r>
            <a:r>
              <a:rPr lang="fr-FR" sz="5600"/>
              <a:t>- les plus importants sont allergènes aéroportés :		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- pollen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- les acariens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-poussière maison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- cheveux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-la peau des animaux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- moisissure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- allergènes professionnels - produits chimiques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- les détergents / les produits cosmétiques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7200">
                <a:solidFill>
                  <a:srgbClr val="FFC000"/>
                </a:solidFill>
              </a:rPr>
              <a:t>Voies de pénétration</a:t>
            </a:r>
            <a:r>
              <a:rPr b="1" lang="fr-FR" sz="7200">
                <a:solidFill>
                  <a:srgbClr val="FFC000"/>
                </a:solidFill>
              </a:rPr>
              <a:t> 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- aérienne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- système digestif – des aliments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- voie cutanée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- parentérale  - injections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7200">
                <a:solidFill>
                  <a:srgbClr val="FFC000"/>
                </a:solidFill>
              </a:rPr>
              <a:t>Terrain</a:t>
            </a:r>
            <a:r>
              <a:rPr b="1" lang="fr-FR" sz="7200">
                <a:solidFill>
                  <a:srgbClr val="FFC000"/>
                </a:solidFill>
              </a:rPr>
              <a:t> - </a:t>
            </a:r>
            <a:r>
              <a:rPr b="1" lang="fr-FR" sz="5600">
                <a:solidFill>
                  <a:srgbClr val="FFC000"/>
                </a:solidFill>
              </a:rPr>
              <a:t>atopie </a:t>
            </a:r>
            <a:r>
              <a:rPr lang="fr-FR" sz="5600"/>
              <a:t>- l’état des patients avec la tendance pour des maladies allergiques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                                        - est héréditaire nécessite la présence des facteurs déclencheurs :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- métabolisme - alcalose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- instabilité neurovégétative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- un dysfonctionnement endocrinien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- l’environnement social - le stress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- déodorants / cosmétiques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ct val="95000"/>
              <a:buFont typeface="Arial"/>
              <a:buNone/>
            </a:pPr>
            <a:r>
              <a:rPr lang="fr-FR" sz="5600"/>
              <a:t>- la pollution de l’air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4000"/>
          </a:p>
        </p:txBody>
      </p:sp>
      <p:pic>
        <p:nvPicPr>
          <p:cNvPr id="522" name="Google Shape;522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0200" y="685800"/>
            <a:ext cx="3581400" cy="2696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0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ALLERGIE  RHINOSINUSALE 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28" name="Google Shape;528;p60"/>
          <p:cNvSpPr txBox="1"/>
          <p:nvPr>
            <p:ph idx="1" type="body"/>
          </p:nvPr>
        </p:nvSpPr>
        <p:spPr>
          <a:xfrm>
            <a:off x="381000" y="16002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5000">
                <a:solidFill>
                  <a:srgbClr val="FFC000"/>
                </a:solidFill>
              </a:rPr>
              <a:t> Pathogénique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000"/>
              <a:t> l’allergie est une maladie immunologique classée en type d’anaphylaxie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br>
              <a:rPr lang="fr-FR" sz="4500"/>
            </a:br>
            <a:r>
              <a:rPr i="1" lang="fr-FR" sz="4500" u="sng"/>
              <a:t>Mécanisme</a:t>
            </a:r>
            <a:r>
              <a:rPr lang="fr-FR" sz="4500" u="sng"/>
              <a:t> </a:t>
            </a:r>
            <a:r>
              <a:rPr lang="fr-FR" sz="4000"/>
              <a:t>- la première stimulation produite par des allergènes détermine, aux certaines personnes, la formation des anticorps incomplets spécifique -</a:t>
            </a:r>
            <a:r>
              <a:rPr lang="fr-FR" sz="4000" u="sng">
                <a:solidFill>
                  <a:srgbClr val="FFC000"/>
                </a:solidFill>
              </a:rPr>
              <a:t> réagines</a:t>
            </a:r>
            <a:r>
              <a:rPr lang="fr-FR" sz="4000"/>
              <a:t>. Elles sont des anticorps de classe IgE, sont produites par des cellules plasmocytes qui se fixent sur les basophiles sanguins et sur les mastocytes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br>
              <a:rPr lang="fr-FR" sz="4000"/>
            </a:br>
            <a:r>
              <a:rPr lang="fr-FR" sz="4000"/>
              <a:t>Au contact suivant l’antigène traverse pituitaire et réagir avec les réagines sur la surface des mastocytes provoquant leur dé granulation et la libération de </a:t>
            </a:r>
            <a:r>
              <a:rPr lang="fr-FR" sz="4000" u="sng">
                <a:solidFill>
                  <a:srgbClr val="FFC000"/>
                </a:solidFill>
              </a:rPr>
              <a:t>médiateurs chimiques de leurs anaphylaxies</a:t>
            </a:r>
            <a:r>
              <a:rPr lang="fr-FR" sz="4000">
                <a:solidFill>
                  <a:srgbClr val="FFC000"/>
                </a:solidFill>
              </a:rPr>
              <a:t> :</a:t>
            </a:r>
            <a:endParaRPr sz="40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4000"/>
              <a:t>l’histamine </a:t>
            </a:r>
            <a:endParaRPr sz="4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4000"/>
              <a:t> la bradykinine </a:t>
            </a:r>
            <a:endParaRPr sz="4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4000"/>
              <a:t>les prostaglandines </a:t>
            </a:r>
            <a:endParaRPr sz="4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4000"/>
              <a:t> le facteur chémotactique éosinophile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4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000"/>
              <a:t>        Ils produisent </a:t>
            </a:r>
            <a:r>
              <a:rPr i="1" lang="fr-FR" sz="4000" u="sng">
                <a:solidFill>
                  <a:srgbClr val="FFC000"/>
                </a:solidFill>
              </a:rPr>
              <a:t>une vasodilatation </a:t>
            </a:r>
            <a:r>
              <a:rPr lang="fr-FR" sz="4000">
                <a:solidFill>
                  <a:srgbClr val="FFC000"/>
                </a:solidFill>
              </a:rPr>
              <a:t>et </a:t>
            </a:r>
            <a:r>
              <a:rPr i="1" lang="fr-FR" sz="4000" u="sng">
                <a:solidFill>
                  <a:srgbClr val="FFC000"/>
                </a:solidFill>
              </a:rPr>
              <a:t>l’augmentation de la perméabilité capillaire</a:t>
            </a:r>
            <a:r>
              <a:rPr lang="fr-FR" sz="4000">
                <a:solidFill>
                  <a:srgbClr val="FFC000"/>
                </a:solidFill>
              </a:rPr>
              <a:t> et de </a:t>
            </a:r>
            <a:r>
              <a:rPr i="1" lang="fr-FR" sz="4000" u="sng">
                <a:solidFill>
                  <a:srgbClr val="FFC000"/>
                </a:solidFill>
              </a:rPr>
              <a:t>l’œdème</a:t>
            </a:r>
            <a:endParaRPr i="1" sz="4000" u="sng">
              <a:solidFill>
                <a:srgbClr val="FFC000"/>
              </a:solidFill>
            </a:endParaRPr>
          </a:p>
          <a:p>
            <a:pPr indent="-256936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id="529" name="Google Shape;529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7392715" y="-1314"/>
            <a:ext cx="1445171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1"/>
          <p:cNvSpPr txBox="1"/>
          <p:nvPr>
            <p:ph type="title"/>
          </p:nvPr>
        </p:nvSpPr>
        <p:spPr>
          <a:xfrm>
            <a:off x="304800" y="0"/>
            <a:ext cx="8382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ALLERGIE  RHINOSINUSALE 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35" name="Google Shape;535;p61"/>
          <p:cNvSpPr txBox="1"/>
          <p:nvPr>
            <p:ph idx="1" type="body"/>
          </p:nvPr>
        </p:nvSpPr>
        <p:spPr>
          <a:xfrm>
            <a:off x="205700" y="304800"/>
            <a:ext cx="77724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b="1" lang="fr-FR" sz="1800">
                <a:solidFill>
                  <a:srgbClr val="FFC000"/>
                </a:solidFill>
              </a:rPr>
              <a:t>Symptômes 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• éternuements intenses, violente, en rafales </a:t>
            </a:r>
            <a:endParaRPr sz="1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• sécrétions nasales aqueuses abondantes, hydrorhée </a:t>
            </a:r>
            <a:endParaRPr sz="1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• obstruction nasale bilatérale</a:t>
            </a:r>
            <a:endParaRPr sz="1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Le prurit nasal / la conjonctivite avec de larmoiement excessif / un prurit oculaire /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la sensation de corps étranger au niveau des paupières.</a:t>
            </a:r>
            <a:endParaRPr sz="1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b="1" lang="fr-FR" sz="1800">
                <a:solidFill>
                  <a:srgbClr val="FFC000"/>
                </a:solidFill>
              </a:rPr>
              <a:t>Symptômes possiblement associés :</a:t>
            </a:r>
            <a:endParaRPr sz="1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- céphalée, sensation de tension au niveau des sinus </a:t>
            </a:r>
            <a:endParaRPr sz="1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- la fatigue, l’irritabilité et de l’insomnie </a:t>
            </a:r>
            <a:endParaRPr sz="1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- respiration par la bouche / hyposmie </a:t>
            </a:r>
            <a:endParaRPr sz="1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- sensation de pression dans l’oreille</a:t>
            </a:r>
            <a:endParaRPr sz="1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- le frottement du nez avec la paume tournée vers le haut (le „bonjour” allergique)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- prurit du palais </a:t>
            </a:r>
            <a:endParaRPr sz="1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- irritation conjonctivale avec prurit et larmoiement.</a:t>
            </a:r>
            <a:endParaRPr sz="1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b="1" lang="fr-FR" sz="1800">
                <a:solidFill>
                  <a:srgbClr val="FFC000"/>
                </a:solidFill>
              </a:rPr>
              <a:t>Co morbidités : </a:t>
            </a:r>
            <a:br>
              <a:rPr lang="fr-FR" sz="1400"/>
            </a:br>
            <a:r>
              <a:rPr lang="fr-FR" sz="1400"/>
              <a:t>	 - l’asthme - la combinaison la plus courante </a:t>
            </a:r>
            <a:br>
              <a:rPr lang="fr-FR" sz="1400"/>
            </a:br>
            <a:r>
              <a:rPr lang="fr-FR" sz="1400"/>
              <a:t>	 - pharyngite  / otite chronique séro-muqueuse  /  sinusite </a:t>
            </a:r>
            <a:br>
              <a:rPr lang="fr-FR" sz="1400"/>
            </a:br>
            <a:r>
              <a:rPr lang="fr-FR" sz="1400"/>
              <a:t>	 - la libération d’histamine en grande quantité peut conduire à un choc anaphylactique</a:t>
            </a:r>
            <a:endParaRPr sz="1400"/>
          </a:p>
        </p:txBody>
      </p:sp>
      <p:pic>
        <p:nvPicPr>
          <p:cNvPr id="536" name="Google Shape;536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6550" y="685800"/>
            <a:ext cx="2381250" cy="1623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04838" y="2362200"/>
            <a:ext cx="2439162" cy="184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62"/>
          <p:cNvSpPr txBox="1"/>
          <p:nvPr>
            <p:ph type="title"/>
          </p:nvPr>
        </p:nvSpPr>
        <p:spPr>
          <a:xfrm>
            <a:off x="381000" y="228600"/>
            <a:ext cx="8305800" cy="119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ALLERGIE RHINOSINUSALE </a:t>
            </a:r>
            <a:br>
              <a:rPr b="1" lang="fr-FR" sz="3200"/>
            </a:br>
            <a:br>
              <a:rPr b="1" lang="fr-FR" sz="3200"/>
            </a:br>
            <a:endParaRPr sz="3200"/>
          </a:p>
        </p:txBody>
      </p:sp>
      <p:sp>
        <p:nvSpPr>
          <p:cNvPr id="543" name="Google Shape;543;p62"/>
          <p:cNvSpPr txBox="1"/>
          <p:nvPr>
            <p:ph idx="1" type="body"/>
          </p:nvPr>
        </p:nvSpPr>
        <p:spPr>
          <a:xfrm>
            <a:off x="381000" y="990600"/>
            <a:ext cx="853440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8600">
                <a:solidFill>
                  <a:srgbClr val="FFC000"/>
                </a:solidFill>
              </a:rPr>
              <a:t>Diagnostic</a:t>
            </a:r>
            <a:r>
              <a:rPr b="1" lang="fr-FR" sz="7400">
                <a:solidFill>
                  <a:srgbClr val="FFC000"/>
                </a:solidFill>
              </a:rPr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7400">
              <a:solidFill>
                <a:srgbClr val="FFC000"/>
              </a:solidFill>
            </a:endParaRPr>
          </a:p>
          <a:p>
            <a:pPr indent="-914400" lvl="0" marL="9829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6200">
                <a:solidFill>
                  <a:srgbClr val="FFC000"/>
                </a:solidFill>
              </a:rPr>
              <a:t>1.Anamnèse</a:t>
            </a:r>
            <a:r>
              <a:rPr b="1" lang="fr-FR" sz="6200"/>
              <a:t>  </a:t>
            </a:r>
            <a:r>
              <a:rPr lang="fr-FR" sz="6200"/>
              <a:t> </a:t>
            </a:r>
            <a:r>
              <a:rPr lang="fr-FR" sz="5000"/>
              <a:t>les antécédents familiaux, les conditions de travail et de vie, la présence d’animaux domestiques, les habitudes alimentaires</a:t>
            </a:r>
            <a:endParaRPr/>
          </a:p>
          <a:p>
            <a:pPr indent="-914400" lvl="0" marL="9829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6200">
                <a:solidFill>
                  <a:srgbClr val="FFC000"/>
                </a:solidFill>
              </a:rPr>
              <a:t>2. Examen objectif</a:t>
            </a:r>
            <a:r>
              <a:rPr b="1" lang="fr-FR" sz="6200"/>
              <a:t> </a:t>
            </a:r>
            <a:endParaRPr sz="6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4800"/>
              <a:t> grimace ou se grattent le nez „</a:t>
            </a:r>
            <a:r>
              <a:rPr b="1" lang="fr-FR" sz="4800">
                <a:solidFill>
                  <a:srgbClr val="FFC000"/>
                </a:solidFill>
              </a:rPr>
              <a:t>de salut allergique</a:t>
            </a:r>
            <a:r>
              <a:rPr lang="fr-FR" sz="4800"/>
              <a:t>”, qui conduit à la formation d’une plicature transversale dans le tiers inférieur du nez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4800"/>
              <a:t> respiration buccale</a:t>
            </a:r>
            <a:endParaRPr sz="4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4800"/>
              <a:t> rhinoscopie antérieure : gonflement des reflets violacés de la muqueuse nasale.</a:t>
            </a:r>
            <a:endParaRPr sz="4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4800"/>
              <a:t>l’examen  complémentaire (des yeux, de la peau et du poumon)</a:t>
            </a:r>
            <a:endParaRPr sz="4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6200">
                <a:solidFill>
                  <a:srgbClr val="FFC000"/>
                </a:solidFill>
              </a:rPr>
              <a:t>3. L’endoscopie nasale</a:t>
            </a:r>
            <a:r>
              <a:rPr lang="fr-FR" sz="4800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4800"/>
              <a:t> muqueuse nasale est gonflé, de couleur bleu pâle, couvert de sécrétions claires.</a:t>
            </a:r>
            <a:endParaRPr sz="4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6000">
                <a:solidFill>
                  <a:srgbClr val="FFC000"/>
                </a:solidFill>
              </a:rPr>
              <a:t>4.Rhinomanométrie</a:t>
            </a:r>
            <a:r>
              <a:rPr b="1" lang="fr-FR" sz="6000"/>
              <a:t> </a:t>
            </a:r>
            <a:r>
              <a:rPr lang="fr-FR" sz="6000"/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4800"/>
              <a:t> estimée de la congestion nasale ou à l’obstruction à cause de RA, des polypes nasaux et d’autres causes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4800"/>
              <a:t>est  utilisé dans la recherche</a:t>
            </a:r>
            <a:endParaRPr sz="4800"/>
          </a:p>
        </p:txBody>
      </p:sp>
      <p:pic>
        <p:nvPicPr>
          <p:cNvPr id="544" name="Google Shape;544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4600" y="79951"/>
            <a:ext cx="2209800" cy="1672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63"/>
          <p:cNvSpPr txBox="1"/>
          <p:nvPr>
            <p:ph type="title"/>
          </p:nvPr>
        </p:nvSpPr>
        <p:spPr>
          <a:xfrm>
            <a:off x="609600" y="512064"/>
            <a:ext cx="8077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ALLERGIE RHINOSINUSALE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50" name="Google Shape;550;p63"/>
          <p:cNvSpPr txBox="1"/>
          <p:nvPr>
            <p:ph idx="1" type="body"/>
          </p:nvPr>
        </p:nvSpPr>
        <p:spPr>
          <a:xfrm>
            <a:off x="457200" y="1219200"/>
            <a:ext cx="86868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5900">
                <a:solidFill>
                  <a:srgbClr val="FFC000"/>
                </a:solidFill>
              </a:rPr>
              <a:t>Diagnostic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600">
                <a:solidFill>
                  <a:srgbClr val="FFC000"/>
                </a:solidFill>
              </a:rPr>
              <a:t>5. </a:t>
            </a:r>
            <a:r>
              <a:rPr b="1" lang="fr-FR" sz="3600">
                <a:solidFill>
                  <a:srgbClr val="FFC000"/>
                </a:solidFill>
              </a:rPr>
              <a:t>Les tests d’allergie :</a:t>
            </a:r>
            <a:endParaRPr sz="36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200">
                <a:solidFill>
                  <a:srgbClr val="FFC000"/>
                </a:solidFill>
              </a:rPr>
              <a:t>a. Tests cutanés :</a:t>
            </a:r>
            <a:endParaRPr b="1" sz="3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3200"/>
              <a:t> sont nécessaires pour confirmer le diagnostic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b="1" lang="fr-FR" sz="3200">
                <a:solidFill>
                  <a:srgbClr val="FFC000"/>
                </a:solidFill>
              </a:rPr>
              <a:t> Prick-test </a:t>
            </a:r>
            <a:r>
              <a:rPr lang="fr-FR" sz="3200"/>
              <a:t>= &gt; consiste à injecter de l’allergène sous la peau (intradermique).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200"/>
              <a:t>                                -les résultats - immédiatement (après 25 minutes)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200"/>
              <a:t>                                                            -  tardive (après 48 heures).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200">
                <a:solidFill>
                  <a:srgbClr val="FFC000"/>
                </a:solidFill>
              </a:rPr>
              <a:t> b. Tests sanguins :</a:t>
            </a:r>
            <a:endParaRPr b="1" sz="3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3200"/>
              <a:t> les niveaux sanguins </a:t>
            </a:r>
            <a:r>
              <a:rPr lang="fr-FR" sz="3200">
                <a:solidFill>
                  <a:srgbClr val="FFC000"/>
                </a:solidFill>
              </a:rPr>
              <a:t>d’immunoglobuline (IgE) </a:t>
            </a:r>
            <a:r>
              <a:rPr lang="fr-FR" sz="3200"/>
              <a:t> en utilisant </a:t>
            </a:r>
            <a:r>
              <a:rPr lang="fr-FR" sz="3200">
                <a:solidFill>
                  <a:srgbClr val="FFC000"/>
                </a:solidFill>
              </a:rPr>
              <a:t>PRIST</a:t>
            </a:r>
            <a:r>
              <a:rPr lang="fr-FR" sz="3200"/>
              <a:t> (Radio Immune Test Absorbant) dosage des IgE spécifiques </a:t>
            </a:r>
            <a:r>
              <a:rPr lang="fr-FR" sz="3200">
                <a:solidFill>
                  <a:srgbClr val="FFC000"/>
                </a:solidFill>
              </a:rPr>
              <a:t>RAST</a:t>
            </a:r>
            <a:r>
              <a:rPr lang="fr-FR" sz="3200"/>
              <a:t> (dosage radio allergique absorbant test) 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200">
                <a:solidFill>
                  <a:srgbClr val="FFC000"/>
                </a:solidFill>
              </a:rPr>
              <a:t>6. Cytologie nasale (frottis nasal) </a:t>
            </a:r>
            <a:r>
              <a:rPr lang="fr-FR" sz="3200"/>
              <a:t>: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3200"/>
              <a:t> mesure le nombre d’éosinophiles, qui sont présents en grand nombre dans la muqueuse nasale des personnes allergique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200">
                <a:solidFill>
                  <a:srgbClr val="FFC000"/>
                </a:solidFill>
              </a:rPr>
              <a:t>7</a:t>
            </a:r>
            <a:r>
              <a:rPr b="1" lang="fr-FR" sz="3200">
                <a:solidFill>
                  <a:srgbClr val="FFC000"/>
                </a:solidFill>
              </a:rPr>
              <a:t>. Tomographie par ordinateur </a:t>
            </a:r>
            <a:endParaRPr b="1"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b="1" lang="fr-FR" sz="3200"/>
              <a:t> </a:t>
            </a:r>
            <a:r>
              <a:rPr lang="fr-FR" sz="3200"/>
              <a:t> pour diagnostiquer la sinusite, polypose nasale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200"/>
              <a:t> </a:t>
            </a:r>
            <a:endParaRPr/>
          </a:p>
        </p:txBody>
      </p:sp>
      <p:pic>
        <p:nvPicPr>
          <p:cNvPr id="551" name="Google Shape;551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62675" y="978093"/>
            <a:ext cx="2524125" cy="1841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64"/>
          <p:cNvSpPr txBox="1"/>
          <p:nvPr>
            <p:ph type="title"/>
          </p:nvPr>
        </p:nvSpPr>
        <p:spPr>
          <a:xfrm>
            <a:off x="304800" y="0"/>
            <a:ext cx="8382000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ALLERGIE RHINOSINUSALE 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57" name="Google Shape;557;p64"/>
          <p:cNvSpPr txBox="1"/>
          <p:nvPr>
            <p:ph idx="1" type="body"/>
          </p:nvPr>
        </p:nvSpPr>
        <p:spPr>
          <a:xfrm>
            <a:off x="228600" y="762000"/>
            <a:ext cx="8915400" cy="6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9600">
                <a:solidFill>
                  <a:srgbClr val="FFC000"/>
                </a:solidFill>
              </a:rPr>
              <a:t> TRAITEMENT </a:t>
            </a:r>
            <a:endParaRPr sz="96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800"/>
              <a:t> </a:t>
            </a:r>
            <a:endParaRPr sz="6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6400">
                <a:solidFill>
                  <a:srgbClr val="FFC000"/>
                </a:solidFill>
              </a:rPr>
              <a:t>1. Des mesures de prophylaxie</a:t>
            </a:r>
            <a:r>
              <a:rPr lang="fr-FR" sz="6400">
                <a:solidFill>
                  <a:srgbClr val="FFC000"/>
                </a:solidFill>
              </a:rPr>
              <a:t> :</a:t>
            </a:r>
            <a:endParaRPr sz="6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6400"/>
              <a:t> réduire l’exposition à l’allergène ou aux allergènes incriminé (acariens et aux pollens en   particulier, les aéroallergènes et certains allergènes alimentaires)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6400"/>
              <a:t> il est recommandé d’éviter l’exposition à l’irritation non spécifique(la fumée de cigarette)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6400">
                <a:solidFill>
                  <a:srgbClr val="FFC000"/>
                </a:solidFill>
              </a:rPr>
              <a:t>2. Le traitement pharmacologique :</a:t>
            </a:r>
            <a:br>
              <a:rPr lang="fr-FR" sz="4800"/>
            </a:br>
            <a:r>
              <a:rPr lang="fr-FR" sz="6400"/>
              <a:t>Dépendent de la sévérité de la RA 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        - les antihistaminiques H1</a:t>
            </a:r>
            <a:br>
              <a:rPr lang="fr-FR" sz="6400"/>
            </a:br>
            <a:r>
              <a:rPr lang="fr-FR" sz="6400"/>
              <a:t>- corticostéroïdes par voie intranasale</a:t>
            </a:r>
            <a:br>
              <a:rPr lang="fr-FR" sz="6400"/>
            </a:br>
            <a:r>
              <a:rPr lang="fr-FR" sz="6400"/>
              <a:t>- corticostéroïdes systémiques parfois</a:t>
            </a:r>
            <a:br>
              <a:rPr lang="fr-FR" sz="6400"/>
            </a:br>
            <a:r>
              <a:rPr lang="fr-FR" sz="6400"/>
              <a:t>- décongestionnant nasal</a:t>
            </a:r>
            <a:br>
              <a:rPr lang="fr-FR" sz="6400"/>
            </a:br>
            <a:r>
              <a:rPr lang="fr-FR" sz="6400"/>
              <a:t>- chromons</a:t>
            </a:r>
            <a:br>
              <a:rPr lang="fr-FR" sz="6400"/>
            </a:br>
            <a:r>
              <a:rPr lang="fr-FR" sz="6400"/>
              <a:t>- anticholinergiques nasaux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6400">
                <a:solidFill>
                  <a:srgbClr val="FFC000"/>
                </a:solidFill>
              </a:rPr>
              <a:t>3. Immunothérapie </a:t>
            </a:r>
            <a:r>
              <a:rPr lang="fr-FR" sz="6400">
                <a:solidFill>
                  <a:srgbClr val="FFC000"/>
                </a:solidFill>
              </a:rPr>
              <a:t>:</a:t>
            </a:r>
            <a:endParaRPr sz="6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6400">
                <a:solidFill>
                  <a:srgbClr val="FFC000"/>
                </a:solidFill>
              </a:rPr>
              <a:t>Avec des vaccins allergéniques</a:t>
            </a:r>
            <a:r>
              <a:rPr lang="fr-FR" sz="6400"/>
              <a:t> = &gt; Le rapport bénéfice / risque doit être pris en considération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6400"/>
              <a:t> Il existe des vaccins administrés par injection sous-cutanée, sublinguale ou intranasale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>
                <a:solidFill>
                  <a:srgbClr val="FFC000"/>
                </a:solidFill>
              </a:rPr>
              <a:t> </a:t>
            </a:r>
            <a:r>
              <a:rPr b="1" lang="fr-FR" sz="6400">
                <a:solidFill>
                  <a:srgbClr val="FFC000"/>
                </a:solidFill>
              </a:rPr>
              <a:t>4. Des thérapies alternatives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br>
              <a:rPr b="1" lang="fr-FR" sz="4800"/>
            </a:br>
            <a:r>
              <a:rPr b="1" lang="fr-FR" sz="6400">
                <a:solidFill>
                  <a:srgbClr val="FFC000"/>
                </a:solidFill>
              </a:rPr>
              <a:t>Rhinolight</a:t>
            </a:r>
            <a:r>
              <a:rPr b="1" lang="fr-FR" sz="6400"/>
              <a:t> 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b="1" lang="fr-FR" sz="6400"/>
              <a:t>         </a:t>
            </a:r>
            <a:r>
              <a:rPr lang="fr-FR" sz="6400"/>
              <a:t>la méthode thérapeutique la plus récente, à d’application locale, profitant de l’absence d’effets secondaires systémiques </a:t>
            </a:r>
            <a:br>
              <a:rPr lang="fr-FR" sz="6400"/>
            </a:br>
            <a:r>
              <a:rPr lang="fr-FR" sz="6400"/>
              <a:t> </a:t>
            </a:r>
            <a:r>
              <a:rPr b="1" lang="fr-FR" sz="6400">
                <a:solidFill>
                  <a:srgbClr val="FFC000"/>
                </a:solidFill>
              </a:rPr>
              <a:t>Homéopathie, acupuncture, frigothérapie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297656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65"/>
          <p:cNvSpPr txBox="1"/>
          <p:nvPr>
            <p:ph type="title"/>
          </p:nvPr>
        </p:nvSpPr>
        <p:spPr>
          <a:xfrm>
            <a:off x="914400" y="228600"/>
            <a:ext cx="7772400" cy="119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LA  POLYPOSE  NASALE</a:t>
            </a:r>
            <a:br>
              <a:rPr lang="fr-FR">
                <a:latin typeface="Corbel"/>
                <a:ea typeface="Corbel"/>
                <a:cs typeface="Corbel"/>
                <a:sym typeface="Corbel"/>
              </a:rPr>
            </a:b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63" name="Google Shape;563;p65"/>
          <p:cNvSpPr txBox="1"/>
          <p:nvPr>
            <p:ph idx="1" type="body"/>
          </p:nvPr>
        </p:nvSpPr>
        <p:spPr>
          <a:xfrm>
            <a:off x="304800" y="1219200"/>
            <a:ext cx="80772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b="1" i="1"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3200"/>
              <a:t>Polype nasal est la dégénérescence œdémateuse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3200"/>
              <a:t>     du chorion de la muqueuse rhinosinusale due à une allergie ou à une inflammation  persistante - des masses œdémateuses de la muqueuse, pédiculés ou sessiles</a:t>
            </a:r>
            <a:r>
              <a:rPr lang="fr-FR"/>
              <a:t>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Étiopathogénie </a:t>
            </a:r>
            <a:endParaRPr sz="3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/>
              <a:t>       </a:t>
            </a:r>
            <a:r>
              <a:rPr b="1" i="1" lang="fr-FR">
                <a:solidFill>
                  <a:srgbClr val="FFC000"/>
                </a:solidFill>
              </a:rPr>
              <a:t>Allergie</a:t>
            </a:r>
            <a:r>
              <a:rPr b="1" lang="fr-FR">
                <a:solidFill>
                  <a:srgbClr val="FFC000"/>
                </a:solidFill>
              </a:rPr>
              <a:t> </a:t>
            </a:r>
            <a:r>
              <a:rPr lang="fr-FR"/>
              <a:t>- 25 % des patients ont des tests allergologies positifs - dans la rhinite allergique dès le début, ou comme une réaction tardive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/>
              <a:t>       </a:t>
            </a:r>
            <a:r>
              <a:rPr b="1" i="1" lang="fr-FR">
                <a:solidFill>
                  <a:srgbClr val="FFC000"/>
                </a:solidFill>
              </a:rPr>
              <a:t>L’inflammation chronique</a:t>
            </a:r>
            <a:r>
              <a:rPr b="1" lang="fr-FR">
                <a:solidFill>
                  <a:srgbClr val="FFC000"/>
                </a:solidFill>
              </a:rPr>
              <a:t> </a:t>
            </a:r>
            <a:r>
              <a:rPr lang="fr-FR"/>
              <a:t>- rhinites et sinusites chroniques le plus souvent dans les ethmoïdites chroniques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Tumeurs nasales - En raison des phénomènes de stase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202644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id="564" name="Google Shape;564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3056" y="1"/>
            <a:ext cx="1940944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66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lang="fr-FR"/>
              <a:t>LA  POLYPOSE  NASALE</a:t>
            </a:r>
            <a:br>
              <a:rPr lang="fr-FR" sz="4800"/>
            </a:br>
            <a:endParaRPr/>
          </a:p>
        </p:txBody>
      </p:sp>
      <p:pic>
        <p:nvPicPr>
          <p:cNvPr id="570" name="Google Shape;570;p6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1828800"/>
            <a:ext cx="295275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67400" y="4724400"/>
            <a:ext cx="2667000" cy="19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66"/>
          <p:cNvSpPr txBox="1"/>
          <p:nvPr/>
        </p:nvSpPr>
        <p:spPr>
          <a:xfrm>
            <a:off x="990600" y="4267201"/>
            <a:ext cx="412754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Polype nasale plongeant dans le vestibule</a:t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73" name="Google Shape;573;p66"/>
          <p:cNvSpPr txBox="1"/>
          <p:nvPr/>
        </p:nvSpPr>
        <p:spPr>
          <a:xfrm>
            <a:off x="5334000" y="4343400"/>
            <a:ext cx="3810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Polypose nasale, image endoscopique</a:t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574" name="Google Shape;574;p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91200" y="1828800"/>
            <a:ext cx="2743200" cy="220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6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95400" y="4724400"/>
            <a:ext cx="2971800" cy="2010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67"/>
          <p:cNvSpPr txBox="1"/>
          <p:nvPr>
            <p:ph type="title"/>
          </p:nvPr>
        </p:nvSpPr>
        <p:spPr>
          <a:xfrm>
            <a:off x="457200" y="0"/>
            <a:ext cx="8229600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br>
              <a:rPr b="1" lang="fr-FR" sz="3200">
                <a:latin typeface="Corbel"/>
                <a:ea typeface="Corbel"/>
                <a:cs typeface="Corbel"/>
                <a:sym typeface="Corbel"/>
              </a:rPr>
            </a:b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LA POLYPOSE NASALE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81" name="Google Shape;581;p67"/>
          <p:cNvSpPr txBox="1"/>
          <p:nvPr>
            <p:ph idx="1" type="body"/>
          </p:nvPr>
        </p:nvSpPr>
        <p:spPr>
          <a:xfrm>
            <a:off x="381000" y="457200"/>
            <a:ext cx="8763000" cy="6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32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b="1" sz="7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b="1" sz="7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b="1" sz="7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7200">
                <a:solidFill>
                  <a:srgbClr val="FFC000"/>
                </a:solidFill>
              </a:rPr>
              <a:t>Symptomatologie :</a:t>
            </a:r>
            <a:endParaRPr sz="7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5600" u="sng"/>
              <a:t>Subjectif </a:t>
            </a:r>
            <a:r>
              <a:rPr lang="fr-FR" sz="5600"/>
              <a:t>- l’obstruction nasale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                  - hyposmie - anosmie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                  - rhinolalie fermé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                  - rhinorrhée avec d’aspect différent : aqueuse, muco-purulente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5600" u="sng"/>
              <a:t>Objectif</a:t>
            </a:r>
            <a:r>
              <a:rPr lang="fr-FR" sz="5600"/>
              <a:t> - narinoscopie et rhinoscopie antérieure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                             - la formation de polypes blanc - gris - translucide jaunâtre - mobiles, avec une surface lisse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                               - non saignant au contact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                               - déformation du visage-  faciès de grenouille - la polypose juvénile déformante.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7200">
                <a:solidFill>
                  <a:srgbClr val="FFC000"/>
                </a:solidFill>
              </a:rPr>
              <a:t>Diagnostic positif </a:t>
            </a:r>
            <a:r>
              <a:rPr lang="fr-FR" sz="7200">
                <a:solidFill>
                  <a:srgbClr val="FFC000"/>
                </a:solidFill>
              </a:rPr>
              <a:t>: </a:t>
            </a:r>
            <a:endParaRPr sz="7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7200"/>
              <a:t>Anamnèse et l’examen clinique endocavitaire et d’examen radiologique</a:t>
            </a:r>
            <a:endParaRPr sz="7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7200">
                <a:solidFill>
                  <a:srgbClr val="FFC000"/>
                </a:solidFill>
              </a:rPr>
              <a:t>Diagnostic différentiel :</a:t>
            </a:r>
            <a:endParaRPr sz="7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5600"/>
              <a:t> méningo-encéphalocèle - examen radiologique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5600"/>
              <a:t>tumeurs nasales  benignes/ malignes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 </a:t>
            </a:r>
            <a:endParaRPr sz="5600"/>
          </a:p>
          <a:p>
            <a:pPr indent="-284083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68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lang="fr-FR"/>
              <a:t>LA POLYPOSE NASALE</a:t>
            </a:r>
            <a:endParaRPr/>
          </a:p>
        </p:txBody>
      </p:sp>
      <p:sp>
        <p:nvSpPr>
          <p:cNvPr id="587" name="Google Shape;587;p68"/>
          <p:cNvSpPr txBox="1"/>
          <p:nvPr>
            <p:ph idx="1" type="body"/>
          </p:nvPr>
        </p:nvSpPr>
        <p:spPr>
          <a:xfrm>
            <a:off x="533400" y="1295400"/>
            <a:ext cx="83820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4000">
                <a:solidFill>
                  <a:srgbClr val="FFC000"/>
                </a:solidFill>
              </a:rPr>
              <a:t>Les formes cliniques :</a:t>
            </a:r>
            <a:r>
              <a:rPr lang="fr-FR" sz="4000">
                <a:solidFill>
                  <a:srgbClr val="FFC000"/>
                </a:solidFill>
              </a:rPr>
              <a:t> </a:t>
            </a:r>
            <a:endParaRPr sz="40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3200">
                <a:solidFill>
                  <a:srgbClr val="FFC000"/>
                </a:solidFill>
              </a:rPr>
              <a:t> la polypose allergique </a:t>
            </a:r>
            <a:r>
              <a:rPr lang="fr-FR" sz="3200"/>
              <a:t>- est bilatérale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3200"/>
              <a:t> </a:t>
            </a:r>
            <a:r>
              <a:rPr lang="fr-FR" sz="3200">
                <a:solidFill>
                  <a:srgbClr val="FFC000"/>
                </a:solidFill>
              </a:rPr>
              <a:t>polypose infectieuse </a:t>
            </a:r>
            <a:r>
              <a:rPr lang="fr-FR" sz="3200"/>
              <a:t>accompagne la sinusite chronique - souvent unilatérale 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3200">
                <a:solidFill>
                  <a:srgbClr val="FFC000"/>
                </a:solidFill>
              </a:rPr>
              <a:t>polype sinuso-choanal </a:t>
            </a:r>
            <a:r>
              <a:rPr lang="fr-FR" sz="3200"/>
              <a:t>- polype solitaire a l’origine dans le sinus maxillaire et il est extériorisé dans rhino-pharynx par un long pédicule – unilatérale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3200"/>
              <a:t> </a:t>
            </a:r>
            <a:r>
              <a:rPr lang="fr-FR" sz="3200">
                <a:solidFill>
                  <a:srgbClr val="FFC000"/>
                </a:solidFill>
              </a:rPr>
              <a:t>polypose déformante juvénile - syndrome Woakes</a:t>
            </a:r>
            <a:endParaRPr sz="3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3200">
                <a:solidFill>
                  <a:srgbClr val="FFC000"/>
                </a:solidFill>
              </a:rPr>
              <a:t>polypose d’accompagnement – dans les tumeurs nasales</a:t>
            </a:r>
            <a:endParaRPr sz="3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4000">
                <a:solidFill>
                  <a:srgbClr val="FFC000"/>
                </a:solidFill>
              </a:rPr>
              <a:t>Traitement :</a:t>
            </a:r>
            <a:endParaRPr b="1" sz="40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200"/>
              <a:t> Chirurgical : - classique  / endoscopique préféré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200"/>
              <a:t> </a:t>
            </a:r>
            <a:r>
              <a:rPr b="1" i="1" lang="fr-FR" sz="3200" u="sng">
                <a:solidFill>
                  <a:srgbClr val="FFC000"/>
                </a:solidFill>
              </a:rPr>
              <a:t>Les rechutes sont fréquentes</a:t>
            </a:r>
            <a:endParaRPr b="1" i="1" sz="3200" u="sng">
              <a:solidFill>
                <a:srgbClr val="FFC000"/>
              </a:solidFill>
            </a:endParaRPr>
          </a:p>
          <a:p>
            <a:pPr indent="-189071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69"/>
          <p:cNvSpPr txBox="1"/>
          <p:nvPr>
            <p:ph type="title"/>
          </p:nvPr>
        </p:nvSpPr>
        <p:spPr>
          <a:xfrm>
            <a:off x="533400" y="0"/>
            <a:ext cx="8153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LES  SINUSITES</a:t>
            </a:r>
            <a:br>
              <a:rPr lang="fr-FR"/>
            </a:br>
            <a:endParaRPr/>
          </a:p>
        </p:txBody>
      </p:sp>
      <p:sp>
        <p:nvSpPr>
          <p:cNvPr id="593" name="Google Shape;593;p69"/>
          <p:cNvSpPr txBox="1"/>
          <p:nvPr>
            <p:ph idx="1" type="body"/>
          </p:nvPr>
        </p:nvSpPr>
        <p:spPr>
          <a:xfrm>
            <a:off x="381000" y="304800"/>
            <a:ext cx="838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br>
              <a:rPr b="1" i="1" lang="fr-FR" sz="4800"/>
            </a:br>
            <a:r>
              <a:rPr lang="fr-FR" sz="4800"/>
              <a:t>Les sinusites sont des inflammations de la muqueuse des sinus paranasaux,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800"/>
              <a:t>            qui présentent d’étiopathogénie et tableau clinique semblables </a:t>
            </a:r>
            <a:endParaRPr sz="4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7000">
                <a:solidFill>
                  <a:srgbClr val="FFC000"/>
                </a:solidFill>
              </a:rPr>
              <a:t>CLASSIFICATION</a:t>
            </a:r>
            <a:endParaRPr sz="70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5600">
                <a:solidFill>
                  <a:srgbClr val="FFC000"/>
                </a:solidFill>
              </a:rPr>
              <a:t>1. Après la localisation </a:t>
            </a:r>
            <a:r>
              <a:rPr lang="fr-FR" sz="5600">
                <a:solidFill>
                  <a:srgbClr val="FFC000"/>
                </a:solidFill>
              </a:rPr>
              <a:t>: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a. </a:t>
            </a:r>
            <a:r>
              <a:rPr i="1" lang="fr-FR" sz="5600"/>
              <a:t>le sinus antérieur</a:t>
            </a:r>
            <a:r>
              <a:rPr lang="fr-FR" sz="5600"/>
              <a:t> - il draine dans le méat moyen :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      - ethmoïde sinus anterieur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       - sinus frontal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      - sinus maxillaire.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b</a:t>
            </a:r>
            <a:r>
              <a:rPr i="1" lang="fr-FR" sz="5600"/>
              <a:t>. sinus postérieur</a:t>
            </a:r>
            <a:r>
              <a:rPr lang="fr-FR" sz="5600"/>
              <a:t> – drainent dans le méat supérieur :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       - sinus ethmoïdal postérieur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       - sinus sphénoïdal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>
                <a:solidFill>
                  <a:srgbClr val="FFC000"/>
                </a:solidFill>
              </a:rPr>
              <a:t>2. Après le nombre de sinus affecté :</a:t>
            </a:r>
            <a:endParaRPr sz="56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5600"/>
              <a:t> des monosinusites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5600"/>
              <a:t> polisinusites - plus de sinus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5600"/>
              <a:t> pansinusites - inflammation de tous les sinus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( antérieures / postérieures, unilatérale / bilatérale)</a:t>
            </a:r>
            <a:endParaRPr sz="5600"/>
          </a:p>
          <a:p>
            <a:pPr indent="-27051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id="594" name="Google Shape;594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4600" y="1143000"/>
            <a:ext cx="281940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0876" y="4343400"/>
            <a:ext cx="2869324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70"/>
          <p:cNvSpPr txBox="1"/>
          <p:nvPr>
            <p:ph type="title"/>
          </p:nvPr>
        </p:nvSpPr>
        <p:spPr>
          <a:xfrm>
            <a:off x="914400" y="3048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LES  SINUSITES</a:t>
            </a:r>
            <a:br>
              <a:rPr lang="fr-FR"/>
            </a:br>
            <a:endParaRPr/>
          </a:p>
        </p:txBody>
      </p:sp>
      <p:sp>
        <p:nvSpPr>
          <p:cNvPr id="601" name="Google Shape;601;p70"/>
          <p:cNvSpPr txBox="1"/>
          <p:nvPr>
            <p:ph idx="1" type="body"/>
          </p:nvPr>
        </p:nvSpPr>
        <p:spPr>
          <a:xfrm>
            <a:off x="990600" y="1219200"/>
            <a:ext cx="7696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3200">
                <a:solidFill>
                  <a:srgbClr val="FFC000"/>
                </a:solidFill>
              </a:rPr>
              <a:t>CLASSIFICATION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200">
                <a:solidFill>
                  <a:srgbClr val="FFC000"/>
                </a:solidFill>
              </a:rPr>
              <a:t>3. Après étiologie </a:t>
            </a:r>
            <a:r>
              <a:rPr b="1" lang="fr-FR" sz="3200"/>
              <a:t>: </a:t>
            </a:r>
            <a:br>
              <a:rPr b="1" lang="fr-FR" sz="3200"/>
            </a:br>
            <a:r>
              <a:rPr lang="fr-FR" sz="3200"/>
              <a:t>- sinusite : - rhinopathique </a:t>
            </a:r>
            <a:br>
              <a:rPr lang="fr-FR" sz="3200"/>
            </a:br>
            <a:r>
              <a:rPr lang="fr-FR" sz="3200"/>
              <a:t>                     - odontopathique </a:t>
            </a:r>
            <a:br>
              <a:rPr lang="fr-FR" sz="3200"/>
            </a:br>
            <a:r>
              <a:rPr lang="fr-FR" sz="3200"/>
              <a:t>                     - traumatique </a:t>
            </a:r>
            <a:br>
              <a:rPr lang="fr-FR" sz="3200"/>
            </a:br>
            <a:r>
              <a:rPr lang="fr-FR" sz="3200"/>
              <a:t>                      - hématogène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200">
                <a:solidFill>
                  <a:srgbClr val="FFC000"/>
                </a:solidFill>
              </a:rPr>
              <a:t>4. Après l’évolution clinique :</a:t>
            </a:r>
            <a:r>
              <a:rPr lang="fr-FR" sz="3200">
                <a:solidFill>
                  <a:srgbClr val="FFC000"/>
                </a:solidFill>
              </a:rPr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200">
                <a:solidFill>
                  <a:srgbClr val="FFC000"/>
                </a:solidFill>
              </a:rPr>
              <a:t>    </a:t>
            </a:r>
            <a:r>
              <a:rPr lang="fr-FR" sz="3200"/>
              <a:t>-aiguë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200"/>
              <a:t>    - chronique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b="1" lang="fr-FR" sz="3200">
                <a:solidFill>
                  <a:srgbClr val="FFC000"/>
                </a:solidFill>
              </a:rPr>
              <a:t>5. Après l’aspect anatomopathologique </a:t>
            </a:r>
            <a:endParaRPr b="1" sz="3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200"/>
              <a:t>     - catarrhale </a:t>
            </a:r>
            <a:br>
              <a:rPr lang="fr-FR" sz="3200"/>
            </a:br>
            <a:r>
              <a:rPr lang="fr-FR" sz="3200"/>
              <a:t>- suppurée </a:t>
            </a:r>
            <a:br>
              <a:rPr lang="fr-FR" sz="3200"/>
            </a:br>
            <a:r>
              <a:rPr lang="fr-FR" sz="3200"/>
              <a:t>- hyperplasiques (hypertrophique) </a:t>
            </a:r>
            <a:br>
              <a:rPr lang="fr-FR" sz="3200"/>
            </a:br>
            <a:r>
              <a:rPr lang="fr-FR" sz="3200"/>
              <a:t>- polypoïde </a:t>
            </a:r>
            <a:br>
              <a:rPr lang="fr-FR" sz="3200"/>
            </a:br>
            <a:r>
              <a:rPr lang="fr-FR" sz="3200"/>
              <a:t>- ostéitique.</a:t>
            </a:r>
            <a:endParaRPr sz="3200"/>
          </a:p>
          <a:p>
            <a:pPr indent="-202644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71"/>
          <p:cNvSpPr txBox="1"/>
          <p:nvPr>
            <p:ph type="title"/>
          </p:nvPr>
        </p:nvSpPr>
        <p:spPr>
          <a:xfrm>
            <a:off x="914400" y="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LES SINUSITES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07" name="Google Shape;607;p71"/>
          <p:cNvSpPr txBox="1"/>
          <p:nvPr>
            <p:ph idx="1" type="body"/>
          </p:nvPr>
        </p:nvSpPr>
        <p:spPr>
          <a:xfrm>
            <a:off x="304800" y="838200"/>
            <a:ext cx="8839200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4400">
                <a:solidFill>
                  <a:srgbClr val="FFC000"/>
                </a:solidFill>
              </a:rPr>
              <a:t>Étiologie</a:t>
            </a:r>
            <a:r>
              <a:rPr b="1"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- virus</a:t>
            </a:r>
            <a:br>
              <a:rPr lang="fr-FR"/>
            </a:br>
            <a:r>
              <a:rPr lang="fr-FR"/>
              <a:t>- pneumocoque </a:t>
            </a:r>
            <a:br>
              <a:rPr lang="fr-FR"/>
            </a:br>
            <a:r>
              <a:rPr lang="fr-FR"/>
              <a:t>- haemophilus influenzae </a:t>
            </a:r>
            <a:br>
              <a:rPr lang="fr-FR"/>
            </a:br>
            <a:r>
              <a:rPr lang="fr-FR"/>
              <a:t>- streptocoques hémolytiques /  staphylococcus </a:t>
            </a:r>
            <a:br>
              <a:rPr lang="fr-FR"/>
            </a:br>
            <a:r>
              <a:rPr lang="fr-FR"/>
              <a:t>- la flore anaérobique de la sinusite odontogène </a:t>
            </a:r>
            <a:br>
              <a:rPr lang="fr-FR"/>
            </a:br>
            <a:r>
              <a:rPr lang="fr-FR"/>
              <a:t>- surinfection fongique</a:t>
            </a:r>
            <a:br>
              <a:rPr lang="fr-FR"/>
            </a:br>
            <a:r>
              <a:rPr lang="fr-FR"/>
              <a:t>- en cas sinusite aiguë l’infection est mono bactérienne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- dans la sinusite chronique - flore polymorphe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4400">
                <a:solidFill>
                  <a:srgbClr val="FFC000"/>
                </a:solidFill>
              </a:rPr>
              <a:t>Les facteurs contributifs</a:t>
            </a:r>
            <a:r>
              <a:rPr lang="fr-FR" sz="4400">
                <a:solidFill>
                  <a:srgbClr val="FFC000"/>
                </a:solidFill>
              </a:rPr>
              <a:t> </a:t>
            </a:r>
            <a:r>
              <a:rPr lang="fr-FR" sz="4400"/>
              <a:t> </a:t>
            </a:r>
            <a:r>
              <a:rPr lang="fr-FR"/>
              <a:t>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   </a:t>
            </a:r>
            <a:r>
              <a:rPr lang="fr-FR">
                <a:solidFill>
                  <a:srgbClr val="FFC000"/>
                </a:solidFill>
              </a:rPr>
              <a:t> </a:t>
            </a:r>
            <a:r>
              <a:rPr i="1" lang="fr-FR">
                <a:solidFill>
                  <a:srgbClr val="FFC000"/>
                </a:solidFill>
              </a:rPr>
              <a:t>Locales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>
                <a:solidFill>
                  <a:srgbClr val="FFC000"/>
                </a:solidFill>
              </a:rPr>
              <a:t>         </a:t>
            </a:r>
            <a:r>
              <a:rPr lang="fr-FR">
                <a:solidFill>
                  <a:srgbClr val="FFC000"/>
                </a:solidFill>
              </a:rPr>
              <a:t> </a:t>
            </a:r>
            <a:r>
              <a:rPr lang="fr-FR"/>
              <a:t>- orifice du sinus bloqué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- les déviations de septum </a:t>
            </a:r>
            <a:br>
              <a:rPr lang="fr-FR"/>
            </a:br>
            <a:r>
              <a:rPr lang="fr-FR"/>
              <a:t>   - polypose nasale </a:t>
            </a:r>
            <a:br>
              <a:rPr lang="fr-FR"/>
            </a:br>
            <a:r>
              <a:rPr lang="fr-FR"/>
              <a:t>   - les tumeurs ;</a:t>
            </a:r>
            <a:br>
              <a:rPr lang="fr-FR"/>
            </a:br>
            <a:r>
              <a:rPr lang="fr-FR"/>
              <a:t>   - les sinus septés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>
                <a:solidFill>
                  <a:srgbClr val="FFC000"/>
                </a:solidFill>
              </a:rPr>
              <a:t> De </a:t>
            </a:r>
            <a:r>
              <a:rPr i="1" lang="fr-FR">
                <a:solidFill>
                  <a:srgbClr val="FFC000"/>
                </a:solidFill>
              </a:rPr>
              <a:t>voisinage</a:t>
            </a:r>
            <a:r>
              <a:rPr lang="fr-FR">
                <a:solidFill>
                  <a:srgbClr val="FFC000"/>
                </a:solidFill>
              </a:rPr>
              <a:t> </a:t>
            </a:r>
            <a:r>
              <a:rPr lang="fr-FR"/>
              <a:t>– les infections dentaires (pulpite, de gangrène)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     -  </a:t>
            </a:r>
            <a:r>
              <a:rPr lang="fr-FR" sz="4400">
                <a:solidFill>
                  <a:srgbClr val="FFC000"/>
                </a:solidFill>
              </a:rPr>
              <a:t>2</a:t>
            </a:r>
            <a:r>
              <a:rPr lang="fr-FR">
                <a:solidFill>
                  <a:srgbClr val="FFC000"/>
                </a:solidFill>
              </a:rPr>
              <a:t>ème prémolaire et les  </a:t>
            </a:r>
            <a:r>
              <a:rPr lang="fr-FR" sz="4400">
                <a:solidFill>
                  <a:srgbClr val="FFC000"/>
                </a:solidFill>
              </a:rPr>
              <a:t>1</a:t>
            </a:r>
            <a:r>
              <a:rPr lang="fr-FR">
                <a:solidFill>
                  <a:srgbClr val="FFC000"/>
                </a:solidFill>
              </a:rPr>
              <a:t>ères deux molaires 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i="1" lang="fr-FR">
                <a:solidFill>
                  <a:srgbClr val="FFC000"/>
                </a:solidFill>
              </a:rPr>
              <a:t> Générales</a:t>
            </a:r>
            <a:r>
              <a:rPr lang="fr-FR">
                <a:solidFill>
                  <a:srgbClr val="FFC000"/>
                </a:solidFill>
              </a:rPr>
              <a:t> </a:t>
            </a:r>
            <a:r>
              <a:rPr lang="fr-FR"/>
              <a:t>- l’abaissement de la puissance de défense (locales - pituitaire et générale)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- allergie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- diabète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- froide, l’humidité et la pollution.</a:t>
            </a:r>
            <a:endParaRPr/>
          </a:p>
          <a:p>
            <a:pPr indent="-243363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72"/>
          <p:cNvSpPr txBox="1"/>
          <p:nvPr>
            <p:ph type="title"/>
          </p:nvPr>
        </p:nvSpPr>
        <p:spPr>
          <a:xfrm>
            <a:off x="914400" y="30480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400"/>
              <a:buFont typeface="Corbel"/>
              <a:buNone/>
            </a:pPr>
            <a:r>
              <a:rPr b="1" lang="fr-FR" sz="2400">
                <a:solidFill>
                  <a:srgbClr val="FFC000"/>
                </a:solidFill>
                <a:latin typeface="Corbel"/>
                <a:ea typeface="Corbel"/>
                <a:cs typeface="Corbel"/>
                <a:sym typeface="Corbel"/>
              </a:rPr>
              <a:t>PATHOGENIE</a:t>
            </a:r>
            <a:br>
              <a:rPr b="1" lang="fr-FR" sz="2400">
                <a:latin typeface="Corbel"/>
                <a:ea typeface="Corbel"/>
                <a:cs typeface="Corbel"/>
                <a:sym typeface="Corbel"/>
              </a:rPr>
            </a:br>
            <a:br>
              <a:rPr b="1" lang="fr-FR" sz="2400">
                <a:latin typeface="Corbel"/>
                <a:ea typeface="Corbel"/>
                <a:cs typeface="Corbel"/>
                <a:sym typeface="Corbel"/>
              </a:rPr>
            </a:br>
            <a:br>
              <a:rPr b="1" lang="fr-FR" sz="2800">
                <a:latin typeface="Corbel"/>
                <a:ea typeface="Corbel"/>
                <a:cs typeface="Corbel"/>
                <a:sym typeface="Corbel"/>
              </a:rPr>
            </a:br>
            <a:br>
              <a:rPr lang="fr-FR"/>
            </a:br>
            <a:endParaRPr/>
          </a:p>
        </p:txBody>
      </p:sp>
      <p:sp>
        <p:nvSpPr>
          <p:cNvPr id="613" name="Google Shape;613;p72"/>
          <p:cNvSpPr txBox="1"/>
          <p:nvPr>
            <p:ph idx="1" type="body"/>
          </p:nvPr>
        </p:nvSpPr>
        <p:spPr>
          <a:xfrm>
            <a:off x="533400" y="762000"/>
            <a:ext cx="8153400" cy="574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6400"/>
              <a:t> </a:t>
            </a:r>
            <a:r>
              <a:rPr i="1" lang="fr-FR" sz="6400">
                <a:solidFill>
                  <a:srgbClr val="FFC000"/>
                </a:solidFill>
              </a:rPr>
              <a:t>Sinusite rhinopathique</a:t>
            </a:r>
            <a:r>
              <a:rPr lang="fr-FR" sz="6400">
                <a:solidFill>
                  <a:srgbClr val="FFC000"/>
                </a:solidFill>
              </a:rPr>
              <a:t> </a:t>
            </a:r>
            <a:r>
              <a:rPr lang="fr-FR" sz="6400"/>
              <a:t> - une inflammation de l’ostium due à lʼobstruction - empêchant la ventilation - rétention de l’exsudat et la surinfection par des bactéries provenant de fosses nasales 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6400"/>
              <a:t> </a:t>
            </a:r>
            <a:r>
              <a:rPr i="1" lang="fr-FR" sz="6400">
                <a:solidFill>
                  <a:srgbClr val="FFC000"/>
                </a:solidFill>
              </a:rPr>
              <a:t>Sinusite odontopatique</a:t>
            </a:r>
            <a:r>
              <a:rPr lang="fr-FR" sz="6400">
                <a:solidFill>
                  <a:srgbClr val="FFC000"/>
                </a:solidFill>
              </a:rPr>
              <a:t> </a:t>
            </a:r>
            <a:r>
              <a:rPr lang="fr-FR" sz="6400"/>
              <a:t>- affecte le sinus maxillaire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6400">
                <a:solidFill>
                  <a:srgbClr val="FFC000"/>
                </a:solidFill>
              </a:rPr>
              <a:t> </a:t>
            </a:r>
            <a:r>
              <a:rPr i="1" lang="fr-FR" sz="6400">
                <a:solidFill>
                  <a:srgbClr val="FFC000"/>
                </a:solidFill>
              </a:rPr>
              <a:t>Sinusite traumatique</a:t>
            </a:r>
            <a:r>
              <a:rPr lang="fr-FR" sz="6400">
                <a:solidFill>
                  <a:srgbClr val="FFC000"/>
                </a:solidFill>
              </a:rPr>
              <a:t> </a:t>
            </a:r>
            <a:r>
              <a:rPr lang="fr-FR" sz="6400"/>
              <a:t>- inoculation de l’agent pathogène soit directement par un traumatisme / un tamponnement nasal produit l’obstruction de l’ostium 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i="1" lang="fr-FR" sz="6400"/>
              <a:t> </a:t>
            </a:r>
            <a:r>
              <a:rPr i="1" lang="fr-FR" sz="6400">
                <a:solidFill>
                  <a:srgbClr val="FFC000"/>
                </a:solidFill>
              </a:rPr>
              <a:t>Sinusite allergique</a:t>
            </a:r>
            <a:r>
              <a:rPr i="1" lang="fr-FR" sz="6400"/>
              <a:t> :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        - dans l’allergie nasale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        - obstruction de l’ostium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        - prolifération du l’extravasé cellulaire = &gt; sinusite alergo-infectieuse 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i="1" lang="fr-FR" sz="6400"/>
              <a:t> </a:t>
            </a:r>
            <a:r>
              <a:rPr i="1" lang="fr-FR" sz="6400">
                <a:solidFill>
                  <a:srgbClr val="FFC000"/>
                </a:solidFill>
              </a:rPr>
              <a:t>Sinusite d’accompagnement</a:t>
            </a:r>
            <a:r>
              <a:rPr lang="fr-FR" sz="6400">
                <a:solidFill>
                  <a:srgbClr val="FFC000"/>
                </a:solidFill>
              </a:rPr>
              <a:t> </a:t>
            </a:r>
            <a:r>
              <a:rPr lang="fr-FR" sz="6400"/>
              <a:t>- des tumeurs nasales qui obstruent l’orifice de drainage 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i="1" lang="fr-FR" sz="6400">
                <a:solidFill>
                  <a:srgbClr val="FFC000"/>
                </a:solidFill>
              </a:rPr>
              <a:t>Sinusite par ensemencement </a:t>
            </a:r>
            <a:r>
              <a:rPr i="1" lang="fr-FR" sz="6400"/>
              <a:t>hématogène</a:t>
            </a:r>
            <a:r>
              <a:rPr lang="fr-FR" sz="6400"/>
              <a:t> - rares.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70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7000">
                <a:solidFill>
                  <a:srgbClr val="FFC000"/>
                </a:solidFill>
              </a:rPr>
              <a:t>ANATOMIE PATHOLOGIQUE</a:t>
            </a:r>
            <a:endParaRPr sz="70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Après la virulence des agents pathogènes, des facteurs physiopathologiques et la résistance immunologique 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5600">
                <a:solidFill>
                  <a:srgbClr val="FFC000"/>
                </a:solidFill>
              </a:rPr>
              <a:t>          </a:t>
            </a:r>
            <a:r>
              <a:rPr b="1" i="1" lang="fr-FR" sz="6400">
                <a:solidFill>
                  <a:srgbClr val="FFC000"/>
                </a:solidFill>
              </a:rPr>
              <a:t>- sinusite catarrhale </a:t>
            </a:r>
            <a:br>
              <a:rPr b="1" i="1" lang="fr-FR" sz="6400">
                <a:solidFill>
                  <a:srgbClr val="FFC000"/>
                </a:solidFill>
              </a:rPr>
            </a:br>
            <a:r>
              <a:rPr b="1" i="1" lang="fr-FR" sz="6400">
                <a:solidFill>
                  <a:srgbClr val="FFC000"/>
                </a:solidFill>
              </a:rPr>
              <a:t>- sinusite purulente</a:t>
            </a:r>
            <a:br>
              <a:rPr b="1" i="1" lang="fr-FR" sz="6400">
                <a:solidFill>
                  <a:srgbClr val="FFC000"/>
                </a:solidFill>
              </a:rPr>
            </a:br>
            <a:r>
              <a:rPr b="1" i="1" lang="fr-FR" sz="6400">
                <a:solidFill>
                  <a:srgbClr val="FFC000"/>
                </a:solidFill>
              </a:rPr>
              <a:t>- sinusite hyperplasique</a:t>
            </a:r>
            <a:br>
              <a:rPr b="1" i="1" lang="fr-FR" sz="6400">
                <a:solidFill>
                  <a:srgbClr val="FFC000"/>
                </a:solidFill>
              </a:rPr>
            </a:br>
            <a:r>
              <a:rPr b="1" i="1" lang="fr-FR" sz="6400">
                <a:solidFill>
                  <a:srgbClr val="FFC000"/>
                </a:solidFill>
              </a:rPr>
              <a:t>- sinusite polypoïde</a:t>
            </a:r>
            <a:br>
              <a:rPr b="1" i="1" lang="fr-FR" sz="6400">
                <a:solidFill>
                  <a:srgbClr val="FFC000"/>
                </a:solidFill>
              </a:rPr>
            </a:br>
            <a:r>
              <a:rPr b="1" i="1" lang="fr-FR" sz="6400">
                <a:solidFill>
                  <a:srgbClr val="FFC000"/>
                </a:solidFill>
              </a:rPr>
              <a:t>- sinus ostéitique</a:t>
            </a:r>
            <a:endParaRPr b="1" i="1" sz="6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 </a:t>
            </a:r>
            <a:endParaRPr sz="6400"/>
          </a:p>
          <a:p>
            <a:pPr indent="-297656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73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SINUSITES  AIGUËS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19" name="Google Shape;619;p73"/>
          <p:cNvSpPr txBox="1"/>
          <p:nvPr>
            <p:ph idx="1" type="body"/>
          </p:nvPr>
        </p:nvSpPr>
        <p:spPr>
          <a:xfrm>
            <a:off x="304800" y="1219200"/>
            <a:ext cx="86106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6000">
                <a:solidFill>
                  <a:srgbClr val="FFC000"/>
                </a:solidFill>
              </a:rPr>
              <a:t>SYMPTOMATOLOGIE </a:t>
            </a:r>
            <a:endParaRPr sz="60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b="1" i="1" lang="fr-FR" sz="4200">
                <a:solidFill>
                  <a:srgbClr val="FFC000"/>
                </a:solidFill>
              </a:rPr>
              <a:t>Subjectif :</a:t>
            </a:r>
            <a:endParaRPr b="1" sz="4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         1</a:t>
            </a:r>
            <a:r>
              <a:rPr b="1" lang="fr-FR" sz="3800"/>
              <a:t>.  </a:t>
            </a:r>
            <a:r>
              <a:rPr b="1" lang="fr-FR" sz="3800">
                <a:solidFill>
                  <a:srgbClr val="FFC000"/>
                </a:solidFill>
              </a:rPr>
              <a:t>- </a:t>
            </a:r>
            <a:r>
              <a:rPr b="1" i="1" lang="fr-FR" sz="3800">
                <a:solidFill>
                  <a:srgbClr val="FFC000"/>
                </a:solidFill>
              </a:rPr>
              <a:t>Douleur</a:t>
            </a:r>
            <a:r>
              <a:rPr b="1" lang="fr-FR" sz="3800">
                <a:solidFill>
                  <a:srgbClr val="FFC000"/>
                </a:solidFill>
              </a:rPr>
              <a:t> </a:t>
            </a:r>
            <a:r>
              <a:rPr b="1" lang="fr-FR" sz="3800"/>
              <a:t>- </a:t>
            </a:r>
            <a:r>
              <a:rPr lang="fr-FR"/>
              <a:t>au visage et la tête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- sensation de pression au niveau des sinus </a:t>
            </a:r>
            <a:br>
              <a:rPr lang="fr-FR"/>
            </a:br>
            <a:r>
              <a:rPr lang="fr-FR"/>
              <a:t>- parfois lancinante, de nature pulsatile </a:t>
            </a:r>
            <a:br>
              <a:rPr lang="fr-FR"/>
            </a:br>
            <a:r>
              <a:rPr lang="fr-FR"/>
              <a:t>- augmente à :	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         -des éternuements ;</a:t>
            </a:r>
            <a:br>
              <a:rPr lang="fr-FR"/>
            </a:br>
            <a:r>
              <a:rPr lang="fr-FR"/>
              <a:t>                              - les mouvements brusques de la tête </a:t>
            </a:r>
            <a:br>
              <a:rPr lang="fr-FR"/>
            </a:br>
            <a:r>
              <a:rPr lang="fr-FR"/>
              <a:t>                              - l’inclinaison de la tête </a:t>
            </a:r>
            <a:br>
              <a:rPr lang="fr-FR"/>
            </a:br>
            <a:r>
              <a:rPr lang="fr-FR"/>
              <a:t>                              - la palpation des points de sinusales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- dans la sinusite sphénoïdale - de douleur occipitale et  temporale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          2.</a:t>
            </a:r>
            <a:r>
              <a:rPr b="1" lang="fr-FR" sz="3800"/>
              <a:t> - </a:t>
            </a:r>
            <a:r>
              <a:rPr b="1" i="1" lang="fr-FR" sz="3800">
                <a:solidFill>
                  <a:srgbClr val="FFC000"/>
                </a:solidFill>
              </a:rPr>
              <a:t>Rhinorrhée </a:t>
            </a:r>
            <a:r>
              <a:rPr b="1" lang="fr-FR" sz="3800"/>
              <a:t>: </a:t>
            </a:r>
            <a:endParaRPr b="1" sz="3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- couleur et la viscosité sont variables, muqueuse  purulente, jaune vert </a:t>
            </a:r>
            <a:br>
              <a:rPr lang="fr-FR"/>
            </a:br>
            <a:r>
              <a:rPr lang="fr-FR"/>
              <a:t>  - inodore /  fétide dans la sinusite odontopatique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         3. - </a:t>
            </a:r>
            <a:r>
              <a:rPr b="1" i="1" lang="fr-FR" sz="3800">
                <a:solidFill>
                  <a:srgbClr val="FFC000"/>
                </a:solidFill>
              </a:rPr>
              <a:t>Obstruction nasale</a:t>
            </a:r>
            <a:r>
              <a:rPr b="1" lang="fr-FR" sz="3800">
                <a:solidFill>
                  <a:srgbClr val="FFC000"/>
                </a:solidFill>
              </a:rPr>
              <a:t> </a:t>
            </a:r>
            <a:r>
              <a:rPr b="1" lang="fr-FR" sz="3800"/>
              <a:t>-</a:t>
            </a:r>
            <a:r>
              <a:rPr lang="fr-FR"/>
              <a:t> intermittente ou permanente, généralement unilatérale </a:t>
            </a:r>
            <a:br>
              <a:rPr lang="fr-FR"/>
            </a:br>
            <a:r>
              <a:rPr lang="fr-FR"/>
              <a:t>   </a:t>
            </a:r>
            <a:r>
              <a:rPr b="1" lang="fr-FR" sz="3800">
                <a:solidFill>
                  <a:srgbClr val="FFC000"/>
                </a:solidFill>
              </a:rPr>
              <a:t>4. - </a:t>
            </a:r>
            <a:r>
              <a:rPr b="1" i="1" lang="fr-FR" sz="3800">
                <a:solidFill>
                  <a:srgbClr val="FFC000"/>
                </a:solidFill>
              </a:rPr>
              <a:t>Troubles de l’olfaction</a:t>
            </a:r>
            <a:r>
              <a:rPr i="1" lang="fr-FR"/>
              <a:t> </a:t>
            </a:r>
            <a:r>
              <a:rPr lang="fr-FR"/>
              <a:t>: - hyposmie et anosmie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                                                        - cacosmie dans la sinusite odontopatique.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3800">
                <a:solidFill>
                  <a:srgbClr val="FFC000"/>
                </a:solidFill>
              </a:rPr>
              <a:t>         5.- Signes généraux </a:t>
            </a:r>
            <a:r>
              <a:rPr b="1" lang="fr-FR" sz="3800">
                <a:solidFill>
                  <a:srgbClr val="FFC000"/>
                </a:solidFill>
              </a:rPr>
              <a:t>:</a:t>
            </a:r>
            <a:endParaRPr b="1" sz="3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- fièvre dans les processus aigus ou en cas de complications </a:t>
            </a:r>
            <a:br>
              <a:rPr lang="fr-FR"/>
            </a:br>
            <a:r>
              <a:rPr lang="fr-FR"/>
              <a:t>               - asthénie </a:t>
            </a:r>
            <a:br>
              <a:rPr lang="fr-FR"/>
            </a:br>
            <a:r>
              <a:rPr lang="fr-FR"/>
              <a:t>               - perte d’appétit.</a:t>
            </a:r>
            <a:endParaRPr/>
          </a:p>
          <a:p>
            <a:pPr indent="-256936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id="620" name="Google Shape;620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7652" y="457200"/>
            <a:ext cx="3605348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74"/>
          <p:cNvSpPr txBox="1"/>
          <p:nvPr>
            <p:ph idx="1" type="body"/>
          </p:nvPr>
        </p:nvSpPr>
        <p:spPr>
          <a:xfrm>
            <a:off x="457200" y="1295400"/>
            <a:ext cx="61722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5100">
                <a:solidFill>
                  <a:srgbClr val="FFC000"/>
                </a:solidFill>
              </a:rPr>
              <a:t>SYMPTOMATOLOGIE </a:t>
            </a:r>
            <a:endParaRPr sz="51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b="1" i="1" lang="fr-FR" sz="3600">
                <a:solidFill>
                  <a:srgbClr val="FFC000"/>
                </a:solidFill>
              </a:rPr>
              <a:t>Objectif </a:t>
            </a:r>
            <a:r>
              <a:rPr b="1" lang="fr-FR" sz="3600">
                <a:solidFill>
                  <a:srgbClr val="FFC000"/>
                </a:solidFill>
              </a:rPr>
              <a:t>:</a:t>
            </a:r>
            <a:endParaRPr b="1" sz="36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-  gonflement tégumentaire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-  pointes sinusales sensibles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-  gonflement de la muqueuse nasale / la sécrétion de divers aspects de méat moyen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- sécrétion qui draine dans le rhino-pharynx.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Le diagnostic positif</a:t>
            </a:r>
            <a:r>
              <a:rPr lang="fr-FR" sz="3800">
                <a:solidFill>
                  <a:srgbClr val="FFC000"/>
                </a:solidFill>
              </a:rPr>
              <a:t> </a:t>
            </a:r>
            <a:r>
              <a:rPr lang="fr-FR"/>
              <a:t> est réalisé par :</a:t>
            </a:r>
            <a:br>
              <a:rPr lang="fr-FR"/>
            </a:br>
            <a:r>
              <a:rPr lang="fr-FR"/>
              <a:t>1.- anamnèse </a:t>
            </a:r>
            <a:br>
              <a:rPr lang="fr-FR"/>
            </a:br>
            <a:r>
              <a:rPr lang="fr-FR"/>
              <a:t>2.- examen objectif - rhinoscopie antérieure, l’endoscopie</a:t>
            </a:r>
            <a:br>
              <a:rPr lang="fr-FR"/>
            </a:br>
            <a:r>
              <a:rPr lang="fr-FR"/>
              <a:t>3.- examen radiologique :</a:t>
            </a:r>
            <a:br>
              <a:rPr lang="fr-FR"/>
            </a:br>
            <a:r>
              <a:rPr lang="fr-FR"/>
              <a:t>	- l’incidence le nez - menton – plaque pour les sinus antérieurs ;</a:t>
            </a:r>
            <a:br>
              <a:rPr lang="fr-FR"/>
            </a:br>
            <a:r>
              <a:rPr lang="fr-FR"/>
              <a:t>         - l’incidence Hirtz - base du crâne pour les sinus postérieurs ;</a:t>
            </a:r>
            <a:br>
              <a:rPr lang="fr-FR"/>
            </a:br>
            <a:r>
              <a:rPr lang="fr-FR"/>
              <a:t>4.- ordinateur - la tomographie est préférable</a:t>
            </a:r>
            <a:endParaRPr/>
          </a:p>
          <a:p>
            <a:pPr indent="-22979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sp>
        <p:nvSpPr>
          <p:cNvPr id="626" name="Google Shape;626;p74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SINUSITES  AIGUËS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627" name="Google Shape;627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3423" y="304800"/>
            <a:ext cx="2530577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53200" y="2667000"/>
            <a:ext cx="2590800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pe5" id="629" name="Google Shape;629;p7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53200" y="4800600"/>
            <a:ext cx="2590800" cy="1804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75"/>
          <p:cNvSpPr txBox="1"/>
          <p:nvPr>
            <p:ph type="title"/>
          </p:nvPr>
        </p:nvSpPr>
        <p:spPr>
          <a:xfrm>
            <a:off x="533400" y="512064"/>
            <a:ext cx="8153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SINUSITES  AIGUËS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35" name="Google Shape;635;p75"/>
          <p:cNvSpPr txBox="1"/>
          <p:nvPr>
            <p:ph idx="1" type="body"/>
          </p:nvPr>
        </p:nvSpPr>
        <p:spPr>
          <a:xfrm>
            <a:off x="381000" y="1143000"/>
            <a:ext cx="7010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fr-FR">
                <a:solidFill>
                  <a:srgbClr val="FFC000"/>
                </a:solidFill>
              </a:rPr>
              <a:t> </a:t>
            </a:r>
            <a:r>
              <a:rPr b="1" lang="fr-FR">
                <a:solidFill>
                  <a:srgbClr val="FFC000"/>
                </a:solidFill>
              </a:rPr>
              <a:t> ÉVOLUTION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Char char="▪"/>
            </a:pPr>
            <a:r>
              <a:rPr lang="fr-FR"/>
              <a:t> guérison spontanée à un traitement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Char char="▪"/>
            </a:pPr>
            <a:r>
              <a:rPr lang="fr-FR"/>
              <a:t> chronicisation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>
                <a:solidFill>
                  <a:srgbClr val="FFC000"/>
                </a:solidFill>
              </a:rPr>
              <a:t>LE TRAITEMENT CONSERVATEUR </a:t>
            </a:r>
            <a:r>
              <a:rPr lang="fr-FR" sz="3200"/>
              <a:t>: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3040"/>
              <a:buChar char="▪"/>
            </a:pPr>
            <a:r>
              <a:rPr lang="fr-FR" sz="3200"/>
              <a:t> antibiotique après antibiogramme 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3040"/>
              <a:buChar char="▪"/>
            </a:pPr>
            <a:r>
              <a:rPr lang="fr-FR" sz="3200"/>
              <a:t> vasoconstriction nasale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3040"/>
              <a:buChar char="▪"/>
            </a:pPr>
            <a:r>
              <a:rPr lang="fr-FR" sz="3200"/>
              <a:t> anti-inflammatoire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3040"/>
              <a:buChar char="▪"/>
            </a:pPr>
            <a:r>
              <a:rPr lang="fr-FR" sz="3200"/>
              <a:t>antipyrétique 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3040"/>
              <a:buChar char="▪"/>
            </a:pPr>
            <a:r>
              <a:rPr lang="fr-FR" sz="3200"/>
              <a:t> calmantes</a:t>
            </a:r>
            <a:endParaRPr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  <p:pic>
        <p:nvPicPr>
          <p:cNvPr id="636" name="Google Shape;636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1775" y="4200525"/>
            <a:ext cx="2409825" cy="204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6818542" y="874942"/>
            <a:ext cx="2117167" cy="2381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76"/>
          <p:cNvSpPr txBox="1"/>
          <p:nvPr>
            <p:ph type="title"/>
          </p:nvPr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SINUSITES  AIGUIE - TRAITEMENT</a:t>
            </a:r>
            <a:br>
              <a:rPr lang="fr-FR"/>
            </a:br>
            <a:endParaRPr/>
          </a:p>
        </p:txBody>
      </p:sp>
      <p:sp>
        <p:nvSpPr>
          <p:cNvPr id="643" name="Google Shape;643;p76"/>
          <p:cNvSpPr txBox="1"/>
          <p:nvPr>
            <p:ph idx="1" type="body"/>
          </p:nvPr>
        </p:nvSpPr>
        <p:spPr>
          <a:xfrm>
            <a:off x="381000" y="838200"/>
            <a:ext cx="8763000" cy="6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7200">
                <a:solidFill>
                  <a:srgbClr val="FFC000"/>
                </a:solidFill>
              </a:rPr>
              <a:t>SINUSITE MAXILLAIRE AIGUË</a:t>
            </a:r>
            <a:endParaRPr b="1" sz="7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5600"/>
              <a:t> rare rencontré comme forme isolée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5600"/>
              <a:t>souvent associé à l’ethmoïdite aiguë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5600"/>
              <a:t> la plus fréquente pour adultes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5600"/>
              <a:t>la douleur est au niveau de la fosse canine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7200">
                <a:solidFill>
                  <a:srgbClr val="FFC000"/>
                </a:solidFill>
              </a:rPr>
              <a:t> SINUSITE ETHMOÏDALE AIGUË</a:t>
            </a:r>
            <a:endParaRPr b="1" sz="7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5600"/>
              <a:t>rencontre à tout âge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5600"/>
              <a:t> plus fréquente chez les enfants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5600"/>
              <a:t>douleur et l’enflure sont au niveau de l’angle interne de l’orbite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7200">
                <a:solidFill>
                  <a:srgbClr val="FFC000"/>
                </a:solidFill>
              </a:rPr>
              <a:t>SINUSITE AIGUË FRONTALE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5600"/>
              <a:t>une douleur sur horaire fixe - plus prononcée dans la matinée, augmentant en intensité vers midi, puis disparaît après-midi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5600"/>
              <a:t>douleur et l’enflure sont au niveau supéro-interne de l’angle de l’orbite et de la douleur à la palpation - au point supra orbitaire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7200">
                <a:solidFill>
                  <a:srgbClr val="FFC000"/>
                </a:solidFill>
              </a:rPr>
              <a:t>SINUSITE SPHÉNOÏDALE AIGUË</a:t>
            </a:r>
            <a:endParaRPr b="1" sz="7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5600"/>
              <a:t> difficile à diagnostiquer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5600"/>
              <a:t>douleur occipitale et souvent temporelle.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5600"/>
              <a:t>la sécrétion s’écoule dans le rhino-pharynx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6400"/>
              <a:t>diagnostic de certitude - tomographie</a:t>
            </a:r>
            <a:br>
              <a:rPr lang="fr-FR" sz="6400"/>
            </a:br>
            <a:endParaRPr sz="64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77"/>
          <p:cNvSpPr txBox="1"/>
          <p:nvPr>
            <p:ph type="title"/>
          </p:nvPr>
        </p:nvSpPr>
        <p:spPr>
          <a:xfrm>
            <a:off x="381000" y="152400"/>
            <a:ext cx="830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LES  SINUSITES  CHRONIQUES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49" name="Google Shape;649;p77"/>
          <p:cNvSpPr txBox="1"/>
          <p:nvPr>
            <p:ph idx="1" type="body"/>
          </p:nvPr>
        </p:nvSpPr>
        <p:spPr>
          <a:xfrm>
            <a:off x="457200" y="838200"/>
            <a:ext cx="7848600" cy="57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br>
              <a:rPr b="1" lang="fr-FR"/>
            </a:b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8000">
                <a:solidFill>
                  <a:srgbClr val="FFC000"/>
                </a:solidFill>
              </a:rPr>
              <a:t>SYMPTOMATOLOGIE</a:t>
            </a:r>
            <a:endParaRPr sz="80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5600"/>
              <a:t>l’obstruction nasale et la rhinorrhée 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5600"/>
              <a:t>la douleur et les symptômes généraux se produisent dans la poussée aiguë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5600"/>
              <a:t>muqueuse congestive et traînée de sécrétion purulente qui s’écoule de méat  moyen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7200">
                <a:solidFill>
                  <a:srgbClr val="FFC000"/>
                </a:solidFill>
              </a:rPr>
              <a:t>SINUSITE MAXILLAIRE CHRONIQUE</a:t>
            </a:r>
            <a:endParaRPr b="1" sz="7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5600"/>
              <a:t>il peut apparaître isolé dans l’étiologie dentaire - rhinorrhée fétide (anaérobie)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7200">
                <a:solidFill>
                  <a:srgbClr val="FFC000"/>
                </a:solidFill>
              </a:rPr>
              <a:t>SINUSITE ETHMOÏDALE CHRONIQUE</a:t>
            </a:r>
            <a:endParaRPr sz="7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5600"/>
              <a:t>accompagne une sinusite maxillaire ou frontal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7200">
                <a:solidFill>
                  <a:srgbClr val="FFC000"/>
                </a:solidFill>
              </a:rPr>
              <a:t>SINUSITE FRONTALE CHRONIQUE</a:t>
            </a:r>
            <a:endParaRPr sz="7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5600"/>
              <a:t>pus dans le méat moyen antérieur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5600"/>
              <a:t>peut-être compliquée par fistulisation au niveau de la paupière supérieure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7200">
                <a:solidFill>
                  <a:srgbClr val="FFC000"/>
                </a:solidFill>
              </a:rPr>
              <a:t>SINUSITE SPHÉNOÏDALE CHRONIQUE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5600"/>
              <a:t>des sécrétions qui s’écoulent dans le rhino-pharynx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5600"/>
              <a:t>le pus sur la queue du cornet inférieure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5600"/>
              <a:t>lInflammation fréquente du nerf optique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 </a:t>
            </a:r>
            <a:endParaRPr/>
          </a:p>
          <a:p>
            <a:pPr indent="-297656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id="650" name="Google Shape;650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6893011" y="3012989"/>
            <a:ext cx="1834977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1" name="Google Shape;651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9400" y="228600"/>
            <a:ext cx="2148348" cy="17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78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TRAITEMENT</a:t>
            </a:r>
            <a:br>
              <a:rPr lang="fr-FR"/>
            </a:br>
            <a:endParaRPr/>
          </a:p>
        </p:txBody>
      </p:sp>
      <p:sp>
        <p:nvSpPr>
          <p:cNvPr id="657" name="Google Shape;657;p78"/>
          <p:cNvSpPr txBox="1"/>
          <p:nvPr>
            <p:ph idx="1" type="body"/>
          </p:nvPr>
        </p:nvSpPr>
        <p:spPr>
          <a:xfrm>
            <a:off x="381000" y="1295400"/>
            <a:ext cx="83058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suit l’amélioration ou la restauration de drainage des sinus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dans les sinus maxillaires - ponctions diaméatiques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br>
              <a:rPr lang="fr-FR"/>
            </a:br>
            <a:r>
              <a:rPr b="1" lang="fr-FR">
                <a:solidFill>
                  <a:srgbClr val="FFC000"/>
                </a:solidFill>
              </a:rPr>
              <a:t>Le traitement chirurgical :</a:t>
            </a:r>
            <a:endParaRPr b="1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la suppression de la muqueuse endommagée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création d’un drainage (communication) large avec la fosse nasale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chirurgie endoscopique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</a:t>
            </a:r>
            <a:r>
              <a:rPr lang="fr-FR" u="sng">
                <a:solidFill>
                  <a:srgbClr val="FFC000"/>
                </a:solidFill>
              </a:rPr>
              <a:t>FESS (functional endoscopic sinus surgery)</a:t>
            </a:r>
            <a:endParaRPr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la ponction du sinus maxillaire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175498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79"/>
          <p:cNvSpPr txBox="1"/>
          <p:nvPr>
            <p:ph type="title"/>
          </p:nvPr>
        </p:nvSpPr>
        <p:spPr>
          <a:xfrm>
            <a:off x="609600" y="304800"/>
            <a:ext cx="8534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rbel"/>
              <a:buNone/>
            </a:pPr>
            <a:r>
              <a:rPr lang="fr-FR">
                <a:latin typeface="Corbel"/>
                <a:ea typeface="Corbel"/>
                <a:cs typeface="Corbel"/>
                <a:sym typeface="Corbel"/>
              </a:rPr>
              <a:t>La ponction du sinus maxillaire</a:t>
            </a:r>
            <a:br>
              <a:rPr lang="fr-FR">
                <a:latin typeface="Corbel"/>
                <a:ea typeface="Corbel"/>
                <a:cs typeface="Corbel"/>
                <a:sym typeface="Corbel"/>
              </a:rPr>
            </a:b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663" name="Google Shape;663;p7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0800" y="3962400"/>
            <a:ext cx="3429000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1181099" y="800101"/>
            <a:ext cx="2590801" cy="3276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7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4953002" y="838198"/>
            <a:ext cx="2590799" cy="3352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80"/>
          <p:cNvSpPr txBox="1"/>
          <p:nvPr>
            <p:ph type="title"/>
          </p:nvPr>
        </p:nvSpPr>
        <p:spPr>
          <a:xfrm>
            <a:off x="381000" y="152400"/>
            <a:ext cx="8305800" cy="1274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LES  RHINOSINUSITES  FONGIQUES</a:t>
            </a:r>
            <a:br>
              <a:rPr lang="fr-FR"/>
            </a:br>
            <a:endParaRPr/>
          </a:p>
        </p:txBody>
      </p:sp>
      <p:sp>
        <p:nvSpPr>
          <p:cNvPr id="671" name="Google Shape;671;p80"/>
          <p:cNvSpPr txBox="1"/>
          <p:nvPr>
            <p:ph idx="1" type="body"/>
          </p:nvPr>
        </p:nvSpPr>
        <p:spPr>
          <a:xfrm>
            <a:off x="381000" y="762000"/>
            <a:ext cx="8763000" cy="6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32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256635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4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400"/>
              <a:t>Elles sont des affections sinusales avec étiologie fongique qui sont souvent négligées, sous-diagnostiquée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4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4400">
                <a:solidFill>
                  <a:srgbClr val="FFC000"/>
                </a:solidFill>
              </a:rPr>
              <a:t>1.  </a:t>
            </a:r>
            <a:r>
              <a:rPr b="1" lang="fr-FR" sz="4900">
                <a:solidFill>
                  <a:srgbClr val="FFC000"/>
                </a:solidFill>
              </a:rPr>
              <a:t>Étiologie </a:t>
            </a:r>
            <a:r>
              <a:rPr lang="fr-FR" sz="4900"/>
              <a:t>- aspergilus fumigatus, niger,  flavus, mucorales, fusarium</a:t>
            </a:r>
            <a:endParaRPr sz="4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4900">
                <a:solidFill>
                  <a:srgbClr val="FFC000"/>
                </a:solidFill>
              </a:rPr>
              <a:t>       La façon de pénétration </a:t>
            </a:r>
            <a:r>
              <a:rPr lang="fr-FR" sz="4900"/>
              <a:t>- souvent odontogène</a:t>
            </a:r>
            <a:endParaRPr sz="4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900"/>
              <a:t>                                                             - aérienne</a:t>
            </a:r>
            <a:endParaRPr sz="4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900"/>
              <a:t>        </a:t>
            </a:r>
            <a:r>
              <a:rPr b="1" lang="fr-FR" sz="4900">
                <a:solidFill>
                  <a:srgbClr val="FFC000"/>
                </a:solidFill>
              </a:rPr>
              <a:t>Les facteurs favorisants </a:t>
            </a:r>
            <a:r>
              <a:rPr lang="fr-FR" sz="4900"/>
              <a:t>- l’hypoventilation sinusale</a:t>
            </a:r>
            <a:endParaRPr sz="4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900"/>
              <a:t>                                                            - froide et humide climat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4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4900">
                <a:solidFill>
                  <a:srgbClr val="FFC000"/>
                </a:solidFill>
              </a:rPr>
              <a:t>2.  Formes cliniques</a:t>
            </a:r>
            <a:r>
              <a:rPr b="1" lang="fr-FR" sz="4900">
                <a:solidFill>
                  <a:srgbClr val="FFC000"/>
                </a:solidFill>
              </a:rPr>
              <a:t> </a:t>
            </a:r>
            <a:r>
              <a:rPr lang="fr-FR" sz="4900"/>
              <a:t>- rhinosinusite fongique aiguë</a:t>
            </a:r>
            <a:endParaRPr sz="4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900"/>
              <a:t>                                         - rhinosinusite fongique chronique récidivante</a:t>
            </a:r>
            <a:endParaRPr sz="4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900"/>
              <a:t>                                          - rhinosinusite fongique aiguë (fulminante)</a:t>
            </a:r>
            <a:br>
              <a:rPr lang="fr-FR" sz="4900"/>
            </a:br>
            <a:r>
              <a:rPr lang="fr-FR" sz="4900"/>
              <a:t>                                   - est une sinusite aiguë avec une évolution rapide et défavorable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4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4900">
                <a:solidFill>
                  <a:srgbClr val="FFC000"/>
                </a:solidFill>
              </a:rPr>
              <a:t>3. Subjectif</a:t>
            </a:r>
            <a:r>
              <a:rPr b="1" lang="fr-FR" sz="4900">
                <a:solidFill>
                  <a:srgbClr val="FFC000"/>
                </a:solidFill>
              </a:rPr>
              <a:t> </a:t>
            </a:r>
            <a:r>
              <a:rPr lang="fr-FR" sz="4900"/>
              <a:t>- fièvre, frissons, malaise, céphalée intense</a:t>
            </a:r>
            <a:endParaRPr sz="4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4900">
                <a:solidFill>
                  <a:srgbClr val="FFC000"/>
                </a:solidFill>
              </a:rPr>
              <a:t>4. Objectif</a:t>
            </a:r>
            <a:r>
              <a:rPr i="1" lang="fr-FR" sz="4900"/>
              <a:t> </a:t>
            </a:r>
            <a:r>
              <a:rPr lang="fr-FR" sz="4900"/>
              <a:t>- sécrétions nasales croûteuses saignantes et des nécroses de la muqueuse</a:t>
            </a:r>
            <a:endParaRPr sz="4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900"/>
              <a:t>                      - érythème facial </a:t>
            </a:r>
            <a:endParaRPr sz="4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900"/>
              <a:t>                       - les symptômes oculaires – chémosis/ exophtalmie/ diminution de l’acuité visuelle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4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4900">
                <a:solidFill>
                  <a:srgbClr val="FFC000"/>
                </a:solidFill>
              </a:rPr>
              <a:t>5. Évolution</a:t>
            </a:r>
            <a:r>
              <a:rPr lang="fr-FR" sz="4900"/>
              <a:t> - est  défavorable avec des complications fréquentes orbitales et / ou cérébral</a:t>
            </a:r>
            <a:endParaRPr sz="4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4900">
                <a:solidFill>
                  <a:srgbClr val="FFC000"/>
                </a:solidFill>
              </a:rPr>
              <a:t>6. Le traitement</a:t>
            </a:r>
            <a:r>
              <a:rPr lang="fr-FR" sz="4900">
                <a:solidFill>
                  <a:srgbClr val="FFC000"/>
                </a:solidFill>
              </a:rPr>
              <a:t> </a:t>
            </a:r>
            <a:r>
              <a:rPr lang="fr-FR" sz="4900"/>
              <a:t>- est chirurgical - exérèse larges et médicamenteux - antifongiques systémique.</a:t>
            </a:r>
            <a:endParaRPr sz="4900"/>
          </a:p>
          <a:p>
            <a:pPr indent="-246862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4900"/>
          </a:p>
        </p:txBody>
      </p:sp>
      <p:pic>
        <p:nvPicPr>
          <p:cNvPr id="672" name="Google Shape;672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4600" y="1752600"/>
            <a:ext cx="2357272" cy="19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81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Rhinosinusite fongique chronique</a:t>
            </a:r>
            <a:r>
              <a:rPr lang="fr-FR" sz="3200">
                <a:latin typeface="Corbel"/>
                <a:ea typeface="Corbel"/>
                <a:cs typeface="Corbel"/>
                <a:sym typeface="Corbel"/>
              </a:rPr>
              <a:t> 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78" name="Google Shape;678;p81"/>
          <p:cNvSpPr txBox="1"/>
          <p:nvPr>
            <p:ph idx="1" type="body"/>
          </p:nvPr>
        </p:nvSpPr>
        <p:spPr>
          <a:xfrm>
            <a:off x="381000" y="1371600"/>
            <a:ext cx="67056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Char char="▪"/>
            </a:pPr>
            <a:r>
              <a:rPr lang="fr-FR" sz="3200"/>
              <a:t> affecte un seul sinus( maxillaire ou sphénoïdal)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3200"/>
              <a:t> sinusite unilatérale chronique, récidivante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3200"/>
              <a:t> présente- céphalées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200"/>
              <a:t>                        - obstruction nasale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200"/>
              <a:t>                        -sécrétion nasale muco-purulentes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3200"/>
              <a:t>ne s’améliore pas après le traitement</a:t>
            </a:r>
            <a:endParaRPr/>
          </a:p>
          <a:p>
            <a:pPr indent="-193294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i="1"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3200">
                <a:solidFill>
                  <a:srgbClr val="FFC000"/>
                </a:solidFill>
              </a:rPr>
              <a:t>Examen Objectif</a:t>
            </a:r>
            <a:r>
              <a:rPr lang="fr-FR" sz="3200">
                <a:solidFill>
                  <a:srgbClr val="FFC000"/>
                </a:solidFill>
              </a:rPr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200"/>
              <a:t>- sécrétions purulentes  et sombres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200"/>
              <a:t> </a:t>
            </a:r>
            <a:r>
              <a:rPr i="1" lang="fr-FR" sz="3200" u="sng">
                <a:solidFill>
                  <a:srgbClr val="FFC000"/>
                </a:solidFill>
              </a:rPr>
              <a:t>Diagnostic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3200"/>
              <a:t> </a:t>
            </a:r>
            <a:r>
              <a:rPr lang="fr-FR" sz="3200">
                <a:solidFill>
                  <a:srgbClr val="FFC000"/>
                </a:solidFill>
              </a:rPr>
              <a:t>l’aspect clinique + cultures fongiques (Sabouraud) + biopsie + imagerie - scanner, IRM</a:t>
            </a:r>
            <a:endParaRPr>
              <a:solidFill>
                <a:srgbClr val="FFC000"/>
              </a:solidFill>
            </a:endParaRPr>
          </a:p>
        </p:txBody>
      </p:sp>
      <p:pic>
        <p:nvPicPr>
          <p:cNvPr id="679" name="Google Shape;679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0040" y="1219200"/>
            <a:ext cx="239776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0" name="Google Shape;680;p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84578" y="4114800"/>
            <a:ext cx="2459421" cy="19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82"/>
          <p:cNvSpPr txBox="1"/>
          <p:nvPr>
            <p:ph type="title"/>
          </p:nvPr>
        </p:nvSpPr>
        <p:spPr>
          <a:xfrm>
            <a:off x="609600" y="304800"/>
            <a:ext cx="9829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LES  COMPLICATIONS  DES  RHINOSINUSITES</a:t>
            </a:r>
            <a:br>
              <a:rPr lang="fr-FR"/>
            </a:br>
            <a:endParaRPr/>
          </a:p>
        </p:txBody>
      </p:sp>
      <p:sp>
        <p:nvSpPr>
          <p:cNvPr id="687" name="Google Shape;687;p82"/>
          <p:cNvSpPr txBox="1"/>
          <p:nvPr>
            <p:ph idx="1" type="body"/>
          </p:nvPr>
        </p:nvSpPr>
        <p:spPr>
          <a:xfrm>
            <a:off x="457200" y="1447800"/>
            <a:ext cx="97536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 sz="8000" u="sng">
                <a:solidFill>
                  <a:srgbClr val="FFC000"/>
                </a:solidFill>
              </a:rPr>
              <a:t>Classification :</a:t>
            </a:r>
            <a:endParaRPr sz="80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500"/>
              <a:t>- </a:t>
            </a:r>
            <a:r>
              <a:rPr lang="fr-FR" sz="4500">
                <a:solidFill>
                  <a:srgbClr val="FFC000"/>
                </a:solidFill>
              </a:rPr>
              <a:t>de voisinage</a:t>
            </a:r>
            <a:r>
              <a:rPr lang="fr-FR" sz="4500"/>
              <a:t>:    - occulo - orbitaux : - la conjonctivite </a:t>
            </a:r>
            <a:endParaRPr sz="45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500"/>
              <a:t>                                 - phlegmon orbitaire </a:t>
            </a:r>
            <a:br>
              <a:rPr lang="fr-FR" sz="4500"/>
            </a:br>
            <a:r>
              <a:rPr lang="fr-FR" sz="4500"/>
              <a:t> 	                  - abcès sous périostée</a:t>
            </a:r>
            <a:endParaRPr sz="45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500"/>
              <a:t>                                  – otiques</a:t>
            </a:r>
            <a:endParaRPr sz="45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500"/>
              <a:t>- </a:t>
            </a:r>
            <a:r>
              <a:rPr lang="fr-FR" sz="4500">
                <a:solidFill>
                  <a:srgbClr val="FFC000"/>
                </a:solidFill>
              </a:rPr>
              <a:t>descendantes</a:t>
            </a:r>
            <a:r>
              <a:rPr lang="fr-FR" sz="4500"/>
              <a:t>:  - laryngite</a:t>
            </a:r>
            <a:endParaRPr sz="45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500"/>
              <a:t>                                  - trachéaux - bronchites </a:t>
            </a:r>
            <a:br>
              <a:rPr lang="fr-FR" sz="4500"/>
            </a:br>
            <a:r>
              <a:rPr lang="fr-FR" sz="4500"/>
              <a:t>                            - syndrome sino-bronchique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500"/>
              <a:t>- </a:t>
            </a:r>
            <a:r>
              <a:rPr lang="fr-FR" sz="4500">
                <a:solidFill>
                  <a:srgbClr val="FFC000"/>
                </a:solidFill>
              </a:rPr>
              <a:t>endocrâniens: </a:t>
            </a:r>
            <a:r>
              <a:rPr lang="fr-FR" sz="4500"/>
              <a:t> - la méningite aiguë </a:t>
            </a:r>
            <a:br>
              <a:rPr lang="fr-FR" sz="4500"/>
            </a:br>
            <a:r>
              <a:rPr lang="fr-FR" sz="4500"/>
              <a:t>                           - abcès  extra-dural </a:t>
            </a:r>
            <a:br>
              <a:rPr lang="fr-FR" sz="4500"/>
            </a:br>
            <a:r>
              <a:rPr lang="fr-FR" sz="4500"/>
              <a:t>                           - encéphalique </a:t>
            </a:r>
            <a:br>
              <a:rPr lang="fr-FR" sz="4500"/>
            </a:br>
            <a:r>
              <a:rPr lang="fr-FR" sz="4500"/>
              <a:t>                           - thrombophlébite du sinus caverneux ou sinus   longitudinal</a:t>
            </a:r>
            <a:endParaRPr sz="45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200"/>
              <a:t> </a:t>
            </a:r>
            <a:endParaRPr sz="4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256936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83"/>
          <p:cNvSpPr txBox="1"/>
          <p:nvPr>
            <p:ph type="title"/>
          </p:nvPr>
        </p:nvSpPr>
        <p:spPr>
          <a:xfrm>
            <a:off x="533400" y="228600"/>
            <a:ext cx="83820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nsolas"/>
              <a:buNone/>
            </a:pPr>
            <a:r>
              <a:rPr b="1" lang="fr-FR" sz="3200"/>
              <a:t>LES COMPLICATIONS DES RHINOSINUSITES </a:t>
            </a:r>
            <a:r>
              <a:rPr lang="fr-FR" sz="3600"/>
              <a:t>Cellulite péri orbitaire</a:t>
            </a:r>
            <a:br>
              <a:rPr lang="fr-FR"/>
            </a:br>
            <a:endParaRPr/>
          </a:p>
        </p:txBody>
      </p:sp>
      <p:pic>
        <p:nvPicPr>
          <p:cNvPr descr="DSCN2456" id="693" name="Google Shape;693;p8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447800"/>
            <a:ext cx="3124200" cy="2343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SCN2457" id="694" name="Google Shape;694;p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5350" y="1447800"/>
            <a:ext cx="2914650" cy="2265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p8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201" y="4227286"/>
            <a:ext cx="3124199" cy="232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8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95800" y="4267200"/>
            <a:ext cx="2971800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84"/>
          <p:cNvSpPr txBox="1"/>
          <p:nvPr>
            <p:ph type="title"/>
          </p:nvPr>
        </p:nvSpPr>
        <p:spPr>
          <a:xfrm>
            <a:off x="304800" y="2286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nsolas"/>
              <a:buNone/>
            </a:pPr>
            <a:r>
              <a:rPr b="1" lang="fr-FR" sz="3600"/>
              <a:t>LES COMPLICATIONS DES RHINOSINUSITES</a:t>
            </a:r>
            <a:r>
              <a:rPr b="1" lang="fr-FR"/>
              <a:t> </a:t>
            </a:r>
            <a:r>
              <a:rPr lang="fr-FR"/>
              <a:t>ABCÈS </a:t>
            </a:r>
            <a:br>
              <a:rPr lang="fr-FR"/>
            </a:br>
            <a:endParaRPr/>
          </a:p>
        </p:txBody>
      </p:sp>
      <p:pic>
        <p:nvPicPr>
          <p:cNvPr descr="121-2141_IMG" id="702" name="Google Shape;702;p8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1600200"/>
            <a:ext cx="3048000" cy="2244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21-2144_IMG" id="703" name="Google Shape;703;p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9438" y="1600200"/>
            <a:ext cx="3161562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22-2273_IMG" id="704" name="Google Shape;704;p8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6800" y="4114800"/>
            <a:ext cx="29718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22-2285_IMG" id="705" name="Google Shape;705;p8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76800" y="4114800"/>
            <a:ext cx="3124200" cy="2346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85"/>
          <p:cNvSpPr txBox="1"/>
          <p:nvPr>
            <p:ph type="title"/>
          </p:nvPr>
        </p:nvSpPr>
        <p:spPr>
          <a:xfrm>
            <a:off x="228600" y="152400"/>
            <a:ext cx="8763000" cy="1274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nsolas"/>
              <a:buNone/>
            </a:pPr>
            <a:r>
              <a:rPr b="1" lang="fr-FR" sz="3200"/>
              <a:t>LES COMPLICATIONS DES RHINOSINUSITES</a:t>
            </a:r>
            <a:r>
              <a:rPr lang="fr-FR"/>
              <a:t>  Abcès</a:t>
            </a:r>
            <a:endParaRPr/>
          </a:p>
        </p:txBody>
      </p:sp>
      <p:pic>
        <p:nvPicPr>
          <p:cNvPr id="711" name="Google Shape;711;p8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300" y="1752600"/>
            <a:ext cx="3086100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p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05325" y="1752600"/>
            <a:ext cx="2962275" cy="2133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p8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3450" y="4229100"/>
            <a:ext cx="3028950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4" name="Google Shape;714;p8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95800" y="4267200"/>
            <a:ext cx="30226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86"/>
          <p:cNvSpPr txBox="1"/>
          <p:nvPr>
            <p:ph type="title"/>
          </p:nvPr>
        </p:nvSpPr>
        <p:spPr>
          <a:xfrm>
            <a:off x="838200" y="304800"/>
            <a:ext cx="8305800" cy="1545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2800"/>
              <a:buFont typeface="Corbel"/>
              <a:buNone/>
            </a:pPr>
            <a:r>
              <a:rPr b="1" lang="fr-FR" sz="2800">
                <a:latin typeface="Corbel"/>
                <a:ea typeface="Corbel"/>
                <a:cs typeface="Corbel"/>
                <a:sym typeface="Corbel"/>
              </a:rPr>
              <a:t>TUMEURS  BÉNIGNES</a:t>
            </a:r>
            <a:br>
              <a:rPr lang="fr-FR" sz="2800">
                <a:latin typeface="Corbel"/>
                <a:ea typeface="Corbel"/>
                <a:cs typeface="Corbel"/>
                <a:sym typeface="Corbel"/>
              </a:rPr>
            </a:br>
            <a:r>
              <a:rPr lang="fr-FR" sz="2800">
                <a:latin typeface="Corbel"/>
                <a:ea typeface="Corbel"/>
                <a:cs typeface="Corbel"/>
                <a:sym typeface="Corbel"/>
              </a:rPr>
              <a:t>   </a:t>
            </a:r>
            <a:r>
              <a:rPr b="1" lang="fr-FR" sz="2800">
                <a:latin typeface="Corbel"/>
                <a:ea typeface="Corbel"/>
                <a:cs typeface="Corbel"/>
                <a:sym typeface="Corbel"/>
              </a:rPr>
              <a:t>DES  CAVITÉS  NASALES / SINUS  PARANASALES</a:t>
            </a:r>
            <a:endParaRPr sz="28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20" name="Google Shape;720;p86"/>
          <p:cNvSpPr txBox="1"/>
          <p:nvPr>
            <p:ph idx="1" type="body"/>
          </p:nvPr>
        </p:nvSpPr>
        <p:spPr>
          <a:xfrm>
            <a:off x="533400" y="1371600"/>
            <a:ext cx="86106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5900">
                <a:solidFill>
                  <a:srgbClr val="FFC000"/>
                </a:solidFill>
              </a:rPr>
              <a:t>1. Des cavités nasales :</a:t>
            </a:r>
            <a:endParaRPr sz="59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origine épithéliale (papillome, adénome) ou conjonctif (ostéome, chondrome, angiome, fibrome)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Le polype saignant de la cloison nasale</a:t>
            </a:r>
            <a:endParaRPr sz="3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Est un </a:t>
            </a:r>
            <a:r>
              <a:rPr b="1" lang="fr-FR">
                <a:solidFill>
                  <a:srgbClr val="FFC000"/>
                </a:solidFill>
              </a:rPr>
              <a:t>angiofibrome</a:t>
            </a:r>
            <a:r>
              <a:rPr lang="fr-FR"/>
              <a:t> situé au niveau de la tache vasculaire	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u="sng"/>
              <a:t>Subjectif</a:t>
            </a:r>
            <a:r>
              <a:rPr lang="fr-FR"/>
              <a:t> -  des micro-épistaxis répétées, obstruction nasale dans les stades tardifs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u="sng"/>
              <a:t>Objectif </a:t>
            </a:r>
            <a:r>
              <a:rPr lang="fr-FR"/>
              <a:t>-  une formation tumorale rouge - pourpre, sessile, irrégulière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- des saignements au contact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u="sng">
                <a:solidFill>
                  <a:srgbClr val="FFC000"/>
                </a:solidFill>
              </a:rPr>
              <a:t>Le traitement</a:t>
            </a:r>
            <a:r>
              <a:rPr b="1" lang="fr-FR" u="sng">
                <a:solidFill>
                  <a:srgbClr val="FFC000"/>
                </a:solidFill>
              </a:rPr>
              <a:t> </a:t>
            </a:r>
            <a:r>
              <a:rPr lang="fr-FR"/>
              <a:t>- chirurgical, l’excision de la tumeur ensemble avec la partie adjacente de la muqueuse et périchondre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-  électroexcision de la tumeur  / vaporisation laser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Le papillome</a:t>
            </a:r>
            <a:endParaRPr sz="3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-souvent trouvé au niveau du vestibule nasal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-se manifeste par des épistaxis récurrentes, par d’obstruction nasale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-potentiel de rechute après l’élimination incomplète et pire, de dégénérescence maligne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>
                <a:solidFill>
                  <a:srgbClr val="FFC000"/>
                </a:solidFill>
              </a:rPr>
              <a:t>Le traitement</a:t>
            </a:r>
            <a:r>
              <a:rPr b="1" lang="fr-FR">
                <a:solidFill>
                  <a:srgbClr val="FFC000"/>
                </a:solidFill>
              </a:rPr>
              <a:t> </a:t>
            </a:r>
            <a:r>
              <a:rPr lang="fr-FR"/>
              <a:t>- chirurgical – l’élimination du papillome – idéal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-vaporisation laser ou électroexcision.</a:t>
            </a:r>
            <a:endParaRPr/>
          </a:p>
          <a:p>
            <a:pPr indent="-243363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87"/>
          <p:cNvSpPr txBox="1"/>
          <p:nvPr>
            <p:ph type="title"/>
          </p:nvPr>
        </p:nvSpPr>
        <p:spPr>
          <a:xfrm>
            <a:off x="381000" y="228600"/>
            <a:ext cx="8305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2800"/>
              <a:buFont typeface="Corbel"/>
              <a:buNone/>
            </a:pPr>
            <a:r>
              <a:rPr b="1" lang="fr-FR" sz="2800">
                <a:latin typeface="Corbel"/>
                <a:ea typeface="Corbel"/>
                <a:cs typeface="Corbel"/>
                <a:sym typeface="Corbel"/>
              </a:rPr>
              <a:t>TUMEURS  BÉNIGNES</a:t>
            </a:r>
            <a:br>
              <a:rPr lang="fr-FR" sz="2800">
                <a:latin typeface="Corbel"/>
                <a:ea typeface="Corbel"/>
                <a:cs typeface="Corbel"/>
                <a:sym typeface="Corbel"/>
              </a:rPr>
            </a:br>
            <a:r>
              <a:rPr lang="fr-FR" sz="2800"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1" lang="fr-FR" sz="2800">
                <a:latin typeface="Corbel"/>
                <a:ea typeface="Corbel"/>
                <a:cs typeface="Corbel"/>
                <a:sym typeface="Corbel"/>
              </a:rPr>
              <a:t>DES  CAVITÉS  NASALES / SINUS  PARANASALES</a:t>
            </a:r>
            <a:endParaRPr sz="28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26" name="Google Shape;726;p87"/>
          <p:cNvSpPr txBox="1"/>
          <p:nvPr>
            <p:ph idx="1" type="body"/>
          </p:nvPr>
        </p:nvSpPr>
        <p:spPr>
          <a:xfrm>
            <a:off x="304800" y="1219200"/>
            <a:ext cx="88392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 sz="11200">
                <a:solidFill>
                  <a:srgbClr val="FFC000"/>
                </a:solidFill>
              </a:rPr>
              <a:t>2.</a:t>
            </a:r>
            <a:r>
              <a:rPr b="1" lang="fr-FR" sz="11200">
                <a:solidFill>
                  <a:srgbClr val="FFC000"/>
                </a:solidFill>
              </a:rPr>
              <a:t> Des sinus paranasales</a:t>
            </a:r>
            <a:endParaRPr sz="11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br>
              <a:rPr b="1" lang="fr-FR" sz="6400"/>
            </a:br>
            <a:r>
              <a:rPr b="1" lang="fr-FR" sz="9600">
                <a:solidFill>
                  <a:srgbClr val="FFC000"/>
                </a:solidFill>
              </a:rPr>
              <a:t>L’ostéome</a:t>
            </a:r>
            <a:endParaRPr b="1" sz="96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6400"/>
              <a:t> se développe  au niveau des sinus frontaux et ethmoïdaux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6400"/>
              <a:t> la cohérence de la tumeur est dure et lisse, avec une base large d’implantation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6400"/>
              <a:t>  il érode et déplace les parois des sinus et il envahit les cavités voisines 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 </a:t>
            </a:r>
            <a:r>
              <a:rPr i="1" lang="fr-FR" sz="6400">
                <a:solidFill>
                  <a:srgbClr val="FFC000"/>
                </a:solidFill>
              </a:rPr>
              <a:t>Le traitement</a:t>
            </a:r>
            <a:r>
              <a:rPr lang="fr-FR" sz="6400">
                <a:solidFill>
                  <a:srgbClr val="FFC000"/>
                </a:solidFill>
              </a:rPr>
              <a:t> est chirurgical</a:t>
            </a:r>
            <a:endParaRPr sz="6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      </a:t>
            </a:r>
            <a:r>
              <a:rPr lang="fr-FR" sz="9600">
                <a:solidFill>
                  <a:srgbClr val="FFC000"/>
                </a:solidFill>
              </a:rPr>
              <a:t> Les tumeurs  kystiques  sinusales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9600">
                <a:solidFill>
                  <a:srgbClr val="FFC000"/>
                </a:solidFill>
              </a:rPr>
              <a:t>a. </a:t>
            </a:r>
            <a:r>
              <a:rPr b="1" lang="fr-FR" sz="8000">
                <a:solidFill>
                  <a:srgbClr val="FFC000"/>
                </a:solidFill>
              </a:rPr>
              <a:t>Le muccocèle</a:t>
            </a:r>
            <a:endParaRPr b="1" sz="80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6400"/>
              <a:t> une formation kystique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6400"/>
              <a:t> se développe - des sinus  fronto-ethmoïdale, extériorisant au niveau de l’angle supéro-interne de l’orbite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6400"/>
              <a:t> provoque une érosion des parois osseuses qu’il amincit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6400"/>
              <a:t> </a:t>
            </a:r>
            <a:r>
              <a:rPr b="1" lang="fr-FR" sz="8000">
                <a:solidFill>
                  <a:srgbClr val="FFC000"/>
                </a:solidFill>
              </a:rPr>
              <a:t>b.Le kyste du sinus maxillaire</a:t>
            </a:r>
            <a:endParaRPr b="1" sz="80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6400"/>
              <a:t>souvent asymptomatiques,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6400"/>
              <a:t> étant découvertes radiologique accidentel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6400"/>
              <a:t>peut causer des douleurs diverses, rhinorrhée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6400">
                <a:solidFill>
                  <a:srgbClr val="FFC000"/>
                </a:solidFill>
              </a:rPr>
              <a:t>Le traitement</a:t>
            </a:r>
            <a:r>
              <a:rPr lang="fr-FR" sz="6400">
                <a:solidFill>
                  <a:srgbClr val="FFC000"/>
                </a:solidFill>
              </a:rPr>
              <a:t> est chirurgical.</a:t>
            </a:r>
            <a:endParaRPr sz="6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297656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88"/>
          <p:cNvSpPr txBox="1"/>
          <p:nvPr>
            <p:ph type="title"/>
          </p:nvPr>
        </p:nvSpPr>
        <p:spPr>
          <a:xfrm>
            <a:off x="304800" y="152400"/>
            <a:ext cx="88392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2800"/>
              <a:buFont typeface="Corbel"/>
              <a:buNone/>
            </a:pPr>
            <a:r>
              <a:rPr b="1" lang="fr-FR" sz="2800">
                <a:latin typeface="Corbel"/>
                <a:ea typeface="Corbel"/>
                <a:cs typeface="Corbel"/>
                <a:sym typeface="Corbel"/>
              </a:rPr>
              <a:t>TUMEURS MALIGNES</a:t>
            </a:r>
            <a:br>
              <a:rPr lang="fr-FR" sz="2800">
                <a:latin typeface="Corbel"/>
                <a:ea typeface="Corbel"/>
                <a:cs typeface="Corbel"/>
                <a:sym typeface="Corbel"/>
              </a:rPr>
            </a:br>
            <a:r>
              <a:rPr b="1" lang="fr-FR" sz="2800">
                <a:latin typeface="Corbel"/>
                <a:ea typeface="Corbel"/>
                <a:cs typeface="Corbel"/>
                <a:sym typeface="Corbel"/>
              </a:rPr>
              <a:t>DES CAVITÉS NASALES / SINUS PARANASALES</a:t>
            </a:r>
            <a:br>
              <a:rPr lang="fr-FR"/>
            </a:br>
            <a:endParaRPr/>
          </a:p>
        </p:txBody>
      </p:sp>
      <p:sp>
        <p:nvSpPr>
          <p:cNvPr id="732" name="Google Shape;732;p88"/>
          <p:cNvSpPr txBox="1"/>
          <p:nvPr>
            <p:ph idx="1" type="body"/>
          </p:nvPr>
        </p:nvSpPr>
        <p:spPr>
          <a:xfrm>
            <a:off x="381000" y="990600"/>
            <a:ext cx="9296400" cy="6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 </a:t>
            </a:r>
            <a:endParaRPr/>
          </a:p>
          <a:p>
            <a:pPr indent="-1371600" lvl="0" marL="14401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11200">
                <a:solidFill>
                  <a:srgbClr val="FFC000"/>
                </a:solidFill>
              </a:rPr>
              <a:t>1.Des cavités nasales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9600">
                <a:solidFill>
                  <a:srgbClr val="FFC000"/>
                </a:solidFill>
              </a:rPr>
              <a:t>a. L’épithélioma</a:t>
            </a:r>
            <a:endParaRPr sz="96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▪"/>
            </a:pPr>
            <a:r>
              <a:rPr lang="fr-FR" sz="6400"/>
              <a:t> tumeur maligne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▪"/>
            </a:pPr>
            <a:r>
              <a:rPr lang="fr-FR" sz="6400"/>
              <a:t> fréquente au niveau de la cavité nasale (80 %)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▪"/>
            </a:pPr>
            <a:r>
              <a:rPr lang="fr-FR" sz="6400"/>
              <a:t>types histopathologiques  :     - un carcinome épidermoïde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                                                                   - carcinome adéno kystique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                                                                   - adénocarcinome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6400" u="sng">
                <a:solidFill>
                  <a:srgbClr val="FFC000"/>
                </a:solidFill>
              </a:rPr>
              <a:t>Symptomatologie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▪"/>
            </a:pPr>
            <a:r>
              <a:rPr lang="fr-FR" sz="6400"/>
              <a:t>rhinorrhée purulente unilatérale, sanglante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▪"/>
            </a:pPr>
            <a:r>
              <a:rPr lang="fr-FR" sz="6400"/>
              <a:t> épistaxis, obstruction nasale,  puis il apparaît la fétidité de la sécrétion, des troubles olfactifs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6400" u="sng">
                <a:solidFill>
                  <a:srgbClr val="FFC000"/>
                </a:solidFill>
              </a:rPr>
              <a:t>Évolution</a:t>
            </a:r>
            <a:r>
              <a:rPr b="1" i="1" lang="fr-FR" sz="6400">
                <a:solidFill>
                  <a:srgbClr val="FFC000"/>
                </a:solidFill>
              </a:rPr>
              <a:t> </a:t>
            </a:r>
            <a:r>
              <a:rPr i="1" lang="fr-FR" sz="6400"/>
              <a:t>-</a:t>
            </a:r>
            <a:r>
              <a:rPr lang="fr-FR" sz="6400"/>
              <a:t> tumeur peut envahir l’orbite, l’endocrâne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6400" u="sng">
                <a:solidFill>
                  <a:srgbClr val="FFC000"/>
                </a:solidFill>
              </a:rPr>
              <a:t>Le traitement </a:t>
            </a:r>
            <a:r>
              <a:rPr i="1" lang="fr-FR" sz="6400"/>
              <a:t>-</a:t>
            </a:r>
            <a:r>
              <a:rPr lang="fr-FR" sz="6400"/>
              <a:t>  chirurgical et / ou oncologique (radiothérapie, chimiothérapie)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9600">
                <a:solidFill>
                  <a:srgbClr val="FFC000"/>
                </a:solidFill>
              </a:rPr>
              <a:t>b. Les tumeurs mésenchymateuses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7200">
                <a:solidFill>
                  <a:srgbClr val="FFC000"/>
                </a:solidFill>
              </a:rPr>
              <a:t>      </a:t>
            </a:r>
            <a:r>
              <a:rPr b="1" i="1" lang="fr-FR" sz="7200"/>
              <a:t>- le sarcome</a:t>
            </a:r>
            <a:endParaRPr b="1" i="1" sz="7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6400"/>
              <a:t>        - l’ostéosarcome </a:t>
            </a:r>
            <a:endParaRPr b="1" i="1"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6400"/>
              <a:t>       - chondrosarcome</a:t>
            </a:r>
            <a:endParaRPr b="1" i="1"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6400" u="sng">
                <a:solidFill>
                  <a:srgbClr val="FFC000"/>
                </a:solidFill>
              </a:rPr>
              <a:t> Symptomatologie</a:t>
            </a:r>
            <a:r>
              <a:rPr lang="fr-FR" sz="6400" u="sng"/>
              <a:t>  </a:t>
            </a:r>
            <a:r>
              <a:rPr lang="fr-FR" sz="6400"/>
              <a:t>est commune à celui de l’épithélioma pendant que </a:t>
            </a:r>
            <a:r>
              <a:rPr i="1" lang="fr-FR" sz="6400" u="sng">
                <a:solidFill>
                  <a:srgbClr val="FFC000"/>
                </a:solidFill>
              </a:rPr>
              <a:t>le traitement </a:t>
            </a:r>
            <a:r>
              <a:rPr lang="fr-FR" sz="6400"/>
              <a:t>est similaire.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297656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89"/>
          <p:cNvSpPr txBox="1"/>
          <p:nvPr>
            <p:ph type="title"/>
          </p:nvPr>
        </p:nvSpPr>
        <p:spPr>
          <a:xfrm>
            <a:off x="533400" y="152400"/>
            <a:ext cx="8610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2800"/>
              <a:buFont typeface="Corbel"/>
              <a:buNone/>
            </a:pPr>
            <a:r>
              <a:rPr b="1" lang="fr-FR" sz="2800">
                <a:latin typeface="Corbel"/>
                <a:ea typeface="Corbel"/>
                <a:cs typeface="Corbel"/>
                <a:sym typeface="Corbel"/>
              </a:rPr>
              <a:t>TUMEURS  MALIGNES</a:t>
            </a:r>
            <a:br>
              <a:rPr lang="fr-FR" sz="2800">
                <a:latin typeface="Corbel"/>
                <a:ea typeface="Corbel"/>
                <a:cs typeface="Corbel"/>
                <a:sym typeface="Corbel"/>
              </a:rPr>
            </a:br>
            <a:r>
              <a:rPr b="1" lang="fr-FR" sz="2800">
                <a:latin typeface="Corbel"/>
                <a:ea typeface="Corbel"/>
                <a:cs typeface="Corbel"/>
                <a:sym typeface="Corbel"/>
              </a:rPr>
              <a:t>DES CAVITÉS NASALES / SINUS PARANASALES</a:t>
            </a:r>
            <a:endParaRPr sz="28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38" name="Google Shape;738;p89"/>
          <p:cNvSpPr txBox="1"/>
          <p:nvPr>
            <p:ph idx="1" type="body"/>
          </p:nvPr>
        </p:nvSpPr>
        <p:spPr>
          <a:xfrm>
            <a:off x="457200" y="1371600"/>
            <a:ext cx="82296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3600">
                <a:solidFill>
                  <a:srgbClr val="FFC000"/>
                </a:solidFill>
              </a:rPr>
              <a:t>2. Des sinus paranasales</a:t>
            </a:r>
            <a:endParaRPr b="1" sz="36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200"/>
              <a:t>Après la localisation (origine) ont été classés en trois catégories :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3200"/>
              <a:t> </a:t>
            </a:r>
            <a:r>
              <a:rPr i="1" lang="fr-FR" sz="3200">
                <a:solidFill>
                  <a:srgbClr val="FFC000"/>
                </a:solidFill>
              </a:rPr>
              <a:t>a. tumeurs de superstructure</a:t>
            </a:r>
            <a:r>
              <a:rPr lang="fr-FR" sz="3200">
                <a:solidFill>
                  <a:srgbClr val="FFC000"/>
                </a:solidFill>
              </a:rPr>
              <a:t> </a:t>
            </a:r>
            <a:r>
              <a:rPr lang="fr-FR" sz="3200"/>
              <a:t>– ont de l’origine dans le sinus de ethmoïdal, puis envahissent la cavité nasale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3200"/>
              <a:t> </a:t>
            </a:r>
            <a:r>
              <a:rPr i="1" lang="fr-FR" sz="3200">
                <a:solidFill>
                  <a:srgbClr val="FFC000"/>
                </a:solidFill>
              </a:rPr>
              <a:t>b. tumeurs mésostructurés</a:t>
            </a:r>
            <a:r>
              <a:rPr lang="fr-FR" sz="3200">
                <a:solidFill>
                  <a:srgbClr val="FFC000"/>
                </a:solidFill>
              </a:rPr>
              <a:t> </a:t>
            </a:r>
            <a:r>
              <a:rPr lang="fr-FR" sz="3200"/>
              <a:t>- originaires du sinus maxillaire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3200">
                <a:solidFill>
                  <a:srgbClr val="FFC000"/>
                </a:solidFill>
              </a:rPr>
              <a:t> c. tumeurs d’infrastructure</a:t>
            </a:r>
            <a:r>
              <a:rPr lang="fr-FR" sz="3200">
                <a:solidFill>
                  <a:srgbClr val="FFC000"/>
                </a:solidFill>
              </a:rPr>
              <a:t> </a:t>
            </a:r>
            <a:r>
              <a:rPr lang="fr-FR" sz="3200"/>
              <a:t>- sont caractérisés par l’origine et l’évolution au niveau de la cavité buccale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200"/>
              <a:t>     Elles sont souvent découvertes par des stomatologues</a:t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90"/>
          <p:cNvSpPr txBox="1"/>
          <p:nvPr>
            <p:ph type="title"/>
          </p:nvPr>
        </p:nvSpPr>
        <p:spPr>
          <a:xfrm>
            <a:off x="533400" y="0"/>
            <a:ext cx="8153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lang="fr-FR"/>
              <a:t>CONCLUSIONS – RETENIR</a:t>
            </a:r>
            <a:br>
              <a:rPr lang="fr-FR"/>
            </a:br>
            <a:endParaRPr/>
          </a:p>
        </p:txBody>
      </p:sp>
      <p:sp>
        <p:nvSpPr>
          <p:cNvPr id="744" name="Google Shape;744;p90"/>
          <p:cNvSpPr txBox="1"/>
          <p:nvPr>
            <p:ph idx="1" type="body"/>
          </p:nvPr>
        </p:nvSpPr>
        <p:spPr>
          <a:xfrm>
            <a:off x="457200" y="838200"/>
            <a:ext cx="85344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/>
              <a:t>1. </a:t>
            </a:r>
            <a:r>
              <a:rPr lang="fr-FR">
                <a:solidFill>
                  <a:srgbClr val="FFC000"/>
                </a:solidFill>
              </a:rPr>
              <a:t>L’attitude correcte </a:t>
            </a:r>
            <a:r>
              <a:rPr lang="fr-FR"/>
              <a:t>en ce qui concerne les corps étrangers nasaux - il existe un risque dans les cas des manœuvres d’extraction incorrecte : l’un corps étranger soit aspiré, devenant corps étranger trachéo-bronchique (pulmonaire)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2. </a:t>
            </a:r>
            <a:r>
              <a:rPr lang="fr-FR">
                <a:solidFill>
                  <a:srgbClr val="FFC000"/>
                </a:solidFill>
              </a:rPr>
              <a:t>La bonne attitude </a:t>
            </a:r>
            <a:r>
              <a:rPr lang="fr-FR"/>
              <a:t>en cas de furoncle de vestibule nasal – danger de thrombophlébite du sinus caverneux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3</a:t>
            </a:r>
            <a:r>
              <a:rPr lang="fr-FR">
                <a:solidFill>
                  <a:srgbClr val="FFC000"/>
                </a:solidFill>
              </a:rPr>
              <a:t>. L’attitude correcte dans le traitement de l’épistaxis :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Diagnostic étiologique chaque fois qu’il est possible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L’évaluation de la quantité de sang perdu (état ​​général, le pouls, la pression artérielle, l’apparence des téguments)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Arrêter le saignement = hémostase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Hémostase de compression digitale locale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-Hémostase régionale – s’adresse aux artères qui irriguent les fosses nasales (artère maxillaire interne, les artères ethmoïdales) - ligature, l’embolisation sélective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Hémostase générale - recherche la cause des saignements et de la corriger ; transfusion s’il est nécessaire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4. L’utilisation soigneusement et en périodes limitées des vasoconstricteurs nasaux </a:t>
            </a:r>
            <a:r>
              <a:rPr lang="fr-FR" u="sng"/>
              <a:t>danger de la dépendance et des effets secondaires indésirables</a:t>
            </a:r>
            <a:r>
              <a:rPr lang="fr-FR"/>
              <a:t>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br>
              <a:rPr lang="fr-FR"/>
            </a:b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etro">
  <a:themeElements>
    <a:clrScheme name="Metro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2015-09-27T20:23:52Z</dcterms:created>
  <dc:creator>Raica</dc:creator>
</cp:coreProperties>
</file>