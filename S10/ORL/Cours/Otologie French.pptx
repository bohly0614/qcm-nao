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image/gif" Extension="gif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</p:sldIdLst>
  <p:sldSz cy="6858000" cx="9144000"/>
  <p:notesSz cx="6858000" cy="9144000"/>
  <p:embeddedFontLst>
    <p:embeddedFont>
      <p:font typeface="Corbel"/>
      <p:regular r:id="rId135"/>
      <p:bold r:id="rId136"/>
      <p:italic r:id="rId137"/>
      <p:boldItalic r:id="rId1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9" roundtripDataSignature="AMtx7mg4dytwBDmd1o6ypwVFbJe2ZYnT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customschemas.google.com/relationships/presentationmetadata" Target="metadata"/><Relationship Id="rId138" Type="http://schemas.openxmlformats.org/officeDocument/2006/relationships/font" Target="fonts/Corbel-boldItalic.fntdata"/><Relationship Id="rId137" Type="http://schemas.openxmlformats.org/officeDocument/2006/relationships/font" Target="fonts/Corbel-italic.fntdata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font" Target="fonts/Corbel-bold.fntdata"/><Relationship Id="rId135" Type="http://schemas.openxmlformats.org/officeDocument/2006/relationships/font" Target="fonts/Corbel-regular.fntdata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17.png"/><Relationship Id="rId2" Type="http://schemas.openxmlformats.org/officeDocument/2006/relationships/image" Target="../media/image13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1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1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1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8" name="Google Shape;28;p1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" name="Google Shape;29;p13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" name="Google Shape;30;p131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" name="Google Shape;31;p131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" name="Google Shape;32;p13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" name="Google Shape;33;p131"/>
          <p:cNvSpPr txBox="1"/>
          <p:nvPr>
            <p:ph type="ctrTitle"/>
          </p:nvPr>
        </p:nvSpPr>
        <p:spPr>
          <a:xfrm>
            <a:off x="914400" y="4343400"/>
            <a:ext cx="7772400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9144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1"/>
          <p:cNvSpPr txBox="1"/>
          <p:nvPr>
            <p:ph idx="1" type="subTitle"/>
          </p:nvPr>
        </p:nvSpPr>
        <p:spPr>
          <a:xfrm>
            <a:off x="914400" y="2834640"/>
            <a:ext cx="7772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0057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" name="Google Shape;35;p131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" name="Google Shape;36;p131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" name="Google Shape;37;p131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" name="Google Shape;38;p131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2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2" name="Google Shape;42;p132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2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2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3"/>
          <p:cNvSpPr/>
          <p:nvPr/>
        </p:nvSpPr>
        <p:spPr>
          <a:xfrm>
            <a:off x="4828952" y="1073888"/>
            <a:ext cx="4322136" cy="5791200"/>
          </a:xfrm>
          <a:custGeom>
            <a:rect b="b" l="l" r="r" t="t"/>
            <a:pathLst>
              <a:path extrusionOk="0" h="3648" w="2736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" name="Google Shape;47;p133"/>
          <p:cNvSpPr/>
          <p:nvPr/>
        </p:nvSpPr>
        <p:spPr>
          <a:xfrm>
            <a:off x="373966" y="0"/>
            <a:ext cx="5514536" cy="6615332"/>
          </a:xfrm>
          <a:custGeom>
            <a:rect b="b" l="l" r="r" t="t"/>
            <a:pathLst>
              <a:path extrusionOk="0" h="4128" w="3504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" name="Google Shape;48;p133"/>
          <p:cNvSpPr/>
          <p:nvPr/>
        </p:nvSpPr>
        <p:spPr>
          <a:xfrm rot="5236414">
            <a:off x="4462128" y="1483600"/>
            <a:ext cx="4114800" cy="118872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66885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133"/>
          <p:cNvSpPr/>
          <p:nvPr/>
        </p:nvSpPr>
        <p:spPr>
          <a:xfrm>
            <a:off x="5943600" y="0"/>
            <a:ext cx="2743200" cy="4267200"/>
          </a:xfrm>
          <a:custGeom>
            <a:rect b="b" l="l" r="r" t="t"/>
            <a:pathLst>
              <a:path extrusionOk="0" h="2688" w="172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133"/>
          <p:cNvSpPr/>
          <p:nvPr/>
        </p:nvSpPr>
        <p:spPr>
          <a:xfrm>
            <a:off x="5943600" y="4267200"/>
            <a:ext cx="3200400" cy="1143000"/>
          </a:xfrm>
          <a:custGeom>
            <a:rect b="b" l="l" r="r" t="t"/>
            <a:pathLst>
              <a:path extrusionOk="0" h="720" w="2016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" name="Google Shape;51;p133"/>
          <p:cNvSpPr/>
          <p:nvPr/>
        </p:nvSpPr>
        <p:spPr>
          <a:xfrm>
            <a:off x="5943600" y="0"/>
            <a:ext cx="1371600" cy="4267200"/>
          </a:xfrm>
          <a:custGeom>
            <a:rect b="b" l="l" r="r" t="t"/>
            <a:pathLst>
              <a:path extrusionOk="0" h="2688" w="864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" name="Google Shape;52;p133"/>
          <p:cNvSpPr/>
          <p:nvPr/>
        </p:nvSpPr>
        <p:spPr>
          <a:xfrm>
            <a:off x="5948363" y="4246563"/>
            <a:ext cx="2090737" cy="2611437"/>
          </a:xfrm>
          <a:custGeom>
            <a:rect b="b" l="l" r="r" t="t"/>
            <a:pathLst>
              <a:path extrusionOk="0" h="1645" w="1317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" name="Google Shape;53;p133"/>
          <p:cNvSpPr/>
          <p:nvPr/>
        </p:nvSpPr>
        <p:spPr>
          <a:xfrm>
            <a:off x="5943600" y="4267200"/>
            <a:ext cx="1600200" cy="2590800"/>
          </a:xfrm>
          <a:custGeom>
            <a:rect b="b" l="l" r="r" t="t"/>
            <a:pathLst>
              <a:path extrusionOk="0" h="1632" w="1008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" name="Google Shape;54;p133"/>
          <p:cNvSpPr/>
          <p:nvPr/>
        </p:nvSpPr>
        <p:spPr>
          <a:xfrm>
            <a:off x="5943600" y="1371600"/>
            <a:ext cx="3200400" cy="2895600"/>
          </a:xfrm>
          <a:custGeom>
            <a:rect b="b" l="l" r="r" t="t"/>
            <a:pathLst>
              <a:path extrusionOk="0" h="1824" w="2016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" name="Google Shape;55;p133"/>
          <p:cNvSpPr/>
          <p:nvPr/>
        </p:nvSpPr>
        <p:spPr>
          <a:xfrm>
            <a:off x="5943600" y="1752600"/>
            <a:ext cx="3200400" cy="2514600"/>
          </a:xfrm>
          <a:custGeom>
            <a:rect b="b" l="l" r="r" t="t"/>
            <a:pathLst>
              <a:path extrusionOk="0" h="1584" w="2016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" name="Google Shape;56;p133"/>
          <p:cNvSpPr/>
          <p:nvPr/>
        </p:nvSpPr>
        <p:spPr>
          <a:xfrm>
            <a:off x="990600" y="4267200"/>
            <a:ext cx="4953000" cy="2590800"/>
          </a:xfrm>
          <a:custGeom>
            <a:rect b="b" l="l" r="r" t="t"/>
            <a:pathLst>
              <a:path extrusionOk="0" h="1632" w="3120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" name="Google Shape;57;p133"/>
          <p:cNvSpPr/>
          <p:nvPr/>
        </p:nvSpPr>
        <p:spPr>
          <a:xfrm>
            <a:off x="533400" y="4267200"/>
            <a:ext cx="5334000" cy="2590800"/>
          </a:xfrm>
          <a:custGeom>
            <a:rect b="b" l="l" r="r" t="t"/>
            <a:pathLst>
              <a:path extrusionOk="0" h="1632" w="3360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" name="Google Shape;58;p133"/>
          <p:cNvSpPr/>
          <p:nvPr/>
        </p:nvSpPr>
        <p:spPr>
          <a:xfrm>
            <a:off x="366824" y="2438400"/>
            <a:ext cx="5638800" cy="1828800"/>
          </a:xfrm>
          <a:custGeom>
            <a:rect b="b" l="l" r="r" t="t"/>
            <a:pathLst>
              <a:path extrusionOk="0" h="1152" w="35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" name="Google Shape;59;p133"/>
          <p:cNvSpPr/>
          <p:nvPr/>
        </p:nvSpPr>
        <p:spPr>
          <a:xfrm>
            <a:off x="366824" y="2133600"/>
            <a:ext cx="5638800" cy="213360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" name="Google Shape;60;p133"/>
          <p:cNvSpPr/>
          <p:nvPr/>
        </p:nvSpPr>
        <p:spPr>
          <a:xfrm>
            <a:off x="4572000" y="4267200"/>
            <a:ext cx="1371600" cy="2590800"/>
          </a:xfrm>
          <a:custGeom>
            <a:rect b="b" l="l" r="r" t="t"/>
            <a:pathLst>
              <a:path extrusionOk="0" h="1632" w="864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rgbClr val="566885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" name="Google Shape;61;p133"/>
          <p:cNvSpPr txBox="1"/>
          <p:nvPr>
            <p:ph idx="1" type="body"/>
          </p:nvPr>
        </p:nvSpPr>
        <p:spPr>
          <a:xfrm>
            <a:off x="706902" y="1351672"/>
            <a:ext cx="5718048" cy="977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227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2" name="Google Shape;62;p133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3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3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5" name="Google Shape;65;p133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rgbClr val="56688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" name="Google Shape;66;p133"/>
          <p:cNvSpPr txBox="1"/>
          <p:nvPr>
            <p:ph type="title"/>
          </p:nvPr>
        </p:nvSpPr>
        <p:spPr>
          <a:xfrm>
            <a:off x="706902" y="512064"/>
            <a:ext cx="81564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6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800"/>
              <a:buFont typeface="Consolas"/>
              <a:buNone/>
              <a:defRPr b="0" sz="3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3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" name="Google Shape;68;p133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" name="Google Shape;69;p133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" name="Google Shape;70;p133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" name="Google Shape;71;p133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4"/>
          <p:cNvSpPr txBox="1"/>
          <p:nvPr>
            <p:ph type="title"/>
          </p:nvPr>
        </p:nvSpPr>
        <p:spPr>
          <a:xfrm>
            <a:off x="457200" y="512064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4"/>
          <p:cNvSpPr txBox="1"/>
          <p:nvPr>
            <p:ph idx="1" type="body"/>
          </p:nvPr>
        </p:nvSpPr>
        <p:spPr>
          <a:xfrm>
            <a:off x="464344" y="17705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134"/>
          <p:cNvSpPr txBox="1"/>
          <p:nvPr>
            <p:ph idx="2" type="body"/>
          </p:nvPr>
        </p:nvSpPr>
        <p:spPr>
          <a:xfrm>
            <a:off x="4655344" y="17705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6" name="Google Shape;76;p134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4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4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5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rgbClr val="56688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" name="Google Shape;81;p135"/>
          <p:cNvSpPr txBox="1"/>
          <p:nvPr>
            <p:ph type="title"/>
          </p:nvPr>
        </p:nvSpPr>
        <p:spPr>
          <a:xfrm>
            <a:off x="504824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5"/>
          <p:cNvSpPr txBox="1"/>
          <p:nvPr>
            <p:ph idx="1" type="body"/>
          </p:nvPr>
        </p:nvSpPr>
        <p:spPr>
          <a:xfrm>
            <a:off x="457200" y="1809750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135"/>
          <p:cNvSpPr txBox="1"/>
          <p:nvPr>
            <p:ph idx="2" type="body"/>
          </p:nvPr>
        </p:nvSpPr>
        <p:spPr>
          <a:xfrm>
            <a:off x="4645025" y="180975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135"/>
          <p:cNvSpPr txBox="1"/>
          <p:nvPr>
            <p:ph idx="3" type="body"/>
          </p:nvPr>
        </p:nvSpPr>
        <p:spPr>
          <a:xfrm>
            <a:off x="457200" y="2459037"/>
            <a:ext cx="4040188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5" name="Google Shape;85;p135"/>
          <p:cNvSpPr txBox="1"/>
          <p:nvPr>
            <p:ph idx="4" type="body"/>
          </p:nvPr>
        </p:nvSpPr>
        <p:spPr>
          <a:xfrm>
            <a:off x="4645025" y="2459037"/>
            <a:ext cx="4041775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6" name="Google Shape;86;p135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5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5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9" name="Google Shape;89;p13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35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" name="Google Shape;91;p135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" name="Google Shape;92;p135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" name="Google Shape;93;p135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" name="Google Shape;94;p135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135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" name="Google Shape;96;p135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" name="Google Shape;97;p135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6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6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6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7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7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37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8"/>
          <p:cNvSpPr txBox="1"/>
          <p:nvPr>
            <p:ph type="title"/>
          </p:nvPr>
        </p:nvSpPr>
        <p:spPr>
          <a:xfrm>
            <a:off x="685800" y="273050"/>
            <a:ext cx="82296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8"/>
          <p:cNvSpPr txBox="1"/>
          <p:nvPr>
            <p:ph idx="1" type="body"/>
          </p:nvPr>
        </p:nvSpPr>
        <p:spPr>
          <a:xfrm>
            <a:off x="685800" y="1435100"/>
            <a:ext cx="2514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710"/>
              <a:buNone/>
              <a:defRPr sz="18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0" name="Google Shape;110;p138"/>
          <p:cNvSpPr txBox="1"/>
          <p:nvPr>
            <p:ph idx="2" type="body"/>
          </p:nvPr>
        </p:nvSpPr>
        <p:spPr>
          <a:xfrm>
            <a:off x="3429000" y="14351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640" lvl="0" marL="457200" algn="l">
              <a:spcBef>
                <a:spcPts val="700"/>
              </a:spcBef>
              <a:spcAft>
                <a:spcPts val="0"/>
              </a:spcAft>
              <a:buSzPts val="3040"/>
              <a:buChar char="▪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🢭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1" name="Google Shape;111;p138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8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8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9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16" name="Google Shape;116;p139"/>
          <p:cNvCxnSpPr/>
          <p:nvPr/>
        </p:nvCxnSpPr>
        <p:spPr>
          <a:xfrm>
            <a:off x="363195" y="1885028"/>
            <a:ext cx="8782622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7" name="Google Shape;117;p13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18" name="Google Shape;118;p139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39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39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1" name="Google Shape;121;p139"/>
          <p:cNvSpPr txBox="1"/>
          <p:nvPr>
            <p:ph type="title"/>
          </p:nvPr>
        </p:nvSpPr>
        <p:spPr>
          <a:xfrm>
            <a:off x="914400" y="441251"/>
            <a:ext cx="6858000" cy="701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100"/>
              <a:buFont typeface="Consolas"/>
              <a:buNone/>
              <a:defRPr b="0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9"/>
          <p:cNvSpPr/>
          <p:nvPr>
            <p:ph idx="2" type="pic"/>
          </p:nvPr>
        </p:nvSpPr>
        <p:spPr>
          <a:xfrm>
            <a:off x="368032" y="1893781"/>
            <a:ext cx="8778240" cy="4960144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23" name="Google Shape;123;p139"/>
          <p:cNvSpPr txBox="1"/>
          <p:nvPr>
            <p:ph idx="1" type="body"/>
          </p:nvPr>
        </p:nvSpPr>
        <p:spPr>
          <a:xfrm>
            <a:off x="914400" y="1150144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FFFFFF"/>
                </a:solidFill>
              </a:defRPr>
            </a:lvl1pPr>
            <a:lvl2pPr indent="-297180" lvl="1" marL="914400" algn="l">
              <a:spcBef>
                <a:spcPts val="240"/>
              </a:spcBef>
              <a:spcAft>
                <a:spcPts val="0"/>
              </a:spcAft>
              <a:buSzPts val="1080"/>
              <a:buChar char="🢭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SzPts val="900"/>
              <a:buChar char="🢝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grpSp>
        <p:nvGrpSpPr>
          <p:cNvPr id="124" name="Google Shape;124;p139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25" name="Google Shape;125;p139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39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139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8" name="Google Shape;128;p139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29" name="Google Shape;129;p139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139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139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2" name="Google Shape;132;p139"/>
          <p:cNvSpPr txBox="1"/>
          <p:nvPr>
            <p:ph idx="10" type="dt"/>
          </p:nvPr>
        </p:nvSpPr>
        <p:spPr>
          <a:xfrm>
            <a:off x="6477000" y="554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39"/>
          <p:cNvSpPr txBox="1"/>
          <p:nvPr>
            <p:ph idx="11" type="ftr"/>
          </p:nvPr>
        </p:nvSpPr>
        <p:spPr>
          <a:xfrm>
            <a:off x="914400" y="55499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9"/>
          <p:cNvSpPr txBox="1"/>
          <p:nvPr>
            <p:ph idx="12" type="sldNum"/>
          </p:nvPr>
        </p:nvSpPr>
        <p:spPr>
          <a:xfrm>
            <a:off x="8610600" y="554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0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0"/>
          <p:cNvSpPr txBox="1"/>
          <p:nvPr>
            <p:ph idx="1" type="body"/>
          </p:nvPr>
        </p:nvSpPr>
        <p:spPr>
          <a:xfrm rot="5400000">
            <a:off x="2514600" y="18336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8" name="Google Shape;138;p140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40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40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1"/>
          <p:cNvSpPr txBox="1"/>
          <p:nvPr>
            <p:ph type="title"/>
          </p:nvPr>
        </p:nvSpPr>
        <p:spPr>
          <a:xfrm rot="5400000">
            <a:off x="4694238" y="2209802"/>
            <a:ext cx="5851525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41"/>
          <p:cNvSpPr txBox="1"/>
          <p:nvPr>
            <p:ph idx="1" type="body"/>
          </p:nvPr>
        </p:nvSpPr>
        <p:spPr>
          <a:xfrm rot="5400000">
            <a:off x="617538" y="266701"/>
            <a:ext cx="5851525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4" name="Google Shape;144;p141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41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41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65000">
              <a:schemeClr val="dk1"/>
            </a:gs>
            <a:gs pos="100000">
              <a:srgbClr val="5676AA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0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130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130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" name="Google Shape;13;p130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" name="Google Shape;14;p13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" name="Google Shape;15;p130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" name="Google Shape;16;p130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" name="Google Shape;17;p13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" name="Google Shape;18;p130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" name="Google Shape;19;p130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b="0" i="0" sz="4000" u="none" cap="none" strike="noStrike">
                <a:solidFill>
                  <a:srgbClr val="C1EDF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130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9575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  <a:defRPr b="0" i="0" sz="2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🢝"/>
              <a:def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130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2" name="Google Shape;22;p130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3" name="Google Shape;23;p130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7.jpg"/><Relationship Id="rId5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Relationship Id="rId4" Type="http://schemas.openxmlformats.org/officeDocument/2006/relationships/image" Target="../media/image24.jpg"/><Relationship Id="rId5" Type="http://schemas.openxmlformats.org/officeDocument/2006/relationships/image" Target="../media/image2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jpg"/><Relationship Id="rId4" Type="http://schemas.openxmlformats.org/officeDocument/2006/relationships/image" Target="../media/image14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3.gif"/><Relationship Id="rId5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jpg"/><Relationship Id="rId4" Type="http://schemas.openxmlformats.org/officeDocument/2006/relationships/image" Target="../media/image19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Relationship Id="rId4" Type="http://schemas.openxmlformats.org/officeDocument/2006/relationships/image" Target="../media/image2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Relationship Id="rId4" Type="http://schemas.openxmlformats.org/officeDocument/2006/relationships/image" Target="../media/image3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png"/><Relationship Id="rId4" Type="http://schemas.openxmlformats.org/officeDocument/2006/relationships/image" Target="../media/image4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0.png"/><Relationship Id="rId4" Type="http://schemas.openxmlformats.org/officeDocument/2006/relationships/image" Target="../media/image43.png"/><Relationship Id="rId5" Type="http://schemas.openxmlformats.org/officeDocument/2006/relationships/image" Target="../media/image36.jpg"/><Relationship Id="rId6" Type="http://schemas.openxmlformats.org/officeDocument/2006/relationships/image" Target="../media/image40.png"/><Relationship Id="rId7" Type="http://schemas.openxmlformats.org/officeDocument/2006/relationships/image" Target="../media/image3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2.png"/><Relationship Id="rId4" Type="http://schemas.openxmlformats.org/officeDocument/2006/relationships/image" Target="../media/image52.png"/><Relationship Id="rId5" Type="http://schemas.openxmlformats.org/officeDocument/2006/relationships/image" Target="../media/image4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1.jpg"/><Relationship Id="rId4" Type="http://schemas.openxmlformats.org/officeDocument/2006/relationships/image" Target="../media/image4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7.png"/><Relationship Id="rId4" Type="http://schemas.openxmlformats.org/officeDocument/2006/relationships/image" Target="../media/image5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Relationship Id="rId5" Type="http://schemas.openxmlformats.org/officeDocument/2006/relationships/image" Target="../media/image61.png"/><Relationship Id="rId6" Type="http://schemas.openxmlformats.org/officeDocument/2006/relationships/image" Target="../media/image54.png"/><Relationship Id="rId7" Type="http://schemas.openxmlformats.org/officeDocument/2006/relationships/image" Target="../media/image49.png"/><Relationship Id="rId8" Type="http://schemas.openxmlformats.org/officeDocument/2006/relationships/image" Target="../media/image5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8.jpg"/><Relationship Id="rId4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6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2.jpg"/><Relationship Id="rId4" Type="http://schemas.openxmlformats.org/officeDocument/2006/relationships/image" Target="../media/image6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3.png"/><Relationship Id="rId4" Type="http://schemas.openxmlformats.org/officeDocument/2006/relationships/image" Target="../media/image6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6.png"/><Relationship Id="rId4" Type="http://schemas.openxmlformats.org/officeDocument/2006/relationships/image" Target="../media/image65.png"/><Relationship Id="rId5" Type="http://schemas.openxmlformats.org/officeDocument/2006/relationships/image" Target="../media/image72.jpg"/><Relationship Id="rId6" Type="http://schemas.openxmlformats.org/officeDocument/2006/relationships/image" Target="../media/image8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Relationship Id="rId5" Type="http://schemas.openxmlformats.org/officeDocument/2006/relationships/image" Target="../media/image77.png"/><Relationship Id="rId6" Type="http://schemas.openxmlformats.org/officeDocument/2006/relationships/image" Target="../media/image70.png"/><Relationship Id="rId7" Type="http://schemas.openxmlformats.org/officeDocument/2006/relationships/image" Target="../media/image7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png"/><Relationship Id="rId4" Type="http://schemas.openxmlformats.org/officeDocument/2006/relationships/image" Target="../media/image81.png"/><Relationship Id="rId5" Type="http://schemas.openxmlformats.org/officeDocument/2006/relationships/image" Target="../media/image71.jpg"/><Relationship Id="rId6" Type="http://schemas.openxmlformats.org/officeDocument/2006/relationships/image" Target="../media/image74.jpg"/><Relationship Id="rId7" Type="http://schemas.openxmlformats.org/officeDocument/2006/relationships/image" Target="../media/image8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3.png"/><Relationship Id="rId4" Type="http://schemas.openxmlformats.org/officeDocument/2006/relationships/image" Target="../media/image79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5.png"/><Relationship Id="rId4" Type="http://schemas.openxmlformats.org/officeDocument/2006/relationships/image" Target="../media/image80.png"/><Relationship Id="rId5" Type="http://schemas.openxmlformats.org/officeDocument/2006/relationships/image" Target="../media/image8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92.png"/><Relationship Id="rId4" Type="http://schemas.openxmlformats.org/officeDocument/2006/relationships/image" Target="../media/image96.png"/><Relationship Id="rId5" Type="http://schemas.openxmlformats.org/officeDocument/2006/relationships/image" Target="../media/image88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png"/><Relationship Id="rId4" Type="http://schemas.openxmlformats.org/officeDocument/2006/relationships/image" Target="../media/image86.png"/><Relationship Id="rId5" Type="http://schemas.openxmlformats.org/officeDocument/2006/relationships/image" Target="../media/image8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7.jpg"/><Relationship Id="rId4" Type="http://schemas.openxmlformats.org/officeDocument/2006/relationships/image" Target="../media/image8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94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93.png"/><Relationship Id="rId4" Type="http://schemas.openxmlformats.org/officeDocument/2006/relationships/image" Target="../media/image9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91.png"/><Relationship Id="rId4" Type="http://schemas.openxmlformats.org/officeDocument/2006/relationships/image" Target="../media/image12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06.png"/><Relationship Id="rId4" Type="http://schemas.openxmlformats.org/officeDocument/2006/relationships/image" Target="../media/image95.png"/><Relationship Id="rId5" Type="http://schemas.openxmlformats.org/officeDocument/2006/relationships/image" Target="../media/image100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99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0.jpg"/><Relationship Id="rId4" Type="http://schemas.openxmlformats.org/officeDocument/2006/relationships/image" Target="../media/image107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1.png"/><Relationship Id="rId4" Type="http://schemas.openxmlformats.org/officeDocument/2006/relationships/image" Target="../media/image10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08.png"/><Relationship Id="rId4" Type="http://schemas.openxmlformats.org/officeDocument/2006/relationships/image" Target="../media/image115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0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0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12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04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16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09.png"/><Relationship Id="rId4" Type="http://schemas.openxmlformats.org/officeDocument/2006/relationships/image" Target="../media/image113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14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19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8.png"/><Relationship Id="rId10" Type="http://schemas.openxmlformats.org/officeDocument/2006/relationships/image" Target="../media/image133.png"/><Relationship Id="rId13" Type="http://schemas.openxmlformats.org/officeDocument/2006/relationships/image" Target="../media/image120.jpg"/><Relationship Id="rId1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2.bin"/><Relationship Id="rId14" Type="http://schemas.openxmlformats.org/officeDocument/2006/relationships/image" Target="../media/image137.jpg"/><Relationship Id="rId5" Type="http://schemas.openxmlformats.org/officeDocument/2006/relationships/oleObject" Target="../embeddings/oleObject1.bin"/><Relationship Id="rId6" Type="http://schemas.openxmlformats.org/officeDocument/2006/relationships/image" Target="../media/image117.png"/><Relationship Id="rId7" Type="http://schemas.openxmlformats.org/officeDocument/2006/relationships/image" Target="../media/image118.jpg"/><Relationship Id="rId8" Type="http://schemas.openxmlformats.org/officeDocument/2006/relationships/oleObject" Target="../embeddings/oleObject2.bin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22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34.png"/><Relationship Id="rId4" Type="http://schemas.openxmlformats.org/officeDocument/2006/relationships/image" Target="../media/image129.png"/><Relationship Id="rId5" Type="http://schemas.openxmlformats.org/officeDocument/2006/relationships/image" Target="../media/image123.png"/><Relationship Id="rId6" Type="http://schemas.openxmlformats.org/officeDocument/2006/relationships/image" Target="../media/image132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24.png"/><Relationship Id="rId4" Type="http://schemas.openxmlformats.org/officeDocument/2006/relationships/image" Target="../media/image131.png"/><Relationship Id="rId5" Type="http://schemas.openxmlformats.org/officeDocument/2006/relationships/image" Target="../media/image126.png"/><Relationship Id="rId6" Type="http://schemas.openxmlformats.org/officeDocument/2006/relationships/image" Target="../media/image135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27.png"/><Relationship Id="rId4" Type="http://schemas.openxmlformats.org/officeDocument/2006/relationships/image" Target="../media/image136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30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914400" y="457200"/>
            <a:ext cx="7772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144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8000"/>
              <a:buFont typeface="Consolas"/>
              <a:buNone/>
            </a:pPr>
            <a:br>
              <a:rPr lang="fr-FR" sz="8000"/>
            </a:br>
            <a:br>
              <a:rPr lang="fr-FR" sz="8000"/>
            </a:br>
            <a:br>
              <a:rPr lang="fr-FR" sz="8000"/>
            </a:br>
            <a:r>
              <a:rPr lang="fr-FR" sz="8000"/>
              <a:t>       </a:t>
            </a:r>
            <a:br>
              <a:rPr lang="fr-FR" sz="8000"/>
            </a:br>
            <a:r>
              <a:rPr lang="fr-FR" sz="8000"/>
              <a:t>       </a:t>
            </a:r>
            <a:r>
              <a:rPr lang="fr-FR" sz="6000"/>
              <a:t>OTOLOGIE</a:t>
            </a:r>
            <a:br>
              <a:rPr lang="fr-FR" sz="6000"/>
            </a:br>
            <a:br>
              <a:rPr lang="fr-FR" sz="4400"/>
            </a:br>
            <a:endParaRPr sz="4400"/>
          </a:p>
        </p:txBody>
      </p:sp>
      <p:pic>
        <p:nvPicPr>
          <p:cNvPr descr="ear_cutaway" id="152" name="Google Shape;1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371600"/>
            <a:ext cx="72390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ANATOMIE DE L’OREILLE</a:t>
            </a:r>
            <a:endParaRPr b="1" sz="3600"/>
          </a:p>
        </p:txBody>
      </p:sp>
      <p:pic>
        <p:nvPicPr>
          <p:cNvPr id="158" name="Google Shape;158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784350"/>
            <a:ext cx="7391399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457200" y="0"/>
            <a:ext cx="82296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ANATOMIE DE L ’OREILLE</a:t>
            </a:r>
            <a:br>
              <a:rPr b="1" lang="fr-FR" sz="3600"/>
            </a:br>
            <a:endParaRPr b="1" sz="3600"/>
          </a:p>
        </p:txBody>
      </p:sp>
      <p:sp>
        <p:nvSpPr>
          <p:cNvPr id="164" name="Google Shape;164;p3"/>
          <p:cNvSpPr txBox="1"/>
          <p:nvPr>
            <p:ph idx="1" type="body"/>
          </p:nvPr>
        </p:nvSpPr>
        <p:spPr>
          <a:xfrm>
            <a:off x="304800" y="838200"/>
            <a:ext cx="8839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L’analyseur auditif peut être divisé,  en deux segments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600">
                <a:solidFill>
                  <a:srgbClr val="FFC000"/>
                </a:solidFill>
              </a:rPr>
              <a:t>Le segment périphérique                 </a:t>
            </a:r>
            <a:r>
              <a:rPr lang="fr-FR" sz="2600">
                <a:solidFill>
                  <a:srgbClr val="FFC000"/>
                </a:solidFill>
              </a:rPr>
              <a:t> </a:t>
            </a:r>
            <a:r>
              <a:rPr i="1" lang="fr-FR" sz="2600">
                <a:solidFill>
                  <a:srgbClr val="FFC000"/>
                </a:solidFill>
              </a:rPr>
              <a:t>Le segment central</a:t>
            </a:r>
            <a:r>
              <a:rPr lang="fr-FR" sz="26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- l’oreille externe                - noyaux acoustiques bulbaires/voies acoustiques 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- l’oreille moyenne             - la radiation acoustique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-  l’oreille interne                -  les centres corticaux de l’audition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 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endParaRPr/>
          </a:p>
        </p:txBody>
      </p:sp>
      <p:pic>
        <p:nvPicPr>
          <p:cNvPr descr="C:\Users\Alex\Desktop\fig1.jpg" id="165" name="Google Shape;1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276600"/>
            <a:ext cx="73152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 ’ oreille externe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 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1" name="Google Shape;171;p4"/>
          <p:cNvSpPr txBox="1"/>
          <p:nvPr>
            <p:ph idx="1" type="body"/>
          </p:nvPr>
        </p:nvSpPr>
        <p:spPr>
          <a:xfrm>
            <a:off x="381000" y="609600"/>
            <a:ext cx="54102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le pavillon auriculaire et le conduit auditif externe (CAE)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900" u="sng">
                <a:solidFill>
                  <a:srgbClr val="FFC000"/>
                </a:solidFill>
              </a:rPr>
              <a:t>Le pavillon auriculaire </a:t>
            </a:r>
            <a:endParaRPr sz="29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 une formation anatomique fibro-cartilagineuse,  en arrière de   l’articulation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temporo-mandibulaire, antérieure de mastoïde, sous la  région temporale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2 face -  externe  / interne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2900"/>
              <a:t> </a:t>
            </a:r>
            <a:r>
              <a:rPr b="1" i="1" lang="fr-FR" sz="2900">
                <a:solidFill>
                  <a:srgbClr val="FFC000"/>
                </a:solidFill>
              </a:rPr>
              <a:t>∙ </a:t>
            </a:r>
            <a:r>
              <a:rPr b="1" i="1" lang="fr-FR" sz="2900" u="sng">
                <a:solidFill>
                  <a:srgbClr val="FFC000"/>
                </a:solidFill>
              </a:rPr>
              <a:t>La face externe</a:t>
            </a:r>
            <a:r>
              <a:rPr b="1" i="1" lang="fr-FR" sz="2900">
                <a:solidFill>
                  <a:srgbClr val="FFC000"/>
                </a:solidFill>
              </a:rPr>
              <a:t> </a:t>
            </a:r>
            <a:r>
              <a:rPr b="1" i="1" lang="fr-FR" sz="2900"/>
              <a:t>:</a:t>
            </a:r>
            <a:r>
              <a:rPr lang="fr-FR" sz="2900"/>
              <a:t> nombre de proéminences et des dépressions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-hélix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- ante hélix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-tragus / antitragus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-fosse naviculaire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-lobe de l’oreille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 conca - une excavation profonde dans la partie moyenne du pavillon → CAE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2900"/>
              <a:t> </a:t>
            </a:r>
            <a:r>
              <a:rPr b="1" i="1" lang="fr-FR" sz="2900">
                <a:solidFill>
                  <a:srgbClr val="FFC000"/>
                </a:solidFill>
              </a:rPr>
              <a:t>∙  </a:t>
            </a:r>
            <a:r>
              <a:rPr b="1" i="1" lang="fr-FR" sz="2900" u="sng">
                <a:solidFill>
                  <a:srgbClr val="FFC000"/>
                </a:solidFill>
              </a:rPr>
              <a:t>La face interne</a:t>
            </a:r>
            <a:r>
              <a:rPr b="1" i="1" lang="fr-FR" sz="2900">
                <a:solidFill>
                  <a:srgbClr val="FFC000"/>
                </a:solidFill>
              </a:rPr>
              <a:t> :</a:t>
            </a:r>
            <a:r>
              <a:rPr b="1" lang="fr-FR" sz="2900">
                <a:solidFill>
                  <a:srgbClr val="FFC000"/>
                </a:solidFill>
              </a:rPr>
              <a:t> </a:t>
            </a:r>
            <a:r>
              <a:rPr lang="fr-FR" sz="2900">
                <a:solidFill>
                  <a:srgbClr val="FFC000"/>
                </a:solidFill>
              </a:rPr>
              <a:t> </a:t>
            </a:r>
            <a:r>
              <a:rPr lang="fr-FR" sz="2900"/>
              <a:t>moulage (négatif) de la face externe</a:t>
            </a:r>
            <a:endParaRPr/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172" name="Google Shape;1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438400"/>
            <a:ext cx="335247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/>
          <p:nvPr>
            <p:ph type="title"/>
          </p:nvPr>
        </p:nvSpPr>
        <p:spPr>
          <a:xfrm>
            <a:off x="533400" y="304800"/>
            <a:ext cx="815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 ’ oreille externe </a:t>
            </a:r>
            <a:br>
              <a:rPr lang="fr-FR" sz="3600"/>
            </a:br>
            <a:endParaRPr/>
          </a:p>
        </p:txBody>
      </p:sp>
      <p:sp>
        <p:nvSpPr>
          <p:cNvPr id="178" name="Google Shape;178;p5"/>
          <p:cNvSpPr txBox="1"/>
          <p:nvPr>
            <p:ph idx="1" type="body"/>
          </p:nvPr>
        </p:nvSpPr>
        <p:spPr>
          <a:xfrm>
            <a:off x="533400" y="1219200"/>
            <a:ext cx="81534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i="1" lang="fr-FR" sz="3200">
                <a:solidFill>
                  <a:srgbClr val="FFC000"/>
                </a:solidFill>
              </a:rPr>
              <a:t>∙ Structure du pavillon </a:t>
            </a:r>
            <a:r>
              <a:rPr lang="fr-FR" sz="3200">
                <a:solidFill>
                  <a:srgbClr val="FFC000"/>
                </a:solidFill>
              </a:rPr>
              <a:t>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800"/>
              <a:t>  un squelette fibro-cartilagineux recouvert de tégument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800"/>
              <a:t>  les ligaments  -  l’insertion du pavillon de l’os temporal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800"/>
              <a:t>  les muscles intrinsèques  /  extrinsèques rudimentaires </a:t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 </a:t>
            </a:r>
            <a:endParaRPr sz="3200"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3657600"/>
            <a:ext cx="3400425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 ’ oreille externe</a:t>
            </a:r>
            <a:r>
              <a:rPr b="1" lang="fr-FR" sz="2800"/>
              <a:t> </a:t>
            </a:r>
            <a:endParaRPr/>
          </a:p>
        </p:txBody>
      </p:sp>
      <p:sp>
        <p:nvSpPr>
          <p:cNvPr id="185" name="Google Shape;185;p6"/>
          <p:cNvSpPr txBox="1"/>
          <p:nvPr>
            <p:ph idx="1" type="body"/>
          </p:nvPr>
        </p:nvSpPr>
        <p:spPr>
          <a:xfrm>
            <a:off x="381000" y="838200"/>
            <a:ext cx="8382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b="1" sz="2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b="1" lang="fr-FR" sz="2800" u="sng">
                <a:solidFill>
                  <a:srgbClr val="FFC000"/>
                </a:solidFill>
              </a:rPr>
              <a:t>Le conduit auditif extern</a:t>
            </a:r>
            <a:r>
              <a:rPr b="1" lang="fr-FR" sz="2800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b="1"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la zone profonde de Conca → la face externe du tympan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∙ longueur : 2,5 à 3 cm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∙ taille : environ 6-10 mm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∙"/>
            </a:pPr>
            <a:r>
              <a:rPr lang="fr-FR" sz="2200"/>
              <a:t>forme : cylindre irrégulier  / une section horizontale - „S” d’italique / une section verticale - courbure avec la concavité inférieure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b="1" lang="fr-FR" sz="2200"/>
              <a:t>Structure</a:t>
            </a:r>
            <a:r>
              <a:rPr lang="fr-FR" sz="2200"/>
              <a:t> 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∙ portion fibro-cartilagineux – 1/3 externe est recouverte par le tégument, des follicules pileux et des glandes sébacées→ glandes cérumineuses 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∙ partie osseuse  - 2/3   l’os du tympan et de la squame temporelle ; le tégument adhérant à l’os, dépourvu de follicules pileux et de tissu sous-cutané</a:t>
            </a:r>
            <a:endParaRPr sz="22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Desktop\picto_17_1.jpg" id="186" name="Google Shape;1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0"/>
            <a:ext cx="3810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 txBox="1"/>
          <p:nvPr>
            <p:ph type="title"/>
          </p:nvPr>
        </p:nvSpPr>
        <p:spPr>
          <a:xfrm>
            <a:off x="381000" y="0"/>
            <a:ext cx="83058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L’ oreille moyenne </a:t>
            </a:r>
            <a:br>
              <a:rPr lang="fr-FR" sz="3600">
                <a:latin typeface="Corbel"/>
                <a:ea typeface="Corbel"/>
                <a:cs typeface="Corbel"/>
                <a:sym typeface="Corbel"/>
              </a:rPr>
            </a:b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2" name="Google Shape;192;p7"/>
          <p:cNvSpPr txBox="1"/>
          <p:nvPr>
            <p:ph idx="1" type="body"/>
          </p:nvPr>
        </p:nvSpPr>
        <p:spPr>
          <a:xfrm>
            <a:off x="457200" y="838200"/>
            <a:ext cx="86868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a. </a:t>
            </a:r>
            <a:r>
              <a:rPr i="1" lang="fr-FR">
                <a:solidFill>
                  <a:srgbClr val="FFC000"/>
                </a:solidFill>
              </a:rPr>
              <a:t>la  caisse du tympan</a:t>
            </a:r>
            <a:r>
              <a:rPr lang="fr-FR">
                <a:solidFill>
                  <a:srgbClr val="FFC000"/>
                </a:solidFill>
              </a:rPr>
              <a:t> (une cavité centrale)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annexes </a:t>
            </a:r>
            <a:r>
              <a:rPr lang="fr-FR"/>
              <a:t>: </a:t>
            </a:r>
            <a:r>
              <a:rPr lang="fr-FR">
                <a:solidFill>
                  <a:srgbClr val="FFC000"/>
                </a:solidFill>
              </a:rPr>
              <a:t>b - apophyse mastoïde, </a:t>
            </a:r>
            <a:br>
              <a:rPr lang="fr-FR">
                <a:solidFill>
                  <a:srgbClr val="FFC000"/>
                </a:solidFill>
              </a:rPr>
            </a:br>
            <a:r>
              <a:rPr lang="fr-FR">
                <a:solidFill>
                  <a:srgbClr val="FFC000"/>
                </a:solidFill>
              </a:rPr>
              <a:t>             c - la trompe d’Eustache (TE)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a. La  caisse  du tympan :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une cavité aérienne située entre le CAE et l’oreille interne / système tympano — osiculaire transmet l’onde acoustique de OE→ OI /  forme d’une lentille biconcave / 6 parois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1. </a:t>
            </a:r>
            <a:r>
              <a:rPr lang="fr-FR" u="sng">
                <a:solidFill>
                  <a:srgbClr val="FFC000"/>
                </a:solidFill>
              </a:rPr>
              <a:t>la paroi supérieure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cérébrale - ou le tégument, a de rapport avec dure-mère et à travers d’elle, avec la fosse cérébrale moyenne et la troisième et la quatrième circonvolution temporelle.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2. </a:t>
            </a:r>
            <a:r>
              <a:rPr lang="fr-FR" u="sng">
                <a:solidFill>
                  <a:srgbClr val="FFC000"/>
                </a:solidFill>
              </a:rPr>
              <a:t>la paroi inférieure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 rapport à la baie de la veine jugulaire interne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3. </a:t>
            </a:r>
            <a:r>
              <a:rPr lang="fr-FR" u="sng">
                <a:solidFill>
                  <a:srgbClr val="FFC000"/>
                </a:solidFill>
              </a:rPr>
              <a:t>la paroi antérieure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tubo-carotidienne - la partie supérieure l’orifice tympanique de la TE  /  la partie inférieure  le canal carotidien  interne et l’articulation temporo-mandibulaire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4. la </a:t>
            </a:r>
            <a:r>
              <a:rPr lang="fr-FR" u="sng">
                <a:solidFill>
                  <a:srgbClr val="FFC000"/>
                </a:solidFill>
              </a:rPr>
              <a:t>paroi postérieure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mastoïdienne - correspond à l’apophyse mastoïde et l’orifice de communication avec les cavités aériennes de la mastoïde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5. </a:t>
            </a:r>
            <a:r>
              <a:rPr lang="fr-FR" u="sng">
                <a:solidFill>
                  <a:srgbClr val="FFC000"/>
                </a:solidFill>
              </a:rPr>
              <a:t>la paroi interne - labyrinthique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 en rapport à  OI et présente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le promontoire : protubérance située dans le centre de la paroi interne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 fenêtre ovale : orifice au-dessus du promontoire et obstrué par la plante du pied de l’étrier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 fenêtre ronde : en dessous de l’ovale et obstruée par une membrane conjonctive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canal du nerf facial -  au-dessus du promontoire et de la fenêtre ovale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6. </a:t>
            </a:r>
            <a:r>
              <a:rPr lang="fr-FR" u="sng">
                <a:solidFill>
                  <a:srgbClr val="FFC000"/>
                </a:solidFill>
              </a:rPr>
              <a:t>la paroi externe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la membrane tympanique / le tympan :  le CAE et comporte deux parties : une supérieure,( la paroi attique)  /  inférieure,( la membrane du tympan)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/>
          <p:nvPr>
            <p:ph type="title"/>
          </p:nvPr>
        </p:nvSpPr>
        <p:spPr>
          <a:xfrm>
            <a:off x="609600" y="512064"/>
            <a:ext cx="807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L’ oreille moyenne</a:t>
            </a:r>
            <a:r>
              <a:rPr b="1" lang="fr-FR" sz="3600"/>
              <a:t> </a:t>
            </a:r>
            <a:br>
              <a:rPr lang="fr-FR" sz="3600"/>
            </a:br>
            <a:endParaRPr sz="3600"/>
          </a:p>
        </p:txBody>
      </p:sp>
      <p:pic>
        <p:nvPicPr>
          <p:cNvPr descr="C:\Users\Alex\Desktop\lanatomie-img.jpg" id="198" name="Google Shape;198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784350"/>
            <a:ext cx="7239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/>
          <p:nvPr>
            <p:ph type="title"/>
          </p:nvPr>
        </p:nvSpPr>
        <p:spPr>
          <a:xfrm>
            <a:off x="381000" y="0"/>
            <a:ext cx="83058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OTOSCOPIE</a:t>
            </a:r>
            <a:endParaRPr b="1"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4" name="Google Shape;204;p9"/>
          <p:cNvSpPr txBox="1"/>
          <p:nvPr>
            <p:ph idx="1" type="body"/>
          </p:nvPr>
        </p:nvSpPr>
        <p:spPr>
          <a:xfrm>
            <a:off x="381000" y="838200"/>
            <a:ext cx="9220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Le contenu de la  caisse : les 3 osselets / ligaments / muscles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>
                <a:solidFill>
                  <a:srgbClr val="FFC000"/>
                </a:solidFill>
              </a:rPr>
              <a:t> La chaîne ossiculaire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 u="sng">
                <a:solidFill>
                  <a:srgbClr val="FFC000"/>
                </a:solidFill>
              </a:rPr>
              <a:t>♦ le marteau</a:t>
            </a:r>
            <a:r>
              <a:rPr b="1" lang="fr-FR" sz="2400" u="sng"/>
              <a:t> </a:t>
            </a:r>
            <a:r>
              <a:rPr lang="fr-FR" sz="2400"/>
              <a:t>-  la longue apophyse enchassee de la membrane tympanique, un col,une tête qui s’articule avec l’enclume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 u="sng">
                <a:solidFill>
                  <a:srgbClr val="FFC000"/>
                </a:solidFill>
              </a:rPr>
              <a:t>♦l’enclume </a:t>
            </a:r>
            <a:r>
              <a:rPr lang="fr-FR" sz="2400"/>
              <a:t>- une molaire par deux racines, une courte  réalise l’axe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de rotation, et la longue s’articule avec l’étrier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 u="sng">
                <a:solidFill>
                  <a:srgbClr val="FFC000"/>
                </a:solidFill>
              </a:rPr>
              <a:t>♦l’étrier  </a:t>
            </a:r>
            <a:r>
              <a:rPr b="1" lang="fr-FR" sz="2400" u="sng"/>
              <a:t>- </a:t>
            </a:r>
            <a:r>
              <a:rPr lang="fr-FR" sz="2400"/>
              <a:t>une échelle de cavalerie - une tête articulaire , un col,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deux bras ,platine, qui obstrue la fenêtre ovale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 u="sng">
                <a:solidFill>
                  <a:srgbClr val="FFC000"/>
                </a:solidFill>
              </a:rPr>
              <a:t>♦ </a:t>
            </a:r>
            <a:r>
              <a:rPr lang="fr-FR" sz="2400" u="sng">
                <a:solidFill>
                  <a:srgbClr val="FFC000"/>
                </a:solidFill>
              </a:rPr>
              <a:t>les mésos </a:t>
            </a:r>
            <a:r>
              <a:rPr lang="fr-FR" sz="2400"/>
              <a:t>de la  caisse la divisent en plusieurs compartiments,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2  plus importants :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- l’attique, plus haut </a:t>
            </a:r>
            <a:br>
              <a:rPr lang="fr-FR" sz="2400"/>
            </a:br>
            <a:r>
              <a:rPr lang="fr-FR" sz="2400"/>
              <a:t>- le méso tympan au-dessous</a:t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>
            <p:ph type="title"/>
          </p:nvPr>
        </p:nvSpPr>
        <p:spPr>
          <a:xfrm>
            <a:off x="533400" y="512064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  chaîne  ossiculaire</a:t>
            </a:r>
            <a:endParaRPr b="1" sz="36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MiddleEar" id="210" name="Google Shape;210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76400"/>
            <a:ext cx="37338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429000"/>
            <a:ext cx="39624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/>
          <p:nvPr>
            <p:ph type="title"/>
          </p:nvPr>
        </p:nvSpPr>
        <p:spPr>
          <a:xfrm>
            <a:off x="381000" y="0"/>
            <a:ext cx="830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Otoscopie  normale</a:t>
            </a:r>
            <a:endParaRPr b="1" sz="32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C:\Users\Alex\Desktop\TN_otoscopieN.JPG" id="217" name="Google Shape;2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517" y="838199"/>
            <a:ext cx="3806283" cy="2894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fig2.jpg"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838200"/>
            <a:ext cx="388619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aud3.JPG" id="219" name="Google Shape;21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4600" y="3810000"/>
            <a:ext cx="4343400" cy="297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533400" y="2286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b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.   L’ apophyse  mastoïde</a:t>
            </a: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 </a:t>
            </a:r>
            <a:br>
              <a:rPr lang="fr-FR"/>
            </a:br>
            <a:endParaRPr/>
          </a:p>
        </p:txBody>
      </p:sp>
      <p:sp>
        <p:nvSpPr>
          <p:cNvPr id="225" name="Google Shape;225;p12"/>
          <p:cNvSpPr txBox="1"/>
          <p:nvPr>
            <p:ph idx="1" type="body"/>
          </p:nvPr>
        </p:nvSpPr>
        <p:spPr>
          <a:xfrm>
            <a:off x="533400" y="990600"/>
            <a:ext cx="8610600" cy="53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forme de pyramide triangulaire </a:t>
            </a:r>
            <a:r>
              <a:rPr lang="fr-FR"/>
              <a:t>située à la partie postéro-inférieure de l’os temporal, derrière  CAE et OM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 trois faces </a:t>
            </a:r>
            <a:r>
              <a:rPr lang="fr-FR"/>
              <a:t>(interne, externe et antérieure), une base endocrânien et un sommet  inférieure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un système de cavités aériennes centrées sur une cavité </a:t>
            </a:r>
            <a:r>
              <a:rPr lang="fr-FR">
                <a:solidFill>
                  <a:srgbClr val="FFC000"/>
                </a:solidFill>
              </a:rPr>
              <a:t>- </a:t>
            </a:r>
            <a:r>
              <a:rPr lang="fr-FR" u="sng">
                <a:solidFill>
                  <a:srgbClr val="FFC000"/>
                </a:solidFill>
              </a:rPr>
              <a:t>antre mastoïdien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 communique antérieure avec la partie supérieure de la  caisse du tympan (attique), à travers un petit canal - </a:t>
            </a:r>
            <a:r>
              <a:rPr lang="fr-FR" u="sng">
                <a:solidFill>
                  <a:srgbClr val="FFC000"/>
                </a:solidFill>
              </a:rPr>
              <a:t>aditus ad antrum</a:t>
            </a:r>
            <a:endParaRPr>
              <a:solidFill>
                <a:srgbClr val="FFC000"/>
              </a:solidFill>
            </a:endParaRPr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rapport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- supérieure – la fosse cérébrale moyenne</a:t>
            </a:r>
            <a:br>
              <a:rPr lang="fr-FR"/>
            </a:br>
            <a:r>
              <a:rPr lang="fr-FR"/>
              <a:t>- postérieure -  les sinus veineux sigmoïdiens , la foss cérébelleuse</a:t>
            </a:r>
            <a:br>
              <a:rPr lang="fr-FR"/>
            </a:br>
            <a:r>
              <a:rPr lang="fr-FR"/>
              <a:t>- interne - OI</a:t>
            </a:r>
            <a:br>
              <a:rPr lang="fr-FR"/>
            </a:br>
            <a:r>
              <a:rPr lang="fr-FR"/>
              <a:t>- antérieure -  la caisse du tympan et le nerf facial ( VII n.c.)</a:t>
            </a:r>
            <a:br>
              <a:rPr lang="fr-FR"/>
            </a:br>
            <a:r>
              <a:rPr lang="fr-FR"/>
              <a:t>- face extérieure est recouverte par le tégument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b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.  L’ apophyse  mastoïde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1" name="Google Shape;231;p13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1925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Desktop\slide_8.jpg" id="232" name="Google Shape;2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86200"/>
            <a:ext cx="434340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8176_269_347-right-temporal-bone-medial-view.jpg" id="233" name="Google Shape;23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344" y="990600"/>
            <a:ext cx="4341256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f682b01591081c105ce6d4a728d5f2d3.jpg" id="234" name="Google Shape;23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9696" y="2290762"/>
            <a:ext cx="3879504" cy="350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 txBox="1"/>
          <p:nvPr>
            <p:ph type="title"/>
          </p:nvPr>
        </p:nvSpPr>
        <p:spPr>
          <a:xfrm>
            <a:off x="304800" y="228600"/>
            <a:ext cx="838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rbel"/>
              <a:buNone/>
            </a:pPr>
            <a:r>
              <a:rPr b="1" lang="fr-FR"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c.  La trompe d’Eustache</a:t>
            </a:r>
            <a:r>
              <a:rPr b="1" lang="fr-FR">
                <a:latin typeface="Corbel"/>
                <a:ea typeface="Corbel"/>
                <a:cs typeface="Corbel"/>
                <a:sym typeface="Corbel"/>
              </a:rPr>
              <a:t> </a:t>
            </a:r>
            <a:br>
              <a:rPr lang="fr-FR"/>
            </a:br>
            <a:endParaRPr/>
          </a:p>
        </p:txBody>
      </p:sp>
      <p:sp>
        <p:nvSpPr>
          <p:cNvPr id="240" name="Google Shape;240;p14"/>
          <p:cNvSpPr txBox="1"/>
          <p:nvPr>
            <p:ph idx="1" type="body"/>
          </p:nvPr>
        </p:nvSpPr>
        <p:spPr>
          <a:xfrm>
            <a:off x="381000" y="838200"/>
            <a:ext cx="87630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899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un conduit osteo-fibro-cartilagineux   relie la partie antérieure de la caisse du tympan→  </a:t>
            </a:r>
            <a:r>
              <a:rPr lang="fr-FR">
                <a:solidFill>
                  <a:srgbClr val="FFC000"/>
                </a:solidFill>
              </a:rPr>
              <a:t>rhino-pharynx</a:t>
            </a:r>
            <a:r>
              <a:rPr lang="fr-FR"/>
              <a:t> </a:t>
            </a:r>
            <a:endParaRPr/>
          </a:p>
          <a:p>
            <a:pPr indent="-342899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forme - deux cônes tronqués rejoints par leurs sommets, l’isthme ; cône postéro-externe, tympanique, osseuse / cône antéro-interne, pharyngé, fibro-cartilagineuse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95000"/>
              <a:buFont typeface="Arial"/>
              <a:buNone/>
            </a:pPr>
            <a:r>
              <a:rPr lang="fr-FR"/>
              <a:t>    </a:t>
            </a:r>
            <a:r>
              <a:rPr b="1" lang="fr-FR">
                <a:solidFill>
                  <a:srgbClr val="FFC000"/>
                </a:solidFill>
              </a:rPr>
              <a:t>→</a:t>
            </a:r>
            <a:r>
              <a:rPr lang="fr-FR"/>
              <a:t>    une fonction equipresive et de drainage assuré  par l’ouverture de l’orifice pharyngée lors de la déglutition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241" name="Google Shape;2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810000"/>
            <a:ext cx="56388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trompe_eustache.gif" id="242" name="Google Shape;2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781425"/>
            <a:ext cx="2857500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 txBox="1"/>
          <p:nvPr>
            <p:ph type="title"/>
          </p:nvPr>
        </p:nvSpPr>
        <p:spPr>
          <a:xfrm>
            <a:off x="381000" y="152400"/>
            <a:ext cx="83058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   2. L’oreille interne</a:t>
            </a:r>
            <a:br>
              <a:rPr lang="fr-FR" sz="3600">
                <a:latin typeface="Corbel"/>
                <a:ea typeface="Corbel"/>
                <a:cs typeface="Corbel"/>
                <a:sym typeface="Corbel"/>
              </a:rPr>
            </a:b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8" name="Google Shape;248;p15"/>
          <p:cNvSpPr txBox="1"/>
          <p:nvPr>
            <p:ph idx="1" type="body"/>
          </p:nvPr>
        </p:nvSpPr>
        <p:spPr>
          <a:xfrm>
            <a:off x="457200" y="9144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/>
              <a:t>Il est situé dans le rocher du temporelle à l’intérieur des cavités creusées dans l’os rocheux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/>
              <a:t> le labyrinthe membraneux au niveau des organes neuro-sensorielles auditifs et vestibulaires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Desktop\Oreille-Meniere.jpg" id="249" name="Google Shape;2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3962400"/>
            <a:ext cx="655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/>
          <p:nvPr>
            <p:ph type="title"/>
          </p:nvPr>
        </p:nvSpPr>
        <p:spPr>
          <a:xfrm>
            <a:off x="381000" y="228600"/>
            <a:ext cx="830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2.  L’ oreille interne</a:t>
            </a:r>
            <a:br>
              <a:rPr lang="fr-FR"/>
            </a:br>
            <a:endParaRPr/>
          </a:p>
        </p:txBody>
      </p:sp>
      <p:sp>
        <p:nvSpPr>
          <p:cNvPr id="255" name="Google Shape;255;p16"/>
          <p:cNvSpPr txBox="1"/>
          <p:nvPr>
            <p:ph idx="1" type="body"/>
          </p:nvPr>
        </p:nvSpPr>
        <p:spPr>
          <a:xfrm>
            <a:off x="609600" y="990600"/>
            <a:ext cx="81534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le labyrinthe osseux </a:t>
            </a:r>
            <a:r>
              <a:rPr lang="fr-FR">
                <a:solidFill>
                  <a:srgbClr val="FFC000"/>
                </a:solidFill>
              </a:rPr>
              <a:t>- </a:t>
            </a:r>
            <a:r>
              <a:rPr lang="fr-FR" u="sng">
                <a:solidFill>
                  <a:srgbClr val="FFC000"/>
                </a:solidFill>
              </a:rPr>
              <a:t>le vestibule </a:t>
            </a:r>
            <a:r>
              <a:rPr lang="fr-FR" u="sng"/>
              <a:t>(</a:t>
            </a:r>
            <a:r>
              <a:rPr lang="fr-FR"/>
              <a:t>cavité centrale)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 la paroi externe du vestibule s’ouvert </a:t>
            </a:r>
            <a:r>
              <a:rPr lang="fr-FR" u="sng">
                <a:solidFill>
                  <a:srgbClr val="FFC000"/>
                </a:solidFill>
              </a:rPr>
              <a:t>la fenêtre ovale</a:t>
            </a:r>
            <a:r>
              <a:rPr lang="fr-FR">
                <a:solidFill>
                  <a:srgbClr val="FFC000"/>
                </a:solidFill>
              </a:rPr>
              <a:t> 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l’antérieure - un tube tordu appelé la </a:t>
            </a:r>
            <a:r>
              <a:rPr lang="fr-FR" u="sng">
                <a:solidFill>
                  <a:srgbClr val="FFC000"/>
                </a:solidFill>
              </a:rPr>
              <a:t>cochlée</a:t>
            </a:r>
            <a:r>
              <a:rPr lang="fr-FR">
                <a:solidFill>
                  <a:srgbClr val="FFC000"/>
                </a:solidFill>
              </a:rPr>
              <a:t> ou </a:t>
            </a:r>
            <a:r>
              <a:rPr lang="fr-FR" u="sng">
                <a:solidFill>
                  <a:srgbClr val="FFC000"/>
                </a:solidFill>
              </a:rPr>
              <a:t>escargot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- la paroi antérieure – 3  canaux semi-circulaires (frontal, sagittal, horizontal)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 l’organe de Corti </a:t>
            </a:r>
            <a:r>
              <a:rPr lang="fr-FR"/>
              <a:t>- cellules ciliées neuro-sensorielles auditives mises à 4 rangs. Les terminaisons nerveuses cochléaires entourent les cellules basales auditives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∙    </a:t>
            </a:r>
            <a:r>
              <a:rPr lang="fr-FR" u="sng"/>
              <a:t>la périlymphe </a:t>
            </a:r>
            <a:r>
              <a:rPr lang="fr-FR"/>
              <a:t>- entre le labyrinthe osseux et le labyrinthe membraneux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∙   </a:t>
            </a:r>
            <a:r>
              <a:rPr lang="fr-FR" u="sng"/>
              <a:t> l’endolymphe </a:t>
            </a:r>
            <a:r>
              <a:rPr lang="fr-FR"/>
              <a:t>- dans les cavités du labyrinthe membraneux</a:t>
            </a:r>
            <a:endParaRPr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 txBox="1"/>
          <p:nvPr>
            <p:ph type="title"/>
          </p:nvPr>
        </p:nvSpPr>
        <p:spPr>
          <a:xfrm>
            <a:off x="457200" y="152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2. L’ oreille interne</a:t>
            </a:r>
            <a:br>
              <a:rPr lang="fr-FR" sz="3600"/>
            </a:br>
            <a:endParaRPr sz="3600"/>
          </a:p>
        </p:txBody>
      </p:sp>
      <p:pic>
        <p:nvPicPr>
          <p:cNvPr id="261" name="Google Shape;2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066800"/>
            <a:ext cx="4955337" cy="419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800" y="685800"/>
            <a:ext cx="3429000" cy="3270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8800" y="4038600"/>
            <a:ext cx="35052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2.  L’ oreille interne</a:t>
            </a:r>
            <a:br>
              <a:rPr lang="fr-FR"/>
            </a:br>
            <a:endParaRPr/>
          </a:p>
        </p:txBody>
      </p:sp>
      <p:pic>
        <p:nvPicPr>
          <p:cNvPr descr="C:\Users\Alex\Desktop\Vestibule.png" id="269" name="Google Shape;2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219200"/>
            <a:ext cx="472440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cel_cil.gif" id="270" name="Google Shape;2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467225"/>
            <a:ext cx="495300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schcoch.jpg" id="271" name="Google Shape;2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5401" y="2227148"/>
            <a:ext cx="4038600" cy="2725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/>
          <p:nvPr>
            <p:ph type="title"/>
          </p:nvPr>
        </p:nvSpPr>
        <p:spPr>
          <a:xfrm>
            <a:off x="609600" y="381000"/>
            <a:ext cx="8077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LE  SEGMENT  CENTRAL</a:t>
            </a:r>
            <a:br>
              <a:rPr lang="fr-FR" sz="3600"/>
            </a:br>
            <a:endParaRPr sz="3600"/>
          </a:p>
        </p:txBody>
      </p:sp>
      <p:sp>
        <p:nvSpPr>
          <p:cNvPr id="277" name="Google Shape;277;p19"/>
          <p:cNvSpPr txBox="1"/>
          <p:nvPr>
            <p:ph idx="1" type="body"/>
          </p:nvPr>
        </p:nvSpPr>
        <p:spPr>
          <a:xfrm>
            <a:off x="457200" y="10668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▪"/>
            </a:pPr>
            <a:r>
              <a:rPr lang="fr-FR"/>
              <a:t> </a:t>
            </a:r>
            <a:r>
              <a:rPr b="1" lang="fr-FR" sz="2400">
                <a:solidFill>
                  <a:srgbClr val="FFC000"/>
                </a:solidFill>
              </a:rPr>
              <a:t>Le protoneurone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/>
              <a:t>     </a:t>
            </a:r>
            <a:r>
              <a:rPr lang="fr-FR" sz="2400"/>
              <a:t>les cellules sensorielles de l’organe de Corti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Char char="▪"/>
            </a:pPr>
            <a:r>
              <a:rPr b="1" lang="fr-FR" sz="2400">
                <a:solidFill>
                  <a:srgbClr val="FFC000"/>
                </a:solidFill>
              </a:rPr>
              <a:t>Le deutoneurone</a:t>
            </a:r>
            <a:r>
              <a:rPr lang="fr-FR" sz="24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le tronc cérébral (le sillon bulbopontine)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des noyaux cochléaires dorsales et ventrales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Char char="▪"/>
            </a:pPr>
            <a:r>
              <a:rPr b="1" lang="fr-FR" sz="2400">
                <a:solidFill>
                  <a:srgbClr val="FFC000"/>
                </a:solidFill>
              </a:rPr>
              <a:t>Le 3e neurone</a:t>
            </a:r>
            <a:r>
              <a:rPr lang="fr-FR" sz="2400">
                <a:solidFill>
                  <a:srgbClr val="FFC000"/>
                </a:solidFill>
              </a:rPr>
              <a:t> </a:t>
            </a:r>
            <a:r>
              <a:rPr lang="fr-FR" sz="2400"/>
              <a:t>- le corps géniculé interne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Char char="▪"/>
            </a:pPr>
            <a:r>
              <a:rPr b="1" lang="fr-FR" sz="2400">
                <a:solidFill>
                  <a:srgbClr val="FFC000"/>
                </a:solidFill>
              </a:rPr>
              <a:t>Centre cortical de l’analyseur auditif</a:t>
            </a:r>
            <a:r>
              <a:rPr lang="fr-FR" sz="2400">
                <a:solidFill>
                  <a:srgbClr val="FFC000"/>
                </a:solidFill>
              </a:rPr>
              <a:t>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l’aire Heschl,  la première circonvolution temporelle </a:t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br>
              <a:rPr b="1" lang="fr-FR" sz="3600"/>
            </a:br>
            <a:r>
              <a:rPr b="1" lang="fr-FR" sz="3600"/>
              <a:t>LE  SEGMENT  CENTRAL</a:t>
            </a:r>
            <a:endParaRPr sz="3600"/>
          </a:p>
        </p:txBody>
      </p:sp>
      <p:pic>
        <p:nvPicPr>
          <p:cNvPr descr="C:\Users\Alex\Desktop\Voies-Auditives-Centrales-550x550.jpg" id="283" name="Google Shape;2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1" y="2133600"/>
            <a:ext cx="3727036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image036.gif" id="284" name="Google Shape;2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2133600"/>
            <a:ext cx="4371975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LE  SEGMENT  CENTRAL</a:t>
            </a:r>
            <a:endParaRPr sz="3600"/>
          </a:p>
        </p:txBody>
      </p:sp>
      <p:pic>
        <p:nvPicPr>
          <p:cNvPr descr="17-29_1.jpg                                                    000004D0Sarah                          B9D5FA8B:" id="290" name="Google Shape;290;p21"/>
          <p:cNvPicPr preferRelativeResize="0"/>
          <p:nvPr/>
        </p:nvPicPr>
        <p:blipFill rotWithShape="1">
          <a:blip r:embed="rId3">
            <a:alphaModFix/>
          </a:blip>
          <a:srcRect b="2999" l="0" r="0" t="0"/>
          <a:stretch/>
        </p:blipFill>
        <p:spPr>
          <a:xfrm>
            <a:off x="1447800" y="1447800"/>
            <a:ext cx="6019800" cy="5063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"/>
          <p:cNvSpPr txBox="1"/>
          <p:nvPr>
            <p:ph type="title"/>
          </p:nvPr>
        </p:nvSpPr>
        <p:spPr>
          <a:xfrm>
            <a:off x="457200" y="3048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rbel"/>
              <a:buNone/>
            </a:pPr>
            <a:r>
              <a:rPr b="1" lang="fr-FR"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lang="fr-FR" sz="3600"/>
              <a:t>PHYSIOLOGIE DE L’ OUÏE</a:t>
            </a:r>
            <a:endParaRPr sz="3600"/>
          </a:p>
        </p:txBody>
      </p:sp>
      <p:sp>
        <p:nvSpPr>
          <p:cNvPr id="296" name="Google Shape;296;p22"/>
          <p:cNvSpPr txBox="1"/>
          <p:nvPr>
            <p:ph idx="1" type="body"/>
          </p:nvPr>
        </p:nvSpPr>
        <p:spPr>
          <a:xfrm>
            <a:off x="457200" y="838200"/>
            <a:ext cx="8458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1. </a:t>
            </a:r>
            <a:r>
              <a:rPr b="1" i="1" lang="fr-FR" sz="1800">
                <a:solidFill>
                  <a:srgbClr val="FFC000"/>
                </a:solidFill>
              </a:rPr>
              <a:t>Oreille externe 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Collecte, concentre et conduit les ondes sonores →la membrane tympanique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i="1" lang="fr-FR" sz="1800">
                <a:solidFill>
                  <a:srgbClr val="FFC000"/>
                </a:solidFill>
              </a:rPr>
              <a:t>2. Oreille moyenne 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Membrane tympanique vibre sous la pression des ondes sonores → chaîne osiculaire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Char char="▪"/>
            </a:pPr>
            <a:r>
              <a:rPr lang="fr-FR" sz="1800"/>
              <a:t>amplificateur de pression  transforme un mouvement  ↑amplitude / ↓pressions  </a:t>
            </a:r>
            <a:r>
              <a:rPr b="1" lang="fr-FR" sz="1800">
                <a:solidFill>
                  <a:srgbClr val="FFC000"/>
                </a:solidFill>
              </a:rPr>
              <a:t>→ </a:t>
            </a:r>
            <a:r>
              <a:rPr lang="fr-FR" sz="1800"/>
              <a:t>↓amplitude ↑pression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Char char="▪"/>
            </a:pPr>
            <a:r>
              <a:rPr lang="fr-FR" sz="1800"/>
              <a:t> une récupération des pertes d’énergie  → au passage des ondes sonores  (milieu gazeux de l’air)  →(milieu liquide)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Char char="▪"/>
            </a:pPr>
            <a:r>
              <a:rPr lang="fr-FR" sz="1800"/>
              <a:t> 3 mécanismes  réalise la récupération d’énergie :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- </a:t>
            </a:r>
            <a:r>
              <a:rPr i="1" lang="fr-FR" sz="1800"/>
              <a:t>le rapport hydraulique</a:t>
            </a:r>
            <a:r>
              <a:rPr lang="fr-FR" sz="1800"/>
              <a:t>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/>
              <a:t>        - la chaîne osiculaire</a:t>
            </a:r>
            <a:r>
              <a:rPr lang="fr-FR" sz="1800"/>
              <a:t>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- </a:t>
            </a:r>
            <a:r>
              <a:rPr i="1" lang="fr-FR" sz="1800"/>
              <a:t>le déphasage</a:t>
            </a:r>
            <a:r>
              <a:rPr lang="fr-FR" sz="1800"/>
              <a:t>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l’onde sonore arrive plus vite à la fenêtre ovale par l’intermède de la chaîne osiculaire  que la fenêtre ronde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l’onde sonore arrive à une d’entre les fenêtres dans la phase +, à l’autre fenêtre dans une phase −ou vice versa.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"/>
          <p:cNvSpPr txBox="1"/>
          <p:nvPr>
            <p:ph type="title"/>
          </p:nvPr>
        </p:nvSpPr>
        <p:spPr>
          <a:xfrm>
            <a:off x="533400" y="228600"/>
            <a:ext cx="81534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PHYSIOLOGIE  DE  L’ OUÏE</a:t>
            </a:r>
            <a:br>
              <a:rPr lang="fr-FR" sz="3600"/>
            </a:br>
            <a:endParaRPr sz="3600"/>
          </a:p>
        </p:txBody>
      </p:sp>
      <p:sp>
        <p:nvSpPr>
          <p:cNvPr id="302" name="Google Shape;302;p23"/>
          <p:cNvSpPr txBox="1"/>
          <p:nvPr>
            <p:ph idx="1" type="body"/>
          </p:nvPr>
        </p:nvSpPr>
        <p:spPr>
          <a:xfrm>
            <a:off x="533400" y="1143000"/>
            <a:ext cx="8610600" cy="6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b="1" i="1" lang="fr-FR" sz="2400">
                <a:solidFill>
                  <a:srgbClr val="FFC000"/>
                </a:solidFill>
              </a:rPr>
              <a:t>3. L’oreille interne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∙ reçoit l’onde sonore par la fenêtre ovale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la vibration de la platine de l’étrier → la péri lymphe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les mouvements → canal cochléaire→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∙ </a:t>
            </a:r>
            <a:r>
              <a:rPr lang="fr-FR" sz="2400">
                <a:solidFill>
                  <a:srgbClr val="FFC000"/>
                </a:solidFill>
              </a:rPr>
              <a:t>l’organe de Corti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les cellules auditives ciliées(m. bioélectriques) convertisse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l’énergie mécanique des ondes sonores → influx nerveux 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∙  </a:t>
            </a:r>
            <a:r>
              <a:rPr lang="fr-FR" sz="2400">
                <a:solidFill>
                  <a:srgbClr val="FFC000"/>
                </a:solidFill>
              </a:rPr>
              <a:t>n. auditif </a:t>
            </a:r>
            <a:r>
              <a:rPr lang="fr-FR" sz="2400"/>
              <a:t>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∙ </a:t>
            </a:r>
            <a:r>
              <a:rPr lang="fr-FR" sz="2400">
                <a:solidFill>
                  <a:srgbClr val="FFC000"/>
                </a:solidFill>
              </a:rPr>
              <a:t>cortex </a:t>
            </a:r>
            <a:r>
              <a:rPr lang="fr-FR" sz="2400"/>
              <a:t>→ phénomènes psychosensoriels d’intégration et de décodage du message sonore</a:t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t/>
            </a:r>
            <a:endParaRPr/>
          </a:p>
        </p:txBody>
      </p:sp>
      <p:pic>
        <p:nvPicPr>
          <p:cNvPr descr="&#10;17-28ad_1.jpg                                                  000004D0Sarah                          B9D5FA8B:" id="308" name="Google Shape;308;p24"/>
          <p:cNvPicPr preferRelativeResize="0"/>
          <p:nvPr/>
        </p:nvPicPr>
        <p:blipFill rotWithShape="1">
          <a:blip r:embed="rId3">
            <a:alphaModFix/>
          </a:blip>
          <a:srcRect b="4642" l="0" r="0" t="0"/>
          <a:stretch/>
        </p:blipFill>
        <p:spPr>
          <a:xfrm>
            <a:off x="609600" y="304800"/>
            <a:ext cx="6212794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3886200"/>
            <a:ext cx="67818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"/>
          <p:cNvSpPr txBox="1"/>
          <p:nvPr>
            <p:ph type="title"/>
          </p:nvPr>
        </p:nvSpPr>
        <p:spPr>
          <a:xfrm>
            <a:off x="304800" y="228600"/>
            <a:ext cx="83820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PHYSIOLOGIE  DE  L’ OUÏE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5" name="Google Shape;315;p25"/>
          <p:cNvSpPr txBox="1"/>
          <p:nvPr>
            <p:ph idx="1" type="body"/>
          </p:nvPr>
        </p:nvSpPr>
        <p:spPr>
          <a:xfrm>
            <a:off x="609600" y="1371600"/>
            <a:ext cx="8077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i="1" lang="fr-FR">
                <a:solidFill>
                  <a:srgbClr val="FFC000"/>
                </a:solidFill>
              </a:rPr>
              <a:t>4. Trompe d’Eustache</a:t>
            </a:r>
            <a:r>
              <a:rPr b="1" i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/>
              <a:t> rôle de maintenir l’air de la caisse du tympan à le même niveau de pression avec celui de l’environnement extérieur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/>
              <a:t> ventilation et le drainage →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  l’ouverture de l’orifice pharyngée de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  la trompe</a:t>
            </a:r>
            <a:r>
              <a:rPr b="1" i="1" lang="fr-FR"/>
              <a:t> </a:t>
            </a:r>
            <a:r>
              <a:rPr lang="fr-FR"/>
              <a:t>au cours de chaque déglutition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 txBox="1"/>
          <p:nvPr>
            <p:ph type="title"/>
          </p:nvPr>
        </p:nvSpPr>
        <p:spPr>
          <a:xfrm>
            <a:off x="533400" y="228600"/>
            <a:ext cx="80772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L’ audiogramme - limites normales</a:t>
            </a:r>
            <a:br>
              <a:rPr lang="fr-FR"/>
            </a:br>
            <a:endParaRPr/>
          </a:p>
        </p:txBody>
      </p:sp>
      <p:pic>
        <p:nvPicPr>
          <p:cNvPr id="321" name="Google Shape;321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295400"/>
            <a:ext cx="5715000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4953000"/>
            <a:ext cx="586740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"/>
          <p:cNvSpPr txBox="1"/>
          <p:nvPr>
            <p:ph type="title"/>
          </p:nvPr>
        </p:nvSpPr>
        <p:spPr>
          <a:xfrm>
            <a:off x="533400" y="304800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SYNDROMES  AUDITIFS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C:\Users\Alex\Desktop\Fig_4.png" id="328" name="Google Shape;3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799"/>
            <a:ext cx="4281488" cy="4029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1735265173.jpg" id="329" name="Google Shape;32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514599"/>
            <a:ext cx="4343400" cy="3722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 txBox="1"/>
          <p:nvPr>
            <p:ph type="title"/>
          </p:nvPr>
        </p:nvSpPr>
        <p:spPr>
          <a:xfrm>
            <a:off x="609600" y="381000"/>
            <a:ext cx="8763000" cy="1045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1.LES  SYNDROMES  AUDITIFS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5" name="Google Shape;335;p28"/>
          <p:cNvSpPr txBox="1"/>
          <p:nvPr>
            <p:ph idx="1" type="body"/>
          </p:nvPr>
        </p:nvSpPr>
        <p:spPr>
          <a:xfrm>
            <a:off x="304800" y="1143000"/>
            <a:ext cx="9067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b="1" lang="fr-FR" sz="2800">
                <a:solidFill>
                  <a:srgbClr val="FFC000"/>
                </a:solidFill>
              </a:rPr>
              <a:t>HYPOACOUSIE</a:t>
            </a:r>
            <a:r>
              <a:rPr b="1" lang="fr-FR" sz="2800" u="sng">
                <a:solidFill>
                  <a:srgbClr val="FFC000"/>
                </a:solidFill>
              </a:rPr>
              <a:t> ( </a:t>
            </a:r>
            <a:r>
              <a:rPr b="1" lang="fr-FR" sz="2800">
                <a:solidFill>
                  <a:srgbClr val="FFC000"/>
                </a:solidFill>
              </a:rPr>
              <a:t>surdité 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la diminution de l’acuité auditive unilatérale / bilatéral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l’anacousie ou cofose -  l’ouïe  complète perdue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>
                <a:solidFill>
                  <a:srgbClr val="FFC000"/>
                </a:solidFill>
              </a:rPr>
              <a:t>Le  mécanisme de production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hypoacousie  de </a:t>
            </a:r>
            <a:r>
              <a:rPr i="1" lang="fr-FR" sz="2400"/>
              <a:t>transmission</a:t>
            </a:r>
            <a:endParaRPr i="1"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hypoacousie </a:t>
            </a:r>
            <a:r>
              <a:rPr i="1" lang="fr-FR" sz="2400"/>
              <a:t> neuro-sensorielles </a:t>
            </a:r>
            <a:endParaRPr i="1"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i="1" lang="fr-FR" sz="2400"/>
              <a:t> </a:t>
            </a:r>
            <a:r>
              <a:rPr lang="fr-FR" sz="2400"/>
              <a:t>hypoacousie</a:t>
            </a:r>
            <a:r>
              <a:rPr i="1" lang="fr-FR" sz="2400"/>
              <a:t>  mixte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 </a:t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762000" y="304800"/>
            <a:ext cx="80772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orbel"/>
              <a:buNone/>
            </a:pPr>
            <a:r>
              <a:rPr b="1" lang="fr-FR" sz="36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rPr>
              <a:t>Hypoacousie  de  transmission</a:t>
            </a:r>
            <a:endParaRPr sz="3600">
              <a:solidFill>
                <a:schemeClr val="lt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457200" y="83820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Suppose un endommagement de la transmission des ondes sonores au niveau de l’oreille externe  /  l’oreille moyenne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Le patient entend sa propre voix plus forte </a:t>
            </a:r>
            <a:r>
              <a:rPr b="1" lang="fr-FR">
                <a:solidFill>
                  <a:srgbClr val="FFC000"/>
                </a:solidFill>
              </a:rPr>
              <a:t>(autophonie), </a:t>
            </a:r>
            <a:r>
              <a:rPr lang="fr-FR"/>
              <a:t>de sorte qu’il </a:t>
            </a:r>
            <a:r>
              <a:rPr lang="fr-FR">
                <a:solidFill>
                  <a:srgbClr val="FFC000"/>
                </a:solidFill>
              </a:rPr>
              <a:t>parle plus bas</a:t>
            </a:r>
            <a:r>
              <a:rPr lang="fr-FR"/>
              <a:t>, et il </a:t>
            </a:r>
            <a:r>
              <a:rPr lang="fr-FR">
                <a:solidFill>
                  <a:srgbClr val="FFC000"/>
                </a:solidFill>
              </a:rPr>
              <a:t>entend mieux dans un environnement bruyant</a:t>
            </a:r>
            <a:r>
              <a:rPr lang="fr-FR"/>
              <a:t>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hypoacousie de transmission ne doit pas dépasser &lt;  60 dB,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au-dessus de cette intensité, patient perçoit le son directement à l’oreille interne.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342" name="Google Shape;3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4456029"/>
            <a:ext cx="4038600" cy="224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0"/>
          <p:cNvSpPr txBox="1"/>
          <p:nvPr>
            <p:ph type="title"/>
          </p:nvPr>
        </p:nvSpPr>
        <p:spPr>
          <a:xfrm>
            <a:off x="381000" y="304800"/>
            <a:ext cx="8305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orbel"/>
              <a:buNone/>
            </a:pPr>
            <a:r>
              <a:rPr b="1" lang="fr-FR" sz="32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rPr>
              <a:t>Hypoacousie  de  transmission</a:t>
            </a:r>
            <a:endParaRPr sz="3200">
              <a:solidFill>
                <a:schemeClr val="lt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8" name="Google Shape;348;p30"/>
          <p:cNvSpPr txBox="1"/>
          <p:nvPr>
            <p:ph idx="1" type="body"/>
          </p:nvPr>
        </p:nvSpPr>
        <p:spPr>
          <a:xfrm>
            <a:off x="304800" y="1295400"/>
            <a:ext cx="9067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Étiologie 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 u="sng">
                <a:solidFill>
                  <a:srgbClr val="FFC000"/>
                </a:solidFill>
              </a:rPr>
              <a:t>Le conduit auditif externe</a:t>
            </a:r>
            <a:r>
              <a:rPr lang="fr-FR" sz="1600">
                <a:solidFill>
                  <a:srgbClr val="FFC000"/>
                </a:solidFill>
              </a:rPr>
              <a:t> :                                                                      </a:t>
            </a:r>
            <a:r>
              <a:rPr b="1" lang="fr-FR" sz="1600" u="sng">
                <a:solidFill>
                  <a:srgbClr val="FFC000"/>
                </a:solidFill>
              </a:rPr>
              <a:t>La chaîne osiculaire</a:t>
            </a:r>
            <a:r>
              <a:rPr lang="fr-FR" sz="1600"/>
              <a:t>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- atrésie et sténoses                                                                               - immobilisation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-  corps étrangers                                                                                     - otosclérose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 - inflammation aigu                                                                               - otite fibro-adhésives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- furoncles                                                                                                   - interruption traumatique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 - otite externe aiguë diffuse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 - tumeurs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 u="sng">
                <a:solidFill>
                  <a:srgbClr val="FFC000"/>
                </a:solidFill>
              </a:rPr>
              <a:t>La membrane tympanique</a:t>
            </a:r>
            <a:r>
              <a:rPr b="1" lang="fr-FR" sz="1600">
                <a:solidFill>
                  <a:srgbClr val="FFC000"/>
                </a:solidFill>
              </a:rPr>
              <a:t> </a:t>
            </a:r>
            <a:r>
              <a:rPr lang="fr-FR" sz="1600">
                <a:solidFill>
                  <a:srgbClr val="FFC000"/>
                </a:solidFill>
              </a:rPr>
              <a:t>:                                                                    </a:t>
            </a:r>
            <a:r>
              <a:rPr b="1" lang="fr-FR" sz="1600" u="sng">
                <a:solidFill>
                  <a:srgbClr val="FFC000"/>
                </a:solidFill>
              </a:rPr>
              <a:t> Les variations de pression de l’air</a:t>
            </a:r>
            <a:endParaRPr sz="1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 -  perforations postotitique                                                                 - le dysfonctionnement tubaire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 -  séquelles postotitique ou post-traumatique                              - barotraumatismes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 - rétractions ou des immobilisations </a:t>
            </a:r>
            <a:br>
              <a:rPr lang="fr-FR" sz="1600"/>
            </a:br>
            <a:r>
              <a:rPr lang="fr-FR" sz="1600"/>
              <a:t> - otites catarrhales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  - otites fibro-adésives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t/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br>
              <a:rPr lang="fr-FR" sz="1400"/>
            </a:b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br>
              <a:rPr lang="fr-FR" sz="1400"/>
            </a:br>
            <a:r>
              <a:rPr lang="fr-FR" sz="1400"/>
              <a:t> </a:t>
            </a:r>
            <a:br>
              <a:rPr lang="fr-FR" sz="1400"/>
            </a:br>
            <a:endParaRPr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 txBox="1"/>
          <p:nvPr>
            <p:ph type="title"/>
          </p:nvPr>
        </p:nvSpPr>
        <p:spPr>
          <a:xfrm>
            <a:off x="457200" y="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Hypoacousie  neuro-sensorielles </a:t>
            </a: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(</a:t>
            </a: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de perception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)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4" name="Google Shape;354;p31"/>
          <p:cNvSpPr txBox="1"/>
          <p:nvPr>
            <p:ph idx="1" type="body"/>
          </p:nvPr>
        </p:nvSpPr>
        <p:spPr>
          <a:xfrm>
            <a:off x="609600" y="1219200"/>
            <a:ext cx="8077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>
                <a:solidFill>
                  <a:srgbClr val="FFC000"/>
                </a:solidFill>
              </a:rPr>
              <a:t>hypoacousie neuro-sensorielles périphérique cochléaire</a:t>
            </a:r>
            <a:r>
              <a:rPr lang="fr-FR">
                <a:solidFill>
                  <a:srgbClr val="FFC000"/>
                </a:solidFill>
              </a:rPr>
              <a:t>- </a:t>
            </a:r>
            <a:r>
              <a:rPr lang="fr-FR"/>
              <a:t>Une dépréciation de l’oreille interne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>
                <a:solidFill>
                  <a:srgbClr val="FFC000"/>
                </a:solidFill>
              </a:rPr>
              <a:t>hypoacousie neuro-sensorielles périphérique radiculaire</a:t>
            </a:r>
            <a:r>
              <a:rPr lang="fr-FR">
                <a:solidFill>
                  <a:srgbClr val="FFC000"/>
                </a:solidFill>
              </a:rPr>
              <a:t>- </a:t>
            </a:r>
            <a:r>
              <a:rPr lang="fr-FR"/>
              <a:t>transmission erronée de l’influx nerveux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>
                <a:solidFill>
                  <a:srgbClr val="FFC000"/>
                </a:solidFill>
              </a:rPr>
              <a:t>hypoacousie neuro-sensorielles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i="1" lang="fr-FR">
                <a:solidFill>
                  <a:srgbClr val="FFC000"/>
                </a:solidFill>
              </a:rPr>
              <a:t>central </a:t>
            </a:r>
            <a:r>
              <a:rPr lang="fr-FR"/>
              <a:t>l’intégration corticale incorrecte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Les patients n’entendent pas bien leur propre voix, la sonnerie du téléphone, les sons aigus   →parlent plus fort</a:t>
            </a:r>
            <a:endParaRPr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/>
          <p:nvPr>
            <p:ph type="title"/>
          </p:nvPr>
        </p:nvSpPr>
        <p:spPr>
          <a:xfrm>
            <a:off x="533400" y="228600"/>
            <a:ext cx="8610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Hypoacousie neuro - sensorielles </a:t>
            </a: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(</a:t>
            </a: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de  perception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)</a:t>
            </a:r>
            <a:br>
              <a:rPr lang="fr-FR" sz="3600"/>
            </a:br>
            <a:endParaRPr sz="3600"/>
          </a:p>
        </p:txBody>
      </p:sp>
      <p:sp>
        <p:nvSpPr>
          <p:cNvPr id="360" name="Google Shape;360;p32"/>
          <p:cNvSpPr txBox="1"/>
          <p:nvPr>
            <p:ph idx="1" type="body"/>
          </p:nvPr>
        </p:nvSpPr>
        <p:spPr>
          <a:xfrm>
            <a:off x="914400" y="2438400"/>
            <a:ext cx="7772400" cy="391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361" name="Google Shape;36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1828800"/>
            <a:ext cx="4829175" cy="2616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600" y="4495800"/>
            <a:ext cx="33528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/>
          <p:nvPr>
            <p:ph type="title"/>
          </p:nvPr>
        </p:nvSpPr>
        <p:spPr>
          <a:xfrm>
            <a:off x="533400" y="0"/>
            <a:ext cx="86106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Hypoacousie  neuro - sensorielles </a:t>
            </a: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(</a:t>
            </a: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de  perception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)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8" name="Google Shape;368;p33"/>
          <p:cNvSpPr txBox="1"/>
          <p:nvPr>
            <p:ph idx="1" type="body"/>
          </p:nvPr>
        </p:nvSpPr>
        <p:spPr>
          <a:xfrm>
            <a:off x="457200" y="1066800"/>
            <a:ext cx="82296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i="1" lang="fr-FR" sz="5100">
                <a:solidFill>
                  <a:srgbClr val="FFC000"/>
                </a:solidFill>
              </a:rPr>
              <a:t>Étiologie </a:t>
            </a:r>
            <a:endParaRPr sz="5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800">
                <a:solidFill>
                  <a:srgbClr val="FFC000"/>
                </a:solidFill>
              </a:rPr>
              <a:t>Hypoacousie neuro-sensorielles périphérique cochléaire</a:t>
            </a:r>
            <a:r>
              <a:rPr i="1" lang="fr-FR" sz="3800">
                <a:solidFill>
                  <a:srgbClr val="FFC000"/>
                </a:solidFill>
              </a:rPr>
              <a:t> 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- traumatismes mécaniques de l’oreille interne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- commotion labyrinthique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- fractures labyrinthiques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- labyrinthite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- ototoxicose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- traumatismes sonneurs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- presbyacousie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-  syndrome de Ménière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800">
                <a:solidFill>
                  <a:srgbClr val="FFC000"/>
                </a:solidFill>
              </a:rPr>
              <a:t>Hypoacousie neuro-sensorielle périphérique radiculaire</a:t>
            </a:r>
            <a:r>
              <a:rPr i="1" lang="fr-FR" sz="3800">
                <a:solidFill>
                  <a:srgbClr val="FFC000"/>
                </a:solidFill>
              </a:rPr>
              <a:t> 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- méningo-névrites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- neurolabyrinthites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- arachnoïdites ponto-cérébelleuses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- zona du nerf acoustique vestibulaire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-  tumeurs du nerf acoustique (neurinome)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- compression du nerf acoustique par des tumeurs de voisinage.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800">
                <a:solidFill>
                  <a:srgbClr val="FFC000"/>
                </a:solidFill>
              </a:rPr>
              <a:t>Hypoacousie neuro-sensorielle centrale </a:t>
            </a:r>
            <a:endParaRPr b="1" i="1"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   -affections du système nerveux central</a:t>
            </a:r>
            <a:endParaRPr sz="3300"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 txBox="1"/>
          <p:nvPr>
            <p:ph type="title"/>
          </p:nvPr>
        </p:nvSpPr>
        <p:spPr>
          <a:xfrm>
            <a:off x="533400" y="512064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Hypoacousie</a:t>
            </a:r>
            <a:r>
              <a:rPr i="1" lang="fr-FR" sz="3200">
                <a:latin typeface="Corbel"/>
                <a:ea typeface="Corbel"/>
                <a:cs typeface="Corbel"/>
                <a:sym typeface="Corbel"/>
              </a:rPr>
              <a:t>  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mixte</a:t>
            </a:r>
            <a:br>
              <a:rPr lang="fr-FR" sz="3600"/>
            </a:br>
            <a:r>
              <a:rPr lang="fr-FR"/>
              <a:t> </a:t>
            </a:r>
            <a:br>
              <a:rPr lang="fr-FR"/>
            </a:br>
            <a:endParaRPr/>
          </a:p>
        </p:txBody>
      </p:sp>
      <p:sp>
        <p:nvSpPr>
          <p:cNvPr id="374" name="Google Shape;374;p34"/>
          <p:cNvSpPr txBox="1"/>
          <p:nvPr>
            <p:ph idx="1" type="body"/>
          </p:nvPr>
        </p:nvSpPr>
        <p:spPr>
          <a:xfrm>
            <a:off x="914400" y="1828800"/>
            <a:ext cx="77724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hypoacousie</a:t>
            </a:r>
            <a:r>
              <a:rPr i="1" lang="fr-FR"/>
              <a:t> de </a:t>
            </a:r>
            <a:r>
              <a:rPr lang="fr-FR"/>
              <a:t>transmission  </a:t>
            </a:r>
            <a:r>
              <a:rPr b="1" lang="fr-FR">
                <a:solidFill>
                  <a:srgbClr val="FFC000"/>
                </a:solidFill>
              </a:rPr>
              <a:t>+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hypoacousie</a:t>
            </a:r>
            <a:r>
              <a:rPr i="1" lang="fr-FR"/>
              <a:t> </a:t>
            </a:r>
            <a:r>
              <a:rPr lang="fr-FR"/>
              <a:t>neuro-sensorielle 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375" name="Google Shape;37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47800"/>
            <a:ext cx="50292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800" y="3733800"/>
            <a:ext cx="3336757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/>
          <p:cNvSpPr txBox="1"/>
          <p:nvPr>
            <p:ph type="title"/>
          </p:nvPr>
        </p:nvSpPr>
        <p:spPr>
          <a:xfrm>
            <a:off x="381000" y="0"/>
            <a:ext cx="83058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2. SYNDROME SENSITIF</a:t>
            </a:r>
            <a:r>
              <a:rPr b="1" lang="fr-FR" sz="3600"/>
              <a:t> </a:t>
            </a:r>
            <a:br>
              <a:rPr b="1" lang="fr-FR" sz="3600"/>
            </a:br>
            <a:endParaRPr sz="3600"/>
          </a:p>
        </p:txBody>
      </p:sp>
      <p:sp>
        <p:nvSpPr>
          <p:cNvPr id="382" name="Google Shape;382;p35"/>
          <p:cNvSpPr txBox="1"/>
          <p:nvPr>
            <p:ph idx="1" type="body"/>
          </p:nvPr>
        </p:nvSpPr>
        <p:spPr>
          <a:xfrm>
            <a:off x="304800" y="685800"/>
            <a:ext cx="8839200" cy="7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9464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3200"/>
          </a:p>
          <a:p>
            <a:pPr indent="-914400" lvl="0" marL="9829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 u="sng">
                <a:solidFill>
                  <a:srgbClr val="FFC000"/>
                </a:solidFill>
              </a:rPr>
              <a:t>a. Douleur otique - otalgie </a:t>
            </a:r>
            <a:endParaRPr b="1" sz="7200" u="sng">
              <a:solidFill>
                <a:srgbClr val="FFC000"/>
              </a:solidFill>
            </a:endParaRPr>
          </a:p>
          <a:p>
            <a:pPr indent="-742950" lvl="0" marL="8115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origine otique  /  otalgie réflexe → affections des organes de voisinage l’irradiation à l’oreille </a:t>
            </a:r>
            <a:endParaRPr/>
          </a:p>
          <a:p>
            <a:pPr indent="-742950" lvl="0" marL="8115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Otalgie  d’origine otique - caractère lancinant  / intensification nocturne, est associé  avec une hypoacousie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>
                <a:solidFill>
                  <a:srgbClr val="FFC000"/>
                </a:solidFill>
              </a:rPr>
              <a:t> </a:t>
            </a:r>
            <a:r>
              <a:rPr b="1" lang="fr-FR" sz="7200">
                <a:solidFill>
                  <a:srgbClr val="FFC000"/>
                </a:solidFill>
              </a:rPr>
              <a:t>Étiologie</a:t>
            </a:r>
            <a:r>
              <a:rPr b="1" lang="fr-FR" sz="7200"/>
              <a:t> </a:t>
            </a:r>
            <a:r>
              <a:rPr lang="fr-FR" sz="7200"/>
              <a:t>: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>
                <a:solidFill>
                  <a:srgbClr val="FFC000"/>
                </a:solidFill>
              </a:rPr>
              <a:t>Otalgie - d’origine otique</a:t>
            </a:r>
            <a:r>
              <a:rPr lang="fr-FR" sz="5600">
                <a:solidFill>
                  <a:srgbClr val="FFC000"/>
                </a:solidFill>
              </a:rPr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</a:t>
            </a:r>
            <a:r>
              <a:rPr i="1" lang="fr-FR" sz="5600" u="sng"/>
              <a:t>affections de l’oreille externe</a:t>
            </a:r>
            <a:r>
              <a:rPr i="1" lang="fr-FR" sz="5600"/>
              <a:t> </a:t>
            </a:r>
            <a:r>
              <a:rPr lang="fr-FR" sz="5600"/>
              <a:t>                                                                                                  </a:t>
            </a:r>
            <a:r>
              <a:rPr i="1" lang="fr-FR" sz="5600" u="sng"/>
              <a:t>affections de l’oreille moyenne</a:t>
            </a:r>
            <a:r>
              <a:rPr i="1" lang="fr-FR" sz="5600"/>
              <a:t>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- traumatismes du pavillon auriculaire/conduit auditif externe                                                 - traumatismes</a:t>
            </a:r>
            <a:endParaRPr/>
          </a:p>
          <a:p>
            <a:pPr indent="-342900" lvl="1" marL="41148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ct val="95000"/>
              <a:buNone/>
            </a:pPr>
            <a:r>
              <a:rPr lang="fr-FR" sz="5600"/>
              <a:t>   - corps étrangers auriculaires                                                                                                                    - otite moyenne aiguë </a:t>
            </a:r>
            <a:endParaRPr sz="5600"/>
          </a:p>
          <a:p>
            <a:pPr indent="-342900" lvl="1" marL="41148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ct val="95000"/>
              <a:buNone/>
            </a:pPr>
            <a:r>
              <a:rPr lang="fr-FR" sz="5600"/>
              <a:t>   - inflammation aiguë                                                                                                                                    - otomastoidite aiguë </a:t>
            </a:r>
            <a:endParaRPr sz="5600"/>
          </a:p>
          <a:p>
            <a:pPr indent="-342900" lvl="1" marL="41148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ct val="95000"/>
              <a:buNone/>
            </a:pPr>
            <a:r>
              <a:rPr lang="fr-FR" sz="5600"/>
              <a:t>   -  tumeurs                                                                                                                                                          -  tumeurs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 </a:t>
            </a:r>
            <a:r>
              <a:rPr lang="fr-FR" sz="7200" u="sng">
                <a:solidFill>
                  <a:srgbClr val="FFC000"/>
                </a:solidFill>
              </a:rPr>
              <a:t>Otalgie réflexe</a:t>
            </a:r>
            <a:r>
              <a:rPr lang="fr-FR" sz="7200">
                <a:solidFill>
                  <a:srgbClr val="FFC000"/>
                </a:solidFill>
              </a:rPr>
              <a:t>    </a:t>
            </a:r>
            <a:r>
              <a:rPr lang="fr-FR" sz="5600"/>
              <a:t>causée par les affections des organes de voisinage </a:t>
            </a:r>
            <a:br>
              <a:rPr lang="fr-FR" sz="5600"/>
            </a:br>
            <a:r>
              <a:rPr lang="fr-FR" sz="5600"/>
              <a:t>- </a:t>
            </a:r>
            <a:r>
              <a:rPr i="1" lang="fr-FR" sz="5600"/>
              <a:t> foyers infectieux dentaires</a:t>
            </a:r>
            <a:r>
              <a:rPr lang="fr-FR" sz="5600"/>
              <a:t> (dernières molaires)</a:t>
            </a:r>
            <a:br>
              <a:rPr lang="fr-FR" sz="5600"/>
            </a:br>
            <a:r>
              <a:rPr lang="fr-FR" sz="5600"/>
              <a:t>- </a:t>
            </a:r>
            <a:r>
              <a:rPr i="1" lang="fr-FR" sz="5600"/>
              <a:t>articulation temporo-mandibulaire </a:t>
            </a:r>
            <a:r>
              <a:rPr lang="fr-FR" sz="5600"/>
              <a:t>:- l’arthrite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                                              -  arthroses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- </a:t>
            </a:r>
            <a:r>
              <a:rPr i="1" lang="fr-FR" sz="5600"/>
              <a:t>inflammation aiguë du pharynx </a:t>
            </a:r>
            <a:r>
              <a:rPr lang="fr-FR" sz="5600"/>
              <a:t>: - angine aiguë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- </a:t>
            </a:r>
            <a:r>
              <a:rPr i="1" lang="fr-FR" sz="5600"/>
              <a:t>inflammation aiguë ou tumeur de la parotide </a:t>
            </a:r>
            <a:br>
              <a:rPr lang="fr-FR" sz="5600"/>
            </a:br>
            <a:r>
              <a:rPr lang="fr-FR" sz="5600"/>
              <a:t>- </a:t>
            </a:r>
            <a:r>
              <a:rPr i="1" lang="fr-FR" sz="5600"/>
              <a:t>affections</a:t>
            </a:r>
            <a:r>
              <a:rPr lang="fr-FR" sz="5600"/>
              <a:t> </a:t>
            </a:r>
            <a:r>
              <a:rPr i="1" lang="fr-FR" sz="5600"/>
              <a:t>de la colonne cervicale </a:t>
            </a:r>
            <a:r>
              <a:rPr lang="fr-FR" sz="5600"/>
              <a:t> - l’arthrose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                                             - névralgie Arnold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 u="sng">
                <a:solidFill>
                  <a:srgbClr val="FFC000"/>
                </a:solidFill>
              </a:rPr>
              <a:t>b. Hypoesthésie du conduit auditif externe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/>
              <a:t>          </a:t>
            </a:r>
            <a:r>
              <a:rPr lang="fr-FR" sz="5600"/>
              <a:t> paralysies du nerf  facial /  le neurinome d’acoustique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3.SYNDROME SÉCRÉTEUR</a:t>
            </a:r>
            <a:r>
              <a:rPr b="1" lang="fr-FR"/>
              <a:t> </a:t>
            </a:r>
            <a:endParaRPr/>
          </a:p>
        </p:txBody>
      </p:sp>
      <p:sp>
        <p:nvSpPr>
          <p:cNvPr id="388" name="Google Shape;388;p36"/>
          <p:cNvSpPr txBox="1"/>
          <p:nvPr>
            <p:ph idx="1" type="body"/>
          </p:nvPr>
        </p:nvSpPr>
        <p:spPr>
          <a:xfrm>
            <a:off x="381000" y="1066800"/>
            <a:ext cx="87630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63333"/>
              <a:buNone/>
            </a:pPr>
            <a:r>
              <a:rPr b="1" lang="fr-FR">
                <a:solidFill>
                  <a:srgbClr val="FFC000"/>
                </a:solidFill>
              </a:rPr>
              <a:t> </a:t>
            </a:r>
            <a:r>
              <a:rPr b="1" lang="fr-FR" sz="4500">
                <a:solidFill>
                  <a:srgbClr val="FFC000"/>
                </a:solidFill>
              </a:rPr>
              <a:t>l’oreille otorrhée </a:t>
            </a:r>
            <a:endParaRPr b="1" sz="4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800">
                <a:solidFill>
                  <a:srgbClr val="FFC000"/>
                </a:solidFill>
              </a:rPr>
              <a:t>Liquide clair („l’eau de rocher ”)</a:t>
            </a:r>
            <a:r>
              <a:rPr lang="fr-FR" sz="4400">
                <a:solidFill>
                  <a:srgbClr val="FFC000"/>
                </a:solidFill>
              </a:rPr>
              <a:t> </a:t>
            </a:r>
            <a:r>
              <a:rPr lang="fr-FR"/>
              <a:t>– liquide céphalorachidien  otolicvorhée - traumatismes  / fracture de la roche et l’ouverture de l’espace sous-arachnoïdien dans l’oreille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800">
                <a:solidFill>
                  <a:srgbClr val="FFC000"/>
                </a:solidFill>
              </a:rPr>
              <a:t>Muqueux ou mucopurulent</a:t>
            </a:r>
            <a:r>
              <a:rPr lang="fr-FR" sz="4400">
                <a:solidFill>
                  <a:srgbClr val="FFC000"/>
                </a:solidFill>
              </a:rPr>
              <a:t> </a:t>
            </a:r>
            <a:r>
              <a:rPr lang="fr-FR"/>
              <a:t>- otorrhée tubaire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800">
                <a:solidFill>
                  <a:srgbClr val="FFC000"/>
                </a:solidFill>
              </a:rPr>
              <a:t>Purulente</a:t>
            </a:r>
            <a:r>
              <a:rPr lang="fr-FR"/>
              <a:t> ( les plus courantes)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les corps étrangers négligés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furoncle drainé du conduit auditif externe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- ou otite moyenne aiguë suppurative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- otomastoïdites suppurées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∙ fétide (otite cholestéatomateuse)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∙ sanglante (polypes auriculaires, les tumeurs)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4400">
                <a:solidFill>
                  <a:srgbClr val="FFC000"/>
                </a:solidFill>
              </a:rPr>
              <a:t> </a:t>
            </a:r>
            <a:r>
              <a:rPr b="1" lang="fr-FR" sz="3800">
                <a:solidFill>
                  <a:srgbClr val="FFC000"/>
                </a:solidFill>
              </a:rPr>
              <a:t>L’otorragie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   </a:t>
            </a:r>
            <a:r>
              <a:rPr lang="fr-FR"/>
              <a:t>- une fuite de sang à travers le CAE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- traumatisme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- otite aiguë grippale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457200" y="3048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4.ACOUPHÈNES </a:t>
            </a:r>
            <a:br>
              <a:rPr lang="fr-FR" sz="3600"/>
            </a:br>
            <a:endParaRPr sz="3600"/>
          </a:p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04800" y="13716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i="1" lang="fr-FR" u="sng"/>
              <a:t> les sons perçus par le patient, pas provenir de l’extérieur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physiologique - bourdonnements dans les oreilles qui durent quelques sec. – min. et disparaissent spontanément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origine otique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origine psychique - l’épilepsie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syndromes hallucinatoires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♦"/>
            </a:pPr>
            <a:r>
              <a:rPr b="1" i="1" lang="fr-FR">
                <a:solidFill>
                  <a:srgbClr val="FFC000"/>
                </a:solidFill>
              </a:rPr>
              <a:t>acouphènes subjectifs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lang="fr-FR"/>
              <a:t>-  perçus uniquement par le patient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origine - la cochlée /  stations de relais jusqu’au cortex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♦"/>
            </a:pPr>
            <a:r>
              <a:rPr b="1" i="1" lang="fr-FR">
                <a:solidFill>
                  <a:srgbClr val="FFC000"/>
                </a:solidFill>
              </a:rPr>
              <a:t>acouphènes objectifs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lang="fr-FR"/>
              <a:t>-  perçus aussi par l’examinateur un stéthoscope sans capsule dans CAE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origine vasculaire (murmures) ou musculaires ( myoclonies)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L’ ANATOMIE  DU  SYSTÈME  VESTIBULAIRE</a:t>
            </a:r>
            <a:br>
              <a:rPr lang="fr-FR" sz="3200"/>
            </a:br>
            <a:endParaRPr sz="3200"/>
          </a:p>
        </p:txBody>
      </p:sp>
      <p:sp>
        <p:nvSpPr>
          <p:cNvPr id="400" name="Google Shape;400;p38"/>
          <p:cNvSpPr txBox="1"/>
          <p:nvPr>
            <p:ph idx="1" type="body"/>
          </p:nvPr>
        </p:nvSpPr>
        <p:spPr>
          <a:xfrm>
            <a:off x="914400" y="990600"/>
            <a:ext cx="7772400" cy="53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945"/>
              <a:buNone/>
            </a:pPr>
            <a:r>
              <a:rPr b="1" i="1" lang="fr-FR" sz="3100">
                <a:solidFill>
                  <a:srgbClr val="FFC000"/>
                </a:solidFill>
              </a:rPr>
              <a:t>Le</a:t>
            </a:r>
            <a:r>
              <a:rPr b="1" lang="fr-FR" sz="3100">
                <a:solidFill>
                  <a:srgbClr val="FFC000"/>
                </a:solidFill>
              </a:rPr>
              <a:t> </a:t>
            </a:r>
            <a:r>
              <a:rPr b="1" i="1" lang="fr-FR" sz="3100">
                <a:solidFill>
                  <a:srgbClr val="FFC000"/>
                </a:solidFill>
              </a:rPr>
              <a:t>segment périphérique</a:t>
            </a:r>
            <a:r>
              <a:rPr b="1" lang="fr-FR" sz="3100">
                <a:solidFill>
                  <a:srgbClr val="FFC000"/>
                </a:solidFill>
              </a:rPr>
              <a:t> </a:t>
            </a:r>
            <a:endParaRPr b="1" sz="3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- le vestibule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- le nerf vestibulaire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945"/>
              <a:buNone/>
            </a:pPr>
            <a:r>
              <a:rPr lang="fr-FR" sz="3100"/>
              <a:t> </a:t>
            </a:r>
            <a:r>
              <a:rPr b="1" i="1" lang="fr-FR" sz="3100">
                <a:solidFill>
                  <a:srgbClr val="FFC000"/>
                </a:solidFill>
              </a:rPr>
              <a:t>Le</a:t>
            </a:r>
            <a:r>
              <a:rPr b="1" lang="fr-FR" sz="3100">
                <a:solidFill>
                  <a:srgbClr val="FFC000"/>
                </a:solidFill>
              </a:rPr>
              <a:t> </a:t>
            </a:r>
            <a:r>
              <a:rPr b="1" i="1" lang="fr-FR" sz="3100">
                <a:solidFill>
                  <a:srgbClr val="FFC000"/>
                </a:solidFill>
              </a:rPr>
              <a:t>segment central</a:t>
            </a:r>
            <a:r>
              <a:rPr b="1" lang="fr-FR" sz="3100">
                <a:solidFill>
                  <a:srgbClr val="FFC000"/>
                </a:solidFill>
              </a:rPr>
              <a:t> </a:t>
            </a:r>
            <a:endParaRPr b="1" sz="3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- les noyaux vestibulaires du tronc cérébral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- les noyaux – les corpus médiaux géniculé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- le cortex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9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L’ ANATOMIE  DU  SYSTÈME  VESTIBULAIRE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6" name="Google Shape;406;p39"/>
          <p:cNvSpPr txBox="1"/>
          <p:nvPr>
            <p:ph idx="1" type="body"/>
          </p:nvPr>
        </p:nvSpPr>
        <p:spPr>
          <a:xfrm>
            <a:off x="914400" y="1371600"/>
            <a:ext cx="7772400" cy="498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Le segment périphérique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1. Le vestibule 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dans la cavité vestibulaire creusée dans la roche du temporal et se compose de</a:t>
            </a:r>
            <a:br>
              <a:rPr lang="fr-FR"/>
            </a:br>
            <a:r>
              <a:rPr lang="fr-FR"/>
              <a:t> </a:t>
            </a:r>
            <a:r>
              <a:rPr i="1" lang="fr-FR"/>
              <a:t>- </a:t>
            </a:r>
            <a:r>
              <a:rPr i="1" lang="fr-FR" u="sng"/>
              <a:t>l’utricule et le saccule</a:t>
            </a:r>
            <a:r>
              <a:rPr lang="fr-FR" u="sng"/>
              <a:t> </a:t>
            </a:r>
            <a:endParaRPr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i="1" lang="fr-FR"/>
              <a:t>     - </a:t>
            </a:r>
            <a:r>
              <a:rPr i="1" lang="fr-FR" u="sng"/>
              <a:t>les canaux semi-circulaires</a:t>
            </a:r>
            <a:endParaRPr u="sng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>
            <p:ph type="title"/>
          </p:nvPr>
        </p:nvSpPr>
        <p:spPr>
          <a:xfrm>
            <a:off x="381000" y="304800"/>
            <a:ext cx="83058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D6FF"/>
              </a:buClr>
              <a:buSzPts val="3200"/>
              <a:buFont typeface="Corbel"/>
              <a:buNone/>
            </a:pPr>
            <a:r>
              <a:rPr b="1" lang="fr-FR" sz="32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1. Le  vestibule</a:t>
            </a:r>
            <a:r>
              <a:rPr b="1" lang="fr-FR">
                <a:solidFill>
                  <a:srgbClr val="FFC000"/>
                </a:solidFill>
              </a:rPr>
              <a:t> </a:t>
            </a:r>
            <a:br>
              <a:rPr b="1" lang="fr-FR">
                <a:solidFill>
                  <a:srgbClr val="FFC000"/>
                </a:solidFill>
              </a:rPr>
            </a:br>
            <a:endParaRPr/>
          </a:p>
        </p:txBody>
      </p:sp>
      <p:sp>
        <p:nvSpPr>
          <p:cNvPr id="412" name="Google Shape;412;p40"/>
          <p:cNvSpPr txBox="1"/>
          <p:nvPr>
            <p:ph idx="1" type="body"/>
          </p:nvPr>
        </p:nvSpPr>
        <p:spPr>
          <a:xfrm>
            <a:off x="381000" y="1371600"/>
            <a:ext cx="8305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a. </a:t>
            </a:r>
            <a:r>
              <a:rPr b="1" i="1" lang="fr-FR">
                <a:solidFill>
                  <a:srgbClr val="FFC000"/>
                </a:solidFill>
              </a:rPr>
              <a:t>L’utricule et le saccule 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2 vésicules contenant l’endolymphe et qui flottent dans  la périlymphe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L’utricule </a:t>
            </a:r>
            <a:r>
              <a:rPr i="1" lang="fr-FR" sz="2000"/>
              <a:t>- </a:t>
            </a:r>
            <a:r>
              <a:rPr lang="fr-FR" sz="2000"/>
              <a:t>plus grande vésicule - </a:t>
            </a:r>
            <a:r>
              <a:rPr lang="fr-FR" sz="2000" u="sng">
                <a:solidFill>
                  <a:srgbClr val="FFC000"/>
                </a:solidFill>
              </a:rPr>
              <a:t>la macula</a:t>
            </a:r>
            <a:r>
              <a:rPr lang="fr-FR" sz="2000">
                <a:solidFill>
                  <a:srgbClr val="FFC000"/>
                </a:solidFill>
              </a:rPr>
              <a:t> </a:t>
            </a:r>
            <a:r>
              <a:rPr lang="fr-FR" sz="2000"/>
              <a:t>♦ une zone avec des cellules neuro sensorielles ciliées - recouverte d’une substance gélatineuse où flottent  – </a:t>
            </a:r>
            <a:r>
              <a:rPr lang="fr-FR" sz="2000" u="sng">
                <a:solidFill>
                  <a:srgbClr val="FFC000"/>
                </a:solidFill>
              </a:rPr>
              <a:t>les otolithes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excitée par la pression des otolithes sur les cils des cellules, par le mouvement d’ascension / descente (type ascenseur)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mouvement en avant /  en arrière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Le saccule</a:t>
            </a:r>
            <a:r>
              <a:rPr b="1" lang="fr-FR" sz="2000">
                <a:solidFill>
                  <a:srgbClr val="FFC000"/>
                </a:solidFill>
              </a:rPr>
              <a:t> </a:t>
            </a:r>
            <a:r>
              <a:rPr lang="fr-FR" sz="2000"/>
              <a:t>- plus petite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recueille des informations ∙ pour la position couchée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                                                      ∙ les mouvements de latéralité</a:t>
            </a:r>
            <a:endParaRPr sz="2000"/>
          </a:p>
          <a:p>
            <a:pPr indent="-22225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1"/>
          <p:cNvSpPr txBox="1"/>
          <p:nvPr>
            <p:ph type="title"/>
          </p:nvPr>
        </p:nvSpPr>
        <p:spPr>
          <a:xfrm>
            <a:off x="609600" y="304800"/>
            <a:ext cx="80772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D6FF"/>
              </a:buClr>
              <a:buSzPts val="3200"/>
              <a:buFont typeface="Corbel"/>
              <a:buNone/>
            </a:pPr>
            <a:r>
              <a:rPr b="1" lang="fr-FR" sz="32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1. Le vestibule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8" name="Google Shape;418;p41"/>
          <p:cNvSpPr txBox="1"/>
          <p:nvPr>
            <p:ph idx="1" type="body"/>
          </p:nvPr>
        </p:nvSpPr>
        <p:spPr>
          <a:xfrm>
            <a:off x="533400" y="12954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3135"/>
              <a:buNone/>
            </a:pPr>
            <a:r>
              <a:rPr b="1" lang="fr-FR" sz="3300">
                <a:solidFill>
                  <a:srgbClr val="FFC000"/>
                </a:solidFill>
              </a:rPr>
              <a:t>b. </a:t>
            </a:r>
            <a:r>
              <a:rPr b="1" i="1" lang="fr-FR" sz="3300">
                <a:solidFill>
                  <a:srgbClr val="FFC000"/>
                </a:solidFill>
              </a:rPr>
              <a:t>Canaux semi-circulaires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135"/>
              <a:buNone/>
            </a:pPr>
            <a:r>
              <a:t/>
            </a:r>
            <a:endParaRPr b="1"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lang="fr-FR" sz="2000"/>
              <a:t>3  situés dans les trois plans de l’espace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Char char="▪"/>
            </a:pPr>
            <a:r>
              <a:rPr lang="fr-FR" sz="2000"/>
              <a:t> horizontal ou externe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Char char="▪"/>
            </a:pPr>
            <a:r>
              <a:rPr lang="fr-FR" sz="2000"/>
              <a:t> verticale ou postérieure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Char char="▪"/>
            </a:pPr>
            <a:r>
              <a:rPr lang="fr-FR" sz="2000"/>
              <a:t> frontal ou antérieur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s’ouvrent avec les deux parties dans l’utricule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</a:t>
            </a:r>
            <a:r>
              <a:rPr b="1" i="1" lang="fr-FR" sz="2000" u="sng">
                <a:solidFill>
                  <a:srgbClr val="FFC000"/>
                </a:solidFill>
              </a:rPr>
              <a:t>l’ampoule  </a:t>
            </a:r>
            <a:r>
              <a:rPr lang="fr-FR" sz="2000"/>
              <a:t>extrémités dilatées  - cellules neurosensorielles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</a:t>
            </a:r>
            <a:r>
              <a:rPr lang="fr-FR" sz="2000" u="sng"/>
              <a:t>crête ampullaire - </a:t>
            </a:r>
            <a:r>
              <a:rPr lang="fr-FR" sz="2000"/>
              <a:t>recouvert par une substance gélatineuse qui obture le lumen du canal (</a:t>
            </a:r>
            <a:r>
              <a:rPr lang="fr-FR" sz="2000" u="sng"/>
              <a:t>cupule</a:t>
            </a:r>
            <a:r>
              <a:rPr lang="fr-FR" sz="2000"/>
              <a:t>)</a:t>
            </a:r>
            <a:endParaRPr sz="20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2. Le  nerf  vestibulaire</a:t>
            </a: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br>
              <a:rPr lang="fr-FR"/>
            </a:br>
            <a:endParaRPr/>
          </a:p>
        </p:txBody>
      </p:sp>
      <p:sp>
        <p:nvSpPr>
          <p:cNvPr id="424" name="Google Shape;424;p42"/>
          <p:cNvSpPr txBox="1"/>
          <p:nvPr>
            <p:ph idx="1" type="body"/>
          </p:nvPr>
        </p:nvSpPr>
        <p:spPr>
          <a:xfrm>
            <a:off x="381000" y="1447800"/>
            <a:ext cx="8763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lang="fr-FR" sz="2400"/>
              <a:t>constitué par des fibres des 5 éléments sensoriels vestibulaires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- macula utriculaire / séculaire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- 3 ampoules des canaux semi-circulaires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atteint le fond du conduit auditif interne, où se trouve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>
                <a:solidFill>
                  <a:srgbClr val="FFC000"/>
                </a:solidFill>
              </a:rPr>
              <a:t>le protoneurone de la voie vestibulaire </a:t>
            </a:r>
            <a:r>
              <a:rPr lang="fr-FR" sz="2400"/>
              <a:t>-  </a:t>
            </a:r>
            <a:r>
              <a:rPr lang="fr-FR" sz="2400">
                <a:solidFill>
                  <a:srgbClr val="FFC000"/>
                </a:solidFill>
              </a:rPr>
              <a:t>le ganglion de Scarpa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→ rejoint le n. cochléaire et  facial → traverse le conduit et l’espace pontocérébeleux →  </a:t>
            </a:r>
            <a:r>
              <a:rPr lang="fr-FR" sz="2400">
                <a:solidFill>
                  <a:srgbClr val="FFC000"/>
                </a:solidFill>
              </a:rPr>
              <a:t>tronc cérébral</a:t>
            </a:r>
            <a:endParaRPr sz="2400">
              <a:solidFill>
                <a:srgbClr val="FFC000"/>
              </a:solidFill>
            </a:endParaRPr>
          </a:p>
          <a:p>
            <a:pPr indent="-19812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3. </a:t>
            </a:r>
            <a:r>
              <a:rPr lang="fr-FR" sz="3200"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  segment  central </a:t>
            </a: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0" name="Google Shape;430;p43"/>
          <p:cNvSpPr txBox="1"/>
          <p:nvPr>
            <p:ph idx="1" type="body"/>
          </p:nvPr>
        </p:nvSpPr>
        <p:spPr>
          <a:xfrm>
            <a:off x="914400" y="1219200"/>
            <a:ext cx="77724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100">
                <a:solidFill>
                  <a:srgbClr val="FFC000"/>
                </a:solidFill>
              </a:rPr>
              <a:t>Le deutoneurone - II neurone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au niveau des noyaux vestibulaires bulbo-pontins qui présentent à leur tour 5 groupes de connexions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vestibulaire - spinales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vestibulaire - cérébelleuses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vestibulaire - vagales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vestibulaires - oculomoteurs (muscles oculomoteurs)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vestibulaire - opto – striées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100">
                <a:solidFill>
                  <a:srgbClr val="FFC000"/>
                </a:solidFill>
              </a:rPr>
              <a:t>Le troisième -III neurone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au niveau de corps géniculé interne, l’aire 21 temporel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avant l’aire auditive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/>
          <p:nvPr>
            <p:ph type="title"/>
          </p:nvPr>
        </p:nvSpPr>
        <p:spPr>
          <a:xfrm>
            <a:off x="381000" y="512064"/>
            <a:ext cx="922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PHYSIOLOGIE  DU  SYSTÈME  VESTIBULAIRE</a:t>
            </a:r>
            <a:br>
              <a:rPr lang="fr-FR" sz="3200"/>
            </a:br>
            <a:endParaRPr sz="3200"/>
          </a:p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457200" y="1371600"/>
            <a:ext cx="8229600" cy="498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analyseur vestibulaire  + la sensibilité profonde proprioceptive  + la fonction visuelle 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</a:t>
            </a:r>
            <a:r>
              <a:rPr lang="fr-FR">
                <a:solidFill>
                  <a:srgbClr val="FFC000"/>
                </a:solidFill>
              </a:rPr>
              <a:t>système de maintien de l’équilibre  + l’orientation spatiale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la position, le mouvement de la tête ou du corps – ne sont pas conscientes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le processus est en partie instinctif, cortex partiellement enseigné intègre les informations des deux vestibules + visuelles, proprioceptives, tactiles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l’appareil vestibulaire = </a:t>
            </a:r>
            <a:r>
              <a:rPr lang="fr-FR" u="sng"/>
              <a:t>une unité anatomique et fonctionnelle complexe</a:t>
            </a:r>
            <a:r>
              <a:rPr lang="fr-FR"/>
              <a:t>, les deux vestibules se trouvant dans un état ​​d’équilibre instable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/>
          <p:cNvSpPr txBox="1"/>
          <p:nvPr>
            <p:ph type="title"/>
          </p:nvPr>
        </p:nvSpPr>
        <p:spPr>
          <a:xfrm>
            <a:off x="457200" y="228600"/>
            <a:ext cx="8686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PHYSIOLOGIE  DU  SYSTÈME  VESTIBULAIRE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2" name="Google Shape;442;p45"/>
          <p:cNvSpPr txBox="1"/>
          <p:nvPr>
            <p:ph idx="1" type="body"/>
          </p:nvPr>
        </p:nvSpPr>
        <p:spPr>
          <a:xfrm>
            <a:off x="228600" y="1066800"/>
            <a:ext cx="9601200" cy="528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b="1" i="1" lang="fr-FR" sz="2400">
                <a:solidFill>
                  <a:srgbClr val="FFC000"/>
                </a:solidFill>
              </a:rPr>
              <a:t>les stimules physiologiques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i="1" lang="fr-FR" sz="2400">
                <a:solidFill>
                  <a:srgbClr val="FFC000"/>
                </a:solidFill>
              </a:rPr>
              <a:t> - </a:t>
            </a:r>
            <a:r>
              <a:rPr lang="fr-FR" sz="2400"/>
              <a:t> </a:t>
            </a:r>
            <a:r>
              <a:rPr i="1" lang="fr-FR" sz="2400"/>
              <a:t>la gravitation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i="1" lang="fr-FR" sz="2400"/>
              <a:t> -  l’accélération</a:t>
            </a:r>
            <a:r>
              <a:rPr lang="fr-FR" sz="2400"/>
              <a:t> centrifuge (la rotation de la tête et du corps)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i="1" lang="fr-FR" sz="2400"/>
              <a:t> - l’accélération linéaire</a:t>
            </a:r>
            <a:r>
              <a:rPr lang="fr-FR" sz="2400"/>
              <a:t> (se déplaçant verticalement ou horizontalement)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i="1" lang="fr-FR" sz="2400">
                <a:solidFill>
                  <a:srgbClr val="FFC000"/>
                </a:solidFill>
              </a:rPr>
              <a:t>les récepteurs vestibulaires </a:t>
            </a:r>
            <a:endParaRPr b="1" i="1"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- </a:t>
            </a:r>
            <a:r>
              <a:rPr i="1" lang="fr-FR" sz="2400" u="sng"/>
              <a:t>récepteurs statiques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- </a:t>
            </a:r>
            <a:r>
              <a:rPr i="1" lang="fr-FR" sz="2400" u="sng"/>
              <a:t>récepteurs cinématiques</a:t>
            </a:r>
            <a:endParaRPr sz="2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6"/>
          <p:cNvSpPr txBox="1"/>
          <p:nvPr>
            <p:ph type="title"/>
          </p:nvPr>
        </p:nvSpPr>
        <p:spPr>
          <a:xfrm>
            <a:off x="457200" y="512064"/>
            <a:ext cx="86868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PHYSIOLOGIE  DU  SYSTÈME  VESTIBULAIRE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8" name="Google Shape;448;p46"/>
          <p:cNvSpPr txBox="1"/>
          <p:nvPr>
            <p:ph idx="1" type="body"/>
          </p:nvPr>
        </p:nvSpPr>
        <p:spPr>
          <a:xfrm>
            <a:off x="457200" y="1371600"/>
            <a:ext cx="8534400" cy="498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l’épithélium neuro-sensorielle utricule / saccule  est stimulé par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- </a:t>
            </a:r>
            <a:r>
              <a:rPr i="1" lang="fr-FR" sz="2400">
                <a:solidFill>
                  <a:srgbClr val="FFC000"/>
                </a:solidFill>
              </a:rPr>
              <a:t>variations de position de la tête</a:t>
            </a:r>
            <a:r>
              <a:rPr lang="fr-FR" sz="2400">
                <a:solidFill>
                  <a:srgbClr val="FFC000"/>
                </a:solidFill>
              </a:rPr>
              <a:t> 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- </a:t>
            </a:r>
            <a:r>
              <a:rPr i="1" lang="fr-FR" sz="2400">
                <a:solidFill>
                  <a:srgbClr val="FFC000"/>
                </a:solidFill>
              </a:rPr>
              <a:t>mouvement d’ascension et de descente</a:t>
            </a:r>
            <a:r>
              <a:rPr lang="fr-FR" sz="2400">
                <a:solidFill>
                  <a:srgbClr val="FFC000"/>
                </a:solidFill>
              </a:rPr>
              <a:t> (type ascenseur) </a:t>
            </a:r>
            <a:r>
              <a:rPr lang="fr-FR" sz="2400"/>
              <a:t>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- </a:t>
            </a:r>
            <a:r>
              <a:rPr i="1" lang="fr-FR" sz="2400">
                <a:solidFill>
                  <a:srgbClr val="FFC000"/>
                </a:solidFill>
              </a:rPr>
              <a:t>mouvement rectiligne vers l’avant et à l’arrière</a:t>
            </a:r>
            <a:r>
              <a:rPr lang="fr-FR" sz="2400">
                <a:solidFill>
                  <a:srgbClr val="FFC000"/>
                </a:solidFill>
              </a:rPr>
              <a:t> </a:t>
            </a:r>
            <a:r>
              <a:rPr lang="fr-FR" sz="2400"/>
              <a:t>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- </a:t>
            </a:r>
            <a:r>
              <a:rPr i="1" lang="fr-FR" sz="2400">
                <a:solidFill>
                  <a:srgbClr val="FFC000"/>
                </a:solidFill>
              </a:rPr>
              <a:t>mouvement de la latéralité</a:t>
            </a:r>
            <a:r>
              <a:rPr lang="fr-FR" sz="2400">
                <a:solidFill>
                  <a:srgbClr val="FFC000"/>
                </a:solidFill>
              </a:rPr>
              <a:t> (de gauche à droite) </a:t>
            </a:r>
            <a:endParaRPr sz="2400">
              <a:solidFill>
                <a:srgbClr val="FFC000"/>
              </a:solidFill>
            </a:endParaRPr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/>
          <p:nvPr>
            <p:ph type="title"/>
          </p:nvPr>
        </p:nvSpPr>
        <p:spPr>
          <a:xfrm>
            <a:off x="457200" y="2286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PHYSIOLOGIE  DU  SYSTÈME  VESTIBULAIRE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4" name="Google Shape;454;p47"/>
          <p:cNvSpPr txBox="1"/>
          <p:nvPr>
            <p:ph idx="1" type="body"/>
          </p:nvPr>
        </p:nvSpPr>
        <p:spPr>
          <a:xfrm>
            <a:off x="457200" y="9906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b="1" lang="fr-FR" sz="2800">
                <a:solidFill>
                  <a:srgbClr val="FFC000"/>
                </a:solidFill>
              </a:rPr>
              <a:t>Canaux semi-circulaires</a:t>
            </a:r>
            <a:r>
              <a:rPr b="1" lang="fr-FR" sz="2400"/>
              <a:t>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 u="sng"/>
              <a:t>les deux vestibules sont en équilibre  →conditions normales</a:t>
            </a:r>
            <a:endParaRPr sz="2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ex.  une rotation de la tête horizontalement droite 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le liquide endolymphatique à cause de l’inertie se déplace → l’antérieure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le canal  horizontal droit ampoulipet (antérieure)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le gauche ampoulifugue (postérieure)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♦"/>
            </a:pPr>
            <a:r>
              <a:rPr lang="fr-FR" sz="2400"/>
              <a:t>le canal semi-circulaire horizontal  ampoulipet est excitant plus forte, un déséquilibre entre les deux vestibules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le droit → hypervalent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le gauche→ hypovalent</a:t>
            </a:r>
            <a:endParaRPr sz="2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8"/>
          <p:cNvSpPr txBox="1"/>
          <p:nvPr>
            <p:ph type="title"/>
          </p:nvPr>
        </p:nvSpPr>
        <p:spPr>
          <a:xfrm>
            <a:off x="457200" y="152400"/>
            <a:ext cx="82296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LES SYNDROMES VESTIBULAIRES</a:t>
            </a:r>
            <a:endParaRPr sz="3600"/>
          </a:p>
        </p:txBody>
      </p:sp>
      <p:sp>
        <p:nvSpPr>
          <p:cNvPr id="460" name="Google Shape;460;p48"/>
          <p:cNvSpPr txBox="1"/>
          <p:nvPr>
            <p:ph idx="1" type="body"/>
          </p:nvPr>
        </p:nvSpPr>
        <p:spPr>
          <a:xfrm>
            <a:off x="609600" y="1371600"/>
            <a:ext cx="85344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5100">
                <a:solidFill>
                  <a:srgbClr val="FFC000"/>
                </a:solidFill>
              </a:rPr>
              <a:t>1.</a:t>
            </a:r>
            <a:r>
              <a:rPr b="1" lang="fr-FR" sz="3500">
                <a:solidFill>
                  <a:srgbClr val="FFC000"/>
                </a:solidFill>
              </a:rPr>
              <a:t>VERTIGE</a:t>
            </a:r>
            <a:endParaRPr b="1" sz="3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Fausse sensation de mouvement des objets autour du patient ou vice-versa / une composante rotatoire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Diagnostic différentiel</a:t>
            </a:r>
            <a:r>
              <a:rPr lang="fr-FR"/>
              <a:t> 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∙  malaise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∙ évanouissement - „il paraît que j’ai de brume sur les yeux”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∙ „amollir mes pieds”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∙  </a:t>
            </a:r>
            <a:r>
              <a:rPr b="1" lang="fr-FR" u="sng"/>
              <a:t>Perte de connaissance (la conscience) exclut le  vertige</a:t>
            </a:r>
            <a:r>
              <a:rPr lang="fr-FR" u="sng"/>
              <a:t> </a:t>
            </a:r>
            <a:r>
              <a:rPr lang="fr-FR"/>
              <a:t>!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9"/>
          <p:cNvSpPr txBox="1"/>
          <p:nvPr>
            <p:ph type="title"/>
          </p:nvPr>
        </p:nvSpPr>
        <p:spPr>
          <a:xfrm>
            <a:off x="457200" y="512064"/>
            <a:ext cx="8229600" cy="7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LES SYNDROMES VESTIBULAIRES</a:t>
            </a:r>
            <a:endParaRPr sz="3600"/>
          </a:p>
        </p:txBody>
      </p:sp>
      <p:sp>
        <p:nvSpPr>
          <p:cNvPr id="466" name="Google Shape;466;p49"/>
          <p:cNvSpPr txBox="1"/>
          <p:nvPr>
            <p:ph idx="1" type="body"/>
          </p:nvPr>
        </p:nvSpPr>
        <p:spPr>
          <a:xfrm>
            <a:off x="381000" y="1371600"/>
            <a:ext cx="92202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2. TROUBLES DE L’ÉQUILIBRE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l’impossibilité de garder la ligne droite en marcher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la difficulté -de maintenir la position bipède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- de conserver la position assise</a:t>
            </a:r>
            <a:endParaRPr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3. </a:t>
            </a:r>
            <a:r>
              <a:rPr b="1" lang="fr-FR">
                <a:solidFill>
                  <a:srgbClr val="FFC000"/>
                </a:solidFill>
              </a:rPr>
              <a:t>SYMPTÔMES NEURO-SENSORIELLES VAGALES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     </a:t>
            </a:r>
            <a:r>
              <a:rPr lang="fr-FR"/>
              <a:t>nausées / vomissements / tachycardie / pâleur / anxiété/ 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malaise /   acouphènes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4. </a:t>
            </a:r>
            <a:r>
              <a:rPr b="1" lang="fr-FR">
                <a:solidFill>
                  <a:srgbClr val="FFC000"/>
                </a:solidFill>
              </a:rPr>
              <a:t>HYPOACOUSIE  ET  ACOUPHÈNES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symptômes ∙ de l’analyseur auditif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∙ du syndrome vestibulaire périphérique </a:t>
            </a:r>
            <a:endParaRPr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/>
          <p:nvPr>
            <p:ph type="title"/>
          </p:nvPr>
        </p:nvSpPr>
        <p:spPr>
          <a:xfrm>
            <a:off x="457200" y="228600"/>
            <a:ext cx="89916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MALFORMATIONS DE L’OREILLE EXTERNE</a:t>
            </a:r>
            <a:br>
              <a:rPr lang="fr-FR" sz="3200"/>
            </a:br>
            <a:endParaRPr sz="3200"/>
          </a:p>
        </p:txBody>
      </p:sp>
      <p:sp>
        <p:nvSpPr>
          <p:cNvPr id="472" name="Google Shape;472;p50"/>
          <p:cNvSpPr txBox="1"/>
          <p:nvPr>
            <p:ph idx="1" type="body"/>
          </p:nvPr>
        </p:nvSpPr>
        <p:spPr>
          <a:xfrm>
            <a:off x="457200" y="990600"/>
            <a:ext cx="5486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3040"/>
              <a:buNone/>
            </a:pPr>
            <a:r>
              <a:rPr lang="fr-FR" sz="3200"/>
              <a:t> </a:t>
            </a:r>
            <a:r>
              <a:rPr lang="fr-FR" sz="2000"/>
              <a:t>malformations congénitales  / acquises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isolées / associé - malformations de l’oreille moyenne / interne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 </a:t>
            </a:r>
            <a:r>
              <a:rPr b="1" lang="fr-FR" sz="2000">
                <a:solidFill>
                  <a:srgbClr val="FFC000"/>
                </a:solidFill>
              </a:rPr>
              <a:t>1. Les malformations du pavillon auriculaire :</a:t>
            </a:r>
            <a:endParaRPr sz="2000">
              <a:solidFill>
                <a:srgbClr val="FFC000"/>
              </a:solidFill>
            </a:endParaRPr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1900"/>
              <a:buAutoNum type="alphaLcPeriod"/>
            </a:pPr>
            <a:r>
              <a:rPr b="1" lang="fr-FR" sz="2000">
                <a:solidFill>
                  <a:srgbClr val="FFC000"/>
                </a:solidFill>
              </a:rPr>
              <a:t>L’annotie</a:t>
            </a:r>
            <a:r>
              <a:rPr lang="fr-FR" sz="2000">
                <a:solidFill>
                  <a:srgbClr val="FFC000"/>
                </a:solidFill>
              </a:rPr>
              <a:t> –</a:t>
            </a:r>
            <a:r>
              <a:rPr lang="fr-FR" sz="2000"/>
              <a:t> l’absence du pavillon ou son remplacement avec des bourgeons cartilagineux est fréquemment associée à une agénésie du conduit auditif externe ; traitement chirurgical appliqué pavillons en matière plastique.</a:t>
            </a:r>
            <a:endParaRPr sz="2000"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1900"/>
              <a:buAutoNum type="alphaLcPeriod"/>
            </a:pPr>
            <a:r>
              <a:rPr b="1" lang="fr-FR" sz="2000">
                <a:solidFill>
                  <a:srgbClr val="FFC000"/>
                </a:solidFill>
              </a:rPr>
              <a:t>La microtie</a:t>
            </a:r>
            <a:r>
              <a:rPr lang="fr-FR" sz="2000">
                <a:solidFill>
                  <a:srgbClr val="FFC000"/>
                </a:solidFill>
              </a:rPr>
              <a:t> </a:t>
            </a:r>
            <a:r>
              <a:rPr lang="fr-FR" sz="2000"/>
              <a:t>- pavillon est plus petit dans toutes ses dimensions.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 </a:t>
            </a:r>
            <a:endParaRPr sz="2000"/>
          </a:p>
        </p:txBody>
      </p:sp>
      <p:pic>
        <p:nvPicPr>
          <p:cNvPr id="473" name="Google Shape;47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4114800"/>
            <a:ext cx="23622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1233182"/>
            <a:ext cx="2314575" cy="2729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1"/>
          <p:cNvSpPr txBox="1"/>
          <p:nvPr>
            <p:ph type="title"/>
          </p:nvPr>
        </p:nvSpPr>
        <p:spPr>
          <a:xfrm>
            <a:off x="533400" y="228600"/>
            <a:ext cx="86106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MALFORMATIONS DE L’OREILLE EXTERNE</a:t>
            </a:r>
            <a:br>
              <a:rPr lang="fr-FR" sz="3600"/>
            </a:br>
            <a:endParaRPr/>
          </a:p>
        </p:txBody>
      </p:sp>
      <p:sp>
        <p:nvSpPr>
          <p:cNvPr id="480" name="Google Shape;480;p51"/>
          <p:cNvSpPr txBox="1"/>
          <p:nvPr>
            <p:ph idx="1" type="body"/>
          </p:nvPr>
        </p:nvSpPr>
        <p:spPr>
          <a:xfrm>
            <a:off x="381000" y="12954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82930" rtl="0" algn="l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b="1" lang="fr-FR" sz="2800">
                <a:solidFill>
                  <a:srgbClr val="FFC000"/>
                </a:solidFill>
              </a:rPr>
              <a:t>c. La macrotie</a:t>
            </a:r>
            <a:r>
              <a:rPr lang="fr-FR" sz="2800">
                <a:solidFill>
                  <a:srgbClr val="FFC000"/>
                </a:solidFill>
              </a:rPr>
              <a:t> </a:t>
            </a:r>
            <a:r>
              <a:rPr lang="fr-FR" sz="2800"/>
              <a:t>– l’augmentation ↑de tous les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diamètres du pavillon </a:t>
            </a:r>
            <a:endParaRPr sz="2800"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b="1" lang="fr-FR" sz="2800">
                <a:solidFill>
                  <a:srgbClr val="FFC000"/>
                </a:solidFill>
              </a:rPr>
              <a:t>d. Oreille en anse</a:t>
            </a:r>
            <a:r>
              <a:rPr lang="fr-FR" sz="2800">
                <a:solidFill>
                  <a:srgbClr val="FFC000"/>
                </a:solidFill>
              </a:rPr>
              <a:t> </a:t>
            </a:r>
            <a:r>
              <a:rPr lang="fr-FR" sz="2800"/>
              <a:t>- l’oreille décollée, l’oreille „nigaude”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caractérisé par l’augmentation de l’angle entre le pavillon et le crâne </a:t>
            </a:r>
            <a:endParaRPr sz="2800"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b="1" lang="fr-FR" sz="2800">
                <a:solidFill>
                  <a:srgbClr val="FFC000"/>
                </a:solidFill>
              </a:rPr>
              <a:t>e</a:t>
            </a:r>
            <a:r>
              <a:rPr b="1" lang="fr-FR" sz="2800"/>
              <a:t>.  </a:t>
            </a:r>
            <a:r>
              <a:rPr b="1" lang="fr-FR" sz="2800">
                <a:solidFill>
                  <a:srgbClr val="FFC000"/>
                </a:solidFill>
              </a:rPr>
              <a:t>Les fistules congénitales </a:t>
            </a:r>
            <a:r>
              <a:rPr lang="fr-FR" sz="2800"/>
              <a:t>- </a:t>
            </a:r>
            <a:r>
              <a:rPr b="1" lang="fr-FR" sz="2800" u="sng">
                <a:solidFill>
                  <a:srgbClr val="FFC000"/>
                </a:solidFill>
              </a:rPr>
              <a:t>coloboma auris</a:t>
            </a:r>
            <a:r>
              <a:rPr b="1" lang="fr-FR" sz="2800">
                <a:solidFill>
                  <a:srgbClr val="FFC000"/>
                </a:solidFill>
              </a:rPr>
              <a:t> </a:t>
            </a:r>
            <a:r>
              <a:rPr lang="fr-FR" sz="2800"/>
              <a:t>situées prétragien , ressemblent à un orifice pointiforme enflammé avec des granulations d’où s’écoule un liquide philanthe ou mucopurulent.</a:t>
            </a:r>
            <a:endParaRPr sz="28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875355"/>
            <a:ext cx="2362200" cy="2401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1186" y="919600"/>
            <a:ext cx="2206414" cy="23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3886200"/>
            <a:ext cx="2743200" cy="2298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86200" y="3886200"/>
            <a:ext cx="2438400" cy="22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2"/>
          <p:cNvSpPr/>
          <p:nvPr/>
        </p:nvSpPr>
        <p:spPr>
          <a:xfrm>
            <a:off x="457200" y="3244334"/>
            <a:ext cx="7391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                                                                             Oreille en anse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0" name="Google Shape;490;p52"/>
          <p:cNvSpPr/>
          <p:nvPr/>
        </p:nvSpPr>
        <p:spPr>
          <a:xfrm>
            <a:off x="3698203" y="3244334"/>
            <a:ext cx="488146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coloboma auris                                          la macrotie 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91" name="Google Shape;491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3886200"/>
            <a:ext cx="24384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3"/>
          <p:cNvSpPr txBox="1"/>
          <p:nvPr>
            <p:ph type="title"/>
          </p:nvPr>
        </p:nvSpPr>
        <p:spPr>
          <a:xfrm>
            <a:off x="381000" y="304800"/>
            <a:ext cx="8763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MALFORMATIONS DE L’OREILLE EXTERNE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7" name="Google Shape;497;p53"/>
          <p:cNvSpPr txBox="1"/>
          <p:nvPr>
            <p:ph idx="1" type="body"/>
          </p:nvPr>
        </p:nvSpPr>
        <p:spPr>
          <a:xfrm>
            <a:off x="381000" y="914400"/>
            <a:ext cx="8991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2. </a:t>
            </a:r>
            <a:r>
              <a:rPr b="1" lang="fr-FR" sz="2400">
                <a:solidFill>
                  <a:srgbClr val="FFC000"/>
                </a:solidFill>
              </a:rPr>
              <a:t>malformations du conduit auditif externe (CAE)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2280"/>
              <a:buAutoNum type="alphaLcPeriod"/>
            </a:pPr>
            <a:r>
              <a:rPr b="1" lang="fr-FR" sz="2400">
                <a:solidFill>
                  <a:srgbClr val="FFC000"/>
                </a:solidFill>
              </a:rPr>
              <a:t>L’atrésie du conduit</a:t>
            </a:r>
            <a:r>
              <a:rPr lang="fr-FR" sz="2400">
                <a:solidFill>
                  <a:srgbClr val="FFC000"/>
                </a:solidFill>
              </a:rPr>
              <a:t> 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membraneux  / osseuse associée à des malformations du pavillon et / ou de l’oreille moyenne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 traitement  chirurgical &gt; 12 ans</a:t>
            </a:r>
            <a:endParaRPr sz="2400"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/>
              <a:t> b</a:t>
            </a:r>
            <a:r>
              <a:rPr b="1" lang="fr-FR" sz="2400">
                <a:solidFill>
                  <a:srgbClr val="FFC000"/>
                </a:solidFill>
              </a:rPr>
              <a:t>.   Les sténoses du conduit</a:t>
            </a:r>
            <a:r>
              <a:rPr lang="fr-FR" sz="2400">
                <a:solidFill>
                  <a:srgbClr val="FFC000"/>
                </a:solidFill>
              </a:rPr>
              <a:t> 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congénital  / acquise à la suite de traumatismes (plaies, brûlures)</a:t>
            </a:r>
            <a:endParaRPr sz="2400"/>
          </a:p>
        </p:txBody>
      </p:sp>
      <p:pic>
        <p:nvPicPr>
          <p:cNvPr id="498" name="Google Shape;49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752" y="4648200"/>
            <a:ext cx="2691848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5200" y="4648200"/>
            <a:ext cx="2657764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4648200"/>
            <a:ext cx="2524417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4"/>
          <p:cNvSpPr txBox="1"/>
          <p:nvPr>
            <p:ph type="title"/>
          </p:nvPr>
        </p:nvSpPr>
        <p:spPr>
          <a:xfrm>
            <a:off x="381000" y="457200"/>
            <a:ext cx="906780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MALFORMATIONS DE L’OREILLE MOYENNE</a:t>
            </a:r>
            <a:br>
              <a:rPr lang="fr-FR" sz="3600"/>
            </a:br>
            <a:endParaRPr sz="3600"/>
          </a:p>
        </p:txBody>
      </p:sp>
      <p:sp>
        <p:nvSpPr>
          <p:cNvPr id="506" name="Google Shape;506;p54"/>
          <p:cNvSpPr txBox="1"/>
          <p:nvPr>
            <p:ph idx="1" type="body"/>
          </p:nvPr>
        </p:nvSpPr>
        <p:spPr>
          <a:xfrm>
            <a:off x="381000" y="1371600"/>
            <a:ext cx="9372600" cy="498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>
                <a:solidFill>
                  <a:srgbClr val="FFC000"/>
                </a:solidFill>
              </a:rPr>
              <a:t>Formes différentes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∙  aplasia minor » isolée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∙ hypoplasie, osselets déformés, absents ou fixés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∙ remplacement de la membrane tympanique avec un diaphragme osseux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5"/>
          <p:cNvSpPr txBox="1"/>
          <p:nvPr>
            <p:ph type="title"/>
          </p:nvPr>
        </p:nvSpPr>
        <p:spPr>
          <a:xfrm>
            <a:off x="381000" y="381000"/>
            <a:ext cx="8991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MALFORMATIONS  DE  L’ OREILLE  INTERNE</a:t>
            </a:r>
            <a:br>
              <a:rPr lang="fr-FR" sz="3600">
                <a:latin typeface="Corbel"/>
                <a:ea typeface="Corbel"/>
                <a:cs typeface="Corbel"/>
                <a:sym typeface="Corbel"/>
              </a:rPr>
            </a:b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2" name="Google Shape;512;p55"/>
          <p:cNvSpPr txBox="1"/>
          <p:nvPr>
            <p:ph idx="1" type="body"/>
          </p:nvPr>
        </p:nvSpPr>
        <p:spPr>
          <a:xfrm>
            <a:off x="152400" y="1524000"/>
            <a:ext cx="9220200" cy="483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totalement le labyrinthe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la dégénérescence de l’appareil nerveuse cochléaire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→ hypoacousie neuro-sensorielle secondaire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   cofose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6"/>
          <p:cNvSpPr txBox="1"/>
          <p:nvPr>
            <p:ph type="title"/>
          </p:nvPr>
        </p:nvSpPr>
        <p:spPr>
          <a:xfrm>
            <a:off x="381000" y="304800"/>
            <a:ext cx="8305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TRAUMATISMES DE L’OREILLE</a:t>
            </a:r>
            <a:endParaRPr sz="3600"/>
          </a:p>
        </p:txBody>
      </p:sp>
      <p:sp>
        <p:nvSpPr>
          <p:cNvPr id="518" name="Google Shape;518;p56"/>
          <p:cNvSpPr txBox="1"/>
          <p:nvPr>
            <p:ph idx="1" type="body"/>
          </p:nvPr>
        </p:nvSpPr>
        <p:spPr>
          <a:xfrm>
            <a:off x="685800" y="12192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500">
                <a:solidFill>
                  <a:srgbClr val="FFC000"/>
                </a:solidFill>
              </a:rPr>
              <a:t>Étiopathogénie </a:t>
            </a:r>
            <a:r>
              <a:rPr b="1" lang="fr-FR"/>
              <a:t> (</a:t>
            </a:r>
            <a:r>
              <a:rPr lang="fr-FR"/>
              <a:t> mécanisme de production)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 processus de toilette  ( bâtons d’oreille)</a:t>
            </a:r>
            <a:br>
              <a:rPr lang="fr-FR"/>
            </a:br>
            <a:r>
              <a:rPr lang="fr-FR"/>
              <a:t>-  accidents routiers </a:t>
            </a:r>
            <a:br>
              <a:rPr lang="fr-FR"/>
            </a:br>
            <a:r>
              <a:rPr lang="fr-FR"/>
              <a:t>-  agressions </a:t>
            </a:r>
            <a:br>
              <a:rPr lang="fr-FR"/>
            </a:br>
            <a:r>
              <a:rPr lang="fr-FR"/>
              <a:t>-  accidents sportifs </a:t>
            </a:r>
            <a:br>
              <a:rPr lang="fr-FR"/>
            </a:br>
            <a:r>
              <a:rPr lang="fr-FR"/>
              <a:t>-   accidents du travail </a:t>
            </a:r>
            <a:br>
              <a:rPr lang="fr-FR"/>
            </a:br>
            <a:r>
              <a:rPr lang="fr-FR"/>
              <a:t>-  chute de niveau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500">
                <a:solidFill>
                  <a:srgbClr val="FFC000"/>
                </a:solidFill>
              </a:rPr>
              <a:t>Classification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♦  mécanique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- plaies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- othematome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♦"/>
            </a:pPr>
            <a:r>
              <a:rPr lang="fr-FR"/>
              <a:t>physique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– la brûlure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- la gelure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♦     chimique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♦"/>
            </a:pPr>
            <a:r>
              <a:rPr lang="fr-FR"/>
              <a:t>barotraumatisme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♦"/>
            </a:pPr>
            <a:r>
              <a:rPr lang="fr-FR"/>
              <a:t> trauma sonore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View image information" id="519" name="Google Shape;5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2438400"/>
            <a:ext cx="22860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1" y="2466398"/>
            <a:ext cx="2133599" cy="309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7"/>
          <p:cNvSpPr txBox="1"/>
          <p:nvPr>
            <p:ph type="title"/>
          </p:nvPr>
        </p:nvSpPr>
        <p:spPr>
          <a:xfrm>
            <a:off x="304800" y="1524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TRAUMATISMES DE L’OREILLE EXTERNE</a:t>
            </a:r>
            <a:br>
              <a:rPr lang="fr-FR" sz="3600"/>
            </a:br>
            <a:endParaRPr sz="3600"/>
          </a:p>
        </p:txBody>
      </p:sp>
      <p:sp>
        <p:nvSpPr>
          <p:cNvPr id="526" name="Google Shape;526;p57"/>
          <p:cNvSpPr txBox="1"/>
          <p:nvPr>
            <p:ph idx="1" type="body"/>
          </p:nvPr>
        </p:nvSpPr>
        <p:spPr>
          <a:xfrm>
            <a:off x="228600" y="762000"/>
            <a:ext cx="89154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742950" lvl="0" marL="8115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1. Traumatismes du pavillon auriculaire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      </a:t>
            </a:r>
            <a:endParaRPr sz="3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a. </a:t>
            </a:r>
            <a:r>
              <a:rPr lang="fr-FR" sz="3600" u="sng">
                <a:solidFill>
                  <a:srgbClr val="FFC000"/>
                </a:solidFill>
              </a:rPr>
              <a:t>Les plaies du pavillon</a:t>
            </a:r>
            <a:r>
              <a:rPr lang="fr-FR" sz="3600">
                <a:solidFill>
                  <a:srgbClr val="FFC000"/>
                </a:solidFill>
              </a:rPr>
              <a:t> </a:t>
            </a:r>
            <a:endParaRPr sz="3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- coupés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- percées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- contussions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- écrasées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- mordues (Pseudomonas aeruginosa)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b. L’othematome</a:t>
            </a: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    </a:t>
            </a:r>
            <a:r>
              <a:rPr lang="fr-FR"/>
              <a:t> un accumulation sérosanguinolente  entre le cartilage et périchondre,1/2 supérieure du pavillon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</a:t>
            </a:r>
            <a:r>
              <a:rPr b="1" i="1" lang="fr-FR" u="sng"/>
              <a:t> evolution </a:t>
            </a:r>
            <a:r>
              <a:rPr lang="fr-FR"/>
              <a:t>- risque de surinfection / organiser une prolifération fibreuse → dommages esthétiques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</a:t>
            </a:r>
            <a:r>
              <a:rPr b="1" i="1" lang="fr-FR" u="sng"/>
              <a:t>traitement chirurgical </a:t>
            </a:r>
            <a:r>
              <a:rPr lang="fr-FR"/>
              <a:t>- évacuation du liquide, ponction/l’incision pansement compressif </a:t>
            </a:r>
            <a:endParaRPr/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527" name="Google Shape;5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2788" y="1524000"/>
            <a:ext cx="2081212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1524000"/>
            <a:ext cx="20574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/>
          <p:cNvSpPr txBox="1"/>
          <p:nvPr>
            <p:ph type="title"/>
          </p:nvPr>
        </p:nvSpPr>
        <p:spPr>
          <a:xfrm>
            <a:off x="457200" y="228600"/>
            <a:ext cx="845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TRAUMATISMES  DE  L’OREILLE  EXTERNE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4" name="Google Shape;534;p58"/>
          <p:cNvSpPr txBox="1"/>
          <p:nvPr>
            <p:ph idx="1" type="body"/>
          </p:nvPr>
        </p:nvSpPr>
        <p:spPr>
          <a:xfrm>
            <a:off x="381000" y="838200"/>
            <a:ext cx="8763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c.  Les gelures du pavillon </a:t>
            </a:r>
            <a:endParaRPr b="1" sz="3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une zone très exposée au froid → un spasme artériel→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lésions allant dès engelures de Ier degré →la nécrose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→ l’amputation (fragments touchées)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</a:t>
            </a:r>
            <a:r>
              <a:rPr b="1" lang="fr-FR" u="sng">
                <a:solidFill>
                  <a:srgbClr val="FFC000"/>
                </a:solidFill>
              </a:rPr>
              <a:t>traitement</a:t>
            </a:r>
            <a:r>
              <a:rPr lang="fr-FR"/>
              <a:t> - protéger avec  des pansements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ne pas introduire brusquement à haute température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ne  pas  frotter les pavillons gelés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2. Traumatismes du conduit auditif externe (CAE)</a:t>
            </a:r>
            <a:endParaRPr sz="3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traumatisme  mécanique : plaies contuses,  excoriations( cure-dents, allumettes, bâtons hygiène)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      </a:t>
            </a:r>
            <a:r>
              <a:rPr b="1" i="1" lang="fr-FR" u="sng">
                <a:solidFill>
                  <a:srgbClr val="FFC000"/>
                </a:solidFill>
              </a:rPr>
              <a:t>traitement</a:t>
            </a:r>
            <a:r>
              <a:rPr b="1" i="1" lang="fr-FR">
                <a:solidFill>
                  <a:srgbClr val="FFC000"/>
                </a:solidFill>
              </a:rPr>
              <a:t>   </a:t>
            </a:r>
            <a:r>
              <a:rPr lang="fr-FR"/>
              <a:t>toilette – l’aspiration locale, désinfectants applicables (alcool borique4 %)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9"/>
          <p:cNvSpPr txBox="1"/>
          <p:nvPr>
            <p:ph type="title"/>
          </p:nvPr>
        </p:nvSpPr>
        <p:spPr>
          <a:xfrm>
            <a:off x="304800" y="228600"/>
            <a:ext cx="88392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TRAUMATISMES  DE  L’OREILLE  EXTERNE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40" name="Google Shape;54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143000"/>
            <a:ext cx="24384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1143000"/>
            <a:ext cx="24384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9802" y="1143001"/>
            <a:ext cx="2438398" cy="251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886200"/>
            <a:ext cx="2362200" cy="262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52800" y="3886200"/>
            <a:ext cx="25146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0" y="3886200"/>
            <a:ext cx="23622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0"/>
          <p:cNvSpPr txBox="1"/>
          <p:nvPr>
            <p:ph type="title"/>
          </p:nvPr>
        </p:nvSpPr>
        <p:spPr>
          <a:xfrm>
            <a:off x="304800" y="228600"/>
            <a:ext cx="9220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TRAUMATISMES  DE  L’ OREILLE  MOYENNE</a:t>
            </a:r>
            <a:br>
              <a:rPr lang="fr-FR" sz="3200"/>
            </a:br>
            <a:endParaRPr sz="3200"/>
          </a:p>
        </p:txBody>
      </p:sp>
      <p:sp>
        <p:nvSpPr>
          <p:cNvPr id="551" name="Google Shape;551;p60"/>
          <p:cNvSpPr txBox="1"/>
          <p:nvPr>
            <p:ph idx="1" type="body"/>
          </p:nvPr>
        </p:nvSpPr>
        <p:spPr>
          <a:xfrm>
            <a:off x="381000" y="762000"/>
            <a:ext cx="85344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900">
                <a:solidFill>
                  <a:srgbClr val="FFC000"/>
                </a:solidFill>
              </a:rPr>
              <a:t>1. La rupture de la membrane tympanique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900">
                <a:solidFill>
                  <a:srgbClr val="FFC000"/>
                </a:solidFill>
              </a:rPr>
              <a:t> </a:t>
            </a:r>
            <a:r>
              <a:rPr b="1" lang="fr-FR" sz="3800" u="sng">
                <a:solidFill>
                  <a:srgbClr val="FFC000"/>
                </a:solidFill>
              </a:rPr>
              <a:t>Étiopathogénie </a:t>
            </a:r>
            <a:endParaRPr b="1" sz="3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une augmentation de la pression d’air dans CAE (coup de main sur l’oreille)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piquer par des objets pointus, aigus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 u="sng">
                <a:solidFill>
                  <a:srgbClr val="FFC000"/>
                </a:solidFill>
              </a:rPr>
              <a:t>Symptomatologie </a:t>
            </a:r>
            <a:endParaRPr b="1" sz="3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400"/>
              <a:t>  Subjectif </a:t>
            </a:r>
            <a:r>
              <a:rPr lang="fr-FR" sz="3400"/>
              <a:t>: douleur vivante suivie par l’acousmie, parfois vertiges,  acouphènes, otorragie minime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400"/>
              <a:t>   Objectif :</a:t>
            </a:r>
            <a:r>
              <a:rPr lang="fr-FR" sz="3400"/>
              <a:t> - sécrétion sanglante en CAE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            - perforation avec des bords réguliers ou non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 u="sng">
                <a:solidFill>
                  <a:srgbClr val="FFC000"/>
                </a:solidFill>
              </a:rPr>
              <a:t>Complication</a:t>
            </a:r>
            <a:r>
              <a:rPr lang="fr-FR" sz="34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l’infection = &gt; OM suppurative par la pénétration des germes dans l’oreille moyenne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 u="sng">
                <a:solidFill>
                  <a:srgbClr val="FFC000"/>
                </a:solidFill>
              </a:rPr>
              <a:t>Traitement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petites perforations &lt; 3 mm se ferment spontanément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premiers secours - pas de solution instillée dans l’oreille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antibiotiques, amoxicilline désinfection nasopharyngée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le patient  envoyer → spécialiste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800" u="sng">
                <a:solidFill>
                  <a:srgbClr val="FFC000"/>
                </a:solidFill>
              </a:rPr>
              <a:t>  Traitement</a:t>
            </a:r>
            <a:r>
              <a:rPr lang="fr-FR" sz="3800">
                <a:solidFill>
                  <a:srgbClr val="FFC000"/>
                </a:solidFill>
              </a:rPr>
              <a:t>  </a:t>
            </a:r>
            <a:r>
              <a:rPr lang="fr-FR" sz="3400"/>
              <a:t>– couverture de la perforation pellicule de cellophane adhésive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myringoplastie (aponévrose du muscle temporal ou tissu adipeux rétro-auriculaire)</a:t>
            </a:r>
            <a:endParaRPr sz="3400"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1"/>
          <p:cNvSpPr txBox="1"/>
          <p:nvPr>
            <p:ph type="title"/>
          </p:nvPr>
        </p:nvSpPr>
        <p:spPr>
          <a:xfrm>
            <a:off x="381000" y="228600"/>
            <a:ext cx="8305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TRAUMATISMES  DE  L’ OREILLE  MOYENNE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57" name="Google Shape;55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295400"/>
            <a:ext cx="3200400" cy="2442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1371600"/>
            <a:ext cx="31242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3999" y="3886200"/>
            <a:ext cx="313805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1"/>
          <p:cNvSpPr/>
          <p:nvPr/>
        </p:nvSpPr>
        <p:spPr>
          <a:xfrm>
            <a:off x="990600" y="3244334"/>
            <a:ext cx="564462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La rupture de la membrane tympanique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61" name="Google Shape;561;p61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799" y="3810000"/>
            <a:ext cx="3200401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2"/>
          <p:cNvSpPr txBox="1"/>
          <p:nvPr>
            <p:ph type="title"/>
          </p:nvPr>
        </p:nvSpPr>
        <p:spPr>
          <a:xfrm>
            <a:off x="533400" y="3048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TRAUMATISMES  DE  L’ OREILLE  MOYENNE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7" name="Google Shape;567;p62"/>
          <p:cNvSpPr txBox="1"/>
          <p:nvPr>
            <p:ph idx="1" type="body"/>
          </p:nvPr>
        </p:nvSpPr>
        <p:spPr>
          <a:xfrm>
            <a:off x="381000" y="914400"/>
            <a:ext cx="83820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2. </a:t>
            </a:r>
            <a:r>
              <a:rPr b="1" lang="fr-FR" sz="1800">
                <a:solidFill>
                  <a:srgbClr val="FFC000"/>
                </a:solidFill>
              </a:rPr>
              <a:t>Hémotimpan </a:t>
            </a:r>
            <a:endParaRPr b="1"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collection de sang dans  la caisse du tympan après des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traumatismes qui laisse le tympan intact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/>
              <a:t>  </a:t>
            </a:r>
            <a:r>
              <a:rPr b="1" lang="fr-FR" sz="1800" u="sng">
                <a:solidFill>
                  <a:srgbClr val="FFC000"/>
                </a:solidFill>
              </a:rPr>
              <a:t>Symptomatologie </a:t>
            </a:r>
            <a:endParaRPr sz="1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/>
              <a:t>  Subjectif</a:t>
            </a:r>
            <a:r>
              <a:rPr lang="fr-FR" sz="1800"/>
              <a:t> - douleur intense, sensation de tension dans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l’oreille, hypoacousie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/>
              <a:t>  Objectif</a:t>
            </a:r>
            <a:r>
              <a:rPr lang="fr-FR" sz="1800"/>
              <a:t> - tympan bleu, violacé, qui gonfle vers  CAE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/>
              <a:t>   </a:t>
            </a:r>
            <a:r>
              <a:rPr b="1" lang="fr-FR" sz="1800" u="sng">
                <a:solidFill>
                  <a:srgbClr val="FFC000"/>
                </a:solidFill>
              </a:rPr>
              <a:t>Traitement conservateur </a:t>
            </a:r>
            <a:r>
              <a:rPr lang="fr-FR" sz="1800"/>
              <a:t>- protection antibiotique, hémostatique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>
                <a:solidFill>
                  <a:srgbClr val="FFC000"/>
                </a:solidFill>
              </a:rPr>
              <a:t>   </a:t>
            </a:r>
            <a:r>
              <a:rPr b="1" lang="fr-FR" sz="1800" u="sng">
                <a:solidFill>
                  <a:srgbClr val="FFC000"/>
                </a:solidFill>
              </a:rPr>
              <a:t>Évolution</a:t>
            </a:r>
            <a:r>
              <a:rPr lang="fr-FR" sz="1800">
                <a:solidFill>
                  <a:srgbClr val="FFC000"/>
                </a:solidFill>
              </a:rPr>
              <a:t> </a:t>
            </a:r>
            <a:r>
              <a:rPr lang="fr-FR" sz="1800"/>
              <a:t>→la guérison est spontanée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3. Les traumatismes osiculaires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dislocation ou la fracture de la chaîne osiculaire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la luxation de l’enclume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la fracture du bras de l’étrier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i="1" lang="fr-FR" sz="1800" u="sng"/>
              <a:t>     symptôme -  hypoacousie de transmission</a:t>
            </a:r>
            <a:endParaRPr b="1" i="1" sz="1800" u="sng"/>
          </a:p>
        </p:txBody>
      </p:sp>
      <p:pic>
        <p:nvPicPr>
          <p:cNvPr id="568" name="Google Shape;56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143000"/>
            <a:ext cx="2743200" cy="2100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4343400"/>
            <a:ext cx="2743201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3"/>
          <p:cNvSpPr txBox="1"/>
          <p:nvPr>
            <p:ph type="title"/>
          </p:nvPr>
        </p:nvSpPr>
        <p:spPr>
          <a:xfrm>
            <a:off x="685800" y="512064"/>
            <a:ext cx="8001000" cy="1240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TRAUMATISMES DE L’OREILLE MOYENNE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5" name="Google Shape;575;p63"/>
          <p:cNvSpPr txBox="1"/>
          <p:nvPr>
            <p:ph idx="1" type="body"/>
          </p:nvPr>
        </p:nvSpPr>
        <p:spPr>
          <a:xfrm>
            <a:off x="457200" y="1447800"/>
            <a:ext cx="6019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4.Le barotraumatisme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200"/>
              <a:t>        changements soudains et significatifs dans la pression de l’environnement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200"/>
              <a:t>       la trompe d’Eustache le rôle equipresive - égaliser la pression d’air de la maison du tympan avec  CAE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200"/>
              <a:t>        aviateurs, plongeurs, nageurs sous-marins ; pendant la descente lors de la membrane tympanique est poussé→l’intérieur, l’étrier est poussé →labyrinthe →↑la pression des liquides dans  OI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200"/>
              <a:t>         </a:t>
            </a:r>
            <a:r>
              <a:rPr b="1" lang="fr-FR" sz="2200" u="sng">
                <a:solidFill>
                  <a:srgbClr val="FFC000"/>
                </a:solidFill>
              </a:rPr>
              <a:t>Symptomatologie </a:t>
            </a:r>
            <a:endParaRPr sz="2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200"/>
              <a:t>         Subjectif </a:t>
            </a:r>
            <a:r>
              <a:rPr lang="fr-FR" sz="2200"/>
              <a:t>- otalgie, hypoacousie, vertige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200"/>
              <a:t>         Objectif </a:t>
            </a:r>
            <a:r>
              <a:rPr lang="fr-FR" sz="2200"/>
              <a:t>- la congestion de la membrane tympanique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200"/>
              <a:t>                          - syndrome vestibulaire périphérique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200">
                <a:solidFill>
                  <a:srgbClr val="FFC000"/>
                </a:solidFill>
              </a:rPr>
              <a:t>        </a:t>
            </a:r>
            <a:r>
              <a:rPr b="1" lang="fr-FR" sz="2200" u="sng">
                <a:solidFill>
                  <a:srgbClr val="FFC000"/>
                </a:solidFill>
              </a:rPr>
              <a:t>Traitement</a:t>
            </a:r>
            <a:r>
              <a:rPr lang="fr-FR" sz="2200"/>
              <a:t> - symptomatique,antivertigineuses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</p:txBody>
      </p:sp>
      <p:pic>
        <p:nvPicPr>
          <p:cNvPr id="576" name="Google Shape;57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1775" y="1219200"/>
            <a:ext cx="248602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1" y="4114800"/>
            <a:ext cx="243840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4"/>
          <p:cNvSpPr txBox="1"/>
          <p:nvPr>
            <p:ph type="title"/>
          </p:nvPr>
        </p:nvSpPr>
        <p:spPr>
          <a:xfrm>
            <a:off x="304800" y="0"/>
            <a:ext cx="830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TRAUMATISMES  DE  L’ OREILLE  INTERNE</a:t>
            </a:r>
            <a:br>
              <a:rPr lang="fr-FR"/>
            </a:br>
            <a:endParaRPr/>
          </a:p>
        </p:txBody>
      </p:sp>
      <p:sp>
        <p:nvSpPr>
          <p:cNvPr id="583" name="Google Shape;583;p64"/>
          <p:cNvSpPr txBox="1"/>
          <p:nvPr>
            <p:ph idx="1" type="body"/>
          </p:nvPr>
        </p:nvSpPr>
        <p:spPr>
          <a:xfrm>
            <a:off x="533400" y="457200"/>
            <a:ext cx="86106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 </a:t>
            </a:r>
            <a:r>
              <a:rPr lang="fr-FR" sz="3300">
                <a:solidFill>
                  <a:srgbClr val="FFC000"/>
                </a:solidFill>
              </a:rPr>
              <a:t>1. </a:t>
            </a:r>
            <a:r>
              <a:rPr b="1" lang="fr-FR" sz="3300">
                <a:solidFill>
                  <a:srgbClr val="FFC000"/>
                </a:solidFill>
              </a:rPr>
              <a:t>Fractures de la roche temporale</a:t>
            </a:r>
            <a:r>
              <a:rPr b="1" lang="fr-FR" sz="3800">
                <a:solidFill>
                  <a:srgbClr val="FFC000"/>
                </a:solidFill>
              </a:rPr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/>
              <a:t>Les fractures de la base du crâne ou de la voûte s’étendent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/>
              <a:t>à la roche temporale →lésions de l’oreille externe, moyenne ,interne</a:t>
            </a:r>
            <a:endParaRPr sz="21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100">
                <a:solidFill>
                  <a:srgbClr val="FFC000"/>
                </a:solidFill>
              </a:rPr>
              <a:t>Symptomatologie </a:t>
            </a:r>
            <a:r>
              <a:rPr lang="fr-FR" sz="2100">
                <a:solidFill>
                  <a:srgbClr val="FFC000"/>
                </a:solidFill>
              </a:rPr>
              <a:t>:</a:t>
            </a:r>
            <a:endParaRPr sz="2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 u="sng">
                <a:solidFill>
                  <a:srgbClr val="FFC000"/>
                </a:solidFill>
              </a:rPr>
              <a:t>-hypoacousie neuro-sensorielle ou cofose, syndrome vestibulaire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 u="sng">
                <a:solidFill>
                  <a:srgbClr val="FFC000"/>
                </a:solidFill>
              </a:rPr>
              <a:t>  périphérique de type destructif</a:t>
            </a:r>
            <a:r>
              <a:rPr lang="fr-FR" sz="21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/>
              <a:t>nystagmus  → l’oreille saine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/>
              <a:t>les preuves vestibulaires spontanées sont harmonieuses  → l’oreille affectée</a:t>
            </a:r>
            <a:endParaRPr sz="21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 u="sng">
                <a:solidFill>
                  <a:srgbClr val="FFC000"/>
                </a:solidFill>
              </a:rPr>
              <a:t>-la paralysie faciale</a:t>
            </a:r>
            <a:r>
              <a:rPr lang="fr-FR" sz="2100">
                <a:solidFill>
                  <a:srgbClr val="FFC000"/>
                </a:solidFill>
              </a:rPr>
              <a:t> </a:t>
            </a:r>
            <a:endParaRPr sz="21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>
                <a:solidFill>
                  <a:srgbClr val="FFC000"/>
                </a:solidFill>
              </a:rPr>
              <a:t> ∙ installée immédiatement  &gt; </a:t>
            </a:r>
            <a:r>
              <a:rPr lang="fr-FR" sz="2100"/>
              <a:t>l’accident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/>
              <a:t>    le nerf a été pris dans le foyer de fracture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>
                <a:solidFill>
                  <a:srgbClr val="FFC000"/>
                </a:solidFill>
              </a:rPr>
              <a:t> ∙ installée plus tard &gt; </a:t>
            </a:r>
            <a:r>
              <a:rPr lang="fr-FR" sz="2100"/>
              <a:t>24 heures,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/>
              <a:t>    la compression par l’œdème  / hématome dans le canal osseux  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/>
              <a:t>    la guérison spontanée (3 semaines  - 3 mois)</a:t>
            </a:r>
            <a:endParaRPr sz="21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/>
              <a:t>    signes cliniques du traumatisme cranio-faciale / cranio-cérébral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/>
              <a:t>    commotion / contusion cérébrale / hémorragie / hématomes cérébraux</a:t>
            </a:r>
            <a:endParaRPr sz="21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100">
                <a:solidFill>
                  <a:srgbClr val="FFC000"/>
                </a:solidFill>
              </a:rPr>
              <a:t>Traitement</a:t>
            </a:r>
            <a:r>
              <a:rPr b="1" lang="fr-FR" sz="2100"/>
              <a:t> </a:t>
            </a:r>
            <a:r>
              <a:rPr lang="fr-FR" sz="2100"/>
              <a:t>est complexe,  l’équipe multidisciplinaire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100">
                <a:solidFill>
                  <a:srgbClr val="FFC000"/>
                </a:solidFill>
              </a:rPr>
              <a:t>neurochirurgien, otorhino laryngologue, interniste, neurologue</a:t>
            </a:r>
            <a:endParaRPr sz="2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 </a:t>
            </a:r>
            <a:endParaRPr>
              <a:solidFill>
                <a:srgbClr val="FFC000"/>
              </a:solidFill>
            </a:endParaRPr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5"/>
          <p:cNvSpPr txBox="1"/>
          <p:nvPr>
            <p:ph type="title"/>
          </p:nvPr>
        </p:nvSpPr>
        <p:spPr>
          <a:xfrm>
            <a:off x="381000" y="228600"/>
            <a:ext cx="830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orbel"/>
              <a:buNone/>
            </a:pPr>
            <a:r>
              <a:rPr b="1" lang="fr-FR" sz="28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rPr>
              <a:t>Fractures  de  la  roche  temporale</a:t>
            </a:r>
            <a:r>
              <a:rPr b="1" lang="fr-FR">
                <a:solidFill>
                  <a:srgbClr val="FFC000"/>
                </a:solidFill>
              </a:rPr>
              <a:t> </a:t>
            </a:r>
            <a:endParaRPr/>
          </a:p>
        </p:txBody>
      </p:sp>
      <p:pic>
        <p:nvPicPr>
          <p:cNvPr id="589" name="Google Shape;58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19200"/>
            <a:ext cx="236220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0" y="1219200"/>
            <a:ext cx="2286000" cy="231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2600" y="1447800"/>
            <a:ext cx="3343523" cy="2853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3819525"/>
            <a:ext cx="40386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5"/>
          <p:cNvSpPr txBox="1"/>
          <p:nvPr/>
        </p:nvSpPr>
        <p:spPr>
          <a:xfrm>
            <a:off x="1447800" y="6248400"/>
            <a:ext cx="2438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              Battle signe </a:t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4" name="Google Shape;594;p65"/>
          <p:cNvSpPr/>
          <p:nvPr/>
        </p:nvSpPr>
        <p:spPr>
          <a:xfrm>
            <a:off x="3555535" y="3244334"/>
            <a:ext cx="535986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                                                            La paralysie faciale </a:t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6"/>
          <p:cNvSpPr txBox="1"/>
          <p:nvPr>
            <p:ph type="title"/>
          </p:nvPr>
        </p:nvSpPr>
        <p:spPr>
          <a:xfrm>
            <a:off x="381000" y="0"/>
            <a:ext cx="83058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TRAUMATISMES  DE  L’ OREILLE  INTERNE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0" name="Google Shape;600;p66"/>
          <p:cNvSpPr txBox="1"/>
          <p:nvPr>
            <p:ph idx="1" type="body"/>
          </p:nvPr>
        </p:nvSpPr>
        <p:spPr>
          <a:xfrm>
            <a:off x="457200" y="1219200"/>
            <a:ext cx="82296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2. Commotion labyrinthique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traumatismes cérébraux, des bruits, des explosions, barotraumatisme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</a:t>
            </a:r>
            <a:r>
              <a:rPr b="1" lang="fr-FR" sz="2600">
                <a:solidFill>
                  <a:srgbClr val="FFC000"/>
                </a:solidFill>
              </a:rPr>
              <a:t>Tableau clinique </a:t>
            </a:r>
            <a:r>
              <a:rPr b="1" lang="fr-FR" sz="2600"/>
              <a:t>(</a:t>
            </a:r>
            <a:r>
              <a:rPr lang="fr-FR" sz="2600"/>
              <a:t>syndrome vestibulaire)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	           - vertiges 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               - troubles de l’équilibre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               - hypoacousies neuro-sensorielle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                -acouphènes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	Les phénomènes → s’améliorent, puis disparaissent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 </a:t>
            </a:r>
            <a:endParaRPr sz="26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7"/>
          <p:cNvSpPr txBox="1"/>
          <p:nvPr>
            <p:ph type="title"/>
          </p:nvPr>
        </p:nvSpPr>
        <p:spPr>
          <a:xfrm>
            <a:off x="304800" y="3048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TRAUMATISMES DE L’ OREILLE INTERNE</a:t>
            </a:r>
            <a:endParaRPr sz="3200"/>
          </a:p>
        </p:txBody>
      </p:sp>
      <p:sp>
        <p:nvSpPr>
          <p:cNvPr id="606" name="Google Shape;606;p67"/>
          <p:cNvSpPr txBox="1"/>
          <p:nvPr>
            <p:ph idx="1" type="body"/>
          </p:nvPr>
        </p:nvSpPr>
        <p:spPr>
          <a:xfrm>
            <a:off x="457200" y="914400"/>
            <a:ext cx="8686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3. Le trauma sonore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lésion de l’oreille interne due à l’exposition au bruit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ce bruit peut être unique, mais d’une intensité très élevée (120 dB), par exemple des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explosions ou peut que soit un bruit constant, d’environ 90 dB, mais avec l’exposition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à long terme : le tissage, la ferblanterie, les téléphonistes.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 </a:t>
            </a:r>
            <a:r>
              <a:rPr b="1" lang="fr-FR">
                <a:solidFill>
                  <a:srgbClr val="FFC000"/>
                </a:solidFill>
              </a:rPr>
              <a:t>Symptomatologie </a:t>
            </a:r>
            <a:r>
              <a:rPr lang="fr-FR">
                <a:solidFill>
                  <a:srgbClr val="FFC000"/>
                </a:solidFill>
              </a:rPr>
              <a:t>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Hypoacousie est de type neuro-sensorielle</a:t>
            </a:r>
            <a:r>
              <a:rPr lang="fr-FR"/>
              <a:t>, avec une perte maximum à la fréquence de </a:t>
            </a:r>
            <a:r>
              <a:rPr lang="fr-FR">
                <a:solidFill>
                  <a:srgbClr val="FFC000"/>
                </a:solidFill>
              </a:rPr>
              <a:t>4000 Hz (encoche) </a:t>
            </a:r>
            <a:r>
              <a:rPr lang="fr-FR"/>
              <a:t>et s’installer à l’exposition brusque au bruit unique.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Lorsqu’ils sont exposés au bruit industriel lʼhypoacousie survient lentement, en mois ou en années, la courbe audiométrique ayant le même aspect.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Prophylaxie </a:t>
            </a:r>
            <a:r>
              <a:rPr lang="fr-FR">
                <a:solidFill>
                  <a:srgbClr val="FFC000"/>
                </a:solidFill>
              </a:rPr>
              <a:t>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	contrôle audiométrique à l’embauchage dans l’environnement à de pollution sonore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examen audiométrique périodique (exposés)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la sécurité du travail casques (des antiphones)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 réduction du bruit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r>
              <a:rPr b="1" lang="fr-FR">
                <a:solidFill>
                  <a:srgbClr val="FFC000"/>
                </a:solidFill>
              </a:rPr>
              <a:t>Traitement </a:t>
            </a:r>
            <a:r>
              <a:rPr lang="fr-FR"/>
              <a:t>: hypoacousie est permanente → des prothèses auditives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8"/>
          <p:cNvSpPr txBox="1"/>
          <p:nvPr>
            <p:ph type="title"/>
          </p:nvPr>
        </p:nvSpPr>
        <p:spPr>
          <a:xfrm>
            <a:off x="5334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onsolas"/>
              <a:buNone/>
            </a:pPr>
            <a:br>
              <a:rPr b="1" lang="fr-FR" sz="3600">
                <a:solidFill>
                  <a:schemeClr val="lt2"/>
                </a:solidFill>
              </a:rPr>
            </a:br>
            <a:r>
              <a:rPr b="1" lang="fr-FR" sz="32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rPr>
              <a:t>3. Le trauma sonore</a:t>
            </a:r>
            <a:r>
              <a:rPr b="1" lang="fr-FR">
                <a:solidFill>
                  <a:schemeClr val="lt2"/>
                </a:solidFill>
              </a:rPr>
              <a:t> 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612" name="Google Shape;61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209800"/>
            <a:ext cx="37719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209800"/>
            <a:ext cx="36576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6800" y="4267200"/>
            <a:ext cx="358140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4267200"/>
            <a:ext cx="3810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0" y="762000"/>
            <a:ext cx="20574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9"/>
          <p:cNvSpPr txBox="1"/>
          <p:nvPr>
            <p:ph type="title"/>
          </p:nvPr>
        </p:nvSpPr>
        <p:spPr>
          <a:xfrm>
            <a:off x="381000" y="228600"/>
            <a:ext cx="8305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CORPS  ÉTRANGERS  AURICULAIRES</a:t>
            </a:r>
            <a:br>
              <a:rPr lang="fr-FR" sz="3600"/>
            </a:br>
            <a:endParaRPr sz="3600"/>
          </a:p>
        </p:txBody>
      </p:sp>
      <p:sp>
        <p:nvSpPr>
          <p:cNvPr id="622" name="Google Shape;622;p69"/>
          <p:cNvSpPr txBox="1"/>
          <p:nvPr>
            <p:ph idx="1" type="body"/>
          </p:nvPr>
        </p:nvSpPr>
        <p:spPr>
          <a:xfrm>
            <a:off x="457200" y="914400"/>
            <a:ext cx="8686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Dans la plupart des cas, sont situés dans le  CAE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Classification </a:t>
            </a:r>
            <a:endParaRPr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Exogène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– insecte, larves vivantes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- inanimé - ail </a:t>
            </a:r>
            <a:br>
              <a:rPr lang="fr-FR"/>
            </a:br>
            <a:r>
              <a:rPr lang="fr-FR"/>
              <a:t>          - fragments d’allumettes</a:t>
            </a:r>
            <a:br>
              <a:rPr lang="fr-FR"/>
            </a:br>
            <a:r>
              <a:rPr lang="fr-FR"/>
              <a:t>          - tampons de laine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Endogène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– bouchon  de cérumen  (production  normale du tégument de  CAE)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- bouchon  épidermique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Symptomatologie </a:t>
            </a:r>
            <a:endParaRPr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Subjectif</a:t>
            </a:r>
            <a:r>
              <a:rPr i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corps étrangers animés  (mouvement des insectes)  →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sensations désagréables,chatouillements, douleur exacerbée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 bouchon de cérumen (sec, hydrophile)   → une perte auditive  soudaine après le bain augmente ↑ sa taille après l’absorption de l’eau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r>
              <a:rPr i="1" lang="fr-FR">
                <a:solidFill>
                  <a:srgbClr val="FFC000"/>
                </a:solidFill>
              </a:rPr>
              <a:t>Objectif 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 bouchon de cérumen -  brun ou noir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 bouchon de l’épiderme - blanchâtre (desquamation épithéliale)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Traitement</a:t>
            </a:r>
            <a:r>
              <a:rPr b="1" lang="fr-FR" sz="3300"/>
              <a:t>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Lavage auriculaire - l'eau chaude (37 °) est introduit → la paroi supérieure / postérieure du  CAE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corps étrangers animés → il sera instillé de solution d'alcool  → les asphyxier 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0"/>
          <p:cNvSpPr txBox="1"/>
          <p:nvPr>
            <p:ph type="title"/>
          </p:nvPr>
        </p:nvSpPr>
        <p:spPr>
          <a:xfrm>
            <a:off x="381000" y="228600"/>
            <a:ext cx="8305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CORPS  ÉTRANGERS  AURICULAIRES</a:t>
            </a:r>
            <a:br>
              <a:rPr lang="fr-FR" sz="3600"/>
            </a:br>
            <a:endParaRPr sz="3600"/>
          </a:p>
        </p:txBody>
      </p:sp>
      <p:pic>
        <p:nvPicPr>
          <p:cNvPr id="628" name="Google Shape;62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95400"/>
            <a:ext cx="23907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00" y="1295400"/>
            <a:ext cx="235267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2895600"/>
            <a:ext cx="2468276" cy="2820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4189512"/>
            <a:ext cx="2362200" cy="243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86200" y="4343400"/>
            <a:ext cx="243840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1"/>
          <p:cNvSpPr txBox="1"/>
          <p:nvPr>
            <p:ph type="title"/>
          </p:nvPr>
        </p:nvSpPr>
        <p:spPr>
          <a:xfrm>
            <a:off x="304800" y="304800"/>
            <a:ext cx="9372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AFFECTIONS CUTANÉES DE L’OREILLE EXTERNE</a:t>
            </a:r>
            <a:endParaRPr sz="3200"/>
          </a:p>
        </p:txBody>
      </p:sp>
      <p:sp>
        <p:nvSpPr>
          <p:cNvPr id="638" name="Google Shape;638;p71"/>
          <p:cNvSpPr txBox="1"/>
          <p:nvPr>
            <p:ph idx="1" type="body"/>
          </p:nvPr>
        </p:nvSpPr>
        <p:spPr>
          <a:xfrm>
            <a:off x="304800" y="914400"/>
            <a:ext cx="68580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742950" lvl="0" marL="8115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200">
                <a:solidFill>
                  <a:srgbClr val="FFC000"/>
                </a:solidFill>
              </a:rPr>
              <a:t>1.LE FURONCLE DU CONDUIT AUDITIF EXTERNE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une infection staphylococcique du follicule pilo-sébacée, l’ensemencement →lésions de grattage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f. favorisant </a:t>
            </a:r>
            <a:r>
              <a:rPr lang="fr-FR"/>
              <a:t>:l’otomicose, suppuration chronique auriculaire, le diabète.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Symptomatologie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Subjectif</a:t>
            </a:r>
            <a:r>
              <a:rPr lang="fr-FR"/>
              <a:t> :  otalgie intense, pulsatile, prononcée pendant la mastication, à la traction pavillon 2-3 jours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Objectif</a:t>
            </a:r>
            <a:r>
              <a:rPr lang="fr-FR"/>
              <a:t> :  pendant les 2-3 premiers jours, à l’otoscopie est montré une petite saillie rouge située dans le 1/3externe du conduit, ensuite la pointe devient de couleur blanc jaunâtre →le bourbillon (la racine).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Traitement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Général</a:t>
            </a:r>
            <a:r>
              <a:rPr lang="fr-FR"/>
              <a:t> – analgésiques, anti-inflammatoires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- antibiotiques antistaphylococciques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Locales</a:t>
            </a:r>
            <a:r>
              <a:rPr lang="fr-FR"/>
              <a:t> - des compresses froides, des désinfectants pendant la phase d’inflammation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- des compresses chaudes, otopansementes  - le processus nécrotique a commencé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639" name="Google Shape;63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143000"/>
            <a:ext cx="2286000" cy="194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4267200"/>
            <a:ext cx="2362200" cy="231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2"/>
          <p:cNvSpPr txBox="1"/>
          <p:nvPr>
            <p:ph type="title"/>
          </p:nvPr>
        </p:nvSpPr>
        <p:spPr>
          <a:xfrm>
            <a:off x="381000" y="304800"/>
            <a:ext cx="8763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AFFECTIONS CUTANÉES DE L’OREILLE EXTERNE</a:t>
            </a:r>
            <a:endParaRPr sz="3200"/>
          </a:p>
        </p:txBody>
      </p:sp>
      <p:sp>
        <p:nvSpPr>
          <p:cNvPr id="646" name="Google Shape;646;p72"/>
          <p:cNvSpPr txBox="1"/>
          <p:nvPr>
            <p:ph idx="1" type="body"/>
          </p:nvPr>
        </p:nvSpPr>
        <p:spPr>
          <a:xfrm>
            <a:off x="381000" y="1066800"/>
            <a:ext cx="64008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200">
                <a:solidFill>
                  <a:srgbClr val="FFC000"/>
                </a:solidFill>
              </a:rPr>
              <a:t>2.</a:t>
            </a:r>
            <a:r>
              <a:rPr lang="fr-FR" sz="4200">
                <a:solidFill>
                  <a:srgbClr val="FFC000"/>
                </a:solidFill>
              </a:rPr>
              <a:t> </a:t>
            </a:r>
            <a:r>
              <a:rPr b="1" lang="fr-FR" sz="4200">
                <a:solidFill>
                  <a:srgbClr val="FFC000"/>
                </a:solidFill>
              </a:rPr>
              <a:t>L’OTITE EXTERNE AIGUË DIFFUS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une inflammation aiguë diffuse des téguments du CAE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Étiologie</a:t>
            </a:r>
            <a:r>
              <a:rPr b="1" lang="fr-FR"/>
              <a:t>   - </a:t>
            </a:r>
            <a:r>
              <a:rPr lang="fr-FR"/>
              <a:t>Staphylococcus, Streptococcus,Pseudomonas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Facteurs favorisants</a:t>
            </a: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fragilité du tégument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les lésions de grattage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 pénétration de l’eau (otite de bassin, de la piscine).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Symptomatologie</a:t>
            </a: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Subjectif </a:t>
            </a:r>
            <a:r>
              <a:rPr lang="fr-FR"/>
              <a:t>- otalgie intense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- sécrétion séro-purulente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O</a:t>
            </a:r>
            <a:r>
              <a:rPr i="1" lang="fr-FR"/>
              <a:t>bjectif </a:t>
            </a:r>
            <a:r>
              <a:rPr lang="fr-FR"/>
              <a:t>–  congestion, le gonflement du tégument du CAE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Traitement </a:t>
            </a:r>
            <a:r>
              <a:rPr lang="fr-FR"/>
              <a:t> </a:t>
            </a:r>
            <a:br>
              <a:rPr lang="fr-FR"/>
            </a:br>
            <a:r>
              <a:rPr lang="fr-FR"/>
              <a:t>- toilettes - absorption locale rigoureuse  </a:t>
            </a:r>
            <a:br>
              <a:rPr lang="fr-FR"/>
            </a:br>
            <a:r>
              <a:rPr lang="fr-FR"/>
              <a:t>- désinfectants locaux - rivanol  </a:t>
            </a:r>
            <a:br>
              <a:rPr lang="fr-FR"/>
            </a:br>
            <a:r>
              <a:rPr lang="fr-FR"/>
              <a:t>- alcool borique </a:t>
            </a:r>
            <a:br>
              <a:rPr lang="fr-FR"/>
            </a:br>
            <a:r>
              <a:rPr lang="fr-FR"/>
              <a:t>- analgésiques - anti-inflammatoires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 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647" name="Google Shape;64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800" y="1143000"/>
            <a:ext cx="23622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2971800"/>
            <a:ext cx="2362200" cy="1894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1800" y="4740411"/>
            <a:ext cx="2362200" cy="2041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3"/>
          <p:cNvSpPr txBox="1"/>
          <p:nvPr>
            <p:ph type="title"/>
          </p:nvPr>
        </p:nvSpPr>
        <p:spPr>
          <a:xfrm>
            <a:off x="381000" y="228600"/>
            <a:ext cx="899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AFFECTIONS  CUTANÉES  DE  L’ OREILLE  EXTERNE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5" name="Google Shape;655;p73"/>
          <p:cNvSpPr txBox="1"/>
          <p:nvPr>
            <p:ph idx="1" type="body"/>
          </p:nvPr>
        </p:nvSpPr>
        <p:spPr>
          <a:xfrm>
            <a:off x="304800" y="838200"/>
            <a:ext cx="63246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3. OTOMICOSE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la famille Candida ou Aspergillus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(Niger, flavus, fumigatus)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Symptomatologie 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/>
              <a:t>Subjectif 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prurit auriculaire, hypoacousie, gêne parfois douloureuse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/>
              <a:t>Objectif </a:t>
            </a:r>
            <a:r>
              <a:rPr lang="fr-FR" sz="1800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dépôts purulents de couleur différente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Niger-noir/flavus- jaune/ fumigatus- gris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Traitement 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-aspiration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-empêcher la pénétration de l’eau dans l’oreille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- solutions antifongiques 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 - clothrimasole  </a:t>
            </a:r>
            <a:br>
              <a:rPr lang="fr-FR" sz="1800"/>
            </a:br>
            <a:r>
              <a:rPr lang="fr-FR" sz="1800"/>
              <a:t>  - Solution Castelani </a:t>
            </a:r>
            <a:br>
              <a:rPr lang="fr-FR" sz="1800"/>
            </a:br>
            <a:r>
              <a:rPr lang="fr-FR" sz="1800"/>
              <a:t>   - Solution de chrome Mercuro</a:t>
            </a:r>
            <a:endParaRPr sz="18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656" name="Google Shape;65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2514600"/>
            <a:ext cx="25146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4724680"/>
            <a:ext cx="2514600" cy="213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762000"/>
            <a:ext cx="2514600" cy="1737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onsolas"/>
              <a:buNone/>
            </a:pPr>
            <a:br>
              <a:rPr b="1" lang="fr-FR" sz="3600">
                <a:solidFill>
                  <a:schemeClr val="lt2"/>
                </a:solidFill>
              </a:rPr>
            </a:br>
            <a:r>
              <a:rPr b="1" lang="fr-FR" sz="3600">
                <a:solidFill>
                  <a:schemeClr val="lt2"/>
                </a:solidFill>
              </a:rPr>
              <a:t>OTOMICOSE</a:t>
            </a:r>
            <a:endParaRPr sz="3600">
              <a:solidFill>
                <a:schemeClr val="lt2"/>
              </a:solidFill>
            </a:endParaRPr>
          </a:p>
        </p:txBody>
      </p:sp>
      <p:pic>
        <p:nvPicPr>
          <p:cNvPr id="664" name="Google Shape;66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257425"/>
            <a:ext cx="23812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625" y="2209800"/>
            <a:ext cx="246697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90750"/>
            <a:ext cx="24574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74"/>
          <p:cNvSpPr/>
          <p:nvPr/>
        </p:nvSpPr>
        <p:spPr>
          <a:xfrm>
            <a:off x="609601" y="3244334"/>
            <a:ext cx="444746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           Candida</a:t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8" name="Google Shape;668;p74"/>
          <p:cNvSpPr/>
          <p:nvPr/>
        </p:nvSpPr>
        <p:spPr>
          <a:xfrm>
            <a:off x="3933042" y="3244334"/>
            <a:ext cx="307735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                    Aspergillus Niger </a:t>
            </a:r>
            <a:endParaRPr b="1" sz="18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5"/>
          <p:cNvSpPr txBox="1"/>
          <p:nvPr>
            <p:ph type="title"/>
          </p:nvPr>
        </p:nvSpPr>
        <p:spPr>
          <a:xfrm>
            <a:off x="533400" y="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OTITES  MOYENNES  AIGUËS</a:t>
            </a:r>
            <a:br>
              <a:rPr lang="fr-FR" sz="3200"/>
            </a:br>
            <a:r>
              <a:rPr lang="fr-FR" sz="3200"/>
              <a:t> </a:t>
            </a:r>
            <a:br>
              <a:rPr lang="fr-FR" sz="3200"/>
            </a:br>
            <a:endParaRPr sz="3200"/>
          </a:p>
        </p:txBody>
      </p:sp>
      <p:sp>
        <p:nvSpPr>
          <p:cNvPr id="674" name="Google Shape;674;p75"/>
          <p:cNvSpPr txBox="1"/>
          <p:nvPr>
            <p:ph idx="1" type="body"/>
          </p:nvPr>
        </p:nvSpPr>
        <p:spPr>
          <a:xfrm>
            <a:off x="533400" y="152400"/>
            <a:ext cx="86106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140"/>
              <a:buNone/>
            </a:pPr>
            <a:r>
              <a:t/>
            </a:r>
            <a:endParaRPr sz="1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l’inflammation aiguë de la muqueuse de l’oreille moyenne. La membrane timpaniqu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ÉPIDÉMIOLOGIE</a:t>
            </a:r>
            <a:endParaRPr b="1"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épidémies virales des voies respiratoires supérieures (automne, hiver et printemps)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L’incidence ↑  les enfants : 50 % &lt; 1 an, 65 % à un maximum  2 ans et 70 % &lt; 3 ans 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ÉTIOPATHOGÉNIE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i="1" lang="fr-FR" sz="1600">
                <a:solidFill>
                  <a:srgbClr val="FFC000"/>
                </a:solidFill>
              </a:rPr>
              <a:t>♦ Facteurs déterminants</a:t>
            </a:r>
            <a:r>
              <a:rPr i="1" lang="fr-FR" sz="1400"/>
              <a:t> </a:t>
            </a:r>
            <a:r>
              <a:rPr lang="fr-FR" sz="1400"/>
              <a:t>Infection microbienne  - le facteur principal 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 S. pneumoniae - H.influenzae  M. Cattharalis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i="1" lang="fr-FR" sz="1400"/>
              <a:t> </a:t>
            </a:r>
            <a:r>
              <a:rPr i="1" lang="fr-FR" sz="1600">
                <a:solidFill>
                  <a:srgbClr val="FFC000"/>
                </a:solidFill>
              </a:rPr>
              <a:t>♦ Facteurs favorisants </a:t>
            </a:r>
            <a:endParaRPr sz="1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b="1" lang="fr-FR" sz="1400" u="sng"/>
              <a:t>   1.infectieux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- rhino-pharyngites, sinusites aiguës  /  chroniques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</a:t>
            </a:r>
            <a:r>
              <a:rPr b="1" lang="fr-FR" sz="1400" u="sng"/>
              <a:t>2. mécaniques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- végétations adénoïdes /  déviation de du septum nasal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- polypose nasosinusale  / hypertrophie des cornets 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- tumeurs nasales  / rhino-pharyngiennes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Âge - enfants &lt; 2 ans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</a:t>
            </a:r>
            <a:r>
              <a:rPr b="1" lang="fr-FR" sz="1400" u="sng"/>
              <a:t>3. facteurs généraux</a:t>
            </a:r>
            <a:r>
              <a:rPr lang="fr-FR" sz="1400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- allergie - atopique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-  carences alimentaire, en vitamines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- immunodéficiences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</a:t>
            </a:r>
            <a:r>
              <a:rPr b="1" lang="fr-FR" sz="1400" u="sng"/>
              <a:t>4. facteurs environnementaux</a:t>
            </a:r>
            <a:r>
              <a:rPr lang="fr-FR" sz="1400"/>
              <a:t>  - froid, humide / changements brusques de température.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950"/>
              <a:buNone/>
            </a:pPr>
            <a:r>
              <a:rPr b="1" lang="fr-FR" sz="1000"/>
              <a:t> </a:t>
            </a:r>
            <a:endParaRPr sz="1000"/>
          </a:p>
          <a:p>
            <a:pPr indent="-282575" lvl="0" marL="411480" rtl="0" algn="l">
              <a:spcBef>
                <a:spcPts val="700"/>
              </a:spcBef>
              <a:spcAft>
                <a:spcPts val="0"/>
              </a:spcAft>
              <a:buSzPts val="950"/>
              <a:buNone/>
            </a:pPr>
            <a:r>
              <a:t/>
            </a:r>
            <a:endParaRPr sz="1000"/>
          </a:p>
        </p:txBody>
      </p:sp>
      <p:pic>
        <p:nvPicPr>
          <p:cNvPr descr="Ear18 Fix" id="675" name="Google Shape;67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836920"/>
            <a:ext cx="2590800" cy="1973080"/>
          </a:xfrm>
          <a:prstGeom prst="rect">
            <a:avLst/>
          </a:prstGeom>
          <a:noFill/>
          <a:ln cap="flat" cmpd="sng" w="9525">
            <a:solidFill>
              <a:srgbClr val="99CC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6" name="Google Shape;676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4057650"/>
            <a:ext cx="2514600" cy="215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6"/>
          <p:cNvSpPr txBox="1"/>
          <p:nvPr>
            <p:ph type="title"/>
          </p:nvPr>
        </p:nvSpPr>
        <p:spPr>
          <a:xfrm>
            <a:off x="914400" y="304800"/>
            <a:ext cx="77724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OTITES  MOYENNES  AIGUËS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2" name="Google Shape;682;p76"/>
          <p:cNvSpPr txBox="1"/>
          <p:nvPr>
            <p:ph idx="1" type="body"/>
          </p:nvPr>
        </p:nvSpPr>
        <p:spPr>
          <a:xfrm>
            <a:off x="381000" y="609600"/>
            <a:ext cx="81534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ctr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b="1" lang="fr-FR" sz="1700">
                <a:solidFill>
                  <a:srgbClr val="FFC000"/>
                </a:solidFill>
              </a:rPr>
              <a:t>ETIOPATHOGENIE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obstruction tubaire - hypoxie  OM avec pression − = &gt; vasodilatatrice = &gt; transsudation (exsudation)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 la pénétration des germes  par la voie de la trompe d’Eustache → processus infectieux de voisinage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nasale,  nasopharynx,  sinus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les éternuements, le hoquet ,le soufflage incorrect du nez ≈ importants</a:t>
            </a:r>
            <a:endParaRPr sz="17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b="1" lang="fr-FR" sz="1700">
                <a:solidFill>
                  <a:srgbClr val="FFC000"/>
                </a:solidFill>
              </a:rPr>
              <a:t>ANATOMIE PATHOLOGIQUE</a:t>
            </a:r>
            <a:endParaRPr sz="17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-  phase de congestion </a:t>
            </a:r>
            <a:endParaRPr sz="17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-  phase exsudative : exsudat séreux claire, non purulente </a:t>
            </a:r>
            <a:endParaRPr sz="17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-  phase  purulent : la sécrétion purulente nette </a:t>
            </a:r>
            <a:endParaRPr sz="17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-  phase de guérison</a:t>
            </a:r>
            <a:endParaRPr sz="17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b="1" lang="fr-FR" sz="1700">
                <a:solidFill>
                  <a:srgbClr val="FFC000"/>
                </a:solidFill>
              </a:rPr>
              <a:t>FORMES CLINIQUES </a:t>
            </a:r>
            <a:endParaRPr sz="17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otite moyenne aiguë catarrhale </a:t>
            </a:r>
            <a:endParaRPr sz="17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otite moyenne aiguë congestive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None/>
            </a:pPr>
            <a:r>
              <a:rPr lang="fr-FR" sz="1700"/>
              <a:t>otite moyenne aiguë suppurée</a:t>
            </a:r>
            <a:endParaRPr sz="17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615"/>
              <a:buChar char="▪"/>
            </a:pPr>
            <a:r>
              <a:rPr lang="fr-FR" sz="1700"/>
              <a:t>Otite moyenne aiguë congestive (la phase prepérforative congestive) et l’otite moyenne aiguë suppurée</a:t>
            </a:r>
            <a:r>
              <a:rPr lang="fr-FR"/>
              <a:t>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683" name="Google Shape;683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7425" y="3429000"/>
            <a:ext cx="2390775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7"/>
          <p:cNvSpPr txBox="1"/>
          <p:nvPr>
            <p:ph type="title"/>
          </p:nvPr>
        </p:nvSpPr>
        <p:spPr>
          <a:xfrm>
            <a:off x="609600" y="228600"/>
            <a:ext cx="8077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OTITE MOYENNE AIGUË CATARRHALE</a:t>
            </a:r>
            <a:br>
              <a:rPr lang="fr-FR" sz="3200"/>
            </a:br>
            <a:endParaRPr sz="3200"/>
          </a:p>
        </p:txBody>
      </p:sp>
      <p:sp>
        <p:nvSpPr>
          <p:cNvPr id="689" name="Google Shape;689;p77"/>
          <p:cNvSpPr txBox="1"/>
          <p:nvPr>
            <p:ph idx="1" type="body"/>
          </p:nvPr>
        </p:nvSpPr>
        <p:spPr>
          <a:xfrm>
            <a:off x="228600" y="990600"/>
            <a:ext cx="7924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2300">
                <a:solidFill>
                  <a:srgbClr val="FFC000"/>
                </a:solidFill>
              </a:rPr>
              <a:t>Symptomatologie </a:t>
            </a:r>
            <a:endParaRPr sz="2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300" u="sng"/>
              <a:t>Subjectif</a:t>
            </a:r>
            <a:r>
              <a:rPr i="1" lang="fr-FR" sz="2300"/>
              <a:t>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300"/>
              <a:t> - </a:t>
            </a:r>
            <a:r>
              <a:rPr lang="fr-FR" sz="2300"/>
              <a:t>hypoacousie avec la sensation de plénitude dans l’oreille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    autophonie (leur voix semble plus forte) 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 - otalgie - modérée à l’enfant parfois absent chez l’adulte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 - sensation de liquide dans l’oreille</a:t>
            </a:r>
            <a:endParaRPr sz="2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300" u="sng"/>
              <a:t>Objectif</a:t>
            </a:r>
            <a:r>
              <a:rPr i="1" lang="fr-FR" sz="2300"/>
              <a:t>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300"/>
              <a:t>- </a:t>
            </a:r>
            <a:r>
              <a:rPr lang="fr-FR" sz="2300"/>
              <a:t>congestion intense de la m.t. au niveau de la manche du marteau </a:t>
            </a:r>
            <a:endParaRPr sz="2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- modification du triangle lumineux (rétraction de la membrane tympanique) </a:t>
            </a:r>
            <a:endParaRPr sz="2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- le niveau de liquide - zone plus jaunâtre, opaque, déclive ou bulle de l’air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- hypoacousie de transmission</a:t>
            </a:r>
            <a:endParaRPr sz="2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300">
                <a:solidFill>
                  <a:srgbClr val="FFC000"/>
                </a:solidFill>
              </a:rPr>
              <a:t>Évolution </a:t>
            </a:r>
            <a:endParaRPr sz="2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 la plus courante  guérir dans 10 - 14 - 21 jours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 surinfection →OM aiguë suppurée → OM chronique catarrhale</a:t>
            </a:r>
            <a:endParaRPr sz="2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690" name="Google Shape;69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295400"/>
            <a:ext cx="219075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8"/>
          <p:cNvSpPr txBox="1"/>
          <p:nvPr>
            <p:ph type="title"/>
          </p:nvPr>
        </p:nvSpPr>
        <p:spPr>
          <a:xfrm>
            <a:off x="457200" y="512064"/>
            <a:ext cx="8229600" cy="1240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  MOYENNE  AIGUË  CATARRHALE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6" name="Google Shape;696;p78"/>
          <p:cNvSpPr txBox="1"/>
          <p:nvPr>
            <p:ph idx="1" type="body"/>
          </p:nvPr>
        </p:nvSpPr>
        <p:spPr>
          <a:xfrm>
            <a:off x="381000" y="1219200"/>
            <a:ext cx="87630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Diagnostic </a:t>
            </a:r>
            <a:endParaRPr sz="1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-  symptômes subjectifs </a:t>
            </a:r>
            <a:br>
              <a:rPr lang="fr-FR" sz="1600"/>
            </a:br>
            <a:r>
              <a:rPr lang="fr-FR" sz="1600"/>
              <a:t>- symptômes objectifs - otoscopie </a:t>
            </a:r>
            <a:br>
              <a:rPr lang="fr-FR" sz="1600"/>
            </a:br>
            <a:r>
              <a:rPr lang="fr-FR" sz="1600"/>
              <a:t>- examen fonctionnel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        - acoumétrie instrumentale </a:t>
            </a:r>
            <a:br>
              <a:rPr lang="fr-FR" sz="1600"/>
            </a:br>
            <a:r>
              <a:rPr lang="fr-FR" sz="1600"/>
              <a:t>        - audiogramme </a:t>
            </a:r>
            <a:br>
              <a:rPr lang="fr-FR" sz="1600"/>
            </a:br>
            <a:r>
              <a:rPr lang="fr-FR" sz="1600"/>
              <a:t>        - impédancemétrie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Traitement </a:t>
            </a:r>
            <a:endParaRPr sz="1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i="1" lang="fr-FR" sz="1600" u="sng"/>
              <a:t>♦Prophylactique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élimination  ≈ f. prédisposants : végétations, déviation du septum, sinusites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i="1" lang="fr-FR" sz="1600" u="sng"/>
              <a:t>♦Local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application de chaleur sèche sur la région auriculaire(sac de sel, un oreiller électrique)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désinfection  + vasoconstricteur local nasale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insufflations tubaires &gt; 14 − 21 jours ( l’hypoacousie persiste, les sécrétions nasales ont disparu )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i="1" lang="fr-FR" sz="1600" u="sng"/>
              <a:t>♦Général</a:t>
            </a:r>
            <a:r>
              <a:rPr b="1" lang="fr-FR" sz="1600" u="sng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 anti inflammatoires non stéroïdiens AINS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 mucolytiques (acétyl-cystéine) mucomodificateurs</a:t>
            </a:r>
            <a:endParaRPr sz="1600"/>
          </a:p>
          <a:p>
            <a:pPr indent="-24638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9"/>
          <p:cNvSpPr txBox="1"/>
          <p:nvPr>
            <p:ph type="title"/>
          </p:nvPr>
        </p:nvSpPr>
        <p:spPr>
          <a:xfrm>
            <a:off x="457200" y="228600"/>
            <a:ext cx="8229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  MOYENNE  AIGUË  CONGESTIVE</a:t>
            </a:r>
            <a:br>
              <a:rPr lang="fr-FR"/>
            </a:br>
            <a:endParaRPr/>
          </a:p>
        </p:txBody>
      </p:sp>
      <p:sp>
        <p:nvSpPr>
          <p:cNvPr id="702" name="Google Shape;702;p79"/>
          <p:cNvSpPr txBox="1"/>
          <p:nvPr>
            <p:ph idx="1" type="body"/>
          </p:nvPr>
        </p:nvSpPr>
        <p:spPr>
          <a:xfrm>
            <a:off x="457200" y="609600"/>
            <a:ext cx="8686800" cy="7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la phase prepérforative de l’otite moyenne suppurée aiguës 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le traitement correct → la guérison 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Symptomatologie </a:t>
            </a:r>
            <a:endParaRPr sz="1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i="1" lang="fr-FR" sz="1600" u="sng"/>
              <a:t>Subjectif </a:t>
            </a:r>
            <a:endParaRPr sz="16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otalgie - intense, pulsatile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hypoacousie modéré +  autophonie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acouphènes  - timbre grave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 </a:t>
            </a:r>
            <a:r>
              <a:rPr i="1" lang="fr-FR" sz="1600" u="sng"/>
              <a:t>Objectif</a:t>
            </a:r>
            <a:r>
              <a:rPr i="1" lang="fr-FR" sz="1600"/>
              <a:t>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- tympan fortement congestionné, infiltré diffus avec des repères enlevés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- examen fonctionnel - hypoacousie de transmission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Évolution</a:t>
            </a:r>
            <a:r>
              <a:rPr b="1" lang="fr-FR" sz="1600"/>
              <a:t> :</a:t>
            </a:r>
            <a:r>
              <a:rPr lang="fr-FR" sz="1600"/>
              <a:t> non traitée → vers la suppuration - otite moyenne aiguë suppurée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Traitement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i="1" lang="fr-FR" sz="1600" u="sng"/>
              <a:t>Local </a:t>
            </a:r>
            <a:r>
              <a:rPr lang="fr-FR" sz="1600"/>
              <a:t> - la chaleur sèche </a:t>
            </a:r>
            <a:br>
              <a:rPr lang="fr-FR" sz="1600"/>
            </a:br>
            <a:r>
              <a:rPr lang="fr-FR" sz="1600"/>
              <a:t>     - l’instillation oreille : Otalgin, Otis 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i="1" lang="fr-FR" sz="1600" u="sng"/>
              <a:t>Général</a:t>
            </a:r>
            <a:r>
              <a:rPr i="1" lang="fr-FR" sz="1600" u="sng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-  antibiothérapie (amoxicilline, amoxicilline +ac.clavoulanique érythromycine, clarithromycine.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 -  analgésiques, AINS</a:t>
            </a:r>
            <a:endParaRPr sz="16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703" name="Google Shape;70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0075" y="1295400"/>
            <a:ext cx="214312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8475" y="1371600"/>
            <a:ext cx="214312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0"/>
          <p:cNvSpPr txBox="1"/>
          <p:nvPr>
            <p:ph type="title"/>
          </p:nvPr>
        </p:nvSpPr>
        <p:spPr>
          <a:xfrm>
            <a:off x="914400" y="0"/>
            <a:ext cx="77724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  MOYENNE  AIGUË  SUPPURÉE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0" name="Google Shape;710;p80"/>
          <p:cNvSpPr txBox="1"/>
          <p:nvPr>
            <p:ph idx="1" type="body"/>
          </p:nvPr>
        </p:nvSpPr>
        <p:spPr>
          <a:xfrm>
            <a:off x="381000" y="0"/>
            <a:ext cx="8763000" cy="7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la phase suppurative du processus inflammatoire aiguë de l’oreille moyenne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Anatomopathologie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inflammation  exsudative purulente / muqueuse oedématiée, parfois ulcérée 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la sécrétion purulente sous pression → la membrane tympanique →  va perforer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le pus→ extérioriser dans le  CAE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Symptomatologie</a:t>
            </a:r>
            <a:r>
              <a:rPr b="1" lang="fr-FR" sz="1600"/>
              <a:t>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i="1" lang="fr-FR" sz="1600" u="sng"/>
              <a:t>Subjectif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i="1" lang="fr-FR" sz="1600"/>
              <a:t> </a:t>
            </a:r>
            <a:r>
              <a:rPr lang="fr-FR" sz="1600"/>
              <a:t>- otalgie  intense 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hypoacousie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- acouphènes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&gt; 3-4 jours → la perforation tympanique / lʼotalgie  ↓ s’améliore 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l’hypoacousie  ↑ augmente → l’otorrhée  mucopurulente / purulent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i="1" lang="fr-FR" sz="1600" u="sng"/>
              <a:t>Objectif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le tympan intense et diffus congestionné / épaissi, sans des repères /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 bombement -  pus sous pression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- otorrhée - sécrétion purulente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-  perforation –  les quadrants inférieurs,des bords réguliers</a:t>
            </a:r>
            <a:endParaRPr sz="16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711" name="Google Shape;71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2070722"/>
            <a:ext cx="2514600" cy="1739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200" y="4238625"/>
            <a:ext cx="243840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1"/>
          <p:cNvSpPr txBox="1"/>
          <p:nvPr>
            <p:ph type="title"/>
          </p:nvPr>
        </p:nvSpPr>
        <p:spPr>
          <a:xfrm>
            <a:off x="609600" y="304800"/>
            <a:ext cx="8001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  MOYENNE  AIGUË  SUPPURÉE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8" name="Google Shape;718;p81"/>
          <p:cNvSpPr txBox="1"/>
          <p:nvPr>
            <p:ph idx="1" type="body"/>
          </p:nvPr>
        </p:nvSpPr>
        <p:spPr>
          <a:xfrm>
            <a:off x="381000" y="990600"/>
            <a:ext cx="6324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Évolution 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♦  </a:t>
            </a:r>
            <a:r>
              <a:rPr lang="fr-FR" sz="1800" u="sng"/>
              <a:t>Après  3 semaines → vers la guérison</a:t>
            </a:r>
            <a:r>
              <a:rPr lang="fr-FR" sz="1800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l’otorrhée passe la première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la perforation ferme spontanément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hypoacousie persiste plus longtemps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Font typeface="Noto Sans Symbols"/>
              <a:buChar char="♦"/>
            </a:pPr>
            <a:r>
              <a:rPr lang="fr-FR" sz="1800"/>
              <a:t>le germe microbien trop virulent ∙ le traitement  incorrect∙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la défense de l’organisme déficitaire 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</a:t>
            </a:r>
            <a:r>
              <a:rPr lang="fr-FR" sz="1800" u="sng"/>
              <a:t>chronicisation /  complications</a:t>
            </a:r>
            <a:endParaRPr sz="18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Traitement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Font typeface="Noto Sans Symbols"/>
              <a:buChar char="♦"/>
            </a:pPr>
            <a:r>
              <a:rPr b="1" i="1" lang="fr-FR" sz="1800" u="sng"/>
              <a:t>Local</a:t>
            </a:r>
            <a:r>
              <a:rPr i="1" lang="fr-FR" sz="1800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/>
              <a:t>       </a:t>
            </a:r>
            <a:r>
              <a:rPr lang="fr-FR" sz="1800"/>
              <a:t>- aspiration journalière de pus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- tympanotomie -  le tympan bombe, mais il n’est pas perforé </a:t>
            </a:r>
            <a:br>
              <a:rPr lang="fr-FR" sz="1800"/>
            </a:br>
            <a:r>
              <a:rPr lang="fr-FR" sz="1800"/>
              <a:t>- gouttes  auriculaire ( alcool borique 4 %  chloramphénicol, colimicine)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Font typeface="Noto Sans Symbols"/>
              <a:buChar char="♦"/>
            </a:pPr>
            <a:r>
              <a:rPr b="1" i="1" lang="fr-FR" sz="1800" u="sng"/>
              <a:t>Général</a:t>
            </a:r>
            <a:r>
              <a:rPr i="1" lang="fr-FR" sz="1800"/>
              <a:t> </a:t>
            </a:r>
            <a:r>
              <a:rPr lang="fr-FR" sz="1800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-  antibiotherapie (amoxicilline , augmentin) 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-  analgésique, antalgique, AINS, desinfection      rhinopharyngée</a:t>
            </a:r>
            <a:endParaRPr sz="18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719" name="Google Shape;71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6674" y="914400"/>
            <a:ext cx="2607326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2667000"/>
            <a:ext cx="25146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5600" y="4648200"/>
            <a:ext cx="24384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 OTITES MOYENNES AIGUËS SPÉCIFIQUES</a:t>
            </a:r>
            <a:br>
              <a:rPr lang="fr-FR" sz="3200"/>
            </a:br>
            <a:endParaRPr sz="3200"/>
          </a:p>
        </p:txBody>
      </p:sp>
      <p:sp>
        <p:nvSpPr>
          <p:cNvPr id="727" name="Google Shape;727;p82"/>
          <p:cNvSpPr txBox="1"/>
          <p:nvPr>
            <p:ph idx="1" type="body"/>
          </p:nvPr>
        </p:nvSpPr>
        <p:spPr>
          <a:xfrm>
            <a:off x="457200" y="13716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86363"/>
              <a:buNone/>
            </a:pPr>
            <a:r>
              <a:rPr b="1" lang="fr-FR"/>
              <a:t> </a:t>
            </a:r>
            <a:endParaRPr b="1"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OTITE MOYENNE AIGUË GRIPPALE</a:t>
            </a:r>
            <a:endParaRPr b="1"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accompagne / complique la grippe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∙ </a:t>
            </a:r>
            <a:r>
              <a:rPr lang="fr-FR" u="sng"/>
              <a:t>Tableau clinique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subjectif de l’otite moyenne aiguë congestive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objectif</a:t>
            </a:r>
            <a:r>
              <a:rPr lang="fr-FR"/>
              <a:t> - </a:t>
            </a:r>
            <a:r>
              <a:rPr i="1" lang="fr-FR" u="sng">
                <a:solidFill>
                  <a:srgbClr val="FFC000"/>
                </a:solidFill>
              </a:rPr>
              <a:t>la phlyctène séro hémorragique</a:t>
            </a:r>
            <a:endParaRPr i="1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- le tympan - </a:t>
            </a:r>
            <a:r>
              <a:rPr i="1" lang="fr-FR" u="sng">
                <a:solidFill>
                  <a:srgbClr val="FFC000"/>
                </a:solidFill>
              </a:rPr>
              <a:t>otite phlyctènulaire, vésiculeuse ou bulleuse</a:t>
            </a:r>
            <a:endParaRPr i="1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∙ </a:t>
            </a:r>
            <a:r>
              <a:rPr lang="fr-FR" u="sng"/>
              <a:t>Traitement </a:t>
            </a:r>
            <a:r>
              <a:rPr lang="fr-FR"/>
              <a:t>-  symptomatique, médicale - antibiothérapie (amoxicilline)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OTITE MOYENNE AIGUË  SCARLATINEUSE</a:t>
            </a:r>
            <a:endParaRPr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streptocoque béta hémolytique,  grave, avec caractère nécrosant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→ laissant des séquelles importantes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OTITE MOYENNE AIGUË  TUBERCULEUSE</a:t>
            </a:r>
            <a:endParaRPr b="1"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une complication de la tuberculose pulmonaire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 tympan ≈ montre de multiples perforations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728" name="Google Shape;728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1447800"/>
            <a:ext cx="190500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3"/>
          <p:cNvSpPr txBox="1"/>
          <p:nvPr>
            <p:ph type="title"/>
          </p:nvPr>
        </p:nvSpPr>
        <p:spPr>
          <a:xfrm>
            <a:off x="381000" y="228600"/>
            <a:ext cx="8305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 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OTITES  MOYENNES  CHRONIQUES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4" name="Google Shape;734;p83"/>
          <p:cNvSpPr txBox="1"/>
          <p:nvPr>
            <p:ph idx="1" type="body"/>
          </p:nvPr>
        </p:nvSpPr>
        <p:spPr>
          <a:xfrm>
            <a:off x="304800" y="1447800"/>
            <a:ext cx="8839200" cy="490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une inflammation chronique de la muqueuse de l’oreille moyenne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- otite moyenne chronique catarrhale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- otite moyenne chronique suppurée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735" name="Google Shape;73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1981200"/>
            <a:ext cx="22098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1287" y="4267200"/>
            <a:ext cx="2122713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4"/>
          <p:cNvSpPr txBox="1"/>
          <p:nvPr>
            <p:ph type="title"/>
          </p:nvPr>
        </p:nvSpPr>
        <p:spPr>
          <a:xfrm>
            <a:off x="609600" y="228600"/>
            <a:ext cx="80772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  MOYENNE  CATARRHALE  CHRONIQUE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2" name="Google Shape;742;p84"/>
          <p:cNvSpPr txBox="1"/>
          <p:nvPr>
            <p:ph idx="1" type="body"/>
          </p:nvPr>
        </p:nvSpPr>
        <p:spPr>
          <a:xfrm>
            <a:off x="304800" y="1143000"/>
            <a:ext cx="7848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  séreuse chronique = otite séro-muqueuse chronique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Font typeface="Corbel"/>
              <a:buChar char="-"/>
            </a:pPr>
            <a:r>
              <a:rPr lang="fr-FR" sz="2000"/>
              <a:t> la persistance des causes qui l’ont produite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Font typeface="Corbel"/>
              <a:buChar char="-"/>
            </a:pPr>
            <a:r>
              <a:rPr lang="fr-FR" sz="2000"/>
              <a:t> traitement incorrect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Étiopathogénie </a:t>
            </a:r>
            <a:r>
              <a:rPr lang="fr-FR" sz="2000"/>
              <a:t> 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Liquide visqueux ne peut pas s’écouler spontanément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Symptomatologie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Char char="▪"/>
            </a:pPr>
            <a:r>
              <a:rPr i="1" lang="fr-FR" sz="2000" u="sng">
                <a:solidFill>
                  <a:srgbClr val="FFC000"/>
                </a:solidFill>
              </a:rPr>
              <a:t>Subjectif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i="1" lang="fr-FR" sz="2000"/>
              <a:t>       </a:t>
            </a:r>
            <a:r>
              <a:rPr lang="fr-FR" sz="2000"/>
              <a:t>hypoacousie de transmission=symptôme dominant/unique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Char char="▪"/>
            </a:pPr>
            <a:r>
              <a:rPr i="1" lang="fr-FR" sz="2000" u="sng">
                <a:solidFill>
                  <a:srgbClr val="FFC000"/>
                </a:solidFill>
              </a:rPr>
              <a:t>Objectif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i="1" lang="fr-FR" sz="2000"/>
              <a:t>        </a:t>
            </a:r>
            <a:r>
              <a:rPr lang="fr-FR" sz="2000"/>
              <a:t>membrane tympanique rétracté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 le manche du marteau horizontalisé, jaunâtre mat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 </a:t>
            </a:r>
            <a:r>
              <a:rPr b="1" i="1" lang="fr-FR" sz="2000" u="sng"/>
              <a:t>papier imbibé d’huile</a:t>
            </a:r>
            <a:r>
              <a:rPr lang="fr-FR" sz="2000"/>
              <a:t>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743" name="Google Shape;743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1066800"/>
            <a:ext cx="2057400" cy="1830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4200" y="4800600"/>
            <a:ext cx="22098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85"/>
          <p:cNvSpPr txBox="1"/>
          <p:nvPr>
            <p:ph type="title"/>
          </p:nvPr>
        </p:nvSpPr>
        <p:spPr>
          <a:xfrm>
            <a:off x="381000" y="304800"/>
            <a:ext cx="8915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  MOYENNE  CATARRHALE  CHRONIQUE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0" name="Google Shape;750;p85"/>
          <p:cNvSpPr txBox="1"/>
          <p:nvPr>
            <p:ph idx="1" type="body"/>
          </p:nvPr>
        </p:nvSpPr>
        <p:spPr>
          <a:xfrm>
            <a:off x="381000" y="838200"/>
            <a:ext cx="6324600" cy="551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Évolution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dure longue temps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→"/>
            </a:pPr>
            <a:r>
              <a:rPr lang="fr-FR" sz="2400" u="sng">
                <a:solidFill>
                  <a:srgbClr val="FFC000"/>
                </a:solidFill>
              </a:rPr>
              <a:t>otite fibro-adhésive </a:t>
            </a:r>
            <a:r>
              <a:rPr lang="fr-FR" sz="2400"/>
              <a:t>la membrane tympanique est rattachée à la paroi intérieure de la maison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→"/>
            </a:pPr>
            <a:r>
              <a:rPr lang="fr-FR" sz="2400" u="sng">
                <a:solidFill>
                  <a:srgbClr val="FFC000"/>
                </a:solidFill>
              </a:rPr>
              <a:t>sachets des rétractions </a:t>
            </a:r>
            <a:r>
              <a:rPr lang="fr-FR" sz="2400"/>
              <a:t>de la membrane  → </a:t>
            </a:r>
            <a:r>
              <a:rPr lang="fr-FR" sz="2400">
                <a:solidFill>
                  <a:srgbClr val="FFC000"/>
                </a:solidFill>
              </a:rPr>
              <a:t>cholestéatome</a:t>
            </a:r>
            <a:r>
              <a:rPr lang="fr-FR" sz="2400"/>
              <a:t> </a:t>
            </a:r>
            <a:br>
              <a:rPr lang="fr-FR" sz="2400"/>
            </a:b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Traitement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400" u="sng">
                <a:solidFill>
                  <a:srgbClr val="FFC000"/>
                </a:solidFill>
              </a:rPr>
              <a:t>Prophylactique</a:t>
            </a:r>
            <a:r>
              <a:rPr lang="fr-FR" sz="2400" u="sng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traitement correct  OMAC 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400" u="sng">
                <a:solidFill>
                  <a:srgbClr val="FFC000"/>
                </a:solidFill>
              </a:rPr>
              <a:t>Curatif </a:t>
            </a:r>
            <a:r>
              <a:rPr lang="fr-FR" sz="24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400" u="sng"/>
              <a:t>évacuer le fluide visqueux de l’oreille moyenne </a:t>
            </a:r>
            <a:endParaRPr i="1" sz="2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- insufflation tubaire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- ponction transtympanique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- drainages transtympaniques - tubes aérateurs transtympanales (Diabolo)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751" name="Google Shape;75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7025" y="1066800"/>
            <a:ext cx="246697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3886200"/>
            <a:ext cx="24384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6"/>
          <p:cNvSpPr txBox="1"/>
          <p:nvPr>
            <p:ph type="title"/>
          </p:nvPr>
        </p:nvSpPr>
        <p:spPr>
          <a:xfrm>
            <a:off x="457200" y="2286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  MOYENNE  SUPPURÉE  CHRONIQUE</a:t>
            </a:r>
            <a:br>
              <a:rPr lang="fr-FR"/>
            </a:br>
            <a:endParaRPr/>
          </a:p>
        </p:txBody>
      </p:sp>
      <p:sp>
        <p:nvSpPr>
          <p:cNvPr id="758" name="Google Shape;758;p86"/>
          <p:cNvSpPr txBox="1"/>
          <p:nvPr>
            <p:ph idx="1" type="body"/>
          </p:nvPr>
        </p:nvSpPr>
        <p:spPr>
          <a:xfrm>
            <a:off x="381000" y="838200"/>
            <a:ext cx="9601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700">
                <a:solidFill>
                  <a:srgbClr val="FFC000"/>
                </a:solidFill>
              </a:rPr>
              <a:t>Otite moyenne suppurée chronique simple</a:t>
            </a:r>
            <a:endParaRPr b="1" sz="67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 otite moyenne suppurative chronique bénigne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 mésotympanite = otorrhée tubaire 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              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500">
                <a:solidFill>
                  <a:srgbClr val="FFC000"/>
                </a:solidFill>
              </a:rPr>
              <a:t>Étiopathogénie</a:t>
            </a:r>
            <a:r>
              <a:rPr b="1" lang="fr-FR" sz="4500"/>
              <a:t> 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staphylocoque, streptocoque , Pseudomonas, Proteus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500">
                <a:solidFill>
                  <a:srgbClr val="FFC000"/>
                </a:solidFill>
              </a:rPr>
              <a:t>Mécanisme de production </a:t>
            </a:r>
            <a:endParaRPr sz="4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♦ dysfonctionnement tubaire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♦ otite moyenne chronique catarrhale  surinfectée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500">
                <a:solidFill>
                  <a:srgbClr val="FFC000"/>
                </a:solidFill>
              </a:rPr>
              <a:t>Anatomie pathologique </a:t>
            </a:r>
            <a:r>
              <a:rPr lang="fr-FR" sz="4500"/>
              <a:t>	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une inflammation chronique exsudative de la muqueuse de l’oreille moyenne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 non pas ulcération de la muqueuse ou des processus d’ostéite</a:t>
            </a:r>
            <a:endParaRPr sz="4500"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759" name="Google Shape;75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1676400"/>
            <a:ext cx="1981200" cy="1956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87"/>
          <p:cNvSpPr txBox="1"/>
          <p:nvPr>
            <p:ph type="title"/>
          </p:nvPr>
        </p:nvSpPr>
        <p:spPr>
          <a:xfrm>
            <a:off x="381000" y="-457200"/>
            <a:ext cx="8763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br>
              <a:rPr lang="fr-FR"/>
            </a:b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  MOYENNE  SUPPURÉE  CHRONIQUE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5" name="Google Shape;765;p87"/>
          <p:cNvSpPr txBox="1"/>
          <p:nvPr>
            <p:ph idx="1" type="body"/>
          </p:nvPr>
        </p:nvSpPr>
        <p:spPr>
          <a:xfrm>
            <a:off x="304800" y="838200"/>
            <a:ext cx="7696200" cy="551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5100">
                <a:solidFill>
                  <a:srgbClr val="FFC000"/>
                </a:solidFill>
              </a:rPr>
              <a:t>Otite moyenne suppurée chronique simple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Symptomatologie </a:t>
            </a:r>
            <a:endParaRPr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300" u="sng"/>
              <a:t>Subjectif</a:t>
            </a:r>
            <a:r>
              <a:rPr i="1" lang="fr-FR" sz="3300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- hypoacousie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 - otorrhée muqueuse / purulente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300" u="sng"/>
              <a:t>Objectif</a:t>
            </a:r>
            <a:endParaRPr i="1" sz="33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- otorrhée muqueux/ mucopurulent philanthe </a:t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- perforation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         - de différentes tailles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         - au niveau de la pars tensa/ central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          -ne touche pas l’insertion osseuse de la membrane tympanique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Examen fonctionnel</a:t>
            </a:r>
            <a:r>
              <a:rPr lang="fr-FR" sz="33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 –  hypoacousie de  transmission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 &gt;  après des années + s’ajoute le composant neuro-sensorielle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300"/>
              <a:t>   →   hypoacousie de type  mixte</a:t>
            </a:r>
            <a:endParaRPr sz="3300"/>
          </a:p>
        </p:txBody>
      </p:sp>
      <p:pic>
        <p:nvPicPr>
          <p:cNvPr id="766" name="Google Shape;76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1447800"/>
            <a:ext cx="2276610" cy="214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88"/>
          <p:cNvSpPr txBox="1"/>
          <p:nvPr>
            <p:ph type="title"/>
          </p:nvPr>
        </p:nvSpPr>
        <p:spPr>
          <a:xfrm>
            <a:off x="533400" y="0"/>
            <a:ext cx="815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br>
              <a:rPr b="1" lang="fr-FR" sz="3200"/>
            </a:b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OTITE  MOYENNE  SUPPURÉE  CHRONIQUE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72" name="Google Shape;772;p88"/>
          <p:cNvSpPr txBox="1"/>
          <p:nvPr>
            <p:ph idx="1" type="body"/>
          </p:nvPr>
        </p:nvSpPr>
        <p:spPr>
          <a:xfrm>
            <a:off x="457200" y="990600"/>
            <a:ext cx="8686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Évolution 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-dure longue temps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-les périodes de calme sont interrompues par des poussées,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-otorrhée, intensification de l’hypoacousie → aux processus inflammatoires aiguës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de voisinage (rhinite, sinusite, pharyngite)  /  infiltrations d’eau „en oreilles »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Traitement 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 u="sng">
                <a:solidFill>
                  <a:srgbClr val="FFC000"/>
                </a:solidFill>
              </a:rPr>
              <a:t>Prophylactique</a:t>
            </a:r>
            <a:r>
              <a:rPr lang="fr-FR" sz="18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traitement correct des affections favorisantes (végétations adénoïdes)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 u="sng">
                <a:solidFill>
                  <a:srgbClr val="FFC000"/>
                </a:solidFill>
              </a:rPr>
              <a:t>Local</a:t>
            </a:r>
            <a:r>
              <a:rPr lang="fr-FR" sz="1800" u="sng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>
                <a:solidFill>
                  <a:srgbClr val="FFC000"/>
                </a:solidFill>
              </a:rPr>
              <a:t> -</a:t>
            </a:r>
            <a:r>
              <a:rPr lang="fr-FR" sz="1800"/>
              <a:t> empêcher la pénétration de l’eau „dans l’oreille »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- tampon de coton trempé dans huile dans le conduit lors du bain 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- aspiration  de sécrétions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- gouttes auriculaires   -  alcool borique à 4 % / solution antibiotique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- Tympanoplastie -  garder l’oreille sèche &gt; une année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 u="sng">
                <a:solidFill>
                  <a:srgbClr val="FFC000"/>
                </a:solidFill>
              </a:rPr>
              <a:t>Général</a:t>
            </a:r>
            <a:r>
              <a:rPr lang="fr-FR" sz="1800"/>
              <a:t> - symptomatique  </a:t>
            </a:r>
            <a:br>
              <a:rPr lang="fr-FR" sz="1800"/>
            </a:br>
            <a:r>
              <a:rPr lang="fr-FR" sz="1800"/>
              <a:t>          - antibiotiques </a:t>
            </a:r>
            <a:endParaRPr sz="1800"/>
          </a:p>
          <a:p>
            <a:pPr indent="-234315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89"/>
          <p:cNvSpPr txBox="1"/>
          <p:nvPr>
            <p:ph type="title"/>
          </p:nvPr>
        </p:nvSpPr>
        <p:spPr>
          <a:xfrm>
            <a:off x="381000" y="304800"/>
            <a:ext cx="8763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800"/>
              <a:buFont typeface="Corbel"/>
              <a:buNone/>
            </a:pP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Otite  moyenne  suppurée  chronique  cholestéatomateuse</a:t>
            </a:r>
            <a:br>
              <a:rPr lang="fr-FR" sz="2800">
                <a:latin typeface="Corbel"/>
                <a:ea typeface="Corbel"/>
                <a:cs typeface="Corbel"/>
                <a:sym typeface="Corbel"/>
              </a:rPr>
            </a:br>
            <a:br>
              <a:rPr lang="fr-FR" sz="3200"/>
            </a:br>
            <a:r>
              <a:rPr lang="fr-FR" sz="3200"/>
              <a:t> </a:t>
            </a:r>
            <a:br>
              <a:rPr lang="fr-FR" sz="3200"/>
            </a:br>
            <a:r>
              <a:rPr lang="fr-FR" sz="3200"/>
              <a:t> </a:t>
            </a:r>
            <a:endParaRPr sz="3200"/>
          </a:p>
        </p:txBody>
      </p:sp>
      <p:sp>
        <p:nvSpPr>
          <p:cNvPr id="778" name="Google Shape;778;p89"/>
          <p:cNvSpPr txBox="1"/>
          <p:nvPr>
            <p:ph idx="1" type="body"/>
          </p:nvPr>
        </p:nvSpPr>
        <p:spPr>
          <a:xfrm>
            <a:off x="381000" y="12192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otite moyenne suppurative maligne = Épitympanite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Anatomie pathologique 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</a:t>
            </a:r>
            <a:r>
              <a:rPr b="1" i="1" lang="fr-FR" sz="1800" u="sng">
                <a:solidFill>
                  <a:srgbClr val="FFC000"/>
                </a:solidFill>
              </a:rPr>
              <a:t>le cholestéatome</a:t>
            </a:r>
            <a:endParaRPr b="1" i="1" sz="1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>
                <a:solidFill>
                  <a:srgbClr val="FFC000"/>
                </a:solidFill>
              </a:rPr>
              <a:t> </a:t>
            </a:r>
            <a:r>
              <a:rPr lang="fr-FR" sz="1800"/>
              <a:t>- un sac tégumentaire avec une </a:t>
            </a:r>
            <a:r>
              <a:rPr i="1" lang="fr-FR" sz="1800" u="sng"/>
              <a:t>couche germinative </a:t>
            </a:r>
            <a:r>
              <a:rPr lang="fr-FR" sz="1800"/>
              <a:t>à extérieure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la </a:t>
            </a:r>
            <a:r>
              <a:rPr i="1" lang="fr-FR" sz="1800" u="sng"/>
              <a:t>couche desquamative </a:t>
            </a:r>
            <a:r>
              <a:rPr lang="fr-FR" sz="1800"/>
              <a:t>vers → l’intérieur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-  une masse blanchâtre - nacrée, ayant à la périphérie une chemise - </a:t>
            </a:r>
            <a:r>
              <a:rPr b="1" i="1" lang="fr-FR" sz="1800" u="sng">
                <a:solidFill>
                  <a:srgbClr val="FFC000"/>
                </a:solidFill>
              </a:rPr>
              <a:t>la matrice</a:t>
            </a:r>
            <a:endParaRPr b="1" i="1" sz="1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- le point de départ  - l’attique externe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- l’externalisation est effectuée par</a:t>
            </a:r>
            <a:r>
              <a:rPr i="1" lang="fr-FR" sz="1800"/>
              <a:t> flaccida</a:t>
            </a:r>
            <a:r>
              <a:rPr lang="fr-FR" sz="1800"/>
              <a:t>  /une perforation marginale postéro supérieure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- lames nacrées lumineuses apparaissant dans la sécrétion otique</a:t>
            </a:r>
            <a:endParaRPr sz="18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779" name="Google Shape;77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1447800"/>
            <a:ext cx="2514600" cy="1899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90"/>
          <p:cNvSpPr txBox="1"/>
          <p:nvPr>
            <p:ph type="title"/>
          </p:nvPr>
        </p:nvSpPr>
        <p:spPr>
          <a:xfrm>
            <a:off x="381000" y="304800"/>
            <a:ext cx="830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800"/>
              <a:buFont typeface="Corbel"/>
              <a:buNone/>
            </a:pP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Otite  moyenne suppurée chronique cholestéatomateuse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5" name="Google Shape;785;p90"/>
          <p:cNvSpPr txBox="1"/>
          <p:nvPr>
            <p:ph idx="1" type="body"/>
          </p:nvPr>
        </p:nvSpPr>
        <p:spPr>
          <a:xfrm>
            <a:off x="381000" y="2057400"/>
            <a:ext cx="8534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Pathogénie </a:t>
            </a:r>
            <a:endParaRPr b="1"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i="1" lang="fr-FR" sz="1800" u="sng">
                <a:solidFill>
                  <a:srgbClr val="FFC000"/>
                </a:solidFill>
              </a:rPr>
              <a:t>cholestéatome primitif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>
                <a:solidFill>
                  <a:srgbClr val="FFC000"/>
                </a:solidFill>
              </a:rPr>
              <a:t>   </a:t>
            </a:r>
            <a:r>
              <a:rPr lang="fr-FR" sz="1800"/>
              <a:t>inclusions épithéliales embryonnaires ectodermiques-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la pénétration du tégument du  CAE  dans l’oreille moyenne par les trous préexistants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 (</a:t>
            </a:r>
            <a:r>
              <a:rPr b="1" i="1" lang="fr-FR" sz="1800" u="sng">
                <a:solidFill>
                  <a:srgbClr val="FFC000"/>
                </a:solidFill>
              </a:rPr>
              <a:t>cholestéatome secondaire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le sachet de rétraction – otite moyenne chronique catarrhale - les rétractions de la membrane tympaniques - accumulation de l’épithélium desquamé à l’intérieur surinfection - l’érosion de l’os autour cholestéatome - complications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i="1" lang="fr-FR" sz="1800" u="sng">
                <a:solidFill>
                  <a:srgbClr val="FFC000"/>
                </a:solidFill>
              </a:rPr>
              <a:t>La matrice  →  </a:t>
            </a:r>
            <a:r>
              <a:rPr lang="fr-FR" sz="1800"/>
              <a:t>lyse l’os   →  des parties de la chemise s’ulcèrent à cause d’une infection  →  granulations  –  polypes auriculaires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</a:t>
            </a:r>
            <a:r>
              <a:rPr b="1" i="1" lang="fr-FR" sz="1800" u="sng"/>
              <a:t>le cholestéatome a un comportement tumoral</a:t>
            </a:r>
            <a:endParaRPr b="1" i="1" sz="1800" u="sng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786" name="Google Shape;786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1" y="1219200"/>
            <a:ext cx="2285999" cy="182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91"/>
          <p:cNvSpPr txBox="1"/>
          <p:nvPr>
            <p:ph type="title"/>
          </p:nvPr>
        </p:nvSpPr>
        <p:spPr>
          <a:xfrm>
            <a:off x="457200" y="228600"/>
            <a:ext cx="89154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800"/>
              <a:buFont typeface="Corbel"/>
              <a:buNone/>
            </a:pP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Otite  moyenne  suppurée chronique cholestéatomateuse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2" name="Google Shape;792;p91"/>
          <p:cNvSpPr txBox="1"/>
          <p:nvPr>
            <p:ph idx="1" type="body"/>
          </p:nvPr>
        </p:nvSpPr>
        <p:spPr>
          <a:xfrm>
            <a:off x="304800" y="1066800"/>
            <a:ext cx="83820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Symptomatologie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Subjectif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hypoacousie discrète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otorrhée purulente très fétide  </a:t>
            </a:r>
            <a:br>
              <a:rPr lang="fr-FR"/>
            </a:br>
            <a:r>
              <a:rPr lang="fr-FR"/>
              <a:t> - sanglante - granulations ou polype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Objectif </a:t>
            </a:r>
            <a:r>
              <a:rPr i="1" lang="fr-FR"/>
              <a:t>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sécrétion nette purulente fétide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perforation - en pars flaccida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tensa pars – en quadrant postéro supérieure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perforation  marginale,en contact avec l’os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 lames blanchâtres, nacré, brillant - pathognomonique du cholestéatome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granulations  / polypes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Examen fonctionnel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hypoacousie de transmission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Examen paraclinique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ex. de la sécrétion - flore polymorphe - Pseudomonas, Proteus, Staphylococcus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ex. radiologique - érosion des parois osseuses, réduisant la pneumatisation de la mastoïde.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793" name="Google Shape;79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143000"/>
            <a:ext cx="2743200" cy="207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92"/>
          <p:cNvSpPr txBox="1"/>
          <p:nvPr>
            <p:ph type="title"/>
          </p:nvPr>
        </p:nvSpPr>
        <p:spPr>
          <a:xfrm>
            <a:off x="304800" y="381000"/>
            <a:ext cx="8382000" cy="1045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800"/>
              <a:buFont typeface="Corbel"/>
              <a:buNone/>
            </a:pP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Otite  moyenne  suppurée chronique  cholestéatomateuse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9" name="Google Shape;799;p92"/>
          <p:cNvSpPr txBox="1"/>
          <p:nvPr>
            <p:ph idx="1" type="body"/>
          </p:nvPr>
        </p:nvSpPr>
        <p:spPr>
          <a:xfrm>
            <a:off x="304800" y="1143000"/>
            <a:ext cx="77724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Évolution </a:t>
            </a:r>
            <a:endParaRPr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longue temps, souvent toute la vie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périodes de silence alternant avec accès de courte durée 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les lésions → plus étendues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complications  → pendant les crises aiguës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Pronostic</a:t>
            </a:r>
            <a:r>
              <a:rPr b="1" lang="fr-FR" sz="1600">
                <a:solidFill>
                  <a:srgbClr val="FFC000"/>
                </a:solidFill>
              </a:rPr>
              <a:t> 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 </a:t>
            </a:r>
            <a:r>
              <a:rPr lang="fr-FR" sz="1600"/>
              <a:t>n’est pas favorable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Traitement </a:t>
            </a:r>
            <a:endParaRPr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i="1" lang="fr-FR" sz="1600" u="sng">
                <a:solidFill>
                  <a:srgbClr val="FFC000"/>
                </a:solidFill>
              </a:rPr>
              <a:t>Prophylactique </a:t>
            </a:r>
            <a:endParaRPr i="1" sz="16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traitement de la dysfonction tubaire et des causes qui la produisent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i="1" lang="fr-FR" sz="1600" u="sng">
                <a:solidFill>
                  <a:srgbClr val="FFC000"/>
                </a:solidFill>
              </a:rPr>
              <a:t>Curatif </a:t>
            </a:r>
            <a:endParaRPr i="1" sz="16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évidations pétromastoidiennes partielles  / totales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en fonction de l’extension des lésions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i="1" lang="fr-FR" sz="1600" u="sng">
                <a:solidFill>
                  <a:srgbClr val="FFC000"/>
                </a:solidFill>
              </a:rPr>
              <a:t>Conservateur</a:t>
            </a:r>
            <a:r>
              <a:rPr lang="fr-FR" sz="1600" u="sng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lʼaspiration de la sécrétion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instillation de désinfectants  + antibiotique non ototoxiques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antibiotiques  -  poussées aiguës  / la présence de complications</a:t>
            </a:r>
            <a:endParaRPr sz="16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800" name="Google Shape;80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1447800"/>
            <a:ext cx="2514600" cy="2058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4266" y="3581400"/>
            <a:ext cx="2469734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93"/>
          <p:cNvSpPr txBox="1"/>
          <p:nvPr>
            <p:ph type="title"/>
          </p:nvPr>
        </p:nvSpPr>
        <p:spPr>
          <a:xfrm>
            <a:off x="381000" y="228600"/>
            <a:ext cx="8305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COMPLICATIONS  DES  OTITES</a:t>
            </a:r>
            <a:br>
              <a:rPr lang="fr-FR"/>
            </a:br>
            <a:endParaRPr/>
          </a:p>
        </p:txBody>
      </p:sp>
      <p:sp>
        <p:nvSpPr>
          <p:cNvPr id="807" name="Google Shape;807;p93"/>
          <p:cNvSpPr txBox="1"/>
          <p:nvPr>
            <p:ph idx="1" type="body"/>
          </p:nvPr>
        </p:nvSpPr>
        <p:spPr>
          <a:xfrm>
            <a:off x="381000" y="1219200"/>
            <a:ext cx="8305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129545"/>
              <a:buNone/>
            </a:pP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 sz="2200" u="sng">
                <a:solidFill>
                  <a:srgbClr val="FFC000"/>
                </a:solidFill>
              </a:rPr>
              <a:t>a. Complications extérieures, éxotemporales</a:t>
            </a:r>
            <a:r>
              <a:rPr lang="fr-FR" sz="2200"/>
              <a:t>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200"/>
              <a:t>      - extériorisation - dans le conduit auditif externe  CAE </a:t>
            </a:r>
            <a:br>
              <a:rPr lang="fr-FR" sz="2200"/>
            </a:br>
            <a:r>
              <a:rPr lang="fr-FR" sz="2200"/>
              <a:t> 		      - cervicale </a:t>
            </a:r>
            <a:br>
              <a:rPr lang="fr-FR" sz="2200"/>
            </a:br>
            <a:r>
              <a:rPr lang="fr-FR" sz="2200"/>
              <a:t>- abcès rétro auriculaire et la fistule rétro auriculaire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200" u="sng">
                <a:solidFill>
                  <a:srgbClr val="FFC000"/>
                </a:solidFill>
              </a:rPr>
              <a:t>b. Complications endotemporale</a:t>
            </a:r>
            <a:r>
              <a:rPr lang="fr-FR" sz="2200"/>
              <a:t>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200"/>
              <a:t>      - mastoïdite aiguë et chronique </a:t>
            </a:r>
            <a:br>
              <a:rPr lang="fr-FR" sz="2200"/>
            </a:br>
            <a:r>
              <a:rPr lang="fr-FR" sz="2200"/>
              <a:t>- paralysie faciale  </a:t>
            </a:r>
            <a:br>
              <a:rPr lang="fr-FR" sz="2200"/>
            </a:br>
            <a:r>
              <a:rPr lang="fr-FR" sz="2200"/>
              <a:t>- la labyrinthite </a:t>
            </a:r>
            <a:br>
              <a:rPr lang="fr-FR" sz="2200"/>
            </a:br>
            <a:r>
              <a:rPr lang="fr-FR" sz="2200"/>
              <a:t>- ostéomyélite de l’os temporal </a:t>
            </a:r>
            <a:br>
              <a:rPr lang="fr-FR" sz="2200"/>
            </a:br>
            <a:r>
              <a:rPr lang="fr-FR" sz="2200"/>
              <a:t>- pétrosite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200" u="sng">
                <a:solidFill>
                  <a:srgbClr val="FFC000"/>
                </a:solidFill>
              </a:rPr>
              <a:t>c. Complications endocrâniens</a:t>
            </a:r>
            <a:endParaRPr b="1" sz="2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200"/>
              <a:t>      - méningite otogène  </a:t>
            </a:r>
            <a:br>
              <a:rPr lang="fr-FR" sz="2200"/>
            </a:br>
            <a:r>
              <a:rPr lang="fr-FR" sz="2200"/>
              <a:t>- abcès extra / sous-dural, abcès cérébral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200">
                <a:solidFill>
                  <a:srgbClr val="FFC000"/>
                </a:solidFill>
              </a:rPr>
              <a:t>d. Complications veineuses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200">
                <a:solidFill>
                  <a:srgbClr val="FFC000"/>
                </a:solidFill>
              </a:rPr>
              <a:t>      </a:t>
            </a:r>
            <a:r>
              <a:rPr lang="fr-FR" sz="2200"/>
              <a:t>- thrombophlébite de sinus latérale</a:t>
            </a:r>
            <a:endParaRPr sz="2200"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94"/>
          <p:cNvSpPr txBox="1"/>
          <p:nvPr>
            <p:ph type="title"/>
          </p:nvPr>
        </p:nvSpPr>
        <p:spPr>
          <a:xfrm>
            <a:off x="381000" y="381000"/>
            <a:ext cx="8305800" cy="1045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COMPLICATIONS  DES  OTITES</a:t>
            </a:r>
            <a:br>
              <a:rPr lang="fr-FR"/>
            </a:br>
            <a:endParaRPr/>
          </a:p>
        </p:txBody>
      </p:sp>
      <p:sp>
        <p:nvSpPr>
          <p:cNvPr id="813" name="Google Shape;813;p94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1925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814" name="Google Shape;814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524000"/>
            <a:ext cx="7010400" cy="50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95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OTOMASTOÏDITE</a:t>
            </a:r>
            <a:br>
              <a:rPr lang="fr-FR"/>
            </a:br>
            <a:endParaRPr/>
          </a:p>
        </p:txBody>
      </p:sp>
      <p:sp>
        <p:nvSpPr>
          <p:cNvPr id="820" name="Google Shape;820;p95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une inflammation purulente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 de l’apophyse mastoïde aiguë ou chronique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 </a:t>
            </a:r>
            <a:r>
              <a:rPr lang="fr-FR">
                <a:solidFill>
                  <a:srgbClr val="FFC000"/>
                </a:solidFill>
              </a:rPr>
              <a:t>la complication la plus fréquente de l’otite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96"/>
          <p:cNvSpPr txBox="1"/>
          <p:nvPr>
            <p:ph type="title"/>
          </p:nvPr>
        </p:nvSpPr>
        <p:spPr>
          <a:xfrm>
            <a:off x="914400" y="304800"/>
            <a:ext cx="77724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MASTOÏDITE  AIGUË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6" name="Google Shape;826;p96"/>
          <p:cNvSpPr txBox="1"/>
          <p:nvPr>
            <p:ph idx="1" type="body"/>
          </p:nvPr>
        </p:nvSpPr>
        <p:spPr>
          <a:xfrm>
            <a:off x="381000" y="1295400"/>
            <a:ext cx="8763000" cy="506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ostéite des cellules otomastoïdiennes → une complication d’un processus inflammatoire aiguë de l’oreille moyenne  → extension au système des cellules mastoïdiennes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900" u="sng"/>
              <a:t>Réaction mastoïde </a:t>
            </a:r>
            <a:r>
              <a:rPr lang="fr-FR" sz="2900"/>
              <a:t>- une inflammation de la muqueuse mastoïdienne accompagnant une otite moyenne aiguë, mais sans aucun foyer d’ostéite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lésions d’ostéite antromastoïdienne affectant des septums osseux intercellulaires et empyème mastoïdien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900">
                <a:solidFill>
                  <a:srgbClr val="FFC000"/>
                </a:solidFill>
              </a:rPr>
              <a:t>Étiopathogénie </a:t>
            </a:r>
            <a:endParaRPr sz="29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900"/>
              <a:t> </a:t>
            </a:r>
            <a:r>
              <a:rPr i="1" lang="fr-FR" sz="2900" u="sng"/>
              <a:t>Facteur déterminant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       pneumocoque, streptocoque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900" u="sng"/>
              <a:t>Facteurs favorisants </a:t>
            </a:r>
            <a:endParaRPr i="1" sz="29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 virulence microbienne 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 terrain du patient : l’immunodéficience, l’allergie 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 la rétention des sécrétions purulentes - drainage insuffisant OMA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 structure de la mastoïde – la pneumatisation favorise la propagation du processus de suppuration 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 le facteur climatique</a:t>
            </a:r>
            <a:endParaRPr sz="2900"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7"/>
          <p:cNvSpPr txBox="1"/>
          <p:nvPr>
            <p:ph type="title"/>
          </p:nvPr>
        </p:nvSpPr>
        <p:spPr>
          <a:xfrm>
            <a:off x="914400" y="228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MASTOÏDITE  AIGUË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2" name="Google Shape;832;p97"/>
          <p:cNvSpPr txBox="1"/>
          <p:nvPr>
            <p:ph idx="1" type="body"/>
          </p:nvPr>
        </p:nvSpPr>
        <p:spPr>
          <a:xfrm>
            <a:off x="457200" y="762000"/>
            <a:ext cx="89154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S</a:t>
            </a:r>
            <a:r>
              <a:rPr b="1" lang="fr-FR" sz="7200">
                <a:solidFill>
                  <a:srgbClr val="FFC000"/>
                </a:solidFill>
              </a:rPr>
              <a:t>ymptomatologie</a:t>
            </a:r>
            <a:r>
              <a:rPr b="1" lang="fr-FR" sz="6400">
                <a:solidFill>
                  <a:srgbClr val="FFC000"/>
                </a:solidFill>
              </a:rPr>
              <a:t> 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/>
              <a:t>Subjectif </a:t>
            </a:r>
            <a:endParaRPr b="1" i="1" sz="6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un patient avec l’otite moyenne aiguë d’environ 2-3 semaines  →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otalgie intense, niveau de la mastoïde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otorrhée  abondante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- mastoïde devient sensible au toucher,  se tuméfie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région mastoïdienne  → fluctuante →  la fistule rétro auriculaire → drainage de pus 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/>
              <a:t>Objectif </a:t>
            </a:r>
            <a:endParaRPr b="1" i="1" sz="6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otorrhée abondante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tympan fortement congestionné, gonflé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 le tégument de la paroi postérieure du conduit- décollé / poussé vers le lumen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/>
              <a:t>Paraclinique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ex. bactériologique des sécrétions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hipoacusie  de transmission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ex,.radiologique– le voilage des cellules mastoïdiennes  / disparition des septums intercellulaires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Traitement </a:t>
            </a:r>
            <a:endParaRPr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chirurgical  - mastoïdectomie - antromastoïdectomie. le curetage des cellules mastoïdiennes 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traitement antibiotique est obligatoire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 </a:t>
            </a:r>
            <a:endParaRPr sz="72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98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MASTOÏDITE  CHRONIQUE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8" name="Google Shape;838;p98"/>
          <p:cNvSpPr txBox="1"/>
          <p:nvPr>
            <p:ph idx="1" type="body"/>
          </p:nvPr>
        </p:nvSpPr>
        <p:spPr>
          <a:xfrm>
            <a:off x="381000" y="1752600"/>
            <a:ext cx="8763000" cy="460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une complication de l’otite moyenne suppurée chronique cholestéatomateuse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 u="sng">
                <a:solidFill>
                  <a:srgbClr val="FFC000"/>
                </a:solidFill>
              </a:rPr>
              <a:t>la rétention de sécrétion purulente au niveau de la mastoïde</a:t>
            </a:r>
            <a:endParaRPr sz="20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mastoïdite aiguë  ≈ la collection atteinte sous périostée 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traitement chirurgical de cholestéatome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99"/>
          <p:cNvSpPr txBox="1"/>
          <p:nvPr>
            <p:ph type="title"/>
          </p:nvPr>
        </p:nvSpPr>
        <p:spPr>
          <a:xfrm>
            <a:off x="381000" y="512064"/>
            <a:ext cx="8305800" cy="1240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PARALYSIE  FACIALE   DE  CAUSE  OTIQUE</a:t>
            </a:r>
            <a:br>
              <a:rPr lang="fr-FR">
                <a:latin typeface="Corbel"/>
                <a:ea typeface="Corbel"/>
                <a:cs typeface="Corbel"/>
                <a:sym typeface="Corbel"/>
              </a:rPr>
            </a:b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4" name="Google Shape;844;p99"/>
          <p:cNvSpPr txBox="1"/>
          <p:nvPr>
            <p:ph idx="1" type="body"/>
          </p:nvPr>
        </p:nvSpPr>
        <p:spPr>
          <a:xfrm>
            <a:off x="304800" y="1447800"/>
            <a:ext cx="8610600" cy="490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Asimetrie faciale /  ne peut pas fermer l’oeil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Étiopathogénie </a:t>
            </a:r>
            <a:endParaRPr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 </a:t>
            </a:r>
            <a:r>
              <a:rPr lang="fr-FR" sz="7200" u="sng"/>
              <a:t>otites aiguës  - </a:t>
            </a:r>
            <a:r>
              <a:rPr lang="fr-FR" sz="7200"/>
              <a:t> l’œdème inflammatoire - au niveau du canal osseux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inextensible,→ compression vasa nervorum et l’ischémie du nerf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 u="sng"/>
              <a:t>otite chronique  cholestéatomateuses   </a:t>
            </a:r>
            <a:r>
              <a:rPr lang="fr-FR" sz="7200"/>
              <a:t>le nerf est découvert / comprimé par cholestéatome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Symptomatologie</a:t>
            </a:r>
            <a:r>
              <a:rPr b="1" lang="fr-FR" sz="7200"/>
              <a:t> 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7200"/>
              <a:t>Une asymétrie faciale avec la suppression des reliefs hémifaciaux et hypomobilité : l’œil ne peut pas être fermé, le patient ne peut pas siffler, à montrer les dents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Diagnostic </a:t>
            </a:r>
            <a:endParaRPr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7200"/>
              <a:t>éliminer d’autres étiologies : „a frigo re », traumatiques, zona, des tumeurs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Traitement </a:t>
            </a:r>
            <a:endParaRPr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 ∙ conservateur ~ les otites aiguës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 ∙ chirurgical ~ les otites cholestéatomateuses 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845" name="Google Shape;845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1524000"/>
            <a:ext cx="21336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00"/>
          <p:cNvSpPr txBox="1"/>
          <p:nvPr>
            <p:ph type="title"/>
          </p:nvPr>
        </p:nvSpPr>
        <p:spPr>
          <a:xfrm>
            <a:off x="914400" y="512064"/>
            <a:ext cx="8229600" cy="1240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COMPLICATIONS  ENDOCRÂNIENNES</a:t>
            </a:r>
            <a:br>
              <a:rPr lang="fr-FR"/>
            </a:br>
            <a:endParaRPr/>
          </a:p>
        </p:txBody>
      </p:sp>
      <p:sp>
        <p:nvSpPr>
          <p:cNvPr id="851" name="Google Shape;851;p100"/>
          <p:cNvSpPr txBox="1"/>
          <p:nvPr>
            <p:ph idx="1" type="body"/>
          </p:nvPr>
        </p:nvSpPr>
        <p:spPr>
          <a:xfrm>
            <a:off x="609600" y="1295400"/>
            <a:ext cx="8077200" cy="506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Syndrome de suppuration </a:t>
            </a:r>
            <a:r>
              <a:rPr lang="fr-FR" sz="2000"/>
              <a:t>-signes de la suppuration otique  +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signes généraux fièvre, fatigue, adynamie, la perte d’appétit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Paraclinique : VSH ↑ont augmenté, leucocytose avec polymorphonucléaires, -↑ protéine C réactive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Syndrome d’hypertension intracrânienne  - </a:t>
            </a:r>
            <a:r>
              <a:rPr lang="fr-FR" sz="2000"/>
              <a:t> céphalées, vomissements, bradycardie, somnolence, convulsions, troubles mentaux, respiratoire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</a:t>
            </a:r>
            <a:r>
              <a:rPr b="1" i="1" lang="fr-FR" sz="2000">
                <a:solidFill>
                  <a:srgbClr val="FFC000"/>
                </a:solidFill>
              </a:rPr>
              <a:t>Syndrome de localisation </a:t>
            </a:r>
            <a:r>
              <a:rPr lang="fr-FR" sz="2000"/>
              <a:t>- troubles de la motricité - parésies, paralysie convulsions épileptoïdes, troubles sensitives, sensorielles</a:t>
            </a:r>
            <a:endParaRPr sz="20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01"/>
          <p:cNvSpPr txBox="1"/>
          <p:nvPr>
            <p:ph type="title"/>
          </p:nvPr>
        </p:nvSpPr>
        <p:spPr>
          <a:xfrm>
            <a:off x="381000" y="228600"/>
            <a:ext cx="8305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SÉQUELLES  DES  OTITES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7" name="Google Shape;857;p101"/>
          <p:cNvSpPr txBox="1"/>
          <p:nvPr>
            <p:ph idx="1" type="body"/>
          </p:nvPr>
        </p:nvSpPr>
        <p:spPr>
          <a:xfrm>
            <a:off x="381000" y="838200"/>
            <a:ext cx="8305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br>
              <a:rPr b="1" lang="fr-FR"/>
            </a:b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restent après la guérison du processus inflammatoire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Séquelles simples des otites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la perforation de la membrane du tympan / l’interruption de la chaîne osiculaire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→  </a:t>
            </a:r>
            <a:r>
              <a:rPr b="1" i="1" lang="fr-FR" u="sng">
                <a:solidFill>
                  <a:srgbClr val="FFC000"/>
                </a:solidFill>
              </a:rPr>
              <a:t>hypoacousie de transmission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traitement  - chirurgical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Tympanosclérose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après  &gt;  l’otite moyenne chronique simple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imprégnation avec calcium et la dégénérescence hyaline de la muqueuse de l’oreille moyenne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→ l’immobilisation de la chaîne osiculaire.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→ </a:t>
            </a:r>
            <a:r>
              <a:rPr b="1" i="1" lang="fr-FR" u="sng">
                <a:solidFill>
                  <a:srgbClr val="FFC000"/>
                </a:solidFill>
              </a:rPr>
              <a:t>hypoacousie de transmission</a:t>
            </a:r>
            <a:endParaRPr b="1" i="1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traitement</a:t>
            </a:r>
            <a:r>
              <a:rPr lang="fr-FR"/>
              <a:t>  - chirurgical,  résultats fonctionnels  ↓ faibles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Otite fibroadésive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après &gt;  l’otite moyenne catarrhale chronique, l’air de l’oreille moyenne disparaît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la muqueuse →une transformation sclérotique, rétractile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hypoacousie  +  acouphènes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le tympan est collée à la paroi intérieure de la maison,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→     </a:t>
            </a:r>
            <a:r>
              <a:rPr b="1" i="1" lang="fr-FR" u="sng">
                <a:solidFill>
                  <a:srgbClr val="FFC000"/>
                </a:solidFill>
              </a:rPr>
              <a:t>hypoacusie  mixte</a:t>
            </a:r>
            <a:endParaRPr b="1" i="1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traitement  -  chirurgical, les résultats sont relatifs, prothèse auditive reste comme une alternative</a:t>
            </a:r>
            <a:endParaRPr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02"/>
          <p:cNvSpPr txBox="1"/>
          <p:nvPr>
            <p:ph type="title"/>
          </p:nvPr>
        </p:nvSpPr>
        <p:spPr>
          <a:xfrm>
            <a:off x="457200" y="228600"/>
            <a:ext cx="82296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OTOSCLÉROSE  (otospongiose)</a:t>
            </a:r>
            <a:br>
              <a:rPr lang="fr-FR"/>
            </a:br>
            <a:endParaRPr/>
          </a:p>
        </p:txBody>
      </p:sp>
      <p:sp>
        <p:nvSpPr>
          <p:cNvPr id="863" name="Google Shape;863;p102"/>
          <p:cNvSpPr txBox="1"/>
          <p:nvPr>
            <p:ph idx="1" type="body"/>
          </p:nvPr>
        </p:nvSpPr>
        <p:spPr>
          <a:xfrm>
            <a:off x="381000" y="838200"/>
            <a:ext cx="8305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affection dystrophique de l’os qui entoure l’oreille interne  /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la capsule otique  → une surdité progressive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Étiopathogénie 	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maladie  héréditaire,avec caractère dominant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affecte principalement  le sexe féminin (mâle / femelle  ½ -  1/3)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grossesse aggrave la progression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Anatomie pathologique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Char char="▪"/>
            </a:pPr>
            <a:r>
              <a:rPr lang="fr-FR" sz="1800"/>
              <a:t>la capsule otique ≈ </a:t>
            </a:r>
            <a:r>
              <a:rPr lang="fr-FR" sz="1800" u="sng">
                <a:solidFill>
                  <a:srgbClr val="FFC000"/>
                </a:solidFill>
              </a:rPr>
              <a:t>un tissu osseux de type embryonnaire</a:t>
            </a:r>
            <a:r>
              <a:rPr lang="fr-FR" sz="1800"/>
              <a:t>, dense, à une vascularisation pauvre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→  </a:t>
            </a:r>
            <a:r>
              <a:rPr lang="fr-FR" sz="1800" u="sng">
                <a:solidFill>
                  <a:srgbClr val="FFC000"/>
                </a:solidFill>
              </a:rPr>
              <a:t>tissu osseux de type adulte</a:t>
            </a:r>
            <a:r>
              <a:rPr lang="fr-FR" sz="1800"/>
              <a:t>, richement vascularisé, en produisant l’ossification du ligament élastique qui fixe la  platine  de l’étrier dans la fenêtre ovale  →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</a:t>
            </a:r>
            <a:r>
              <a:rPr lang="fr-FR" sz="1800" u="sng">
                <a:solidFill>
                  <a:srgbClr val="FFC000"/>
                </a:solidFill>
              </a:rPr>
              <a:t>une immobilisation progressive - ankylose stapédo-vestibulaire</a:t>
            </a:r>
            <a:endParaRPr sz="1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Char char="▪"/>
            </a:pPr>
            <a:r>
              <a:rPr lang="fr-FR" sz="1800"/>
              <a:t> ce phénomène entraîne une compression des fluides labyrinthiques 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 </a:t>
            </a:r>
            <a:r>
              <a:rPr lang="fr-FR" sz="1800" u="sng"/>
              <a:t>une altération des cellules nerveuses sensorielles </a:t>
            </a:r>
            <a:r>
              <a:rPr lang="fr-FR" sz="1800"/>
              <a:t>de l’oreille interne </a:t>
            </a:r>
            <a:endParaRPr sz="18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0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lang="fr-FR"/>
              <a:t> </a:t>
            </a:r>
            <a:r>
              <a:rPr b="1" lang="fr-FR"/>
              <a:t>OTOSCLÉROSE</a:t>
            </a:r>
            <a:br>
              <a:rPr lang="fr-FR"/>
            </a:br>
            <a:endParaRPr/>
          </a:p>
        </p:txBody>
      </p:sp>
      <p:graphicFrame>
        <p:nvGraphicFramePr>
          <p:cNvPr id="870" name="Google Shape;870;p103"/>
          <p:cNvGraphicFramePr/>
          <p:nvPr/>
        </p:nvGraphicFramePr>
        <p:xfrm>
          <a:off x="457200" y="1371600"/>
          <a:ext cx="1994941" cy="2309682"/>
        </p:xfrm>
        <a:graphic>
          <a:graphicData uri="http://schemas.openxmlformats.org/presentationml/2006/ole">
            <mc:AlternateContent>
              <mc:Choice Requires="v">
                <p:oleObj r:id="rId4" imgH="2309682" imgW="1994941" progId="PBrush" spid="_x0000_s1">
                  <p:embed/>
                </p:oleObj>
              </mc:Choice>
              <mc:Fallback>
                <p:oleObj r:id="rId5" imgH="2309682" imgW="1994941" progId="PBrush">
                  <p:embed/>
                  <p:pic>
                    <p:nvPicPr>
                      <p:cNvPr id="870" name="Google Shape;870;p10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7200" y="1371600"/>
                        <a:ext cx="1994941" cy="2309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descr="P21-D" id="871" name="Google Shape;871;p10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7000" y="1371600"/>
            <a:ext cx="2895600" cy="268781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2" name="Google Shape;872;p103"/>
          <p:cNvGraphicFramePr/>
          <p:nvPr/>
        </p:nvGraphicFramePr>
        <p:xfrm>
          <a:off x="5715000" y="228600"/>
          <a:ext cx="2819400" cy="2819400"/>
        </p:xfrm>
        <a:graphic>
          <a:graphicData uri="http://schemas.openxmlformats.org/presentationml/2006/ole">
            <mc:AlternateContent>
              <mc:Choice Requires="v">
                <p:oleObj r:id="rId8" imgH="2819400" imgW="2819400" progId="PBrush" spid="_x0000_s2">
                  <p:embed/>
                </p:oleObj>
              </mc:Choice>
              <mc:Fallback>
                <p:oleObj r:id="rId9" imgH="2819400" imgW="2819400" progId="PBrush">
                  <p:embed/>
                  <p:pic>
                    <p:nvPicPr>
                      <p:cNvPr id="872" name="Google Shape;872;p103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715000" y="228600"/>
                        <a:ext cx="2819400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73" name="Google Shape;873;p10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8600" y="4343400"/>
            <a:ext cx="2692852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10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048000" y="4267200"/>
            <a:ext cx="3147056" cy="2297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004-04-29_07-25-12" id="875" name="Google Shape;875;p10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172200" y="2667000"/>
            <a:ext cx="2971800" cy="2226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004-04-23_09-06-51" id="876" name="Google Shape;876;p10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00800" y="4973794"/>
            <a:ext cx="2514600" cy="1884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04"/>
          <p:cNvSpPr txBox="1"/>
          <p:nvPr>
            <p:ph type="title"/>
          </p:nvPr>
        </p:nvSpPr>
        <p:spPr>
          <a:xfrm>
            <a:off x="914400" y="228600"/>
            <a:ext cx="77724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OTOSCLÉROSE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2" name="Google Shape;882;p104"/>
          <p:cNvSpPr txBox="1"/>
          <p:nvPr>
            <p:ph idx="1" type="body"/>
          </p:nvPr>
        </p:nvSpPr>
        <p:spPr>
          <a:xfrm>
            <a:off x="609600" y="990600"/>
            <a:ext cx="8077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1900">
                <a:solidFill>
                  <a:srgbClr val="FFC000"/>
                </a:solidFill>
              </a:rPr>
              <a:t>Symptomatologie</a:t>
            </a:r>
            <a:r>
              <a:rPr b="1" lang="fr-FR" sz="1900"/>
              <a:t>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1800">
                <a:solidFill>
                  <a:srgbClr val="FFC000"/>
                </a:solidFill>
              </a:rPr>
              <a:t>Subjectif</a:t>
            </a:r>
            <a:r>
              <a:rPr b="1" lang="fr-FR" sz="18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800"/>
              <a:t> hypoacousie progressive de l’audition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800"/>
              <a:t>bilatérale -90 % des cas,  plus prononcée à l’une des oreilles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800"/>
              <a:t> acouphènes avec timbre grave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1800">
                <a:solidFill>
                  <a:srgbClr val="FFC000"/>
                </a:solidFill>
              </a:rPr>
              <a:t>Objectif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800"/>
              <a:t> la membrane tympanique  - aspect normal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800"/>
              <a:t> audiogramme  -  </a:t>
            </a:r>
            <a:r>
              <a:rPr lang="fr-FR" sz="1800" u="sng"/>
              <a:t>hypoacousie de type transmission </a:t>
            </a:r>
            <a:r>
              <a:rPr lang="fr-FR" sz="1800"/>
              <a:t>modérée au début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800"/>
              <a:t> cas vieux   →  </a:t>
            </a:r>
            <a:r>
              <a:rPr lang="fr-FR" sz="1800" u="sng"/>
              <a:t>hypoacousie mixte</a:t>
            </a:r>
            <a:r>
              <a:rPr lang="fr-FR" sz="1800"/>
              <a:t>, ajoutant  un composant neurosensoriel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800"/>
              <a:t> impédancemétrie -  la fixation de la chaîne osiculaire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1900">
                <a:solidFill>
                  <a:srgbClr val="FFC000"/>
                </a:solidFill>
              </a:rPr>
              <a:t>Diagnostic</a:t>
            </a:r>
            <a:r>
              <a:rPr b="1" lang="fr-FR" sz="1900"/>
              <a:t>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1800" u="sng"/>
              <a:t>∙  Diagnostic positif</a:t>
            </a:r>
            <a:r>
              <a:rPr lang="fr-FR" sz="1800" u="sng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1800" u="sng"/>
              <a:t>hypoacousie de transmission  + tympan normal</a:t>
            </a:r>
            <a:endParaRPr b="1" i="1" sz="18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1800" u="sng"/>
              <a:t>∙  Diagnostic différentiel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800"/>
              <a:t> hypoacousie de transmission (otite catarrhale chronique, cholestéatome,  séquelles postotitique)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1900">
                <a:solidFill>
                  <a:srgbClr val="FFC000"/>
                </a:solidFill>
              </a:rPr>
              <a:t>Traitement</a:t>
            </a:r>
            <a:r>
              <a:rPr lang="fr-FR" sz="1900">
                <a:solidFill>
                  <a:srgbClr val="FFC000"/>
                </a:solidFill>
              </a:rPr>
              <a:t> </a:t>
            </a:r>
            <a:r>
              <a:rPr lang="fr-FR" sz="18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800"/>
              <a:t> cophochirurgie. - le rétablissement de la mobilité de la chaîne osiculaire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800"/>
              <a:t> </a:t>
            </a:r>
            <a:endParaRPr sz="1800"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05"/>
          <p:cNvSpPr txBox="1"/>
          <p:nvPr>
            <p:ph type="title"/>
          </p:nvPr>
        </p:nvSpPr>
        <p:spPr>
          <a:xfrm>
            <a:off x="457200" y="2286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PATHOLOGIE  DE  L’ OREILLE  INTERNE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8" name="Google Shape;888;p105"/>
          <p:cNvSpPr txBox="1"/>
          <p:nvPr>
            <p:ph idx="1" type="body"/>
          </p:nvPr>
        </p:nvSpPr>
        <p:spPr>
          <a:xfrm>
            <a:off x="914400" y="1219200"/>
            <a:ext cx="77724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7200"/>
              <a:t>analyseur auditif 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7200"/>
              <a:t> analyseur vestibulaire</a:t>
            </a:r>
            <a:endParaRPr/>
          </a:p>
          <a:p>
            <a:pPr indent="-234315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la pathologie des deux analyseurs est très étroitement liée un à l’autre, avec l’implication réciproque très fréquente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la pathologie de l’oreille interne - du labyrinthe - se manifeste par de nombreux symptômes   =  le syndrome labyrinthique: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♦   </a:t>
            </a:r>
            <a:r>
              <a:rPr lang="fr-FR" sz="7200">
                <a:solidFill>
                  <a:srgbClr val="FFC000"/>
                </a:solidFill>
              </a:rPr>
              <a:t>syndrome labyrinthique total  </a:t>
            </a:r>
            <a:r>
              <a:rPr lang="fr-FR" sz="7200"/>
              <a:t>( auditive et vestibulaire )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♦   </a:t>
            </a:r>
            <a:r>
              <a:rPr lang="fr-FR" sz="7200">
                <a:solidFill>
                  <a:srgbClr val="FFC000"/>
                </a:solidFill>
              </a:rPr>
              <a:t>syndrome labyrinthique dissocié cochléaire </a:t>
            </a:r>
            <a:r>
              <a:rPr lang="fr-FR" sz="7200"/>
              <a:t>( affecté seulement la cochlée) 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♦"/>
            </a:pPr>
            <a:r>
              <a:rPr lang="fr-FR" sz="7200">
                <a:solidFill>
                  <a:srgbClr val="FFC000"/>
                </a:solidFill>
              </a:rPr>
              <a:t>syndrome labyrinthique dissocié vestibulaire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 sz="7200"/>
            </a:br>
            <a:r>
              <a:rPr lang="fr-FR" sz="7200"/>
              <a:t>   irritant  / destructif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           vestibule hypovalent  / hypervalent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                               hypofonctionnel / hyperfonctionnel</a:t>
            </a:r>
            <a:r>
              <a:rPr b="1" lang="fr-FR" sz="7200"/>
              <a:t>		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/>
              <a:t> </a:t>
            </a:r>
            <a:endParaRPr sz="72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06"/>
          <p:cNvSpPr txBox="1"/>
          <p:nvPr>
            <p:ph type="title"/>
          </p:nvPr>
        </p:nvSpPr>
        <p:spPr>
          <a:xfrm>
            <a:off x="533400" y="512064"/>
            <a:ext cx="990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  VERTIGE  POSITIONNEL  BÉNIGNE</a:t>
            </a:r>
            <a:br>
              <a:rPr lang="fr-FR"/>
            </a:br>
            <a:endParaRPr/>
          </a:p>
        </p:txBody>
      </p:sp>
      <p:sp>
        <p:nvSpPr>
          <p:cNvPr id="894" name="Google Shape;894;p106"/>
          <p:cNvSpPr txBox="1"/>
          <p:nvPr>
            <p:ph idx="1" type="body"/>
          </p:nvPr>
        </p:nvSpPr>
        <p:spPr>
          <a:xfrm>
            <a:off x="381000" y="1066800"/>
            <a:ext cx="8305800" cy="528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le plus courant syndrome vertigineux, 1 aux 20 personnes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aux femmes  plus fréquent rapport de ½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♦"/>
            </a:pPr>
            <a:r>
              <a:rPr b="1" i="1" lang="fr-FR" u="sng"/>
              <a:t>Otolithes </a:t>
            </a:r>
            <a:r>
              <a:rPr lang="fr-FR"/>
              <a:t>  (cristaux de carbonate de calcium)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se trouvent dans l’utricule et le saccule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→ un processus de vieillissement / renouvellement ≈ d’élimination au niveau du sac endolymphatique    </a:t>
            </a:r>
            <a:br>
              <a:rPr lang="fr-FR"/>
            </a:br>
            <a:r>
              <a:rPr lang="fr-FR"/>
              <a:t>→ des débris des otolithes par erreur, passent dans le canal semi-circulaire postérieur, pendant le sommeil en stimulant son épithélium sensoriel → provoque le vertige 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♦ </a:t>
            </a:r>
            <a:r>
              <a:rPr b="1" i="1" lang="fr-FR" u="sng">
                <a:solidFill>
                  <a:srgbClr val="FFC000"/>
                </a:solidFill>
              </a:rPr>
              <a:t>vertige rotatoire → </a:t>
            </a:r>
            <a:r>
              <a:rPr lang="fr-FR"/>
              <a:t> se produit au mouvement rapide de la tête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au retournement  dans le lit, au regard en haut  dure  secondes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ne présente pas l’hypoacousie et peut être non-récurrents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/>
            </a:br>
            <a:r>
              <a:rPr lang="fr-FR">
                <a:solidFill>
                  <a:srgbClr val="FFC000"/>
                </a:solidFill>
              </a:rPr>
              <a:t>T</a:t>
            </a:r>
            <a:r>
              <a:rPr b="1" lang="fr-FR">
                <a:solidFill>
                  <a:srgbClr val="FFC000"/>
                </a:solidFill>
              </a:rPr>
              <a:t>raitement</a:t>
            </a:r>
            <a:r>
              <a:rPr lang="fr-FR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manœuvres spéciales qui → enlèvent les débris des otolithes de canal semi-circulaire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07"/>
          <p:cNvSpPr txBox="1"/>
          <p:nvPr>
            <p:ph type="title"/>
          </p:nvPr>
        </p:nvSpPr>
        <p:spPr>
          <a:xfrm>
            <a:off x="419100" y="0"/>
            <a:ext cx="8686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SYNDROME MÉNIÈRE </a:t>
            </a:r>
            <a:br>
              <a:rPr b="1" lang="fr-FR"/>
            </a:br>
            <a:r>
              <a:rPr lang="fr-FR" sz="3200">
                <a:latin typeface="Corbel"/>
                <a:ea typeface="Corbel"/>
                <a:cs typeface="Corbel"/>
                <a:sym typeface="Corbel"/>
              </a:rPr>
              <a:t>syndrome vestibulaire périphérique</a:t>
            </a:r>
            <a:br>
              <a:rPr lang="fr-FR"/>
            </a:br>
            <a:endParaRPr/>
          </a:p>
        </p:txBody>
      </p:sp>
      <p:sp>
        <p:nvSpPr>
          <p:cNvPr id="900" name="Google Shape;900;p107"/>
          <p:cNvSpPr txBox="1"/>
          <p:nvPr>
            <p:ph idx="1" type="body"/>
          </p:nvPr>
        </p:nvSpPr>
        <p:spPr>
          <a:xfrm>
            <a:off x="381000" y="990600"/>
            <a:ext cx="8763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900"/>
              <a:t> </a:t>
            </a:r>
            <a:r>
              <a:rPr b="1" i="1" lang="fr-FR" sz="6400">
                <a:solidFill>
                  <a:srgbClr val="FFC000"/>
                </a:solidFill>
              </a:rPr>
              <a:t>hydrops labyrinthique ou hydrops endolymphatique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dysfonctionnement de la valve utriculo-endolymphatique ≈ </a:t>
            </a:r>
            <a:r>
              <a:rPr lang="fr-FR" sz="6400">
                <a:solidFill>
                  <a:srgbClr val="FFC000"/>
                </a:solidFill>
              </a:rPr>
              <a:t>cause inconnue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Symptomatologie 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 u="sng"/>
              <a:t>Subjectif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/>
              <a:t> </a:t>
            </a:r>
            <a:r>
              <a:rPr lang="fr-FR" sz="6400"/>
              <a:t>affection évolue en crises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>
                <a:solidFill>
                  <a:srgbClr val="FFC000"/>
                </a:solidFill>
              </a:rPr>
              <a:t> </a:t>
            </a:r>
            <a:r>
              <a:rPr b="1" i="1" lang="fr-FR" sz="6400" u="sng">
                <a:solidFill>
                  <a:srgbClr val="FFC000"/>
                </a:solidFill>
              </a:rPr>
              <a:t>le premier étant  est caractérisée par la triade</a:t>
            </a:r>
            <a:r>
              <a:rPr lang="fr-FR" sz="6400">
                <a:solidFill>
                  <a:srgbClr val="FFC000"/>
                </a:solidFill>
              </a:rPr>
              <a:t> 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acouphènes à un timbre haut - tinnitus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hypoacousie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vertige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la crise débute par acouphènes et ensuite s’installe de vertiges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symptômes d’irritation vagale : nausées, vomissements, transpiration, de l’anxiété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peut durer de quelques minutes - heures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 u="sng"/>
              <a:t>Objectif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le patient en crise est difficile à examiner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 u="sng"/>
              <a:t>le syndrome vestibulaire  irritant  - i</a:t>
            </a:r>
            <a:r>
              <a:rPr lang="fr-FR" sz="6400"/>
              <a:t>nitialement avec un nystagmus horizontal - sens de rotation vers l’oreille malade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le sindrome vestibulaire  destructif  - la fin de crise avec le changement de la direction du nystagmus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 u="sng"/>
              <a:t>Examen fonctionnel </a:t>
            </a:r>
            <a:r>
              <a:rPr i="1" lang="fr-FR" sz="6400"/>
              <a:t>- audiogramme</a:t>
            </a:r>
            <a:r>
              <a:rPr lang="fr-FR" sz="6400"/>
              <a:t> </a:t>
            </a:r>
            <a:r>
              <a:rPr b="1" i="1" lang="fr-FR" sz="6400" u="sng"/>
              <a:t>l’hypoacousie neuro-sensorielle d’aspect horizontal</a:t>
            </a:r>
            <a:endParaRPr sz="64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08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SYNDROME MÉNIÈRE</a:t>
            </a:r>
            <a:br>
              <a:rPr b="1" lang="fr-FR"/>
            </a:br>
            <a:r>
              <a:rPr lang="fr-FR" sz="3200">
                <a:latin typeface="Corbel"/>
                <a:ea typeface="Corbel"/>
                <a:cs typeface="Corbel"/>
                <a:sym typeface="Corbel"/>
              </a:rPr>
              <a:t>syndrome vestibulaire périphérique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6" name="Google Shape;906;p108"/>
          <p:cNvSpPr txBox="1"/>
          <p:nvPr>
            <p:ph idx="1" type="body"/>
          </p:nvPr>
        </p:nvSpPr>
        <p:spPr>
          <a:xfrm>
            <a:off x="381000" y="13716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Traitement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différencié - en crise ou entre les crises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u="sng">
                <a:solidFill>
                  <a:srgbClr val="FFC000"/>
                </a:solidFill>
              </a:rPr>
              <a:t>  a. en crise</a:t>
            </a:r>
            <a:r>
              <a:rPr i="1" lang="fr-FR">
                <a:solidFill>
                  <a:srgbClr val="FFC000"/>
                </a:solidFill>
              </a:rPr>
              <a:t> 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vagolytiques, antivertigineuses, antiémétiques, sédatifs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 sulfate d’atropine - vagolytique -   i.v., i.m., ou s.c.  1  - 3 ampoules par jour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sulfate de magnésium - antiémétique, antispasmodique, sédatif -  i.m.  i.v. 1-3 ampoules / jour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 métochlopramide - antiémétique central - 1-3 ampoules / jour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Torecan – antivertigineux et antiémétique - 1 ampoule / jour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u="sng">
                <a:solidFill>
                  <a:srgbClr val="FFC000"/>
                </a:solidFill>
              </a:rPr>
              <a:t>b.  entre crises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♦ antivertigineuses : bétahistine (Betaserc), vitamines groupe B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♦ le patient s’ordonne le régime de vie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- alcool, tabac, café évité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- programme quotidien avec plus de temps de repos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- Évitez les sports  / travaux qui mettent en danger la vie du patient  : la conduite auto,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la natation, le ski, le travail en hauteur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09"/>
          <p:cNvSpPr txBox="1"/>
          <p:nvPr>
            <p:ph type="title"/>
          </p:nvPr>
        </p:nvSpPr>
        <p:spPr>
          <a:xfrm>
            <a:off x="381000" y="512064"/>
            <a:ext cx="8305800" cy="935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SYNDROME  VESTIBULAIRE  CENTRAL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2" name="Google Shape;912;p109"/>
          <p:cNvSpPr txBox="1"/>
          <p:nvPr>
            <p:ph idx="1" type="body"/>
          </p:nvPr>
        </p:nvSpPr>
        <p:spPr>
          <a:xfrm>
            <a:off x="381000" y="1219200"/>
            <a:ext cx="87630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♦ </a:t>
            </a:r>
            <a:r>
              <a:rPr lang="fr-FR" sz="2400">
                <a:solidFill>
                  <a:srgbClr val="FFC000"/>
                </a:solidFill>
              </a:rPr>
              <a:t>vertige et les signes vagaux  </a:t>
            </a:r>
            <a:r>
              <a:rPr lang="fr-FR" sz="2400"/>
              <a:t>-  moins ↓ intenses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♦ </a:t>
            </a:r>
            <a:r>
              <a:rPr lang="fr-FR" sz="2400">
                <a:solidFill>
                  <a:srgbClr val="FFC000"/>
                </a:solidFill>
              </a:rPr>
              <a:t>troubles de l’équilibre</a:t>
            </a:r>
            <a:r>
              <a:rPr lang="fr-FR" sz="2400"/>
              <a:t>↑ prédominent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♦ </a:t>
            </a:r>
            <a:r>
              <a:rPr lang="fr-FR" sz="2400">
                <a:solidFill>
                  <a:srgbClr val="FFC000"/>
                </a:solidFill>
              </a:rPr>
              <a:t>symptômes neurologiques </a:t>
            </a:r>
            <a:r>
              <a:rPr lang="fr-FR" sz="2400"/>
              <a:t>- paresthésie, dysphasie, troubles visuels, déficit moteur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♦ </a:t>
            </a:r>
            <a:r>
              <a:rPr lang="fr-FR" sz="2400">
                <a:solidFill>
                  <a:srgbClr val="FFC000"/>
                </a:solidFill>
              </a:rPr>
              <a:t>nystagmus</a:t>
            </a:r>
            <a:r>
              <a:rPr lang="fr-FR" sz="2400"/>
              <a:t>  - persistant (semaines) avec direction différente 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10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SYNDROMES  COCHLÉAIRES</a:t>
            </a:r>
            <a:br>
              <a:rPr lang="fr-FR"/>
            </a:br>
            <a:endParaRPr/>
          </a:p>
        </p:txBody>
      </p:sp>
      <p:sp>
        <p:nvSpPr>
          <p:cNvPr id="918" name="Google Shape;918;p110"/>
          <p:cNvSpPr txBox="1"/>
          <p:nvPr>
            <p:ph idx="1" type="body"/>
          </p:nvPr>
        </p:nvSpPr>
        <p:spPr>
          <a:xfrm>
            <a:off x="914400" y="1371600"/>
            <a:ext cx="7772400" cy="498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syndromes dissociés cochléaires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1. L’ototoxicose - surdité postototoxique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2. Le traumatisme sonore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3. La surdité brusque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4. La presbyacousie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11"/>
          <p:cNvSpPr txBox="1"/>
          <p:nvPr>
            <p:ph type="title"/>
          </p:nvPr>
        </p:nvSpPr>
        <p:spPr>
          <a:xfrm>
            <a:off x="914400" y="0"/>
            <a:ext cx="77724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1. OTOTOXICOSE</a:t>
            </a:r>
            <a:br>
              <a:rPr lang="fr-FR"/>
            </a:br>
            <a:endParaRPr/>
          </a:p>
        </p:txBody>
      </p:sp>
      <p:sp>
        <p:nvSpPr>
          <p:cNvPr id="924" name="Google Shape;924;p111"/>
          <p:cNvSpPr txBox="1"/>
          <p:nvPr>
            <p:ph idx="1" type="body"/>
          </p:nvPr>
        </p:nvSpPr>
        <p:spPr>
          <a:xfrm>
            <a:off x="457200" y="685800"/>
            <a:ext cx="82296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la dépréciation des structures labyrinthiques par l’action de substances toxiques.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cellules ciliées de l’organe de Corti   → détruisent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Étiopathogénie </a:t>
            </a:r>
            <a:endParaRPr b="1"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i="1" lang="fr-FR" sz="1400"/>
              <a:t>∙  </a:t>
            </a:r>
            <a:r>
              <a:rPr b="1" i="1" lang="fr-FR" sz="1400" u="sng"/>
              <a:t>antibiotiques</a:t>
            </a:r>
            <a:r>
              <a:rPr i="1" lang="fr-FR" sz="1400"/>
              <a:t> 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 - gentamycine , kanamycine , streptomycine , néomycine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i="1" lang="fr-FR" sz="1400" u="sng"/>
              <a:t>∙  plus rarement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 - l’aspirine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 - contraceptifs oraux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 - certains anesthésiques locaux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 </a:t>
            </a:r>
            <a:r>
              <a:rPr b="1" i="1" lang="fr-FR" sz="1400" u="sng">
                <a:solidFill>
                  <a:srgbClr val="FFC000"/>
                </a:solidFill>
              </a:rPr>
              <a:t>Attention aux antibiotiques ototoxiques</a:t>
            </a:r>
            <a:r>
              <a:rPr lang="fr-FR" sz="1400" u="sng">
                <a:solidFill>
                  <a:srgbClr val="FFC000"/>
                </a:solidFill>
              </a:rPr>
              <a:t> </a:t>
            </a:r>
            <a:r>
              <a:rPr b="1" i="1" lang="fr-FR" sz="1400" u="sng">
                <a:solidFill>
                  <a:srgbClr val="FFC000"/>
                </a:solidFill>
              </a:rPr>
              <a:t>- locale</a:t>
            </a:r>
            <a:endParaRPr b="1" i="1" sz="1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en instillations auriculaires  a une perforation de la membrane tympanique,  → par la fenêtre ronde → l’oreille interne 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Symptomatologie 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∙   début -  acouphènes bilatéral → l’hypoacousie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Font typeface="Noto Sans Symbols"/>
              <a:buChar char="∙"/>
            </a:pPr>
            <a:r>
              <a:rPr lang="fr-FR" sz="1400"/>
              <a:t>audiogramme - hypoacousie neuro-sensorielle en pente, avec des grandes pertes au niveau des fréquences↑ aiguës et en gardant initialement l’ouïe au niveau des fréquences ↓ graves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b="1" lang="fr-FR" sz="1400">
                <a:solidFill>
                  <a:srgbClr val="FFC000"/>
                </a:solidFill>
              </a:rPr>
              <a:t>T</a:t>
            </a:r>
            <a:r>
              <a:rPr b="1" lang="fr-FR" sz="1800">
                <a:solidFill>
                  <a:srgbClr val="FFC000"/>
                </a:solidFill>
              </a:rPr>
              <a:t>raitement curatif </a:t>
            </a:r>
            <a:r>
              <a:rPr lang="fr-FR" sz="1400"/>
              <a:t>≈ non pas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i="1" lang="fr-FR" sz="1600" u="sng">
                <a:solidFill>
                  <a:srgbClr val="FFC000"/>
                </a:solidFill>
              </a:rPr>
              <a:t>les médecins de famille / pédiatres → utiliser soigneusement antibiotiques ototoxiques!!!</a:t>
            </a:r>
            <a:endParaRPr b="1" i="1" sz="16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12"/>
          <p:cNvSpPr txBox="1"/>
          <p:nvPr>
            <p:ph type="title"/>
          </p:nvPr>
        </p:nvSpPr>
        <p:spPr>
          <a:xfrm>
            <a:off x="381000" y="228600"/>
            <a:ext cx="8305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 2.TRAUMA SONORE</a:t>
            </a:r>
            <a:br>
              <a:rPr lang="fr-FR"/>
            </a:br>
            <a:endParaRPr/>
          </a:p>
        </p:txBody>
      </p:sp>
      <p:sp>
        <p:nvSpPr>
          <p:cNvPr id="930" name="Google Shape;930;p112"/>
          <p:cNvSpPr txBox="1"/>
          <p:nvPr>
            <p:ph idx="1" type="body"/>
          </p:nvPr>
        </p:nvSpPr>
        <p:spPr>
          <a:xfrm>
            <a:off x="457200" y="990600"/>
            <a:ext cx="8229600" cy="53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une affectation auditive à cause de l’exposition de la cochlée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∙ au bruit unique, très puissante (haute)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∙ l’exposition prolongée à un bruit constant  = surdité professionnelle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>
                <a:solidFill>
                  <a:srgbClr val="FFC000"/>
                </a:solidFill>
              </a:rPr>
              <a:t>a. trauma sonore aigu</a:t>
            </a:r>
            <a:r>
              <a:rPr b="1" lang="fr-FR" sz="6400">
                <a:solidFill>
                  <a:srgbClr val="FFC000"/>
                </a:solidFill>
              </a:rPr>
              <a:t>ë</a:t>
            </a:r>
            <a:r>
              <a:rPr b="1" i="1" lang="fr-FR" sz="6400" u="sng">
                <a:solidFill>
                  <a:srgbClr val="FFC000"/>
                </a:solidFill>
              </a:rPr>
              <a:t> </a:t>
            </a:r>
            <a:endParaRPr b="1" i="1"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-acouphènes à timbre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-hypoacousie brutale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otalgie transitoire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-audiométrie  → </a:t>
            </a:r>
            <a:r>
              <a:rPr b="1" i="1" lang="fr-FR" sz="6400" u="sng">
                <a:solidFill>
                  <a:srgbClr val="FFC000"/>
                </a:solidFill>
              </a:rPr>
              <a:t>hypoacousie neuro-sensorielle  à l’encoche centrée à 4000 Hz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i="1"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>
                <a:solidFill>
                  <a:srgbClr val="FFC000"/>
                </a:solidFill>
              </a:rPr>
              <a:t>b trauma sonore chronique =  surdité professionnelle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 une exposition prolongée au bruit industriel : tissages, marteaux pneumatiques, ferblanteries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 a plusieurs stades d’évolution /  une susceptibilité individuelle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audiométrie  </a:t>
            </a:r>
            <a:r>
              <a:rPr b="1" lang="fr-FR" sz="6400"/>
              <a:t>→ </a:t>
            </a:r>
            <a:r>
              <a:rPr b="1" i="1" lang="fr-FR" sz="6400" u="sng">
                <a:solidFill>
                  <a:srgbClr val="FFC000"/>
                </a:solidFill>
              </a:rPr>
              <a:t>hypoacusie  neuro -sensorielle avec encoche à 4000 Hz, qui s’accentue ↑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>
                <a:solidFill>
                  <a:srgbClr val="FFC000"/>
                </a:solidFill>
              </a:rPr>
              <a:t>  → s’étend et aux fréquences voisines  →  l’exposition au bruit continue</a:t>
            </a:r>
            <a:endParaRPr b="1" i="1"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Traitement</a:t>
            </a:r>
            <a:endParaRPr b="1"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/>
              <a:t>♦ Curatif </a:t>
            </a:r>
            <a:r>
              <a:rPr lang="fr-FR" sz="6400"/>
              <a:t>– non pas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/>
              <a:t> ♦ Prophylactique</a:t>
            </a:r>
            <a:r>
              <a:rPr i="1" lang="fr-FR" sz="6400"/>
              <a:t>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- contrôle audiométrique à l’embauchage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- un examen audiométrique périodique</a:t>
            </a:r>
            <a:endParaRPr sz="64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13"/>
          <p:cNvSpPr txBox="1"/>
          <p:nvPr>
            <p:ph type="title"/>
          </p:nvPr>
        </p:nvSpPr>
        <p:spPr>
          <a:xfrm>
            <a:off x="381000" y="0"/>
            <a:ext cx="8305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3.  SURDITÉ  BRUSQUEMENT  INSTALLÉE</a:t>
            </a:r>
            <a:br>
              <a:rPr lang="fr-FR"/>
            </a:br>
            <a:endParaRPr/>
          </a:p>
        </p:txBody>
      </p:sp>
      <p:sp>
        <p:nvSpPr>
          <p:cNvPr id="936" name="Google Shape;936;p113"/>
          <p:cNvSpPr txBox="1"/>
          <p:nvPr>
            <p:ph idx="1" type="body"/>
          </p:nvPr>
        </p:nvSpPr>
        <p:spPr>
          <a:xfrm>
            <a:off x="381000" y="533400"/>
            <a:ext cx="8305800" cy="7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une surdité neuro-sensorielle apparue plus  /moins rapidement : sec., min.,heures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Étiopathogénie </a:t>
            </a:r>
            <a:endParaRPr sz="1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i="1" lang="fr-FR" sz="1600"/>
              <a:t>Étiologie vasculaire</a:t>
            </a:r>
            <a:r>
              <a:rPr lang="fr-FR" sz="16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 un spasme vasculaire – angiospasme → augmentation  ↑ viscosité du sang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 → thromboembolie  /hémorragie cochléaire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i="1" lang="fr-FR" sz="1600"/>
              <a:t>Étiologie virale</a:t>
            </a:r>
            <a:r>
              <a:rPr lang="fr-FR" sz="1600"/>
              <a:t> - la plus courante grippale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i="1" lang="fr-FR" sz="1600"/>
              <a:t> </a:t>
            </a:r>
            <a:r>
              <a:rPr i="1" lang="fr-FR" sz="1600">
                <a:solidFill>
                  <a:srgbClr val="FFC000"/>
                </a:solidFill>
              </a:rPr>
              <a:t>facteurs prédisposants </a:t>
            </a:r>
            <a:r>
              <a:rPr lang="fr-FR" sz="1600">
                <a:solidFill>
                  <a:srgbClr val="FFC000"/>
                </a:solidFill>
              </a:rPr>
              <a:t>: les efforts, les allergies, le stress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1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Symptomatologie </a:t>
            </a:r>
            <a:endParaRPr sz="1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hypoacousie s’installe brusquement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le patient constate le matin à réveiller qu’il n’entend plus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audiogramme  -  </a:t>
            </a:r>
            <a:r>
              <a:rPr b="1" i="1" lang="fr-FR" sz="1600" u="sng">
                <a:solidFill>
                  <a:srgbClr val="FFC000"/>
                </a:solidFill>
              </a:rPr>
              <a:t>hypoacousie neuro-sensorielle de divers degrés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16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Traitement </a:t>
            </a:r>
            <a:endParaRPr b="1" sz="1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</a:t>
            </a:r>
            <a:r>
              <a:rPr b="1" i="1" lang="fr-FR" sz="1600" u="sng"/>
              <a:t>urgence médicale - résultats sont proportionnels à la précocité de démarrage de la thérapie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I.V. - perfusion de glucose 10 %  + Hydergine  (Redergin ), Piracetam </a:t>
            </a:r>
            <a:br>
              <a:rPr lang="fr-FR" sz="1600"/>
            </a:br>
            <a:r>
              <a:rPr lang="fr-FR" sz="1600"/>
              <a:t>- Vitamine B1, B6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correction -  maladies associées  </a:t>
            </a:r>
            <a:endParaRPr sz="16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1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4.  PRESBYACOUSIE</a:t>
            </a:r>
            <a:br>
              <a:rPr lang="fr-FR"/>
            </a:br>
            <a:endParaRPr/>
          </a:p>
        </p:txBody>
      </p:sp>
      <p:sp>
        <p:nvSpPr>
          <p:cNvPr id="942" name="Google Shape;942;p114"/>
          <p:cNvSpPr txBox="1"/>
          <p:nvPr>
            <p:ph idx="1" type="body"/>
          </p:nvPr>
        </p:nvSpPr>
        <p:spPr>
          <a:xfrm>
            <a:off x="457200" y="1219200"/>
            <a:ext cx="82296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i="1" lang="fr-FR" u="sng"/>
              <a:t>une hypoacousie causée par le vieillissement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u="sng"/>
              <a:t> → les lésions  des cellules ciliées de l’organe de Corti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Symptomatologie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∙ débuts à l’âge de 65 ans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∙ le patient se plaint qu’il entend,  mais ne comprend pas les mots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surtout si plus de gens parlent simultanément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→ </a:t>
            </a:r>
            <a:r>
              <a:rPr i="1" lang="fr-FR" u="sng">
                <a:solidFill>
                  <a:srgbClr val="FFC000"/>
                </a:solidFill>
              </a:rPr>
              <a:t>hypoacousie neuro-sensorielle égale, symétrique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u="sng">
                <a:solidFill>
                  <a:srgbClr val="FFC000"/>
                </a:solidFill>
              </a:rPr>
              <a:t>       la perte plus prononcée au niveau des fréquences aiguës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Traitement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u="sng"/>
              <a:t>∙  traitement curatif </a:t>
            </a:r>
            <a:r>
              <a:rPr lang="fr-FR"/>
              <a:t>- n’existe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vasodilatateurs cérébraux  ( Piracetam)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vitamines neurotropes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∙  </a:t>
            </a:r>
            <a:r>
              <a:rPr b="1" i="1" lang="fr-FR" u="sng">
                <a:solidFill>
                  <a:srgbClr val="FFC000"/>
                </a:solidFill>
              </a:rPr>
              <a:t>la solution idéale →  prothèses auditives </a:t>
            </a:r>
            <a:endParaRPr b="1" i="1" u="sng">
              <a:solidFill>
                <a:srgbClr val="FFC000"/>
              </a:solidFill>
            </a:endParaRPr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15"/>
          <p:cNvSpPr txBox="1"/>
          <p:nvPr>
            <p:ph type="title"/>
          </p:nvPr>
        </p:nvSpPr>
        <p:spPr>
          <a:xfrm>
            <a:off x="533400" y="3048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SURDITÉ  DE  L’ ENFANT</a:t>
            </a:r>
            <a:br>
              <a:rPr lang="fr-FR"/>
            </a:br>
            <a:endParaRPr/>
          </a:p>
        </p:txBody>
      </p:sp>
      <p:sp>
        <p:nvSpPr>
          <p:cNvPr id="948" name="Google Shape;948;p115"/>
          <p:cNvSpPr txBox="1"/>
          <p:nvPr>
            <p:ph idx="1" type="body"/>
          </p:nvPr>
        </p:nvSpPr>
        <p:spPr>
          <a:xfrm>
            <a:off x="381000" y="990600"/>
            <a:ext cx="8305800" cy="53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 </a:t>
            </a:r>
            <a:r>
              <a:rPr i="1" lang="fr-FR" u="sng"/>
              <a:t>implications importantes dans le développement psycho-socio-intellectuel de l’enfant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</a:t>
            </a:r>
            <a:r>
              <a:rPr b="1" i="1" lang="fr-FR" u="sng">
                <a:solidFill>
                  <a:srgbClr val="FFC000"/>
                </a:solidFill>
              </a:rPr>
              <a:t>l’enfant muet est premièrement sourd, il n’entend pas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u="sng">
                <a:solidFill>
                  <a:srgbClr val="FFC000"/>
                </a:solidFill>
              </a:rPr>
              <a:t>  →  il ne peut pas apprendre à parler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i="1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Étiologie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1. surdités génétiques</a:t>
            </a: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-congénitales - avant la naissance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à l’apparition retardée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2. embryopathies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médicaments tératogènes, les affections de la mère, la rubéole, les radiations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3. raisons péri- et néonatale</a:t>
            </a: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la prématurité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le traumatisme obstétrical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4. causes postnatales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médicaments ototoxiques. </a:t>
            </a:r>
            <a:r>
              <a:rPr b="1" i="1" lang="fr-FR" u="sng"/>
              <a:t>Attention aux antibiotiques ototoxiques !</a:t>
            </a:r>
            <a:endParaRPr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otite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trauma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méningite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1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SURDITÉ  DE  L’ ENFANT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4" name="Google Shape;954;p116"/>
          <p:cNvSpPr txBox="1"/>
          <p:nvPr>
            <p:ph idx="1" type="body"/>
          </p:nvPr>
        </p:nvSpPr>
        <p:spPr>
          <a:xfrm>
            <a:off x="457200" y="1219200"/>
            <a:ext cx="86868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200" u="sng">
                <a:solidFill>
                  <a:srgbClr val="FFC000"/>
                </a:solidFill>
              </a:rPr>
              <a:t>Symptomatologie </a:t>
            </a:r>
            <a:endParaRPr b="1" sz="4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 petit malade ne parle pas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</a:t>
            </a:r>
            <a:r>
              <a:rPr b="1" lang="fr-FR" u="sng">
                <a:solidFill>
                  <a:srgbClr val="FFC000"/>
                </a:solidFill>
              </a:rPr>
              <a:t>l’examen neuropsychiatrique infantile ≈ I étape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→ normal  →  établi l’existence /non - de la perte auditive et de son degré  + établir son étiologie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otoscopie  -  un tympan d’aspect normal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200" u="sng">
                <a:solidFill>
                  <a:srgbClr val="FFC000"/>
                </a:solidFill>
              </a:rPr>
              <a:t>Examen fonctionnel </a:t>
            </a:r>
            <a:r>
              <a:rPr lang="fr-FR"/>
              <a:t>de l’ouïe  ( 0-6 ans) est très difficil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</a:t>
            </a:r>
            <a:r>
              <a:rPr b="1" i="1" lang="fr-FR" sz="3400" u="sng">
                <a:solidFill>
                  <a:srgbClr val="FFC000"/>
                </a:solidFill>
              </a:rPr>
              <a:t>a. méthodes comportementales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observations très précises de vérification du comportement auditif aux enfants normaux,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→ une première impression sur l’état de l’ouïe de l’enfant ≈ le taux de réussite  50-55 %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 u="sng">
                <a:solidFill>
                  <a:srgbClr val="FFC000"/>
                </a:solidFill>
              </a:rPr>
              <a:t>b. </a:t>
            </a:r>
            <a:r>
              <a:rPr b="1" i="1" lang="fr-FR" sz="3400" u="sng">
                <a:solidFill>
                  <a:srgbClr val="FFC000"/>
                </a:solidFill>
              </a:rPr>
              <a:t> méthodes réflexes</a:t>
            </a:r>
            <a:r>
              <a:rPr b="1" lang="fr-FR" sz="3400" u="sng">
                <a:solidFill>
                  <a:srgbClr val="FFC000"/>
                </a:solidFill>
              </a:rPr>
              <a:t>  - </a:t>
            </a:r>
            <a:r>
              <a:rPr lang="fr-FR"/>
              <a:t> ​​l’émergence de réponses réfléchies au la stimulation sonore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moteur - réflexe cochléo-palpébral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reflex cochléo-stapédien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neurovégétatif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cardiotachymétrie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400" u="sng">
                <a:solidFill>
                  <a:srgbClr val="FFC000"/>
                </a:solidFill>
              </a:rPr>
              <a:t>c. méthodes objectives</a:t>
            </a:r>
            <a:endParaRPr b="1" i="1" sz="3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impédancemétrie ≈ taux de réussite - 80 % des cas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electrocohléographie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potentiels auditifs précoces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potentiels corticaux</a:t>
            </a:r>
            <a:endParaRPr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17"/>
          <p:cNvSpPr txBox="1"/>
          <p:nvPr>
            <p:ph type="title"/>
          </p:nvPr>
        </p:nvSpPr>
        <p:spPr>
          <a:xfrm>
            <a:off x="609600" y="228600"/>
            <a:ext cx="8534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  PROTHÉSAGE  AUDITIF</a:t>
            </a:r>
            <a:br>
              <a:rPr lang="fr-FR"/>
            </a:br>
            <a:endParaRPr/>
          </a:p>
        </p:txBody>
      </p:sp>
      <p:sp>
        <p:nvSpPr>
          <p:cNvPr id="960" name="Google Shape;960;p117"/>
          <p:cNvSpPr txBox="1"/>
          <p:nvPr>
            <p:ph idx="1" type="body"/>
          </p:nvPr>
        </p:nvSpPr>
        <p:spPr>
          <a:xfrm>
            <a:off x="381000" y="762000"/>
            <a:ext cx="87630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</a:t>
            </a:r>
            <a:r>
              <a:rPr b="1" i="1" lang="fr-FR" sz="2000" u="sng">
                <a:solidFill>
                  <a:srgbClr val="FFC000"/>
                </a:solidFill>
              </a:rPr>
              <a:t>Appareil auditif </a:t>
            </a:r>
            <a:r>
              <a:rPr lang="fr-FR" sz="2000"/>
              <a:t>-  un dispositif électronique digital ou analogique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qui amplifie et traite les sons de l’extérieur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→ et les offres à l’oreille touchée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→ la sensation auditive est aussi proche (une oreille normale)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</a:t>
            </a:r>
            <a:r>
              <a:rPr b="1" i="1" lang="fr-FR" sz="2000" u="sng"/>
              <a:t>La prothèse auditive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♦ rétro auriculaire   ( plus souvent utilisée)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♦ intracanalaire  ou  auriculaire –  (introduites dans CAE)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La prothèse auditive ne dégrade pas l’ouïe 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est corecte indiquée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       vieillissement de la population≈ </a:t>
            </a:r>
            <a:r>
              <a:rPr lang="fr-FR" sz="2000"/>
              <a:t>de plus en plus utilisée 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15-20 % de la population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 </a:t>
            </a:r>
            <a:endParaRPr sz="20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18"/>
          <p:cNvSpPr txBox="1"/>
          <p:nvPr>
            <p:ph type="title"/>
          </p:nvPr>
        </p:nvSpPr>
        <p:spPr>
          <a:xfrm>
            <a:off x="609600" y="228600"/>
            <a:ext cx="8534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  PROTHÉSAGE  AUDITIF</a:t>
            </a:r>
            <a:br>
              <a:rPr lang="fr-FR"/>
            </a:br>
            <a:endParaRPr/>
          </a:p>
        </p:txBody>
      </p:sp>
      <p:sp>
        <p:nvSpPr>
          <p:cNvPr id="966" name="Google Shape;966;p118"/>
          <p:cNvSpPr txBox="1"/>
          <p:nvPr>
            <p:ph idx="1" type="body"/>
          </p:nvPr>
        </p:nvSpPr>
        <p:spPr>
          <a:xfrm>
            <a:off x="381000" y="990600"/>
            <a:ext cx="8305800" cy="53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r>
              <a:rPr b="1" lang="fr-FR" sz="3200">
                <a:solidFill>
                  <a:srgbClr val="FFC000"/>
                </a:solidFill>
              </a:rPr>
              <a:t>Types d’appareils auditifs</a:t>
            </a:r>
            <a:endParaRPr b="1"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♦ Intracanal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♦ Intraauriculaire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♦ Retroauriculaire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967" name="Google Shape;967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3124200"/>
            <a:ext cx="6172200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19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TUMEURS BÉNIGNES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3" name="Google Shape;973;p119"/>
          <p:cNvSpPr txBox="1"/>
          <p:nvPr>
            <p:ph idx="1" type="body"/>
          </p:nvPr>
        </p:nvSpPr>
        <p:spPr>
          <a:xfrm>
            <a:off x="914400" y="1219200"/>
            <a:ext cx="77724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</a:t>
            </a:r>
            <a:r>
              <a:rPr b="1" lang="fr-FR" sz="3200">
                <a:solidFill>
                  <a:srgbClr val="FFC000"/>
                </a:solidFill>
              </a:rPr>
              <a:t>Oreille externe  ( CAE 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</a:t>
            </a:r>
            <a:r>
              <a:rPr lang="fr-FR" sz="2800"/>
              <a:t>papillome, fibrome, chondrome, ostéome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    traitement  - chirurgical</a:t>
            </a:r>
            <a:endParaRPr sz="28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20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TUMEURS  MALIGNES</a:t>
            </a:r>
            <a:br>
              <a:rPr lang="fr-FR"/>
            </a:br>
            <a:endParaRPr/>
          </a:p>
        </p:txBody>
      </p:sp>
      <p:sp>
        <p:nvSpPr>
          <p:cNvPr id="979" name="Google Shape;979;p120"/>
          <p:cNvSpPr txBox="1"/>
          <p:nvPr>
            <p:ph idx="1" type="body"/>
          </p:nvPr>
        </p:nvSpPr>
        <p:spPr>
          <a:xfrm>
            <a:off x="457200" y="1219200"/>
            <a:ext cx="82296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b="1" i="1" lang="fr-FR" sz="2800">
                <a:solidFill>
                  <a:srgbClr val="FFC000"/>
                </a:solidFill>
              </a:rPr>
              <a:t>pavillon de l’oreille</a:t>
            </a:r>
            <a:r>
              <a:rPr b="1" lang="fr-FR" sz="28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épithéliomas basocellulaire  de la peau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i="1" lang="fr-FR"/>
              <a:t> </a:t>
            </a:r>
            <a:r>
              <a:rPr b="1" i="1" lang="fr-FR" sz="2800">
                <a:solidFill>
                  <a:srgbClr val="FFC000"/>
                </a:solidFill>
              </a:rPr>
              <a:t>conduit auditif</a:t>
            </a:r>
            <a:r>
              <a:rPr b="1" lang="fr-FR" sz="2800">
                <a:solidFill>
                  <a:srgbClr val="FFC000"/>
                </a:solidFill>
              </a:rPr>
              <a:t>  </a:t>
            </a:r>
            <a:r>
              <a:rPr b="1" i="1" lang="fr-FR" sz="2800">
                <a:solidFill>
                  <a:srgbClr val="FFC000"/>
                </a:solidFill>
              </a:rPr>
              <a:t>externe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lang="fr-FR" sz="2800"/>
              <a:t>L’otorrhée purulente sanglante </a:t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 l’hypoacousie de transmission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b="1" lang="fr-FR" sz="2800"/>
              <a:t>Traitement</a:t>
            </a:r>
            <a:r>
              <a:rPr lang="fr-FR" sz="2800"/>
              <a:t>  -  chirurgical  /  radiothérapie</a:t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21"/>
          <p:cNvSpPr txBox="1"/>
          <p:nvPr>
            <p:ph type="title"/>
          </p:nvPr>
        </p:nvSpPr>
        <p:spPr>
          <a:xfrm>
            <a:off x="381000" y="228600"/>
            <a:ext cx="8305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TUMEURS  MALIGNES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985" name="Google Shape;985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219200"/>
            <a:ext cx="23622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371600"/>
            <a:ext cx="2514600" cy="2271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810000"/>
            <a:ext cx="242173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1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96075" y="3810000"/>
            <a:ext cx="244792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22"/>
          <p:cNvSpPr txBox="1"/>
          <p:nvPr>
            <p:ph type="title"/>
          </p:nvPr>
        </p:nvSpPr>
        <p:spPr>
          <a:xfrm>
            <a:off x="457200" y="0"/>
            <a:ext cx="82296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TUMEURS DE L’OREILLE MOYENNE</a:t>
            </a:r>
            <a:r>
              <a:rPr lang="fr-FR" sz="3200">
                <a:latin typeface="Corbel"/>
                <a:ea typeface="Corbel"/>
                <a:cs typeface="Corbel"/>
                <a:sym typeface="Corbel"/>
              </a:rPr>
              <a:t> 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94" name="Google Shape;994;p122"/>
          <p:cNvSpPr txBox="1"/>
          <p:nvPr>
            <p:ph idx="1" type="body"/>
          </p:nvPr>
        </p:nvSpPr>
        <p:spPr>
          <a:xfrm>
            <a:off x="381000" y="609600"/>
            <a:ext cx="8305800" cy="57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Tumeur du glomus de veine jugulaire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l’origine dans les cellules noncromafines du glomus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dans la baie la de veine jugulaire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sous la paroi inférieure de la maison du tympan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Tumeur érode la paroi osseuse et  pénètre  → dans l’oreille moyenne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→ s’extériorise par la membrane tympanique au niveau du  CAE  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polype léger, soignant au toucher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Symptomatologie</a:t>
            </a:r>
            <a:endParaRPr b="1" sz="1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hypoacousie de transmission, des acouphènes pulsatile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Diagnostic positif</a:t>
            </a:r>
            <a:r>
              <a:rPr b="1" lang="fr-FR" sz="1600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biopsie,  ordinateur tomographie et / ou IRM avec contraste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Traitement</a:t>
            </a:r>
            <a:r>
              <a:rPr b="1" lang="fr-FR" sz="16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/>
              <a:t> </a:t>
            </a:r>
            <a:r>
              <a:rPr lang="fr-FR" sz="1600"/>
              <a:t>chirurgical /  radiothérapie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mauvais résultats, marqué par des complications et des séquelles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 </a:t>
            </a:r>
            <a:endParaRPr sz="160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23"/>
          <p:cNvSpPr txBox="1"/>
          <p:nvPr>
            <p:ph type="title"/>
          </p:nvPr>
        </p:nvSpPr>
        <p:spPr>
          <a:xfrm>
            <a:off x="381000" y="381000"/>
            <a:ext cx="830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lang="fr-FR"/>
              <a:t> </a:t>
            </a:r>
            <a:r>
              <a:rPr b="1" lang="fr-FR" sz="32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Tumeur du glomus de veine jugulaire</a:t>
            </a:r>
            <a:br>
              <a:rPr b="1" lang="fr-FR" sz="32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3200">
              <a:solidFill>
                <a:srgbClr val="A7D6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000" name="Google Shape;1000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524000"/>
            <a:ext cx="2821795" cy="2154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123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752600"/>
            <a:ext cx="2333333" cy="180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1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0" y="1447800"/>
            <a:ext cx="3038475" cy="257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1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1800" y="3657600"/>
            <a:ext cx="3457575" cy="2936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24"/>
          <p:cNvSpPr txBox="1"/>
          <p:nvPr>
            <p:ph type="title"/>
          </p:nvPr>
        </p:nvSpPr>
        <p:spPr>
          <a:xfrm>
            <a:off x="228600" y="152400"/>
            <a:ext cx="914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TUMEURS  DU  NERF  ACOUSTIQUE /VESTIBULAIRE</a:t>
            </a:r>
            <a:br>
              <a:rPr lang="fr-FR"/>
            </a:br>
            <a:endParaRPr/>
          </a:p>
        </p:txBody>
      </p:sp>
      <p:sp>
        <p:nvSpPr>
          <p:cNvPr id="1009" name="Google Shape;1009;p124"/>
          <p:cNvSpPr txBox="1"/>
          <p:nvPr>
            <p:ph idx="1" type="body"/>
          </p:nvPr>
        </p:nvSpPr>
        <p:spPr>
          <a:xfrm>
            <a:off x="533400" y="1143000"/>
            <a:ext cx="86106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Neurinome  de l’ acoustique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</a:t>
            </a:r>
            <a:r>
              <a:rPr b="1" i="1" lang="fr-FR" sz="1900" u="sng"/>
              <a:t>tumeur bénigne </a:t>
            </a:r>
            <a:r>
              <a:rPr lang="fr-FR" sz="1900"/>
              <a:t>du nerf acoustique vestibulaire - </a:t>
            </a:r>
            <a:r>
              <a:rPr b="1" i="1" lang="fr-FR" sz="1900">
                <a:solidFill>
                  <a:srgbClr val="FFC000"/>
                </a:solidFill>
              </a:rPr>
              <a:t>schwannome </a:t>
            </a:r>
            <a:r>
              <a:rPr lang="fr-FR" sz="1900"/>
              <a:t>–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</a:t>
            </a:r>
            <a:r>
              <a:rPr b="1" i="1" lang="fr-FR" sz="1900" u="sng"/>
              <a:t>évolution maligne </a:t>
            </a:r>
            <a:r>
              <a:rPr lang="fr-FR" sz="1900"/>
              <a:t>par la compression des structures nerveuses de voisinage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origines au niveau de la branche vestibulaire du nerf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1900">
                <a:solidFill>
                  <a:srgbClr val="FFC000"/>
                </a:solidFill>
              </a:rPr>
              <a:t>Symptomatologie </a:t>
            </a:r>
            <a:endParaRPr sz="19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1900" u="sng">
                <a:solidFill>
                  <a:srgbClr val="FFC000"/>
                </a:solidFill>
              </a:rPr>
              <a:t>l’étape otologique </a:t>
            </a:r>
            <a:endParaRPr i="1" sz="19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1900"/>
              <a:t>       </a:t>
            </a:r>
            <a:r>
              <a:rPr lang="fr-FR" sz="1900"/>
              <a:t>la tumeur ne se développe que dans le conduit auditif interne 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       hypoacousie neuro-sensorielle progressive unilatérale +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      troubles de l’équilibre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1900" u="sng">
                <a:solidFill>
                  <a:srgbClr val="FFC000"/>
                </a:solidFill>
              </a:rPr>
              <a:t>l’étape otoneurologique </a:t>
            </a:r>
            <a:endParaRPr sz="19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  &gt; la tumeur pénètre l’angle pontocérébeleux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 les souffrances des autres nerfs crâniens : le facial, le trijumeau +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 le syndrome de l’hypertension intracrânienne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1900">
                <a:solidFill>
                  <a:srgbClr val="FFC000"/>
                </a:solidFill>
              </a:rPr>
              <a:t>Traitement </a:t>
            </a:r>
            <a:endParaRPr sz="19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chirurgical ≈ équipe otorhinolaringologue + neurochirurgien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25"/>
          <p:cNvSpPr txBox="1"/>
          <p:nvPr>
            <p:ph type="title"/>
          </p:nvPr>
        </p:nvSpPr>
        <p:spPr>
          <a:xfrm>
            <a:off x="381000" y="512064"/>
            <a:ext cx="830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D6FF"/>
              </a:buClr>
              <a:buSzPts val="3200"/>
              <a:buFont typeface="Corbel"/>
              <a:buNone/>
            </a:pPr>
            <a:r>
              <a:rPr b="1" lang="fr-FR" sz="32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Neurinome  de l’ acoustique</a:t>
            </a:r>
            <a:br>
              <a:rPr b="1" lang="fr-FR">
                <a:solidFill>
                  <a:srgbClr val="FFC000"/>
                </a:solidFill>
              </a:rPr>
            </a:br>
            <a:endParaRPr/>
          </a:p>
        </p:txBody>
      </p:sp>
      <p:pic>
        <p:nvPicPr>
          <p:cNvPr id="1015" name="Google Shape;1015;p1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828800"/>
            <a:ext cx="2105025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00" y="1752600"/>
            <a:ext cx="214312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26"/>
          <p:cNvSpPr txBox="1"/>
          <p:nvPr>
            <p:ph type="title"/>
          </p:nvPr>
        </p:nvSpPr>
        <p:spPr>
          <a:xfrm>
            <a:off x="381000" y="0"/>
            <a:ext cx="830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IMPLANT  COCHLÉAIRE</a:t>
            </a:r>
            <a:r>
              <a:rPr lang="fr-FR"/>
              <a:t> </a:t>
            </a:r>
            <a:br>
              <a:rPr lang="fr-FR"/>
            </a:br>
            <a:endParaRPr/>
          </a:p>
        </p:txBody>
      </p:sp>
      <p:sp>
        <p:nvSpPr>
          <p:cNvPr id="1022" name="Google Shape;1022;p126"/>
          <p:cNvSpPr txBox="1"/>
          <p:nvPr>
            <p:ph idx="1" type="body"/>
          </p:nvPr>
        </p:nvSpPr>
        <p:spPr>
          <a:xfrm>
            <a:off x="304800" y="304800"/>
            <a:ext cx="9677400" cy="7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  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dispositif électronique qui convertit l’énergie mécanique du son  → signaux électriques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→  stimulent le nerf cochléaire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méthode est coûteuse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Le système présent 2 parties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♦une porte électrode avec plusieurs électrodes qui est implantée chirurgicalement dans la cochlée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♦un système placé à l’extérieur comme une prothèse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t/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      Un microphone capte les sons sous forme de signal électrique, les transmet → un processeur de signal (vocal),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      qui les encode (le processus) et les envoie →  l’expéditeur (émetteur)  → 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      envoie au récepteur qui décode le signal dans la cochlée  (à travers de multiples électrodes) →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       stimule le nerf auditif →  provoque la sensation du son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</a:t>
            </a:r>
            <a:r>
              <a:rPr b="1" i="1" lang="fr-FR" sz="1400" u="sng">
                <a:solidFill>
                  <a:srgbClr val="FFC000"/>
                </a:solidFill>
              </a:rPr>
              <a:t>Indication </a:t>
            </a:r>
            <a:r>
              <a:rPr lang="fr-FR" sz="1400"/>
              <a:t>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les patients avec une déficience auditive neuro-sensorielle bilatérale profonde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  avec  un niveau intellectuel et psychoaffectif normal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</a:t>
            </a:r>
            <a:r>
              <a:rPr b="1" i="1" lang="fr-FR" sz="1400">
                <a:solidFill>
                  <a:srgbClr val="FFC000"/>
                </a:solidFill>
              </a:rPr>
              <a:t>  </a:t>
            </a:r>
            <a:r>
              <a:rPr b="1" i="1" lang="fr-FR" sz="1400" u="sng">
                <a:solidFill>
                  <a:srgbClr val="FFC000"/>
                </a:solidFill>
              </a:rPr>
              <a:t>nécessite une équipe de post-implantation du patient de réhabilitation</a:t>
            </a:r>
            <a:r>
              <a:rPr lang="fr-FR" sz="1400"/>
              <a:t> 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psychologue, logopede, informaticien ,otorhinolarynologue , audiologiste</a:t>
            </a:r>
            <a:endParaRPr sz="1400"/>
          </a:p>
          <a:p>
            <a:pPr indent="-252412" lvl="0" marL="411480" rtl="0" algn="l">
              <a:spcBef>
                <a:spcPts val="700"/>
              </a:spcBef>
              <a:spcAft>
                <a:spcPts val="0"/>
              </a:spcAft>
              <a:buSzPts val="1425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27"/>
          <p:cNvSpPr txBox="1"/>
          <p:nvPr>
            <p:ph type="title"/>
          </p:nvPr>
        </p:nvSpPr>
        <p:spPr>
          <a:xfrm>
            <a:off x="381000" y="304800"/>
            <a:ext cx="83058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IMPLANT  COCHLÉAIRE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8" name="Google Shape;1028;p127"/>
          <p:cNvSpPr txBox="1"/>
          <p:nvPr>
            <p:ph idx="1" type="body"/>
          </p:nvPr>
        </p:nvSpPr>
        <p:spPr>
          <a:xfrm>
            <a:off x="381000" y="1447800"/>
            <a:ext cx="8763000" cy="490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Schéma implant cochléaire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-transmetteur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- recepteur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- microphonee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- électrode cochléaire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1029" name="Google Shape;1029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2667000"/>
            <a:ext cx="4419600" cy="396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28"/>
          <p:cNvSpPr txBox="1"/>
          <p:nvPr>
            <p:ph type="title"/>
          </p:nvPr>
        </p:nvSpPr>
        <p:spPr>
          <a:xfrm>
            <a:off x="457200" y="2286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RETENIR</a:t>
            </a:r>
            <a:br>
              <a:rPr lang="fr-FR"/>
            </a:br>
            <a:endParaRPr/>
          </a:p>
        </p:txBody>
      </p:sp>
      <p:sp>
        <p:nvSpPr>
          <p:cNvPr id="1035" name="Google Shape;1035;p128"/>
          <p:cNvSpPr txBox="1"/>
          <p:nvPr>
            <p:ph idx="1" type="body"/>
          </p:nvPr>
        </p:nvSpPr>
        <p:spPr>
          <a:xfrm>
            <a:off x="381000" y="1219200"/>
            <a:ext cx="87630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attitude correcte dans la pathologie des corps étrangers auriculaires </a:t>
            </a:r>
            <a:endParaRPr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</a:t>
            </a:r>
            <a:r>
              <a:rPr lang="fr-FR" sz="1800">
                <a:solidFill>
                  <a:srgbClr val="FFC000"/>
                </a:solidFill>
              </a:rPr>
              <a:t>♦</a:t>
            </a:r>
            <a:r>
              <a:rPr lang="fr-FR" sz="1800"/>
              <a:t> corps étrangers animés ( insectes) - doivent d’abord qu’ils soient tués - instillation d’huile / l’alcool dans le CAE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</a:t>
            </a:r>
            <a:r>
              <a:rPr lang="fr-FR" sz="1800">
                <a:solidFill>
                  <a:srgbClr val="FFC000"/>
                </a:solidFill>
              </a:rPr>
              <a:t>♦</a:t>
            </a:r>
            <a:r>
              <a:rPr lang="fr-FR" sz="1800"/>
              <a:t> corps étrangers inertes (bouchon de cérumen) - la position correcte de jet d’eau dans le lavage auriculaire →  la paroi postérieure supérieure du  CAE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l’otorragie</a:t>
            </a:r>
            <a:r>
              <a:rPr b="1" i="1" lang="fr-FR" sz="1800">
                <a:solidFill>
                  <a:srgbClr val="FFC000"/>
                </a:solidFill>
              </a:rPr>
              <a:t> </a:t>
            </a:r>
            <a:r>
              <a:rPr lang="fr-FR" sz="1800"/>
              <a:t>– les traumatismes cranio-cérébraux  → fracture de la base du crâne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notions élémentaires de toilette auriculaire </a:t>
            </a:r>
            <a:endParaRPr b="1" i="1"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i="1" lang="fr-FR" sz="1800">
                <a:solidFill>
                  <a:srgbClr val="FFC000"/>
                </a:solidFill>
              </a:rPr>
              <a:t>♦  </a:t>
            </a:r>
            <a:r>
              <a:rPr lang="fr-FR" sz="1800"/>
              <a:t>pénétration de l’eau et du savon dans le CAE doit  évité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la toilette correcte de l’oreille est faite avec une serviette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       C.I</a:t>
            </a:r>
            <a:r>
              <a:rPr lang="fr-FR" sz="1800"/>
              <a:t>. ≈ l’utilisation des bâtons d’oreille dans la profondeur du  CAE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>
                <a:solidFill>
                  <a:srgbClr val="FFC000"/>
                </a:solidFill>
              </a:rPr>
              <a:t> ♦  </a:t>
            </a:r>
            <a:r>
              <a:rPr lang="fr-FR" sz="1800"/>
              <a:t>est incorrect le soufflage du nez à haute pression ou les deux narines  simultanément →  les sécrétions pathologiques pénètrent des cavités nasales  /nasopharynx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par le tube → l’oreille moyenne</a:t>
            </a:r>
            <a:br>
              <a:rPr lang="fr-FR" sz="2000"/>
            </a:br>
            <a:endParaRPr sz="200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129"/>
          <p:cNvSpPr txBox="1"/>
          <p:nvPr>
            <p:ph type="title"/>
          </p:nvPr>
        </p:nvSpPr>
        <p:spPr>
          <a:xfrm>
            <a:off x="457200" y="228600"/>
            <a:ext cx="82296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RETENIR</a:t>
            </a:r>
            <a:endParaRPr/>
          </a:p>
        </p:txBody>
      </p:sp>
      <p:sp>
        <p:nvSpPr>
          <p:cNvPr id="1041" name="Google Shape;1041;p129"/>
          <p:cNvSpPr txBox="1"/>
          <p:nvPr>
            <p:ph idx="1" type="body"/>
          </p:nvPr>
        </p:nvSpPr>
        <p:spPr>
          <a:xfrm>
            <a:off x="304800" y="1219200"/>
            <a:ext cx="89916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b="1" i="1" lang="fr-FR" sz="2000">
                <a:solidFill>
                  <a:srgbClr val="FFC000"/>
                </a:solidFill>
              </a:rPr>
              <a:t>la détection précoce de la perte auditive chez les enfants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i="1" lang="fr-FR" sz="1800">
                <a:solidFill>
                  <a:srgbClr val="FFC000"/>
                </a:solidFill>
              </a:rPr>
              <a:t> → </a:t>
            </a:r>
            <a:r>
              <a:rPr lang="fr-FR" sz="1800"/>
              <a:t>essentielle pour les corriger /éviter l’apparition de la surdi-mutité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</a:t>
            </a:r>
            <a:r>
              <a:rPr b="1" i="1" lang="fr-FR" sz="2000">
                <a:solidFill>
                  <a:srgbClr val="FFC000"/>
                </a:solidFill>
              </a:rPr>
              <a:t>l’anamnèse correcte </a:t>
            </a:r>
            <a:r>
              <a:rPr lang="fr-FR" sz="1800"/>
              <a:t>–  le syndrome vestibulaire périphérique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le vertige est obligatoire ≠ la lipothymie, des étourdissements banale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i="1" lang="fr-FR" sz="1800">
                <a:solidFill>
                  <a:srgbClr val="FFC000"/>
                </a:solidFill>
              </a:rPr>
              <a:t> </a:t>
            </a:r>
            <a:r>
              <a:rPr b="1" i="1" lang="fr-FR" sz="2000">
                <a:solidFill>
                  <a:srgbClr val="FFC000"/>
                </a:solidFill>
              </a:rPr>
              <a:t>L’orientation correcte du patient vertigineux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♦ syndrome vertigineux + troubles auditifs (acouphènes, hypoacousies) →le spécialiste ORL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♦ syndrome vertigineux + signes neurologiques → le neurologue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 le traitement correct du syndrome vestibulaire périphérique</a:t>
            </a:r>
            <a:endParaRPr b="1" i="1"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♦ en crise -  une situation d’urgence →  hôpital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perfusion  - vasodilatateurs (hydergine, ergotoxin) antivertigineuses (torecan, tanganil), piracetam, sédatifs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ro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2015-11-21T20:31:36Z</dcterms:created>
  <dc:creator>Raica</dc:creator>
</cp:coreProperties>
</file>