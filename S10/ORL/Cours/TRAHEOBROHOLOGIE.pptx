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Lst>
  <p:sldSz cy="6858000" cx="9144000"/>
  <p:notesSz cx="6858000" cy="9144000"/>
  <p:embeddedFontLst>
    <p:embeddedFont>
      <p:font typeface="Corbel"/>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71" roundtripDataSignature="AMtx7mgLq4qHLqC5Pvk/lp1t9JIezWYc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customschemas.google.com/relationships/presentationmetadata" Target="metadata"/><Relationship Id="rId70" Type="http://schemas.openxmlformats.org/officeDocument/2006/relationships/font" Target="fonts/Corbel-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Corbel-bold.fntdata"/><Relationship Id="rId23" Type="http://schemas.openxmlformats.org/officeDocument/2006/relationships/slide" Target="slides/slide18.xml"/><Relationship Id="rId67" Type="http://schemas.openxmlformats.org/officeDocument/2006/relationships/font" Target="fonts/Corbel-regular.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Corbel-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0" name="Shape 20"/>
        <p:cNvGrpSpPr/>
        <p:nvPr/>
      </p:nvGrpSpPr>
      <p:grpSpPr>
        <a:xfrm>
          <a:off x="0" y="0"/>
          <a:ext cx="0" cy="0"/>
          <a:chOff x="0" y="0"/>
          <a:chExt cx="0" cy="0"/>
        </a:xfrm>
      </p:grpSpPr>
      <p:sp>
        <p:nvSpPr>
          <p:cNvPr id="21" name="Google Shape;21;p63"/>
          <p:cNvSpPr txBox="1"/>
          <p:nvPr>
            <p:ph idx="10" type="dt"/>
          </p:nvPr>
        </p:nvSpPr>
        <p:spPr>
          <a:xfrm>
            <a:off x="6477000" y="6416675"/>
            <a:ext cx="21336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63"/>
          <p:cNvSpPr txBox="1"/>
          <p:nvPr>
            <p:ph idx="11" type="ftr"/>
          </p:nvPr>
        </p:nvSpPr>
        <p:spPr>
          <a:xfrm>
            <a:off x="914400" y="6416675"/>
            <a:ext cx="55626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63"/>
          <p:cNvSpPr txBox="1"/>
          <p:nvPr>
            <p:ph idx="12" type="sldNum"/>
          </p:nvPr>
        </p:nvSpPr>
        <p:spPr>
          <a:xfrm>
            <a:off x="8610600" y="6416675"/>
            <a:ext cx="457200" cy="365125"/>
          </a:xfrm>
          <a:prstGeom prst="rect">
            <a:avLst/>
          </a:prstGeom>
          <a:noFill/>
          <a:ln>
            <a:noFill/>
          </a:ln>
        </p:spPr>
        <p:txBody>
          <a:bodyPr anchorCtr="0" anchor="b"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
        <p:nvSpPr>
          <p:cNvPr id="24" name="Google Shape;24;p63"/>
          <p:cNvSpPr/>
          <p:nvPr/>
        </p:nvSpPr>
        <p:spPr>
          <a:xfrm>
            <a:off x="0" y="-1"/>
            <a:ext cx="365760" cy="685445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25" name="Google Shape;25;p63"/>
          <p:cNvSpPr/>
          <p:nvPr/>
        </p:nvSpPr>
        <p:spPr>
          <a:xfrm>
            <a:off x="309558" y="680477"/>
            <a:ext cx="45720" cy="36576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26" name="Google Shape;26;p63"/>
          <p:cNvSpPr/>
          <p:nvPr/>
        </p:nvSpPr>
        <p:spPr>
          <a:xfrm>
            <a:off x="269073" y="680477"/>
            <a:ext cx="27432" cy="36576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27" name="Google Shape;27;p63"/>
          <p:cNvSpPr/>
          <p:nvPr/>
        </p:nvSpPr>
        <p:spPr>
          <a:xfrm>
            <a:off x="250020" y="680477"/>
            <a:ext cx="9144" cy="36576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28" name="Google Shape;28;p63"/>
          <p:cNvSpPr/>
          <p:nvPr/>
        </p:nvSpPr>
        <p:spPr>
          <a:xfrm>
            <a:off x="221768" y="680477"/>
            <a:ext cx="9144" cy="36576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29" name="Google Shape;29;p63"/>
          <p:cNvSpPr txBox="1"/>
          <p:nvPr>
            <p:ph type="ctrTitle"/>
          </p:nvPr>
        </p:nvSpPr>
        <p:spPr>
          <a:xfrm>
            <a:off x="914400" y="4343400"/>
            <a:ext cx="7772400" cy="1975104"/>
          </a:xfrm>
          <a:prstGeom prst="rect">
            <a:avLst/>
          </a:prstGeom>
          <a:noFill/>
          <a:ln>
            <a:noFill/>
          </a:ln>
        </p:spPr>
        <p:txBody>
          <a:bodyPr anchorCtr="0" anchor="t" bIns="45700" lIns="91425" spcFirstLastPara="1" rIns="91425" wrap="square" tIns="45700">
            <a:noAutofit/>
          </a:bodyPr>
          <a:lstStyle>
            <a:lvl1pPr lvl="0" marR="9144" algn="l">
              <a:spcBef>
                <a:spcPts val="0"/>
              </a:spcBef>
              <a:spcAft>
                <a:spcPts val="0"/>
              </a:spcAft>
              <a:buClr>
                <a:srgbClr val="C1EDFF"/>
              </a:buClr>
              <a:buSzPts val="4000"/>
              <a:buFont typeface="Consolas"/>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63"/>
          <p:cNvSpPr txBox="1"/>
          <p:nvPr>
            <p:ph idx="1" type="subTitle"/>
          </p:nvPr>
        </p:nvSpPr>
        <p:spPr>
          <a:xfrm>
            <a:off x="914400" y="2834640"/>
            <a:ext cx="7772400" cy="1508760"/>
          </a:xfrm>
          <a:prstGeom prst="rect">
            <a:avLst/>
          </a:prstGeom>
          <a:noFill/>
          <a:ln>
            <a:noFill/>
          </a:ln>
        </p:spPr>
        <p:txBody>
          <a:bodyPr anchorCtr="0" anchor="b" bIns="45700" lIns="100575" spcFirstLastPara="1" rIns="91425" wrap="square" tIns="45700">
            <a:normAutofit/>
          </a:bodyPr>
          <a:lstStyle>
            <a:lvl1pPr lvl="0" algn="l">
              <a:spcBef>
                <a:spcPts val="0"/>
              </a:spcBef>
              <a:spcAft>
                <a:spcPts val="0"/>
              </a:spcAft>
              <a:buSzPts val="1900"/>
              <a:buNone/>
              <a:defRPr sz="2000">
                <a:solidFill>
                  <a:schemeClr val="lt1"/>
                </a:solidFill>
              </a:defRPr>
            </a:lvl1pPr>
            <a:lvl2pPr lvl="1" algn="ctr">
              <a:spcBef>
                <a:spcPts val="360"/>
              </a:spcBef>
              <a:spcAft>
                <a:spcPts val="0"/>
              </a:spcAft>
              <a:buSzPts val="1620"/>
              <a:buNone/>
              <a:defRPr/>
            </a:lvl2pPr>
            <a:lvl3pPr lvl="2" algn="ctr">
              <a:spcBef>
                <a:spcPts val="360"/>
              </a:spcBef>
              <a:spcAft>
                <a:spcPts val="0"/>
              </a:spcAft>
              <a:buSzPts val="1800"/>
              <a:buNone/>
              <a:defRPr/>
            </a:lvl3pPr>
            <a:lvl4pPr lvl="3" algn="ctr">
              <a:spcBef>
                <a:spcPts val="360"/>
              </a:spcBef>
              <a:spcAft>
                <a:spcPts val="0"/>
              </a:spcAft>
              <a:buSzPts val="1800"/>
              <a:buNone/>
              <a:defRPr/>
            </a:lvl4pPr>
            <a:lvl5pPr lvl="4" algn="ctr">
              <a:spcBef>
                <a:spcPts val="360"/>
              </a:spcBef>
              <a:spcAft>
                <a:spcPts val="0"/>
              </a:spcAft>
              <a:buSzPts val="1800"/>
              <a:buNone/>
              <a:defRPr/>
            </a:lvl5pPr>
            <a:lvl6pPr lvl="5" algn="ctr">
              <a:spcBef>
                <a:spcPts val="360"/>
              </a:spcBef>
              <a:spcAft>
                <a:spcPts val="0"/>
              </a:spcAft>
              <a:buSzPts val="1800"/>
              <a:buNone/>
              <a:defRPr/>
            </a:lvl6pPr>
            <a:lvl7pPr lvl="6" algn="ctr">
              <a:spcBef>
                <a:spcPts val="360"/>
              </a:spcBef>
              <a:spcAft>
                <a:spcPts val="0"/>
              </a:spcAft>
              <a:buSzPts val="180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31" name="Google Shape;31;p63"/>
          <p:cNvSpPr/>
          <p:nvPr/>
        </p:nvSpPr>
        <p:spPr>
          <a:xfrm>
            <a:off x="255291" y="5047394"/>
            <a:ext cx="73152" cy="16916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32" name="Google Shape;32;p63"/>
          <p:cNvSpPr/>
          <p:nvPr/>
        </p:nvSpPr>
        <p:spPr>
          <a:xfrm>
            <a:off x="255291" y="4796819"/>
            <a:ext cx="73152" cy="2286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33" name="Google Shape;33;p63"/>
          <p:cNvSpPr/>
          <p:nvPr/>
        </p:nvSpPr>
        <p:spPr>
          <a:xfrm>
            <a:off x="255291" y="4637685"/>
            <a:ext cx="73152" cy="1371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34" name="Google Shape;34;p63"/>
          <p:cNvSpPr/>
          <p:nvPr/>
        </p:nvSpPr>
        <p:spPr>
          <a:xfrm>
            <a:off x="255291" y="4542559"/>
            <a:ext cx="73152" cy="7315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5" name="Shape 35"/>
        <p:cNvGrpSpPr/>
        <p:nvPr/>
      </p:nvGrpSpPr>
      <p:grpSpPr>
        <a:xfrm>
          <a:off x="0" y="0"/>
          <a:ext cx="0" cy="0"/>
          <a:chOff x="0" y="0"/>
          <a:chExt cx="0" cy="0"/>
        </a:xfrm>
      </p:grpSpPr>
      <p:sp>
        <p:nvSpPr>
          <p:cNvPr id="36" name="Google Shape;36;p64"/>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C1ED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64"/>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a:bodyPr>
          <a:lstStyle>
            <a:lvl1pPr indent="-337185" lvl="0" marL="457200" algn="l">
              <a:spcBef>
                <a:spcPts val="700"/>
              </a:spcBef>
              <a:spcAft>
                <a:spcPts val="0"/>
              </a:spcAft>
              <a:buSzPts val="1710"/>
              <a:buChar char="▪"/>
              <a:defRPr/>
            </a:lvl1pPr>
            <a:lvl2pPr indent="-331469" lvl="1" marL="914400" algn="l">
              <a:spcBef>
                <a:spcPts val="360"/>
              </a:spcBef>
              <a:spcAft>
                <a:spcPts val="0"/>
              </a:spcAft>
              <a:buSzPts val="162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8" name="Google Shape;38;p64"/>
          <p:cNvSpPr txBox="1"/>
          <p:nvPr>
            <p:ph idx="10" type="dt"/>
          </p:nvPr>
        </p:nvSpPr>
        <p:spPr>
          <a:xfrm>
            <a:off x="6477000" y="6416675"/>
            <a:ext cx="21336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4"/>
          <p:cNvSpPr txBox="1"/>
          <p:nvPr>
            <p:ph idx="11" type="ftr"/>
          </p:nvPr>
        </p:nvSpPr>
        <p:spPr>
          <a:xfrm>
            <a:off x="914400" y="6416675"/>
            <a:ext cx="55626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4"/>
          <p:cNvSpPr txBox="1"/>
          <p:nvPr>
            <p:ph idx="12" type="sldNum"/>
          </p:nvPr>
        </p:nvSpPr>
        <p:spPr>
          <a:xfrm>
            <a:off x="8610600" y="6416675"/>
            <a:ext cx="457200" cy="365125"/>
          </a:xfrm>
          <a:prstGeom prst="rect">
            <a:avLst/>
          </a:prstGeom>
          <a:noFill/>
          <a:ln>
            <a:noFill/>
          </a:ln>
        </p:spPr>
        <p:txBody>
          <a:bodyPr anchorCtr="0" anchor="b"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41" name="Shape 41"/>
        <p:cNvGrpSpPr/>
        <p:nvPr/>
      </p:nvGrpSpPr>
      <p:grpSpPr>
        <a:xfrm>
          <a:off x="0" y="0"/>
          <a:ext cx="0" cy="0"/>
          <a:chOff x="0" y="0"/>
          <a:chExt cx="0" cy="0"/>
        </a:xfrm>
      </p:grpSpPr>
      <p:sp>
        <p:nvSpPr>
          <p:cNvPr id="42" name="Google Shape;42;p6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C1ED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65"/>
          <p:cNvSpPr txBox="1"/>
          <p:nvPr>
            <p:ph idx="1" type="body"/>
          </p:nvPr>
        </p:nvSpPr>
        <p:spPr>
          <a:xfrm>
            <a:off x="457200" y="1600200"/>
            <a:ext cx="4038600" cy="4533900"/>
          </a:xfrm>
          <a:prstGeom prst="rect">
            <a:avLst/>
          </a:prstGeom>
          <a:noFill/>
          <a:ln>
            <a:noFill/>
          </a:ln>
        </p:spPr>
        <p:txBody>
          <a:bodyPr anchorCtr="0" anchor="t" bIns="45700" lIns="91425" spcFirstLastPara="1" rIns="91425" wrap="square" tIns="45700">
            <a:normAutofit/>
          </a:bodyPr>
          <a:lstStyle>
            <a:lvl1pPr indent="-337185" lvl="0" marL="457200" algn="l">
              <a:spcBef>
                <a:spcPts val="700"/>
              </a:spcBef>
              <a:spcAft>
                <a:spcPts val="0"/>
              </a:spcAft>
              <a:buSzPts val="1710"/>
              <a:buChar char="▪"/>
              <a:defRPr/>
            </a:lvl1pPr>
            <a:lvl2pPr indent="-331469" lvl="1" marL="914400" algn="l">
              <a:spcBef>
                <a:spcPts val="360"/>
              </a:spcBef>
              <a:spcAft>
                <a:spcPts val="0"/>
              </a:spcAft>
              <a:buSzPts val="162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4" name="Google Shape;44;p65"/>
          <p:cNvSpPr txBox="1"/>
          <p:nvPr>
            <p:ph idx="2" type="body"/>
          </p:nvPr>
        </p:nvSpPr>
        <p:spPr>
          <a:xfrm>
            <a:off x="4648200" y="1600200"/>
            <a:ext cx="4038600" cy="2190750"/>
          </a:xfrm>
          <a:prstGeom prst="rect">
            <a:avLst/>
          </a:prstGeom>
          <a:noFill/>
          <a:ln>
            <a:noFill/>
          </a:ln>
        </p:spPr>
        <p:txBody>
          <a:bodyPr anchorCtr="0" anchor="t" bIns="45700" lIns="91425" spcFirstLastPara="1" rIns="91425" wrap="square" tIns="45700">
            <a:normAutofit/>
          </a:bodyPr>
          <a:lstStyle>
            <a:lvl1pPr indent="-337185" lvl="0" marL="457200" algn="l">
              <a:spcBef>
                <a:spcPts val="700"/>
              </a:spcBef>
              <a:spcAft>
                <a:spcPts val="0"/>
              </a:spcAft>
              <a:buSzPts val="1710"/>
              <a:buChar char="▪"/>
              <a:defRPr/>
            </a:lvl1pPr>
            <a:lvl2pPr indent="-331469" lvl="1" marL="914400" algn="l">
              <a:spcBef>
                <a:spcPts val="360"/>
              </a:spcBef>
              <a:spcAft>
                <a:spcPts val="0"/>
              </a:spcAft>
              <a:buSzPts val="162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5" name="Google Shape;45;p65"/>
          <p:cNvSpPr txBox="1"/>
          <p:nvPr>
            <p:ph idx="3" type="body"/>
          </p:nvPr>
        </p:nvSpPr>
        <p:spPr>
          <a:xfrm>
            <a:off x="4648200" y="3943350"/>
            <a:ext cx="4038600" cy="2190750"/>
          </a:xfrm>
          <a:prstGeom prst="rect">
            <a:avLst/>
          </a:prstGeom>
          <a:noFill/>
          <a:ln>
            <a:noFill/>
          </a:ln>
        </p:spPr>
        <p:txBody>
          <a:bodyPr anchorCtr="0" anchor="t" bIns="45700" lIns="91425" spcFirstLastPara="1" rIns="91425" wrap="square" tIns="45700">
            <a:normAutofit/>
          </a:bodyPr>
          <a:lstStyle>
            <a:lvl1pPr indent="-337185" lvl="0" marL="457200" algn="l">
              <a:spcBef>
                <a:spcPts val="700"/>
              </a:spcBef>
              <a:spcAft>
                <a:spcPts val="0"/>
              </a:spcAft>
              <a:buSzPts val="1710"/>
              <a:buChar char="▪"/>
              <a:defRPr/>
            </a:lvl1pPr>
            <a:lvl2pPr indent="-331469" lvl="1" marL="914400" algn="l">
              <a:spcBef>
                <a:spcPts val="360"/>
              </a:spcBef>
              <a:spcAft>
                <a:spcPts val="0"/>
              </a:spcAft>
              <a:buSzPts val="162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6" name="Google Shape;46;p65"/>
          <p:cNvSpPr txBox="1"/>
          <p:nvPr>
            <p:ph idx="12" type="sldNum"/>
          </p:nvPr>
        </p:nvSpPr>
        <p:spPr>
          <a:xfrm>
            <a:off x="6553200" y="6243638"/>
            <a:ext cx="2133600" cy="457200"/>
          </a:xfrm>
          <a:prstGeom prst="rect">
            <a:avLst/>
          </a:prstGeom>
          <a:noFill/>
          <a:ln>
            <a:noFill/>
          </a:ln>
        </p:spPr>
        <p:txBody>
          <a:bodyPr anchorCtr="0" anchor="b" bIns="45700" lIns="91425" spcFirstLastPara="1" rIns="91425" wrap="square" tIns="45700">
            <a:noAutofit/>
          </a:bodyPr>
          <a:lstStyle>
            <a:lvl1pPr indent="0" lvl="0" marL="0" algn="l">
              <a:spcBef>
                <a:spcPts val="0"/>
              </a:spcBef>
              <a:buNone/>
              <a:defRPr b="0" i="0" sz="1200" u="none" cap="none" strike="noStrike">
                <a:solidFill>
                  <a:schemeClr val="lt2"/>
                </a:solidFill>
                <a:latin typeface="Corbel"/>
                <a:ea typeface="Corbel"/>
                <a:cs typeface="Corbel"/>
                <a:sym typeface="Corbel"/>
              </a:defRPr>
            </a:lvl1pPr>
            <a:lvl2pPr indent="0" lvl="1" marL="0" algn="l">
              <a:spcBef>
                <a:spcPts val="0"/>
              </a:spcBef>
              <a:buNone/>
              <a:defRPr b="0" i="0" sz="1200" u="none" cap="none" strike="noStrike">
                <a:solidFill>
                  <a:schemeClr val="lt2"/>
                </a:solidFill>
                <a:latin typeface="Corbel"/>
                <a:ea typeface="Corbel"/>
                <a:cs typeface="Corbel"/>
                <a:sym typeface="Corbel"/>
              </a:defRPr>
            </a:lvl2pPr>
            <a:lvl3pPr indent="0" lvl="2" marL="0" algn="l">
              <a:spcBef>
                <a:spcPts val="0"/>
              </a:spcBef>
              <a:buNone/>
              <a:defRPr b="0" i="0" sz="1200" u="none" cap="none" strike="noStrike">
                <a:solidFill>
                  <a:schemeClr val="lt2"/>
                </a:solidFill>
                <a:latin typeface="Corbel"/>
                <a:ea typeface="Corbel"/>
                <a:cs typeface="Corbel"/>
                <a:sym typeface="Corbel"/>
              </a:defRPr>
            </a:lvl3pPr>
            <a:lvl4pPr indent="0" lvl="3" marL="0" algn="l">
              <a:spcBef>
                <a:spcPts val="0"/>
              </a:spcBef>
              <a:buNone/>
              <a:defRPr b="0" i="0" sz="1200" u="none" cap="none" strike="noStrike">
                <a:solidFill>
                  <a:schemeClr val="lt2"/>
                </a:solidFill>
                <a:latin typeface="Corbel"/>
                <a:ea typeface="Corbel"/>
                <a:cs typeface="Corbel"/>
                <a:sym typeface="Corbel"/>
              </a:defRPr>
            </a:lvl4pPr>
            <a:lvl5pPr indent="0" lvl="4" marL="0" algn="l">
              <a:spcBef>
                <a:spcPts val="0"/>
              </a:spcBef>
              <a:buNone/>
              <a:defRPr b="0" i="0" sz="1200" u="none" cap="none" strike="noStrike">
                <a:solidFill>
                  <a:schemeClr val="lt2"/>
                </a:solidFill>
                <a:latin typeface="Corbel"/>
                <a:ea typeface="Corbel"/>
                <a:cs typeface="Corbel"/>
                <a:sym typeface="Corbel"/>
              </a:defRPr>
            </a:lvl5pPr>
            <a:lvl6pPr indent="0" lvl="5" marL="0" algn="l">
              <a:spcBef>
                <a:spcPts val="0"/>
              </a:spcBef>
              <a:buNone/>
              <a:defRPr b="0" i="0" sz="1200" u="none" cap="none" strike="noStrike">
                <a:solidFill>
                  <a:schemeClr val="lt2"/>
                </a:solidFill>
                <a:latin typeface="Corbel"/>
                <a:ea typeface="Corbel"/>
                <a:cs typeface="Corbel"/>
                <a:sym typeface="Corbel"/>
              </a:defRPr>
            </a:lvl6pPr>
            <a:lvl7pPr indent="0" lvl="6" marL="0" algn="l">
              <a:spcBef>
                <a:spcPts val="0"/>
              </a:spcBef>
              <a:buNone/>
              <a:defRPr b="0" i="0" sz="1200" u="none" cap="none" strike="noStrike">
                <a:solidFill>
                  <a:schemeClr val="lt2"/>
                </a:solidFill>
                <a:latin typeface="Corbel"/>
                <a:ea typeface="Corbel"/>
                <a:cs typeface="Corbel"/>
                <a:sym typeface="Corbel"/>
              </a:defRPr>
            </a:lvl7pPr>
            <a:lvl8pPr indent="0" lvl="7" marL="0" algn="l">
              <a:spcBef>
                <a:spcPts val="0"/>
              </a:spcBef>
              <a:buNone/>
              <a:defRPr b="0" i="0" sz="1200" u="none" cap="none" strike="noStrike">
                <a:solidFill>
                  <a:schemeClr val="lt2"/>
                </a:solidFill>
                <a:latin typeface="Corbel"/>
                <a:ea typeface="Corbel"/>
                <a:cs typeface="Corbel"/>
                <a:sym typeface="Corbel"/>
              </a:defRPr>
            </a:lvl8pPr>
            <a:lvl9pPr indent="0" lvl="8" marL="0" algn="l">
              <a:spcBef>
                <a:spcPts val="0"/>
              </a:spcBef>
              <a:buNone/>
              <a:defRPr b="0" i="0" sz="1200" u="none" cap="none" strike="noStrike">
                <a:solidFill>
                  <a:schemeClr val="lt2"/>
                </a:solidFill>
                <a:latin typeface="Corbel"/>
                <a:ea typeface="Corbel"/>
                <a:cs typeface="Corbel"/>
                <a:sym typeface="Corbel"/>
              </a:defRPr>
            </a:lvl9pPr>
          </a:lstStyle>
          <a:p>
            <a:pPr indent="0" lvl="0" marL="0" rtl="0" algn="l">
              <a:spcBef>
                <a:spcPts val="0"/>
              </a:spcBef>
              <a:spcAft>
                <a:spcPts val="0"/>
              </a:spcAft>
              <a:buNone/>
            </a:pPr>
            <a:fld id="{00000000-1234-1234-1234-123412341234}" type="slidenum">
              <a:rPr lang="fr-FR"/>
              <a:t>‹#›</a:t>
            </a:fld>
            <a:endParaRPr/>
          </a:p>
        </p:txBody>
      </p:sp>
      <p:sp>
        <p:nvSpPr>
          <p:cNvPr id="47" name="Google Shape;47;p65"/>
          <p:cNvSpPr txBox="1"/>
          <p:nvPr>
            <p:ph idx="10" type="dt"/>
          </p:nvPr>
        </p:nvSpPr>
        <p:spPr>
          <a:xfrm>
            <a:off x="457200" y="6243638"/>
            <a:ext cx="2133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5"/>
          <p:cNvSpPr txBox="1"/>
          <p:nvPr>
            <p:ph idx="11" type="ftr"/>
          </p:nvPr>
        </p:nvSpPr>
        <p:spPr>
          <a:xfrm>
            <a:off x="3124200" y="6243638"/>
            <a:ext cx="2895600" cy="4572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Text" type="objAndTx">
  <p:cSld name="OBJECT_AND_TEXT">
    <p:spTree>
      <p:nvGrpSpPr>
        <p:cNvPr id="49" name="Shape 49"/>
        <p:cNvGrpSpPr/>
        <p:nvPr/>
      </p:nvGrpSpPr>
      <p:grpSpPr>
        <a:xfrm>
          <a:off x="0" y="0"/>
          <a:ext cx="0" cy="0"/>
          <a:chOff x="0" y="0"/>
          <a:chExt cx="0" cy="0"/>
        </a:xfrm>
      </p:grpSpPr>
      <p:sp>
        <p:nvSpPr>
          <p:cNvPr id="50" name="Google Shape;50;p66"/>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C1ED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6"/>
          <p:cNvSpPr txBox="1"/>
          <p:nvPr>
            <p:ph idx="1" type="body"/>
          </p:nvPr>
        </p:nvSpPr>
        <p:spPr>
          <a:xfrm>
            <a:off x="457200" y="1600200"/>
            <a:ext cx="4038600" cy="4533900"/>
          </a:xfrm>
          <a:prstGeom prst="rect">
            <a:avLst/>
          </a:prstGeom>
          <a:noFill/>
          <a:ln>
            <a:noFill/>
          </a:ln>
        </p:spPr>
        <p:txBody>
          <a:bodyPr anchorCtr="0" anchor="t" bIns="45700" lIns="91425" spcFirstLastPara="1" rIns="91425" wrap="square" tIns="45700">
            <a:normAutofit/>
          </a:bodyPr>
          <a:lstStyle>
            <a:lvl1pPr indent="-337185" lvl="0" marL="457200" algn="l">
              <a:spcBef>
                <a:spcPts val="700"/>
              </a:spcBef>
              <a:spcAft>
                <a:spcPts val="0"/>
              </a:spcAft>
              <a:buSzPts val="1710"/>
              <a:buChar char="▪"/>
              <a:defRPr/>
            </a:lvl1pPr>
            <a:lvl2pPr indent="-331469" lvl="1" marL="914400" algn="l">
              <a:spcBef>
                <a:spcPts val="360"/>
              </a:spcBef>
              <a:spcAft>
                <a:spcPts val="0"/>
              </a:spcAft>
              <a:buSzPts val="162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2" name="Google Shape;52;p66"/>
          <p:cNvSpPr txBox="1"/>
          <p:nvPr>
            <p:ph idx="2" type="body"/>
          </p:nvPr>
        </p:nvSpPr>
        <p:spPr>
          <a:xfrm>
            <a:off x="4648200" y="1600200"/>
            <a:ext cx="4038600" cy="4533900"/>
          </a:xfrm>
          <a:prstGeom prst="rect">
            <a:avLst/>
          </a:prstGeom>
          <a:noFill/>
          <a:ln>
            <a:noFill/>
          </a:ln>
        </p:spPr>
        <p:txBody>
          <a:bodyPr anchorCtr="0" anchor="t" bIns="45700" lIns="91425" spcFirstLastPara="1" rIns="91425" wrap="square" tIns="45700">
            <a:normAutofit/>
          </a:bodyPr>
          <a:lstStyle>
            <a:lvl1pPr indent="-337185" lvl="0" marL="457200" algn="l">
              <a:spcBef>
                <a:spcPts val="700"/>
              </a:spcBef>
              <a:spcAft>
                <a:spcPts val="0"/>
              </a:spcAft>
              <a:buSzPts val="1710"/>
              <a:buChar char="▪"/>
              <a:defRPr/>
            </a:lvl1pPr>
            <a:lvl2pPr indent="-331469" lvl="1" marL="914400" algn="l">
              <a:spcBef>
                <a:spcPts val="360"/>
              </a:spcBef>
              <a:spcAft>
                <a:spcPts val="0"/>
              </a:spcAft>
              <a:buSzPts val="162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3" name="Google Shape;53;p66"/>
          <p:cNvSpPr txBox="1"/>
          <p:nvPr>
            <p:ph idx="12" type="sldNum"/>
          </p:nvPr>
        </p:nvSpPr>
        <p:spPr>
          <a:xfrm>
            <a:off x="6553200" y="6243638"/>
            <a:ext cx="2133600" cy="457200"/>
          </a:xfrm>
          <a:prstGeom prst="rect">
            <a:avLst/>
          </a:prstGeom>
          <a:noFill/>
          <a:ln>
            <a:noFill/>
          </a:ln>
        </p:spPr>
        <p:txBody>
          <a:bodyPr anchorCtr="0" anchor="b" bIns="45700" lIns="91425" spcFirstLastPara="1" rIns="91425" wrap="square" tIns="45700">
            <a:noAutofit/>
          </a:bodyPr>
          <a:lstStyle>
            <a:lvl1pPr indent="0" lvl="0" marL="0" algn="l">
              <a:spcBef>
                <a:spcPts val="0"/>
              </a:spcBef>
              <a:buNone/>
              <a:defRPr b="0" i="0" sz="1200" u="none" cap="none" strike="noStrike">
                <a:solidFill>
                  <a:schemeClr val="lt2"/>
                </a:solidFill>
                <a:latin typeface="Corbel"/>
                <a:ea typeface="Corbel"/>
                <a:cs typeface="Corbel"/>
                <a:sym typeface="Corbel"/>
              </a:defRPr>
            </a:lvl1pPr>
            <a:lvl2pPr indent="0" lvl="1" marL="0" algn="l">
              <a:spcBef>
                <a:spcPts val="0"/>
              </a:spcBef>
              <a:buNone/>
              <a:defRPr b="0" i="0" sz="1200" u="none" cap="none" strike="noStrike">
                <a:solidFill>
                  <a:schemeClr val="lt2"/>
                </a:solidFill>
                <a:latin typeface="Corbel"/>
                <a:ea typeface="Corbel"/>
                <a:cs typeface="Corbel"/>
                <a:sym typeface="Corbel"/>
              </a:defRPr>
            </a:lvl2pPr>
            <a:lvl3pPr indent="0" lvl="2" marL="0" algn="l">
              <a:spcBef>
                <a:spcPts val="0"/>
              </a:spcBef>
              <a:buNone/>
              <a:defRPr b="0" i="0" sz="1200" u="none" cap="none" strike="noStrike">
                <a:solidFill>
                  <a:schemeClr val="lt2"/>
                </a:solidFill>
                <a:latin typeface="Corbel"/>
                <a:ea typeface="Corbel"/>
                <a:cs typeface="Corbel"/>
                <a:sym typeface="Corbel"/>
              </a:defRPr>
            </a:lvl3pPr>
            <a:lvl4pPr indent="0" lvl="3" marL="0" algn="l">
              <a:spcBef>
                <a:spcPts val="0"/>
              </a:spcBef>
              <a:buNone/>
              <a:defRPr b="0" i="0" sz="1200" u="none" cap="none" strike="noStrike">
                <a:solidFill>
                  <a:schemeClr val="lt2"/>
                </a:solidFill>
                <a:latin typeface="Corbel"/>
                <a:ea typeface="Corbel"/>
                <a:cs typeface="Corbel"/>
                <a:sym typeface="Corbel"/>
              </a:defRPr>
            </a:lvl4pPr>
            <a:lvl5pPr indent="0" lvl="4" marL="0" algn="l">
              <a:spcBef>
                <a:spcPts val="0"/>
              </a:spcBef>
              <a:buNone/>
              <a:defRPr b="0" i="0" sz="1200" u="none" cap="none" strike="noStrike">
                <a:solidFill>
                  <a:schemeClr val="lt2"/>
                </a:solidFill>
                <a:latin typeface="Corbel"/>
                <a:ea typeface="Corbel"/>
                <a:cs typeface="Corbel"/>
                <a:sym typeface="Corbel"/>
              </a:defRPr>
            </a:lvl5pPr>
            <a:lvl6pPr indent="0" lvl="5" marL="0" algn="l">
              <a:spcBef>
                <a:spcPts val="0"/>
              </a:spcBef>
              <a:buNone/>
              <a:defRPr b="0" i="0" sz="1200" u="none" cap="none" strike="noStrike">
                <a:solidFill>
                  <a:schemeClr val="lt2"/>
                </a:solidFill>
                <a:latin typeface="Corbel"/>
                <a:ea typeface="Corbel"/>
                <a:cs typeface="Corbel"/>
                <a:sym typeface="Corbel"/>
              </a:defRPr>
            </a:lvl6pPr>
            <a:lvl7pPr indent="0" lvl="6" marL="0" algn="l">
              <a:spcBef>
                <a:spcPts val="0"/>
              </a:spcBef>
              <a:buNone/>
              <a:defRPr b="0" i="0" sz="1200" u="none" cap="none" strike="noStrike">
                <a:solidFill>
                  <a:schemeClr val="lt2"/>
                </a:solidFill>
                <a:latin typeface="Corbel"/>
                <a:ea typeface="Corbel"/>
                <a:cs typeface="Corbel"/>
                <a:sym typeface="Corbel"/>
              </a:defRPr>
            </a:lvl7pPr>
            <a:lvl8pPr indent="0" lvl="7" marL="0" algn="l">
              <a:spcBef>
                <a:spcPts val="0"/>
              </a:spcBef>
              <a:buNone/>
              <a:defRPr b="0" i="0" sz="1200" u="none" cap="none" strike="noStrike">
                <a:solidFill>
                  <a:schemeClr val="lt2"/>
                </a:solidFill>
                <a:latin typeface="Corbel"/>
                <a:ea typeface="Corbel"/>
                <a:cs typeface="Corbel"/>
                <a:sym typeface="Corbel"/>
              </a:defRPr>
            </a:lvl8pPr>
            <a:lvl9pPr indent="0" lvl="8" marL="0" algn="l">
              <a:spcBef>
                <a:spcPts val="0"/>
              </a:spcBef>
              <a:buNone/>
              <a:defRPr b="0" i="0" sz="1200" u="none" cap="none" strike="noStrike">
                <a:solidFill>
                  <a:schemeClr val="lt2"/>
                </a:solidFill>
                <a:latin typeface="Corbel"/>
                <a:ea typeface="Corbel"/>
                <a:cs typeface="Corbel"/>
                <a:sym typeface="Corbel"/>
              </a:defRPr>
            </a:lvl9pPr>
          </a:lstStyle>
          <a:p>
            <a:pPr indent="0" lvl="0" marL="0" rtl="0" algn="l">
              <a:spcBef>
                <a:spcPts val="0"/>
              </a:spcBef>
              <a:spcAft>
                <a:spcPts val="0"/>
              </a:spcAft>
              <a:buNone/>
            </a:pPr>
            <a:fld id="{00000000-1234-1234-1234-123412341234}" type="slidenum">
              <a:rPr lang="fr-FR"/>
              <a:t>‹#›</a:t>
            </a:fld>
            <a:endParaRPr/>
          </a:p>
        </p:txBody>
      </p:sp>
      <p:sp>
        <p:nvSpPr>
          <p:cNvPr id="54" name="Google Shape;54;p66"/>
          <p:cNvSpPr txBox="1"/>
          <p:nvPr>
            <p:ph idx="10" type="dt"/>
          </p:nvPr>
        </p:nvSpPr>
        <p:spPr>
          <a:xfrm>
            <a:off x="457200" y="6243638"/>
            <a:ext cx="2133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6"/>
          <p:cNvSpPr txBox="1"/>
          <p:nvPr>
            <p:ph idx="11" type="ftr"/>
          </p:nvPr>
        </p:nvSpPr>
        <p:spPr>
          <a:xfrm>
            <a:off x="3124200" y="6243638"/>
            <a:ext cx="2895600" cy="4572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type="twoObj">
  <p:cSld name="TWO_OBJECTS">
    <p:spTree>
      <p:nvGrpSpPr>
        <p:cNvPr id="56" name="Shape 56"/>
        <p:cNvGrpSpPr/>
        <p:nvPr/>
      </p:nvGrpSpPr>
      <p:grpSpPr>
        <a:xfrm>
          <a:off x="0" y="0"/>
          <a:ext cx="0" cy="0"/>
          <a:chOff x="0" y="0"/>
          <a:chExt cx="0" cy="0"/>
        </a:xfrm>
      </p:grpSpPr>
      <p:sp>
        <p:nvSpPr>
          <p:cNvPr id="57" name="Google Shape;57;p67"/>
          <p:cNvSpPr txBox="1"/>
          <p:nvPr>
            <p:ph type="title"/>
          </p:nvPr>
        </p:nvSpPr>
        <p:spPr>
          <a:xfrm>
            <a:off x="457200" y="512064"/>
            <a:ext cx="8229600" cy="9144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C1ED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67"/>
          <p:cNvSpPr txBox="1"/>
          <p:nvPr>
            <p:ph idx="1" type="body"/>
          </p:nvPr>
        </p:nvSpPr>
        <p:spPr>
          <a:xfrm>
            <a:off x="464344" y="1770501"/>
            <a:ext cx="4038600" cy="4525963"/>
          </a:xfrm>
          <a:prstGeom prst="rect">
            <a:avLst/>
          </a:prstGeom>
          <a:noFill/>
          <a:ln>
            <a:noFill/>
          </a:ln>
        </p:spPr>
        <p:txBody>
          <a:bodyPr anchorCtr="0" anchor="t" bIns="45700" lIns="91425" spcFirstLastPara="1" rIns="91425" wrap="square" tIns="45700">
            <a:normAutofit/>
          </a:bodyPr>
          <a:lstStyle>
            <a:lvl1pPr indent="-397510" lvl="0" marL="457200" algn="l">
              <a:spcBef>
                <a:spcPts val="700"/>
              </a:spcBef>
              <a:spcAft>
                <a:spcPts val="0"/>
              </a:spcAft>
              <a:buSzPts val="2660"/>
              <a:buChar char="▪"/>
              <a:defRPr sz="2800"/>
            </a:lvl1pPr>
            <a:lvl2pPr indent="-365760" lvl="1" marL="914400" algn="l">
              <a:spcBef>
                <a:spcPts val="480"/>
              </a:spcBef>
              <a:spcAft>
                <a:spcPts val="0"/>
              </a:spcAft>
              <a:buSzPts val="216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9" name="Google Shape;59;p67"/>
          <p:cNvSpPr txBox="1"/>
          <p:nvPr>
            <p:ph idx="2" type="body"/>
          </p:nvPr>
        </p:nvSpPr>
        <p:spPr>
          <a:xfrm>
            <a:off x="4655344" y="1770501"/>
            <a:ext cx="4038600" cy="4525963"/>
          </a:xfrm>
          <a:prstGeom prst="rect">
            <a:avLst/>
          </a:prstGeom>
          <a:noFill/>
          <a:ln>
            <a:noFill/>
          </a:ln>
        </p:spPr>
        <p:txBody>
          <a:bodyPr anchorCtr="0" anchor="t" bIns="45700" lIns="91425" spcFirstLastPara="1" rIns="91425" wrap="square" tIns="45700">
            <a:normAutofit/>
          </a:bodyPr>
          <a:lstStyle>
            <a:lvl1pPr indent="-397510" lvl="0" marL="457200" algn="l">
              <a:spcBef>
                <a:spcPts val="700"/>
              </a:spcBef>
              <a:spcAft>
                <a:spcPts val="0"/>
              </a:spcAft>
              <a:buSzPts val="2660"/>
              <a:buChar char="▪"/>
              <a:defRPr sz="2800"/>
            </a:lvl1pPr>
            <a:lvl2pPr indent="-365760" lvl="1" marL="914400" algn="l">
              <a:spcBef>
                <a:spcPts val="480"/>
              </a:spcBef>
              <a:spcAft>
                <a:spcPts val="0"/>
              </a:spcAft>
              <a:buSzPts val="216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0" name="Google Shape;60;p67"/>
          <p:cNvSpPr txBox="1"/>
          <p:nvPr>
            <p:ph idx="10" type="dt"/>
          </p:nvPr>
        </p:nvSpPr>
        <p:spPr>
          <a:xfrm>
            <a:off x="6477000" y="6416675"/>
            <a:ext cx="21336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67"/>
          <p:cNvSpPr txBox="1"/>
          <p:nvPr>
            <p:ph idx="11" type="ftr"/>
          </p:nvPr>
        </p:nvSpPr>
        <p:spPr>
          <a:xfrm>
            <a:off x="914400" y="6416675"/>
            <a:ext cx="55626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67"/>
          <p:cNvSpPr txBox="1"/>
          <p:nvPr>
            <p:ph idx="12" type="sldNum"/>
          </p:nvPr>
        </p:nvSpPr>
        <p:spPr>
          <a:xfrm>
            <a:off x="8610600" y="6416675"/>
            <a:ext cx="457200" cy="365125"/>
          </a:xfrm>
          <a:prstGeom prst="rect">
            <a:avLst/>
          </a:prstGeom>
          <a:noFill/>
          <a:ln>
            <a:noFill/>
          </a:ln>
        </p:spPr>
        <p:txBody>
          <a:bodyPr anchorCtr="0" anchor="b"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3" name="Shape 63"/>
        <p:cNvGrpSpPr/>
        <p:nvPr/>
      </p:nvGrpSpPr>
      <p:grpSpPr>
        <a:xfrm>
          <a:off x="0" y="0"/>
          <a:ext cx="0" cy="0"/>
          <a:chOff x="0" y="0"/>
          <a:chExt cx="0" cy="0"/>
        </a:xfrm>
      </p:grpSpPr>
      <p:sp>
        <p:nvSpPr>
          <p:cNvPr id="64" name="Google Shape;64;p68"/>
          <p:cNvSpPr/>
          <p:nvPr/>
        </p:nvSpPr>
        <p:spPr>
          <a:xfrm>
            <a:off x="4828952" y="1073888"/>
            <a:ext cx="4322136" cy="5791200"/>
          </a:xfrm>
          <a:custGeom>
            <a:rect b="b" l="l" r="r" t="t"/>
            <a:pathLst>
              <a:path extrusionOk="0" h="3648" w="2736">
                <a:moveTo>
                  <a:pt x="0" y="3648"/>
                </a:moveTo>
                <a:lnTo>
                  <a:pt x="720" y="2016"/>
                </a:lnTo>
                <a:lnTo>
                  <a:pt x="2736" y="672"/>
                </a:lnTo>
                <a:lnTo>
                  <a:pt x="2736" y="720"/>
                </a:lnTo>
                <a:lnTo>
                  <a:pt x="744" y="2038"/>
                </a:lnTo>
                <a:lnTo>
                  <a:pt x="48" y="3648"/>
                </a:lnTo>
                <a:lnTo>
                  <a:pt x="48" y="3648"/>
                </a:lnTo>
                <a:close/>
              </a:path>
            </a:pathLst>
          </a:custGeom>
          <a:noFill/>
          <a:ln cap="flat" cmpd="sng" w="9525">
            <a:solidFill>
              <a:schemeClr val="accent2">
                <a:alpha val="52941"/>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65" name="Google Shape;65;p68"/>
          <p:cNvSpPr/>
          <p:nvPr/>
        </p:nvSpPr>
        <p:spPr>
          <a:xfrm>
            <a:off x="373966" y="0"/>
            <a:ext cx="5514536" cy="6615332"/>
          </a:xfrm>
          <a:custGeom>
            <a:rect b="b" l="l" r="r" t="t"/>
            <a:pathLst>
              <a:path extrusionOk="0" h="4128" w="3504">
                <a:moveTo>
                  <a:pt x="0" y="4080"/>
                </a:moveTo>
                <a:lnTo>
                  <a:pt x="0" y="4128"/>
                </a:lnTo>
                <a:lnTo>
                  <a:pt x="3504" y="2640"/>
                </a:lnTo>
                <a:lnTo>
                  <a:pt x="2880" y="0"/>
                </a:lnTo>
                <a:lnTo>
                  <a:pt x="2832" y="0"/>
                </a:lnTo>
                <a:lnTo>
                  <a:pt x="3465" y="2619"/>
                </a:lnTo>
                <a:lnTo>
                  <a:pt x="0" y="4080"/>
                </a:lnTo>
                <a:close/>
              </a:path>
            </a:pathLst>
          </a:custGeom>
          <a:noFill/>
          <a:ln cap="flat" cmpd="sng" w="9525">
            <a:solidFill>
              <a:schemeClr val="accent2">
                <a:alpha val="52941"/>
              </a:scheme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66" name="Google Shape;66;p68"/>
          <p:cNvSpPr/>
          <p:nvPr/>
        </p:nvSpPr>
        <p:spPr>
          <a:xfrm rot="5236414">
            <a:off x="4462128" y="1483600"/>
            <a:ext cx="4114800" cy="1188720"/>
          </a:xfrm>
          <a:custGeom>
            <a:rect b="b" l="l" r="r" t="t"/>
            <a:pathLst>
              <a:path extrusionOk="0" h="1344" w="3552">
                <a:moveTo>
                  <a:pt x="0" y="0"/>
                </a:moveTo>
                <a:lnTo>
                  <a:pt x="3552" y="1344"/>
                </a:lnTo>
                <a:lnTo>
                  <a:pt x="0" y="48"/>
                </a:lnTo>
                <a:lnTo>
                  <a:pt x="0" y="0"/>
                </a:lnTo>
                <a:close/>
              </a:path>
            </a:pathLst>
          </a:custGeom>
          <a:solidFill>
            <a:srgbClr val="566885">
              <a:alpha val="2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67" name="Google Shape;67;p68"/>
          <p:cNvSpPr/>
          <p:nvPr/>
        </p:nvSpPr>
        <p:spPr>
          <a:xfrm>
            <a:off x="5943600" y="0"/>
            <a:ext cx="2743200" cy="4267200"/>
          </a:xfrm>
          <a:custGeom>
            <a:rect b="b" l="l" r="r" t="t"/>
            <a:pathLst>
              <a:path extrusionOk="0" h="2688" w="1728">
                <a:moveTo>
                  <a:pt x="1104" y="0"/>
                </a:moveTo>
                <a:lnTo>
                  <a:pt x="1728" y="0"/>
                </a:lnTo>
                <a:lnTo>
                  <a:pt x="0" y="2688"/>
                </a:lnTo>
                <a:lnTo>
                  <a:pt x="1104" y="0"/>
                </a:lnTo>
                <a:close/>
              </a:path>
            </a:pathLst>
          </a:custGeom>
          <a:solidFill>
            <a:srgbClr val="536888">
              <a:alpha val="2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68" name="Google Shape;68;p68"/>
          <p:cNvSpPr/>
          <p:nvPr/>
        </p:nvSpPr>
        <p:spPr>
          <a:xfrm>
            <a:off x="5943600" y="4267200"/>
            <a:ext cx="3200400" cy="1143000"/>
          </a:xfrm>
          <a:custGeom>
            <a:rect b="b" l="l" r="r" t="t"/>
            <a:pathLst>
              <a:path extrusionOk="0" h="720" w="2016">
                <a:moveTo>
                  <a:pt x="0" y="0"/>
                </a:moveTo>
                <a:lnTo>
                  <a:pt x="2016" y="240"/>
                </a:lnTo>
                <a:lnTo>
                  <a:pt x="2016" y="720"/>
                </a:lnTo>
                <a:lnTo>
                  <a:pt x="0" y="0"/>
                </a:lnTo>
                <a:close/>
              </a:path>
            </a:pathLst>
          </a:custGeom>
          <a:solidFill>
            <a:srgbClr val="536888">
              <a:alpha val="2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69" name="Google Shape;69;p68"/>
          <p:cNvSpPr/>
          <p:nvPr/>
        </p:nvSpPr>
        <p:spPr>
          <a:xfrm>
            <a:off x="5943600" y="0"/>
            <a:ext cx="1371600" cy="4267200"/>
          </a:xfrm>
          <a:custGeom>
            <a:rect b="b" l="l" r="r" t="t"/>
            <a:pathLst>
              <a:path extrusionOk="0" h="2688" w="864">
                <a:moveTo>
                  <a:pt x="864" y="0"/>
                </a:moveTo>
                <a:lnTo>
                  <a:pt x="0" y="2688"/>
                </a:lnTo>
                <a:lnTo>
                  <a:pt x="768" y="0"/>
                </a:lnTo>
                <a:lnTo>
                  <a:pt x="864" y="0"/>
                </a:lnTo>
                <a:close/>
              </a:path>
            </a:pathLst>
          </a:custGeom>
          <a:solidFill>
            <a:srgbClr val="536888">
              <a:alpha val="2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70" name="Google Shape;70;p68"/>
          <p:cNvSpPr/>
          <p:nvPr/>
        </p:nvSpPr>
        <p:spPr>
          <a:xfrm>
            <a:off x="5948363" y="4246563"/>
            <a:ext cx="2090737" cy="2611437"/>
          </a:xfrm>
          <a:custGeom>
            <a:rect b="b" l="l" r="r" t="t"/>
            <a:pathLst>
              <a:path extrusionOk="0" h="1645" w="1317">
                <a:moveTo>
                  <a:pt x="1071" y="1645"/>
                </a:moveTo>
                <a:lnTo>
                  <a:pt x="1317" y="1645"/>
                </a:lnTo>
                <a:lnTo>
                  <a:pt x="0" y="0"/>
                </a:lnTo>
                <a:lnTo>
                  <a:pt x="1071" y="1645"/>
                </a:lnTo>
                <a:close/>
              </a:path>
            </a:pathLst>
          </a:custGeom>
          <a:solidFill>
            <a:srgbClr val="536888">
              <a:alpha val="2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71" name="Google Shape;71;p68"/>
          <p:cNvSpPr/>
          <p:nvPr/>
        </p:nvSpPr>
        <p:spPr>
          <a:xfrm>
            <a:off x="5943600" y="4267200"/>
            <a:ext cx="1600200" cy="2590800"/>
          </a:xfrm>
          <a:custGeom>
            <a:rect b="b" l="l" r="r" t="t"/>
            <a:pathLst>
              <a:path extrusionOk="0" h="1632" w="1008">
                <a:moveTo>
                  <a:pt x="1008" y="1632"/>
                </a:moveTo>
                <a:lnTo>
                  <a:pt x="0" y="0"/>
                </a:lnTo>
                <a:lnTo>
                  <a:pt x="960" y="1632"/>
                </a:lnTo>
                <a:lnTo>
                  <a:pt x="1008" y="1632"/>
                </a:lnTo>
                <a:close/>
              </a:path>
            </a:pathLst>
          </a:custGeom>
          <a:solidFill>
            <a:srgbClr val="536888">
              <a:alpha val="2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72" name="Google Shape;72;p68"/>
          <p:cNvSpPr/>
          <p:nvPr/>
        </p:nvSpPr>
        <p:spPr>
          <a:xfrm>
            <a:off x="5943600" y="1371600"/>
            <a:ext cx="3200400" cy="2895600"/>
          </a:xfrm>
          <a:custGeom>
            <a:rect b="b" l="l" r="r" t="t"/>
            <a:pathLst>
              <a:path extrusionOk="0" h="1824" w="2016">
                <a:moveTo>
                  <a:pt x="2016" y="0"/>
                </a:moveTo>
                <a:lnTo>
                  <a:pt x="2016" y="144"/>
                </a:lnTo>
                <a:lnTo>
                  <a:pt x="0" y="1824"/>
                </a:lnTo>
                <a:lnTo>
                  <a:pt x="2016" y="0"/>
                </a:lnTo>
                <a:close/>
              </a:path>
            </a:pathLst>
          </a:custGeom>
          <a:solidFill>
            <a:srgbClr val="536888">
              <a:alpha val="2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73" name="Google Shape;73;p68"/>
          <p:cNvSpPr/>
          <p:nvPr/>
        </p:nvSpPr>
        <p:spPr>
          <a:xfrm>
            <a:off x="5943600" y="1752600"/>
            <a:ext cx="3200400" cy="2514600"/>
          </a:xfrm>
          <a:custGeom>
            <a:rect b="b" l="l" r="r" t="t"/>
            <a:pathLst>
              <a:path extrusionOk="0" h="1584" w="2016">
                <a:moveTo>
                  <a:pt x="2016" y="0"/>
                </a:moveTo>
                <a:lnTo>
                  <a:pt x="0" y="1584"/>
                </a:lnTo>
                <a:lnTo>
                  <a:pt x="2016" y="48"/>
                </a:lnTo>
                <a:lnTo>
                  <a:pt x="2016" y="0"/>
                </a:lnTo>
                <a:close/>
              </a:path>
            </a:pathLst>
          </a:custGeom>
          <a:solidFill>
            <a:srgbClr val="536888">
              <a:alpha val="2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74" name="Google Shape;74;p68"/>
          <p:cNvSpPr/>
          <p:nvPr/>
        </p:nvSpPr>
        <p:spPr>
          <a:xfrm>
            <a:off x="990600" y="4267200"/>
            <a:ext cx="4953000" cy="2590800"/>
          </a:xfrm>
          <a:custGeom>
            <a:rect b="b" l="l" r="r" t="t"/>
            <a:pathLst>
              <a:path extrusionOk="0" h="1632" w="3120">
                <a:moveTo>
                  <a:pt x="0" y="1632"/>
                </a:moveTo>
                <a:lnTo>
                  <a:pt x="3120" y="0"/>
                </a:lnTo>
                <a:lnTo>
                  <a:pt x="1056" y="1632"/>
                </a:lnTo>
                <a:lnTo>
                  <a:pt x="0" y="1632"/>
                </a:lnTo>
                <a:close/>
              </a:path>
            </a:pathLst>
          </a:custGeom>
          <a:solidFill>
            <a:srgbClr val="536888">
              <a:alpha val="2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75" name="Google Shape;75;p68"/>
          <p:cNvSpPr/>
          <p:nvPr/>
        </p:nvSpPr>
        <p:spPr>
          <a:xfrm>
            <a:off x="533400" y="4267200"/>
            <a:ext cx="5334000" cy="2590800"/>
          </a:xfrm>
          <a:custGeom>
            <a:rect b="b" l="l" r="r" t="t"/>
            <a:pathLst>
              <a:path extrusionOk="0" h="1632" w="3360">
                <a:moveTo>
                  <a:pt x="0" y="1632"/>
                </a:moveTo>
                <a:lnTo>
                  <a:pt x="3360" y="0"/>
                </a:lnTo>
                <a:lnTo>
                  <a:pt x="144" y="1632"/>
                </a:lnTo>
                <a:lnTo>
                  <a:pt x="0" y="1632"/>
                </a:lnTo>
                <a:close/>
              </a:path>
            </a:pathLst>
          </a:custGeom>
          <a:solidFill>
            <a:srgbClr val="536888">
              <a:alpha val="2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76" name="Google Shape;76;p68"/>
          <p:cNvSpPr/>
          <p:nvPr/>
        </p:nvSpPr>
        <p:spPr>
          <a:xfrm>
            <a:off x="366824" y="2438400"/>
            <a:ext cx="5638800" cy="1828800"/>
          </a:xfrm>
          <a:custGeom>
            <a:rect b="b" l="l" r="r" t="t"/>
            <a:pathLst>
              <a:path extrusionOk="0" h="1152" w="3552">
                <a:moveTo>
                  <a:pt x="0" y="0"/>
                </a:moveTo>
                <a:lnTo>
                  <a:pt x="3504" y="1152"/>
                </a:lnTo>
                <a:lnTo>
                  <a:pt x="0" y="384"/>
                </a:lnTo>
                <a:lnTo>
                  <a:pt x="0" y="0"/>
                </a:lnTo>
                <a:close/>
              </a:path>
            </a:pathLst>
          </a:custGeom>
          <a:solidFill>
            <a:srgbClr val="536888">
              <a:alpha val="2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77" name="Google Shape;77;p68"/>
          <p:cNvSpPr/>
          <p:nvPr/>
        </p:nvSpPr>
        <p:spPr>
          <a:xfrm>
            <a:off x="366824" y="2133600"/>
            <a:ext cx="5638800" cy="2133600"/>
          </a:xfrm>
          <a:custGeom>
            <a:rect b="b" l="l" r="r" t="t"/>
            <a:pathLst>
              <a:path extrusionOk="0" h="1344" w="3552">
                <a:moveTo>
                  <a:pt x="0" y="0"/>
                </a:moveTo>
                <a:lnTo>
                  <a:pt x="3552" y="1344"/>
                </a:lnTo>
                <a:lnTo>
                  <a:pt x="0" y="48"/>
                </a:lnTo>
                <a:lnTo>
                  <a:pt x="0" y="0"/>
                </a:lnTo>
                <a:close/>
              </a:path>
            </a:pathLst>
          </a:custGeom>
          <a:solidFill>
            <a:srgbClr val="536888">
              <a:alpha val="2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78" name="Google Shape;78;p68"/>
          <p:cNvSpPr/>
          <p:nvPr/>
        </p:nvSpPr>
        <p:spPr>
          <a:xfrm>
            <a:off x="4572000" y="4267200"/>
            <a:ext cx="1371600" cy="2590800"/>
          </a:xfrm>
          <a:custGeom>
            <a:rect b="b" l="l" r="r" t="t"/>
            <a:pathLst>
              <a:path extrusionOk="0" h="1632" w="864">
                <a:moveTo>
                  <a:pt x="0" y="1632"/>
                </a:moveTo>
                <a:lnTo>
                  <a:pt x="96" y="1632"/>
                </a:lnTo>
                <a:lnTo>
                  <a:pt x="864" y="0"/>
                </a:lnTo>
                <a:lnTo>
                  <a:pt x="0" y="1632"/>
                </a:lnTo>
                <a:close/>
              </a:path>
            </a:pathLst>
          </a:custGeom>
          <a:solidFill>
            <a:srgbClr val="566885">
              <a:alpha val="2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79" name="Google Shape;79;p68"/>
          <p:cNvSpPr txBox="1"/>
          <p:nvPr>
            <p:ph idx="1" type="body"/>
          </p:nvPr>
        </p:nvSpPr>
        <p:spPr>
          <a:xfrm>
            <a:off x="706902" y="1351672"/>
            <a:ext cx="5718048" cy="977486"/>
          </a:xfrm>
          <a:prstGeom prst="rect">
            <a:avLst/>
          </a:prstGeom>
          <a:noFill/>
          <a:ln>
            <a:noFill/>
          </a:ln>
        </p:spPr>
        <p:txBody>
          <a:bodyPr anchorCtr="0" anchor="t" bIns="0" lIns="82275" spcFirstLastPara="1" rIns="91425" wrap="square" tIns="45700">
            <a:normAutofit/>
          </a:bodyPr>
          <a:lstStyle>
            <a:lvl1pPr indent="-228600" lvl="0" marL="457200" algn="l">
              <a:spcBef>
                <a:spcPts val="700"/>
              </a:spcBef>
              <a:spcAft>
                <a:spcPts val="0"/>
              </a:spcAft>
              <a:buSzPts val="1900"/>
              <a:buNone/>
              <a:defRPr sz="2000">
                <a:solidFill>
                  <a:schemeClr val="lt1"/>
                </a:solidFill>
              </a:defRPr>
            </a:lvl1pPr>
            <a:lvl2pPr indent="-228600" lvl="1" marL="914400" algn="l">
              <a:spcBef>
                <a:spcPts val="360"/>
              </a:spcBef>
              <a:spcAft>
                <a:spcPts val="0"/>
              </a:spcAft>
              <a:buSzPts val="1620"/>
              <a:buNone/>
              <a:defRPr sz="1800">
                <a:solidFill>
                  <a:schemeClr val="lt1"/>
                </a:solidFill>
              </a:defRPr>
            </a:lvl2pPr>
            <a:lvl3pPr indent="-228600" lvl="2" marL="1371600" algn="l">
              <a:spcBef>
                <a:spcPts val="320"/>
              </a:spcBef>
              <a:spcAft>
                <a:spcPts val="0"/>
              </a:spcAft>
              <a:buSzPts val="1600"/>
              <a:buNone/>
              <a:defRPr sz="1600">
                <a:solidFill>
                  <a:schemeClr val="lt1"/>
                </a:solidFill>
              </a:defRPr>
            </a:lvl3pPr>
            <a:lvl4pPr indent="-228600" lvl="3" marL="1828800" algn="l">
              <a:spcBef>
                <a:spcPts val="280"/>
              </a:spcBef>
              <a:spcAft>
                <a:spcPts val="0"/>
              </a:spcAft>
              <a:buSzPts val="1400"/>
              <a:buNone/>
              <a:defRPr sz="1400">
                <a:solidFill>
                  <a:schemeClr val="lt1"/>
                </a:solidFill>
              </a:defRPr>
            </a:lvl4pPr>
            <a:lvl5pPr indent="-228600" lvl="4" marL="2286000" algn="l">
              <a:spcBef>
                <a:spcPts val="280"/>
              </a:spcBef>
              <a:spcAft>
                <a:spcPts val="0"/>
              </a:spcAft>
              <a:buSzPts val="1400"/>
              <a:buNone/>
              <a:defRPr sz="1400">
                <a:solidFill>
                  <a:schemeClr val="lt1"/>
                </a:solidFill>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0" name="Google Shape;80;p68"/>
          <p:cNvSpPr txBox="1"/>
          <p:nvPr>
            <p:ph idx="10" type="dt"/>
          </p:nvPr>
        </p:nvSpPr>
        <p:spPr>
          <a:xfrm>
            <a:off x="6477000" y="6416675"/>
            <a:ext cx="21336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68"/>
          <p:cNvSpPr txBox="1"/>
          <p:nvPr>
            <p:ph idx="11" type="ftr"/>
          </p:nvPr>
        </p:nvSpPr>
        <p:spPr>
          <a:xfrm>
            <a:off x="914400" y="6416675"/>
            <a:ext cx="55626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8"/>
          <p:cNvSpPr txBox="1"/>
          <p:nvPr>
            <p:ph idx="12" type="sldNum"/>
          </p:nvPr>
        </p:nvSpPr>
        <p:spPr>
          <a:xfrm>
            <a:off x="8610600" y="6416675"/>
            <a:ext cx="457200" cy="365125"/>
          </a:xfrm>
          <a:prstGeom prst="rect">
            <a:avLst/>
          </a:prstGeom>
          <a:noFill/>
          <a:ln>
            <a:noFill/>
          </a:ln>
        </p:spPr>
        <p:txBody>
          <a:bodyPr anchorCtr="0" anchor="b"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
        <p:nvSpPr>
          <p:cNvPr id="83" name="Google Shape;83;p68"/>
          <p:cNvSpPr/>
          <p:nvPr/>
        </p:nvSpPr>
        <p:spPr>
          <a:xfrm>
            <a:off x="363160" y="402264"/>
            <a:ext cx="8503920" cy="886265"/>
          </a:xfrm>
          <a:prstGeom prst="rect">
            <a:avLst/>
          </a:prstGeom>
          <a:solidFill>
            <a:srgbClr val="566885">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84" name="Google Shape;84;p68"/>
          <p:cNvSpPr txBox="1"/>
          <p:nvPr>
            <p:ph type="title"/>
          </p:nvPr>
        </p:nvSpPr>
        <p:spPr>
          <a:xfrm>
            <a:off x="706902" y="512064"/>
            <a:ext cx="8156448" cy="777240"/>
          </a:xfrm>
          <a:prstGeom prst="rect">
            <a:avLst/>
          </a:prstGeom>
          <a:noFill/>
          <a:ln>
            <a:noFill/>
          </a:ln>
        </p:spPr>
        <p:txBody>
          <a:bodyPr anchorCtr="0" anchor="t" bIns="45700" lIns="91425" spcFirstLastPara="1" rIns="91425" wrap="square" tIns="64000">
            <a:noAutofit/>
          </a:bodyPr>
          <a:lstStyle>
            <a:lvl1pPr lvl="0" algn="l">
              <a:spcBef>
                <a:spcPts val="0"/>
              </a:spcBef>
              <a:spcAft>
                <a:spcPts val="0"/>
              </a:spcAft>
              <a:buClr>
                <a:srgbClr val="C1EDFF"/>
              </a:buClr>
              <a:buSzPts val="3800"/>
              <a:buFont typeface="Consolas"/>
              <a:buNone/>
              <a:defRPr b="0" sz="3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68"/>
          <p:cNvSpPr/>
          <p:nvPr/>
        </p:nvSpPr>
        <p:spPr>
          <a:xfrm flipH="1">
            <a:off x="371538" y="680477"/>
            <a:ext cx="27432" cy="36576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86" name="Google Shape;86;p68"/>
          <p:cNvSpPr/>
          <p:nvPr/>
        </p:nvSpPr>
        <p:spPr>
          <a:xfrm flipH="1">
            <a:off x="411109" y="680477"/>
            <a:ext cx="27432" cy="36576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87" name="Google Shape;87;p68"/>
          <p:cNvSpPr/>
          <p:nvPr/>
        </p:nvSpPr>
        <p:spPr>
          <a:xfrm flipH="1">
            <a:off x="448450" y="680477"/>
            <a:ext cx="9144" cy="36576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88" name="Google Shape;88;p68"/>
          <p:cNvSpPr/>
          <p:nvPr/>
        </p:nvSpPr>
        <p:spPr>
          <a:xfrm flipH="1">
            <a:off x="476702" y="680477"/>
            <a:ext cx="9144" cy="36576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89" name="Google Shape;89;p68"/>
          <p:cNvSpPr/>
          <p:nvPr/>
        </p:nvSpPr>
        <p:spPr>
          <a:xfrm>
            <a:off x="500478" y="680477"/>
            <a:ext cx="36576" cy="36576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90" name="Shape 90"/>
        <p:cNvGrpSpPr/>
        <p:nvPr/>
      </p:nvGrpSpPr>
      <p:grpSpPr>
        <a:xfrm>
          <a:off x="0" y="0"/>
          <a:ext cx="0" cy="0"/>
          <a:chOff x="0" y="0"/>
          <a:chExt cx="0" cy="0"/>
        </a:xfrm>
      </p:grpSpPr>
      <p:sp>
        <p:nvSpPr>
          <p:cNvPr id="91" name="Google Shape;91;p69"/>
          <p:cNvSpPr/>
          <p:nvPr/>
        </p:nvSpPr>
        <p:spPr>
          <a:xfrm>
            <a:off x="0" y="402265"/>
            <a:ext cx="8867080" cy="886265"/>
          </a:xfrm>
          <a:prstGeom prst="rect">
            <a:avLst/>
          </a:prstGeom>
          <a:solidFill>
            <a:srgbClr val="566885">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92" name="Google Shape;92;p69"/>
          <p:cNvSpPr txBox="1"/>
          <p:nvPr>
            <p:ph type="title"/>
          </p:nvPr>
        </p:nvSpPr>
        <p:spPr>
          <a:xfrm>
            <a:off x="504824" y="512064"/>
            <a:ext cx="7772400" cy="9144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C1EDFF"/>
              </a:buClr>
              <a:buSzPts val="4000"/>
              <a:buFont typeface="Consolas"/>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69"/>
          <p:cNvSpPr txBox="1"/>
          <p:nvPr>
            <p:ph idx="1" type="body"/>
          </p:nvPr>
        </p:nvSpPr>
        <p:spPr>
          <a:xfrm>
            <a:off x="457200" y="1809750"/>
            <a:ext cx="4040188" cy="639762"/>
          </a:xfrm>
          <a:prstGeom prst="rect">
            <a:avLst/>
          </a:prstGeom>
          <a:noFill/>
          <a:ln>
            <a:noFill/>
          </a:ln>
        </p:spPr>
        <p:txBody>
          <a:bodyPr anchorCtr="0" anchor="ctr" bIns="45700" lIns="91425" spcFirstLastPara="1" rIns="91425" wrap="square" tIns="45700">
            <a:normAutofit/>
          </a:bodyPr>
          <a:lstStyle>
            <a:lvl1pPr indent="-228600" lvl="0" marL="457200" algn="l">
              <a:spcBef>
                <a:spcPts val="700"/>
              </a:spcBef>
              <a:spcAft>
                <a:spcPts val="0"/>
              </a:spcAft>
              <a:buSzPts val="2280"/>
              <a:buNone/>
              <a:defRPr b="1" sz="2400">
                <a:solidFill>
                  <a:schemeClr val="accent2"/>
                </a:solidFill>
              </a:defRPr>
            </a:lvl1pPr>
            <a:lvl2pPr indent="-228600" lvl="1" marL="914400" algn="l">
              <a:spcBef>
                <a:spcPts val="400"/>
              </a:spcBef>
              <a:spcAft>
                <a:spcPts val="0"/>
              </a:spcAft>
              <a:buSzPts val="18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4" name="Google Shape;94;p69"/>
          <p:cNvSpPr txBox="1"/>
          <p:nvPr>
            <p:ph idx="2" type="body"/>
          </p:nvPr>
        </p:nvSpPr>
        <p:spPr>
          <a:xfrm>
            <a:off x="4645025" y="1809750"/>
            <a:ext cx="4041775" cy="639762"/>
          </a:xfrm>
          <a:prstGeom prst="rect">
            <a:avLst/>
          </a:prstGeom>
          <a:noFill/>
          <a:ln>
            <a:noFill/>
          </a:ln>
        </p:spPr>
        <p:txBody>
          <a:bodyPr anchorCtr="0" anchor="ctr" bIns="45700" lIns="91425" spcFirstLastPara="1" rIns="91425" wrap="square" tIns="45700">
            <a:normAutofit/>
          </a:bodyPr>
          <a:lstStyle>
            <a:lvl1pPr indent="-228600" lvl="0" marL="457200" algn="l">
              <a:spcBef>
                <a:spcPts val="700"/>
              </a:spcBef>
              <a:spcAft>
                <a:spcPts val="0"/>
              </a:spcAft>
              <a:buSzPts val="2280"/>
              <a:buNone/>
              <a:defRPr b="1" sz="2400">
                <a:solidFill>
                  <a:schemeClr val="accent2"/>
                </a:solidFill>
              </a:defRPr>
            </a:lvl1pPr>
            <a:lvl2pPr indent="-228600" lvl="1" marL="914400" algn="l">
              <a:spcBef>
                <a:spcPts val="400"/>
              </a:spcBef>
              <a:spcAft>
                <a:spcPts val="0"/>
              </a:spcAft>
              <a:buSzPts val="18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5" name="Google Shape;95;p69"/>
          <p:cNvSpPr txBox="1"/>
          <p:nvPr>
            <p:ph idx="3" type="body"/>
          </p:nvPr>
        </p:nvSpPr>
        <p:spPr>
          <a:xfrm>
            <a:off x="457200" y="2459037"/>
            <a:ext cx="4040188" cy="3959352"/>
          </a:xfrm>
          <a:prstGeom prst="rect">
            <a:avLst/>
          </a:prstGeom>
          <a:noFill/>
          <a:ln>
            <a:noFill/>
          </a:ln>
        </p:spPr>
        <p:txBody>
          <a:bodyPr anchorCtr="0" anchor="t" bIns="45700" lIns="91425" spcFirstLastPara="1" rIns="91425" wrap="square" tIns="45700">
            <a:normAutofit/>
          </a:bodyPr>
          <a:lstStyle>
            <a:lvl1pPr indent="-373380" lvl="0" marL="457200" algn="l">
              <a:spcBef>
                <a:spcPts val="700"/>
              </a:spcBef>
              <a:spcAft>
                <a:spcPts val="0"/>
              </a:spcAft>
              <a:buSzPts val="2280"/>
              <a:buChar char="▪"/>
              <a:defRPr sz="2400"/>
            </a:lvl1pPr>
            <a:lvl2pPr indent="-342900" lvl="1" marL="914400" algn="l">
              <a:spcBef>
                <a:spcPts val="400"/>
              </a:spcBef>
              <a:spcAft>
                <a:spcPts val="0"/>
              </a:spcAft>
              <a:buSzPts val="18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6" name="Google Shape;96;p69"/>
          <p:cNvSpPr txBox="1"/>
          <p:nvPr>
            <p:ph idx="4" type="body"/>
          </p:nvPr>
        </p:nvSpPr>
        <p:spPr>
          <a:xfrm>
            <a:off x="4645025" y="2459037"/>
            <a:ext cx="4041775" cy="3959352"/>
          </a:xfrm>
          <a:prstGeom prst="rect">
            <a:avLst/>
          </a:prstGeom>
          <a:noFill/>
          <a:ln>
            <a:noFill/>
          </a:ln>
        </p:spPr>
        <p:txBody>
          <a:bodyPr anchorCtr="0" anchor="t" bIns="45700" lIns="91425" spcFirstLastPara="1" rIns="91425" wrap="square" tIns="45700">
            <a:normAutofit/>
          </a:bodyPr>
          <a:lstStyle>
            <a:lvl1pPr indent="-373380" lvl="0" marL="457200" algn="l">
              <a:spcBef>
                <a:spcPts val="700"/>
              </a:spcBef>
              <a:spcAft>
                <a:spcPts val="0"/>
              </a:spcAft>
              <a:buSzPts val="2280"/>
              <a:buChar char="▪"/>
              <a:defRPr sz="2400"/>
            </a:lvl1pPr>
            <a:lvl2pPr indent="-342900" lvl="1" marL="914400" algn="l">
              <a:spcBef>
                <a:spcPts val="400"/>
              </a:spcBef>
              <a:spcAft>
                <a:spcPts val="0"/>
              </a:spcAft>
              <a:buSzPts val="18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7" name="Google Shape;97;p69"/>
          <p:cNvSpPr txBox="1"/>
          <p:nvPr>
            <p:ph idx="10" type="dt"/>
          </p:nvPr>
        </p:nvSpPr>
        <p:spPr>
          <a:xfrm>
            <a:off x="6477000" y="6416675"/>
            <a:ext cx="21336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69"/>
          <p:cNvSpPr txBox="1"/>
          <p:nvPr>
            <p:ph idx="11" type="ftr"/>
          </p:nvPr>
        </p:nvSpPr>
        <p:spPr>
          <a:xfrm>
            <a:off x="914400" y="6416675"/>
            <a:ext cx="55626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69"/>
          <p:cNvSpPr txBox="1"/>
          <p:nvPr>
            <p:ph idx="12" type="sldNum"/>
          </p:nvPr>
        </p:nvSpPr>
        <p:spPr>
          <a:xfrm>
            <a:off x="8610600" y="6416675"/>
            <a:ext cx="457200" cy="365125"/>
          </a:xfrm>
          <a:prstGeom prst="rect">
            <a:avLst/>
          </a:prstGeom>
          <a:noFill/>
          <a:ln>
            <a:noFill/>
          </a:ln>
        </p:spPr>
        <p:txBody>
          <a:bodyPr anchorCtr="0" anchor="b"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
        <p:nvSpPr>
          <p:cNvPr id="100" name="Google Shape;100;p69"/>
          <p:cNvSpPr/>
          <p:nvPr/>
        </p:nvSpPr>
        <p:spPr>
          <a:xfrm>
            <a:off x="87790" y="680477"/>
            <a:ext cx="45720" cy="3657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01" name="Google Shape;101;p69"/>
          <p:cNvSpPr/>
          <p:nvPr/>
        </p:nvSpPr>
        <p:spPr>
          <a:xfrm>
            <a:off x="47305" y="680477"/>
            <a:ext cx="27432" cy="3657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02" name="Google Shape;102;p69"/>
          <p:cNvSpPr/>
          <p:nvPr/>
        </p:nvSpPr>
        <p:spPr>
          <a:xfrm>
            <a:off x="28252" y="680477"/>
            <a:ext cx="9144" cy="3657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03" name="Google Shape;103;p69"/>
          <p:cNvSpPr/>
          <p:nvPr/>
        </p:nvSpPr>
        <p:spPr>
          <a:xfrm>
            <a:off x="0" y="680477"/>
            <a:ext cx="9144" cy="3657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04" name="Google Shape;104;p69"/>
          <p:cNvSpPr/>
          <p:nvPr/>
        </p:nvSpPr>
        <p:spPr>
          <a:xfrm flipH="1">
            <a:off x="149770" y="680477"/>
            <a:ext cx="27432" cy="3657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05" name="Google Shape;105;p69"/>
          <p:cNvSpPr/>
          <p:nvPr/>
        </p:nvSpPr>
        <p:spPr>
          <a:xfrm flipH="1">
            <a:off x="189341" y="680477"/>
            <a:ext cx="27432" cy="3657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06" name="Google Shape;106;p69"/>
          <p:cNvSpPr/>
          <p:nvPr/>
        </p:nvSpPr>
        <p:spPr>
          <a:xfrm flipH="1">
            <a:off x="226682" y="680477"/>
            <a:ext cx="9144" cy="3657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07" name="Google Shape;107;p69"/>
          <p:cNvSpPr/>
          <p:nvPr/>
        </p:nvSpPr>
        <p:spPr>
          <a:xfrm flipH="1">
            <a:off x="254934" y="680477"/>
            <a:ext cx="9144" cy="3657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108" name="Google Shape;108;p69"/>
          <p:cNvSpPr/>
          <p:nvPr/>
        </p:nvSpPr>
        <p:spPr>
          <a:xfrm>
            <a:off x="278710" y="680477"/>
            <a:ext cx="36576" cy="3657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9" name="Shape 109"/>
        <p:cNvGrpSpPr/>
        <p:nvPr/>
      </p:nvGrpSpPr>
      <p:grpSpPr>
        <a:xfrm>
          <a:off x="0" y="0"/>
          <a:ext cx="0" cy="0"/>
          <a:chOff x="0" y="0"/>
          <a:chExt cx="0" cy="0"/>
        </a:xfrm>
      </p:grpSpPr>
      <p:sp>
        <p:nvSpPr>
          <p:cNvPr id="110" name="Google Shape;110;p70"/>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C1EDFF"/>
              </a:buClr>
              <a:buSzPts val="4000"/>
              <a:buFont typeface="Consolas"/>
              <a:buNone/>
              <a:defRPr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70"/>
          <p:cNvSpPr txBox="1"/>
          <p:nvPr>
            <p:ph idx="10" type="dt"/>
          </p:nvPr>
        </p:nvSpPr>
        <p:spPr>
          <a:xfrm>
            <a:off x="6477000" y="6416675"/>
            <a:ext cx="21336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70"/>
          <p:cNvSpPr txBox="1"/>
          <p:nvPr>
            <p:ph idx="11" type="ftr"/>
          </p:nvPr>
        </p:nvSpPr>
        <p:spPr>
          <a:xfrm>
            <a:off x="914400" y="6416675"/>
            <a:ext cx="55626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70"/>
          <p:cNvSpPr txBox="1"/>
          <p:nvPr>
            <p:ph idx="12" type="sldNum"/>
          </p:nvPr>
        </p:nvSpPr>
        <p:spPr>
          <a:xfrm>
            <a:off x="8610600" y="6416675"/>
            <a:ext cx="457200" cy="365125"/>
          </a:xfrm>
          <a:prstGeom prst="rect">
            <a:avLst/>
          </a:prstGeom>
          <a:noFill/>
          <a:ln>
            <a:noFill/>
          </a:ln>
        </p:spPr>
        <p:txBody>
          <a:bodyPr anchorCtr="0" anchor="b"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14" name="Shape 114"/>
        <p:cNvGrpSpPr/>
        <p:nvPr/>
      </p:nvGrpSpPr>
      <p:grpSpPr>
        <a:xfrm>
          <a:off x="0" y="0"/>
          <a:ext cx="0" cy="0"/>
          <a:chOff x="0" y="0"/>
          <a:chExt cx="0" cy="0"/>
        </a:xfrm>
      </p:grpSpPr>
      <p:sp>
        <p:nvSpPr>
          <p:cNvPr id="115" name="Google Shape;115;p71"/>
          <p:cNvSpPr txBox="1"/>
          <p:nvPr>
            <p:ph idx="10" type="dt"/>
          </p:nvPr>
        </p:nvSpPr>
        <p:spPr>
          <a:xfrm>
            <a:off x="6477000" y="6416675"/>
            <a:ext cx="21336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71"/>
          <p:cNvSpPr txBox="1"/>
          <p:nvPr>
            <p:ph idx="11" type="ftr"/>
          </p:nvPr>
        </p:nvSpPr>
        <p:spPr>
          <a:xfrm>
            <a:off x="914400" y="6416675"/>
            <a:ext cx="55626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71"/>
          <p:cNvSpPr txBox="1"/>
          <p:nvPr>
            <p:ph idx="12" type="sldNum"/>
          </p:nvPr>
        </p:nvSpPr>
        <p:spPr>
          <a:xfrm>
            <a:off x="8610600" y="6416675"/>
            <a:ext cx="457200" cy="365125"/>
          </a:xfrm>
          <a:prstGeom prst="rect">
            <a:avLst/>
          </a:prstGeom>
          <a:noFill/>
          <a:ln>
            <a:noFill/>
          </a:ln>
        </p:spPr>
        <p:txBody>
          <a:bodyPr anchorCtr="0" anchor="b"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8" name="Shape 118"/>
        <p:cNvGrpSpPr/>
        <p:nvPr/>
      </p:nvGrpSpPr>
      <p:grpSpPr>
        <a:xfrm>
          <a:off x="0" y="0"/>
          <a:ext cx="0" cy="0"/>
          <a:chOff x="0" y="0"/>
          <a:chExt cx="0" cy="0"/>
        </a:xfrm>
      </p:grpSpPr>
      <p:sp>
        <p:nvSpPr>
          <p:cNvPr id="119" name="Google Shape;119;p72"/>
          <p:cNvSpPr txBox="1"/>
          <p:nvPr>
            <p:ph type="title"/>
          </p:nvPr>
        </p:nvSpPr>
        <p:spPr>
          <a:xfrm>
            <a:off x="685800" y="273050"/>
            <a:ext cx="8229600" cy="1162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C1EDFF"/>
              </a:buClr>
              <a:buSzPts val="3600"/>
              <a:buFont typeface="Consolas"/>
              <a:buNone/>
              <a:defRPr b="0"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72"/>
          <p:cNvSpPr txBox="1"/>
          <p:nvPr>
            <p:ph idx="1" type="body"/>
          </p:nvPr>
        </p:nvSpPr>
        <p:spPr>
          <a:xfrm>
            <a:off x="685800" y="1435100"/>
            <a:ext cx="2514600" cy="4572000"/>
          </a:xfrm>
          <a:prstGeom prst="rect">
            <a:avLst/>
          </a:prstGeom>
          <a:noFill/>
          <a:ln>
            <a:noFill/>
          </a:ln>
        </p:spPr>
        <p:txBody>
          <a:bodyPr anchorCtr="0" anchor="t" bIns="45700" lIns="91425" spcFirstLastPara="1" rIns="91425" wrap="square" tIns="45700">
            <a:normAutofit/>
          </a:bodyPr>
          <a:lstStyle>
            <a:lvl1pPr indent="-228600" lvl="0" marL="457200" algn="l">
              <a:spcBef>
                <a:spcPts val="700"/>
              </a:spcBef>
              <a:spcAft>
                <a:spcPts val="0"/>
              </a:spcAft>
              <a:buSzPts val="1710"/>
              <a:buNone/>
              <a:defRPr sz="1800"/>
            </a:lvl1pPr>
            <a:lvl2pPr indent="-228600" lvl="1" marL="914400" algn="l">
              <a:spcBef>
                <a:spcPts val="240"/>
              </a:spcBef>
              <a:spcAft>
                <a:spcPts val="0"/>
              </a:spcAft>
              <a:buSzPts val="108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21" name="Google Shape;121;p72"/>
          <p:cNvSpPr txBox="1"/>
          <p:nvPr>
            <p:ph idx="2" type="body"/>
          </p:nvPr>
        </p:nvSpPr>
        <p:spPr>
          <a:xfrm>
            <a:off x="3429000" y="1435100"/>
            <a:ext cx="5486400" cy="4572000"/>
          </a:xfrm>
          <a:prstGeom prst="rect">
            <a:avLst/>
          </a:prstGeom>
          <a:noFill/>
          <a:ln>
            <a:noFill/>
          </a:ln>
        </p:spPr>
        <p:txBody>
          <a:bodyPr anchorCtr="0" anchor="t" bIns="45700" lIns="91425" spcFirstLastPara="1" rIns="91425" wrap="square" tIns="45700">
            <a:normAutofit/>
          </a:bodyPr>
          <a:lstStyle>
            <a:lvl1pPr indent="-421640" lvl="0" marL="457200" algn="l">
              <a:spcBef>
                <a:spcPts val="700"/>
              </a:spcBef>
              <a:spcAft>
                <a:spcPts val="0"/>
              </a:spcAft>
              <a:buSzPts val="3040"/>
              <a:buChar char="▪"/>
              <a:defRPr sz="3200"/>
            </a:lvl1pPr>
            <a:lvl2pPr indent="-388619" lvl="1" marL="914400" algn="l">
              <a:spcBef>
                <a:spcPts val="560"/>
              </a:spcBef>
              <a:spcAft>
                <a:spcPts val="0"/>
              </a:spcAft>
              <a:buSzPts val="2520"/>
              <a:buChar char="🢭"/>
              <a:defRPr sz="2800"/>
            </a:lvl2pPr>
            <a:lvl3pPr indent="-381000" lvl="2" marL="1371600" algn="l">
              <a:spcBef>
                <a:spcPts val="480"/>
              </a:spcBef>
              <a:spcAft>
                <a:spcPts val="0"/>
              </a:spcAft>
              <a:buSzPts val="2400"/>
              <a:buChar char="■"/>
              <a:defRPr sz="2400"/>
            </a:lvl3pPr>
            <a:lvl4pPr indent="-355600" lvl="3" marL="1828800" algn="l">
              <a:spcBef>
                <a:spcPts val="400"/>
              </a:spcBef>
              <a:spcAft>
                <a:spcPts val="0"/>
              </a:spcAft>
              <a:buSzPts val="2000"/>
              <a:buChar char="🢝"/>
              <a:defRPr sz="2000"/>
            </a:lvl4pPr>
            <a:lvl5pPr indent="-355600" lvl="4" marL="2286000" algn="l">
              <a:spcBef>
                <a:spcPts val="400"/>
              </a:spcBef>
              <a:spcAft>
                <a:spcPts val="0"/>
              </a:spcAft>
              <a:buSzPts val="2000"/>
              <a:buChar char="●"/>
              <a:defRPr sz="20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22" name="Google Shape;122;p72"/>
          <p:cNvSpPr txBox="1"/>
          <p:nvPr>
            <p:ph idx="10" type="dt"/>
          </p:nvPr>
        </p:nvSpPr>
        <p:spPr>
          <a:xfrm>
            <a:off x="6477000" y="6416675"/>
            <a:ext cx="21336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72"/>
          <p:cNvSpPr txBox="1"/>
          <p:nvPr>
            <p:ph idx="11" type="ftr"/>
          </p:nvPr>
        </p:nvSpPr>
        <p:spPr>
          <a:xfrm>
            <a:off x="914400" y="6416675"/>
            <a:ext cx="55626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72"/>
          <p:cNvSpPr txBox="1"/>
          <p:nvPr>
            <p:ph idx="12" type="sldNum"/>
          </p:nvPr>
        </p:nvSpPr>
        <p:spPr>
          <a:xfrm>
            <a:off x="8610600" y="6416675"/>
            <a:ext cx="457200" cy="365125"/>
          </a:xfrm>
          <a:prstGeom prst="rect">
            <a:avLst/>
          </a:prstGeom>
          <a:noFill/>
          <a:ln>
            <a:noFill/>
          </a:ln>
        </p:spPr>
        <p:txBody>
          <a:bodyPr anchorCtr="0" anchor="b"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5" name="Shape 125"/>
        <p:cNvGrpSpPr/>
        <p:nvPr/>
      </p:nvGrpSpPr>
      <p:grpSpPr>
        <a:xfrm>
          <a:off x="0" y="0"/>
          <a:ext cx="0" cy="0"/>
          <a:chOff x="0" y="0"/>
          <a:chExt cx="0" cy="0"/>
        </a:xfrm>
      </p:grpSpPr>
      <p:sp>
        <p:nvSpPr>
          <p:cNvPr id="126" name="Google Shape;126;p73"/>
          <p:cNvSpPr/>
          <p:nvPr/>
        </p:nvSpPr>
        <p:spPr>
          <a:xfrm>
            <a:off x="368032" y="0"/>
            <a:ext cx="8778240" cy="1878037"/>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cxnSp>
        <p:nvCxnSpPr>
          <p:cNvPr id="127" name="Google Shape;127;p73"/>
          <p:cNvCxnSpPr/>
          <p:nvPr/>
        </p:nvCxnSpPr>
        <p:spPr>
          <a:xfrm>
            <a:off x="363195" y="1885028"/>
            <a:ext cx="8782622" cy="0"/>
          </a:xfrm>
          <a:prstGeom prst="straightConnector1">
            <a:avLst/>
          </a:prstGeom>
          <a:noFill/>
          <a:ln cap="flat" cmpd="sng" w="19050">
            <a:solidFill>
              <a:srgbClr val="FFFFFF"/>
            </a:solidFill>
            <a:prstDash val="solid"/>
            <a:miter lim="800000"/>
            <a:headEnd len="sm" w="sm" type="none"/>
            <a:tailEnd len="sm" w="sm" type="none"/>
          </a:ln>
        </p:spPr>
      </p:cxnSp>
      <p:grpSp>
        <p:nvGrpSpPr>
          <p:cNvPr id="128" name="Google Shape;128;p73"/>
          <p:cNvGrpSpPr/>
          <p:nvPr/>
        </p:nvGrpSpPr>
        <p:grpSpPr>
          <a:xfrm rot="5400000">
            <a:off x="8514581" y="1219200"/>
            <a:ext cx="132763" cy="128466"/>
            <a:chOff x="6668087" y="1297746"/>
            <a:chExt cx="161840" cy="156602"/>
          </a:xfrm>
        </p:grpSpPr>
        <p:cxnSp>
          <p:nvCxnSpPr>
            <p:cNvPr id="129" name="Google Shape;129;p73"/>
            <p:cNvCxnSpPr/>
            <p:nvPr/>
          </p:nvCxnSpPr>
          <p:spPr>
            <a:xfrm rot="-5400000">
              <a:off x="6664064" y="1301769"/>
              <a:ext cx="88509" cy="80463"/>
            </a:xfrm>
            <a:prstGeom prst="straightConnector1">
              <a:avLst/>
            </a:prstGeom>
            <a:noFill/>
            <a:ln cap="rnd" cmpd="sng" w="25400">
              <a:solidFill>
                <a:srgbClr val="FFFFFF"/>
              </a:solidFill>
              <a:prstDash val="solid"/>
              <a:round/>
              <a:headEnd len="sm" w="sm" type="none"/>
              <a:tailEnd len="sm" w="sm" type="none"/>
            </a:ln>
          </p:spPr>
        </p:cxnSp>
        <p:cxnSp>
          <p:nvCxnSpPr>
            <p:cNvPr id="130" name="Google Shape;130;p73"/>
            <p:cNvCxnSpPr/>
            <p:nvPr/>
          </p:nvCxnSpPr>
          <p:spPr>
            <a:xfrm flipH="1" rot="5400000">
              <a:off x="6685888" y="1391257"/>
              <a:ext cx="125755" cy="427"/>
            </a:xfrm>
            <a:prstGeom prst="straightConnector1">
              <a:avLst/>
            </a:prstGeom>
            <a:noFill/>
            <a:ln cap="rnd" cmpd="sng" w="25400">
              <a:solidFill>
                <a:srgbClr val="FFFFFF"/>
              </a:solidFill>
              <a:prstDash val="solid"/>
              <a:round/>
              <a:headEnd len="sm" w="sm" type="none"/>
              <a:tailEnd len="sm" w="sm" type="none"/>
            </a:ln>
          </p:spPr>
        </p:cxnSp>
        <p:cxnSp>
          <p:nvCxnSpPr>
            <p:cNvPr id="131" name="Google Shape;131;p73"/>
            <p:cNvCxnSpPr/>
            <p:nvPr/>
          </p:nvCxnSpPr>
          <p:spPr>
            <a:xfrm flipH="1" rot="5400000">
              <a:off x="6744524" y="1300853"/>
              <a:ext cx="88509" cy="82296"/>
            </a:xfrm>
            <a:prstGeom prst="straightConnector1">
              <a:avLst/>
            </a:prstGeom>
            <a:noFill/>
            <a:ln cap="rnd" cmpd="sng" w="25400">
              <a:solidFill>
                <a:srgbClr val="FFFFFF"/>
              </a:solidFill>
              <a:prstDash val="solid"/>
              <a:round/>
              <a:headEnd len="sm" w="sm" type="none"/>
              <a:tailEnd len="sm" w="sm" type="none"/>
            </a:ln>
          </p:spPr>
        </p:cxnSp>
      </p:grpSp>
      <p:sp>
        <p:nvSpPr>
          <p:cNvPr id="132" name="Google Shape;132;p73"/>
          <p:cNvSpPr txBox="1"/>
          <p:nvPr>
            <p:ph type="title"/>
          </p:nvPr>
        </p:nvSpPr>
        <p:spPr>
          <a:xfrm>
            <a:off x="914400" y="441251"/>
            <a:ext cx="6858000" cy="701749"/>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C1EDFF"/>
              </a:buClr>
              <a:buSzPts val="2100"/>
              <a:buFont typeface="Consolas"/>
              <a:buNone/>
              <a:defRPr b="0" sz="21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73"/>
          <p:cNvSpPr/>
          <p:nvPr>
            <p:ph idx="2" type="pic"/>
          </p:nvPr>
        </p:nvSpPr>
        <p:spPr>
          <a:xfrm>
            <a:off x="368032" y="1893781"/>
            <a:ext cx="8778240" cy="4960144"/>
          </a:xfrm>
          <a:prstGeom prst="rect">
            <a:avLst/>
          </a:prstGeom>
          <a:solidFill>
            <a:schemeClr val="dk2"/>
          </a:solidFill>
          <a:ln>
            <a:noFill/>
          </a:ln>
        </p:spPr>
      </p:sp>
      <p:sp>
        <p:nvSpPr>
          <p:cNvPr id="134" name="Google Shape;134;p73"/>
          <p:cNvSpPr txBox="1"/>
          <p:nvPr>
            <p:ph idx="1" type="body"/>
          </p:nvPr>
        </p:nvSpPr>
        <p:spPr>
          <a:xfrm>
            <a:off x="914400" y="1150144"/>
            <a:ext cx="6858000" cy="685800"/>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330"/>
              <a:buNone/>
              <a:defRPr sz="1400">
                <a:solidFill>
                  <a:srgbClr val="FFFFFF"/>
                </a:solidFill>
              </a:defRPr>
            </a:lvl1pPr>
            <a:lvl2pPr indent="-297180" lvl="1" marL="914400" algn="l">
              <a:spcBef>
                <a:spcPts val="240"/>
              </a:spcBef>
              <a:spcAft>
                <a:spcPts val="0"/>
              </a:spcAft>
              <a:buSzPts val="1080"/>
              <a:buChar char="🢭"/>
              <a:defRPr sz="1200"/>
            </a:lvl2pPr>
            <a:lvl3pPr indent="-292100" lvl="2" marL="1371600" algn="l">
              <a:spcBef>
                <a:spcPts val="200"/>
              </a:spcBef>
              <a:spcAft>
                <a:spcPts val="0"/>
              </a:spcAft>
              <a:buSzPts val="1000"/>
              <a:buChar char="■"/>
              <a:defRPr sz="1000"/>
            </a:lvl3pPr>
            <a:lvl4pPr indent="-285750" lvl="3" marL="1828800" algn="l">
              <a:spcBef>
                <a:spcPts val="180"/>
              </a:spcBef>
              <a:spcAft>
                <a:spcPts val="0"/>
              </a:spcAft>
              <a:buSzPts val="900"/>
              <a:buChar char="🢝"/>
              <a:defRPr sz="900"/>
            </a:lvl4pPr>
            <a:lvl5pPr indent="-285750" lvl="4" marL="2286000" algn="l">
              <a:spcBef>
                <a:spcPts val="180"/>
              </a:spcBef>
              <a:spcAft>
                <a:spcPts val="0"/>
              </a:spcAft>
              <a:buSzPts val="900"/>
              <a:buChar char="●"/>
              <a:defRPr sz="9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grpSp>
        <p:nvGrpSpPr>
          <p:cNvPr id="135" name="Google Shape;135;p73"/>
          <p:cNvGrpSpPr/>
          <p:nvPr/>
        </p:nvGrpSpPr>
        <p:grpSpPr>
          <a:xfrm rot="5400000">
            <a:off x="8666981" y="1371600"/>
            <a:ext cx="132763" cy="128466"/>
            <a:chOff x="6668087" y="1297746"/>
            <a:chExt cx="161840" cy="156602"/>
          </a:xfrm>
        </p:grpSpPr>
        <p:cxnSp>
          <p:nvCxnSpPr>
            <p:cNvPr id="136" name="Google Shape;136;p73"/>
            <p:cNvCxnSpPr/>
            <p:nvPr/>
          </p:nvCxnSpPr>
          <p:spPr>
            <a:xfrm rot="-5400000">
              <a:off x="6664064" y="1301769"/>
              <a:ext cx="88509" cy="80463"/>
            </a:xfrm>
            <a:prstGeom prst="straightConnector1">
              <a:avLst/>
            </a:prstGeom>
            <a:noFill/>
            <a:ln cap="rnd" cmpd="sng" w="25400">
              <a:solidFill>
                <a:srgbClr val="FFFFFF"/>
              </a:solidFill>
              <a:prstDash val="solid"/>
              <a:round/>
              <a:headEnd len="sm" w="sm" type="none"/>
              <a:tailEnd len="sm" w="sm" type="none"/>
            </a:ln>
          </p:spPr>
        </p:cxnSp>
        <p:cxnSp>
          <p:nvCxnSpPr>
            <p:cNvPr id="137" name="Google Shape;137;p73"/>
            <p:cNvCxnSpPr/>
            <p:nvPr/>
          </p:nvCxnSpPr>
          <p:spPr>
            <a:xfrm flipH="1" rot="5400000">
              <a:off x="6685888" y="1391257"/>
              <a:ext cx="125755" cy="427"/>
            </a:xfrm>
            <a:prstGeom prst="straightConnector1">
              <a:avLst/>
            </a:prstGeom>
            <a:noFill/>
            <a:ln cap="rnd" cmpd="sng" w="25400">
              <a:solidFill>
                <a:srgbClr val="FFFFFF"/>
              </a:solidFill>
              <a:prstDash val="solid"/>
              <a:round/>
              <a:headEnd len="sm" w="sm" type="none"/>
              <a:tailEnd len="sm" w="sm" type="none"/>
            </a:ln>
          </p:spPr>
        </p:cxnSp>
        <p:cxnSp>
          <p:nvCxnSpPr>
            <p:cNvPr id="138" name="Google Shape;138;p73"/>
            <p:cNvCxnSpPr/>
            <p:nvPr/>
          </p:nvCxnSpPr>
          <p:spPr>
            <a:xfrm flipH="1" rot="5400000">
              <a:off x="6744524" y="1300853"/>
              <a:ext cx="88509" cy="82296"/>
            </a:xfrm>
            <a:prstGeom prst="straightConnector1">
              <a:avLst/>
            </a:prstGeom>
            <a:noFill/>
            <a:ln cap="rnd" cmpd="sng" w="25400">
              <a:solidFill>
                <a:srgbClr val="FFFFFF"/>
              </a:solidFill>
              <a:prstDash val="solid"/>
              <a:round/>
              <a:headEnd len="sm" w="sm" type="none"/>
              <a:tailEnd len="sm" w="sm" type="none"/>
            </a:ln>
          </p:spPr>
        </p:cxnSp>
      </p:grpSp>
      <p:grpSp>
        <p:nvGrpSpPr>
          <p:cNvPr id="139" name="Google Shape;139;p73"/>
          <p:cNvGrpSpPr/>
          <p:nvPr/>
        </p:nvGrpSpPr>
        <p:grpSpPr>
          <a:xfrm rot="5400000">
            <a:off x="8320088" y="1474763"/>
            <a:ext cx="132763" cy="128466"/>
            <a:chOff x="6668087" y="1297746"/>
            <a:chExt cx="161840" cy="156602"/>
          </a:xfrm>
        </p:grpSpPr>
        <p:cxnSp>
          <p:nvCxnSpPr>
            <p:cNvPr id="140" name="Google Shape;140;p73"/>
            <p:cNvCxnSpPr/>
            <p:nvPr/>
          </p:nvCxnSpPr>
          <p:spPr>
            <a:xfrm rot="-5400000">
              <a:off x="6664064" y="1301769"/>
              <a:ext cx="88509" cy="80463"/>
            </a:xfrm>
            <a:prstGeom prst="straightConnector1">
              <a:avLst/>
            </a:prstGeom>
            <a:noFill/>
            <a:ln cap="rnd" cmpd="sng" w="25400">
              <a:solidFill>
                <a:srgbClr val="FFFFFF"/>
              </a:solidFill>
              <a:prstDash val="solid"/>
              <a:round/>
              <a:headEnd len="sm" w="sm" type="none"/>
              <a:tailEnd len="sm" w="sm" type="none"/>
            </a:ln>
          </p:spPr>
        </p:cxnSp>
        <p:cxnSp>
          <p:nvCxnSpPr>
            <p:cNvPr id="141" name="Google Shape;141;p73"/>
            <p:cNvCxnSpPr/>
            <p:nvPr/>
          </p:nvCxnSpPr>
          <p:spPr>
            <a:xfrm flipH="1" rot="5400000">
              <a:off x="6685888" y="1391257"/>
              <a:ext cx="125755" cy="427"/>
            </a:xfrm>
            <a:prstGeom prst="straightConnector1">
              <a:avLst/>
            </a:prstGeom>
            <a:noFill/>
            <a:ln cap="rnd" cmpd="sng" w="25400">
              <a:solidFill>
                <a:srgbClr val="FFFFFF"/>
              </a:solidFill>
              <a:prstDash val="solid"/>
              <a:round/>
              <a:headEnd len="sm" w="sm" type="none"/>
              <a:tailEnd len="sm" w="sm" type="none"/>
            </a:ln>
          </p:spPr>
        </p:cxnSp>
        <p:cxnSp>
          <p:nvCxnSpPr>
            <p:cNvPr id="142" name="Google Shape;142;p73"/>
            <p:cNvCxnSpPr/>
            <p:nvPr/>
          </p:nvCxnSpPr>
          <p:spPr>
            <a:xfrm flipH="1" rot="5400000">
              <a:off x="6744524" y="1300853"/>
              <a:ext cx="88509" cy="82296"/>
            </a:xfrm>
            <a:prstGeom prst="straightConnector1">
              <a:avLst/>
            </a:prstGeom>
            <a:noFill/>
            <a:ln cap="rnd" cmpd="sng" w="25400">
              <a:solidFill>
                <a:srgbClr val="FFFFFF"/>
              </a:solidFill>
              <a:prstDash val="solid"/>
              <a:round/>
              <a:headEnd len="sm" w="sm" type="none"/>
              <a:tailEnd len="sm" w="sm" type="none"/>
            </a:ln>
          </p:spPr>
        </p:cxnSp>
      </p:grpSp>
      <p:sp>
        <p:nvSpPr>
          <p:cNvPr id="143" name="Google Shape;143;p73"/>
          <p:cNvSpPr txBox="1"/>
          <p:nvPr>
            <p:ph idx="10" type="dt"/>
          </p:nvPr>
        </p:nvSpPr>
        <p:spPr>
          <a:xfrm>
            <a:off x="6477000" y="55499"/>
            <a:ext cx="21336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73"/>
          <p:cNvSpPr txBox="1"/>
          <p:nvPr>
            <p:ph idx="11" type="ftr"/>
          </p:nvPr>
        </p:nvSpPr>
        <p:spPr>
          <a:xfrm>
            <a:off x="914400" y="55499"/>
            <a:ext cx="55626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73"/>
          <p:cNvSpPr txBox="1"/>
          <p:nvPr>
            <p:ph idx="12" type="sldNum"/>
          </p:nvPr>
        </p:nvSpPr>
        <p:spPr>
          <a:xfrm>
            <a:off x="8610600" y="55499"/>
            <a:ext cx="457200" cy="365125"/>
          </a:xfrm>
          <a:prstGeom prst="rect">
            <a:avLst/>
          </a:prstGeom>
          <a:noFill/>
          <a:ln>
            <a:noFill/>
          </a:ln>
        </p:spPr>
        <p:txBody>
          <a:bodyPr anchorCtr="0" anchor="b"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6" name="Shape 146"/>
        <p:cNvGrpSpPr/>
        <p:nvPr/>
      </p:nvGrpSpPr>
      <p:grpSpPr>
        <a:xfrm>
          <a:off x="0" y="0"/>
          <a:ext cx="0" cy="0"/>
          <a:chOff x="0" y="0"/>
          <a:chExt cx="0" cy="0"/>
        </a:xfrm>
      </p:grpSpPr>
      <p:sp>
        <p:nvSpPr>
          <p:cNvPr id="147" name="Google Shape;147;p74"/>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C1ED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8" name="Google Shape;148;p74"/>
          <p:cNvSpPr txBox="1"/>
          <p:nvPr>
            <p:ph idx="1" type="body"/>
          </p:nvPr>
        </p:nvSpPr>
        <p:spPr>
          <a:xfrm rot="5400000">
            <a:off x="2514600" y="183360"/>
            <a:ext cx="4572000" cy="7772400"/>
          </a:xfrm>
          <a:prstGeom prst="rect">
            <a:avLst/>
          </a:prstGeom>
          <a:noFill/>
          <a:ln>
            <a:noFill/>
          </a:ln>
        </p:spPr>
        <p:txBody>
          <a:bodyPr anchorCtr="0" anchor="t" bIns="45700" lIns="91425" spcFirstLastPara="1" rIns="91425" wrap="square" tIns="45700">
            <a:normAutofit/>
          </a:bodyPr>
          <a:lstStyle>
            <a:lvl1pPr indent="-337185" lvl="0" marL="457200" algn="l">
              <a:spcBef>
                <a:spcPts val="700"/>
              </a:spcBef>
              <a:spcAft>
                <a:spcPts val="0"/>
              </a:spcAft>
              <a:buSzPts val="1710"/>
              <a:buChar char="▪"/>
              <a:defRPr/>
            </a:lvl1pPr>
            <a:lvl2pPr indent="-331469" lvl="1" marL="914400" algn="l">
              <a:spcBef>
                <a:spcPts val="360"/>
              </a:spcBef>
              <a:spcAft>
                <a:spcPts val="0"/>
              </a:spcAft>
              <a:buSzPts val="162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49" name="Google Shape;149;p74"/>
          <p:cNvSpPr txBox="1"/>
          <p:nvPr>
            <p:ph idx="10" type="dt"/>
          </p:nvPr>
        </p:nvSpPr>
        <p:spPr>
          <a:xfrm>
            <a:off x="6477000" y="6416675"/>
            <a:ext cx="21336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74"/>
          <p:cNvSpPr txBox="1"/>
          <p:nvPr>
            <p:ph idx="11" type="ftr"/>
          </p:nvPr>
        </p:nvSpPr>
        <p:spPr>
          <a:xfrm>
            <a:off x="914400" y="6416675"/>
            <a:ext cx="55626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74"/>
          <p:cNvSpPr txBox="1"/>
          <p:nvPr>
            <p:ph idx="12" type="sldNum"/>
          </p:nvPr>
        </p:nvSpPr>
        <p:spPr>
          <a:xfrm>
            <a:off x="8610600" y="6416675"/>
            <a:ext cx="457200" cy="365125"/>
          </a:xfrm>
          <a:prstGeom prst="rect">
            <a:avLst/>
          </a:prstGeom>
          <a:noFill/>
          <a:ln>
            <a:noFill/>
          </a:ln>
        </p:spPr>
        <p:txBody>
          <a:bodyPr anchorCtr="0" anchor="b"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2" name="Shape 152"/>
        <p:cNvGrpSpPr/>
        <p:nvPr/>
      </p:nvGrpSpPr>
      <p:grpSpPr>
        <a:xfrm>
          <a:off x="0" y="0"/>
          <a:ext cx="0" cy="0"/>
          <a:chOff x="0" y="0"/>
          <a:chExt cx="0" cy="0"/>
        </a:xfrm>
      </p:grpSpPr>
      <p:sp>
        <p:nvSpPr>
          <p:cNvPr id="153" name="Google Shape;153;p75"/>
          <p:cNvSpPr txBox="1"/>
          <p:nvPr>
            <p:ph type="title"/>
          </p:nvPr>
        </p:nvSpPr>
        <p:spPr>
          <a:xfrm rot="5400000">
            <a:off x="4694238" y="2209802"/>
            <a:ext cx="5851525" cy="1981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C1ED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 name="Google Shape;154;p75"/>
          <p:cNvSpPr txBox="1"/>
          <p:nvPr>
            <p:ph idx="1" type="body"/>
          </p:nvPr>
        </p:nvSpPr>
        <p:spPr>
          <a:xfrm rot="5400000">
            <a:off x="617538" y="266701"/>
            <a:ext cx="5851525" cy="5867400"/>
          </a:xfrm>
          <a:prstGeom prst="rect">
            <a:avLst/>
          </a:prstGeom>
          <a:noFill/>
          <a:ln>
            <a:noFill/>
          </a:ln>
        </p:spPr>
        <p:txBody>
          <a:bodyPr anchorCtr="0" anchor="t" bIns="45700" lIns="91425" spcFirstLastPara="1" rIns="91425" wrap="square" tIns="45700">
            <a:normAutofit/>
          </a:bodyPr>
          <a:lstStyle>
            <a:lvl1pPr indent="-337185" lvl="0" marL="457200" algn="l">
              <a:spcBef>
                <a:spcPts val="700"/>
              </a:spcBef>
              <a:spcAft>
                <a:spcPts val="0"/>
              </a:spcAft>
              <a:buSzPts val="1710"/>
              <a:buChar char="▪"/>
              <a:defRPr/>
            </a:lvl1pPr>
            <a:lvl2pPr indent="-331469" lvl="1" marL="914400" algn="l">
              <a:spcBef>
                <a:spcPts val="360"/>
              </a:spcBef>
              <a:spcAft>
                <a:spcPts val="0"/>
              </a:spcAft>
              <a:buSzPts val="162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55" name="Google Shape;155;p75"/>
          <p:cNvSpPr txBox="1"/>
          <p:nvPr>
            <p:ph idx="10" type="dt"/>
          </p:nvPr>
        </p:nvSpPr>
        <p:spPr>
          <a:xfrm>
            <a:off x="6477000" y="6416675"/>
            <a:ext cx="21336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75"/>
          <p:cNvSpPr txBox="1"/>
          <p:nvPr>
            <p:ph idx="11" type="ftr"/>
          </p:nvPr>
        </p:nvSpPr>
        <p:spPr>
          <a:xfrm>
            <a:off x="914400" y="6416675"/>
            <a:ext cx="55626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75"/>
          <p:cNvSpPr txBox="1"/>
          <p:nvPr>
            <p:ph idx="12" type="sldNum"/>
          </p:nvPr>
        </p:nvSpPr>
        <p:spPr>
          <a:xfrm>
            <a:off x="8610600" y="6416675"/>
            <a:ext cx="457200" cy="365125"/>
          </a:xfrm>
          <a:prstGeom prst="rect">
            <a:avLst/>
          </a:prstGeom>
          <a:noFill/>
          <a:ln>
            <a:noFill/>
          </a:ln>
        </p:spPr>
        <p:txBody>
          <a:bodyPr anchorCtr="0" anchor="b"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1"/>
            </a:gs>
            <a:gs pos="65000">
              <a:schemeClr val="dk1"/>
            </a:gs>
            <a:gs pos="100000">
              <a:srgbClr val="5676AA"/>
            </a:gs>
          </a:gsLst>
          <a:lin ang="5400000" scaled="0"/>
        </a:gradFill>
      </p:bgPr>
    </p:bg>
    <p:spTree>
      <p:nvGrpSpPr>
        <p:cNvPr id="5" name="Shape 5"/>
        <p:cNvGrpSpPr/>
        <p:nvPr/>
      </p:nvGrpSpPr>
      <p:grpSpPr>
        <a:xfrm>
          <a:off x="0" y="0"/>
          <a:ext cx="0" cy="0"/>
          <a:chOff x="0" y="0"/>
          <a:chExt cx="0" cy="0"/>
        </a:xfrm>
      </p:grpSpPr>
      <p:sp>
        <p:nvSpPr>
          <p:cNvPr id="6" name="Google Shape;6;p62"/>
          <p:cNvSpPr/>
          <p:nvPr/>
        </p:nvSpPr>
        <p:spPr>
          <a:xfrm>
            <a:off x="0" y="-1"/>
            <a:ext cx="365760" cy="685445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7" name="Google Shape;7;p62"/>
          <p:cNvSpPr/>
          <p:nvPr/>
        </p:nvSpPr>
        <p:spPr>
          <a:xfrm>
            <a:off x="255291" y="5047394"/>
            <a:ext cx="73152" cy="16916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8" name="Google Shape;8;p62"/>
          <p:cNvSpPr/>
          <p:nvPr/>
        </p:nvSpPr>
        <p:spPr>
          <a:xfrm>
            <a:off x="255291" y="4796819"/>
            <a:ext cx="73152" cy="2286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9" name="Google Shape;9;p62"/>
          <p:cNvSpPr/>
          <p:nvPr/>
        </p:nvSpPr>
        <p:spPr>
          <a:xfrm>
            <a:off x="255291" y="4637685"/>
            <a:ext cx="73152" cy="1371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10" name="Google Shape;10;p62"/>
          <p:cNvSpPr/>
          <p:nvPr/>
        </p:nvSpPr>
        <p:spPr>
          <a:xfrm>
            <a:off x="255291" y="4542559"/>
            <a:ext cx="73152" cy="7315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11" name="Google Shape;11;p62"/>
          <p:cNvSpPr/>
          <p:nvPr/>
        </p:nvSpPr>
        <p:spPr>
          <a:xfrm>
            <a:off x="309558" y="680477"/>
            <a:ext cx="45720" cy="36576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12" name="Google Shape;12;p62"/>
          <p:cNvSpPr/>
          <p:nvPr/>
        </p:nvSpPr>
        <p:spPr>
          <a:xfrm>
            <a:off x="269073" y="680477"/>
            <a:ext cx="27432" cy="36576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13" name="Google Shape;13;p62"/>
          <p:cNvSpPr/>
          <p:nvPr/>
        </p:nvSpPr>
        <p:spPr>
          <a:xfrm>
            <a:off x="250020" y="680477"/>
            <a:ext cx="9144" cy="36576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14" name="Google Shape;14;p62"/>
          <p:cNvSpPr/>
          <p:nvPr/>
        </p:nvSpPr>
        <p:spPr>
          <a:xfrm>
            <a:off x="221768" y="680477"/>
            <a:ext cx="9144" cy="36576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15" name="Google Shape;15;p62"/>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C1EDFF"/>
              </a:buClr>
              <a:buSzPts val="4000"/>
              <a:buFont typeface="Consolas"/>
              <a:buNone/>
              <a:defRPr b="0" i="0" sz="4000" u="none" cap="none" strike="noStrike">
                <a:solidFill>
                  <a:srgbClr val="C1EDFF"/>
                </a:solidFill>
                <a:latin typeface="Consolas"/>
                <a:ea typeface="Consolas"/>
                <a:cs typeface="Consolas"/>
                <a:sym typeface="Consola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62"/>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a:bodyPr>
          <a:lstStyle>
            <a:lvl1pPr indent="-409575" lvl="0" marL="457200" marR="0" rtl="0" algn="l">
              <a:spcBef>
                <a:spcPts val="700"/>
              </a:spcBef>
              <a:spcAft>
                <a:spcPts val="0"/>
              </a:spcAft>
              <a:buClr>
                <a:schemeClr val="lt2"/>
              </a:buClr>
              <a:buSzPts val="2850"/>
              <a:buFont typeface="Noto Sans Symbols"/>
              <a:buChar char="▪"/>
              <a:defRPr b="0" i="0" sz="3000" u="none" cap="none" strike="noStrike">
                <a:solidFill>
                  <a:schemeClr val="lt1"/>
                </a:solidFill>
                <a:latin typeface="Corbel"/>
                <a:ea typeface="Corbel"/>
                <a:cs typeface="Corbel"/>
                <a:sym typeface="Corbel"/>
              </a:defRPr>
            </a:lvl1pPr>
            <a:lvl2pPr indent="-377190" lvl="1" marL="914400" marR="0" rtl="0" algn="l">
              <a:spcBef>
                <a:spcPts val="520"/>
              </a:spcBef>
              <a:spcAft>
                <a:spcPts val="0"/>
              </a:spcAft>
              <a:buClr>
                <a:schemeClr val="accent2"/>
              </a:buClr>
              <a:buSzPts val="2340"/>
              <a:buFont typeface="Noto Sans Symbols"/>
              <a:buChar char="🢭"/>
              <a:defRPr b="0" i="0" sz="2600" u="none" cap="none" strike="noStrike">
                <a:solidFill>
                  <a:schemeClr val="lt1"/>
                </a:solidFill>
                <a:latin typeface="Corbel"/>
                <a:ea typeface="Corbel"/>
                <a:cs typeface="Corbel"/>
                <a:sym typeface="Corbel"/>
              </a:defRPr>
            </a:lvl2pPr>
            <a:lvl3pPr indent="-381000" lvl="2" marL="1371600" marR="0" rtl="0" algn="l">
              <a:spcBef>
                <a:spcPts val="480"/>
              </a:spcBef>
              <a:spcAft>
                <a:spcPts val="0"/>
              </a:spcAft>
              <a:buClr>
                <a:schemeClr val="accent2"/>
              </a:buClr>
              <a:buSzPts val="2400"/>
              <a:buFont typeface="Noto Sans Symbols"/>
              <a:buChar char="■"/>
              <a:defRPr b="0" i="0" sz="2400" u="none" cap="none" strike="noStrike">
                <a:solidFill>
                  <a:schemeClr val="lt1"/>
                </a:solidFill>
                <a:latin typeface="Corbel"/>
                <a:ea typeface="Corbel"/>
                <a:cs typeface="Corbel"/>
                <a:sym typeface="Corbel"/>
              </a:defRPr>
            </a:lvl3pPr>
            <a:lvl4pPr indent="-368300" lvl="3" marL="1828800" marR="0" rtl="0" algn="l">
              <a:spcBef>
                <a:spcPts val="440"/>
              </a:spcBef>
              <a:spcAft>
                <a:spcPts val="0"/>
              </a:spcAft>
              <a:buClr>
                <a:schemeClr val="accent3"/>
              </a:buClr>
              <a:buSzPts val="2200"/>
              <a:buFont typeface="Noto Sans Symbols"/>
              <a:buChar char="🢝"/>
              <a:defRPr b="0" i="0" sz="2200" u="none" cap="none" strike="noStrike">
                <a:solidFill>
                  <a:schemeClr val="lt1"/>
                </a:solidFill>
                <a:latin typeface="Corbel"/>
                <a:ea typeface="Corbel"/>
                <a:cs typeface="Corbel"/>
                <a:sym typeface="Corbel"/>
              </a:defRPr>
            </a:lvl4pPr>
            <a:lvl5pPr indent="-355600" lvl="4" marL="2286000" marR="0" rtl="0" algn="l">
              <a:spcBef>
                <a:spcPts val="400"/>
              </a:spcBef>
              <a:spcAft>
                <a:spcPts val="0"/>
              </a:spcAft>
              <a:buClr>
                <a:schemeClr val="accent3"/>
              </a:buClr>
              <a:buSzPts val="2000"/>
              <a:buFont typeface="Noto Sans Symbols"/>
              <a:buChar char="●"/>
              <a:defRPr b="0" i="0" sz="2000" u="none" cap="none" strike="noStrike">
                <a:solidFill>
                  <a:schemeClr val="lt1"/>
                </a:solidFill>
                <a:latin typeface="Corbel"/>
                <a:ea typeface="Corbel"/>
                <a:cs typeface="Corbel"/>
                <a:sym typeface="Corbel"/>
              </a:defRPr>
            </a:lvl5pPr>
            <a:lvl6pPr indent="-342900" lvl="5" marL="2743200" marR="0" rtl="0" algn="l">
              <a:spcBef>
                <a:spcPts val="360"/>
              </a:spcBef>
              <a:spcAft>
                <a:spcPts val="0"/>
              </a:spcAft>
              <a:buClr>
                <a:schemeClr val="accent3"/>
              </a:buClr>
              <a:buSzPts val="1800"/>
              <a:buFont typeface="Noto Sans Symbols"/>
              <a:buChar char="●"/>
              <a:defRPr b="0" i="0" sz="1800" u="none" cap="none" strike="noStrike">
                <a:solidFill>
                  <a:schemeClr val="lt1"/>
                </a:solidFill>
                <a:latin typeface="Corbel"/>
                <a:ea typeface="Corbel"/>
                <a:cs typeface="Corbel"/>
                <a:sym typeface="Corbel"/>
              </a:defRPr>
            </a:lvl6pPr>
            <a:lvl7pPr indent="-330200" lvl="6" marL="3200400" marR="0" rtl="0" algn="l">
              <a:spcBef>
                <a:spcPts val="320"/>
              </a:spcBef>
              <a:spcAft>
                <a:spcPts val="0"/>
              </a:spcAft>
              <a:buClr>
                <a:schemeClr val="accent4"/>
              </a:buClr>
              <a:buSzPts val="1600"/>
              <a:buFont typeface="Noto Sans Symbols"/>
              <a:buChar char="●"/>
              <a:defRPr b="0" i="0" sz="1600" u="none" cap="none" strike="noStrike">
                <a:solidFill>
                  <a:schemeClr val="lt1"/>
                </a:solidFill>
                <a:latin typeface="Corbel"/>
                <a:ea typeface="Corbel"/>
                <a:cs typeface="Corbel"/>
                <a:sym typeface="Corbel"/>
              </a:defRPr>
            </a:lvl7pPr>
            <a:lvl8pPr indent="-330200" lvl="7" marL="3657600" marR="0" rtl="0" algn="l">
              <a:spcBef>
                <a:spcPts val="320"/>
              </a:spcBef>
              <a:spcAft>
                <a:spcPts val="0"/>
              </a:spcAft>
              <a:buClr>
                <a:schemeClr val="accent4"/>
              </a:buClr>
              <a:buSzPts val="1600"/>
              <a:buFont typeface="Noto Sans Symbols"/>
              <a:buChar char="●"/>
              <a:defRPr b="0" i="0" sz="1600" u="none" cap="none" strike="noStrike">
                <a:solidFill>
                  <a:schemeClr val="lt1"/>
                </a:solidFill>
                <a:latin typeface="Corbel"/>
                <a:ea typeface="Corbel"/>
                <a:cs typeface="Corbel"/>
                <a:sym typeface="Corbel"/>
              </a:defRPr>
            </a:lvl8pPr>
            <a:lvl9pPr indent="-330200" lvl="8" marL="4114800" marR="0" rtl="0" algn="l">
              <a:spcBef>
                <a:spcPts val="320"/>
              </a:spcBef>
              <a:spcAft>
                <a:spcPts val="0"/>
              </a:spcAft>
              <a:buClr>
                <a:schemeClr val="accent4"/>
              </a:buClr>
              <a:buSzPts val="1600"/>
              <a:buFont typeface="Noto Sans Symbols"/>
              <a:buChar char="●"/>
              <a:defRPr b="0" i="0" sz="1600" u="none" cap="none" strike="noStrike">
                <a:solidFill>
                  <a:schemeClr val="lt1"/>
                </a:solidFill>
                <a:latin typeface="Corbel"/>
                <a:ea typeface="Corbel"/>
                <a:cs typeface="Corbel"/>
                <a:sym typeface="Corbel"/>
              </a:defRPr>
            </a:lvl9pPr>
          </a:lstStyle>
          <a:p/>
        </p:txBody>
      </p:sp>
      <p:sp>
        <p:nvSpPr>
          <p:cNvPr id="17" name="Google Shape;17;p62"/>
          <p:cNvSpPr txBox="1"/>
          <p:nvPr>
            <p:ph idx="10" type="dt"/>
          </p:nvPr>
        </p:nvSpPr>
        <p:spPr>
          <a:xfrm>
            <a:off x="6477000" y="6416675"/>
            <a:ext cx="2133600" cy="36512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2"/>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8" name="Google Shape;18;p62"/>
          <p:cNvSpPr txBox="1"/>
          <p:nvPr>
            <p:ph idx="11" type="ftr"/>
          </p:nvPr>
        </p:nvSpPr>
        <p:spPr>
          <a:xfrm>
            <a:off x="914400" y="6416675"/>
            <a:ext cx="5562600" cy="365125"/>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1100" u="none" cap="none" strike="noStrike">
                <a:solidFill>
                  <a:schemeClr val="lt2"/>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9" name="Google Shape;19;p62"/>
          <p:cNvSpPr txBox="1"/>
          <p:nvPr>
            <p:ph idx="12" type="sldNum"/>
          </p:nvPr>
        </p:nvSpPr>
        <p:spPr>
          <a:xfrm>
            <a:off x="8610600" y="6416675"/>
            <a:ext cx="457200" cy="365125"/>
          </a:xfrm>
          <a:prstGeom prst="rect">
            <a:avLst/>
          </a:prstGeom>
          <a:noFill/>
          <a:ln>
            <a:noFill/>
          </a:ln>
        </p:spPr>
        <p:txBody>
          <a:bodyPr anchorCtr="0" anchor="b" bIns="45700" lIns="91425" spcFirstLastPara="1" rIns="91425" wrap="square" tIns="45700">
            <a:noAutofit/>
          </a:bodyPr>
          <a:lstStyle>
            <a:lvl1pPr indent="0" lvl="0" marL="0" marR="0" rtl="0" algn="l">
              <a:spcBef>
                <a:spcPts val="0"/>
              </a:spcBef>
              <a:buNone/>
              <a:defRPr b="0" i="0" sz="1200" u="none" cap="none" strike="noStrike">
                <a:solidFill>
                  <a:schemeClr val="lt2"/>
                </a:solidFill>
                <a:latin typeface="Corbel"/>
                <a:ea typeface="Corbel"/>
                <a:cs typeface="Corbel"/>
                <a:sym typeface="Corbel"/>
              </a:defRPr>
            </a:lvl1pPr>
            <a:lvl2pPr indent="0" lvl="1" marL="0" marR="0" rtl="0" algn="l">
              <a:spcBef>
                <a:spcPts val="0"/>
              </a:spcBef>
              <a:buNone/>
              <a:defRPr b="0" i="0" sz="1200" u="none" cap="none" strike="noStrike">
                <a:solidFill>
                  <a:schemeClr val="lt2"/>
                </a:solidFill>
                <a:latin typeface="Corbel"/>
                <a:ea typeface="Corbel"/>
                <a:cs typeface="Corbel"/>
                <a:sym typeface="Corbel"/>
              </a:defRPr>
            </a:lvl2pPr>
            <a:lvl3pPr indent="0" lvl="2" marL="0" marR="0" rtl="0" algn="l">
              <a:spcBef>
                <a:spcPts val="0"/>
              </a:spcBef>
              <a:buNone/>
              <a:defRPr b="0" i="0" sz="1200" u="none" cap="none" strike="noStrike">
                <a:solidFill>
                  <a:schemeClr val="lt2"/>
                </a:solidFill>
                <a:latin typeface="Corbel"/>
                <a:ea typeface="Corbel"/>
                <a:cs typeface="Corbel"/>
                <a:sym typeface="Corbel"/>
              </a:defRPr>
            </a:lvl3pPr>
            <a:lvl4pPr indent="0" lvl="3" marL="0" marR="0" rtl="0" algn="l">
              <a:spcBef>
                <a:spcPts val="0"/>
              </a:spcBef>
              <a:buNone/>
              <a:defRPr b="0" i="0" sz="1200" u="none" cap="none" strike="noStrike">
                <a:solidFill>
                  <a:schemeClr val="lt2"/>
                </a:solidFill>
                <a:latin typeface="Corbel"/>
                <a:ea typeface="Corbel"/>
                <a:cs typeface="Corbel"/>
                <a:sym typeface="Corbel"/>
              </a:defRPr>
            </a:lvl4pPr>
            <a:lvl5pPr indent="0" lvl="4" marL="0" marR="0" rtl="0" algn="l">
              <a:spcBef>
                <a:spcPts val="0"/>
              </a:spcBef>
              <a:buNone/>
              <a:defRPr b="0" i="0" sz="1200" u="none" cap="none" strike="noStrike">
                <a:solidFill>
                  <a:schemeClr val="lt2"/>
                </a:solidFill>
                <a:latin typeface="Corbel"/>
                <a:ea typeface="Corbel"/>
                <a:cs typeface="Corbel"/>
                <a:sym typeface="Corbel"/>
              </a:defRPr>
            </a:lvl5pPr>
            <a:lvl6pPr indent="0" lvl="5" marL="0" marR="0" rtl="0" algn="l">
              <a:spcBef>
                <a:spcPts val="0"/>
              </a:spcBef>
              <a:buNone/>
              <a:defRPr b="0" i="0" sz="1200" u="none" cap="none" strike="noStrike">
                <a:solidFill>
                  <a:schemeClr val="lt2"/>
                </a:solidFill>
                <a:latin typeface="Corbel"/>
                <a:ea typeface="Corbel"/>
                <a:cs typeface="Corbel"/>
                <a:sym typeface="Corbel"/>
              </a:defRPr>
            </a:lvl6pPr>
            <a:lvl7pPr indent="0" lvl="6" marL="0" marR="0" rtl="0" algn="l">
              <a:spcBef>
                <a:spcPts val="0"/>
              </a:spcBef>
              <a:buNone/>
              <a:defRPr b="0" i="0" sz="1200" u="none" cap="none" strike="noStrike">
                <a:solidFill>
                  <a:schemeClr val="lt2"/>
                </a:solidFill>
                <a:latin typeface="Corbel"/>
                <a:ea typeface="Corbel"/>
                <a:cs typeface="Corbel"/>
                <a:sym typeface="Corbel"/>
              </a:defRPr>
            </a:lvl7pPr>
            <a:lvl8pPr indent="0" lvl="7" marL="0" marR="0" rtl="0" algn="l">
              <a:spcBef>
                <a:spcPts val="0"/>
              </a:spcBef>
              <a:buNone/>
              <a:defRPr b="0" i="0" sz="1200" u="none" cap="none" strike="noStrike">
                <a:solidFill>
                  <a:schemeClr val="lt2"/>
                </a:solidFill>
                <a:latin typeface="Corbel"/>
                <a:ea typeface="Corbel"/>
                <a:cs typeface="Corbel"/>
                <a:sym typeface="Corbel"/>
              </a:defRPr>
            </a:lvl8pPr>
            <a:lvl9pPr indent="0" lvl="8" marL="0" marR="0" rtl="0" algn="l">
              <a:spcBef>
                <a:spcPts val="0"/>
              </a:spcBef>
              <a:buNone/>
              <a:defRPr b="0" i="0" sz="1200" u="none" cap="none" strike="noStrike">
                <a:solidFill>
                  <a:schemeClr val="lt2"/>
                </a:solidFill>
                <a:latin typeface="Corbel"/>
                <a:ea typeface="Corbel"/>
                <a:cs typeface="Corbel"/>
                <a:sym typeface="Corbel"/>
              </a:defRPr>
            </a:lvl9pPr>
          </a:lstStyle>
          <a:p>
            <a:pPr indent="0" lvl="0" marL="0" rtl="0" algn="l">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33.png"/><Relationship Id="rId6"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9.jpg"/><Relationship Id="rId4" Type="http://schemas.openxmlformats.org/officeDocument/2006/relationships/image" Target="../media/image2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3.jpg"/><Relationship Id="rId4" Type="http://schemas.openxmlformats.org/officeDocument/2006/relationships/image" Target="../media/image1.gif"/><Relationship Id="rId5" Type="http://schemas.openxmlformats.org/officeDocument/2006/relationships/image" Target="../media/image9.gi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7.jpg"/><Relationship Id="rId4" Type="http://schemas.openxmlformats.org/officeDocument/2006/relationships/image" Target="../media/image2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0.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1.jpg"/><Relationship Id="rId4" Type="http://schemas.openxmlformats.org/officeDocument/2006/relationships/image" Target="../media/image2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1.jpg"/><Relationship Id="rId4" Type="http://schemas.openxmlformats.org/officeDocument/2006/relationships/image" Target="../media/image20.jpg"/><Relationship Id="rId5" Type="http://schemas.openxmlformats.org/officeDocument/2006/relationships/image" Target="../media/image3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5.jpg"/><Relationship Id="rId4" Type="http://schemas.openxmlformats.org/officeDocument/2006/relationships/image" Target="../media/image24.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25.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image" Target="../media/image35.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8.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4.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
          <p:cNvSpPr txBox="1"/>
          <p:nvPr>
            <p:ph type="ctrTitle"/>
          </p:nvPr>
        </p:nvSpPr>
        <p:spPr>
          <a:xfrm>
            <a:off x="914400" y="4343400"/>
            <a:ext cx="7772400" cy="1975104"/>
          </a:xfrm>
          <a:prstGeom prst="rect">
            <a:avLst/>
          </a:prstGeom>
          <a:noFill/>
          <a:ln>
            <a:noFill/>
          </a:ln>
        </p:spPr>
        <p:txBody>
          <a:bodyPr anchorCtr="0" anchor="t" bIns="45700" lIns="91425" spcFirstLastPara="1" rIns="91425" wrap="square" tIns="45700">
            <a:noAutofit/>
          </a:bodyPr>
          <a:lstStyle/>
          <a:p>
            <a:pPr indent="0" lvl="0" marL="0" marR="9144" rtl="0" algn="l">
              <a:spcBef>
                <a:spcPts val="0"/>
              </a:spcBef>
              <a:spcAft>
                <a:spcPts val="0"/>
              </a:spcAft>
              <a:buClr>
                <a:srgbClr val="C1EDFF"/>
              </a:buClr>
              <a:buSzPts val="4000"/>
              <a:buFont typeface="Consolas"/>
              <a:buNone/>
            </a:pPr>
            <a:r>
              <a:rPr lang="fr-FR"/>
              <a:t>          TRAHEOBROHOLOGIE</a:t>
            </a:r>
            <a:endParaRPr/>
          </a:p>
        </p:txBody>
      </p:sp>
      <p:sp>
        <p:nvSpPr>
          <p:cNvPr id="163" name="Google Shape;163;p1"/>
          <p:cNvSpPr txBox="1"/>
          <p:nvPr>
            <p:ph idx="1" type="subTitle"/>
          </p:nvPr>
        </p:nvSpPr>
        <p:spPr>
          <a:xfrm>
            <a:off x="914400" y="2834640"/>
            <a:ext cx="7772400" cy="1508760"/>
          </a:xfrm>
          <a:prstGeom prst="rect">
            <a:avLst/>
          </a:prstGeom>
          <a:noFill/>
          <a:ln>
            <a:noFill/>
          </a:ln>
        </p:spPr>
        <p:txBody>
          <a:bodyPr anchorCtr="0" anchor="b" bIns="45700" lIns="100575" spcFirstLastPara="1" rIns="91425" wrap="square" tIns="45700">
            <a:normAutofit/>
          </a:bodyPr>
          <a:lstStyle/>
          <a:p>
            <a:pPr indent="0" lvl="0" marL="0" rtl="0" algn="l">
              <a:spcBef>
                <a:spcPts val="0"/>
              </a:spcBef>
              <a:spcAft>
                <a:spcPts val="0"/>
              </a:spcAft>
              <a:buSzPts val="19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
          <p:cNvSpPr txBox="1"/>
          <p:nvPr>
            <p:ph type="title"/>
          </p:nvPr>
        </p:nvSpPr>
        <p:spPr>
          <a:xfrm>
            <a:off x="609600" y="228600"/>
            <a:ext cx="80772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rPr b="1" lang="fr-FR"/>
              <a:t>Trachée</a:t>
            </a:r>
            <a:endParaRPr/>
          </a:p>
        </p:txBody>
      </p:sp>
      <p:pic>
        <p:nvPicPr>
          <p:cNvPr id="169" name="Google Shape;169;p2"/>
          <p:cNvPicPr preferRelativeResize="0"/>
          <p:nvPr>
            <p:ph idx="1" type="body"/>
          </p:nvPr>
        </p:nvPicPr>
        <p:blipFill rotWithShape="1">
          <a:blip r:embed="rId3">
            <a:alphaModFix/>
          </a:blip>
          <a:srcRect b="0" l="0" r="0" t="0"/>
          <a:stretch/>
        </p:blipFill>
        <p:spPr>
          <a:xfrm>
            <a:off x="838200" y="1143000"/>
            <a:ext cx="7620000" cy="5410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Trachée</a:t>
            </a:r>
            <a:endParaRPr b="1" sz="3200">
              <a:latin typeface="Corbel"/>
              <a:ea typeface="Corbel"/>
              <a:cs typeface="Corbel"/>
              <a:sym typeface="Corbel"/>
            </a:endParaRPr>
          </a:p>
        </p:txBody>
      </p:sp>
      <p:sp>
        <p:nvSpPr>
          <p:cNvPr id="175" name="Google Shape;175;p3"/>
          <p:cNvSpPr txBox="1"/>
          <p:nvPr>
            <p:ph idx="1" type="body"/>
          </p:nvPr>
        </p:nvSpPr>
        <p:spPr>
          <a:xfrm>
            <a:off x="0" y="1295400"/>
            <a:ext cx="6629400" cy="5562600"/>
          </a:xfrm>
          <a:prstGeom prst="rect">
            <a:avLst/>
          </a:prstGeom>
          <a:noFill/>
          <a:ln>
            <a:noFill/>
          </a:ln>
        </p:spPr>
        <p:txBody>
          <a:bodyPr anchorCtr="0" anchor="t" bIns="45700" lIns="91425" spcFirstLastPara="1" rIns="91425" wrap="square" tIns="45700">
            <a:normAutofit/>
          </a:bodyPr>
          <a:lstStyle/>
          <a:p>
            <a:pPr indent="-342900" lvl="0" marL="411480" rtl="0" algn="l">
              <a:spcBef>
                <a:spcPts val="0"/>
              </a:spcBef>
              <a:spcAft>
                <a:spcPts val="0"/>
              </a:spcAft>
              <a:buSzPts val="2280"/>
              <a:buNone/>
            </a:pPr>
            <a:r>
              <a:rPr lang="fr-FR" sz="2400"/>
              <a:t>     un conduit fibro-musculaire-cartilagineux entre le larynx  -bronches  → le rôle de conduire l’air du larynx aux poumons</a:t>
            </a:r>
            <a:endParaRPr sz="2400"/>
          </a:p>
          <a:p>
            <a:pPr indent="-342900" lvl="0" marL="411480" rtl="0" algn="l">
              <a:spcBef>
                <a:spcPts val="700"/>
              </a:spcBef>
              <a:spcAft>
                <a:spcPts val="0"/>
              </a:spcAft>
              <a:buSzPts val="2280"/>
              <a:buNone/>
            </a:pPr>
            <a:r>
              <a:t/>
            </a:r>
            <a:endParaRPr sz="2400"/>
          </a:p>
          <a:p>
            <a:pPr indent="-342900" lvl="0" marL="411480" rtl="0" algn="l">
              <a:spcBef>
                <a:spcPts val="700"/>
              </a:spcBef>
              <a:spcAft>
                <a:spcPts val="0"/>
              </a:spcAft>
              <a:buSzPts val="2280"/>
              <a:buNone/>
            </a:pPr>
            <a:r>
              <a:rPr lang="fr-FR" sz="2400"/>
              <a:t>      longueur de la trachée  10  - 13 (adulte) </a:t>
            </a:r>
            <a:endParaRPr sz="2400"/>
          </a:p>
          <a:p>
            <a:pPr indent="-342900" lvl="0" marL="411480" rtl="0" algn="l">
              <a:spcBef>
                <a:spcPts val="700"/>
              </a:spcBef>
              <a:spcAft>
                <a:spcPts val="0"/>
              </a:spcAft>
              <a:buSzPts val="2280"/>
              <a:buNone/>
            </a:pPr>
            <a:r>
              <a:t/>
            </a:r>
            <a:endParaRPr sz="2400"/>
          </a:p>
          <a:p>
            <a:pPr indent="-342900" lvl="0" marL="411480" rtl="0" algn="l">
              <a:spcBef>
                <a:spcPts val="700"/>
              </a:spcBef>
              <a:spcAft>
                <a:spcPts val="0"/>
              </a:spcAft>
              <a:buSzPts val="2280"/>
              <a:buNone/>
            </a:pPr>
            <a:r>
              <a:rPr lang="fr-FR" sz="2400"/>
              <a:t>      limite supérieure - C6 / inférieure - D4</a:t>
            </a:r>
            <a:endParaRPr sz="2400"/>
          </a:p>
          <a:p>
            <a:pPr indent="-342900" lvl="0" marL="411480" rtl="0" algn="l">
              <a:spcBef>
                <a:spcPts val="700"/>
              </a:spcBef>
              <a:spcAft>
                <a:spcPts val="0"/>
              </a:spcAft>
              <a:buSzPts val="2280"/>
              <a:buNone/>
            </a:pPr>
            <a:r>
              <a:t/>
            </a:r>
            <a:endParaRPr sz="2400"/>
          </a:p>
          <a:p>
            <a:pPr indent="-342900" lvl="0" marL="411480" rtl="0" algn="l">
              <a:spcBef>
                <a:spcPts val="700"/>
              </a:spcBef>
              <a:spcAft>
                <a:spcPts val="0"/>
              </a:spcAft>
              <a:buSzPts val="2280"/>
              <a:buNone/>
            </a:pPr>
            <a:r>
              <a:rPr lang="fr-FR" sz="2400"/>
              <a:t>       taille  15  - 17 mm</a:t>
            </a:r>
            <a:endParaRPr sz="2400"/>
          </a:p>
          <a:p>
            <a:pPr indent="-342900" lvl="0" marL="411480" rtl="0" algn="l">
              <a:spcBef>
                <a:spcPts val="700"/>
              </a:spcBef>
              <a:spcAft>
                <a:spcPts val="0"/>
              </a:spcAft>
              <a:buSzPts val="2280"/>
              <a:buNone/>
            </a:pPr>
            <a:r>
              <a:t/>
            </a:r>
            <a:endParaRPr sz="2400"/>
          </a:p>
          <a:p>
            <a:pPr indent="-342900" lvl="0" marL="411480" rtl="0" algn="l">
              <a:spcBef>
                <a:spcPts val="700"/>
              </a:spcBef>
              <a:spcAft>
                <a:spcPts val="0"/>
              </a:spcAft>
              <a:buSzPts val="2280"/>
              <a:buNone/>
            </a:pPr>
            <a:r>
              <a:rPr lang="fr-FR" sz="2400"/>
              <a:t>      direction au-dessus → bas et d’en avant → arrière</a:t>
            </a:r>
            <a:endParaRPr sz="2400"/>
          </a:p>
          <a:p>
            <a:pPr indent="-161925" lvl="0" marL="411480" rtl="0" algn="l">
              <a:spcBef>
                <a:spcPts val="700"/>
              </a:spcBef>
              <a:spcAft>
                <a:spcPts val="0"/>
              </a:spcAft>
              <a:buSzPts val="2850"/>
              <a:buNone/>
            </a:pPr>
            <a:r>
              <a:t/>
            </a:r>
            <a:endParaRPr/>
          </a:p>
        </p:txBody>
      </p:sp>
      <p:pic>
        <p:nvPicPr>
          <p:cNvPr descr="C:\Users\Alex\Desktop\GS4-2-2.jpg" id="176" name="Google Shape;176;p3"/>
          <p:cNvPicPr preferRelativeResize="0"/>
          <p:nvPr/>
        </p:nvPicPr>
        <p:blipFill rotWithShape="1">
          <a:blip r:embed="rId3">
            <a:alphaModFix/>
          </a:blip>
          <a:srcRect b="0" l="0" r="0" t="0"/>
          <a:stretch/>
        </p:blipFill>
        <p:spPr>
          <a:xfrm>
            <a:off x="6096000" y="2133600"/>
            <a:ext cx="2895600" cy="4191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4"/>
          <p:cNvSpPr txBox="1"/>
          <p:nvPr>
            <p:ph type="title"/>
          </p:nvPr>
        </p:nvSpPr>
        <p:spPr>
          <a:xfrm>
            <a:off x="381000" y="228600"/>
            <a:ext cx="8305800" cy="119786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rPr b="1" lang="fr-FR"/>
              <a:t> </a:t>
            </a:r>
            <a:r>
              <a:rPr b="1" lang="fr-FR" sz="3200">
                <a:latin typeface="Corbel"/>
                <a:ea typeface="Corbel"/>
                <a:cs typeface="Corbel"/>
                <a:sym typeface="Corbel"/>
              </a:rPr>
              <a:t>Trachée  -  Rapports</a:t>
            </a:r>
            <a:br>
              <a:rPr lang="fr-FR"/>
            </a:br>
            <a:endParaRPr/>
          </a:p>
        </p:txBody>
      </p:sp>
      <p:sp>
        <p:nvSpPr>
          <p:cNvPr id="182" name="Google Shape;182;p4"/>
          <p:cNvSpPr txBox="1"/>
          <p:nvPr>
            <p:ph idx="1" type="body"/>
          </p:nvPr>
        </p:nvSpPr>
        <p:spPr>
          <a:xfrm>
            <a:off x="457200" y="1219200"/>
            <a:ext cx="8229600" cy="6019800"/>
          </a:xfrm>
          <a:prstGeom prst="rect">
            <a:avLst/>
          </a:prstGeom>
          <a:noFill/>
          <a:ln>
            <a:noFill/>
          </a:ln>
        </p:spPr>
        <p:txBody>
          <a:bodyPr anchorCtr="0" anchor="t" bIns="45700" lIns="91425" spcFirstLastPara="1" rIns="91425" wrap="square" tIns="45700">
            <a:normAutofit fontScale="77500" lnSpcReduction="20000"/>
          </a:bodyPr>
          <a:lstStyle/>
          <a:p>
            <a:pPr indent="-342900" lvl="0" marL="411480" rtl="0" algn="l">
              <a:spcBef>
                <a:spcPts val="0"/>
              </a:spcBef>
              <a:spcAft>
                <a:spcPts val="0"/>
              </a:spcAft>
              <a:buSzPct val="95000"/>
              <a:buNone/>
            </a:pPr>
            <a:r>
              <a:t/>
            </a:r>
            <a:endParaRPr/>
          </a:p>
          <a:p>
            <a:pPr indent="-342900" lvl="0" marL="411480" rtl="0" algn="l">
              <a:spcBef>
                <a:spcPts val="700"/>
              </a:spcBef>
              <a:spcAft>
                <a:spcPts val="0"/>
              </a:spcAft>
              <a:buSzPct val="95000"/>
              <a:buNone/>
            </a:pPr>
            <a:r>
              <a:rPr b="1" i="1" lang="fr-FR">
                <a:solidFill>
                  <a:srgbClr val="FFC000"/>
                </a:solidFill>
              </a:rPr>
              <a:t>la partie cervicale </a:t>
            </a:r>
            <a:endParaRPr b="1" i="1">
              <a:solidFill>
                <a:srgbClr val="FFC000"/>
              </a:solidFill>
            </a:endParaRPr>
          </a:p>
          <a:p>
            <a:pPr indent="-342900" lvl="0" marL="411480" rtl="0" algn="l">
              <a:spcBef>
                <a:spcPts val="700"/>
              </a:spcBef>
              <a:spcAft>
                <a:spcPts val="0"/>
              </a:spcAft>
              <a:buSzPct val="95000"/>
              <a:buChar char="▪"/>
            </a:pPr>
            <a:r>
              <a:rPr lang="fr-FR"/>
              <a:t>Antérieure - l’isthme et les lobes de la glande thyroïde</a:t>
            </a:r>
            <a:endParaRPr/>
          </a:p>
          <a:p>
            <a:pPr indent="-342900" lvl="0" marL="411480" rtl="0" algn="l">
              <a:spcBef>
                <a:spcPts val="700"/>
              </a:spcBef>
              <a:spcAft>
                <a:spcPts val="0"/>
              </a:spcAft>
              <a:buSzPct val="95000"/>
              <a:buChar char="▪"/>
            </a:pPr>
            <a:r>
              <a:rPr lang="fr-FR"/>
              <a:t>Postérieure - l’œsophage</a:t>
            </a:r>
            <a:endParaRPr/>
          </a:p>
          <a:p>
            <a:pPr indent="-342900" lvl="0" marL="411480" rtl="0" algn="l">
              <a:spcBef>
                <a:spcPts val="700"/>
              </a:spcBef>
              <a:spcAft>
                <a:spcPts val="0"/>
              </a:spcAft>
              <a:buSzPct val="95000"/>
              <a:buChar char="▪"/>
            </a:pPr>
            <a:r>
              <a:rPr lang="fr-FR"/>
              <a:t>Latéral – les lobes thyroïdiens, artère inférieure de la thyroïde, l’artère vertébrale et les nerfs récurrents</a:t>
            </a:r>
            <a:endParaRPr/>
          </a:p>
          <a:p>
            <a:pPr indent="-342900" lvl="0" marL="411480" rtl="0" algn="l">
              <a:spcBef>
                <a:spcPts val="700"/>
              </a:spcBef>
              <a:spcAft>
                <a:spcPts val="0"/>
              </a:spcAft>
              <a:buSzPct val="95000"/>
              <a:buNone/>
            </a:pPr>
            <a:r>
              <a:t/>
            </a:r>
            <a:endParaRPr/>
          </a:p>
          <a:p>
            <a:pPr indent="-342900" lvl="0" marL="411480" rtl="0" algn="l">
              <a:spcBef>
                <a:spcPts val="700"/>
              </a:spcBef>
              <a:spcAft>
                <a:spcPts val="0"/>
              </a:spcAft>
              <a:buSzPct val="95000"/>
              <a:buNone/>
            </a:pPr>
            <a:r>
              <a:rPr b="1" i="1" lang="fr-FR">
                <a:solidFill>
                  <a:srgbClr val="FFC000"/>
                </a:solidFill>
              </a:rPr>
              <a:t>la partie thoracique </a:t>
            </a:r>
            <a:endParaRPr b="1" i="1">
              <a:solidFill>
                <a:srgbClr val="FFC000"/>
              </a:solidFill>
            </a:endParaRPr>
          </a:p>
          <a:p>
            <a:pPr indent="-342900" lvl="0" marL="411480" rtl="0" algn="l">
              <a:spcBef>
                <a:spcPts val="700"/>
              </a:spcBef>
              <a:spcAft>
                <a:spcPts val="0"/>
              </a:spcAft>
              <a:buSzPct val="95000"/>
              <a:buChar char="▪"/>
            </a:pPr>
            <a:r>
              <a:rPr lang="fr-FR"/>
              <a:t>Une partie du médiastin antérieur</a:t>
            </a:r>
            <a:endParaRPr/>
          </a:p>
          <a:p>
            <a:pPr indent="-342900" lvl="0" marL="411480" rtl="0" algn="l">
              <a:spcBef>
                <a:spcPts val="700"/>
              </a:spcBef>
              <a:spcAft>
                <a:spcPts val="0"/>
              </a:spcAft>
              <a:buSzPct val="95000"/>
              <a:buChar char="▪"/>
            </a:pPr>
            <a:r>
              <a:rPr lang="fr-FR"/>
              <a:t>Antérieure – la crosse de l’aorte, le tronc artériel et veineux brachiocéphalique le sternum</a:t>
            </a:r>
            <a:endParaRPr/>
          </a:p>
          <a:p>
            <a:pPr indent="-342900" lvl="0" marL="411480" rtl="0" algn="l">
              <a:spcBef>
                <a:spcPts val="700"/>
              </a:spcBef>
              <a:spcAft>
                <a:spcPts val="0"/>
              </a:spcAft>
              <a:buSzPct val="95000"/>
              <a:buChar char="▪"/>
            </a:pPr>
            <a:r>
              <a:rPr lang="fr-FR"/>
              <a:t>Postérieure - l’œsophage,  le nerf vague et récurrent, la veine cave supérieure</a:t>
            </a:r>
            <a:endParaRPr/>
          </a:p>
          <a:p>
            <a:pPr indent="-342900" lvl="0" marL="411480" rtl="0" algn="l">
              <a:spcBef>
                <a:spcPts val="700"/>
              </a:spcBef>
              <a:spcAft>
                <a:spcPts val="0"/>
              </a:spcAft>
              <a:buSzPct val="95000"/>
              <a:buChar char="▪"/>
            </a:pPr>
            <a:r>
              <a:rPr lang="fr-FR"/>
              <a:t>Latéral –  gauche - la plèvre et le poumon, crosse de l’aorte, la carotide et artère sous-clavière primitive, nerf vague</a:t>
            </a:r>
            <a:endParaRPr/>
          </a:p>
          <a:p>
            <a:pPr indent="-342900" lvl="0" marL="411480" rtl="0" algn="l">
              <a:spcBef>
                <a:spcPts val="700"/>
              </a:spcBef>
              <a:spcAft>
                <a:spcPts val="0"/>
              </a:spcAft>
              <a:buSzPct val="95000"/>
              <a:buNone/>
            </a:pPr>
            <a:r>
              <a:rPr b="1" lang="fr-FR"/>
              <a:t> </a:t>
            </a:r>
            <a:endParaRPr/>
          </a:p>
          <a:p>
            <a:pPr indent="-202644" lvl="0" marL="411480" rtl="0" algn="l">
              <a:spcBef>
                <a:spcPts val="700"/>
              </a:spcBef>
              <a:spcAft>
                <a:spcPts val="0"/>
              </a:spcAft>
              <a:buSzPct val="95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5"/>
          <p:cNvSpPr txBox="1"/>
          <p:nvPr>
            <p:ph type="title"/>
          </p:nvPr>
        </p:nvSpPr>
        <p:spPr>
          <a:xfrm>
            <a:off x="609600" y="304800"/>
            <a:ext cx="8077200" cy="762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rPr b="1" lang="fr-FR"/>
              <a:t>Trachée  -  Rapports</a:t>
            </a:r>
            <a:br>
              <a:rPr lang="fr-FR"/>
            </a:br>
            <a:endParaRPr/>
          </a:p>
        </p:txBody>
      </p:sp>
      <p:pic>
        <p:nvPicPr>
          <p:cNvPr descr="C:\Users\Alex\Desktop\200708101226_002762654.jpg" id="188" name="Google Shape;188;p5"/>
          <p:cNvPicPr preferRelativeResize="0"/>
          <p:nvPr/>
        </p:nvPicPr>
        <p:blipFill rotWithShape="1">
          <a:blip r:embed="rId3">
            <a:alphaModFix/>
          </a:blip>
          <a:srcRect b="0" l="0" r="0" t="0"/>
          <a:stretch/>
        </p:blipFill>
        <p:spPr>
          <a:xfrm>
            <a:off x="1371600" y="1371600"/>
            <a:ext cx="6400800" cy="518636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6"/>
          <p:cNvSpPr txBox="1"/>
          <p:nvPr>
            <p:ph type="title"/>
          </p:nvPr>
        </p:nvSpPr>
        <p:spPr>
          <a:xfrm>
            <a:off x="457200" y="152400"/>
            <a:ext cx="8229600" cy="127406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Trachée </a:t>
            </a:r>
            <a:endParaRPr b="1" sz="3200">
              <a:latin typeface="Corbel"/>
              <a:ea typeface="Corbel"/>
              <a:cs typeface="Corbel"/>
              <a:sym typeface="Corbel"/>
            </a:endParaRPr>
          </a:p>
        </p:txBody>
      </p:sp>
      <p:sp>
        <p:nvSpPr>
          <p:cNvPr id="194" name="Google Shape;194;p6"/>
          <p:cNvSpPr txBox="1"/>
          <p:nvPr>
            <p:ph idx="1" type="body"/>
          </p:nvPr>
        </p:nvSpPr>
        <p:spPr>
          <a:xfrm>
            <a:off x="533400" y="838200"/>
            <a:ext cx="8382000" cy="6019800"/>
          </a:xfrm>
          <a:prstGeom prst="rect">
            <a:avLst/>
          </a:prstGeom>
          <a:noFill/>
          <a:ln>
            <a:noFill/>
          </a:ln>
        </p:spPr>
        <p:txBody>
          <a:bodyPr anchorCtr="0" anchor="t" bIns="45700" lIns="91425" spcFirstLastPara="1" rIns="91425" wrap="square" tIns="45700">
            <a:normAutofit fontScale="62500" lnSpcReduction="20000"/>
          </a:bodyPr>
          <a:lstStyle/>
          <a:p>
            <a:pPr indent="-342900" lvl="0" marL="411480" rtl="0" algn="l">
              <a:spcBef>
                <a:spcPts val="0"/>
              </a:spcBef>
              <a:spcAft>
                <a:spcPts val="0"/>
              </a:spcAft>
              <a:buSzPct val="95000"/>
              <a:buNone/>
            </a:pPr>
            <a:r>
              <a:rPr b="1" lang="fr-FR" sz="4500">
                <a:solidFill>
                  <a:srgbClr val="FFC000"/>
                </a:solidFill>
              </a:rPr>
              <a:t>CONSTITUTION ANATOMIQUE</a:t>
            </a:r>
            <a:endParaRPr b="1" sz="4500">
              <a:solidFill>
                <a:srgbClr val="FFC000"/>
              </a:solidFill>
            </a:endParaRPr>
          </a:p>
          <a:p>
            <a:pPr indent="-342900" lvl="0" marL="411480" rtl="0" algn="l">
              <a:spcBef>
                <a:spcPts val="700"/>
              </a:spcBef>
              <a:spcAft>
                <a:spcPts val="0"/>
              </a:spcAft>
              <a:buSzPct val="95000"/>
              <a:buNone/>
            </a:pPr>
            <a:r>
              <a:rPr lang="fr-FR" sz="3200"/>
              <a:t>- l’adventice </a:t>
            </a:r>
            <a:endParaRPr sz="3200"/>
          </a:p>
          <a:p>
            <a:pPr indent="-342900" lvl="0" marL="411480" rtl="0" algn="l">
              <a:spcBef>
                <a:spcPts val="700"/>
              </a:spcBef>
              <a:spcAft>
                <a:spcPts val="0"/>
              </a:spcAft>
              <a:buSzPct val="95000"/>
              <a:buNone/>
            </a:pPr>
            <a:r>
              <a:rPr lang="fr-FR" sz="3200"/>
              <a:t>- couche fibro-cartilagineuse  (16  - 20 anneaux de cartilage en forme de fer à cheval)  la part postérieure  membraneuse  en contact avec l’œsophage</a:t>
            </a:r>
            <a:endParaRPr sz="3200"/>
          </a:p>
          <a:p>
            <a:pPr indent="-342900" lvl="0" marL="411480" rtl="0" algn="l">
              <a:spcBef>
                <a:spcPts val="700"/>
              </a:spcBef>
              <a:spcAft>
                <a:spcPts val="0"/>
              </a:spcAft>
              <a:buSzPct val="95000"/>
              <a:buNone/>
            </a:pPr>
            <a:r>
              <a:rPr lang="fr-FR" sz="3200"/>
              <a:t>- muqueuse de type respiratoire  continue la muqueuse du larynx → bronches</a:t>
            </a:r>
            <a:endParaRPr sz="3200"/>
          </a:p>
          <a:p>
            <a:pPr indent="-342900" lvl="0" marL="411480" rtl="0" algn="l">
              <a:spcBef>
                <a:spcPts val="700"/>
              </a:spcBef>
              <a:spcAft>
                <a:spcPts val="0"/>
              </a:spcAft>
              <a:buSzPct val="95000"/>
              <a:buNone/>
            </a:pPr>
            <a:r>
              <a:rPr lang="fr-FR" sz="3200"/>
              <a:t> </a:t>
            </a:r>
            <a:endParaRPr sz="3200"/>
          </a:p>
          <a:p>
            <a:pPr indent="-342900" lvl="0" marL="411480" rtl="0" algn="l">
              <a:spcBef>
                <a:spcPts val="700"/>
              </a:spcBef>
              <a:spcAft>
                <a:spcPts val="0"/>
              </a:spcAft>
              <a:buSzPct val="95000"/>
              <a:buNone/>
            </a:pPr>
            <a:r>
              <a:rPr b="1" lang="fr-FR" sz="4500">
                <a:solidFill>
                  <a:srgbClr val="FFC000"/>
                </a:solidFill>
              </a:rPr>
              <a:t>ANATOMIE DES BRONCHES</a:t>
            </a:r>
            <a:endParaRPr b="1" sz="4500">
              <a:solidFill>
                <a:srgbClr val="FFC000"/>
              </a:solidFill>
            </a:endParaRPr>
          </a:p>
          <a:p>
            <a:pPr indent="-342900" lvl="0" marL="411480" rtl="0" algn="l">
              <a:spcBef>
                <a:spcPts val="700"/>
              </a:spcBef>
              <a:spcAft>
                <a:spcPts val="0"/>
              </a:spcAft>
              <a:buSzPct val="95000"/>
              <a:buNone/>
            </a:pPr>
            <a:r>
              <a:rPr lang="fr-FR" sz="3200"/>
              <a:t>les bronches sont 2 tubes extra-pulmonaires et intrapulmonaires</a:t>
            </a:r>
            <a:endParaRPr sz="3200"/>
          </a:p>
          <a:p>
            <a:pPr indent="-342900" lvl="0" marL="411480" rtl="0" algn="l">
              <a:spcBef>
                <a:spcPts val="700"/>
              </a:spcBef>
              <a:spcAft>
                <a:spcPts val="0"/>
              </a:spcAft>
              <a:buSzPct val="95000"/>
              <a:buNone/>
            </a:pPr>
            <a:r>
              <a:rPr lang="fr-FR" sz="3200"/>
              <a:t>Br. extra-pulmonaires de la bifurcation → hile du poumon </a:t>
            </a:r>
            <a:endParaRPr/>
          </a:p>
          <a:p>
            <a:pPr indent="-342900" lvl="0" marL="411480" rtl="0" algn="l">
              <a:spcBef>
                <a:spcPts val="700"/>
              </a:spcBef>
              <a:spcAft>
                <a:spcPts val="0"/>
              </a:spcAft>
              <a:buSzPct val="95000"/>
              <a:buNone/>
            </a:pPr>
            <a:r>
              <a:rPr lang="fr-FR" sz="3200"/>
              <a:t>Br.droite forment avec la verticale un angle de 17 - 20 °  </a:t>
            </a:r>
            <a:endParaRPr/>
          </a:p>
          <a:p>
            <a:pPr indent="-342900" lvl="0" marL="411480" rtl="0" algn="l">
              <a:spcBef>
                <a:spcPts val="700"/>
              </a:spcBef>
              <a:spcAft>
                <a:spcPts val="0"/>
              </a:spcAft>
              <a:buSzPct val="95000"/>
              <a:buNone/>
            </a:pPr>
            <a:r>
              <a:rPr lang="fr-FR" sz="3200"/>
              <a:t>Br.gauche un angle de 45 - 55 °</a:t>
            </a:r>
            <a:endParaRPr/>
          </a:p>
          <a:p>
            <a:pPr indent="-342900" lvl="0" marL="411480" rtl="0" algn="l">
              <a:spcBef>
                <a:spcPts val="700"/>
              </a:spcBef>
              <a:spcAft>
                <a:spcPts val="0"/>
              </a:spcAft>
              <a:buSzPct val="95000"/>
              <a:buNone/>
            </a:pPr>
            <a:r>
              <a:t/>
            </a:r>
            <a:endParaRPr sz="3200"/>
          </a:p>
          <a:p>
            <a:pPr indent="-342900" lvl="0" marL="411480" rtl="0" algn="l">
              <a:spcBef>
                <a:spcPts val="700"/>
              </a:spcBef>
              <a:spcAft>
                <a:spcPts val="0"/>
              </a:spcAft>
              <a:buSzPct val="95000"/>
              <a:buNone/>
            </a:pPr>
            <a:r>
              <a:rPr lang="fr-FR" sz="3200"/>
              <a:t> </a:t>
            </a:r>
            <a:r>
              <a:rPr b="1" i="1" lang="fr-FR" sz="3800" u="sng"/>
              <a:t>Br.droite est plus proche de la verticale </a:t>
            </a:r>
            <a:endParaRPr b="1" i="1" sz="3200" u="sng"/>
          </a:p>
          <a:p>
            <a:pPr indent="-342900" lvl="0" marL="411480" rtl="0" algn="l">
              <a:spcBef>
                <a:spcPts val="700"/>
              </a:spcBef>
              <a:spcAft>
                <a:spcPts val="0"/>
              </a:spcAft>
              <a:buSzPct val="95000"/>
              <a:buNone/>
            </a:pPr>
            <a:r>
              <a:rPr lang="fr-FR" sz="3200"/>
              <a:t>   →  </a:t>
            </a:r>
            <a:r>
              <a:rPr i="1" lang="fr-FR" sz="3800" u="sng"/>
              <a:t>les corps étrangers entrant à ce niveau</a:t>
            </a:r>
            <a:endParaRPr i="1" sz="3800" u="sng"/>
          </a:p>
          <a:p>
            <a:pPr indent="-342900" lvl="0" marL="411480" rtl="0" algn="l">
              <a:spcBef>
                <a:spcPts val="700"/>
              </a:spcBef>
              <a:spcAft>
                <a:spcPts val="0"/>
              </a:spcAft>
              <a:buSzPct val="95000"/>
              <a:buNone/>
            </a:pPr>
            <a:r>
              <a:rPr b="1" lang="fr-FR" sz="3200"/>
              <a:t> </a:t>
            </a:r>
            <a:endParaRPr sz="3200"/>
          </a:p>
          <a:p>
            <a:pPr indent="-285750" lvl="1" marL="740664" rtl="0" algn="l">
              <a:spcBef>
                <a:spcPts val="350"/>
              </a:spcBef>
              <a:spcAft>
                <a:spcPts val="0"/>
              </a:spcAft>
              <a:buSzPct val="90000"/>
              <a:buChar char="🢭"/>
            </a:pPr>
            <a:r>
              <a:rPr b="1" lang="fr-FR" sz="2800"/>
              <a:t> </a:t>
            </a:r>
            <a:endParaRPr sz="2800"/>
          </a:p>
          <a:p>
            <a:pPr indent="-229790" lvl="0" marL="411480" rtl="0" algn="l">
              <a:spcBef>
                <a:spcPts val="700"/>
              </a:spcBef>
              <a:spcAft>
                <a:spcPts val="0"/>
              </a:spcAft>
              <a:buSzPct val="950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7"/>
          <p:cNvSpPr txBox="1"/>
          <p:nvPr>
            <p:ph type="title"/>
          </p:nvPr>
        </p:nvSpPr>
        <p:spPr>
          <a:xfrm>
            <a:off x="609600" y="228600"/>
            <a:ext cx="8077200" cy="762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rPr b="1" lang="fr-FR"/>
              <a:t>Trachée </a:t>
            </a:r>
            <a:endParaRPr/>
          </a:p>
        </p:txBody>
      </p:sp>
      <p:pic>
        <p:nvPicPr>
          <p:cNvPr descr="C:\Users\Alex\Desktop\images.jpg" id="200" name="Google Shape;200;p7"/>
          <p:cNvPicPr preferRelativeResize="0"/>
          <p:nvPr/>
        </p:nvPicPr>
        <p:blipFill rotWithShape="1">
          <a:blip r:embed="rId3">
            <a:alphaModFix/>
          </a:blip>
          <a:srcRect b="0" l="0" r="0" t="0"/>
          <a:stretch/>
        </p:blipFill>
        <p:spPr>
          <a:xfrm>
            <a:off x="457200" y="1447800"/>
            <a:ext cx="3810000" cy="4905772"/>
          </a:xfrm>
          <a:prstGeom prst="rect">
            <a:avLst/>
          </a:prstGeom>
          <a:noFill/>
          <a:ln>
            <a:noFill/>
          </a:ln>
        </p:spPr>
      </p:pic>
      <p:pic>
        <p:nvPicPr>
          <p:cNvPr descr="C:\Users\Alex\Desktop\f25-7a-b-trachea-anteri-c.jpg" id="201" name="Google Shape;201;p7"/>
          <p:cNvPicPr preferRelativeResize="0"/>
          <p:nvPr/>
        </p:nvPicPr>
        <p:blipFill rotWithShape="1">
          <a:blip r:embed="rId4">
            <a:alphaModFix/>
          </a:blip>
          <a:srcRect b="0" l="0" r="0" t="0"/>
          <a:stretch/>
        </p:blipFill>
        <p:spPr>
          <a:xfrm>
            <a:off x="4267200" y="1447800"/>
            <a:ext cx="4776787" cy="485982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8"/>
          <p:cNvSpPr txBox="1"/>
          <p:nvPr>
            <p:ph type="title"/>
          </p:nvPr>
        </p:nvSpPr>
        <p:spPr>
          <a:xfrm>
            <a:off x="381000" y="228600"/>
            <a:ext cx="8305800" cy="119786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PHYSIOLOGIE  TRACHÉO - BRONCHIQUE</a:t>
            </a:r>
            <a:endParaRPr sz="3200">
              <a:latin typeface="Corbel"/>
              <a:ea typeface="Corbel"/>
              <a:cs typeface="Corbel"/>
              <a:sym typeface="Corbel"/>
            </a:endParaRPr>
          </a:p>
        </p:txBody>
      </p:sp>
      <p:sp>
        <p:nvSpPr>
          <p:cNvPr id="207" name="Google Shape;207;p8"/>
          <p:cNvSpPr txBox="1"/>
          <p:nvPr>
            <p:ph idx="1" type="body"/>
          </p:nvPr>
        </p:nvSpPr>
        <p:spPr>
          <a:xfrm>
            <a:off x="381000" y="1524000"/>
            <a:ext cx="8763000" cy="4831560"/>
          </a:xfrm>
          <a:prstGeom prst="rect">
            <a:avLst/>
          </a:prstGeom>
          <a:noFill/>
          <a:ln>
            <a:noFill/>
          </a:ln>
        </p:spPr>
        <p:txBody>
          <a:bodyPr anchorCtr="0" anchor="t" bIns="45700" lIns="91425" spcFirstLastPara="1" rIns="91425" wrap="square" tIns="45700">
            <a:normAutofit/>
          </a:bodyPr>
          <a:lstStyle/>
          <a:p>
            <a:pPr indent="-285750" lvl="1" marL="740664" rtl="0" algn="l">
              <a:spcBef>
                <a:spcPts val="0"/>
              </a:spcBef>
              <a:spcAft>
                <a:spcPts val="0"/>
              </a:spcAft>
              <a:buSzPts val="2520"/>
              <a:buNone/>
            </a:pPr>
            <a:r>
              <a:rPr b="1" lang="fr-FR" sz="2800">
                <a:solidFill>
                  <a:srgbClr val="FFC000"/>
                </a:solidFill>
              </a:rPr>
              <a:t>1. La fonction respiratoire </a:t>
            </a:r>
            <a:endParaRPr b="1" sz="2800">
              <a:solidFill>
                <a:srgbClr val="FFC000"/>
              </a:solidFill>
            </a:endParaRPr>
          </a:p>
          <a:p>
            <a:pPr indent="-342900" lvl="0" marL="411480" rtl="0" algn="l">
              <a:spcBef>
                <a:spcPts val="700"/>
              </a:spcBef>
              <a:spcAft>
                <a:spcPts val="0"/>
              </a:spcAft>
              <a:buSzPts val="2280"/>
              <a:buNone/>
            </a:pPr>
            <a:r>
              <a:rPr lang="fr-FR" sz="2400"/>
              <a:t>       assure la circulation de l’air dans les 2 temps de la respiration  (alvéoles du poumon se produisent les échanges de gaz)</a:t>
            </a:r>
            <a:endParaRPr sz="2400"/>
          </a:p>
          <a:p>
            <a:pPr indent="-342900" lvl="0" marL="411480" rtl="0" algn="l">
              <a:spcBef>
                <a:spcPts val="700"/>
              </a:spcBef>
              <a:spcAft>
                <a:spcPts val="0"/>
              </a:spcAft>
              <a:buSzPts val="2660"/>
              <a:buNone/>
            </a:pPr>
            <a:r>
              <a:rPr b="1" lang="fr-FR" sz="2800">
                <a:solidFill>
                  <a:srgbClr val="FFC000"/>
                </a:solidFill>
              </a:rPr>
              <a:t>     2. La fonction de modification de l’air inspiré </a:t>
            </a:r>
            <a:endParaRPr sz="2800"/>
          </a:p>
          <a:p>
            <a:pPr indent="-342900" lvl="0" marL="411480" rtl="0" algn="l">
              <a:spcBef>
                <a:spcPts val="700"/>
              </a:spcBef>
              <a:spcAft>
                <a:spcPts val="0"/>
              </a:spcAft>
              <a:buSzPts val="2280"/>
              <a:buNone/>
            </a:pPr>
            <a:r>
              <a:rPr lang="fr-FR" sz="2400"/>
              <a:t>      ∙  Le chauffage, l’humidification et la purification de l’air inspiré   commence / continue ≈ la cavité nasale → voies resp. inf.</a:t>
            </a:r>
            <a:endParaRPr/>
          </a:p>
          <a:p>
            <a:pPr indent="-342900" lvl="0" marL="411480" rtl="0" algn="l">
              <a:spcBef>
                <a:spcPts val="700"/>
              </a:spcBef>
              <a:spcAft>
                <a:spcPts val="0"/>
              </a:spcAft>
              <a:buSzPts val="2280"/>
              <a:buNone/>
            </a:pPr>
            <a:r>
              <a:rPr lang="fr-FR" sz="2400"/>
              <a:t>      ∙ L’air de la trachée ≈ temperature - 36°C  /  humidité  - 99 %  </a:t>
            </a:r>
            <a:endParaRPr sz="2400"/>
          </a:p>
          <a:p>
            <a:pPr indent="-342900" lvl="0" marL="411480" rtl="0" algn="l">
              <a:spcBef>
                <a:spcPts val="700"/>
              </a:spcBef>
              <a:spcAft>
                <a:spcPts val="0"/>
              </a:spcAft>
              <a:buSzPts val="2280"/>
              <a:buNone/>
            </a:pPr>
            <a:r>
              <a:rPr lang="fr-FR" sz="2400"/>
              <a:t>       ∙ la fonction de la défense  -  appareil muco-ciliaire assure le   transport des sécrétions  / particules de l’air inspiré → larynx</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9"/>
          <p:cNvSpPr txBox="1"/>
          <p:nvPr>
            <p:ph type="title"/>
          </p:nvPr>
        </p:nvSpPr>
        <p:spPr>
          <a:xfrm>
            <a:off x="381000" y="512064"/>
            <a:ext cx="87630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SYMPTOMATOLOGIE  TRACHÉO - BRONCHIQUE</a:t>
            </a:r>
            <a:endParaRPr sz="3200">
              <a:latin typeface="Corbel"/>
              <a:ea typeface="Corbel"/>
              <a:cs typeface="Corbel"/>
              <a:sym typeface="Corbel"/>
            </a:endParaRPr>
          </a:p>
        </p:txBody>
      </p:sp>
      <p:sp>
        <p:nvSpPr>
          <p:cNvPr id="213" name="Google Shape;213;p9"/>
          <p:cNvSpPr txBox="1"/>
          <p:nvPr>
            <p:ph idx="1" type="body"/>
          </p:nvPr>
        </p:nvSpPr>
        <p:spPr>
          <a:xfrm>
            <a:off x="304800" y="1219200"/>
            <a:ext cx="8839200" cy="5136360"/>
          </a:xfrm>
          <a:prstGeom prst="rect">
            <a:avLst/>
          </a:prstGeom>
          <a:noFill/>
          <a:ln>
            <a:noFill/>
          </a:ln>
        </p:spPr>
        <p:txBody>
          <a:bodyPr anchorCtr="0" anchor="t" bIns="45700" lIns="91425" spcFirstLastPara="1" rIns="91425" wrap="square" tIns="45700">
            <a:normAutofit fontScale="92500" lnSpcReduction="10000"/>
          </a:bodyPr>
          <a:lstStyle/>
          <a:p>
            <a:pPr indent="-342900" lvl="0" marL="411480" rtl="0" algn="l">
              <a:spcBef>
                <a:spcPts val="0"/>
              </a:spcBef>
              <a:spcAft>
                <a:spcPts val="0"/>
              </a:spcAft>
              <a:buSzPct val="95000"/>
              <a:buNone/>
            </a:pPr>
            <a:r>
              <a:rPr b="1" lang="fr-FR" sz="2400">
                <a:solidFill>
                  <a:srgbClr val="FFC000"/>
                </a:solidFill>
              </a:rPr>
              <a:t> 1. Le syndrome respiratoire  (obstruction de la trachée) </a:t>
            </a:r>
            <a:endParaRPr b="1" sz="2400">
              <a:solidFill>
                <a:srgbClr val="FFC000"/>
              </a:solidFill>
            </a:endParaRPr>
          </a:p>
          <a:p>
            <a:pPr indent="-342900" lvl="0" marL="411480" rtl="0" algn="l">
              <a:spcBef>
                <a:spcPts val="700"/>
              </a:spcBef>
              <a:spcAft>
                <a:spcPts val="0"/>
              </a:spcAft>
              <a:buSzPct val="95000"/>
              <a:buNone/>
            </a:pPr>
            <a:r>
              <a:rPr i="1" lang="fr-FR" sz="2000"/>
              <a:t>       un syndrome dyspnéique de type mixte à la fois inspirateur /expirateur </a:t>
            </a:r>
            <a:endParaRPr/>
          </a:p>
          <a:p>
            <a:pPr indent="-342900" lvl="0" marL="411480" rtl="0" algn="l">
              <a:spcBef>
                <a:spcPts val="700"/>
              </a:spcBef>
              <a:spcAft>
                <a:spcPts val="0"/>
              </a:spcAft>
              <a:buSzPct val="95000"/>
              <a:buNone/>
            </a:pPr>
            <a:r>
              <a:rPr i="1" lang="fr-FR" sz="2000"/>
              <a:t>       sans troubles de la phonation</a:t>
            </a:r>
            <a:endParaRPr i="1" sz="2000"/>
          </a:p>
          <a:p>
            <a:pPr indent="-342900" lvl="0" marL="411480" rtl="0" algn="l">
              <a:spcBef>
                <a:spcPts val="700"/>
              </a:spcBef>
              <a:spcAft>
                <a:spcPts val="0"/>
              </a:spcAft>
              <a:buSzPct val="95000"/>
              <a:buNone/>
            </a:pPr>
            <a:r>
              <a:rPr lang="fr-FR" sz="2000"/>
              <a:t>       </a:t>
            </a:r>
            <a:r>
              <a:rPr b="1" i="1" lang="fr-FR" sz="2000"/>
              <a:t>Corps étrangers trachéo-bronchique </a:t>
            </a:r>
            <a:endParaRPr/>
          </a:p>
          <a:p>
            <a:pPr indent="-342900" lvl="0" marL="411480" rtl="0" algn="l">
              <a:spcBef>
                <a:spcPts val="700"/>
              </a:spcBef>
              <a:spcAft>
                <a:spcPts val="0"/>
              </a:spcAft>
              <a:buSzPct val="95000"/>
              <a:buNone/>
            </a:pPr>
            <a:r>
              <a:rPr lang="fr-FR" sz="2000"/>
              <a:t>       doit être établie avec certitude s’il y avait des manifestations d’aspiration de  corps étrangers qui au début sont  brutaux </a:t>
            </a:r>
            <a:endParaRPr sz="2000"/>
          </a:p>
          <a:p>
            <a:pPr indent="-342900" lvl="0" marL="411480" rtl="0" algn="l">
              <a:spcBef>
                <a:spcPts val="700"/>
              </a:spcBef>
              <a:spcAft>
                <a:spcPts val="0"/>
              </a:spcAft>
              <a:buSzPct val="95000"/>
              <a:buNone/>
            </a:pPr>
            <a:r>
              <a:rPr lang="fr-FR" sz="2000">
                <a:solidFill>
                  <a:srgbClr val="FFC000"/>
                </a:solidFill>
              </a:rPr>
              <a:t>      ♦ Dyspnée importante </a:t>
            </a:r>
            <a:endParaRPr sz="2000">
              <a:solidFill>
                <a:srgbClr val="FFC000"/>
              </a:solidFill>
            </a:endParaRPr>
          </a:p>
          <a:p>
            <a:pPr indent="-342900" lvl="0" marL="411480" rtl="0" algn="l">
              <a:spcBef>
                <a:spcPts val="700"/>
              </a:spcBef>
              <a:spcAft>
                <a:spcPts val="0"/>
              </a:spcAft>
              <a:buSzPct val="95000"/>
              <a:buNone/>
            </a:pPr>
            <a:r>
              <a:rPr lang="fr-FR" sz="2000">
                <a:solidFill>
                  <a:srgbClr val="FFC000"/>
                </a:solidFill>
              </a:rPr>
              <a:t>      ♦ Toux </a:t>
            </a:r>
            <a:endParaRPr sz="2000">
              <a:solidFill>
                <a:srgbClr val="FFC000"/>
              </a:solidFill>
            </a:endParaRPr>
          </a:p>
          <a:p>
            <a:pPr indent="-342900" lvl="0" marL="411480" rtl="0" algn="l">
              <a:spcBef>
                <a:spcPts val="700"/>
              </a:spcBef>
              <a:spcAft>
                <a:spcPts val="0"/>
              </a:spcAft>
              <a:buSzPct val="95000"/>
              <a:buNone/>
            </a:pPr>
            <a:r>
              <a:rPr lang="fr-FR" sz="2000">
                <a:solidFill>
                  <a:srgbClr val="FFC000"/>
                </a:solidFill>
              </a:rPr>
              <a:t>      ♦ Faciès cyanose </a:t>
            </a:r>
            <a:endParaRPr sz="2000">
              <a:solidFill>
                <a:srgbClr val="FFC000"/>
              </a:solidFill>
            </a:endParaRPr>
          </a:p>
          <a:p>
            <a:pPr indent="-342900" lvl="0" marL="411480" rtl="0" algn="l">
              <a:spcBef>
                <a:spcPts val="700"/>
              </a:spcBef>
              <a:spcAft>
                <a:spcPts val="0"/>
              </a:spcAft>
              <a:buSzPct val="95000"/>
              <a:buNone/>
            </a:pPr>
            <a:r>
              <a:rPr lang="fr-FR" sz="2000">
                <a:solidFill>
                  <a:srgbClr val="FFC000"/>
                </a:solidFill>
              </a:rPr>
              <a:t>       ♦ Agitation (gravité moyenne  20  - 30 min.)</a:t>
            </a:r>
            <a:endParaRPr sz="2000">
              <a:solidFill>
                <a:srgbClr val="FFC000"/>
              </a:solidFill>
            </a:endParaRPr>
          </a:p>
          <a:p>
            <a:pPr indent="-342900" lvl="0" marL="411480" rtl="0" algn="l">
              <a:spcBef>
                <a:spcPts val="700"/>
              </a:spcBef>
              <a:spcAft>
                <a:spcPts val="0"/>
              </a:spcAft>
              <a:buSzPct val="95000"/>
              <a:buNone/>
            </a:pPr>
            <a:r>
              <a:rPr lang="fr-FR" sz="2000"/>
              <a:t> </a:t>
            </a:r>
            <a:r>
              <a:rPr b="1" i="1" lang="fr-FR" sz="2000" u="sng"/>
              <a:t>l’accident  chez les enfants    </a:t>
            </a:r>
            <a:endParaRPr/>
          </a:p>
          <a:p>
            <a:pPr indent="-342900" lvl="0" marL="411480" rtl="0" algn="l">
              <a:spcBef>
                <a:spcPts val="700"/>
              </a:spcBef>
              <a:spcAft>
                <a:spcPts val="0"/>
              </a:spcAft>
              <a:buSzPct val="95000"/>
              <a:buNone/>
            </a:pPr>
            <a:r>
              <a:rPr lang="fr-FR" sz="2000"/>
              <a:t>~ peut passer inaperçu (pas produite en présence de soignants)</a:t>
            </a:r>
            <a:endParaRPr/>
          </a:p>
          <a:p>
            <a:pPr indent="-342900" lvl="0" marL="411480" rtl="0" algn="l">
              <a:spcBef>
                <a:spcPts val="700"/>
              </a:spcBef>
              <a:spcAft>
                <a:spcPts val="0"/>
              </a:spcAft>
              <a:buSzPct val="95000"/>
              <a:buNone/>
            </a:pPr>
            <a:r>
              <a:rPr lang="fr-FR" sz="2000"/>
              <a:t>~ il n’est pas donné l’importance méritée →  </a:t>
            </a:r>
            <a:endParaRPr/>
          </a:p>
          <a:p>
            <a:pPr indent="-342900" lvl="0" marL="411480" rtl="0" algn="l">
              <a:spcBef>
                <a:spcPts val="700"/>
              </a:spcBef>
              <a:spcAft>
                <a:spcPts val="0"/>
              </a:spcAft>
              <a:buSzPct val="95000"/>
              <a:buNone/>
            </a:pPr>
            <a:r>
              <a:rPr lang="fr-FR" sz="2000"/>
              <a:t>~ le risque que l’enfant soit mal dirigé  →  pédiatrie (la phase de complications)</a:t>
            </a:r>
            <a:endParaRPr sz="2000"/>
          </a:p>
          <a:p>
            <a:pPr indent="-175498" lvl="0" marL="411480" rtl="0" algn="l">
              <a:spcBef>
                <a:spcPts val="700"/>
              </a:spcBef>
              <a:spcAft>
                <a:spcPts val="0"/>
              </a:spcAft>
              <a:buSzPct val="95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0"/>
          <p:cNvSpPr txBox="1"/>
          <p:nvPr>
            <p:ph type="title"/>
          </p:nvPr>
        </p:nvSpPr>
        <p:spPr>
          <a:xfrm>
            <a:off x="381000" y="304800"/>
            <a:ext cx="8991600" cy="1371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SYMPTOMATOLOGIE  TRACHÉO - BRONCHIQUE</a:t>
            </a:r>
            <a:endParaRPr sz="3200">
              <a:latin typeface="Corbel"/>
              <a:ea typeface="Corbel"/>
              <a:cs typeface="Corbel"/>
              <a:sym typeface="Corbel"/>
            </a:endParaRPr>
          </a:p>
        </p:txBody>
      </p:sp>
      <p:sp>
        <p:nvSpPr>
          <p:cNvPr id="219" name="Google Shape;219;p10"/>
          <p:cNvSpPr txBox="1"/>
          <p:nvPr>
            <p:ph idx="1" type="body"/>
          </p:nvPr>
        </p:nvSpPr>
        <p:spPr>
          <a:xfrm>
            <a:off x="457200" y="914400"/>
            <a:ext cx="8839200" cy="5441160"/>
          </a:xfrm>
          <a:prstGeom prst="rect">
            <a:avLst/>
          </a:prstGeom>
          <a:noFill/>
          <a:ln>
            <a:noFill/>
          </a:ln>
        </p:spPr>
        <p:txBody>
          <a:bodyPr anchorCtr="0" anchor="t" bIns="45700" lIns="91425" spcFirstLastPara="1" rIns="91425" wrap="square" tIns="45700">
            <a:normAutofit fontScale="92500"/>
          </a:bodyPr>
          <a:lstStyle/>
          <a:p>
            <a:pPr indent="-342900" lvl="0" marL="411480" rtl="0" algn="l">
              <a:spcBef>
                <a:spcPts val="0"/>
              </a:spcBef>
              <a:spcAft>
                <a:spcPts val="0"/>
              </a:spcAft>
              <a:buSzPct val="95000"/>
              <a:buNone/>
            </a:pPr>
            <a:r>
              <a:rPr b="1" lang="fr-FR"/>
              <a:t> </a:t>
            </a:r>
            <a:endParaRPr/>
          </a:p>
          <a:p>
            <a:pPr indent="-342900" lvl="0" marL="411480" rtl="0" algn="l">
              <a:spcBef>
                <a:spcPts val="700"/>
              </a:spcBef>
              <a:spcAft>
                <a:spcPts val="0"/>
              </a:spcAft>
              <a:buSzPct val="95000"/>
              <a:buNone/>
            </a:pPr>
            <a:r>
              <a:rPr b="1" lang="fr-FR" sz="2800">
                <a:solidFill>
                  <a:srgbClr val="FFC000"/>
                </a:solidFill>
              </a:rPr>
              <a:t>2. Le syndrome sécréteur</a:t>
            </a:r>
            <a:endParaRPr sz="2800">
              <a:solidFill>
                <a:srgbClr val="FFC000"/>
              </a:solidFill>
            </a:endParaRPr>
          </a:p>
          <a:p>
            <a:pPr indent="-342900" lvl="0" marL="411480" rtl="0" algn="l">
              <a:spcBef>
                <a:spcPts val="700"/>
              </a:spcBef>
              <a:spcAft>
                <a:spcPts val="0"/>
              </a:spcAft>
              <a:buSzPct val="95000"/>
              <a:buNone/>
            </a:pPr>
            <a:r>
              <a:rPr lang="fr-FR" sz="2400"/>
              <a:t>   changements qualitatif  / quantitatif  -  sécrétions trachéo -  bronchiques </a:t>
            </a:r>
            <a:endParaRPr/>
          </a:p>
          <a:p>
            <a:pPr indent="-342900" lvl="0" marL="411480" rtl="0" algn="l">
              <a:spcBef>
                <a:spcPts val="700"/>
              </a:spcBef>
              <a:spcAft>
                <a:spcPts val="0"/>
              </a:spcAft>
              <a:buSzPct val="95000"/>
              <a:buNone/>
            </a:pPr>
            <a:r>
              <a:rPr lang="fr-FR" sz="2400"/>
              <a:t>   hypersécrétion / hyposécrétion</a:t>
            </a:r>
            <a:endParaRPr sz="2400"/>
          </a:p>
          <a:p>
            <a:pPr indent="-342900" lvl="0" marL="411480" rtl="0" algn="l">
              <a:spcBef>
                <a:spcPts val="700"/>
              </a:spcBef>
              <a:spcAft>
                <a:spcPts val="0"/>
              </a:spcAft>
              <a:buSzPct val="95000"/>
              <a:buNone/>
            </a:pPr>
            <a:r>
              <a:rPr b="1" lang="fr-FR"/>
              <a:t> </a:t>
            </a:r>
            <a:endParaRPr/>
          </a:p>
          <a:p>
            <a:pPr indent="-342900" lvl="0" marL="411480" rtl="0" algn="l">
              <a:spcBef>
                <a:spcPts val="700"/>
              </a:spcBef>
              <a:spcAft>
                <a:spcPts val="0"/>
              </a:spcAft>
              <a:buSzPct val="95000"/>
              <a:buNone/>
            </a:pPr>
            <a:r>
              <a:rPr b="1" lang="fr-FR" sz="2800">
                <a:solidFill>
                  <a:srgbClr val="FFC000"/>
                </a:solidFill>
              </a:rPr>
              <a:t>3. Le syndrome excréteur </a:t>
            </a:r>
            <a:endParaRPr b="1" sz="2800">
              <a:solidFill>
                <a:srgbClr val="FFC000"/>
              </a:solidFill>
            </a:endParaRPr>
          </a:p>
          <a:p>
            <a:pPr indent="-342900" lvl="0" marL="411480" rtl="0" algn="l">
              <a:spcBef>
                <a:spcPts val="700"/>
              </a:spcBef>
              <a:spcAft>
                <a:spcPts val="0"/>
              </a:spcAft>
              <a:buSzPct val="95000"/>
              <a:buNone/>
            </a:pPr>
            <a:r>
              <a:rPr b="1" lang="fr-FR" sz="2800">
                <a:solidFill>
                  <a:srgbClr val="FFC000"/>
                </a:solidFill>
              </a:rPr>
              <a:t>   </a:t>
            </a:r>
            <a:r>
              <a:rPr lang="fr-FR" sz="2200"/>
              <a:t> troubles de l’excrétion(la viscosité des sécrétions) / du mouvement ciliaire/</a:t>
            </a:r>
            <a:endParaRPr/>
          </a:p>
          <a:p>
            <a:pPr indent="-342900" lvl="0" marL="411480" rtl="0" algn="l">
              <a:spcBef>
                <a:spcPts val="700"/>
              </a:spcBef>
              <a:spcAft>
                <a:spcPts val="0"/>
              </a:spcAft>
              <a:buSzPct val="95000"/>
              <a:buNone/>
            </a:pPr>
            <a:r>
              <a:rPr lang="fr-FR" sz="2200"/>
              <a:t>     la force du courant expirateur</a:t>
            </a:r>
            <a:endParaRPr/>
          </a:p>
          <a:p>
            <a:pPr indent="-342900" lvl="0" marL="411480" rtl="0" algn="l">
              <a:spcBef>
                <a:spcPts val="700"/>
              </a:spcBef>
              <a:spcAft>
                <a:spcPts val="0"/>
              </a:spcAft>
              <a:buSzPct val="95000"/>
              <a:buNone/>
            </a:pPr>
            <a:r>
              <a:t/>
            </a:r>
            <a:endParaRPr sz="2800">
              <a:solidFill>
                <a:srgbClr val="FFC000"/>
              </a:solidFill>
            </a:endParaRPr>
          </a:p>
          <a:p>
            <a:pPr indent="-342900" lvl="0" marL="411480" rtl="0" algn="l">
              <a:spcBef>
                <a:spcPts val="700"/>
              </a:spcBef>
              <a:spcAft>
                <a:spcPts val="0"/>
              </a:spcAft>
              <a:buSzPct val="95000"/>
              <a:buNone/>
            </a:pPr>
            <a:r>
              <a:rPr b="1" lang="fr-FR" sz="2800">
                <a:solidFill>
                  <a:srgbClr val="FFC000"/>
                </a:solidFill>
              </a:rPr>
              <a:t>4. La toux et l’expectoration</a:t>
            </a:r>
            <a:r>
              <a:rPr b="1" lang="fr-FR"/>
              <a:t> </a:t>
            </a:r>
            <a:endParaRPr/>
          </a:p>
          <a:p>
            <a:pPr indent="-342900" lvl="0" marL="411480" rtl="0" algn="l">
              <a:spcBef>
                <a:spcPts val="700"/>
              </a:spcBef>
              <a:spcAft>
                <a:spcPts val="0"/>
              </a:spcAft>
              <a:buSzPct val="95000"/>
              <a:buNone/>
            </a:pPr>
            <a:r>
              <a:rPr lang="fr-FR" sz="2200"/>
              <a:t>      mécanismes réflexes, de la défense, liées aux syndromes précédents</a:t>
            </a:r>
            <a:endParaRPr sz="2200"/>
          </a:p>
          <a:p>
            <a:pPr indent="-175498" lvl="0" marL="411480" rtl="0" algn="l">
              <a:spcBef>
                <a:spcPts val="700"/>
              </a:spcBef>
              <a:spcAft>
                <a:spcPts val="0"/>
              </a:spcAft>
              <a:buSzPct val="950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1"/>
          <p:cNvSpPr txBox="1"/>
          <p:nvPr>
            <p:ph type="title"/>
          </p:nvPr>
        </p:nvSpPr>
        <p:spPr>
          <a:xfrm>
            <a:off x="381000" y="512064"/>
            <a:ext cx="87630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CORPS  ÉTRANGERS  TRACHÉO - BRONCHIQUES</a:t>
            </a:r>
            <a:endParaRPr sz="3200">
              <a:latin typeface="Corbel"/>
              <a:ea typeface="Corbel"/>
              <a:cs typeface="Corbel"/>
              <a:sym typeface="Corbel"/>
            </a:endParaRPr>
          </a:p>
        </p:txBody>
      </p:sp>
      <p:sp>
        <p:nvSpPr>
          <p:cNvPr id="225" name="Google Shape;225;p11"/>
          <p:cNvSpPr txBox="1"/>
          <p:nvPr>
            <p:ph idx="1" type="body"/>
          </p:nvPr>
        </p:nvSpPr>
        <p:spPr>
          <a:xfrm>
            <a:off x="304800" y="1371600"/>
            <a:ext cx="8839200" cy="5486400"/>
          </a:xfrm>
          <a:prstGeom prst="rect">
            <a:avLst/>
          </a:prstGeom>
          <a:noFill/>
          <a:ln>
            <a:noFill/>
          </a:ln>
        </p:spPr>
        <p:txBody>
          <a:bodyPr anchorCtr="0" anchor="t" bIns="45700" lIns="91425" spcFirstLastPara="1" rIns="91425" wrap="square" tIns="45700">
            <a:normAutofit fontScale="62500" lnSpcReduction="20000"/>
          </a:bodyPr>
          <a:lstStyle/>
          <a:p>
            <a:pPr indent="-342900" lvl="0" marL="411480" rtl="0" algn="l">
              <a:spcBef>
                <a:spcPts val="0"/>
              </a:spcBef>
              <a:spcAft>
                <a:spcPts val="0"/>
              </a:spcAft>
              <a:buSzPct val="95000"/>
              <a:buNone/>
            </a:pPr>
            <a:r>
              <a:rPr lang="fr-FR"/>
              <a:t> la plupart des cas = &gt; 70 % - accident chez les enfants</a:t>
            </a:r>
            <a:endParaRPr/>
          </a:p>
          <a:p>
            <a:pPr indent="-342900" lvl="0" marL="411480" rtl="0" algn="l">
              <a:spcBef>
                <a:spcPts val="700"/>
              </a:spcBef>
              <a:spcAft>
                <a:spcPts val="0"/>
              </a:spcAft>
              <a:buSzPct val="75000"/>
              <a:buNone/>
            </a:pPr>
            <a:r>
              <a:rPr lang="fr-FR"/>
              <a:t> </a:t>
            </a:r>
            <a:endParaRPr sz="3800">
              <a:solidFill>
                <a:srgbClr val="FFC000"/>
              </a:solidFill>
            </a:endParaRPr>
          </a:p>
          <a:p>
            <a:pPr indent="-342900" lvl="0" marL="411480" rtl="0" algn="l">
              <a:spcBef>
                <a:spcPts val="700"/>
              </a:spcBef>
              <a:spcAft>
                <a:spcPts val="0"/>
              </a:spcAft>
              <a:buSzPct val="95000"/>
              <a:buNone/>
            </a:pPr>
            <a:r>
              <a:rPr b="1" lang="fr-FR" sz="3800">
                <a:solidFill>
                  <a:srgbClr val="FFC000"/>
                </a:solidFill>
              </a:rPr>
              <a:t>Étiopathogénie </a:t>
            </a:r>
            <a:endParaRPr sz="3800">
              <a:solidFill>
                <a:srgbClr val="FFC000"/>
              </a:solidFill>
            </a:endParaRPr>
          </a:p>
          <a:p>
            <a:pPr indent="-342900" lvl="0" marL="411480" rtl="0" algn="l">
              <a:spcBef>
                <a:spcPts val="700"/>
              </a:spcBef>
              <a:spcAft>
                <a:spcPts val="0"/>
              </a:spcAft>
              <a:buSzPct val="95000"/>
              <a:buNone/>
            </a:pPr>
            <a:r>
              <a:rPr b="1" i="1" lang="fr-FR" sz="3400">
                <a:solidFill>
                  <a:srgbClr val="FFC000"/>
                </a:solidFill>
              </a:rPr>
              <a:t>Corps étrangers organiques</a:t>
            </a:r>
            <a:r>
              <a:rPr b="1" lang="fr-FR" sz="3400">
                <a:solidFill>
                  <a:srgbClr val="FFC000"/>
                </a:solidFill>
              </a:rPr>
              <a:t> </a:t>
            </a:r>
            <a:endParaRPr/>
          </a:p>
          <a:p>
            <a:pPr indent="-342900" lvl="0" marL="411480" rtl="0" algn="l">
              <a:spcBef>
                <a:spcPts val="700"/>
              </a:spcBef>
              <a:spcAft>
                <a:spcPts val="0"/>
              </a:spcAft>
              <a:buSzPct val="95000"/>
              <a:buNone/>
            </a:pPr>
            <a:r>
              <a:rPr lang="fr-FR"/>
              <a:t> ∙  sont plus dangereux→ soulèvent leur volume dans des milieux humides (grain de haricot, maïs)</a:t>
            </a:r>
            <a:endParaRPr/>
          </a:p>
          <a:p>
            <a:pPr indent="-342900" lvl="0" marL="411480" rtl="0" algn="l">
              <a:spcBef>
                <a:spcPts val="700"/>
              </a:spcBef>
              <a:spcAft>
                <a:spcPts val="0"/>
              </a:spcAft>
              <a:buSzPct val="95000"/>
              <a:buNone/>
            </a:pPr>
            <a:r>
              <a:rPr lang="fr-FR"/>
              <a:t>  ∙ autres présents des huiles (graines de citrouille, noix, noisettes)</a:t>
            </a:r>
            <a:endParaRPr/>
          </a:p>
          <a:p>
            <a:pPr indent="-342900" lvl="0" marL="411480" rtl="0" algn="l">
              <a:spcBef>
                <a:spcPts val="700"/>
              </a:spcBef>
              <a:spcAft>
                <a:spcPts val="0"/>
              </a:spcAft>
              <a:buSzPct val="95000"/>
              <a:buNone/>
            </a:pPr>
            <a:r>
              <a:rPr lang="fr-FR"/>
              <a:t> </a:t>
            </a:r>
            <a:r>
              <a:rPr b="1" i="1" lang="fr-FR" sz="3400">
                <a:solidFill>
                  <a:srgbClr val="FFC000"/>
                </a:solidFill>
              </a:rPr>
              <a:t>Corps étrangers</a:t>
            </a:r>
            <a:r>
              <a:rPr b="1" lang="fr-FR" sz="3400">
                <a:solidFill>
                  <a:srgbClr val="FFC000"/>
                </a:solidFill>
              </a:rPr>
              <a:t> </a:t>
            </a:r>
            <a:r>
              <a:rPr b="1" i="1" lang="fr-FR" sz="3400">
                <a:solidFill>
                  <a:srgbClr val="FFC000"/>
                </a:solidFill>
              </a:rPr>
              <a:t>anorganiques</a:t>
            </a:r>
            <a:r>
              <a:rPr b="1" lang="fr-FR" sz="3400">
                <a:solidFill>
                  <a:srgbClr val="FFC000"/>
                </a:solidFill>
              </a:rPr>
              <a:t>  </a:t>
            </a:r>
            <a:r>
              <a:rPr lang="fr-FR"/>
              <a:t>- clous, des vis, des broches, des objets en plastique</a:t>
            </a:r>
            <a:endParaRPr/>
          </a:p>
          <a:p>
            <a:pPr indent="-342900" lvl="0" marL="411480" rtl="0" algn="l">
              <a:spcBef>
                <a:spcPts val="700"/>
              </a:spcBef>
              <a:spcAft>
                <a:spcPts val="0"/>
              </a:spcAft>
              <a:buSzPct val="95000"/>
              <a:buNone/>
            </a:pPr>
            <a:r>
              <a:rPr lang="fr-FR"/>
              <a:t>	</a:t>
            </a:r>
            <a:endParaRPr/>
          </a:p>
          <a:p>
            <a:pPr indent="-342900" lvl="0" marL="411480" rtl="0" algn="l">
              <a:spcBef>
                <a:spcPts val="700"/>
              </a:spcBef>
              <a:spcAft>
                <a:spcPts val="0"/>
              </a:spcAft>
              <a:buSzPct val="95000"/>
              <a:buNone/>
            </a:pPr>
            <a:r>
              <a:rPr b="1" i="1" lang="fr-FR" sz="3400" u="sng"/>
              <a:t>mécanisme de production </a:t>
            </a:r>
            <a:endParaRPr/>
          </a:p>
          <a:p>
            <a:pPr indent="-342900" lvl="0" marL="411480" rtl="0" algn="l">
              <a:spcBef>
                <a:spcPts val="700"/>
              </a:spcBef>
              <a:spcAft>
                <a:spcPts val="0"/>
              </a:spcAft>
              <a:buSzPct val="95000"/>
              <a:buNone/>
            </a:pPr>
            <a:r>
              <a:rPr i="1" lang="fr-FR" u="sng"/>
              <a:t>aspiration, inspiration subite </a:t>
            </a:r>
            <a:r>
              <a:rPr lang="fr-FR"/>
              <a:t>≈ l’alimentation,pendant le jeu avec objets dans</a:t>
            </a:r>
            <a:endParaRPr/>
          </a:p>
          <a:p>
            <a:pPr indent="-342900" lvl="0" marL="411480" rtl="0" algn="l">
              <a:spcBef>
                <a:spcPts val="700"/>
              </a:spcBef>
              <a:spcAft>
                <a:spcPts val="0"/>
              </a:spcAft>
              <a:buSzPct val="95000"/>
              <a:buNone/>
            </a:pPr>
            <a:r>
              <a:rPr lang="fr-FR"/>
              <a:t> la bouche,  le rire, les pleurs, la toux ou les éternuements</a:t>
            </a:r>
            <a:endParaRPr/>
          </a:p>
          <a:p>
            <a:pPr indent="-342900" lvl="0" marL="411480" rtl="0" algn="l">
              <a:spcBef>
                <a:spcPts val="700"/>
              </a:spcBef>
              <a:spcAft>
                <a:spcPts val="0"/>
              </a:spcAft>
              <a:buSzPct val="95000"/>
              <a:buNone/>
            </a:pPr>
            <a:r>
              <a:t/>
            </a:r>
            <a:endParaRPr/>
          </a:p>
          <a:p>
            <a:pPr indent="-342900" lvl="0" marL="411480" rtl="0" algn="l">
              <a:spcBef>
                <a:spcPts val="700"/>
              </a:spcBef>
              <a:spcAft>
                <a:spcPts val="0"/>
              </a:spcAft>
              <a:buSzPct val="95000"/>
              <a:buNone/>
            </a:pPr>
            <a:r>
              <a:rPr lang="fr-FR"/>
              <a:t>∙   </a:t>
            </a:r>
            <a:r>
              <a:rPr i="1" lang="fr-FR" u="sng">
                <a:solidFill>
                  <a:srgbClr val="FFC000"/>
                </a:solidFill>
              </a:rPr>
              <a:t>se localisent la plus courante → Br. droites primitives  (direction ~ verticale)</a:t>
            </a:r>
            <a:endParaRPr i="1" u="sng">
              <a:solidFill>
                <a:srgbClr val="FFC000"/>
              </a:solidFill>
            </a:endParaRPr>
          </a:p>
          <a:p>
            <a:pPr indent="-342900" lvl="0" marL="411480" rtl="0" algn="l">
              <a:spcBef>
                <a:spcPts val="700"/>
              </a:spcBef>
              <a:spcAft>
                <a:spcPts val="0"/>
              </a:spcAft>
              <a:buSzPct val="95000"/>
              <a:buNone/>
            </a:pPr>
            <a:r>
              <a:rPr lang="fr-FR"/>
              <a:t> ∙  </a:t>
            </a:r>
            <a:r>
              <a:rPr i="1" lang="fr-FR" u="sng"/>
              <a:t>la stagnation dure longue temps </a:t>
            </a:r>
            <a:r>
              <a:rPr lang="fr-FR"/>
              <a:t>→ l’œdème, un gonflement local, l’accumulation de sécrétions, surinfection et parfois l’apparition du tissu de granulation.</a:t>
            </a:r>
            <a:endParaRPr/>
          </a:p>
          <a:p>
            <a:pPr indent="-229790" lvl="0" marL="411480" rtl="0" algn="l">
              <a:spcBef>
                <a:spcPts val="700"/>
              </a:spcBef>
              <a:spcAft>
                <a:spcPts val="0"/>
              </a:spcAft>
              <a:buSzPct val="950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2"/>
          <p:cNvSpPr txBox="1"/>
          <p:nvPr>
            <p:ph type="title"/>
          </p:nvPr>
        </p:nvSpPr>
        <p:spPr>
          <a:xfrm>
            <a:off x="381000" y="152400"/>
            <a:ext cx="8763000" cy="1600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CORPS  ÉTRANGERS  TRACHÉO - BRONCHIQUES</a:t>
            </a:r>
            <a:endParaRPr sz="3200">
              <a:latin typeface="Corbel"/>
              <a:ea typeface="Corbel"/>
              <a:cs typeface="Corbel"/>
              <a:sym typeface="Corbel"/>
            </a:endParaRPr>
          </a:p>
        </p:txBody>
      </p:sp>
      <p:sp>
        <p:nvSpPr>
          <p:cNvPr id="231" name="Google Shape;231;p12"/>
          <p:cNvSpPr txBox="1"/>
          <p:nvPr>
            <p:ph idx="1" type="body"/>
          </p:nvPr>
        </p:nvSpPr>
        <p:spPr>
          <a:xfrm>
            <a:off x="533400" y="685800"/>
            <a:ext cx="8610600" cy="6781800"/>
          </a:xfrm>
          <a:prstGeom prst="rect">
            <a:avLst/>
          </a:prstGeom>
          <a:noFill/>
          <a:ln>
            <a:noFill/>
          </a:ln>
        </p:spPr>
        <p:txBody>
          <a:bodyPr anchorCtr="0" anchor="t" bIns="45700" lIns="91425" spcFirstLastPara="1" rIns="91425" wrap="square" tIns="45700">
            <a:normAutofit fontScale="62500" lnSpcReduction="20000"/>
          </a:bodyPr>
          <a:lstStyle/>
          <a:p>
            <a:pPr indent="-342900" lvl="0" marL="411480" rtl="0" algn="l">
              <a:spcBef>
                <a:spcPts val="0"/>
              </a:spcBef>
              <a:spcAft>
                <a:spcPts val="0"/>
              </a:spcAft>
              <a:buSzPct val="95000"/>
              <a:buNone/>
            </a:pPr>
            <a:r>
              <a:rPr b="1" lang="fr-FR" sz="4400">
                <a:solidFill>
                  <a:srgbClr val="FFC000"/>
                </a:solidFill>
              </a:rPr>
              <a:t>Symptomatologie  (</a:t>
            </a:r>
            <a:r>
              <a:rPr lang="fr-FR" sz="4400">
                <a:solidFill>
                  <a:srgbClr val="FFC000"/>
                </a:solidFill>
              </a:rPr>
              <a:t> le syndrome d’aspiration)</a:t>
            </a:r>
            <a:r>
              <a:rPr lang="fr-FR"/>
              <a:t> </a:t>
            </a:r>
            <a:endParaRPr/>
          </a:p>
          <a:p>
            <a:pPr indent="-342900" lvl="0" marL="411480" rtl="0" algn="l">
              <a:spcBef>
                <a:spcPts val="700"/>
              </a:spcBef>
              <a:spcAft>
                <a:spcPts val="0"/>
              </a:spcAft>
              <a:buSzPct val="95000"/>
              <a:buNone/>
            </a:pPr>
            <a:r>
              <a:rPr b="1" i="1" lang="fr-FR" sz="3200">
                <a:solidFill>
                  <a:srgbClr val="FFC000"/>
                </a:solidFill>
              </a:rPr>
              <a:t>Subjectif </a:t>
            </a:r>
            <a:endParaRPr b="1" sz="3200">
              <a:solidFill>
                <a:srgbClr val="FFC000"/>
              </a:solidFill>
            </a:endParaRPr>
          </a:p>
          <a:p>
            <a:pPr indent="-342900" lvl="0" marL="411480" rtl="0" algn="l">
              <a:spcBef>
                <a:spcPts val="700"/>
              </a:spcBef>
              <a:spcAft>
                <a:spcPts val="0"/>
              </a:spcAft>
              <a:buSzPct val="95000"/>
              <a:buNone/>
            </a:pPr>
            <a:r>
              <a:rPr lang="fr-FR"/>
              <a:t>~  dyspnée marquée </a:t>
            </a:r>
            <a:endParaRPr/>
          </a:p>
          <a:p>
            <a:pPr indent="-342900" lvl="0" marL="411480" rtl="0" algn="l">
              <a:spcBef>
                <a:spcPts val="700"/>
              </a:spcBef>
              <a:spcAft>
                <a:spcPts val="0"/>
              </a:spcAft>
              <a:buSzPct val="95000"/>
              <a:buNone/>
            </a:pPr>
            <a:r>
              <a:rPr lang="fr-FR"/>
              <a:t>~  toux </a:t>
            </a:r>
            <a:endParaRPr/>
          </a:p>
          <a:p>
            <a:pPr indent="-342900" lvl="0" marL="411480" rtl="0" algn="l">
              <a:spcBef>
                <a:spcPts val="700"/>
              </a:spcBef>
              <a:spcAft>
                <a:spcPts val="0"/>
              </a:spcAft>
              <a:buSzPct val="95000"/>
              <a:buNone/>
            </a:pPr>
            <a:r>
              <a:rPr lang="fr-FR"/>
              <a:t>~  cyanose de la face </a:t>
            </a:r>
            <a:endParaRPr/>
          </a:p>
          <a:p>
            <a:pPr indent="-342900" lvl="0" marL="411480" rtl="0" algn="l">
              <a:spcBef>
                <a:spcPts val="700"/>
              </a:spcBef>
              <a:spcAft>
                <a:spcPts val="0"/>
              </a:spcAft>
              <a:buSzPct val="95000"/>
              <a:buNone/>
            </a:pPr>
            <a:r>
              <a:rPr lang="fr-FR"/>
              <a:t>~  agitation</a:t>
            </a:r>
            <a:endParaRPr/>
          </a:p>
          <a:p>
            <a:pPr indent="-342900" lvl="0" marL="411480" rtl="0" algn="l">
              <a:spcBef>
                <a:spcPts val="700"/>
              </a:spcBef>
              <a:spcAft>
                <a:spcPts val="0"/>
              </a:spcAft>
              <a:buSzPct val="95000"/>
              <a:buNone/>
            </a:pPr>
            <a:r>
              <a:rPr lang="fr-FR"/>
              <a:t>∙    </a:t>
            </a:r>
            <a:r>
              <a:rPr i="1" lang="fr-FR" u="sng"/>
              <a:t>symptômes  brutale</a:t>
            </a:r>
            <a:r>
              <a:rPr lang="fr-FR"/>
              <a:t>, la mort en étant capables → produire immédiatement par l’asphyxie  / la syncope </a:t>
            </a:r>
            <a:endParaRPr/>
          </a:p>
          <a:p>
            <a:pPr indent="-342900" lvl="0" marL="411480" rtl="0" algn="l">
              <a:spcBef>
                <a:spcPts val="700"/>
              </a:spcBef>
              <a:spcAft>
                <a:spcPts val="0"/>
              </a:spcAft>
              <a:buSzPct val="95000"/>
              <a:buFont typeface="Noto Sans Symbols"/>
              <a:buChar char="∙"/>
            </a:pPr>
            <a:r>
              <a:rPr lang="fr-FR" u="sng"/>
              <a:t>gravité moyenne 20  - 30 min</a:t>
            </a:r>
            <a:r>
              <a:rPr lang="fr-FR"/>
              <a:t>., &gt; les symptômes améliorent </a:t>
            </a:r>
            <a:endParaRPr/>
          </a:p>
          <a:p>
            <a:pPr indent="-342900" lvl="0" marL="411480" rtl="0" algn="l">
              <a:spcBef>
                <a:spcPts val="700"/>
              </a:spcBef>
              <a:spcAft>
                <a:spcPts val="0"/>
              </a:spcAft>
              <a:buSzPct val="95000"/>
              <a:buNone/>
            </a:pPr>
            <a:r>
              <a:rPr lang="fr-FR"/>
              <a:t>       le signe de la fixation → peut se mobiliser à l’effort / mouvements de l’enfant</a:t>
            </a:r>
            <a:endParaRPr/>
          </a:p>
          <a:p>
            <a:pPr indent="-342900" lvl="0" marL="411480" rtl="0" algn="l">
              <a:spcBef>
                <a:spcPts val="700"/>
              </a:spcBef>
              <a:spcAft>
                <a:spcPts val="0"/>
              </a:spcAft>
              <a:buSzPct val="95000"/>
              <a:buFont typeface="Noto Sans Symbols"/>
              <a:buChar char="∙"/>
            </a:pPr>
            <a:r>
              <a:rPr i="1" lang="fr-FR" u="sng"/>
              <a:t>symptômes sont inaperçus par l’entourage</a:t>
            </a:r>
            <a:r>
              <a:rPr lang="fr-FR"/>
              <a:t>, le corps étranger s’enclave,</a:t>
            </a:r>
            <a:endParaRPr/>
          </a:p>
          <a:p>
            <a:pPr indent="-342900" lvl="0" marL="411480" rtl="0" algn="l">
              <a:spcBef>
                <a:spcPts val="700"/>
              </a:spcBef>
              <a:spcAft>
                <a:spcPts val="0"/>
              </a:spcAft>
              <a:buSzPct val="95000"/>
              <a:buNone/>
            </a:pPr>
            <a:r>
              <a:rPr lang="fr-FR"/>
              <a:t>       le patient sera dirigé erroné  → pédiatrie (complications)</a:t>
            </a:r>
            <a:endParaRPr/>
          </a:p>
          <a:p>
            <a:pPr indent="-342900" lvl="0" marL="411480" rtl="0" algn="l">
              <a:spcBef>
                <a:spcPts val="700"/>
              </a:spcBef>
              <a:spcAft>
                <a:spcPts val="0"/>
              </a:spcAft>
              <a:buSzPct val="95000"/>
              <a:buNone/>
            </a:pPr>
            <a:r>
              <a:rPr b="1" i="1" lang="fr-FR">
                <a:solidFill>
                  <a:srgbClr val="FFC000"/>
                </a:solidFill>
              </a:rPr>
              <a:t>Objectif </a:t>
            </a:r>
            <a:endParaRPr b="1">
              <a:solidFill>
                <a:srgbClr val="FFC000"/>
              </a:solidFill>
            </a:endParaRPr>
          </a:p>
          <a:p>
            <a:pPr indent="-342900" lvl="0" marL="411480" rtl="0" algn="l">
              <a:spcBef>
                <a:spcPts val="700"/>
              </a:spcBef>
              <a:spcAft>
                <a:spcPts val="0"/>
              </a:spcAft>
              <a:buSzPct val="95000"/>
              <a:buChar char="▪"/>
            </a:pPr>
            <a:r>
              <a:rPr lang="fr-FR"/>
              <a:t>- àl’inspection – des mouvements thoraciques asymétriques.</a:t>
            </a:r>
            <a:endParaRPr/>
          </a:p>
          <a:p>
            <a:pPr indent="-342900" lvl="0" marL="411480" rtl="0" algn="l">
              <a:spcBef>
                <a:spcPts val="700"/>
              </a:spcBef>
              <a:spcAft>
                <a:spcPts val="0"/>
              </a:spcAft>
              <a:buSzPct val="95000"/>
              <a:buChar char="▪"/>
            </a:pPr>
            <a:r>
              <a:rPr lang="fr-FR"/>
              <a:t>- à l’auscultation - diminution du murmure vésiculaire sur le lobe de poumon touché ou une respiration calme ;</a:t>
            </a:r>
            <a:endParaRPr/>
          </a:p>
          <a:p>
            <a:pPr indent="-342900" lvl="0" marL="411480" rtl="0" algn="l">
              <a:spcBef>
                <a:spcPts val="700"/>
              </a:spcBef>
              <a:spcAft>
                <a:spcPts val="0"/>
              </a:spcAft>
              <a:buSzPct val="95000"/>
              <a:buChar char="▪"/>
            </a:pPr>
            <a:r>
              <a:rPr lang="fr-FR"/>
              <a:t>- bruit caractéristique semblable au flottement d’un drapeau dans le vent ;</a:t>
            </a:r>
            <a:endParaRPr/>
          </a:p>
          <a:p>
            <a:pPr indent="-342900" lvl="0" marL="411480" rtl="0" algn="l">
              <a:spcBef>
                <a:spcPts val="700"/>
              </a:spcBef>
              <a:spcAft>
                <a:spcPts val="0"/>
              </a:spcAft>
              <a:buSzPct val="95000"/>
              <a:buChar char="▪"/>
            </a:pPr>
            <a:r>
              <a:rPr lang="fr-FR"/>
              <a:t>- bruit rythmique inspiratoire / expiratoire - le corps étranger est flottant dans la trachée</a:t>
            </a:r>
            <a:br>
              <a:rPr lang="fr-FR"/>
            </a:b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3"/>
          <p:cNvSpPr txBox="1"/>
          <p:nvPr>
            <p:ph type="title"/>
          </p:nvPr>
        </p:nvSpPr>
        <p:spPr>
          <a:xfrm>
            <a:off x="304800" y="381000"/>
            <a:ext cx="8839200" cy="1295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CORPS  ÉTRANGERS  TRACHÉO - BRONCHIQUES</a:t>
            </a:r>
            <a:endParaRPr sz="3200">
              <a:latin typeface="Corbel"/>
              <a:ea typeface="Corbel"/>
              <a:cs typeface="Corbel"/>
              <a:sym typeface="Corbel"/>
            </a:endParaRPr>
          </a:p>
        </p:txBody>
      </p:sp>
      <p:sp>
        <p:nvSpPr>
          <p:cNvPr id="237" name="Google Shape;237;p13"/>
          <p:cNvSpPr txBox="1"/>
          <p:nvPr>
            <p:ph idx="1" type="body"/>
          </p:nvPr>
        </p:nvSpPr>
        <p:spPr>
          <a:xfrm>
            <a:off x="304800" y="1219200"/>
            <a:ext cx="9372600" cy="5791200"/>
          </a:xfrm>
          <a:prstGeom prst="rect">
            <a:avLst/>
          </a:prstGeom>
          <a:noFill/>
          <a:ln>
            <a:noFill/>
          </a:ln>
        </p:spPr>
        <p:txBody>
          <a:bodyPr anchorCtr="0" anchor="t" bIns="45700" lIns="91425" spcFirstLastPara="1" rIns="91425" wrap="square" tIns="45700">
            <a:normAutofit/>
          </a:bodyPr>
          <a:lstStyle/>
          <a:p>
            <a:pPr indent="-342900" lvl="0" marL="411480" rtl="0" algn="l">
              <a:spcBef>
                <a:spcPts val="0"/>
              </a:spcBef>
              <a:spcAft>
                <a:spcPts val="0"/>
              </a:spcAft>
              <a:buSzPts val="2280"/>
              <a:buNone/>
            </a:pPr>
            <a:r>
              <a:rPr b="1" lang="fr-FR" sz="2400">
                <a:solidFill>
                  <a:srgbClr val="FFC000"/>
                </a:solidFill>
              </a:rPr>
              <a:t>Examen radiologique</a:t>
            </a:r>
            <a:r>
              <a:rPr lang="fr-FR" sz="2400"/>
              <a:t> </a:t>
            </a:r>
            <a:r>
              <a:rPr lang="fr-FR" sz="2000"/>
              <a:t>	</a:t>
            </a:r>
            <a:endParaRPr sz="2000"/>
          </a:p>
          <a:p>
            <a:pPr indent="-342900" lvl="0" marL="411480" rtl="0" algn="l">
              <a:spcBef>
                <a:spcPts val="700"/>
              </a:spcBef>
              <a:spcAft>
                <a:spcPts val="0"/>
              </a:spcAft>
              <a:buSzPts val="1900"/>
              <a:buNone/>
            </a:pPr>
            <a:r>
              <a:rPr lang="fr-FR" sz="2000"/>
              <a:t> mise en évidence des corps étrangers radios opaques - 8 % des cas  </a:t>
            </a:r>
            <a:endParaRPr/>
          </a:p>
          <a:p>
            <a:pPr indent="-342900" lvl="0" marL="411480" rtl="0" algn="l">
              <a:spcBef>
                <a:spcPts val="700"/>
              </a:spcBef>
              <a:spcAft>
                <a:spcPts val="0"/>
              </a:spcAft>
              <a:buSzPts val="1900"/>
              <a:buNone/>
            </a:pPr>
            <a:r>
              <a:rPr lang="fr-FR" sz="2000"/>
              <a:t> balance du médiastin lors de la respiration</a:t>
            </a:r>
            <a:endParaRPr/>
          </a:p>
          <a:p>
            <a:pPr indent="-342900" lvl="0" marL="411480" rtl="0" algn="l">
              <a:spcBef>
                <a:spcPts val="700"/>
              </a:spcBef>
              <a:spcAft>
                <a:spcPts val="0"/>
              </a:spcAft>
              <a:buSzPts val="1900"/>
              <a:buNone/>
            </a:pPr>
            <a:r>
              <a:rPr lang="fr-FR" sz="2000"/>
              <a:t> atélectasie d’un lobe du poumon </a:t>
            </a:r>
            <a:endParaRPr/>
          </a:p>
          <a:p>
            <a:pPr indent="-342900" lvl="0" marL="411480" rtl="0" algn="l">
              <a:spcBef>
                <a:spcPts val="700"/>
              </a:spcBef>
              <a:spcAft>
                <a:spcPts val="0"/>
              </a:spcAft>
              <a:buSzPts val="1900"/>
              <a:buNone/>
            </a:pPr>
            <a:r>
              <a:rPr lang="fr-FR" sz="2000"/>
              <a:t> signes de pneumonie</a:t>
            </a:r>
            <a:endParaRPr sz="2000"/>
          </a:p>
          <a:p>
            <a:pPr indent="-342900" lvl="0" marL="411480" rtl="0" algn="l">
              <a:spcBef>
                <a:spcPts val="700"/>
              </a:spcBef>
              <a:spcAft>
                <a:spcPts val="0"/>
              </a:spcAft>
              <a:buSzPts val="2280"/>
              <a:buNone/>
            </a:pPr>
            <a:r>
              <a:rPr b="1" lang="fr-FR" sz="2400">
                <a:solidFill>
                  <a:srgbClr val="FFC000"/>
                </a:solidFill>
              </a:rPr>
              <a:t>Diagnostic positif</a:t>
            </a:r>
            <a:r>
              <a:rPr b="1" lang="fr-FR" sz="2400"/>
              <a:t> </a:t>
            </a:r>
            <a:endParaRPr sz="2400"/>
          </a:p>
          <a:p>
            <a:pPr indent="-342900" lvl="0" marL="411480" rtl="0" algn="l">
              <a:spcBef>
                <a:spcPts val="700"/>
              </a:spcBef>
              <a:spcAft>
                <a:spcPts val="0"/>
              </a:spcAft>
              <a:buSzPts val="1900"/>
              <a:buNone/>
            </a:pPr>
            <a:r>
              <a:rPr lang="fr-FR" sz="2000"/>
              <a:t> anamnèse (s.d’aspiration)  + ex.clinique  + ex. radiologique + bronchoscopie</a:t>
            </a:r>
            <a:endParaRPr sz="2000"/>
          </a:p>
          <a:p>
            <a:pPr indent="-342900" lvl="0" marL="411480" rtl="0" algn="l">
              <a:spcBef>
                <a:spcPts val="700"/>
              </a:spcBef>
              <a:spcAft>
                <a:spcPts val="0"/>
              </a:spcAft>
              <a:buSzPts val="2280"/>
              <a:buNone/>
            </a:pPr>
            <a:r>
              <a:rPr b="1" lang="fr-FR" sz="2400">
                <a:solidFill>
                  <a:srgbClr val="FFC000"/>
                </a:solidFill>
              </a:rPr>
              <a:t>Traitement</a:t>
            </a:r>
            <a:r>
              <a:rPr b="1" lang="fr-FR" sz="2400"/>
              <a:t> </a:t>
            </a:r>
            <a:endParaRPr sz="2400"/>
          </a:p>
          <a:p>
            <a:pPr indent="-342900" lvl="0" marL="411480" rtl="0" algn="l">
              <a:spcBef>
                <a:spcPts val="700"/>
              </a:spcBef>
              <a:spcAft>
                <a:spcPts val="0"/>
              </a:spcAft>
              <a:buSzPts val="1900"/>
              <a:buNone/>
            </a:pPr>
            <a:r>
              <a:rPr lang="fr-FR" sz="2000"/>
              <a:t>trachéo-bronchoscopie→  extraction d’un corps étranger sous contrôle visuel</a:t>
            </a:r>
            <a:endParaRPr/>
          </a:p>
          <a:p>
            <a:pPr indent="-342900" lvl="0" marL="411480" rtl="0" algn="l">
              <a:spcBef>
                <a:spcPts val="700"/>
              </a:spcBef>
              <a:spcAft>
                <a:spcPts val="0"/>
              </a:spcAft>
              <a:buSzPts val="1900"/>
              <a:buNone/>
            </a:pPr>
            <a:r>
              <a:rPr lang="fr-FR" sz="2000"/>
              <a:t>une pince spéciale </a:t>
            </a:r>
            <a:endParaRPr sz="2000"/>
          </a:p>
          <a:p>
            <a:pPr indent="-161925" lvl="0" marL="411480" rtl="0" algn="l">
              <a:spcBef>
                <a:spcPts val="700"/>
              </a:spcBef>
              <a:spcAft>
                <a:spcPts val="0"/>
              </a:spcAft>
              <a:buSzPts val="285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4"/>
          <p:cNvSpPr txBox="1"/>
          <p:nvPr>
            <p:ph type="title"/>
          </p:nvPr>
        </p:nvSpPr>
        <p:spPr>
          <a:xfrm>
            <a:off x="457200" y="228600"/>
            <a:ext cx="8686800" cy="838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CORPS  ÉTRANGERS  TRACHÉO - BRONCHIQUES</a:t>
            </a:r>
            <a:endParaRPr sz="3200">
              <a:latin typeface="Corbel"/>
              <a:ea typeface="Corbel"/>
              <a:cs typeface="Corbel"/>
              <a:sym typeface="Corbel"/>
            </a:endParaRPr>
          </a:p>
        </p:txBody>
      </p:sp>
      <p:sp>
        <p:nvSpPr>
          <p:cNvPr id="243" name="Google Shape;243;p14"/>
          <p:cNvSpPr/>
          <p:nvPr/>
        </p:nvSpPr>
        <p:spPr>
          <a:xfrm>
            <a:off x="4648200" y="6400800"/>
            <a:ext cx="44958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1" lang="fr-FR" sz="2000" u="none" cap="none" strike="noStrike">
                <a:solidFill>
                  <a:srgbClr val="FF3300"/>
                </a:solidFill>
                <a:latin typeface="Times New Roman"/>
                <a:ea typeface="Times New Roman"/>
                <a:cs typeface="Times New Roman"/>
                <a:sym typeface="Times New Roman"/>
              </a:rPr>
              <a:t>ENT Department Timisoara</a:t>
            </a:r>
            <a:endParaRPr/>
          </a:p>
        </p:txBody>
      </p:sp>
      <p:pic>
        <p:nvPicPr>
          <p:cNvPr descr="Radiografie" id="244" name="Google Shape;244;p14"/>
          <p:cNvPicPr preferRelativeResize="0"/>
          <p:nvPr>
            <p:ph idx="1" type="body"/>
          </p:nvPr>
        </p:nvPicPr>
        <p:blipFill rotWithShape="1">
          <a:blip r:embed="rId3">
            <a:alphaModFix/>
          </a:blip>
          <a:srcRect b="0" l="0" r="0" t="0"/>
          <a:stretch/>
        </p:blipFill>
        <p:spPr>
          <a:xfrm>
            <a:off x="609600" y="990600"/>
            <a:ext cx="4191001" cy="3038475"/>
          </a:xfrm>
          <a:prstGeom prst="rect">
            <a:avLst/>
          </a:prstGeom>
          <a:noFill/>
          <a:ln>
            <a:noFill/>
          </a:ln>
        </p:spPr>
      </p:pic>
      <p:pic>
        <p:nvPicPr>
          <p:cNvPr id="245" name="Google Shape;245;p14"/>
          <p:cNvPicPr preferRelativeResize="0"/>
          <p:nvPr/>
        </p:nvPicPr>
        <p:blipFill rotWithShape="1">
          <a:blip r:embed="rId4">
            <a:alphaModFix/>
          </a:blip>
          <a:srcRect b="0" l="0" r="0" t="0"/>
          <a:stretch/>
        </p:blipFill>
        <p:spPr>
          <a:xfrm>
            <a:off x="5410200" y="1066800"/>
            <a:ext cx="3429000" cy="2238796"/>
          </a:xfrm>
          <a:prstGeom prst="rect">
            <a:avLst/>
          </a:prstGeom>
          <a:noFill/>
          <a:ln>
            <a:noFill/>
          </a:ln>
        </p:spPr>
      </p:pic>
      <p:pic>
        <p:nvPicPr>
          <p:cNvPr id="246" name="Google Shape;246;p14"/>
          <p:cNvPicPr preferRelativeResize="0"/>
          <p:nvPr/>
        </p:nvPicPr>
        <p:blipFill rotWithShape="1">
          <a:blip r:embed="rId5">
            <a:alphaModFix/>
          </a:blip>
          <a:srcRect b="0" l="0" r="0" t="0"/>
          <a:stretch/>
        </p:blipFill>
        <p:spPr>
          <a:xfrm>
            <a:off x="914400" y="4114800"/>
            <a:ext cx="3505200" cy="2590800"/>
          </a:xfrm>
          <a:prstGeom prst="rect">
            <a:avLst/>
          </a:prstGeom>
          <a:noFill/>
          <a:ln>
            <a:noFill/>
          </a:ln>
        </p:spPr>
      </p:pic>
      <p:pic>
        <p:nvPicPr>
          <p:cNvPr id="247" name="Google Shape;247;p14"/>
          <p:cNvPicPr preferRelativeResize="0"/>
          <p:nvPr/>
        </p:nvPicPr>
        <p:blipFill rotWithShape="1">
          <a:blip r:embed="rId6">
            <a:alphaModFix/>
          </a:blip>
          <a:srcRect b="0" l="0" r="0" t="0"/>
          <a:stretch/>
        </p:blipFill>
        <p:spPr>
          <a:xfrm>
            <a:off x="5410200" y="4033880"/>
            <a:ext cx="3581400" cy="263058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5000"/>
                                        <p:tgtEl>
                                          <p:spTgt spid="245"/>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5000"/>
                                        <p:tgtEl>
                                          <p:spTgt spid="246"/>
                                        </p:tgtEl>
                                      </p:cBhvr>
                                    </p:animEffect>
                                  </p:childTnLst>
                                </p:cTn>
                              </p:par>
                            </p:childTnLst>
                          </p:cTn>
                        </p:par>
                        <p:par>
                          <p:cTn fill="hold">
                            <p:stCondLst>
                              <p:cond delay="10000"/>
                            </p:stCondLst>
                            <p:childTnLst>
                              <p:par>
                                <p:cTn fill="hold" nodeType="after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0"/>
                                        <p:tgtEl>
                                          <p:spTgt spid="2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5"/>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FF66"/>
              </a:buClr>
              <a:buSzPts val="4000"/>
              <a:buFont typeface="Times New Roman"/>
              <a:buNone/>
            </a:pPr>
            <a:r>
              <a:rPr b="1" lang="fr-FR">
                <a:solidFill>
                  <a:srgbClr val="FFFF66"/>
                </a:solidFill>
                <a:latin typeface="Times New Roman"/>
                <a:ea typeface="Times New Roman"/>
                <a:cs typeface="Times New Roman"/>
                <a:sym typeface="Times New Roman"/>
              </a:rPr>
              <a:t>Necessary equipment</a:t>
            </a:r>
            <a:endParaRPr/>
          </a:p>
        </p:txBody>
      </p:sp>
      <p:sp>
        <p:nvSpPr>
          <p:cNvPr id="253" name="Google Shape;253;p15"/>
          <p:cNvSpPr/>
          <p:nvPr/>
        </p:nvSpPr>
        <p:spPr>
          <a:xfrm>
            <a:off x="4648200" y="6400800"/>
            <a:ext cx="44958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1" lang="fr-FR" sz="2000" u="none" cap="none" strike="noStrike">
                <a:solidFill>
                  <a:srgbClr val="FF3300"/>
                </a:solidFill>
                <a:latin typeface="Times New Roman"/>
                <a:ea typeface="Times New Roman"/>
                <a:cs typeface="Times New Roman"/>
                <a:sym typeface="Times New Roman"/>
              </a:rPr>
              <a:t>ENT Department Timisoara</a:t>
            </a:r>
            <a:endParaRPr/>
          </a:p>
        </p:txBody>
      </p:sp>
      <p:pic>
        <p:nvPicPr>
          <p:cNvPr descr="Echip2" id="254" name="Google Shape;254;p15"/>
          <p:cNvPicPr preferRelativeResize="0"/>
          <p:nvPr>
            <p:ph idx="1" type="body"/>
          </p:nvPr>
        </p:nvPicPr>
        <p:blipFill rotWithShape="1">
          <a:blip r:embed="rId3">
            <a:alphaModFix/>
          </a:blip>
          <a:srcRect b="0" l="0" r="0" t="0"/>
          <a:stretch/>
        </p:blipFill>
        <p:spPr>
          <a:xfrm>
            <a:off x="685800" y="1304925"/>
            <a:ext cx="7772400" cy="511651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6"/>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FF66"/>
              </a:buClr>
              <a:buSzPts val="4000"/>
              <a:buFont typeface="Times New Roman"/>
              <a:buNone/>
            </a:pPr>
            <a:r>
              <a:rPr b="1" lang="fr-FR">
                <a:solidFill>
                  <a:srgbClr val="FFFF66"/>
                </a:solidFill>
                <a:latin typeface="Times New Roman"/>
                <a:ea typeface="Times New Roman"/>
                <a:cs typeface="Times New Roman"/>
                <a:sym typeface="Times New Roman"/>
              </a:rPr>
              <a:t>Necessary equipment</a:t>
            </a:r>
            <a:endParaRPr/>
          </a:p>
        </p:txBody>
      </p:sp>
      <p:sp>
        <p:nvSpPr>
          <p:cNvPr id="260" name="Google Shape;260;p16"/>
          <p:cNvSpPr/>
          <p:nvPr/>
        </p:nvSpPr>
        <p:spPr>
          <a:xfrm>
            <a:off x="4648200" y="6400800"/>
            <a:ext cx="44958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1" lang="fr-FR" sz="2000" u="none" cap="none" strike="noStrike">
                <a:solidFill>
                  <a:srgbClr val="FF3300"/>
                </a:solidFill>
                <a:latin typeface="Times New Roman"/>
                <a:ea typeface="Times New Roman"/>
                <a:cs typeface="Times New Roman"/>
                <a:sym typeface="Times New Roman"/>
              </a:rPr>
              <a:t>ENT Department Timisoara</a:t>
            </a:r>
            <a:endParaRPr/>
          </a:p>
        </p:txBody>
      </p:sp>
      <p:pic>
        <p:nvPicPr>
          <p:cNvPr descr="Echip3" id="261" name="Google Shape;261;p16"/>
          <p:cNvPicPr preferRelativeResize="0"/>
          <p:nvPr>
            <p:ph idx="1" type="body"/>
          </p:nvPr>
        </p:nvPicPr>
        <p:blipFill rotWithShape="1">
          <a:blip r:embed="rId3">
            <a:alphaModFix/>
          </a:blip>
          <a:srcRect b="0" l="0" r="0" t="0"/>
          <a:stretch/>
        </p:blipFill>
        <p:spPr>
          <a:xfrm>
            <a:off x="457200" y="1304925"/>
            <a:ext cx="8153400" cy="5118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7"/>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FF66"/>
              </a:buClr>
              <a:buSzPts val="4000"/>
              <a:buFont typeface="Times New Roman"/>
              <a:buNone/>
            </a:pPr>
            <a:r>
              <a:rPr b="1" lang="fr-FR">
                <a:solidFill>
                  <a:srgbClr val="FFFF66"/>
                </a:solidFill>
                <a:latin typeface="Times New Roman"/>
                <a:ea typeface="Times New Roman"/>
                <a:cs typeface="Times New Roman"/>
                <a:sym typeface="Times New Roman"/>
              </a:rPr>
              <a:t>Necessary equipment</a:t>
            </a:r>
            <a:endParaRPr/>
          </a:p>
        </p:txBody>
      </p:sp>
      <p:sp>
        <p:nvSpPr>
          <p:cNvPr id="267" name="Google Shape;267;p17"/>
          <p:cNvSpPr/>
          <p:nvPr/>
        </p:nvSpPr>
        <p:spPr>
          <a:xfrm>
            <a:off x="4648200" y="6400800"/>
            <a:ext cx="44958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1" lang="fr-FR" sz="2000" u="none" cap="none" strike="noStrike">
                <a:solidFill>
                  <a:srgbClr val="FF3300"/>
                </a:solidFill>
                <a:latin typeface="Times New Roman"/>
                <a:ea typeface="Times New Roman"/>
                <a:cs typeface="Times New Roman"/>
                <a:sym typeface="Times New Roman"/>
              </a:rPr>
              <a:t>ENT Department Timisoara</a:t>
            </a:r>
            <a:endParaRPr/>
          </a:p>
        </p:txBody>
      </p:sp>
      <p:pic>
        <p:nvPicPr>
          <p:cNvPr descr="Echip4" id="268" name="Google Shape;268;p17"/>
          <p:cNvPicPr preferRelativeResize="0"/>
          <p:nvPr>
            <p:ph idx="1" type="body"/>
          </p:nvPr>
        </p:nvPicPr>
        <p:blipFill rotWithShape="1">
          <a:blip r:embed="rId3">
            <a:alphaModFix/>
          </a:blip>
          <a:srcRect b="0" l="0" r="0" t="0"/>
          <a:stretch/>
        </p:blipFill>
        <p:spPr>
          <a:xfrm>
            <a:off x="609600" y="1304925"/>
            <a:ext cx="7924800" cy="505618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8"/>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FF66"/>
              </a:buClr>
              <a:buSzPts val="4000"/>
              <a:buFont typeface="Times New Roman"/>
              <a:buNone/>
            </a:pPr>
            <a:r>
              <a:rPr b="1" lang="fr-FR">
                <a:solidFill>
                  <a:srgbClr val="FFFF66"/>
                </a:solidFill>
                <a:latin typeface="Times New Roman"/>
                <a:ea typeface="Times New Roman"/>
                <a:cs typeface="Times New Roman"/>
                <a:sym typeface="Times New Roman"/>
              </a:rPr>
              <a:t>Necessary equipment</a:t>
            </a:r>
            <a:endParaRPr/>
          </a:p>
        </p:txBody>
      </p:sp>
      <p:sp>
        <p:nvSpPr>
          <p:cNvPr id="274" name="Google Shape;274;p18"/>
          <p:cNvSpPr/>
          <p:nvPr/>
        </p:nvSpPr>
        <p:spPr>
          <a:xfrm>
            <a:off x="4648200" y="6400800"/>
            <a:ext cx="44958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1" lang="fr-FR" sz="2000" u="none" cap="none" strike="noStrike">
                <a:solidFill>
                  <a:srgbClr val="FF3300"/>
                </a:solidFill>
                <a:latin typeface="Times New Roman"/>
                <a:ea typeface="Times New Roman"/>
                <a:cs typeface="Times New Roman"/>
                <a:sym typeface="Times New Roman"/>
              </a:rPr>
              <a:t>ENT Department Timisoara</a:t>
            </a:r>
            <a:endParaRPr/>
          </a:p>
        </p:txBody>
      </p:sp>
      <p:pic>
        <p:nvPicPr>
          <p:cNvPr descr="Echip5" id="275" name="Google Shape;275;p18"/>
          <p:cNvPicPr preferRelativeResize="0"/>
          <p:nvPr>
            <p:ph idx="1" type="body"/>
          </p:nvPr>
        </p:nvPicPr>
        <p:blipFill rotWithShape="1">
          <a:blip r:embed="rId3">
            <a:alphaModFix/>
          </a:blip>
          <a:srcRect b="0" l="0" r="0" t="0"/>
          <a:stretch/>
        </p:blipFill>
        <p:spPr>
          <a:xfrm>
            <a:off x="533400" y="1304925"/>
            <a:ext cx="8153400" cy="505936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9"/>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OESOPHAGOLOGIE</a:t>
            </a:r>
            <a:br>
              <a:rPr lang="fr-FR"/>
            </a:br>
            <a:endParaRPr/>
          </a:p>
        </p:txBody>
      </p:sp>
      <p:pic>
        <p:nvPicPr>
          <p:cNvPr descr="C:\Users\Alex\Desktop\Esophagus01.jpg" id="281" name="Google Shape;281;p19"/>
          <p:cNvPicPr preferRelativeResize="0"/>
          <p:nvPr/>
        </p:nvPicPr>
        <p:blipFill rotWithShape="1">
          <a:blip r:embed="rId3">
            <a:alphaModFix/>
          </a:blip>
          <a:srcRect b="0" l="0" r="0" t="0"/>
          <a:stretch/>
        </p:blipFill>
        <p:spPr>
          <a:xfrm>
            <a:off x="1752600" y="1488845"/>
            <a:ext cx="5562600" cy="507864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0"/>
          <p:cNvSpPr txBox="1"/>
          <p:nvPr>
            <p:ph type="title"/>
          </p:nvPr>
        </p:nvSpPr>
        <p:spPr>
          <a:xfrm>
            <a:off x="457200" y="228600"/>
            <a:ext cx="8229600" cy="119786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ANATOMIE DE L’ŒSOPHAGE</a:t>
            </a:r>
            <a:br>
              <a:rPr lang="fr-FR"/>
            </a:br>
            <a:endParaRPr/>
          </a:p>
        </p:txBody>
      </p:sp>
      <p:sp>
        <p:nvSpPr>
          <p:cNvPr id="287" name="Google Shape;287;p20"/>
          <p:cNvSpPr txBox="1"/>
          <p:nvPr>
            <p:ph idx="1" type="body"/>
          </p:nvPr>
        </p:nvSpPr>
        <p:spPr>
          <a:xfrm>
            <a:off x="304800" y="1295400"/>
            <a:ext cx="9144000" cy="5060160"/>
          </a:xfrm>
          <a:prstGeom prst="rect">
            <a:avLst/>
          </a:prstGeom>
          <a:noFill/>
          <a:ln>
            <a:noFill/>
          </a:ln>
        </p:spPr>
        <p:txBody>
          <a:bodyPr anchorCtr="0" anchor="t" bIns="45700" lIns="91425" spcFirstLastPara="1" rIns="91425" wrap="square" tIns="45700">
            <a:normAutofit/>
          </a:bodyPr>
          <a:lstStyle/>
          <a:p>
            <a:pPr indent="-342900" lvl="0" marL="411480" rtl="0" algn="l">
              <a:spcBef>
                <a:spcPts val="0"/>
              </a:spcBef>
              <a:spcAft>
                <a:spcPts val="0"/>
              </a:spcAft>
              <a:buSzPts val="1900"/>
              <a:buNone/>
            </a:pPr>
            <a:r>
              <a:rPr lang="fr-FR" sz="2000"/>
              <a:t> un organe tubulaire qui relie la gorge et l’estomac</a:t>
            </a:r>
            <a:endParaRPr sz="2000"/>
          </a:p>
          <a:p>
            <a:pPr indent="-342900" lvl="0" marL="411480" rtl="0" algn="l">
              <a:spcBef>
                <a:spcPts val="700"/>
              </a:spcBef>
              <a:spcAft>
                <a:spcPts val="0"/>
              </a:spcAft>
              <a:buSzPts val="1900"/>
              <a:buNone/>
            </a:pPr>
            <a:r>
              <a:rPr lang="fr-FR" sz="2000"/>
              <a:t>   • longueur totale  - adultes 25  - 28 cm  /  enfants  18  - 20 cm</a:t>
            </a:r>
            <a:endParaRPr/>
          </a:p>
          <a:p>
            <a:pPr indent="-342900" lvl="0" marL="411480" rtl="0" algn="l">
              <a:spcBef>
                <a:spcPts val="700"/>
              </a:spcBef>
              <a:spcAft>
                <a:spcPts val="0"/>
              </a:spcAft>
              <a:buSzPts val="1900"/>
              <a:buNone/>
            </a:pPr>
            <a:r>
              <a:rPr lang="fr-FR" sz="2000"/>
              <a:t>      la bouche de l’œsophage - au niveau C6, à environ 15 cm des incisives supérieures  </a:t>
            </a:r>
            <a:endParaRPr/>
          </a:p>
          <a:p>
            <a:pPr indent="-342900" lvl="0" marL="411480" rtl="0" algn="l">
              <a:spcBef>
                <a:spcPts val="700"/>
              </a:spcBef>
              <a:spcAft>
                <a:spcPts val="0"/>
              </a:spcAft>
              <a:buSzPts val="1900"/>
              <a:buNone/>
            </a:pPr>
            <a:r>
              <a:rPr lang="fr-FR" sz="2000"/>
              <a:t>      cardia  - au niveau  (D11), à environ 41 cm de la de l’arcade dentaire supérieure</a:t>
            </a:r>
            <a:endParaRPr sz="2000"/>
          </a:p>
          <a:p>
            <a:pPr indent="-342900" lvl="0" marL="411480" rtl="0" algn="l">
              <a:spcBef>
                <a:spcPts val="700"/>
              </a:spcBef>
              <a:spcAft>
                <a:spcPts val="0"/>
              </a:spcAft>
              <a:buSzPts val="1900"/>
              <a:buNone/>
            </a:pPr>
            <a:r>
              <a:rPr lang="fr-FR" sz="2000"/>
              <a:t>   ∙ le calibre 19 -22 mm</a:t>
            </a:r>
            <a:endParaRPr sz="2000"/>
          </a:p>
          <a:p>
            <a:pPr indent="-342900" lvl="0" marL="411480" rtl="0" algn="l">
              <a:spcBef>
                <a:spcPts val="700"/>
              </a:spcBef>
              <a:spcAft>
                <a:spcPts val="0"/>
              </a:spcAft>
              <a:buSzPts val="1900"/>
              <a:buNone/>
            </a:pPr>
            <a:r>
              <a:rPr lang="fr-FR" sz="2000"/>
              <a:t>    </a:t>
            </a:r>
            <a:r>
              <a:rPr b="1" i="1" lang="fr-FR" sz="2000">
                <a:solidFill>
                  <a:srgbClr val="FFC000"/>
                </a:solidFill>
              </a:rPr>
              <a:t>3 détroits physiologiques </a:t>
            </a:r>
            <a:endParaRPr b="1" i="1" sz="2000">
              <a:solidFill>
                <a:srgbClr val="FFC000"/>
              </a:solidFill>
            </a:endParaRPr>
          </a:p>
          <a:p>
            <a:pPr indent="-342900" lvl="0" marL="411480" rtl="0" algn="l">
              <a:spcBef>
                <a:spcPts val="700"/>
              </a:spcBef>
              <a:spcAft>
                <a:spcPts val="0"/>
              </a:spcAft>
              <a:buSzPts val="1900"/>
              <a:buNone/>
            </a:pPr>
            <a:r>
              <a:rPr lang="fr-FR" sz="2000"/>
              <a:t>   ∙ </a:t>
            </a:r>
            <a:r>
              <a:rPr b="1" lang="fr-FR" sz="2000"/>
              <a:t>le détroit supérieur ou crico-pharyngé  - </a:t>
            </a:r>
            <a:r>
              <a:rPr lang="fr-FR" sz="2000"/>
              <a:t>au niveau de C6 et au </a:t>
            </a:r>
            <a:endParaRPr/>
          </a:p>
          <a:p>
            <a:pPr indent="-342900" lvl="0" marL="411480" rtl="0" algn="l">
              <a:spcBef>
                <a:spcPts val="700"/>
              </a:spcBef>
              <a:spcAft>
                <a:spcPts val="0"/>
              </a:spcAft>
              <a:buSzPts val="1900"/>
              <a:buNone/>
            </a:pPr>
            <a:r>
              <a:rPr lang="fr-FR" sz="2000"/>
              <a:t>       14-16 cm de l’arcade dentaire </a:t>
            </a:r>
            <a:endParaRPr sz="2000"/>
          </a:p>
          <a:p>
            <a:pPr indent="-342900" lvl="0" marL="411480" rtl="0" algn="l">
              <a:spcBef>
                <a:spcPts val="700"/>
              </a:spcBef>
              <a:spcAft>
                <a:spcPts val="0"/>
              </a:spcAft>
              <a:buSzPts val="1900"/>
              <a:buNone/>
            </a:pPr>
            <a:r>
              <a:rPr b="1" lang="fr-FR" sz="2000">
                <a:solidFill>
                  <a:srgbClr val="FFC000"/>
                </a:solidFill>
              </a:rPr>
              <a:t>   ∙ le detroit  milieu - broncho-aortique </a:t>
            </a:r>
            <a:r>
              <a:rPr lang="fr-FR" sz="2000"/>
              <a:t>-  au 27 cm de l’ arcades dentaire </a:t>
            </a:r>
            <a:endParaRPr/>
          </a:p>
          <a:p>
            <a:pPr indent="-342900" lvl="0" marL="411480" rtl="0" algn="l">
              <a:spcBef>
                <a:spcPts val="700"/>
              </a:spcBef>
              <a:spcAft>
                <a:spcPts val="0"/>
              </a:spcAft>
              <a:buSzPts val="1900"/>
              <a:buNone/>
            </a:pPr>
            <a:r>
              <a:rPr lang="fr-FR" sz="2000"/>
              <a:t>     au niveau du croisement de la crosse aortique avec la bifurcation de la trachée </a:t>
            </a:r>
            <a:endParaRPr sz="2000"/>
          </a:p>
          <a:p>
            <a:pPr indent="-342900" lvl="0" marL="411480" rtl="0" algn="l">
              <a:spcBef>
                <a:spcPts val="700"/>
              </a:spcBef>
              <a:spcAft>
                <a:spcPts val="0"/>
              </a:spcAft>
              <a:buSzPts val="1900"/>
              <a:buNone/>
            </a:pPr>
            <a:r>
              <a:rPr b="1" lang="fr-FR" sz="2000"/>
              <a:t>   </a:t>
            </a:r>
            <a:r>
              <a:rPr b="1" lang="fr-FR" sz="2000">
                <a:solidFill>
                  <a:srgbClr val="FFC000"/>
                </a:solidFill>
              </a:rPr>
              <a:t>∙  le détroit inférieur - diaphragmatique </a:t>
            </a:r>
            <a:r>
              <a:rPr lang="fr-FR" sz="2000"/>
              <a:t>- au niveau du diaphragme  (cardia) </a:t>
            </a:r>
            <a:endParaRPr/>
          </a:p>
          <a:p>
            <a:pPr indent="-342900" lvl="0" marL="411480" rtl="0" algn="l">
              <a:spcBef>
                <a:spcPts val="700"/>
              </a:spcBef>
              <a:spcAft>
                <a:spcPts val="0"/>
              </a:spcAft>
              <a:buSzPts val="1900"/>
              <a:buNone/>
            </a:pPr>
            <a:r>
              <a:rPr lang="fr-FR" sz="2000"/>
              <a:t>      à environ 40-42 cm de l’arcade dentaire</a:t>
            </a:r>
            <a:endParaRPr sz="2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1"/>
          <p:cNvSpPr txBox="1"/>
          <p:nvPr>
            <p:ph type="title"/>
          </p:nvPr>
        </p:nvSpPr>
        <p:spPr>
          <a:xfrm>
            <a:off x="457200" y="228600"/>
            <a:ext cx="8229600" cy="762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ANATOMIE DE L’ŒSOPHAGE</a:t>
            </a:r>
            <a:br>
              <a:rPr lang="fr-FR"/>
            </a:br>
            <a:endParaRPr/>
          </a:p>
        </p:txBody>
      </p:sp>
      <p:pic>
        <p:nvPicPr>
          <p:cNvPr descr="netter constrictions of esophagus" id="293" name="Google Shape;293;p21"/>
          <p:cNvPicPr preferRelativeResize="0"/>
          <p:nvPr/>
        </p:nvPicPr>
        <p:blipFill rotWithShape="1">
          <a:blip r:embed="rId3">
            <a:alphaModFix/>
          </a:blip>
          <a:srcRect b="0" l="0" r="0" t="0"/>
          <a:stretch/>
        </p:blipFill>
        <p:spPr>
          <a:xfrm>
            <a:off x="4800600" y="1502324"/>
            <a:ext cx="4114800" cy="5203276"/>
          </a:xfrm>
          <a:prstGeom prst="rect">
            <a:avLst/>
          </a:prstGeom>
          <a:noFill/>
          <a:ln>
            <a:noFill/>
          </a:ln>
        </p:spPr>
      </p:pic>
      <p:pic>
        <p:nvPicPr>
          <p:cNvPr descr="cummings esophageal anatomy" id="294" name="Google Shape;294;p21"/>
          <p:cNvPicPr preferRelativeResize="0"/>
          <p:nvPr/>
        </p:nvPicPr>
        <p:blipFill rotWithShape="1">
          <a:blip r:embed="rId4">
            <a:alphaModFix/>
          </a:blip>
          <a:srcRect b="0" l="0" r="0" t="0"/>
          <a:stretch/>
        </p:blipFill>
        <p:spPr>
          <a:xfrm>
            <a:off x="469006" y="1524000"/>
            <a:ext cx="4102994" cy="5105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2"/>
          <p:cNvSpPr txBox="1"/>
          <p:nvPr>
            <p:ph type="title"/>
          </p:nvPr>
        </p:nvSpPr>
        <p:spPr>
          <a:xfrm>
            <a:off x="381000" y="228600"/>
            <a:ext cx="8305800" cy="119786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ANATOMIE DE L’ŒSOPHAGE</a:t>
            </a:r>
            <a:endParaRPr b="1" sz="3200">
              <a:latin typeface="Corbel"/>
              <a:ea typeface="Corbel"/>
              <a:cs typeface="Corbel"/>
              <a:sym typeface="Corbel"/>
            </a:endParaRPr>
          </a:p>
        </p:txBody>
      </p:sp>
      <p:sp>
        <p:nvSpPr>
          <p:cNvPr id="300" name="Google Shape;300;p22"/>
          <p:cNvSpPr txBox="1"/>
          <p:nvPr>
            <p:ph idx="1" type="body"/>
          </p:nvPr>
        </p:nvSpPr>
        <p:spPr>
          <a:xfrm>
            <a:off x="457200" y="1143000"/>
            <a:ext cx="8686800" cy="5486400"/>
          </a:xfrm>
          <a:prstGeom prst="rect">
            <a:avLst/>
          </a:prstGeom>
          <a:noFill/>
          <a:ln>
            <a:noFill/>
          </a:ln>
        </p:spPr>
        <p:txBody>
          <a:bodyPr anchorCtr="0" anchor="t" bIns="45700" lIns="91425" spcFirstLastPara="1" rIns="91425" wrap="square" tIns="45700">
            <a:normAutofit fontScale="92500" lnSpcReduction="20000"/>
          </a:bodyPr>
          <a:lstStyle/>
          <a:p>
            <a:pPr indent="-342900" lvl="0" marL="411480" rtl="0" algn="l">
              <a:spcBef>
                <a:spcPts val="0"/>
              </a:spcBef>
              <a:spcAft>
                <a:spcPts val="0"/>
              </a:spcAft>
              <a:buSzPct val="95000"/>
              <a:buNone/>
            </a:pPr>
            <a:r>
              <a:rPr lang="fr-FR" sz="1900"/>
              <a:t>L’œsophage ≈ 3 parties </a:t>
            </a:r>
            <a:endParaRPr sz="1900"/>
          </a:p>
          <a:p>
            <a:pPr indent="-342900" lvl="0" marL="411480" rtl="0" algn="l">
              <a:spcBef>
                <a:spcPts val="700"/>
              </a:spcBef>
              <a:spcAft>
                <a:spcPts val="0"/>
              </a:spcAft>
              <a:buSzPct val="95000"/>
              <a:buNone/>
            </a:pPr>
            <a:r>
              <a:rPr b="1" lang="fr-FR" sz="1900">
                <a:solidFill>
                  <a:srgbClr val="FFC000"/>
                </a:solidFill>
              </a:rPr>
              <a:t>1.la partie cervicale</a:t>
            </a:r>
            <a:endParaRPr b="1" sz="1900">
              <a:solidFill>
                <a:srgbClr val="FFC000"/>
              </a:solidFill>
            </a:endParaRPr>
          </a:p>
          <a:p>
            <a:pPr indent="-342900" lvl="0" marL="411480" rtl="0" algn="l">
              <a:spcBef>
                <a:spcPts val="700"/>
              </a:spcBef>
              <a:spcAft>
                <a:spcPts val="0"/>
              </a:spcAft>
              <a:buSzPct val="95000"/>
              <a:buNone/>
            </a:pPr>
            <a:r>
              <a:rPr lang="fr-FR" sz="1900"/>
              <a:t>- trachée – antérieure - en rapport avec le lobe gauche de la glande thyroïde et le nerf récurrent </a:t>
            </a:r>
            <a:endParaRPr sz="1900"/>
          </a:p>
          <a:p>
            <a:pPr indent="-342900" lvl="0" marL="411480" rtl="0" algn="l">
              <a:spcBef>
                <a:spcPts val="700"/>
              </a:spcBef>
              <a:spcAft>
                <a:spcPts val="0"/>
              </a:spcAft>
              <a:buSzPct val="95000"/>
              <a:buNone/>
            </a:pPr>
            <a:r>
              <a:rPr lang="fr-FR" sz="1900"/>
              <a:t>-  muscles prévertebrals asymétriques - postérieure</a:t>
            </a:r>
            <a:endParaRPr sz="1900"/>
          </a:p>
          <a:p>
            <a:pPr indent="-342900" lvl="0" marL="411480" rtl="0" algn="l">
              <a:spcBef>
                <a:spcPts val="700"/>
              </a:spcBef>
              <a:spcAft>
                <a:spcPts val="0"/>
              </a:spcAft>
              <a:buSzPct val="95000"/>
              <a:buNone/>
            </a:pPr>
            <a:r>
              <a:rPr b="1" lang="fr-FR" sz="1900">
                <a:solidFill>
                  <a:srgbClr val="FFC000"/>
                </a:solidFill>
              </a:rPr>
              <a:t>2. la partie thoracique (médiastin) </a:t>
            </a:r>
            <a:endParaRPr b="1" sz="1900">
              <a:solidFill>
                <a:srgbClr val="FFC000"/>
              </a:solidFill>
            </a:endParaRPr>
          </a:p>
          <a:p>
            <a:pPr indent="-342930" lvl="0" marL="411480" rtl="0" algn="l">
              <a:spcBef>
                <a:spcPts val="700"/>
              </a:spcBef>
              <a:spcAft>
                <a:spcPts val="0"/>
              </a:spcAft>
              <a:buSzPct val="95000"/>
              <a:buChar char="▪"/>
            </a:pPr>
            <a:r>
              <a:rPr lang="fr-FR" sz="1900"/>
              <a:t>- bifurcation de la trachée et des bronches </a:t>
            </a:r>
            <a:endParaRPr sz="1900"/>
          </a:p>
          <a:p>
            <a:pPr indent="-342930" lvl="0" marL="411480" rtl="0" algn="l">
              <a:spcBef>
                <a:spcPts val="700"/>
              </a:spcBef>
              <a:spcAft>
                <a:spcPts val="0"/>
              </a:spcAft>
              <a:buSzPct val="95000"/>
              <a:buChar char="▪"/>
            </a:pPr>
            <a:r>
              <a:rPr lang="fr-FR" sz="1900"/>
              <a:t>- hile du poumon </a:t>
            </a:r>
            <a:endParaRPr sz="1900"/>
          </a:p>
          <a:p>
            <a:pPr indent="-342930" lvl="0" marL="411480" rtl="0" algn="l">
              <a:spcBef>
                <a:spcPts val="700"/>
              </a:spcBef>
              <a:spcAft>
                <a:spcPts val="0"/>
              </a:spcAft>
              <a:buSzPct val="95000"/>
              <a:buChar char="▪"/>
            </a:pPr>
            <a:r>
              <a:rPr lang="fr-FR" sz="1900"/>
              <a:t>- le cœur et de l’aorte</a:t>
            </a:r>
            <a:endParaRPr sz="1900"/>
          </a:p>
          <a:p>
            <a:pPr indent="-342900" lvl="0" marL="411480" rtl="0" algn="l">
              <a:spcBef>
                <a:spcPts val="700"/>
              </a:spcBef>
              <a:spcAft>
                <a:spcPts val="0"/>
              </a:spcAft>
              <a:buSzPct val="95000"/>
              <a:buNone/>
            </a:pPr>
            <a:r>
              <a:rPr b="1" lang="fr-FR" sz="1900">
                <a:solidFill>
                  <a:srgbClr val="FFC000"/>
                </a:solidFill>
              </a:rPr>
              <a:t>3. la partie abdominale </a:t>
            </a:r>
            <a:endParaRPr/>
          </a:p>
          <a:p>
            <a:pPr indent="-342900" lvl="0" marL="411480" rtl="0" algn="l">
              <a:spcBef>
                <a:spcPts val="700"/>
              </a:spcBef>
              <a:spcAft>
                <a:spcPts val="0"/>
              </a:spcAft>
              <a:buSzPct val="95000"/>
              <a:buNone/>
            </a:pPr>
            <a:r>
              <a:rPr b="1" lang="fr-FR" sz="1900">
                <a:solidFill>
                  <a:srgbClr val="FFC000"/>
                </a:solidFill>
              </a:rPr>
              <a:t>    </a:t>
            </a:r>
            <a:r>
              <a:rPr lang="fr-FR" sz="1900"/>
              <a:t> couverte par du péritoine sur la paroi antérieure</a:t>
            </a:r>
            <a:endParaRPr sz="1900"/>
          </a:p>
          <a:p>
            <a:pPr indent="-342900" lvl="0" marL="411480" rtl="0" algn="l">
              <a:spcBef>
                <a:spcPts val="700"/>
              </a:spcBef>
              <a:spcAft>
                <a:spcPts val="0"/>
              </a:spcAft>
              <a:buSzPct val="95000"/>
              <a:buNone/>
            </a:pPr>
            <a:r>
              <a:rPr b="1" lang="fr-FR" sz="2200">
                <a:solidFill>
                  <a:srgbClr val="FFC000"/>
                </a:solidFill>
              </a:rPr>
              <a:t>Structure (3 couches)</a:t>
            </a:r>
            <a:endParaRPr b="1" sz="2200">
              <a:solidFill>
                <a:srgbClr val="FFC000"/>
              </a:solidFill>
            </a:endParaRPr>
          </a:p>
          <a:p>
            <a:pPr indent="-342900" lvl="0" marL="411480" rtl="0" algn="l">
              <a:spcBef>
                <a:spcPts val="700"/>
              </a:spcBef>
              <a:spcAft>
                <a:spcPts val="0"/>
              </a:spcAft>
              <a:buSzPct val="95000"/>
              <a:buNone/>
            </a:pPr>
            <a:r>
              <a:rPr lang="fr-FR" sz="1900"/>
              <a:t> ∙ la muqueuse de type digestif, l’épithélium pavimenteux stratifié </a:t>
            </a:r>
            <a:endParaRPr sz="1900"/>
          </a:p>
          <a:p>
            <a:pPr indent="-342900" lvl="0" marL="411480" rtl="0" algn="l">
              <a:spcBef>
                <a:spcPts val="700"/>
              </a:spcBef>
              <a:spcAft>
                <a:spcPts val="0"/>
              </a:spcAft>
              <a:buSzPct val="95000"/>
              <a:buNone/>
            </a:pPr>
            <a:r>
              <a:rPr lang="fr-FR" sz="1900"/>
              <a:t> ∙ lamusculature - fibres musculaires striées supérieures et lisses dans la ½ inférieure</a:t>
            </a:r>
            <a:endParaRPr/>
          </a:p>
          <a:p>
            <a:pPr indent="-342900" lvl="0" marL="411480" rtl="0" algn="l">
              <a:spcBef>
                <a:spcPts val="700"/>
              </a:spcBef>
              <a:spcAft>
                <a:spcPts val="0"/>
              </a:spcAft>
              <a:buSzPct val="95000"/>
              <a:buNone/>
            </a:pPr>
            <a:r>
              <a:rPr lang="fr-FR" sz="1900"/>
              <a:t>    disposée sur des couches : externe – longitudinal et interne - circulaire,</a:t>
            </a:r>
            <a:endParaRPr/>
          </a:p>
          <a:p>
            <a:pPr indent="-342900" lvl="0" marL="411480" rtl="0" algn="l">
              <a:spcBef>
                <a:spcPts val="700"/>
              </a:spcBef>
              <a:spcAft>
                <a:spcPts val="0"/>
              </a:spcAft>
              <a:buSzPct val="95000"/>
              <a:buNone/>
            </a:pPr>
            <a:r>
              <a:rPr lang="fr-FR" sz="1900"/>
              <a:t>     parmi eux - en spirale </a:t>
            </a:r>
            <a:endParaRPr sz="1900"/>
          </a:p>
          <a:p>
            <a:pPr indent="-342900" lvl="0" marL="411480" rtl="0" algn="l">
              <a:spcBef>
                <a:spcPts val="700"/>
              </a:spcBef>
              <a:spcAft>
                <a:spcPts val="0"/>
              </a:spcAft>
              <a:buSzPct val="95000"/>
              <a:buNone/>
            </a:pPr>
            <a:r>
              <a:rPr lang="fr-FR" sz="1900"/>
              <a:t> ∙ l’adventice</a:t>
            </a:r>
            <a:endParaRPr sz="1900"/>
          </a:p>
          <a:p>
            <a:pPr indent="-175498" lvl="0" marL="411480" rtl="0" algn="l">
              <a:spcBef>
                <a:spcPts val="700"/>
              </a:spcBef>
              <a:spcAft>
                <a:spcPts val="0"/>
              </a:spcAft>
              <a:buSzPct val="950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3"/>
          <p:cNvSpPr txBox="1"/>
          <p:nvPr>
            <p:ph type="title"/>
          </p:nvPr>
        </p:nvSpPr>
        <p:spPr>
          <a:xfrm>
            <a:off x="533400" y="381000"/>
            <a:ext cx="8153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A7D6FF"/>
              </a:buClr>
              <a:buSzPts val="3200"/>
              <a:buFont typeface="Corbel"/>
              <a:buNone/>
            </a:pPr>
            <a:r>
              <a:rPr b="1" lang="fr-FR" sz="3200">
                <a:solidFill>
                  <a:srgbClr val="A7D6FF"/>
                </a:solidFill>
                <a:latin typeface="Corbel"/>
                <a:ea typeface="Corbel"/>
                <a:cs typeface="Corbel"/>
                <a:sym typeface="Corbel"/>
              </a:rPr>
              <a:t>Structure (3 couches)</a:t>
            </a:r>
            <a:br>
              <a:rPr b="1" lang="fr-FR">
                <a:solidFill>
                  <a:srgbClr val="A7D6FF"/>
                </a:solidFill>
              </a:rPr>
            </a:br>
            <a:endParaRPr>
              <a:solidFill>
                <a:srgbClr val="A7D6FF"/>
              </a:solidFill>
            </a:endParaRPr>
          </a:p>
        </p:txBody>
      </p:sp>
      <p:pic>
        <p:nvPicPr>
          <p:cNvPr descr="netter esophageal layers" id="306" name="Google Shape;306;p23"/>
          <p:cNvPicPr preferRelativeResize="0"/>
          <p:nvPr/>
        </p:nvPicPr>
        <p:blipFill rotWithShape="1">
          <a:blip r:embed="rId3">
            <a:alphaModFix/>
          </a:blip>
          <a:srcRect b="0" l="0" r="0" t="0"/>
          <a:stretch/>
        </p:blipFill>
        <p:spPr>
          <a:xfrm>
            <a:off x="533400" y="2006600"/>
            <a:ext cx="8382000" cy="4013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4"/>
          <p:cNvSpPr txBox="1"/>
          <p:nvPr>
            <p:ph type="title"/>
          </p:nvPr>
        </p:nvSpPr>
        <p:spPr>
          <a:xfrm>
            <a:off x="381000" y="304800"/>
            <a:ext cx="8305800" cy="112166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PHYSIOLOGIE</a:t>
            </a:r>
            <a:br>
              <a:rPr lang="fr-FR"/>
            </a:br>
            <a:endParaRPr/>
          </a:p>
        </p:txBody>
      </p:sp>
      <p:sp>
        <p:nvSpPr>
          <p:cNvPr id="312" name="Google Shape;312;p24"/>
          <p:cNvSpPr txBox="1"/>
          <p:nvPr>
            <p:ph idx="1" type="body"/>
          </p:nvPr>
        </p:nvSpPr>
        <p:spPr>
          <a:xfrm>
            <a:off x="457200" y="1676400"/>
            <a:ext cx="8686800" cy="4679160"/>
          </a:xfrm>
          <a:prstGeom prst="rect">
            <a:avLst/>
          </a:prstGeom>
          <a:noFill/>
          <a:ln>
            <a:noFill/>
          </a:ln>
        </p:spPr>
        <p:txBody>
          <a:bodyPr anchorCtr="0" anchor="t" bIns="45700" lIns="91425" spcFirstLastPara="1" rIns="91425" wrap="square" tIns="45700">
            <a:normAutofit/>
          </a:bodyPr>
          <a:lstStyle/>
          <a:p>
            <a:pPr indent="-342900" lvl="0" marL="411480" rtl="0" algn="l">
              <a:spcBef>
                <a:spcPts val="0"/>
              </a:spcBef>
              <a:spcAft>
                <a:spcPts val="0"/>
              </a:spcAft>
              <a:buSzPts val="2280"/>
              <a:buNone/>
            </a:pPr>
            <a:r>
              <a:rPr lang="fr-FR" sz="2400"/>
              <a:t>   ♦ conduire le bol alimentaire du pharynx →l’estomac par une onde péristaltique  (constricteurs du pharynx)</a:t>
            </a:r>
            <a:endParaRPr sz="2400"/>
          </a:p>
          <a:p>
            <a:pPr indent="-342900" lvl="0" marL="411480" rtl="0" algn="l">
              <a:spcBef>
                <a:spcPts val="700"/>
              </a:spcBef>
              <a:spcAft>
                <a:spcPts val="0"/>
              </a:spcAft>
              <a:buSzPts val="2280"/>
              <a:buNone/>
            </a:pPr>
            <a:r>
              <a:rPr lang="fr-FR" sz="2400"/>
              <a:t>   ♦ la vitesse de transit œsophagien diminue de haut →bas, étant  </a:t>
            </a:r>
            <a:endParaRPr/>
          </a:p>
          <a:p>
            <a:pPr indent="-342900" lvl="0" marL="411480" rtl="0" algn="l">
              <a:spcBef>
                <a:spcPts val="700"/>
              </a:spcBef>
              <a:spcAft>
                <a:spcPts val="0"/>
              </a:spcAft>
              <a:buSzPts val="2280"/>
              <a:buNone/>
            </a:pPr>
            <a:r>
              <a:rPr lang="fr-FR" sz="2400"/>
              <a:t>        plus réduite au niveau des détroits</a:t>
            </a:r>
            <a:endParaRPr/>
          </a:p>
          <a:p>
            <a:pPr indent="-342900" lvl="0" marL="411480" rtl="0" algn="l">
              <a:spcBef>
                <a:spcPts val="700"/>
              </a:spcBef>
              <a:spcAft>
                <a:spcPts val="0"/>
              </a:spcAft>
              <a:buSzPts val="2280"/>
              <a:buNone/>
            </a:pPr>
            <a:r>
              <a:rPr lang="fr-FR" sz="2400"/>
              <a:t>  ♦  les aliments solides parcourent l’œsophage en 24 sec. et le liquide &lt; 1sec</a:t>
            </a:r>
            <a:endParaRPr sz="24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5"/>
          <p:cNvSpPr txBox="1"/>
          <p:nvPr>
            <p:ph type="title"/>
          </p:nvPr>
        </p:nvSpPr>
        <p:spPr>
          <a:xfrm>
            <a:off x="381000" y="512064"/>
            <a:ext cx="83058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SYMPTOMATOLOGIE  ŒSOPHAGIENNE</a:t>
            </a:r>
            <a:br>
              <a:rPr lang="fr-FR"/>
            </a:br>
            <a:endParaRPr/>
          </a:p>
        </p:txBody>
      </p:sp>
      <p:sp>
        <p:nvSpPr>
          <p:cNvPr id="318" name="Google Shape;318;p25"/>
          <p:cNvSpPr txBox="1"/>
          <p:nvPr>
            <p:ph idx="1" type="body"/>
          </p:nvPr>
        </p:nvSpPr>
        <p:spPr>
          <a:xfrm>
            <a:off x="457200" y="1371600"/>
            <a:ext cx="8915400" cy="4983960"/>
          </a:xfrm>
          <a:prstGeom prst="rect">
            <a:avLst/>
          </a:prstGeom>
          <a:noFill/>
          <a:ln>
            <a:noFill/>
          </a:ln>
        </p:spPr>
        <p:txBody>
          <a:bodyPr anchorCtr="0" anchor="t" bIns="45700" lIns="91425" spcFirstLastPara="1" rIns="91425" wrap="square" tIns="45700">
            <a:normAutofit fontScale="55000" lnSpcReduction="20000"/>
          </a:bodyPr>
          <a:lstStyle/>
          <a:p>
            <a:pPr indent="-342900" lvl="0" marL="411480" rtl="0" algn="l">
              <a:spcBef>
                <a:spcPts val="0"/>
              </a:spcBef>
              <a:spcAft>
                <a:spcPts val="0"/>
              </a:spcAft>
              <a:buSzPct val="95000"/>
              <a:buNone/>
            </a:pPr>
            <a:r>
              <a:rPr b="1" lang="fr-FR" sz="3300">
                <a:solidFill>
                  <a:srgbClr val="FFC000"/>
                </a:solidFill>
              </a:rPr>
              <a:t>1. Dysphagie</a:t>
            </a:r>
            <a:r>
              <a:rPr b="1" lang="fr-FR" sz="3300"/>
              <a:t> </a:t>
            </a:r>
            <a:endParaRPr sz="3300"/>
          </a:p>
          <a:p>
            <a:pPr indent="-342900" lvl="0" marL="411480" rtl="0" algn="l">
              <a:spcBef>
                <a:spcPts val="700"/>
              </a:spcBef>
              <a:spcAft>
                <a:spcPts val="0"/>
              </a:spcAft>
              <a:buSzPct val="95000"/>
              <a:buFont typeface="Noto Sans Symbols"/>
              <a:buChar char="∙"/>
            </a:pPr>
            <a:r>
              <a:rPr i="1" lang="fr-FR" sz="3300" u="sng"/>
              <a:t>syndrome de l’œsophage fonctionnel </a:t>
            </a:r>
            <a:r>
              <a:rPr i="1" lang="fr-FR" sz="3300"/>
              <a:t>→ </a:t>
            </a:r>
            <a:r>
              <a:rPr lang="fr-FR" sz="3300"/>
              <a:t> s’installe brusquement, intermittente,</a:t>
            </a:r>
            <a:endParaRPr/>
          </a:p>
          <a:p>
            <a:pPr indent="-342900" lvl="0" marL="411480" rtl="0" algn="l">
              <a:spcBef>
                <a:spcPts val="700"/>
              </a:spcBef>
              <a:spcAft>
                <a:spcPts val="0"/>
              </a:spcAft>
              <a:buSzPct val="95000"/>
              <a:buNone/>
            </a:pPr>
            <a:r>
              <a:rPr lang="fr-FR" sz="3300"/>
              <a:t>         sélective pour certains aliments </a:t>
            </a:r>
            <a:endParaRPr/>
          </a:p>
          <a:p>
            <a:pPr indent="-342900" lvl="0" marL="411480" rtl="0" algn="l">
              <a:spcBef>
                <a:spcPts val="700"/>
              </a:spcBef>
              <a:spcAft>
                <a:spcPts val="0"/>
              </a:spcAft>
              <a:buSzPct val="95000"/>
              <a:buFont typeface="Noto Sans Symbols"/>
              <a:buChar char="∙"/>
            </a:pPr>
            <a:r>
              <a:rPr i="1" lang="fr-FR" sz="3300" u="sng"/>
              <a:t>syndrome de l’œsophage organique </a:t>
            </a:r>
            <a:r>
              <a:rPr i="1" lang="fr-FR" sz="3300"/>
              <a:t>→ </a:t>
            </a:r>
            <a:r>
              <a:rPr lang="fr-FR" sz="3300"/>
              <a:t>s’installe progressivement lent au début,</a:t>
            </a:r>
            <a:endParaRPr/>
          </a:p>
          <a:p>
            <a:pPr indent="-342900" lvl="0" marL="411480" rtl="0" algn="l">
              <a:spcBef>
                <a:spcPts val="700"/>
              </a:spcBef>
              <a:spcAft>
                <a:spcPts val="0"/>
              </a:spcAft>
              <a:buSzPct val="95000"/>
              <a:buNone/>
            </a:pPr>
            <a:r>
              <a:rPr lang="fr-FR" sz="3300"/>
              <a:t>        initialement pour les solides → les liquides</a:t>
            </a:r>
            <a:endParaRPr sz="3300"/>
          </a:p>
          <a:p>
            <a:pPr indent="-342900" lvl="0" marL="411480" rtl="0" algn="l">
              <a:spcBef>
                <a:spcPts val="700"/>
              </a:spcBef>
              <a:spcAft>
                <a:spcPts val="0"/>
              </a:spcAft>
              <a:buSzPct val="95000"/>
              <a:buNone/>
            </a:pPr>
            <a:r>
              <a:rPr b="1" lang="fr-FR" sz="3300">
                <a:solidFill>
                  <a:srgbClr val="FFC000"/>
                </a:solidFill>
              </a:rPr>
              <a:t>2. Régurgitation</a:t>
            </a:r>
            <a:endParaRPr/>
          </a:p>
          <a:p>
            <a:pPr indent="-342900" lvl="0" marL="411480" rtl="0" algn="l">
              <a:spcBef>
                <a:spcPts val="700"/>
              </a:spcBef>
              <a:spcAft>
                <a:spcPts val="0"/>
              </a:spcAft>
              <a:buSzPct val="95000"/>
              <a:buNone/>
            </a:pPr>
            <a:r>
              <a:rPr b="1" lang="fr-FR" sz="3300">
                <a:solidFill>
                  <a:srgbClr val="FFC000"/>
                </a:solidFill>
              </a:rPr>
              <a:t>       </a:t>
            </a:r>
            <a:r>
              <a:rPr lang="fr-FR" sz="3300"/>
              <a:t> retour les aliments non digérés dans la bouche  ( précoce  -  l’obstacle est situé plus haut)</a:t>
            </a:r>
            <a:endParaRPr sz="3300"/>
          </a:p>
          <a:p>
            <a:pPr indent="-342900" lvl="0" marL="411480" rtl="0" algn="l">
              <a:spcBef>
                <a:spcPts val="700"/>
              </a:spcBef>
              <a:spcAft>
                <a:spcPts val="0"/>
              </a:spcAft>
              <a:buSzPct val="95000"/>
              <a:buNone/>
            </a:pPr>
            <a:r>
              <a:rPr b="1" lang="fr-FR" sz="3300">
                <a:solidFill>
                  <a:srgbClr val="FFC000"/>
                </a:solidFill>
              </a:rPr>
              <a:t>3. Sialorrhée salivation excessive</a:t>
            </a:r>
            <a:endParaRPr/>
          </a:p>
          <a:p>
            <a:pPr indent="-342900" lvl="0" marL="411480" rtl="0" algn="l">
              <a:spcBef>
                <a:spcPts val="700"/>
              </a:spcBef>
              <a:spcAft>
                <a:spcPts val="0"/>
              </a:spcAft>
              <a:buSzPct val="95000"/>
              <a:buNone/>
            </a:pPr>
            <a:r>
              <a:rPr b="1" lang="fr-FR" sz="3300">
                <a:solidFill>
                  <a:srgbClr val="FFC000"/>
                </a:solidFill>
              </a:rPr>
              <a:t> </a:t>
            </a:r>
            <a:r>
              <a:rPr lang="fr-FR" sz="3300">
                <a:solidFill>
                  <a:srgbClr val="FFC000"/>
                </a:solidFill>
              </a:rPr>
              <a:t>      </a:t>
            </a:r>
            <a:r>
              <a:rPr lang="fr-FR" sz="3300"/>
              <a:t> survient réflexe les corps étrangers œsophagiens sont situés  1/2 supérieure de l’œsophage</a:t>
            </a:r>
            <a:endParaRPr sz="3300"/>
          </a:p>
          <a:p>
            <a:pPr indent="-342900" lvl="0" marL="411480" rtl="0" algn="l">
              <a:spcBef>
                <a:spcPts val="700"/>
              </a:spcBef>
              <a:spcAft>
                <a:spcPts val="0"/>
              </a:spcAft>
              <a:buSzPct val="95000"/>
              <a:buNone/>
            </a:pPr>
            <a:r>
              <a:rPr b="1" lang="fr-FR" sz="3300">
                <a:solidFill>
                  <a:srgbClr val="FFC000"/>
                </a:solidFill>
              </a:rPr>
              <a:t>4. Syndrome sensitif </a:t>
            </a:r>
            <a:endParaRPr sz="3300">
              <a:solidFill>
                <a:srgbClr val="FFC000"/>
              </a:solidFill>
            </a:endParaRPr>
          </a:p>
          <a:p>
            <a:pPr indent="-342900" lvl="0" marL="411480" rtl="0" algn="l">
              <a:spcBef>
                <a:spcPts val="700"/>
              </a:spcBef>
              <a:spcAft>
                <a:spcPts val="0"/>
              </a:spcAft>
              <a:buSzPct val="95000"/>
              <a:buChar char="▪"/>
            </a:pPr>
            <a:r>
              <a:rPr lang="fr-FR" sz="3300"/>
              <a:t>La douleur - rétrosternale ou épigastrique avec un rayonnement à la région cervicale douleur interscapulaire → une possible perforation de l’œsophage( corps étrangers)</a:t>
            </a:r>
            <a:endParaRPr sz="3300"/>
          </a:p>
          <a:p>
            <a:pPr indent="-342900" lvl="0" marL="411480" rtl="0" algn="l">
              <a:spcBef>
                <a:spcPts val="700"/>
              </a:spcBef>
              <a:spcAft>
                <a:spcPts val="0"/>
              </a:spcAft>
              <a:buSzPct val="95000"/>
              <a:buChar char="▪"/>
            </a:pPr>
            <a:r>
              <a:rPr lang="fr-FR" sz="3300"/>
              <a:t>Brûlures picotements, sensation de constriction cervicale</a:t>
            </a:r>
            <a:endParaRPr sz="3300"/>
          </a:p>
          <a:p>
            <a:pPr indent="-342900" lvl="0" marL="411480" rtl="0" algn="l">
              <a:spcBef>
                <a:spcPts val="700"/>
              </a:spcBef>
              <a:spcAft>
                <a:spcPts val="0"/>
              </a:spcAft>
              <a:buSzPct val="95000"/>
              <a:buChar char="▪"/>
            </a:pPr>
            <a:r>
              <a:rPr lang="fr-FR" sz="3300"/>
              <a:t>Hématémèse → dans les plaies, les tumeurs, les varices œsophagiennes</a:t>
            </a:r>
            <a:br>
              <a:rPr lang="fr-FR"/>
            </a:br>
            <a:endParaRPr/>
          </a:p>
          <a:p>
            <a:pPr indent="-342900" lvl="0" marL="411480" rtl="0" algn="l">
              <a:spcBef>
                <a:spcPts val="700"/>
              </a:spcBef>
              <a:spcAft>
                <a:spcPts val="0"/>
              </a:spcAft>
              <a:buSzPct val="95000"/>
              <a:buNone/>
            </a:pPr>
            <a:r>
              <a:rPr lang="fr-FR"/>
              <a:t> </a:t>
            </a:r>
            <a:endParaRPr/>
          </a:p>
          <a:p>
            <a:pPr indent="-243363" lvl="0" marL="411480" rtl="0" algn="l">
              <a:spcBef>
                <a:spcPts val="700"/>
              </a:spcBef>
              <a:spcAft>
                <a:spcPts val="0"/>
              </a:spcAft>
              <a:buSzPct val="950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6"/>
          <p:cNvSpPr txBox="1"/>
          <p:nvPr>
            <p:ph type="title"/>
          </p:nvPr>
        </p:nvSpPr>
        <p:spPr>
          <a:xfrm>
            <a:off x="457200" y="304800"/>
            <a:ext cx="8229600" cy="112166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CORPS  ÉTRANGERS  ŒSOPHAGIENS</a:t>
            </a:r>
            <a:br>
              <a:rPr lang="fr-FR"/>
            </a:br>
            <a:endParaRPr/>
          </a:p>
        </p:txBody>
      </p:sp>
      <p:sp>
        <p:nvSpPr>
          <p:cNvPr id="324" name="Google Shape;324;p26"/>
          <p:cNvSpPr txBox="1"/>
          <p:nvPr>
            <p:ph idx="1" type="body"/>
          </p:nvPr>
        </p:nvSpPr>
        <p:spPr>
          <a:xfrm>
            <a:off x="533400" y="1066800"/>
            <a:ext cx="8610600" cy="5288760"/>
          </a:xfrm>
          <a:prstGeom prst="rect">
            <a:avLst/>
          </a:prstGeom>
          <a:noFill/>
          <a:ln>
            <a:noFill/>
          </a:ln>
        </p:spPr>
        <p:txBody>
          <a:bodyPr anchorCtr="0" anchor="t" bIns="45700" lIns="91425" spcFirstLastPara="1" rIns="91425" wrap="square" tIns="45700">
            <a:normAutofit/>
          </a:bodyPr>
          <a:lstStyle/>
          <a:p>
            <a:pPr indent="-342900" lvl="0" marL="411480" rtl="0" algn="l">
              <a:spcBef>
                <a:spcPts val="0"/>
              </a:spcBef>
              <a:spcAft>
                <a:spcPts val="0"/>
              </a:spcAft>
              <a:buSzPts val="2660"/>
              <a:buNone/>
            </a:pPr>
            <a:r>
              <a:rPr b="1" lang="fr-FR" sz="2800">
                <a:solidFill>
                  <a:srgbClr val="FFC000"/>
                </a:solidFill>
              </a:rPr>
              <a:t>Étiopathogénie </a:t>
            </a:r>
            <a:endParaRPr b="1" sz="2800">
              <a:solidFill>
                <a:srgbClr val="FFC000"/>
              </a:solidFill>
            </a:endParaRPr>
          </a:p>
          <a:p>
            <a:pPr indent="-342900" lvl="0" marL="411480" rtl="0" algn="l">
              <a:spcBef>
                <a:spcPts val="700"/>
              </a:spcBef>
              <a:spcAft>
                <a:spcPts val="0"/>
              </a:spcAft>
              <a:buSzPts val="2280"/>
              <a:buNone/>
            </a:pPr>
            <a:r>
              <a:rPr i="1" lang="fr-FR" sz="2400" u="sng"/>
              <a:t>Chez  enfants </a:t>
            </a:r>
            <a:r>
              <a:rPr lang="fr-FR" sz="2400"/>
              <a:t>:monnaies , petits jouets en plastique</a:t>
            </a:r>
            <a:endParaRPr sz="2400"/>
          </a:p>
          <a:p>
            <a:pPr indent="-342900" lvl="0" marL="411480" rtl="0" algn="l">
              <a:spcBef>
                <a:spcPts val="700"/>
              </a:spcBef>
              <a:spcAft>
                <a:spcPts val="0"/>
              </a:spcAft>
              <a:buSzPts val="2280"/>
              <a:buNone/>
            </a:pPr>
            <a:r>
              <a:rPr i="1" lang="fr-FR" sz="2400" u="sng"/>
              <a:t>Chez adulte</a:t>
            </a:r>
            <a:r>
              <a:rPr lang="fr-FR" sz="2400"/>
              <a:t> : bol de nourriture, différents os,prothèses dentaires</a:t>
            </a:r>
            <a:endParaRPr/>
          </a:p>
          <a:p>
            <a:pPr indent="-342900" lvl="0" marL="411480" rtl="0" algn="l">
              <a:spcBef>
                <a:spcPts val="700"/>
              </a:spcBef>
              <a:spcAft>
                <a:spcPts val="0"/>
              </a:spcAft>
              <a:buSzPts val="2280"/>
              <a:buNone/>
            </a:pPr>
            <a:r>
              <a:t/>
            </a:r>
            <a:endParaRPr sz="2400"/>
          </a:p>
          <a:p>
            <a:pPr indent="-342900" lvl="0" marL="411480" rtl="0" algn="l">
              <a:spcBef>
                <a:spcPts val="700"/>
              </a:spcBef>
              <a:spcAft>
                <a:spcPts val="0"/>
              </a:spcAft>
              <a:buSzPts val="2280"/>
              <a:buNone/>
            </a:pPr>
            <a:r>
              <a:rPr b="1" i="1" lang="fr-FR" sz="2400">
                <a:solidFill>
                  <a:srgbClr val="FFC000"/>
                </a:solidFill>
              </a:rPr>
              <a:t>Facteurs prédisposants </a:t>
            </a:r>
            <a:endParaRPr b="1" sz="2400">
              <a:solidFill>
                <a:srgbClr val="FFC000"/>
              </a:solidFill>
            </a:endParaRPr>
          </a:p>
          <a:p>
            <a:pPr indent="-342900" lvl="0" marL="411480" rtl="0" algn="l">
              <a:spcBef>
                <a:spcPts val="700"/>
              </a:spcBef>
              <a:spcAft>
                <a:spcPts val="0"/>
              </a:spcAft>
              <a:buSzPts val="2280"/>
              <a:buNone/>
            </a:pPr>
            <a:r>
              <a:rPr i="1" lang="fr-FR" sz="2400"/>
              <a:t>l’enfant</a:t>
            </a:r>
            <a:r>
              <a:rPr lang="fr-FR" sz="2400"/>
              <a:t> – pendant le jeu / une conversation / le repas</a:t>
            </a:r>
            <a:endParaRPr sz="2400"/>
          </a:p>
          <a:p>
            <a:pPr indent="-342900" lvl="0" marL="411480" rtl="0" algn="l">
              <a:spcBef>
                <a:spcPts val="700"/>
              </a:spcBef>
              <a:spcAft>
                <a:spcPts val="0"/>
              </a:spcAft>
              <a:buSzPts val="2280"/>
              <a:buNone/>
            </a:pPr>
            <a:r>
              <a:rPr i="1" lang="fr-FR" sz="2400"/>
              <a:t>l’adulte</a:t>
            </a:r>
            <a:r>
              <a:rPr lang="fr-FR" sz="2400"/>
              <a:t> - ébriété, une mauvaise dentition,prothèses supérieures.</a:t>
            </a:r>
            <a:endParaRPr sz="2400"/>
          </a:p>
          <a:p>
            <a:pPr indent="-342900" lvl="0" marL="411480" rtl="0" algn="l">
              <a:spcBef>
                <a:spcPts val="700"/>
              </a:spcBef>
              <a:spcAft>
                <a:spcPts val="0"/>
              </a:spcAft>
              <a:buSzPts val="2280"/>
              <a:buNone/>
            </a:pPr>
            <a:r>
              <a:rPr i="1" lang="fr-FR" sz="2400"/>
              <a:t>œsophagiens</a:t>
            </a:r>
            <a:r>
              <a:rPr lang="fr-FR" sz="2400"/>
              <a:t> - sténoses œsophagiennes,spasmes, tumeurs</a:t>
            </a:r>
            <a:endParaRPr/>
          </a:p>
          <a:p>
            <a:pPr indent="-342900" lvl="0" marL="411480" rtl="0" algn="l">
              <a:spcBef>
                <a:spcPts val="700"/>
              </a:spcBef>
              <a:spcAft>
                <a:spcPts val="0"/>
              </a:spcAft>
              <a:buSzPts val="2280"/>
              <a:buNone/>
            </a:pPr>
            <a:r>
              <a:t/>
            </a:r>
            <a:endParaRPr sz="2400"/>
          </a:p>
          <a:p>
            <a:pPr indent="-342900" lvl="0" marL="411480" rtl="0" algn="l">
              <a:spcBef>
                <a:spcPts val="700"/>
              </a:spcBef>
              <a:spcAft>
                <a:spcPts val="0"/>
              </a:spcAft>
              <a:buSzPts val="2280"/>
              <a:buNone/>
            </a:pPr>
            <a:r>
              <a:rPr b="1" i="1" lang="fr-FR" sz="2400">
                <a:solidFill>
                  <a:srgbClr val="FFC000"/>
                </a:solidFill>
              </a:rPr>
              <a:t>Localisation </a:t>
            </a:r>
            <a:endParaRPr/>
          </a:p>
          <a:p>
            <a:pPr indent="-342900" lvl="0" marL="411480" rtl="0" algn="l">
              <a:spcBef>
                <a:spcPts val="700"/>
              </a:spcBef>
              <a:spcAft>
                <a:spcPts val="0"/>
              </a:spcAft>
              <a:buSzPts val="2280"/>
              <a:buNone/>
            </a:pPr>
            <a:r>
              <a:rPr lang="fr-FR" sz="2400"/>
              <a:t> plus fréquemment au niveau des détroits physiologiques.</a:t>
            </a:r>
            <a:r>
              <a:rPr lang="fr-FR"/>
              <a:t> </a:t>
            </a:r>
            <a:endParaRPr/>
          </a:p>
          <a:p>
            <a:pPr indent="-161925" lvl="0" marL="411480" rtl="0" algn="l">
              <a:spcBef>
                <a:spcPts val="700"/>
              </a:spcBef>
              <a:spcAft>
                <a:spcPts val="0"/>
              </a:spcAft>
              <a:buSzPts val="285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7"/>
          <p:cNvSpPr txBox="1"/>
          <p:nvPr>
            <p:ph type="title"/>
          </p:nvPr>
        </p:nvSpPr>
        <p:spPr>
          <a:xfrm>
            <a:off x="457200" y="228600"/>
            <a:ext cx="8229600" cy="119786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CORPS  ÉTRANGERS  ŒSOPHAGIENS</a:t>
            </a:r>
            <a:endParaRPr sz="3200">
              <a:latin typeface="Corbel"/>
              <a:ea typeface="Corbel"/>
              <a:cs typeface="Corbel"/>
              <a:sym typeface="Corbel"/>
            </a:endParaRPr>
          </a:p>
        </p:txBody>
      </p:sp>
      <p:pic>
        <p:nvPicPr>
          <p:cNvPr descr="C:\Users\Alex\Desktop\images.jpg" id="330" name="Google Shape;330;p27"/>
          <p:cNvPicPr preferRelativeResize="0"/>
          <p:nvPr/>
        </p:nvPicPr>
        <p:blipFill rotWithShape="1">
          <a:blip r:embed="rId3">
            <a:alphaModFix/>
          </a:blip>
          <a:srcRect b="0" l="0" r="0" t="0"/>
          <a:stretch/>
        </p:blipFill>
        <p:spPr>
          <a:xfrm>
            <a:off x="5562600" y="1752600"/>
            <a:ext cx="3429000" cy="4191000"/>
          </a:xfrm>
          <a:prstGeom prst="rect">
            <a:avLst/>
          </a:prstGeom>
          <a:noFill/>
          <a:ln>
            <a:noFill/>
          </a:ln>
        </p:spPr>
      </p:pic>
      <p:pic>
        <p:nvPicPr>
          <p:cNvPr descr="C:\Users\Alex\Desktop\figure1.gif" id="331" name="Google Shape;331;p27"/>
          <p:cNvPicPr preferRelativeResize="0"/>
          <p:nvPr/>
        </p:nvPicPr>
        <p:blipFill rotWithShape="1">
          <a:blip r:embed="rId4">
            <a:alphaModFix/>
          </a:blip>
          <a:srcRect b="0" l="0" r="0" t="0"/>
          <a:stretch/>
        </p:blipFill>
        <p:spPr>
          <a:xfrm>
            <a:off x="609600" y="1752600"/>
            <a:ext cx="3352800" cy="4220127"/>
          </a:xfrm>
          <a:prstGeom prst="rect">
            <a:avLst/>
          </a:prstGeom>
          <a:noFill/>
          <a:ln>
            <a:noFill/>
          </a:ln>
        </p:spPr>
      </p:pic>
      <p:pic>
        <p:nvPicPr>
          <p:cNvPr descr="C:\Users\Alex\Desktop\piece-oesoface.gif" id="332" name="Google Shape;332;p27"/>
          <p:cNvPicPr preferRelativeResize="0"/>
          <p:nvPr/>
        </p:nvPicPr>
        <p:blipFill rotWithShape="1">
          <a:blip r:embed="rId5">
            <a:alphaModFix/>
          </a:blip>
          <a:srcRect b="0" l="0" r="0" t="0"/>
          <a:stretch/>
        </p:blipFill>
        <p:spPr>
          <a:xfrm>
            <a:off x="3962400" y="1752600"/>
            <a:ext cx="1600200" cy="20859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8"/>
          <p:cNvSpPr txBox="1"/>
          <p:nvPr>
            <p:ph type="title"/>
          </p:nvPr>
        </p:nvSpPr>
        <p:spPr>
          <a:xfrm>
            <a:off x="381000" y="152400"/>
            <a:ext cx="87630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CORPS  ÉTRANGERS  ŒSOPHAGIENS</a:t>
            </a:r>
            <a:endParaRPr sz="3200">
              <a:latin typeface="Corbel"/>
              <a:ea typeface="Corbel"/>
              <a:cs typeface="Corbel"/>
              <a:sym typeface="Corbel"/>
            </a:endParaRPr>
          </a:p>
        </p:txBody>
      </p:sp>
      <p:sp>
        <p:nvSpPr>
          <p:cNvPr id="338" name="Google Shape;338;p28"/>
          <p:cNvSpPr txBox="1"/>
          <p:nvPr>
            <p:ph idx="1" type="body"/>
          </p:nvPr>
        </p:nvSpPr>
        <p:spPr>
          <a:xfrm>
            <a:off x="304800" y="1066800"/>
            <a:ext cx="8382000" cy="5791200"/>
          </a:xfrm>
          <a:prstGeom prst="rect">
            <a:avLst/>
          </a:prstGeom>
          <a:noFill/>
          <a:ln>
            <a:noFill/>
          </a:ln>
        </p:spPr>
        <p:txBody>
          <a:bodyPr anchorCtr="0" anchor="t" bIns="45700" lIns="91425" spcFirstLastPara="1" rIns="91425" wrap="square" tIns="45700">
            <a:normAutofit fontScale="92500" lnSpcReduction="10000"/>
          </a:bodyPr>
          <a:lstStyle/>
          <a:p>
            <a:pPr indent="-342900" lvl="0" marL="411480" rtl="0" algn="l">
              <a:spcBef>
                <a:spcPts val="0"/>
              </a:spcBef>
              <a:spcAft>
                <a:spcPts val="0"/>
              </a:spcAft>
              <a:buSzPct val="95000"/>
              <a:buNone/>
            </a:pPr>
            <a:r>
              <a:rPr b="1" lang="fr-FR" sz="2600">
                <a:solidFill>
                  <a:srgbClr val="FFC000"/>
                </a:solidFill>
              </a:rPr>
              <a:t>Symptomatologie </a:t>
            </a:r>
            <a:r>
              <a:rPr lang="fr-FR" sz="2600">
                <a:solidFill>
                  <a:srgbClr val="FFC000"/>
                </a:solidFill>
              </a:rPr>
              <a:t>(syndrome œsophagien) </a:t>
            </a:r>
            <a:endParaRPr/>
          </a:p>
          <a:p>
            <a:pPr indent="-342900" lvl="0" marL="411480" rtl="0" algn="l">
              <a:spcBef>
                <a:spcPts val="700"/>
              </a:spcBef>
              <a:spcAft>
                <a:spcPts val="0"/>
              </a:spcAft>
              <a:buSzPct val="150000"/>
              <a:buNone/>
            </a:pPr>
            <a:r>
              <a:rPr lang="fr-FR"/>
              <a:t> -</a:t>
            </a:r>
            <a:r>
              <a:rPr lang="fr-FR" sz="1900"/>
              <a:t>dysphagie </a:t>
            </a:r>
            <a:endParaRPr sz="1900"/>
          </a:p>
          <a:p>
            <a:pPr indent="-342900" lvl="0" marL="411480" rtl="0" algn="l">
              <a:spcBef>
                <a:spcPts val="700"/>
              </a:spcBef>
              <a:spcAft>
                <a:spcPts val="0"/>
              </a:spcAft>
              <a:buSzPct val="95000"/>
              <a:buNone/>
            </a:pPr>
            <a:r>
              <a:rPr lang="fr-FR" sz="1900"/>
              <a:t> - régurgitation </a:t>
            </a:r>
            <a:endParaRPr sz="1900"/>
          </a:p>
          <a:p>
            <a:pPr indent="-342900" lvl="0" marL="411480" rtl="0" algn="l">
              <a:spcBef>
                <a:spcPts val="700"/>
              </a:spcBef>
              <a:spcAft>
                <a:spcPts val="0"/>
              </a:spcAft>
              <a:buSzPct val="95000"/>
              <a:buNone/>
            </a:pPr>
            <a:r>
              <a:rPr lang="fr-FR" sz="1900"/>
              <a:t> - salivation</a:t>
            </a:r>
            <a:endParaRPr sz="1900"/>
          </a:p>
          <a:p>
            <a:pPr indent="-342900" lvl="0" marL="411480" rtl="0" algn="l">
              <a:spcBef>
                <a:spcPts val="700"/>
              </a:spcBef>
              <a:spcAft>
                <a:spcPts val="0"/>
              </a:spcAft>
              <a:buSzPct val="95000"/>
              <a:buNone/>
            </a:pPr>
            <a:r>
              <a:rPr b="1" lang="fr-FR" sz="2200">
                <a:solidFill>
                  <a:srgbClr val="FFC000"/>
                </a:solidFill>
              </a:rPr>
              <a:t>Dysphagie</a:t>
            </a:r>
            <a:r>
              <a:rPr lang="fr-FR" sz="2200">
                <a:solidFill>
                  <a:srgbClr val="FFC000"/>
                </a:solidFill>
              </a:rPr>
              <a:t> </a:t>
            </a:r>
            <a:endParaRPr sz="2200">
              <a:solidFill>
                <a:srgbClr val="FFC000"/>
              </a:solidFill>
            </a:endParaRPr>
          </a:p>
          <a:p>
            <a:pPr indent="-342900" lvl="0" marL="411480" rtl="0" algn="l">
              <a:spcBef>
                <a:spcPts val="700"/>
              </a:spcBef>
              <a:spcAft>
                <a:spcPts val="0"/>
              </a:spcAft>
              <a:buSzPct val="95000"/>
              <a:buNone/>
            </a:pPr>
            <a:r>
              <a:rPr lang="fr-FR" sz="1900"/>
              <a:t> survient immédiatement,un arrêt complet du transit œsophagien </a:t>
            </a:r>
            <a:endParaRPr sz="1900"/>
          </a:p>
          <a:p>
            <a:pPr indent="-342900" lvl="0" marL="411480" rtl="0" algn="l">
              <a:spcBef>
                <a:spcPts val="700"/>
              </a:spcBef>
              <a:spcAft>
                <a:spcPts val="0"/>
              </a:spcAft>
              <a:buSzPct val="95000"/>
              <a:buNone/>
            </a:pPr>
            <a:r>
              <a:rPr lang="fr-FR" sz="1900"/>
              <a:t>grands corps étrangers qui obstruent complètement le lumen </a:t>
            </a:r>
            <a:endParaRPr sz="1900"/>
          </a:p>
          <a:p>
            <a:pPr indent="-342900" lvl="0" marL="411480" rtl="0" algn="l">
              <a:spcBef>
                <a:spcPts val="700"/>
              </a:spcBef>
              <a:spcAft>
                <a:spcPts val="0"/>
              </a:spcAft>
              <a:buSzPct val="95000"/>
              <a:buNone/>
            </a:pPr>
            <a:r>
              <a:rPr b="1" lang="fr-FR" sz="2200">
                <a:solidFill>
                  <a:srgbClr val="FFC000"/>
                </a:solidFill>
              </a:rPr>
              <a:t>Régurgitation</a:t>
            </a:r>
            <a:r>
              <a:rPr lang="fr-FR" sz="2200"/>
              <a:t> </a:t>
            </a:r>
            <a:endParaRPr sz="1900"/>
          </a:p>
          <a:p>
            <a:pPr indent="-342900" lvl="0" marL="411480" rtl="0" algn="l">
              <a:spcBef>
                <a:spcPts val="700"/>
              </a:spcBef>
              <a:spcAft>
                <a:spcPts val="0"/>
              </a:spcAft>
              <a:buSzPct val="95000"/>
              <a:buNone/>
            </a:pPr>
            <a:r>
              <a:rPr lang="fr-FR" sz="1900"/>
              <a:t> est tant précoce que le corps étranger est tant haut enclave</a:t>
            </a:r>
            <a:endParaRPr sz="1900"/>
          </a:p>
          <a:p>
            <a:pPr indent="-342900" lvl="0" marL="411480" rtl="0" algn="l">
              <a:spcBef>
                <a:spcPts val="700"/>
              </a:spcBef>
              <a:spcAft>
                <a:spcPts val="0"/>
              </a:spcAft>
              <a:buSzPct val="95000"/>
              <a:buNone/>
            </a:pPr>
            <a:r>
              <a:rPr b="1" lang="fr-FR" sz="2200">
                <a:solidFill>
                  <a:srgbClr val="FFC000"/>
                </a:solidFill>
              </a:rPr>
              <a:t>Douleur</a:t>
            </a:r>
            <a:r>
              <a:rPr lang="fr-FR" sz="2200">
                <a:solidFill>
                  <a:srgbClr val="FFC000"/>
                </a:solidFill>
              </a:rPr>
              <a:t> </a:t>
            </a:r>
            <a:endParaRPr sz="2200">
              <a:solidFill>
                <a:srgbClr val="FFC000"/>
              </a:solidFill>
            </a:endParaRPr>
          </a:p>
          <a:p>
            <a:pPr indent="-342900" lvl="0" marL="411480" rtl="0" algn="l">
              <a:spcBef>
                <a:spcPts val="700"/>
              </a:spcBef>
              <a:spcAft>
                <a:spcPts val="0"/>
              </a:spcAft>
              <a:buSzPct val="95000"/>
              <a:buNone/>
            </a:pPr>
            <a:r>
              <a:rPr lang="fr-FR" sz="1900"/>
              <a:t> - généralement rétro sternale </a:t>
            </a:r>
            <a:endParaRPr sz="1900"/>
          </a:p>
          <a:p>
            <a:pPr indent="-342900" lvl="0" marL="411480" rtl="0" algn="l">
              <a:spcBef>
                <a:spcPts val="700"/>
              </a:spcBef>
              <a:spcAft>
                <a:spcPts val="0"/>
              </a:spcAft>
              <a:buSzPct val="95000"/>
              <a:buNone/>
            </a:pPr>
            <a:r>
              <a:rPr lang="fr-FR" sz="1900"/>
              <a:t>- interscapulaire et la fièvre = &gt; suspicion de perforation œsophagienne</a:t>
            </a:r>
            <a:endParaRPr/>
          </a:p>
          <a:p>
            <a:pPr indent="-342900" lvl="0" marL="411480" rtl="0" algn="l">
              <a:spcBef>
                <a:spcPts val="700"/>
              </a:spcBef>
              <a:spcAft>
                <a:spcPts val="0"/>
              </a:spcAft>
              <a:buSzPct val="95000"/>
              <a:buNone/>
            </a:pPr>
            <a:r>
              <a:rPr b="1" lang="fr-FR" sz="1900">
                <a:solidFill>
                  <a:srgbClr val="FFC000"/>
                </a:solidFill>
              </a:rPr>
              <a:t> </a:t>
            </a:r>
            <a:r>
              <a:rPr b="1" lang="fr-FR" sz="2200">
                <a:solidFill>
                  <a:srgbClr val="FFC000"/>
                </a:solidFill>
              </a:rPr>
              <a:t>Diagnostic positif</a:t>
            </a:r>
            <a:r>
              <a:rPr b="1" lang="fr-FR" sz="2200"/>
              <a:t> </a:t>
            </a:r>
            <a:endParaRPr sz="2200"/>
          </a:p>
          <a:p>
            <a:pPr indent="-342900" lvl="0" marL="411480" rtl="0" algn="l">
              <a:spcBef>
                <a:spcPts val="700"/>
              </a:spcBef>
              <a:spcAft>
                <a:spcPts val="0"/>
              </a:spcAft>
              <a:buSzPct val="95000"/>
              <a:buNone/>
            </a:pPr>
            <a:r>
              <a:rPr lang="fr-FR" sz="1900"/>
              <a:t>Anamnèse + ex. radiologique (+/−  agent de contraste)  + œsophagoscopie</a:t>
            </a:r>
            <a:endParaRPr sz="1900"/>
          </a:p>
          <a:p>
            <a:pPr indent="-342900" lvl="0" marL="411480" rtl="0" algn="l">
              <a:spcBef>
                <a:spcPts val="700"/>
              </a:spcBef>
              <a:spcAft>
                <a:spcPts val="0"/>
              </a:spcAft>
              <a:buSzPct val="95000"/>
              <a:buNone/>
            </a:pPr>
            <a:r>
              <a:rPr b="1" lang="fr-FR" sz="2200">
                <a:solidFill>
                  <a:srgbClr val="FFC000"/>
                </a:solidFill>
              </a:rPr>
              <a:t>Traitement </a:t>
            </a:r>
            <a:endParaRPr sz="2200"/>
          </a:p>
          <a:p>
            <a:pPr indent="-342900" lvl="0" marL="411480" rtl="0" algn="l">
              <a:spcBef>
                <a:spcPts val="700"/>
              </a:spcBef>
              <a:spcAft>
                <a:spcPts val="0"/>
              </a:spcAft>
              <a:buSzPct val="95000"/>
              <a:buNone/>
            </a:pPr>
            <a:r>
              <a:rPr i="1" lang="fr-FR" sz="1900" u="sng"/>
              <a:t>Œsophagoscopie  -  </a:t>
            </a:r>
            <a:r>
              <a:rPr lang="fr-FR" sz="1900"/>
              <a:t>extraction par des voies naturelles sous contrôle visuel </a:t>
            </a:r>
            <a:endParaRPr sz="19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9"/>
          <p:cNvSpPr txBox="1"/>
          <p:nvPr>
            <p:ph type="title"/>
          </p:nvPr>
        </p:nvSpPr>
        <p:spPr>
          <a:xfrm>
            <a:off x="381000" y="304800"/>
            <a:ext cx="8305800" cy="112166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ŒSOPHAGITE  CORROSIVE</a:t>
            </a:r>
            <a:br>
              <a:rPr lang="fr-FR"/>
            </a:br>
            <a:endParaRPr/>
          </a:p>
        </p:txBody>
      </p:sp>
      <p:sp>
        <p:nvSpPr>
          <p:cNvPr id="344" name="Google Shape;344;p29"/>
          <p:cNvSpPr txBox="1"/>
          <p:nvPr>
            <p:ph idx="1" type="body"/>
          </p:nvPr>
        </p:nvSpPr>
        <p:spPr>
          <a:xfrm>
            <a:off x="381000" y="1371600"/>
            <a:ext cx="8305800" cy="4983960"/>
          </a:xfrm>
          <a:prstGeom prst="rect">
            <a:avLst/>
          </a:prstGeom>
          <a:noFill/>
          <a:ln>
            <a:noFill/>
          </a:ln>
        </p:spPr>
        <p:txBody>
          <a:bodyPr anchorCtr="0" anchor="t" bIns="45700" lIns="91425" spcFirstLastPara="1" rIns="91425" wrap="square" tIns="45700">
            <a:normAutofit fontScale="70000" lnSpcReduction="20000"/>
          </a:bodyPr>
          <a:lstStyle/>
          <a:p>
            <a:pPr indent="-342900" lvl="0" marL="411480" rtl="0" algn="l">
              <a:spcBef>
                <a:spcPts val="0"/>
              </a:spcBef>
              <a:spcAft>
                <a:spcPts val="0"/>
              </a:spcAft>
              <a:buSzPct val="95000"/>
              <a:buNone/>
            </a:pPr>
            <a:r>
              <a:rPr b="1" lang="fr-FR">
                <a:solidFill>
                  <a:srgbClr val="FFC000"/>
                </a:solidFill>
              </a:rPr>
              <a:t>Étiologie :</a:t>
            </a:r>
            <a:endParaRPr>
              <a:solidFill>
                <a:srgbClr val="FFC000"/>
              </a:solidFill>
            </a:endParaRPr>
          </a:p>
          <a:p>
            <a:pPr indent="-342900" lvl="0" marL="411480" rtl="0" algn="l">
              <a:spcBef>
                <a:spcPts val="700"/>
              </a:spcBef>
              <a:spcAft>
                <a:spcPts val="0"/>
              </a:spcAft>
              <a:buSzPct val="95000"/>
              <a:buNone/>
            </a:pPr>
            <a:r>
              <a:rPr lang="fr-FR"/>
              <a:t>        soude caustique - hydroxyde de sodium – 90 % des cas</a:t>
            </a:r>
            <a:br>
              <a:rPr lang="fr-FR"/>
            </a:br>
            <a:r>
              <a:rPr lang="fr-FR"/>
              <a:t>  bases - l’ammoniac, le formaldéhyde </a:t>
            </a:r>
            <a:endParaRPr/>
          </a:p>
          <a:p>
            <a:pPr indent="-342900" lvl="0" marL="411480" rtl="0" algn="l">
              <a:spcBef>
                <a:spcPts val="700"/>
              </a:spcBef>
              <a:spcAft>
                <a:spcPts val="0"/>
              </a:spcAft>
              <a:buSzPct val="95000"/>
              <a:buNone/>
            </a:pPr>
            <a:r>
              <a:rPr lang="fr-FR"/>
              <a:t>        acides -  l’acide sulfurique, l’acide chlorhydrique</a:t>
            </a:r>
            <a:endParaRPr/>
          </a:p>
          <a:p>
            <a:pPr indent="-342900" lvl="0" marL="411480" rtl="0" algn="l">
              <a:spcBef>
                <a:spcPts val="700"/>
              </a:spcBef>
              <a:spcAft>
                <a:spcPts val="0"/>
              </a:spcAft>
              <a:buSzPct val="95000"/>
              <a:buNone/>
            </a:pPr>
            <a:r>
              <a:rPr lang="fr-FR"/>
              <a:t> </a:t>
            </a:r>
            <a:r>
              <a:rPr b="1" lang="fr-FR">
                <a:solidFill>
                  <a:srgbClr val="FFC000"/>
                </a:solidFill>
              </a:rPr>
              <a:t>Mécanisme</a:t>
            </a:r>
            <a:r>
              <a:rPr lang="fr-FR"/>
              <a:t> </a:t>
            </a:r>
            <a:endParaRPr/>
          </a:p>
          <a:p>
            <a:pPr indent="-342900" lvl="0" marL="411480" rtl="0" algn="l">
              <a:spcBef>
                <a:spcPts val="700"/>
              </a:spcBef>
              <a:spcAft>
                <a:spcPts val="0"/>
              </a:spcAft>
              <a:buSzPct val="95000"/>
              <a:buNone/>
            </a:pPr>
            <a:r>
              <a:rPr lang="fr-FR"/>
              <a:t>   ♦   ingestion accidentelle ∙ enfants ∙ adultes en état d’ébriété </a:t>
            </a:r>
            <a:endParaRPr/>
          </a:p>
          <a:p>
            <a:pPr indent="-342900" lvl="0" marL="411480" rtl="0" algn="l">
              <a:spcBef>
                <a:spcPts val="700"/>
              </a:spcBef>
              <a:spcAft>
                <a:spcPts val="0"/>
              </a:spcAft>
              <a:buSzPct val="95000"/>
              <a:buNone/>
            </a:pPr>
            <a:r>
              <a:rPr lang="fr-FR"/>
              <a:t>   ♦  ingestion volontaire à des fins suicidaires</a:t>
            </a:r>
            <a:r>
              <a:rPr lang="fr-FR">
                <a:solidFill>
                  <a:srgbClr val="FFC000"/>
                </a:solidFill>
              </a:rPr>
              <a:t> </a:t>
            </a:r>
            <a:endParaRPr>
              <a:solidFill>
                <a:srgbClr val="FFC000"/>
              </a:solidFill>
            </a:endParaRPr>
          </a:p>
          <a:p>
            <a:pPr indent="-342900" lvl="0" marL="411480" rtl="0" algn="l">
              <a:spcBef>
                <a:spcPts val="700"/>
              </a:spcBef>
              <a:spcAft>
                <a:spcPts val="0"/>
              </a:spcAft>
              <a:buSzPct val="95000"/>
              <a:buNone/>
            </a:pPr>
            <a:r>
              <a:rPr b="1" lang="fr-FR">
                <a:solidFill>
                  <a:srgbClr val="FFC000"/>
                </a:solidFill>
              </a:rPr>
              <a:t>Anatomie pathologique </a:t>
            </a:r>
            <a:r>
              <a:rPr lang="fr-FR"/>
              <a:t> (dépendent)</a:t>
            </a:r>
            <a:endParaRPr/>
          </a:p>
          <a:p>
            <a:pPr indent="-342900" lvl="0" marL="411480" rtl="0" algn="l">
              <a:spcBef>
                <a:spcPts val="700"/>
              </a:spcBef>
              <a:spcAft>
                <a:spcPts val="0"/>
              </a:spcAft>
              <a:buSzPct val="95000"/>
              <a:buNone/>
            </a:pPr>
            <a:r>
              <a:rPr lang="fr-FR"/>
              <a:t>    - la quantité de substance ingérée </a:t>
            </a:r>
            <a:endParaRPr/>
          </a:p>
          <a:p>
            <a:pPr indent="-342900" lvl="0" marL="411480" rtl="0" algn="l">
              <a:spcBef>
                <a:spcPts val="700"/>
              </a:spcBef>
              <a:spcAft>
                <a:spcPts val="0"/>
              </a:spcAft>
              <a:buSzPct val="95000"/>
              <a:buNone/>
            </a:pPr>
            <a:r>
              <a:rPr lang="fr-FR"/>
              <a:t>    - la concentration de la substance </a:t>
            </a:r>
            <a:endParaRPr/>
          </a:p>
          <a:p>
            <a:pPr indent="-342900" lvl="0" marL="411480" rtl="0" algn="l">
              <a:spcBef>
                <a:spcPts val="700"/>
              </a:spcBef>
              <a:spcAft>
                <a:spcPts val="0"/>
              </a:spcAft>
              <a:buSzPct val="95000"/>
              <a:buNone/>
            </a:pPr>
            <a:r>
              <a:rPr lang="fr-FR"/>
              <a:t>    - le temps de contact avec la paroi de l’œsophage</a:t>
            </a:r>
            <a:endParaRPr/>
          </a:p>
          <a:p>
            <a:pPr indent="-342900" lvl="0" marL="411480" rtl="0" algn="l">
              <a:spcBef>
                <a:spcPts val="700"/>
              </a:spcBef>
              <a:spcAft>
                <a:spcPts val="0"/>
              </a:spcAft>
              <a:buSzPct val="95000"/>
              <a:buNone/>
            </a:pPr>
            <a:r>
              <a:rPr lang="fr-FR"/>
              <a:t>      les détroits physiologiques - le lieu d’élection pour les lésions</a:t>
            </a:r>
            <a:endParaRPr/>
          </a:p>
          <a:p>
            <a:pPr indent="-342900" lvl="0" marL="411480" rtl="0" algn="l">
              <a:spcBef>
                <a:spcPts val="700"/>
              </a:spcBef>
              <a:spcAft>
                <a:spcPts val="0"/>
              </a:spcAft>
              <a:buSzPct val="95000"/>
              <a:buNone/>
            </a:pPr>
            <a:r>
              <a:rPr lang="fr-FR"/>
              <a:t>      les bases → des lésions plus profondes → liquéfaction de protéine </a:t>
            </a:r>
            <a:endParaRPr/>
          </a:p>
          <a:p>
            <a:pPr indent="-342900" lvl="0" marL="411480" rtl="0" algn="l">
              <a:spcBef>
                <a:spcPts val="700"/>
              </a:spcBef>
              <a:spcAft>
                <a:spcPts val="0"/>
              </a:spcAft>
              <a:buSzPct val="95000"/>
              <a:buNone/>
            </a:pPr>
            <a:r>
              <a:rPr lang="fr-FR"/>
              <a:t>      les acides → coagulent</a:t>
            </a:r>
            <a:endParaRPr/>
          </a:p>
          <a:p>
            <a:pPr indent="-216217" lvl="0" marL="411480" rtl="0" algn="l">
              <a:spcBef>
                <a:spcPts val="700"/>
              </a:spcBef>
              <a:spcAft>
                <a:spcPts val="0"/>
              </a:spcAft>
              <a:buSzPct val="950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0"/>
          <p:cNvSpPr txBox="1"/>
          <p:nvPr>
            <p:ph type="title"/>
          </p:nvPr>
        </p:nvSpPr>
        <p:spPr>
          <a:xfrm>
            <a:off x="381000" y="228600"/>
            <a:ext cx="8305800" cy="119786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ŒSOPHAGITE  CORROSIVE</a:t>
            </a:r>
            <a:endParaRPr sz="3200">
              <a:latin typeface="Corbel"/>
              <a:ea typeface="Corbel"/>
              <a:cs typeface="Corbel"/>
              <a:sym typeface="Corbel"/>
            </a:endParaRPr>
          </a:p>
        </p:txBody>
      </p:sp>
      <p:sp>
        <p:nvSpPr>
          <p:cNvPr id="350" name="Google Shape;350;p30"/>
          <p:cNvSpPr txBox="1"/>
          <p:nvPr>
            <p:ph idx="1" type="body"/>
          </p:nvPr>
        </p:nvSpPr>
        <p:spPr>
          <a:xfrm>
            <a:off x="457200" y="1143000"/>
            <a:ext cx="8686800" cy="5715000"/>
          </a:xfrm>
          <a:prstGeom prst="rect">
            <a:avLst/>
          </a:prstGeom>
          <a:noFill/>
          <a:ln>
            <a:noFill/>
          </a:ln>
        </p:spPr>
        <p:txBody>
          <a:bodyPr anchorCtr="0" anchor="t" bIns="45700" lIns="91425" spcFirstLastPara="1" rIns="91425" wrap="square" tIns="45700">
            <a:normAutofit fontScale="70000" lnSpcReduction="20000"/>
          </a:bodyPr>
          <a:lstStyle/>
          <a:p>
            <a:pPr indent="-342900" lvl="0" marL="411480" rtl="0" algn="l">
              <a:spcBef>
                <a:spcPts val="0"/>
              </a:spcBef>
              <a:spcAft>
                <a:spcPts val="0"/>
              </a:spcAft>
              <a:buSzPct val="95000"/>
              <a:buNone/>
            </a:pPr>
            <a:r>
              <a:rPr b="1" lang="fr-FR" sz="3800">
                <a:solidFill>
                  <a:srgbClr val="FFC000"/>
                </a:solidFill>
              </a:rPr>
              <a:t>Brûlure présente  4 stades</a:t>
            </a:r>
            <a:r>
              <a:rPr lang="fr-FR"/>
              <a:t> </a:t>
            </a:r>
            <a:endParaRPr/>
          </a:p>
          <a:p>
            <a:pPr indent="-342900" lvl="0" marL="411480" rtl="0" algn="l">
              <a:spcBef>
                <a:spcPts val="700"/>
              </a:spcBef>
              <a:spcAft>
                <a:spcPts val="0"/>
              </a:spcAft>
              <a:buSzPct val="95000"/>
              <a:buChar char="▪"/>
            </a:pPr>
            <a:r>
              <a:rPr lang="fr-FR" sz="2900"/>
              <a:t>- Stade I - rougeur et l’œdème </a:t>
            </a:r>
            <a:endParaRPr sz="2900"/>
          </a:p>
          <a:p>
            <a:pPr indent="-342900" lvl="0" marL="411480" rtl="0" algn="l">
              <a:spcBef>
                <a:spcPts val="700"/>
              </a:spcBef>
              <a:spcAft>
                <a:spcPts val="0"/>
              </a:spcAft>
              <a:buSzPct val="95000"/>
              <a:buChar char="▪"/>
            </a:pPr>
            <a:r>
              <a:rPr lang="fr-FR" sz="2900"/>
              <a:t>- Stade II - des rougeurs, d’œdème et des phlyctènes </a:t>
            </a:r>
            <a:endParaRPr sz="2900"/>
          </a:p>
          <a:p>
            <a:pPr indent="-342900" lvl="0" marL="411480" rtl="0" algn="l">
              <a:spcBef>
                <a:spcPts val="700"/>
              </a:spcBef>
              <a:spcAft>
                <a:spcPts val="0"/>
              </a:spcAft>
              <a:buSzPct val="95000"/>
              <a:buChar char="▪"/>
            </a:pPr>
            <a:r>
              <a:rPr lang="fr-FR" sz="2900"/>
              <a:t>- Stade III - ulcération </a:t>
            </a:r>
            <a:endParaRPr sz="2900"/>
          </a:p>
          <a:p>
            <a:pPr indent="-342900" lvl="0" marL="411480" rtl="0" algn="l">
              <a:spcBef>
                <a:spcPts val="700"/>
              </a:spcBef>
              <a:spcAft>
                <a:spcPts val="0"/>
              </a:spcAft>
              <a:buSzPct val="95000"/>
              <a:buChar char="▪"/>
            </a:pPr>
            <a:r>
              <a:rPr lang="fr-FR" sz="2900"/>
              <a:t>- Stade IV - ulcération et nécrose</a:t>
            </a:r>
            <a:endParaRPr/>
          </a:p>
          <a:p>
            <a:pPr indent="-182435" lvl="0" marL="411480" rtl="0" algn="l">
              <a:spcBef>
                <a:spcPts val="700"/>
              </a:spcBef>
              <a:spcAft>
                <a:spcPts val="0"/>
              </a:spcAft>
              <a:buSzPct val="95000"/>
              <a:buNone/>
            </a:pPr>
            <a:r>
              <a:t/>
            </a:r>
            <a:endParaRPr b="1" sz="3800">
              <a:solidFill>
                <a:srgbClr val="FFC000"/>
              </a:solidFill>
            </a:endParaRPr>
          </a:p>
          <a:p>
            <a:pPr indent="-342900" lvl="0" marL="411480" rtl="0" algn="l">
              <a:spcBef>
                <a:spcPts val="700"/>
              </a:spcBef>
              <a:spcAft>
                <a:spcPts val="0"/>
              </a:spcAft>
              <a:buSzPct val="95000"/>
              <a:buNone/>
            </a:pPr>
            <a:r>
              <a:rPr b="1" lang="fr-FR" sz="3800">
                <a:solidFill>
                  <a:srgbClr val="FFC000"/>
                </a:solidFill>
              </a:rPr>
              <a:t> Développement d’une sténose de l’œsophage</a:t>
            </a:r>
            <a:endParaRPr/>
          </a:p>
          <a:p>
            <a:pPr indent="-220440" lvl="0" marL="411480" rtl="0" algn="l">
              <a:spcBef>
                <a:spcPts val="700"/>
              </a:spcBef>
              <a:spcAft>
                <a:spcPts val="0"/>
              </a:spcAft>
              <a:buSzPct val="95000"/>
              <a:buNone/>
            </a:pPr>
            <a:r>
              <a:t/>
            </a:r>
            <a:endParaRPr sz="2900"/>
          </a:p>
          <a:p>
            <a:pPr indent="-342900" lvl="0" marL="411480" rtl="0" algn="l">
              <a:spcBef>
                <a:spcPts val="700"/>
              </a:spcBef>
              <a:spcAft>
                <a:spcPts val="0"/>
              </a:spcAft>
              <a:buSzPct val="95000"/>
              <a:buChar char="▪"/>
            </a:pPr>
            <a:r>
              <a:rPr b="1" lang="fr-FR" sz="2900">
                <a:solidFill>
                  <a:srgbClr val="FFC000"/>
                </a:solidFill>
              </a:rPr>
              <a:t>Phase I</a:t>
            </a:r>
            <a:r>
              <a:rPr lang="fr-FR" sz="2900">
                <a:solidFill>
                  <a:srgbClr val="FFC000"/>
                </a:solidFill>
              </a:rPr>
              <a:t> - </a:t>
            </a:r>
            <a:r>
              <a:rPr b="1" lang="fr-FR" sz="2900">
                <a:solidFill>
                  <a:srgbClr val="FFC000"/>
                </a:solidFill>
              </a:rPr>
              <a:t>de choc</a:t>
            </a:r>
            <a:r>
              <a:rPr lang="fr-FR" sz="2900">
                <a:solidFill>
                  <a:srgbClr val="FFC000"/>
                </a:solidFill>
              </a:rPr>
              <a:t> </a:t>
            </a:r>
            <a:r>
              <a:rPr lang="fr-FR" sz="2900"/>
              <a:t>- congestion, œdème et nécrose →  l’élimination des tissus nécrosés (7-14 jours) </a:t>
            </a:r>
            <a:endParaRPr sz="2900"/>
          </a:p>
          <a:p>
            <a:pPr indent="-342900" lvl="0" marL="411480" rtl="0" algn="l">
              <a:spcBef>
                <a:spcPts val="700"/>
              </a:spcBef>
              <a:spcAft>
                <a:spcPts val="0"/>
              </a:spcAft>
              <a:buSzPct val="95000"/>
              <a:buChar char="▪"/>
            </a:pPr>
            <a:r>
              <a:rPr b="1" lang="fr-FR" sz="2900">
                <a:solidFill>
                  <a:srgbClr val="FFC000"/>
                </a:solidFill>
              </a:rPr>
              <a:t>Phase II – apparaissent des</a:t>
            </a:r>
            <a:r>
              <a:rPr lang="fr-FR" sz="2900">
                <a:solidFill>
                  <a:srgbClr val="FFC000"/>
                </a:solidFill>
              </a:rPr>
              <a:t> </a:t>
            </a:r>
            <a:r>
              <a:rPr b="1" lang="fr-FR" sz="2900">
                <a:solidFill>
                  <a:srgbClr val="FFC000"/>
                </a:solidFill>
              </a:rPr>
              <a:t>phénomènes de guérison </a:t>
            </a:r>
            <a:r>
              <a:rPr lang="fr-FR" sz="2900"/>
              <a:t>- se forme de tissu conjonctif sans des fibres élastiques, constitués uniquement des fibres de collagène - dure 21 jours </a:t>
            </a:r>
            <a:endParaRPr sz="2900"/>
          </a:p>
          <a:p>
            <a:pPr indent="-342900" lvl="0" marL="411480" rtl="0" algn="l">
              <a:spcBef>
                <a:spcPts val="700"/>
              </a:spcBef>
              <a:spcAft>
                <a:spcPts val="0"/>
              </a:spcAft>
              <a:buSzPct val="95000"/>
              <a:buChar char="▪"/>
            </a:pPr>
            <a:r>
              <a:rPr b="1" lang="fr-FR" sz="2900">
                <a:solidFill>
                  <a:srgbClr val="FFC000"/>
                </a:solidFill>
              </a:rPr>
              <a:t>Phase III - fausse étape guérison</a:t>
            </a:r>
            <a:r>
              <a:rPr lang="fr-FR" sz="2900">
                <a:solidFill>
                  <a:srgbClr val="FFC000"/>
                </a:solidFill>
              </a:rPr>
              <a:t> </a:t>
            </a:r>
            <a:r>
              <a:rPr lang="fr-FR" sz="2900"/>
              <a:t>- tissu cicatriciel diminue ↓ progressivement le lumen de l’œsophage, mais le patient mange assez bien </a:t>
            </a:r>
            <a:endParaRPr sz="2900"/>
          </a:p>
          <a:p>
            <a:pPr indent="-342900" lvl="0" marL="411480" rtl="0" algn="l">
              <a:spcBef>
                <a:spcPts val="700"/>
              </a:spcBef>
              <a:spcAft>
                <a:spcPts val="0"/>
              </a:spcAft>
              <a:buSzPct val="95000"/>
              <a:buChar char="▪"/>
            </a:pPr>
            <a:r>
              <a:rPr b="1" lang="fr-FR" sz="2900">
                <a:solidFill>
                  <a:srgbClr val="FFC000"/>
                </a:solidFill>
              </a:rPr>
              <a:t>Phase IV - sténose de l’œsophage</a:t>
            </a:r>
            <a:r>
              <a:rPr lang="fr-FR" sz="2900">
                <a:solidFill>
                  <a:srgbClr val="FFC000"/>
                </a:solidFill>
              </a:rPr>
              <a:t> </a:t>
            </a:r>
            <a:r>
              <a:rPr lang="fr-FR" sz="2900"/>
              <a:t>complète ou incomplète</a:t>
            </a:r>
            <a:endParaRPr/>
          </a:p>
          <a:p>
            <a:pPr indent="-220440" lvl="0" marL="411480" rtl="0" algn="l">
              <a:spcBef>
                <a:spcPts val="700"/>
              </a:spcBef>
              <a:spcAft>
                <a:spcPts val="0"/>
              </a:spcAft>
              <a:buSzPct val="95000"/>
              <a:buNone/>
            </a:pPr>
            <a:r>
              <a:t/>
            </a:r>
            <a:endParaRPr sz="29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1"/>
          <p:cNvSpPr txBox="1"/>
          <p:nvPr>
            <p:ph idx="1" type="body"/>
          </p:nvPr>
        </p:nvSpPr>
        <p:spPr>
          <a:xfrm>
            <a:off x="304800" y="1219200"/>
            <a:ext cx="8839200" cy="5136360"/>
          </a:xfrm>
          <a:prstGeom prst="rect">
            <a:avLst/>
          </a:prstGeom>
          <a:noFill/>
          <a:ln>
            <a:noFill/>
          </a:ln>
        </p:spPr>
        <p:txBody>
          <a:bodyPr anchorCtr="0" anchor="t" bIns="45700" lIns="91425" spcFirstLastPara="1" rIns="91425" wrap="square" tIns="45700">
            <a:normAutofit/>
          </a:bodyPr>
          <a:lstStyle/>
          <a:p>
            <a:pPr indent="-342900" lvl="0" marL="411480" rtl="0" algn="l">
              <a:spcBef>
                <a:spcPts val="0"/>
              </a:spcBef>
              <a:spcAft>
                <a:spcPts val="0"/>
              </a:spcAft>
              <a:buSzPts val="2660"/>
              <a:buNone/>
            </a:pPr>
            <a:r>
              <a:rPr b="1" lang="fr-FR" sz="2800">
                <a:solidFill>
                  <a:srgbClr val="FFC000"/>
                </a:solidFill>
              </a:rPr>
              <a:t>Symptomatologie </a:t>
            </a:r>
            <a:endParaRPr sz="2800">
              <a:solidFill>
                <a:srgbClr val="FFC000"/>
              </a:solidFill>
            </a:endParaRPr>
          </a:p>
          <a:p>
            <a:pPr indent="-342900" lvl="0" marL="411480" rtl="0" algn="l">
              <a:spcBef>
                <a:spcPts val="700"/>
              </a:spcBef>
              <a:spcAft>
                <a:spcPts val="0"/>
              </a:spcAft>
              <a:buSzPts val="2280"/>
              <a:buChar char="▪"/>
            </a:pPr>
            <a:r>
              <a:rPr i="1" lang="fr-FR" sz="2400" u="sng"/>
              <a:t>Dans la phase aiguë</a:t>
            </a:r>
            <a:r>
              <a:rPr lang="fr-FR" sz="2400" u="sng"/>
              <a:t> </a:t>
            </a:r>
            <a:r>
              <a:rPr lang="fr-FR" sz="2400"/>
              <a:t>- domine les symptômes du choc + la douleur vive, rétro sternale et / ou épigastrique, le patient ne peut pas avaler en raison de la douleur</a:t>
            </a:r>
            <a:endParaRPr sz="2400"/>
          </a:p>
          <a:p>
            <a:pPr indent="-342900" lvl="0" marL="411480" rtl="0" algn="l">
              <a:spcBef>
                <a:spcPts val="700"/>
              </a:spcBef>
              <a:spcAft>
                <a:spcPts val="0"/>
              </a:spcAft>
              <a:buSzPts val="2280"/>
              <a:buChar char="▪"/>
            </a:pPr>
            <a:r>
              <a:rPr i="1" lang="fr-FR" sz="2400" u="sng"/>
              <a:t>Dans la phase subaiguë</a:t>
            </a:r>
            <a:r>
              <a:rPr lang="fr-FR" sz="2400" u="sng"/>
              <a:t> </a:t>
            </a:r>
            <a:r>
              <a:rPr lang="fr-FR" sz="2400"/>
              <a:t>- la douleur diminue progressivement en intensité, le patient peut manger, période de fausse accalmie, trompeuse</a:t>
            </a:r>
            <a:endParaRPr sz="2400"/>
          </a:p>
          <a:p>
            <a:pPr indent="-342900" lvl="0" marL="411480" rtl="0" algn="l">
              <a:spcBef>
                <a:spcPts val="700"/>
              </a:spcBef>
              <a:spcAft>
                <a:spcPts val="0"/>
              </a:spcAft>
              <a:buSzPts val="2280"/>
              <a:buChar char="▪"/>
            </a:pPr>
            <a:r>
              <a:rPr i="1" lang="fr-FR" sz="2400" u="sng"/>
              <a:t>Phase chronique</a:t>
            </a:r>
            <a:r>
              <a:rPr lang="fr-FR" sz="2400" u="sng"/>
              <a:t> </a:t>
            </a:r>
            <a:r>
              <a:rPr lang="fr-FR" sz="2400"/>
              <a:t> de la sténose de l’œsophage,</a:t>
            </a:r>
            <a:endParaRPr/>
          </a:p>
          <a:p>
            <a:pPr indent="-342900" lvl="0" marL="411480" rtl="0" algn="l">
              <a:spcBef>
                <a:spcPts val="700"/>
              </a:spcBef>
              <a:spcAft>
                <a:spcPts val="0"/>
              </a:spcAft>
              <a:buSzPts val="2280"/>
              <a:buNone/>
            </a:pPr>
            <a:r>
              <a:rPr lang="fr-FR" sz="2400"/>
              <a:t>      une dysphagie, des régurgitations,sialorrhée</a:t>
            </a:r>
            <a:endParaRPr sz="2400"/>
          </a:p>
          <a:p>
            <a:pPr indent="-342900" lvl="0" marL="411480" rtl="0" algn="l">
              <a:spcBef>
                <a:spcPts val="700"/>
              </a:spcBef>
              <a:spcAft>
                <a:spcPts val="0"/>
              </a:spcAft>
              <a:buSzPts val="2660"/>
              <a:buNone/>
            </a:pPr>
            <a:r>
              <a:rPr b="1" lang="fr-FR" sz="2800">
                <a:solidFill>
                  <a:srgbClr val="FFC000"/>
                </a:solidFill>
              </a:rPr>
              <a:t>Diagnostic positif</a:t>
            </a:r>
            <a:r>
              <a:rPr b="1" lang="fr-FR" sz="2800"/>
              <a:t> </a:t>
            </a:r>
            <a:endParaRPr sz="2800"/>
          </a:p>
          <a:p>
            <a:pPr indent="-342900" lvl="0" marL="411480" rtl="0" algn="l">
              <a:spcBef>
                <a:spcPts val="700"/>
              </a:spcBef>
              <a:spcAft>
                <a:spcPts val="0"/>
              </a:spcAft>
              <a:buSzPts val="2280"/>
              <a:buNone/>
            </a:pPr>
            <a:r>
              <a:rPr lang="fr-FR" sz="2400"/>
              <a:t>Anamnèse +examen radiologique+endoscopique + </a:t>
            </a:r>
            <a:r>
              <a:rPr lang="fr-FR" sz="2400" u="sng"/>
              <a:t>œsophagoscopie</a:t>
            </a:r>
            <a:endParaRPr/>
          </a:p>
          <a:p>
            <a:pPr indent="-161925" lvl="0" marL="411480" rtl="0" algn="l">
              <a:spcBef>
                <a:spcPts val="700"/>
              </a:spcBef>
              <a:spcAft>
                <a:spcPts val="0"/>
              </a:spcAft>
              <a:buSzPts val="2850"/>
              <a:buNone/>
            </a:pPr>
            <a:r>
              <a:t/>
            </a:r>
            <a:endParaRPr/>
          </a:p>
        </p:txBody>
      </p:sp>
      <p:sp>
        <p:nvSpPr>
          <p:cNvPr id="356" name="Google Shape;356;p31"/>
          <p:cNvSpPr txBox="1"/>
          <p:nvPr>
            <p:ph type="title"/>
          </p:nvPr>
        </p:nvSpPr>
        <p:spPr>
          <a:xfrm>
            <a:off x="381000" y="228600"/>
            <a:ext cx="8305800" cy="838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ŒSOPHAGITE  CORROSIVE</a:t>
            </a:r>
            <a:endParaRPr sz="3200">
              <a:latin typeface="Corbel"/>
              <a:ea typeface="Corbel"/>
              <a:cs typeface="Corbel"/>
              <a:sym typeface="Corbe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2"/>
          <p:cNvSpPr txBox="1"/>
          <p:nvPr>
            <p:ph type="title"/>
          </p:nvPr>
        </p:nvSpPr>
        <p:spPr>
          <a:xfrm>
            <a:off x="381000" y="152400"/>
            <a:ext cx="8305800" cy="1066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ŒSOPHAGITE  CORROSIVE</a:t>
            </a:r>
            <a:endParaRPr b="1" sz="3200">
              <a:latin typeface="Corbel"/>
              <a:ea typeface="Corbel"/>
              <a:cs typeface="Corbel"/>
              <a:sym typeface="Corbel"/>
            </a:endParaRPr>
          </a:p>
        </p:txBody>
      </p:sp>
      <p:sp>
        <p:nvSpPr>
          <p:cNvPr id="362" name="Google Shape;362;p32"/>
          <p:cNvSpPr txBox="1"/>
          <p:nvPr>
            <p:ph idx="1" type="body"/>
          </p:nvPr>
        </p:nvSpPr>
        <p:spPr>
          <a:xfrm>
            <a:off x="381000" y="990600"/>
            <a:ext cx="8534400" cy="5867400"/>
          </a:xfrm>
          <a:prstGeom prst="rect">
            <a:avLst/>
          </a:prstGeom>
          <a:noFill/>
          <a:ln>
            <a:noFill/>
          </a:ln>
        </p:spPr>
        <p:txBody>
          <a:bodyPr anchorCtr="0" anchor="t" bIns="45700" lIns="91425" spcFirstLastPara="1" rIns="91425" wrap="square" tIns="45700">
            <a:normAutofit/>
          </a:bodyPr>
          <a:lstStyle/>
          <a:p>
            <a:pPr indent="-342900" lvl="0" marL="411480" rtl="0" algn="l">
              <a:spcBef>
                <a:spcPts val="0"/>
              </a:spcBef>
              <a:spcAft>
                <a:spcPts val="0"/>
              </a:spcAft>
              <a:buSzPts val="2660"/>
              <a:buNone/>
            </a:pPr>
            <a:r>
              <a:rPr b="1" lang="fr-FR" sz="2800">
                <a:solidFill>
                  <a:srgbClr val="FFC000"/>
                </a:solidFill>
              </a:rPr>
              <a:t>Traitement </a:t>
            </a:r>
            <a:endParaRPr b="1" sz="2800">
              <a:solidFill>
                <a:srgbClr val="FFC000"/>
              </a:solidFill>
            </a:endParaRPr>
          </a:p>
          <a:p>
            <a:pPr indent="-342900" lvl="0" marL="411480" rtl="0" algn="l">
              <a:spcBef>
                <a:spcPts val="700"/>
              </a:spcBef>
              <a:spcAft>
                <a:spcPts val="0"/>
              </a:spcAft>
              <a:buSzPts val="2280"/>
              <a:buNone/>
            </a:pPr>
            <a:r>
              <a:rPr b="1" i="1" lang="fr-FR" sz="2400" u="sng">
                <a:solidFill>
                  <a:srgbClr val="FFC000"/>
                </a:solidFill>
              </a:rPr>
              <a:t>phase</a:t>
            </a:r>
            <a:r>
              <a:rPr b="1" lang="fr-FR" sz="2400" u="sng">
                <a:solidFill>
                  <a:srgbClr val="FFC000"/>
                </a:solidFill>
              </a:rPr>
              <a:t> </a:t>
            </a:r>
            <a:r>
              <a:rPr b="1" i="1" lang="fr-FR" sz="2400" u="sng">
                <a:solidFill>
                  <a:srgbClr val="FFC000"/>
                </a:solidFill>
              </a:rPr>
              <a:t>aiguë</a:t>
            </a:r>
            <a:r>
              <a:rPr b="1" lang="fr-FR" sz="2400" u="sng">
                <a:solidFill>
                  <a:srgbClr val="FFC000"/>
                </a:solidFill>
              </a:rPr>
              <a:t> </a:t>
            </a:r>
            <a:r>
              <a:rPr lang="fr-FR" sz="2000"/>
              <a:t>- thérapie intensive </a:t>
            </a:r>
            <a:endParaRPr sz="2000"/>
          </a:p>
          <a:p>
            <a:pPr indent="-342900" lvl="0" marL="411480" rtl="0" algn="l">
              <a:spcBef>
                <a:spcPts val="700"/>
              </a:spcBef>
              <a:spcAft>
                <a:spcPts val="0"/>
              </a:spcAft>
              <a:buSzPts val="1900"/>
              <a:buNone/>
            </a:pPr>
            <a:r>
              <a:rPr i="1" lang="fr-FR" sz="2000" u="sng">
                <a:solidFill>
                  <a:srgbClr val="FFC000"/>
                </a:solidFill>
              </a:rPr>
              <a:t>la thérapie de l’état de choc </a:t>
            </a:r>
            <a:endParaRPr i="1" sz="2000" u="sng">
              <a:solidFill>
                <a:srgbClr val="FFC000"/>
              </a:solidFill>
            </a:endParaRPr>
          </a:p>
          <a:p>
            <a:pPr indent="-342900" lvl="0" marL="411480" rtl="0" algn="l">
              <a:spcBef>
                <a:spcPts val="700"/>
              </a:spcBef>
              <a:spcAft>
                <a:spcPts val="0"/>
              </a:spcAft>
              <a:buSzPts val="1900"/>
              <a:buNone/>
            </a:pPr>
            <a:r>
              <a:rPr lang="fr-FR" sz="2000"/>
              <a:t>♦ neutralisation la substance –  premières 3 heures</a:t>
            </a:r>
            <a:endParaRPr/>
          </a:p>
          <a:p>
            <a:pPr indent="-342900" lvl="0" marL="411480" rtl="0" algn="l">
              <a:spcBef>
                <a:spcPts val="700"/>
              </a:spcBef>
              <a:spcAft>
                <a:spcPts val="0"/>
              </a:spcAft>
              <a:buSzPts val="1900"/>
              <a:buNone/>
            </a:pPr>
            <a:r>
              <a:rPr lang="fr-FR" sz="2000"/>
              <a:t>    ∙ cas d’ingestion des bases  - le vinaigre, le jus de citron </a:t>
            </a:r>
            <a:endParaRPr sz="2000"/>
          </a:p>
          <a:p>
            <a:pPr indent="-342900" lvl="0" marL="411480" rtl="0" algn="l">
              <a:spcBef>
                <a:spcPts val="700"/>
              </a:spcBef>
              <a:spcAft>
                <a:spcPts val="0"/>
              </a:spcAft>
              <a:buSzPts val="1900"/>
              <a:buNone/>
            </a:pPr>
            <a:r>
              <a:rPr lang="fr-FR" sz="2000"/>
              <a:t>    ∙ cas d’ingestion des acides -de la magnésia usta, de lait  </a:t>
            </a:r>
            <a:endParaRPr sz="2000"/>
          </a:p>
          <a:p>
            <a:pPr indent="-342900" lvl="0" marL="411480" rtl="0" algn="l">
              <a:spcBef>
                <a:spcPts val="700"/>
              </a:spcBef>
              <a:spcAft>
                <a:spcPts val="0"/>
              </a:spcAft>
              <a:buSzPts val="1900"/>
              <a:buNone/>
            </a:pPr>
            <a:r>
              <a:rPr lang="fr-FR" sz="2000"/>
              <a:t>♦ la nutrition parentérale </a:t>
            </a:r>
            <a:endParaRPr sz="2000"/>
          </a:p>
          <a:p>
            <a:pPr indent="-342900" lvl="0" marL="411480" rtl="0" algn="l">
              <a:spcBef>
                <a:spcPts val="700"/>
              </a:spcBef>
              <a:spcAft>
                <a:spcPts val="0"/>
              </a:spcAft>
              <a:buSzPts val="1900"/>
              <a:buNone/>
            </a:pPr>
            <a:r>
              <a:rPr lang="fr-FR" sz="2000"/>
              <a:t>♦ les antibiotiques </a:t>
            </a:r>
            <a:endParaRPr sz="2000"/>
          </a:p>
          <a:p>
            <a:pPr indent="-342900" lvl="0" marL="411480" rtl="0" algn="l">
              <a:spcBef>
                <a:spcPts val="700"/>
              </a:spcBef>
              <a:spcAft>
                <a:spcPts val="0"/>
              </a:spcAft>
              <a:buSzPts val="1900"/>
              <a:buNone/>
            </a:pPr>
            <a:r>
              <a:rPr lang="fr-FR" sz="2000"/>
              <a:t>♦ la corticothérapie</a:t>
            </a:r>
            <a:endParaRPr/>
          </a:p>
          <a:p>
            <a:pPr indent="-342900" lvl="0" marL="411480" rtl="0" algn="l">
              <a:spcBef>
                <a:spcPts val="700"/>
              </a:spcBef>
              <a:spcAft>
                <a:spcPts val="0"/>
              </a:spcAft>
              <a:buSzPts val="1900"/>
              <a:buNone/>
            </a:pPr>
            <a:r>
              <a:t/>
            </a:r>
            <a:endParaRPr sz="2000"/>
          </a:p>
          <a:p>
            <a:pPr indent="-342900" lvl="0" marL="411480" rtl="0" algn="l">
              <a:spcBef>
                <a:spcPts val="700"/>
              </a:spcBef>
              <a:spcAft>
                <a:spcPts val="0"/>
              </a:spcAft>
              <a:buSzPts val="2280"/>
              <a:buNone/>
            </a:pPr>
            <a:r>
              <a:rPr b="1" i="1" lang="fr-FR" sz="2400" u="sng">
                <a:solidFill>
                  <a:srgbClr val="FFC000"/>
                </a:solidFill>
              </a:rPr>
              <a:t>phase chronique</a:t>
            </a:r>
            <a:r>
              <a:rPr b="1" lang="fr-FR" sz="2400" u="sng">
                <a:solidFill>
                  <a:srgbClr val="FFC000"/>
                </a:solidFill>
              </a:rPr>
              <a:t> </a:t>
            </a:r>
            <a:r>
              <a:rPr lang="fr-FR" sz="2000"/>
              <a:t>- sténose œsophagienne </a:t>
            </a:r>
            <a:endParaRPr sz="2000"/>
          </a:p>
          <a:p>
            <a:pPr indent="-342900" lvl="0" marL="411480" rtl="0" algn="l">
              <a:spcBef>
                <a:spcPts val="700"/>
              </a:spcBef>
              <a:spcAft>
                <a:spcPts val="0"/>
              </a:spcAft>
              <a:buSzPts val="1900"/>
              <a:buNone/>
            </a:pPr>
            <a:r>
              <a:rPr lang="fr-FR" sz="2000"/>
              <a:t>la dilatation de sténose → des bougies spéciales en matière plastique</a:t>
            </a:r>
            <a:endParaRPr/>
          </a:p>
          <a:p>
            <a:pPr indent="-342900" lvl="0" marL="411480" rtl="0" algn="l">
              <a:spcBef>
                <a:spcPts val="700"/>
              </a:spcBef>
              <a:spcAft>
                <a:spcPts val="0"/>
              </a:spcAft>
              <a:buSzPts val="1900"/>
              <a:buNone/>
            </a:pPr>
            <a:r>
              <a:rPr lang="fr-FR" sz="2000"/>
              <a:t>échec → l’oesofagoplastie</a:t>
            </a:r>
            <a:endParaRPr sz="2000"/>
          </a:p>
          <a:p>
            <a:pPr indent="-161925" lvl="0" marL="411480" rtl="0" algn="l">
              <a:spcBef>
                <a:spcPts val="700"/>
              </a:spcBef>
              <a:spcAft>
                <a:spcPts val="0"/>
              </a:spcAft>
              <a:buSzPts val="285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3"/>
          <p:cNvSpPr txBox="1"/>
          <p:nvPr>
            <p:ph type="title"/>
          </p:nvPr>
        </p:nvSpPr>
        <p:spPr>
          <a:xfrm>
            <a:off x="457200" y="228600"/>
            <a:ext cx="8229600" cy="762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ŒSOPHAGITE CORROSIVE</a:t>
            </a:r>
            <a:br>
              <a:rPr lang="fr-FR"/>
            </a:br>
            <a:endParaRPr/>
          </a:p>
        </p:txBody>
      </p:sp>
      <p:sp>
        <p:nvSpPr>
          <p:cNvPr id="368" name="Google Shape;368;p33"/>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a:bodyPr>
          <a:lstStyle/>
          <a:p>
            <a:pPr indent="-161925" lvl="0" marL="411480" rtl="0" algn="l">
              <a:spcBef>
                <a:spcPts val="0"/>
              </a:spcBef>
              <a:spcAft>
                <a:spcPts val="0"/>
              </a:spcAft>
              <a:buSzPts val="2850"/>
              <a:buNone/>
            </a:pPr>
            <a:r>
              <a:t/>
            </a:r>
            <a:endParaRPr/>
          </a:p>
        </p:txBody>
      </p:sp>
      <p:pic>
        <p:nvPicPr>
          <p:cNvPr descr="esophstrict" id="369" name="Google Shape;369;p33"/>
          <p:cNvPicPr preferRelativeResize="0"/>
          <p:nvPr/>
        </p:nvPicPr>
        <p:blipFill rotWithShape="1">
          <a:blip r:embed="rId3">
            <a:alphaModFix/>
          </a:blip>
          <a:srcRect b="0" l="0" r="0" t="0"/>
          <a:stretch/>
        </p:blipFill>
        <p:spPr>
          <a:xfrm>
            <a:off x="5867400" y="1524000"/>
            <a:ext cx="3048000" cy="5048250"/>
          </a:xfrm>
          <a:prstGeom prst="rect">
            <a:avLst/>
          </a:prstGeom>
          <a:noFill/>
          <a:ln>
            <a:noFill/>
          </a:ln>
        </p:spPr>
      </p:pic>
      <p:pic>
        <p:nvPicPr>
          <p:cNvPr descr="retrograde stricture" id="370" name="Google Shape;370;p33"/>
          <p:cNvPicPr preferRelativeResize="0"/>
          <p:nvPr/>
        </p:nvPicPr>
        <p:blipFill rotWithShape="1">
          <a:blip r:embed="rId4">
            <a:alphaModFix/>
          </a:blip>
          <a:srcRect b="0" l="0" r="0" t="0"/>
          <a:stretch/>
        </p:blipFill>
        <p:spPr>
          <a:xfrm>
            <a:off x="533400" y="1600200"/>
            <a:ext cx="5181600" cy="4343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4"/>
          <p:cNvSpPr txBox="1"/>
          <p:nvPr>
            <p:ph type="title"/>
          </p:nvPr>
        </p:nvSpPr>
        <p:spPr>
          <a:xfrm>
            <a:off x="381000" y="304800"/>
            <a:ext cx="83058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ŒSOPHAGITE CORROSIVE</a:t>
            </a:r>
            <a:endParaRPr sz="3200">
              <a:latin typeface="Corbel"/>
              <a:ea typeface="Corbel"/>
              <a:cs typeface="Corbel"/>
              <a:sym typeface="Corbel"/>
            </a:endParaRPr>
          </a:p>
        </p:txBody>
      </p:sp>
      <p:sp>
        <p:nvSpPr>
          <p:cNvPr id="376" name="Google Shape;376;p34"/>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a:bodyPr>
          <a:lstStyle/>
          <a:p>
            <a:pPr indent="-161925" lvl="0" marL="411480" rtl="0" algn="l">
              <a:spcBef>
                <a:spcPts val="0"/>
              </a:spcBef>
              <a:spcAft>
                <a:spcPts val="0"/>
              </a:spcAft>
              <a:buSzPts val="2850"/>
              <a:buNone/>
            </a:pPr>
            <a:r>
              <a:t/>
            </a:r>
            <a:endParaRPr/>
          </a:p>
        </p:txBody>
      </p:sp>
      <p:pic>
        <p:nvPicPr>
          <p:cNvPr descr="wilcoxGERD linear erythema" id="377" name="Google Shape;377;p34"/>
          <p:cNvPicPr preferRelativeResize="0"/>
          <p:nvPr/>
        </p:nvPicPr>
        <p:blipFill rotWithShape="1">
          <a:blip r:embed="rId3">
            <a:alphaModFix/>
          </a:blip>
          <a:srcRect b="0" l="0" r="0" t="0"/>
          <a:stretch/>
        </p:blipFill>
        <p:spPr>
          <a:xfrm>
            <a:off x="228600" y="1371600"/>
            <a:ext cx="8686800" cy="538003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5"/>
          <p:cNvSpPr txBox="1"/>
          <p:nvPr>
            <p:ph type="title"/>
          </p:nvPr>
        </p:nvSpPr>
        <p:spPr>
          <a:xfrm>
            <a:off x="381000" y="228600"/>
            <a:ext cx="8305800" cy="119786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ŒSOPHAGITE CORROSIVE</a:t>
            </a:r>
            <a:endParaRPr sz="3200">
              <a:latin typeface="Corbel"/>
              <a:ea typeface="Corbel"/>
              <a:cs typeface="Corbel"/>
              <a:sym typeface="Corbel"/>
            </a:endParaRPr>
          </a:p>
        </p:txBody>
      </p:sp>
      <p:sp>
        <p:nvSpPr>
          <p:cNvPr id="383" name="Google Shape;383;p35"/>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a:bodyPr>
          <a:lstStyle/>
          <a:p>
            <a:pPr indent="-161925" lvl="0" marL="411480" rtl="0" algn="l">
              <a:spcBef>
                <a:spcPts val="0"/>
              </a:spcBef>
              <a:spcAft>
                <a:spcPts val="0"/>
              </a:spcAft>
              <a:buSzPts val="2850"/>
              <a:buNone/>
            </a:pPr>
            <a:r>
              <a:t/>
            </a:r>
            <a:endParaRPr/>
          </a:p>
        </p:txBody>
      </p:sp>
      <p:pic>
        <p:nvPicPr>
          <p:cNvPr descr="wilcox GERD" id="384" name="Google Shape;384;p35"/>
          <p:cNvPicPr preferRelativeResize="0"/>
          <p:nvPr/>
        </p:nvPicPr>
        <p:blipFill rotWithShape="1">
          <a:blip r:embed="rId3">
            <a:alphaModFix/>
          </a:blip>
          <a:srcRect b="0" l="0" r="0" t="0"/>
          <a:stretch/>
        </p:blipFill>
        <p:spPr>
          <a:xfrm>
            <a:off x="457200" y="1524000"/>
            <a:ext cx="4057650" cy="4572000"/>
          </a:xfrm>
          <a:prstGeom prst="rect">
            <a:avLst/>
          </a:prstGeom>
          <a:noFill/>
          <a:ln>
            <a:noFill/>
          </a:ln>
        </p:spPr>
      </p:pic>
      <p:pic>
        <p:nvPicPr>
          <p:cNvPr descr="wilcox severe gerd" id="385" name="Google Shape;385;p35"/>
          <p:cNvPicPr preferRelativeResize="0"/>
          <p:nvPr/>
        </p:nvPicPr>
        <p:blipFill rotWithShape="1">
          <a:blip r:embed="rId4">
            <a:alphaModFix/>
          </a:blip>
          <a:srcRect b="0" l="0" r="0" t="0"/>
          <a:stretch/>
        </p:blipFill>
        <p:spPr>
          <a:xfrm>
            <a:off x="4648200" y="1524000"/>
            <a:ext cx="4191000" cy="4572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6"/>
          <p:cNvSpPr txBox="1"/>
          <p:nvPr>
            <p:ph type="title"/>
          </p:nvPr>
        </p:nvSpPr>
        <p:spPr>
          <a:xfrm>
            <a:off x="457200" y="228600"/>
            <a:ext cx="8229600" cy="11890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nsolas"/>
              <a:buNone/>
            </a:pPr>
            <a:r>
              <a:rPr b="1" lang="fr-FR" sz="3200"/>
              <a:t>S</a:t>
            </a:r>
            <a:r>
              <a:rPr b="1" lang="fr-FR" sz="3200">
                <a:latin typeface="Corbel"/>
                <a:ea typeface="Corbel"/>
                <a:cs typeface="Corbel"/>
                <a:sym typeface="Corbel"/>
              </a:rPr>
              <a:t>TRICTURES,  WEBS  AND  RINGS</a:t>
            </a:r>
            <a:endParaRPr/>
          </a:p>
        </p:txBody>
      </p:sp>
      <p:pic>
        <p:nvPicPr>
          <p:cNvPr descr="wilcox benign gerd related structure" id="391" name="Google Shape;391;p36"/>
          <p:cNvPicPr preferRelativeResize="0"/>
          <p:nvPr>
            <p:ph idx="1" type="body"/>
          </p:nvPr>
        </p:nvPicPr>
        <p:blipFill rotWithShape="1">
          <a:blip r:embed="rId3">
            <a:alphaModFix/>
          </a:blip>
          <a:srcRect b="0" l="0" r="0" t="0"/>
          <a:stretch/>
        </p:blipFill>
        <p:spPr>
          <a:xfrm>
            <a:off x="1084263" y="1295400"/>
            <a:ext cx="4630737" cy="5029200"/>
          </a:xfrm>
          <a:prstGeom prst="rect">
            <a:avLst/>
          </a:prstGeom>
          <a:noFill/>
          <a:ln>
            <a:noFill/>
          </a:ln>
        </p:spPr>
      </p:pic>
      <p:pic>
        <p:nvPicPr>
          <p:cNvPr descr="schatzki's ring" id="392" name="Google Shape;392;p36"/>
          <p:cNvPicPr preferRelativeResize="0"/>
          <p:nvPr>
            <p:ph idx="2" type="body"/>
          </p:nvPr>
        </p:nvPicPr>
        <p:blipFill rotWithShape="1">
          <a:blip r:embed="rId4">
            <a:alphaModFix/>
          </a:blip>
          <a:srcRect b="0" l="0" r="0" t="0"/>
          <a:stretch/>
        </p:blipFill>
        <p:spPr>
          <a:xfrm>
            <a:off x="5811838" y="1295400"/>
            <a:ext cx="2417762" cy="2590800"/>
          </a:xfrm>
          <a:prstGeom prst="rect">
            <a:avLst/>
          </a:prstGeom>
          <a:noFill/>
          <a:ln>
            <a:noFill/>
          </a:ln>
        </p:spPr>
      </p:pic>
      <p:pic>
        <p:nvPicPr>
          <p:cNvPr descr="wilcox proximal esophageal web" id="393" name="Google Shape;393;p36"/>
          <p:cNvPicPr preferRelativeResize="0"/>
          <p:nvPr>
            <p:ph idx="3" type="body"/>
          </p:nvPr>
        </p:nvPicPr>
        <p:blipFill rotWithShape="1">
          <a:blip r:embed="rId5">
            <a:alphaModFix/>
          </a:blip>
          <a:srcRect b="0" l="0" r="0" t="0"/>
          <a:stretch/>
        </p:blipFill>
        <p:spPr>
          <a:xfrm>
            <a:off x="5791200" y="3962400"/>
            <a:ext cx="2438400" cy="23622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7"/>
          <p:cNvSpPr txBox="1"/>
          <p:nvPr>
            <p:ph type="title"/>
          </p:nvPr>
        </p:nvSpPr>
        <p:spPr>
          <a:xfrm>
            <a:off x="609600" y="228600"/>
            <a:ext cx="8077200" cy="609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3200"/>
              <a:buFont typeface="Corbel"/>
              <a:buNone/>
            </a:pPr>
            <a:r>
              <a:rPr b="1" lang="fr-FR" sz="3200">
                <a:latin typeface="Corbel"/>
                <a:ea typeface="Corbel"/>
                <a:cs typeface="Corbel"/>
                <a:sym typeface="Corbel"/>
              </a:rPr>
              <a:t>Traitement</a:t>
            </a:r>
            <a:r>
              <a:rPr b="1" lang="fr-FR"/>
              <a:t> </a:t>
            </a:r>
            <a:br>
              <a:rPr lang="fr-FR"/>
            </a:br>
            <a:endParaRPr/>
          </a:p>
        </p:txBody>
      </p:sp>
      <p:sp>
        <p:nvSpPr>
          <p:cNvPr id="399" name="Google Shape;399;p37"/>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a:bodyPr>
          <a:lstStyle/>
          <a:p>
            <a:pPr indent="-161925" lvl="0" marL="411480" rtl="0" algn="l">
              <a:spcBef>
                <a:spcPts val="0"/>
              </a:spcBef>
              <a:spcAft>
                <a:spcPts val="0"/>
              </a:spcAft>
              <a:buSzPts val="2850"/>
              <a:buNone/>
            </a:pPr>
            <a:r>
              <a:t/>
            </a:r>
            <a:endParaRPr/>
          </a:p>
        </p:txBody>
      </p:sp>
      <p:pic>
        <p:nvPicPr>
          <p:cNvPr descr="prograde" id="400" name="Google Shape;400;p37"/>
          <p:cNvPicPr preferRelativeResize="0"/>
          <p:nvPr/>
        </p:nvPicPr>
        <p:blipFill rotWithShape="1">
          <a:blip r:embed="rId3">
            <a:alphaModFix/>
          </a:blip>
          <a:srcRect b="0" l="0" r="0" t="0"/>
          <a:stretch/>
        </p:blipFill>
        <p:spPr>
          <a:xfrm>
            <a:off x="228600" y="1524000"/>
            <a:ext cx="4953000" cy="5105400"/>
          </a:xfrm>
          <a:prstGeom prst="rect">
            <a:avLst/>
          </a:prstGeom>
          <a:noFill/>
          <a:ln>
            <a:noFill/>
          </a:ln>
        </p:spPr>
      </p:pic>
      <p:pic>
        <p:nvPicPr>
          <p:cNvPr descr="retro" id="401" name="Google Shape;401;p37"/>
          <p:cNvPicPr preferRelativeResize="0"/>
          <p:nvPr/>
        </p:nvPicPr>
        <p:blipFill rotWithShape="1">
          <a:blip r:embed="rId4">
            <a:alphaModFix/>
          </a:blip>
          <a:srcRect b="0" l="0" r="0" t="0"/>
          <a:stretch/>
        </p:blipFill>
        <p:spPr>
          <a:xfrm>
            <a:off x="4916219" y="1524000"/>
            <a:ext cx="4227781" cy="51054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8"/>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rPr b="1" lang="fr-FR"/>
              <a:t>BARRETT’S ESOPHAGUS</a:t>
            </a:r>
            <a:endParaRPr/>
          </a:p>
        </p:txBody>
      </p:sp>
      <p:pic>
        <p:nvPicPr>
          <p:cNvPr descr="wilcox barrett's esophagus" id="407" name="Google Shape;407;p38"/>
          <p:cNvPicPr preferRelativeResize="0"/>
          <p:nvPr>
            <p:ph idx="1" type="body"/>
          </p:nvPr>
        </p:nvPicPr>
        <p:blipFill rotWithShape="1">
          <a:blip r:embed="rId3">
            <a:alphaModFix/>
          </a:blip>
          <a:srcRect b="0" l="0" r="0" t="0"/>
          <a:stretch/>
        </p:blipFill>
        <p:spPr>
          <a:xfrm>
            <a:off x="1905000" y="1295400"/>
            <a:ext cx="5187950" cy="5029200"/>
          </a:xfrm>
          <a:prstGeom prst="rect">
            <a:avLst/>
          </a:prstGeom>
          <a:noFill/>
          <a:ln>
            <a:noFill/>
          </a:ln>
        </p:spPr>
      </p:pic>
      <p:sp>
        <p:nvSpPr>
          <p:cNvPr id="408" name="Google Shape;408;p38"/>
          <p:cNvSpPr txBox="1"/>
          <p:nvPr/>
        </p:nvSpPr>
        <p:spPr>
          <a:xfrm>
            <a:off x="4724400" y="5562600"/>
            <a:ext cx="4038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9"/>
          <p:cNvSpPr txBox="1"/>
          <p:nvPr>
            <p:ph type="title"/>
          </p:nvPr>
        </p:nvSpPr>
        <p:spPr>
          <a:xfrm>
            <a:off x="457200" y="512064"/>
            <a:ext cx="82296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rPr b="1" lang="fr-FR"/>
              <a:t>SQUAMOUS CELL CANCER</a:t>
            </a:r>
            <a:endParaRPr/>
          </a:p>
        </p:txBody>
      </p:sp>
      <p:pic>
        <p:nvPicPr>
          <p:cNvPr descr="wilcox scca" id="414" name="Google Shape;414;p39"/>
          <p:cNvPicPr preferRelativeResize="0"/>
          <p:nvPr>
            <p:ph idx="1" type="body"/>
          </p:nvPr>
        </p:nvPicPr>
        <p:blipFill rotWithShape="1">
          <a:blip r:embed="rId3">
            <a:alphaModFix/>
          </a:blip>
          <a:srcRect b="0" l="0" r="0" t="0"/>
          <a:stretch/>
        </p:blipFill>
        <p:spPr>
          <a:xfrm>
            <a:off x="2133600" y="1295400"/>
            <a:ext cx="4984750" cy="4953000"/>
          </a:xfrm>
          <a:prstGeom prst="rect">
            <a:avLst/>
          </a:prstGeom>
          <a:noFill/>
          <a:ln>
            <a:noFill/>
          </a:ln>
        </p:spPr>
      </p:pic>
      <p:sp>
        <p:nvSpPr>
          <p:cNvPr id="415" name="Google Shape;415;p39"/>
          <p:cNvSpPr txBox="1"/>
          <p:nvPr/>
        </p:nvSpPr>
        <p:spPr>
          <a:xfrm>
            <a:off x="533400" y="6096000"/>
            <a:ext cx="3276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rPr b="1" lang="fr-FR"/>
              <a:t>ADENOCARCINOMA</a:t>
            </a:r>
            <a:endParaRPr/>
          </a:p>
        </p:txBody>
      </p:sp>
      <p:pic>
        <p:nvPicPr>
          <p:cNvPr descr="wilcox adenoca II" id="421" name="Google Shape;421;p40"/>
          <p:cNvPicPr preferRelativeResize="0"/>
          <p:nvPr>
            <p:ph idx="2" type="body"/>
          </p:nvPr>
        </p:nvPicPr>
        <p:blipFill rotWithShape="1">
          <a:blip r:embed="rId3">
            <a:alphaModFix/>
          </a:blip>
          <a:srcRect b="0" l="0" r="0" t="0"/>
          <a:stretch/>
        </p:blipFill>
        <p:spPr>
          <a:xfrm>
            <a:off x="2438400" y="1143000"/>
            <a:ext cx="4181475" cy="42672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1"/>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rPr lang="fr-FR"/>
              <a:t>Infections</a:t>
            </a:r>
            <a:endParaRPr/>
          </a:p>
        </p:txBody>
      </p:sp>
      <p:pic>
        <p:nvPicPr>
          <p:cNvPr descr="wilcox herpes simplex esophagitis" id="427" name="Google Shape;427;p41"/>
          <p:cNvPicPr preferRelativeResize="0"/>
          <p:nvPr>
            <p:ph idx="2" type="body"/>
          </p:nvPr>
        </p:nvPicPr>
        <p:blipFill rotWithShape="1">
          <a:blip r:embed="rId3">
            <a:alphaModFix/>
          </a:blip>
          <a:srcRect b="0" l="0" r="0" t="0"/>
          <a:stretch/>
        </p:blipFill>
        <p:spPr>
          <a:xfrm>
            <a:off x="2286000" y="1295400"/>
            <a:ext cx="4386263" cy="46482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2"/>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t/>
            </a:r>
            <a:endParaRPr/>
          </a:p>
        </p:txBody>
      </p:sp>
      <p:sp>
        <p:nvSpPr>
          <p:cNvPr id="433" name="Google Shape;433;p42"/>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a:bodyPr>
          <a:lstStyle/>
          <a:p>
            <a:pPr indent="-342900" lvl="0" marL="411480" rtl="0" algn="l">
              <a:spcBef>
                <a:spcPts val="0"/>
              </a:spcBef>
              <a:spcAft>
                <a:spcPts val="0"/>
              </a:spcAft>
              <a:buSzPts val="2850"/>
              <a:buChar char="▪"/>
            </a:pPr>
            <a:r>
              <a:rPr b="1" i="1" lang="fr-FR"/>
              <a:t>FORMATIONS TUMORALES</a:t>
            </a:r>
            <a:br>
              <a:rPr b="1" i="1" lang="fr-FR"/>
            </a:br>
            <a:r>
              <a:rPr b="1" i="1" lang="fr-FR"/>
              <a:t>DE LA RÉGION CERVICALE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3"/>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t/>
            </a:r>
            <a:endParaRPr/>
          </a:p>
        </p:txBody>
      </p:sp>
      <p:sp>
        <p:nvSpPr>
          <p:cNvPr id="439" name="Google Shape;439;p43"/>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fontScale="70000" lnSpcReduction="20000"/>
          </a:bodyPr>
          <a:lstStyle/>
          <a:p>
            <a:pPr indent="-342900" lvl="0" marL="411480" rtl="0" algn="l">
              <a:spcBef>
                <a:spcPts val="0"/>
              </a:spcBef>
              <a:spcAft>
                <a:spcPts val="0"/>
              </a:spcAft>
              <a:buSzPct val="95000"/>
              <a:buChar char="▪"/>
            </a:pPr>
            <a:r>
              <a:rPr lang="fr-FR"/>
              <a:t>Il s’agit d’une pathologie rencontrée plus fréquemment dans la pratique médicale et qui élève des questions de plus en plus complexes et difficiles pour les praticiens de différentes spécialités - hématologie, l’oncologie, ORL, en chirurgie buccale maxillo-faciale, la chirurgie vasculaire. J’ai considéré nécessaire la systématisation de cette pathologie, qui est présentée si différent dans la littérature médicale.</a:t>
            </a:r>
            <a:endParaRPr/>
          </a:p>
          <a:p>
            <a:pPr indent="-342900" lvl="0" marL="411480" rtl="0" algn="l">
              <a:spcBef>
                <a:spcPts val="700"/>
              </a:spcBef>
              <a:spcAft>
                <a:spcPts val="0"/>
              </a:spcAft>
              <a:buSzPct val="95000"/>
              <a:buChar char="▪"/>
            </a:pPr>
            <a:r>
              <a:rPr lang="fr-FR"/>
              <a:t>Parmi les formations tumorales de la région cervicale, les adénopathies - la pathologie des ganglions lymphatiques - sont les plus fréquentes, c’est pourquoi je vais les accorder une attention particulière.</a:t>
            </a:r>
            <a:endParaRPr/>
          </a:p>
          <a:p>
            <a:pPr indent="-342900" lvl="0" marL="411480" rtl="0" algn="l">
              <a:spcBef>
                <a:spcPts val="700"/>
              </a:spcBef>
              <a:spcAft>
                <a:spcPts val="0"/>
              </a:spcAft>
              <a:buSzPct val="95000"/>
              <a:buChar char="▪"/>
            </a:pPr>
            <a:r>
              <a:rPr lang="fr-FR"/>
              <a:t>En présence de la formation tumorale le clinicien doit acquérir des informations et des interprétations diagnostiques aux longues des plusieurs étapes successives décrites comme telles de raisons didactiques (en particulier la systématisation) parce qu’en réalité ces étapes se chevauchent souvent entre elles.</a:t>
            </a:r>
            <a:endParaRPr/>
          </a:p>
          <a:p>
            <a:pPr indent="-216217" lvl="0" marL="411480" rtl="0" algn="l">
              <a:spcBef>
                <a:spcPts val="700"/>
              </a:spcBef>
              <a:spcAft>
                <a:spcPts val="0"/>
              </a:spcAft>
              <a:buSzPct val="95000"/>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4"/>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t/>
            </a:r>
            <a:endParaRPr/>
          </a:p>
        </p:txBody>
      </p:sp>
      <p:sp>
        <p:nvSpPr>
          <p:cNvPr id="445" name="Google Shape;445;p44"/>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fontScale="25000" lnSpcReduction="20000"/>
          </a:bodyPr>
          <a:lstStyle/>
          <a:p>
            <a:pPr indent="-342900" lvl="0" marL="411480" rtl="0" algn="l">
              <a:spcBef>
                <a:spcPts val="0"/>
              </a:spcBef>
              <a:spcAft>
                <a:spcPts val="0"/>
              </a:spcAft>
              <a:buSzPct val="95000"/>
              <a:buChar char="▪"/>
            </a:pPr>
            <a:r>
              <a:rPr lang="fr-FR"/>
              <a:t>I. </a:t>
            </a:r>
            <a:r>
              <a:rPr b="1" lang="fr-FR"/>
              <a:t>La première étape </a:t>
            </a:r>
            <a:r>
              <a:rPr lang="fr-FR"/>
              <a:t>- </a:t>
            </a:r>
            <a:r>
              <a:rPr i="1" lang="fr-FR"/>
              <a:t>Établir la nature de la formation tumorale</a:t>
            </a:r>
            <a:endParaRPr/>
          </a:p>
          <a:p>
            <a:pPr indent="-342900" lvl="0" marL="411480" rtl="0" algn="l">
              <a:spcBef>
                <a:spcPts val="700"/>
              </a:spcBef>
              <a:spcAft>
                <a:spcPts val="0"/>
              </a:spcAft>
              <a:buSzPct val="95000"/>
              <a:buChar char="▪"/>
            </a:pPr>
            <a:r>
              <a:rPr lang="fr-FR"/>
              <a:t>Cette première étape de diagnostic est très importante parce qu’il permettra de déterminer si la tumeur est une adénopathie ou une autre tumeur de la région cervicale, non ganglionnaire.</a:t>
            </a:r>
            <a:br>
              <a:rPr lang="fr-FR"/>
            </a:br>
            <a:r>
              <a:rPr lang="fr-FR"/>
              <a:t>L’examen clinique de la formation tumorale va déterminer par d’inspection et palpation les caractères de la formation, les décrivant :</a:t>
            </a:r>
            <a:endParaRPr/>
          </a:p>
          <a:p>
            <a:pPr indent="-342900" lvl="0" marL="411480" rtl="0" algn="l">
              <a:spcBef>
                <a:spcPts val="700"/>
              </a:spcBef>
              <a:spcAft>
                <a:spcPts val="0"/>
              </a:spcAft>
              <a:buSzPct val="95000"/>
              <a:buChar char="▪"/>
            </a:pPr>
            <a:r>
              <a:rPr lang="fr-FR"/>
              <a:t>1 le siège ;</a:t>
            </a:r>
            <a:endParaRPr/>
          </a:p>
          <a:p>
            <a:pPr indent="-342900" lvl="0" marL="411480" rtl="0" algn="l">
              <a:spcBef>
                <a:spcPts val="700"/>
              </a:spcBef>
              <a:spcAft>
                <a:spcPts val="0"/>
              </a:spcAft>
              <a:buSzPct val="95000"/>
              <a:buChar char="▪"/>
            </a:pPr>
            <a:r>
              <a:rPr lang="fr-FR"/>
              <a:t>2 numéros - unique ou multiple ;</a:t>
            </a:r>
            <a:endParaRPr/>
          </a:p>
          <a:p>
            <a:pPr indent="-342900" lvl="0" marL="411480" rtl="0" algn="l">
              <a:spcBef>
                <a:spcPts val="700"/>
              </a:spcBef>
              <a:spcAft>
                <a:spcPts val="0"/>
              </a:spcAft>
              <a:buSzPct val="95000"/>
              <a:buChar char="▪"/>
            </a:pPr>
            <a:r>
              <a:rPr lang="fr-FR"/>
              <a:t>3. la forme ;</a:t>
            </a:r>
            <a:endParaRPr/>
          </a:p>
          <a:p>
            <a:pPr indent="-342900" lvl="0" marL="411480" rtl="0" algn="l">
              <a:spcBef>
                <a:spcPts val="700"/>
              </a:spcBef>
              <a:spcAft>
                <a:spcPts val="0"/>
              </a:spcAft>
              <a:buSzPct val="95000"/>
              <a:buChar char="▪"/>
            </a:pPr>
            <a:r>
              <a:rPr lang="fr-FR"/>
              <a:t>4. les dimensions ;</a:t>
            </a:r>
            <a:endParaRPr/>
          </a:p>
          <a:p>
            <a:pPr indent="-342900" lvl="0" marL="411480" rtl="0" algn="l">
              <a:spcBef>
                <a:spcPts val="700"/>
              </a:spcBef>
              <a:spcAft>
                <a:spcPts val="0"/>
              </a:spcAft>
              <a:buSzPct val="95000"/>
              <a:buChar char="▪"/>
            </a:pPr>
            <a:r>
              <a:rPr lang="fr-FR"/>
              <a:t>5. l’apparence des téguments sus-jacents ;</a:t>
            </a:r>
            <a:endParaRPr/>
          </a:p>
          <a:p>
            <a:pPr indent="-342900" lvl="0" marL="411480" rtl="0" algn="l">
              <a:spcBef>
                <a:spcPts val="700"/>
              </a:spcBef>
              <a:spcAft>
                <a:spcPts val="0"/>
              </a:spcAft>
              <a:buSzPct val="95000"/>
              <a:buChar char="▪"/>
            </a:pPr>
            <a:r>
              <a:rPr lang="fr-FR"/>
              <a:t>6. la surface ;</a:t>
            </a:r>
            <a:endParaRPr/>
          </a:p>
          <a:p>
            <a:pPr indent="-342900" lvl="0" marL="411480" rtl="0" algn="l">
              <a:spcBef>
                <a:spcPts val="700"/>
              </a:spcBef>
              <a:spcAft>
                <a:spcPts val="0"/>
              </a:spcAft>
              <a:buSzPct val="95000"/>
              <a:buChar char="▪"/>
            </a:pPr>
            <a:r>
              <a:rPr lang="fr-FR"/>
              <a:t>7. des bords ;</a:t>
            </a:r>
            <a:endParaRPr/>
          </a:p>
          <a:p>
            <a:pPr indent="-342900" lvl="0" marL="411480" rtl="0" algn="l">
              <a:spcBef>
                <a:spcPts val="700"/>
              </a:spcBef>
              <a:spcAft>
                <a:spcPts val="0"/>
              </a:spcAft>
              <a:buSzPct val="95000"/>
              <a:buChar char="▪"/>
            </a:pPr>
            <a:r>
              <a:rPr lang="fr-FR"/>
              <a:t>8. la consistance ;</a:t>
            </a:r>
            <a:endParaRPr/>
          </a:p>
          <a:p>
            <a:pPr indent="-342900" lvl="0" marL="411480" rtl="0" algn="l">
              <a:spcBef>
                <a:spcPts val="700"/>
              </a:spcBef>
              <a:spcAft>
                <a:spcPts val="0"/>
              </a:spcAft>
              <a:buSzPct val="95000"/>
              <a:buChar char="▪"/>
            </a:pPr>
            <a:r>
              <a:rPr lang="fr-FR"/>
              <a:t>9. la sensibilité ;</a:t>
            </a:r>
            <a:endParaRPr/>
          </a:p>
          <a:p>
            <a:pPr indent="-342900" lvl="0" marL="411480" rtl="0" algn="l">
              <a:spcBef>
                <a:spcPts val="700"/>
              </a:spcBef>
              <a:spcAft>
                <a:spcPts val="0"/>
              </a:spcAft>
              <a:buSzPct val="95000"/>
              <a:buChar char="▪"/>
            </a:pPr>
            <a:r>
              <a:rPr lang="fr-FR"/>
              <a:t>10. la mobilité : - superficielle ;</a:t>
            </a:r>
            <a:endParaRPr/>
          </a:p>
          <a:p>
            <a:pPr indent="-342900" lvl="0" marL="411480" rtl="0" algn="l">
              <a:spcBef>
                <a:spcPts val="700"/>
              </a:spcBef>
              <a:spcAft>
                <a:spcPts val="0"/>
              </a:spcAft>
              <a:buSzPct val="95000"/>
              <a:buChar char="▪"/>
            </a:pPr>
            <a:r>
              <a:rPr lang="fr-FR"/>
              <a:t>- profonde.</a:t>
            </a:r>
            <a:endParaRPr/>
          </a:p>
          <a:p>
            <a:pPr indent="-342900" lvl="0" marL="411480" rtl="0" algn="l">
              <a:spcBef>
                <a:spcPts val="700"/>
              </a:spcBef>
              <a:spcAft>
                <a:spcPts val="0"/>
              </a:spcAft>
              <a:buSzPct val="95000"/>
              <a:buChar char="▪"/>
            </a:pPr>
            <a:r>
              <a:rPr b="1" lang="fr-FR"/>
              <a:t>1. D’autres formations tumorales de la région cervicale (ne ganglionnaires)</a:t>
            </a:r>
            <a:endParaRPr/>
          </a:p>
          <a:p>
            <a:pPr indent="-342900" lvl="0" marL="411480" rtl="0" algn="l">
              <a:spcBef>
                <a:spcPts val="700"/>
              </a:spcBef>
              <a:spcAft>
                <a:spcPts val="0"/>
              </a:spcAft>
              <a:buSzPct val="95000"/>
              <a:buChar char="▪"/>
            </a:pPr>
            <a:r>
              <a:rPr lang="fr-FR"/>
              <a:t>a. </a:t>
            </a:r>
            <a:r>
              <a:rPr b="1" lang="fr-FR"/>
              <a:t>sur la ligne médiane</a:t>
            </a:r>
            <a:r>
              <a:rPr lang="fr-FR"/>
              <a:t> </a:t>
            </a:r>
            <a:r>
              <a:rPr i="1" lang="fr-FR"/>
              <a:t>de haut en bas. :</a:t>
            </a:r>
            <a:endParaRPr/>
          </a:p>
          <a:p>
            <a:pPr indent="-342900" lvl="0" marL="411480" rtl="0" algn="l">
              <a:spcBef>
                <a:spcPts val="700"/>
              </a:spcBef>
              <a:spcAft>
                <a:spcPts val="0"/>
              </a:spcAft>
              <a:buSzPct val="95000"/>
              <a:buChar char="▪"/>
            </a:pPr>
            <a:r>
              <a:rPr lang="fr-FR"/>
              <a:t>- le kyste de canal thyréoglosse - est la formation tumorale la plus fréquente au niveau de la ligne médiane - fistulisée ou non - est se développe sur le tract qui relie l’isthme de la thyroïde à au „V » de la langue et qui dès la naissance il serait été complètement absorbé. Il passe habituellement sur la face postérieure de l’os hyoïde ou trans hyoïdiens ;</a:t>
            </a:r>
            <a:endParaRPr/>
          </a:p>
          <a:p>
            <a:pPr indent="-342900" lvl="0" marL="411480" rtl="0" algn="l">
              <a:spcBef>
                <a:spcPts val="700"/>
              </a:spcBef>
              <a:spcAft>
                <a:spcPts val="0"/>
              </a:spcAft>
              <a:buSzPct val="95000"/>
              <a:buChar char="▪"/>
            </a:pPr>
            <a:r>
              <a:rPr lang="fr-FR"/>
              <a:t>- Le phlegmon de la région sous-maxillaire ;</a:t>
            </a:r>
            <a:endParaRPr/>
          </a:p>
          <a:p>
            <a:pPr indent="-342900" lvl="0" marL="411480" rtl="0" algn="l">
              <a:spcBef>
                <a:spcPts val="700"/>
              </a:spcBef>
              <a:spcAft>
                <a:spcPts val="0"/>
              </a:spcAft>
              <a:buSzPct val="95000"/>
              <a:buChar char="▪"/>
            </a:pPr>
            <a:r>
              <a:rPr lang="fr-FR"/>
              <a:t>- Tumeurs de la glande sublinguale - kyste sublingual ;</a:t>
            </a:r>
            <a:endParaRPr/>
          </a:p>
          <a:p>
            <a:pPr indent="-342900" lvl="0" marL="411480" rtl="0" algn="l">
              <a:spcBef>
                <a:spcPts val="700"/>
              </a:spcBef>
              <a:spcAft>
                <a:spcPts val="0"/>
              </a:spcAft>
              <a:buSzPct val="95000"/>
              <a:buChar char="▪"/>
            </a:pPr>
            <a:r>
              <a:rPr lang="fr-FR"/>
              <a:t>- Tumeur du larynx - chondrome - rare ;</a:t>
            </a:r>
            <a:endParaRPr/>
          </a:p>
          <a:p>
            <a:pPr indent="-342900" lvl="0" marL="411480" rtl="0" algn="l">
              <a:spcBef>
                <a:spcPts val="700"/>
              </a:spcBef>
              <a:spcAft>
                <a:spcPts val="0"/>
              </a:spcAft>
              <a:buSzPct val="95000"/>
              <a:buChar char="▪"/>
            </a:pPr>
            <a:r>
              <a:rPr lang="fr-FR"/>
              <a:t>- des affections de la glande thyroïde ou de l’isthme de la glande thyroïde - rare ;</a:t>
            </a:r>
            <a:endParaRPr/>
          </a:p>
          <a:p>
            <a:pPr indent="-342900" lvl="0" marL="411480" rtl="0" algn="l">
              <a:spcBef>
                <a:spcPts val="700"/>
              </a:spcBef>
              <a:spcAft>
                <a:spcPts val="0"/>
              </a:spcAft>
              <a:buSzPct val="95000"/>
              <a:buChar char="▪"/>
            </a:pPr>
            <a:r>
              <a:rPr lang="fr-FR"/>
              <a:t>- Les tumeurs nerveuses – le neurinome du larynx supérieur - rare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5"/>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t/>
            </a:r>
            <a:endParaRPr/>
          </a:p>
        </p:txBody>
      </p:sp>
      <p:sp>
        <p:nvSpPr>
          <p:cNvPr id="451" name="Google Shape;451;p45"/>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fontScale="25000" lnSpcReduction="20000"/>
          </a:bodyPr>
          <a:lstStyle/>
          <a:p>
            <a:pPr indent="-342900" lvl="0" marL="411480" rtl="0" algn="l">
              <a:spcBef>
                <a:spcPts val="0"/>
              </a:spcBef>
              <a:spcAft>
                <a:spcPts val="0"/>
              </a:spcAft>
              <a:buSzPct val="95000"/>
              <a:buChar char="▪"/>
            </a:pPr>
            <a:r>
              <a:rPr b="1" lang="fr-FR"/>
              <a:t>b. À emplacement latéral :</a:t>
            </a:r>
            <a:endParaRPr/>
          </a:p>
          <a:p>
            <a:pPr indent="-342900" lvl="0" marL="411480" rtl="0" algn="l">
              <a:spcBef>
                <a:spcPts val="700"/>
              </a:spcBef>
              <a:spcAft>
                <a:spcPts val="0"/>
              </a:spcAft>
              <a:buSzPct val="95000"/>
              <a:buChar char="▪"/>
            </a:pPr>
            <a:r>
              <a:rPr lang="fr-FR"/>
              <a:t>• </a:t>
            </a:r>
            <a:r>
              <a:rPr i="1" lang="fr-FR"/>
              <a:t>Région sous-angulo-mandibulaire :</a:t>
            </a:r>
            <a:endParaRPr/>
          </a:p>
          <a:p>
            <a:pPr indent="-342900" lvl="0" marL="411480" rtl="0" algn="l">
              <a:spcBef>
                <a:spcPts val="700"/>
              </a:spcBef>
              <a:spcAft>
                <a:spcPts val="0"/>
              </a:spcAft>
              <a:buSzPct val="95000"/>
              <a:buChar char="▪"/>
            </a:pPr>
            <a:r>
              <a:rPr lang="fr-FR"/>
              <a:t>- Tumeurs du pôle inférieur de la glande parotide ;</a:t>
            </a:r>
            <a:endParaRPr/>
          </a:p>
          <a:p>
            <a:pPr indent="-342900" lvl="0" marL="411480" rtl="0" algn="l">
              <a:spcBef>
                <a:spcPts val="700"/>
              </a:spcBef>
              <a:spcAft>
                <a:spcPts val="0"/>
              </a:spcAft>
              <a:buSzPct val="95000"/>
              <a:buChar char="▪"/>
            </a:pPr>
            <a:r>
              <a:rPr lang="fr-FR"/>
              <a:t>- Tumeurs parapharyngés ;</a:t>
            </a:r>
            <a:endParaRPr/>
          </a:p>
          <a:p>
            <a:pPr indent="-342900" lvl="0" marL="411480" rtl="0" algn="l">
              <a:spcBef>
                <a:spcPts val="700"/>
              </a:spcBef>
              <a:spcAft>
                <a:spcPts val="0"/>
              </a:spcAft>
              <a:buSzPct val="95000"/>
              <a:buChar char="▪"/>
            </a:pPr>
            <a:r>
              <a:rPr lang="fr-FR"/>
              <a:t>- Lymphangiome kystique.</a:t>
            </a:r>
            <a:endParaRPr/>
          </a:p>
          <a:p>
            <a:pPr indent="-342900" lvl="0" marL="411480" rtl="0" algn="l">
              <a:spcBef>
                <a:spcPts val="700"/>
              </a:spcBef>
              <a:spcAft>
                <a:spcPts val="0"/>
              </a:spcAft>
              <a:buSzPct val="95000"/>
              <a:buChar char="▪"/>
            </a:pPr>
            <a:r>
              <a:rPr lang="fr-FR"/>
              <a:t>• </a:t>
            </a:r>
            <a:r>
              <a:rPr i="1" lang="fr-FR"/>
              <a:t>région sous-maxillaire </a:t>
            </a:r>
            <a:r>
              <a:rPr lang="fr-FR"/>
              <a:t>:</a:t>
            </a:r>
            <a:endParaRPr/>
          </a:p>
          <a:p>
            <a:pPr indent="-342900" lvl="0" marL="411480" rtl="0" algn="l">
              <a:spcBef>
                <a:spcPts val="700"/>
              </a:spcBef>
              <a:spcAft>
                <a:spcPts val="0"/>
              </a:spcAft>
              <a:buSzPct val="95000"/>
              <a:buChar char="▪"/>
            </a:pPr>
            <a:r>
              <a:rPr lang="fr-FR"/>
              <a:t>- Troubles de la glande sous-maxillaire :</a:t>
            </a:r>
            <a:endParaRPr/>
          </a:p>
          <a:p>
            <a:pPr indent="-342900" lvl="0" marL="411480" rtl="0" algn="l">
              <a:spcBef>
                <a:spcPts val="700"/>
              </a:spcBef>
              <a:spcAft>
                <a:spcPts val="0"/>
              </a:spcAft>
              <a:buSzPct val="95000"/>
              <a:buChar char="▪"/>
            </a:pPr>
            <a:r>
              <a:rPr lang="fr-FR"/>
              <a:t>- Sous maxillite aiguë - inflammatoire ou infectieuse non spécifique ;</a:t>
            </a:r>
            <a:endParaRPr/>
          </a:p>
          <a:p>
            <a:pPr indent="-342900" lvl="0" marL="411480" rtl="0" algn="l">
              <a:spcBef>
                <a:spcPts val="700"/>
              </a:spcBef>
              <a:spcAft>
                <a:spcPts val="0"/>
              </a:spcAft>
              <a:buSzPct val="95000"/>
              <a:buChar char="▪"/>
            </a:pPr>
            <a:r>
              <a:rPr lang="fr-FR"/>
              <a:t>- Sous maxillite lithiasique ;</a:t>
            </a:r>
            <a:endParaRPr/>
          </a:p>
          <a:p>
            <a:pPr indent="-342900" lvl="0" marL="411480" rtl="0" algn="l">
              <a:spcBef>
                <a:spcPts val="700"/>
              </a:spcBef>
              <a:spcAft>
                <a:spcPts val="0"/>
              </a:spcAft>
              <a:buSzPct val="95000"/>
              <a:buChar char="▪"/>
            </a:pPr>
            <a:r>
              <a:rPr lang="fr-FR"/>
              <a:t>- Sous maxillite chronique</a:t>
            </a:r>
            <a:endParaRPr/>
          </a:p>
          <a:p>
            <a:pPr indent="-342900" lvl="0" marL="411480" rtl="0" algn="l">
              <a:spcBef>
                <a:spcPts val="700"/>
              </a:spcBef>
              <a:spcAft>
                <a:spcPts val="0"/>
              </a:spcAft>
              <a:buSzPct val="95000"/>
              <a:buChar char="▪"/>
            </a:pPr>
            <a:r>
              <a:rPr lang="fr-FR"/>
              <a:t>- Les tumeurs des glandes sous-maxillaires.</a:t>
            </a:r>
            <a:endParaRPr/>
          </a:p>
          <a:p>
            <a:pPr indent="-342900" lvl="0" marL="411480" rtl="0" algn="l">
              <a:spcBef>
                <a:spcPts val="700"/>
              </a:spcBef>
              <a:spcAft>
                <a:spcPts val="0"/>
              </a:spcAft>
              <a:buSzPct val="95000"/>
              <a:buChar char="▪"/>
            </a:pPr>
            <a:r>
              <a:rPr lang="fr-FR"/>
              <a:t>• </a:t>
            </a:r>
            <a:r>
              <a:rPr i="1" lang="fr-FR"/>
              <a:t>région jugulo-carotidienne :</a:t>
            </a:r>
            <a:endParaRPr/>
          </a:p>
          <a:p>
            <a:pPr indent="-342900" lvl="0" marL="411480" rtl="0" algn="l">
              <a:spcBef>
                <a:spcPts val="700"/>
              </a:spcBef>
              <a:spcAft>
                <a:spcPts val="0"/>
              </a:spcAft>
              <a:buSzPct val="95000"/>
              <a:buChar char="▪"/>
            </a:pPr>
            <a:r>
              <a:rPr lang="fr-FR"/>
              <a:t>- des restes embryonnaires de la première fente brachiale :</a:t>
            </a:r>
            <a:endParaRPr/>
          </a:p>
          <a:p>
            <a:pPr indent="-342900" lvl="0" marL="411480" rtl="0" algn="l">
              <a:spcBef>
                <a:spcPts val="700"/>
              </a:spcBef>
              <a:spcAft>
                <a:spcPts val="0"/>
              </a:spcAft>
              <a:buSzPct val="95000"/>
              <a:buChar char="▪"/>
            </a:pPr>
            <a:r>
              <a:rPr lang="fr-FR"/>
              <a:t>- Kyste amygdaloïde</a:t>
            </a:r>
            <a:endParaRPr/>
          </a:p>
          <a:p>
            <a:pPr indent="-342900" lvl="0" marL="411480" rtl="0" algn="l">
              <a:spcBef>
                <a:spcPts val="700"/>
              </a:spcBef>
              <a:spcAft>
                <a:spcPts val="0"/>
              </a:spcAft>
              <a:buSzPct val="95000"/>
              <a:buChar char="▪"/>
            </a:pPr>
            <a:r>
              <a:rPr lang="fr-FR"/>
              <a:t>- Kyste dermoïde et de la 3-eme fente brachiale ;</a:t>
            </a:r>
            <a:endParaRPr/>
          </a:p>
          <a:p>
            <a:pPr indent="-342900" lvl="0" marL="411480" rtl="0" algn="l">
              <a:spcBef>
                <a:spcPts val="700"/>
              </a:spcBef>
              <a:spcAft>
                <a:spcPts val="0"/>
              </a:spcAft>
              <a:buSzPct val="95000"/>
              <a:buChar char="▪"/>
            </a:pPr>
            <a:r>
              <a:rPr lang="fr-FR"/>
              <a:t>- Tumeurs nerveuses - tumeur de Glom ;</a:t>
            </a:r>
            <a:endParaRPr/>
          </a:p>
          <a:p>
            <a:pPr indent="-342900" lvl="0" marL="411480" rtl="0" algn="l">
              <a:spcBef>
                <a:spcPts val="700"/>
              </a:spcBef>
              <a:spcAft>
                <a:spcPts val="0"/>
              </a:spcAft>
              <a:buSzPct val="95000"/>
              <a:buChar char="▪"/>
            </a:pPr>
            <a:r>
              <a:rPr lang="fr-FR"/>
              <a:t>- Shwannome ;</a:t>
            </a:r>
            <a:endParaRPr/>
          </a:p>
          <a:p>
            <a:pPr indent="-342900" lvl="0" marL="411480" rtl="0" algn="l">
              <a:spcBef>
                <a:spcPts val="700"/>
              </a:spcBef>
              <a:spcAft>
                <a:spcPts val="0"/>
              </a:spcAft>
              <a:buSzPct val="95000"/>
              <a:buChar char="▪"/>
            </a:pPr>
            <a:r>
              <a:rPr lang="fr-FR"/>
              <a:t>- Neurofibrome ;</a:t>
            </a:r>
            <a:endParaRPr/>
          </a:p>
          <a:p>
            <a:pPr indent="-342900" lvl="0" marL="411480" rtl="0" algn="l">
              <a:spcBef>
                <a:spcPts val="700"/>
              </a:spcBef>
              <a:spcAft>
                <a:spcPts val="0"/>
              </a:spcAft>
              <a:buSzPct val="95000"/>
              <a:buChar char="▪"/>
            </a:pPr>
            <a:r>
              <a:rPr lang="fr-FR"/>
              <a:t>- Tumeur vasculaire - anévrisme de la carotide ;</a:t>
            </a:r>
            <a:endParaRPr/>
          </a:p>
          <a:p>
            <a:pPr indent="-342900" lvl="0" marL="411480" rtl="0" algn="l">
              <a:spcBef>
                <a:spcPts val="700"/>
              </a:spcBef>
              <a:spcAft>
                <a:spcPts val="0"/>
              </a:spcAft>
              <a:buSzPct val="95000"/>
              <a:buChar char="▪"/>
            </a:pPr>
            <a:r>
              <a:rPr lang="fr-FR"/>
              <a:t>- Les affections de la glande thyroïde :</a:t>
            </a:r>
            <a:endParaRPr/>
          </a:p>
          <a:p>
            <a:pPr indent="-342900" lvl="0" marL="411480" rtl="0" algn="l">
              <a:spcBef>
                <a:spcPts val="700"/>
              </a:spcBef>
              <a:spcAft>
                <a:spcPts val="0"/>
              </a:spcAft>
              <a:buSzPct val="95000"/>
              <a:buChar char="▪"/>
            </a:pPr>
            <a:r>
              <a:rPr lang="fr-FR"/>
              <a:t>- Thyroïdite aiguë ;</a:t>
            </a:r>
            <a:endParaRPr/>
          </a:p>
          <a:p>
            <a:pPr indent="-342900" lvl="0" marL="411480" rtl="0" algn="l">
              <a:spcBef>
                <a:spcPts val="700"/>
              </a:spcBef>
              <a:spcAft>
                <a:spcPts val="0"/>
              </a:spcAft>
              <a:buSzPct val="95000"/>
              <a:buChar char="▪"/>
            </a:pPr>
            <a:r>
              <a:rPr lang="fr-FR"/>
              <a:t>- Goitre simple</a:t>
            </a:r>
            <a:endParaRPr/>
          </a:p>
          <a:p>
            <a:pPr indent="-342900" lvl="0" marL="411480" rtl="0" algn="l">
              <a:spcBef>
                <a:spcPts val="700"/>
              </a:spcBef>
              <a:spcAft>
                <a:spcPts val="0"/>
              </a:spcAft>
              <a:buSzPct val="95000"/>
              <a:buChar char="▪"/>
            </a:pPr>
            <a:r>
              <a:rPr lang="fr-FR"/>
              <a:t>- Goitre multinodulaire ;</a:t>
            </a:r>
            <a:endParaRPr/>
          </a:p>
          <a:p>
            <a:pPr indent="-342900" lvl="0" marL="411480" rtl="0" algn="l">
              <a:spcBef>
                <a:spcPts val="700"/>
              </a:spcBef>
              <a:spcAft>
                <a:spcPts val="0"/>
              </a:spcAft>
              <a:buSzPct val="95000"/>
              <a:buChar char="▪"/>
            </a:pPr>
            <a:r>
              <a:rPr lang="fr-FR"/>
              <a:t>- La thyroïdite chronique ;</a:t>
            </a:r>
            <a:endParaRPr/>
          </a:p>
          <a:p>
            <a:pPr indent="-342900" lvl="0" marL="411480" rtl="0" algn="l">
              <a:spcBef>
                <a:spcPts val="700"/>
              </a:spcBef>
              <a:spcAft>
                <a:spcPts val="0"/>
              </a:spcAft>
              <a:buSzPct val="95000"/>
              <a:buChar char="▪"/>
            </a:pPr>
            <a:r>
              <a:rPr lang="fr-FR"/>
              <a:t>- Les nodules thyroïdiens ;</a:t>
            </a:r>
            <a:endParaRPr/>
          </a:p>
          <a:p>
            <a:pPr indent="-342900" lvl="0" marL="411480" rtl="0" algn="l">
              <a:spcBef>
                <a:spcPts val="700"/>
              </a:spcBef>
              <a:spcAft>
                <a:spcPts val="0"/>
              </a:spcAft>
              <a:buSzPct val="95000"/>
              <a:buChar char="▪"/>
            </a:pPr>
            <a:r>
              <a:rPr lang="fr-FR"/>
              <a:t>- Cancer de la thyroïde ;</a:t>
            </a:r>
            <a:endParaRPr/>
          </a:p>
          <a:p>
            <a:pPr indent="-342900" lvl="0" marL="411480" rtl="0" algn="l">
              <a:spcBef>
                <a:spcPts val="700"/>
              </a:spcBef>
              <a:spcAft>
                <a:spcPts val="0"/>
              </a:spcAft>
              <a:buSzPct val="95000"/>
              <a:buChar char="▪"/>
            </a:pPr>
            <a:r>
              <a:rPr lang="fr-FR"/>
              <a:t>- Laryngocèle – rarement</a:t>
            </a:r>
            <a:endParaRPr/>
          </a:p>
          <a:p>
            <a:pPr indent="-342900" lvl="0" marL="411480" rtl="0" algn="l">
              <a:spcBef>
                <a:spcPts val="700"/>
              </a:spcBef>
              <a:spcAft>
                <a:spcPts val="0"/>
              </a:spcAft>
              <a:buSzPct val="95000"/>
              <a:buChar char="▪"/>
            </a:pPr>
            <a:r>
              <a:rPr lang="fr-FR"/>
              <a:t>- diverticule pharyngé – rarement</a:t>
            </a:r>
            <a:endParaRPr/>
          </a:p>
          <a:p>
            <a:pPr indent="-342900" lvl="0" marL="411480" rtl="0" algn="l">
              <a:spcBef>
                <a:spcPts val="700"/>
              </a:spcBef>
              <a:spcAft>
                <a:spcPts val="0"/>
              </a:spcAft>
              <a:buSzPct val="95000"/>
              <a:buChar char="▪"/>
            </a:pPr>
            <a:r>
              <a:rPr lang="fr-FR"/>
              <a:t>Parfois, un diagnostic positif de la formation tumorale cervicale est fait seulement pendant l’intervention chirurgicale.</a:t>
            </a:r>
            <a:endParaRPr/>
          </a:p>
          <a:p>
            <a:pPr indent="-297656" lvl="0" marL="411480" rtl="0" algn="l">
              <a:spcBef>
                <a:spcPts val="700"/>
              </a:spcBef>
              <a:spcAft>
                <a:spcPts val="0"/>
              </a:spcAft>
              <a:buSzPct val="95000"/>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46"/>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t/>
            </a:r>
            <a:endParaRPr/>
          </a:p>
        </p:txBody>
      </p:sp>
      <p:sp>
        <p:nvSpPr>
          <p:cNvPr id="457" name="Google Shape;457;p46"/>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fontScale="47500" lnSpcReduction="20000"/>
          </a:bodyPr>
          <a:lstStyle/>
          <a:p>
            <a:pPr indent="-342900" lvl="0" marL="411480" rtl="0" algn="l">
              <a:spcBef>
                <a:spcPts val="0"/>
              </a:spcBef>
              <a:spcAft>
                <a:spcPts val="0"/>
              </a:spcAft>
              <a:buSzPct val="95000"/>
              <a:buChar char="▪"/>
            </a:pPr>
            <a:r>
              <a:rPr b="1" lang="fr-FR"/>
              <a:t>2. La </a:t>
            </a:r>
            <a:r>
              <a:rPr lang="fr-FR"/>
              <a:t>formation tumorale </a:t>
            </a:r>
            <a:r>
              <a:rPr b="1" lang="fr-FR"/>
              <a:t>est une adénopathie </a:t>
            </a:r>
            <a:r>
              <a:rPr lang="fr-FR"/>
              <a:t>:</a:t>
            </a:r>
            <a:endParaRPr/>
          </a:p>
          <a:p>
            <a:pPr indent="-342900" lvl="0" marL="411480" rtl="0" algn="l">
              <a:spcBef>
                <a:spcPts val="700"/>
              </a:spcBef>
              <a:spcAft>
                <a:spcPts val="0"/>
              </a:spcAft>
              <a:buSzPct val="95000"/>
              <a:buChar char="▪"/>
            </a:pPr>
            <a:r>
              <a:rPr lang="fr-FR"/>
              <a:t>Dans cette situation il faut qu’il connaisse toutes les zones des ganglions cervicaux :</a:t>
            </a:r>
            <a:endParaRPr/>
          </a:p>
          <a:p>
            <a:pPr indent="-342900" lvl="0" marL="411480" rtl="0" algn="l">
              <a:spcBef>
                <a:spcPts val="700"/>
              </a:spcBef>
              <a:spcAft>
                <a:spcPts val="0"/>
              </a:spcAft>
              <a:buSzPct val="95000"/>
              <a:buChar char="▪"/>
            </a:pPr>
            <a:r>
              <a:rPr lang="fr-FR"/>
              <a:t>- </a:t>
            </a:r>
            <a:r>
              <a:rPr i="1" lang="fr-FR"/>
              <a:t>Cercle lymphatique supérieur</a:t>
            </a:r>
            <a:r>
              <a:rPr lang="fr-FR"/>
              <a:t> - est ordonné comme un collier à la limite dʼentre l’extrémité céphalique et de la région cervicale (tête et cou) et sont les suivants :</a:t>
            </a:r>
            <a:endParaRPr/>
          </a:p>
          <a:p>
            <a:pPr indent="-342900" lvl="0" marL="411480" rtl="0" algn="l">
              <a:spcBef>
                <a:spcPts val="700"/>
              </a:spcBef>
              <a:spcAft>
                <a:spcPts val="0"/>
              </a:spcAft>
              <a:buSzPct val="95000"/>
              <a:buChar char="▪"/>
            </a:pPr>
            <a:r>
              <a:rPr lang="fr-FR"/>
              <a:t>- les ganglions occipitaux ;</a:t>
            </a:r>
            <a:br>
              <a:rPr lang="fr-FR"/>
            </a:br>
            <a:r>
              <a:rPr lang="fr-FR"/>
              <a:t>- la mastoïde ganglionnaire ;</a:t>
            </a:r>
            <a:br>
              <a:rPr lang="fr-FR"/>
            </a:br>
            <a:r>
              <a:rPr lang="fr-FR"/>
              <a:t>- les ganglions parotides ;</a:t>
            </a:r>
            <a:br>
              <a:rPr lang="fr-FR"/>
            </a:br>
            <a:r>
              <a:rPr lang="fr-FR"/>
              <a:t>- les ganglions mandibulaires ;</a:t>
            </a:r>
            <a:br>
              <a:rPr lang="fr-FR"/>
            </a:br>
            <a:r>
              <a:rPr lang="fr-FR"/>
              <a:t>- les ganglions sous digastriques ;</a:t>
            </a:r>
            <a:br>
              <a:rPr lang="fr-FR"/>
            </a:br>
            <a:r>
              <a:rPr lang="fr-FR"/>
              <a:t>- les ganglions sous-mandibulaires (sous-maxillaires) ;</a:t>
            </a:r>
            <a:endParaRPr/>
          </a:p>
          <a:p>
            <a:pPr indent="-342900" lvl="0" marL="411480" rtl="0" algn="l">
              <a:spcBef>
                <a:spcPts val="700"/>
              </a:spcBef>
              <a:spcAft>
                <a:spcPts val="0"/>
              </a:spcAft>
              <a:buSzPct val="95000"/>
              <a:buChar char="▪"/>
            </a:pPr>
            <a:r>
              <a:rPr lang="fr-FR"/>
              <a:t>- les ganglions sous-mentonnières. Un groupe très important est le sous-digastrique (ganglion Kuttner)</a:t>
            </a:r>
            <a:br>
              <a:rPr lang="fr-FR"/>
            </a:br>
            <a:r>
              <a:rPr lang="fr-FR"/>
              <a:t>- des chaînes ganglionnaires verticales</a:t>
            </a:r>
            <a:br>
              <a:rPr lang="fr-FR"/>
            </a:br>
            <a:r>
              <a:rPr lang="fr-FR"/>
              <a:t>- chaîne jugulo-carotidienne - accompagne l’axe vasculaire nerveux du col ;</a:t>
            </a:r>
            <a:br>
              <a:rPr lang="fr-FR"/>
            </a:br>
            <a:r>
              <a:rPr lang="fr-FR"/>
              <a:t>- la chaîne spinale – postérieur - sur le nerf spinal ;</a:t>
            </a:r>
            <a:br>
              <a:rPr lang="fr-FR"/>
            </a:br>
            <a:r>
              <a:rPr lang="fr-FR"/>
              <a:t>- chaîne jugulaire antérieure - prélaryngienne.</a:t>
            </a:r>
            <a:br>
              <a:rPr lang="fr-FR"/>
            </a:br>
            <a:r>
              <a:rPr lang="fr-FR"/>
              <a:t>Ces chaînes relient le cercle supérieur et lymphatique le suivant :</a:t>
            </a:r>
            <a:br>
              <a:rPr lang="fr-FR"/>
            </a:br>
            <a:r>
              <a:rPr lang="fr-FR"/>
              <a:t>- </a:t>
            </a:r>
            <a:r>
              <a:rPr i="1" lang="fr-FR"/>
              <a:t>Cercle lymphatique inférieur</a:t>
            </a:r>
            <a:r>
              <a:rPr lang="fr-FR"/>
              <a:t> - situé à la jonction entre la région cervicale et le thorax et se trouvent dans la région sous-claviculaire et rétro claviculaire.</a:t>
            </a:r>
            <a:endParaRPr/>
          </a:p>
          <a:p>
            <a:pPr indent="-342900" lvl="0" marL="411480" rtl="0" algn="l">
              <a:spcBef>
                <a:spcPts val="700"/>
              </a:spcBef>
              <a:spcAft>
                <a:spcPts val="0"/>
              </a:spcAft>
              <a:buSzPct val="95000"/>
              <a:buChar char="▪"/>
            </a:pPr>
            <a:r>
              <a:rPr lang="fr-FR"/>
              <a:t>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7"/>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t/>
            </a:r>
            <a:endParaRPr/>
          </a:p>
        </p:txBody>
      </p:sp>
      <p:sp>
        <p:nvSpPr>
          <p:cNvPr id="463" name="Google Shape;463;p47"/>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a:bodyPr>
          <a:lstStyle/>
          <a:p>
            <a:pPr indent="-161925" lvl="0" marL="411480" rtl="0" algn="l">
              <a:spcBef>
                <a:spcPts val="0"/>
              </a:spcBef>
              <a:spcAft>
                <a:spcPts val="0"/>
              </a:spcAft>
              <a:buSzPts val="2850"/>
              <a:buNone/>
            </a:pPr>
            <a:r>
              <a:t/>
            </a:r>
            <a:endParaRPr/>
          </a:p>
        </p:txBody>
      </p:sp>
      <p:pic>
        <p:nvPicPr>
          <p:cNvPr id="464" name="Google Shape;464;p47"/>
          <p:cNvPicPr preferRelativeResize="0"/>
          <p:nvPr/>
        </p:nvPicPr>
        <p:blipFill rotWithShape="1">
          <a:blip r:embed="rId3">
            <a:alphaModFix/>
          </a:blip>
          <a:srcRect b="0" l="0" r="0" t="0"/>
          <a:stretch/>
        </p:blipFill>
        <p:spPr>
          <a:xfrm>
            <a:off x="4876800" y="1981200"/>
            <a:ext cx="3714115" cy="405257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48"/>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t/>
            </a:r>
            <a:endParaRPr/>
          </a:p>
        </p:txBody>
      </p:sp>
      <p:sp>
        <p:nvSpPr>
          <p:cNvPr id="470" name="Google Shape;470;p48"/>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fontScale="47500" lnSpcReduction="20000"/>
          </a:bodyPr>
          <a:lstStyle/>
          <a:p>
            <a:pPr indent="-342900" lvl="0" marL="411480" rtl="0" algn="l">
              <a:spcBef>
                <a:spcPts val="0"/>
              </a:spcBef>
              <a:spcAft>
                <a:spcPts val="0"/>
              </a:spcAft>
              <a:buSzPct val="95000"/>
              <a:buChar char="▪"/>
            </a:pPr>
            <a:r>
              <a:rPr lang="fr-FR"/>
              <a:t>Une autre classification des zones ganglionnaires cervicales est plus détaillée et couvre six régions selon l’American Academy of Otolaryngology Head and Neck Surgery : </a:t>
            </a:r>
            <a:br>
              <a:rPr lang="fr-FR"/>
            </a:br>
            <a:r>
              <a:rPr lang="fr-FR"/>
              <a:t>	- </a:t>
            </a:r>
            <a:r>
              <a:rPr i="1" lang="fr-FR"/>
              <a:t>Région 1</a:t>
            </a:r>
            <a:r>
              <a:rPr lang="fr-FR"/>
              <a:t> - ganglions sous-mento-maxillaire – drainent la lèvre, de la cavité buccale (plancher de la bouche, le déplacement de la langue), la pyramide nasale</a:t>
            </a:r>
            <a:endParaRPr/>
          </a:p>
          <a:p>
            <a:pPr indent="-342900" lvl="0" marL="411480" rtl="0" algn="l">
              <a:spcBef>
                <a:spcPts val="700"/>
              </a:spcBef>
              <a:spcAft>
                <a:spcPts val="0"/>
              </a:spcAft>
              <a:buSzPct val="95000"/>
              <a:buChar char="▪"/>
            </a:pPr>
            <a:r>
              <a:rPr lang="fr-FR"/>
              <a:t>	- </a:t>
            </a:r>
            <a:r>
              <a:rPr i="1" lang="fr-FR"/>
              <a:t>Région 2</a:t>
            </a:r>
            <a:r>
              <a:rPr lang="fr-FR"/>
              <a:t> – sous-digastrique et spinale supérieure (rétrosplénial), draine supra glottique du larynx, les trois étages du larynx, de la thyroïde, de la cavité buccale, de la glande parotide, de l’oreille.</a:t>
            </a:r>
            <a:endParaRPr/>
          </a:p>
          <a:p>
            <a:pPr indent="-342900" lvl="0" marL="411480" rtl="0" algn="l">
              <a:spcBef>
                <a:spcPts val="700"/>
              </a:spcBef>
              <a:spcAft>
                <a:spcPts val="0"/>
              </a:spcAft>
              <a:buSzPct val="95000"/>
              <a:buChar char="▪"/>
            </a:pPr>
            <a:r>
              <a:rPr lang="fr-FR"/>
              <a:t>	- </a:t>
            </a:r>
            <a:r>
              <a:rPr i="1" lang="fr-FR"/>
              <a:t>Région 3</a:t>
            </a:r>
            <a:r>
              <a:rPr lang="fr-FR"/>
              <a:t> - sur omo-hioïdien, draine du larynx, de trois étages du larynx, la cavité buccale ;</a:t>
            </a:r>
            <a:endParaRPr/>
          </a:p>
          <a:p>
            <a:pPr indent="-342900" lvl="0" marL="411480" rtl="0" algn="l">
              <a:spcBef>
                <a:spcPts val="700"/>
              </a:spcBef>
              <a:spcAft>
                <a:spcPts val="0"/>
              </a:spcAft>
              <a:buSzPct val="95000"/>
              <a:buChar char="▪"/>
            </a:pPr>
            <a:r>
              <a:rPr lang="fr-FR"/>
              <a:t>	- </a:t>
            </a:r>
            <a:r>
              <a:rPr i="1" lang="fr-FR"/>
              <a:t>Région 4</a:t>
            </a:r>
            <a:r>
              <a:rPr lang="fr-FR"/>
              <a:t> - Inférieur draine les jugulaires - larynx, les trois étages du larynx, à poitrine et les organes abdomino- pelviennes.</a:t>
            </a:r>
            <a:endParaRPr/>
          </a:p>
          <a:p>
            <a:pPr indent="-342900" lvl="0" marL="411480" rtl="0" algn="l">
              <a:spcBef>
                <a:spcPts val="700"/>
              </a:spcBef>
              <a:spcAft>
                <a:spcPts val="0"/>
              </a:spcAft>
              <a:buSzPct val="95000"/>
              <a:buChar char="▪"/>
            </a:pPr>
            <a:r>
              <a:rPr lang="fr-FR"/>
              <a:t>En fait les régions 2, 3 et 4 font partie du groupe ganglionnaire jugulo-carotidienne, accompagnant le faisceau vasculo-nerveux de la gorge.</a:t>
            </a:r>
            <a:endParaRPr/>
          </a:p>
          <a:p>
            <a:pPr indent="-342900" lvl="0" marL="411480" rtl="0" algn="l">
              <a:spcBef>
                <a:spcPts val="700"/>
              </a:spcBef>
              <a:spcAft>
                <a:spcPts val="0"/>
              </a:spcAft>
              <a:buSzPct val="95000"/>
              <a:buChar char="▪"/>
            </a:pPr>
            <a:r>
              <a:rPr lang="fr-FR"/>
              <a:t>	- </a:t>
            </a:r>
            <a:r>
              <a:rPr i="1" lang="fr-FR"/>
              <a:t>Région 5</a:t>
            </a:r>
            <a:r>
              <a:rPr lang="fr-FR"/>
              <a:t> - spinale et sous-claviculaires - draine le rhino et de l’oropharynx, de la glande parotide, l’oreille ;</a:t>
            </a:r>
            <a:endParaRPr/>
          </a:p>
          <a:p>
            <a:pPr indent="-342900" lvl="0" marL="411480" rtl="0" algn="l">
              <a:spcBef>
                <a:spcPts val="700"/>
              </a:spcBef>
              <a:spcAft>
                <a:spcPts val="0"/>
              </a:spcAft>
              <a:buSzPct val="95000"/>
              <a:buChar char="▪"/>
            </a:pPr>
            <a:r>
              <a:rPr lang="fr-FR"/>
              <a:t>	- </a:t>
            </a:r>
            <a:r>
              <a:rPr i="1" lang="fr-FR"/>
              <a:t>Région 6</a:t>
            </a:r>
            <a:r>
              <a:rPr lang="fr-FR"/>
              <a:t> – préviscéral, antérieures, draine le larynx et de la glande thyroïde.</a:t>
            </a:r>
            <a:endParaRPr/>
          </a:p>
          <a:p>
            <a:pPr indent="-342900" lvl="0" marL="411480" rtl="0" algn="l">
              <a:spcBef>
                <a:spcPts val="700"/>
              </a:spcBef>
              <a:spcAft>
                <a:spcPts val="0"/>
              </a:spcAft>
              <a:buSzPct val="95000"/>
              <a:buChar char="▪"/>
            </a:pPr>
            <a:r>
              <a:rPr lang="fr-FR"/>
              <a:t>La palpation correcte des ganglions lymphatiques cervicaux est effectuée le patient assis (assis sur une chaise) et l’examinateur situé derrière le patient</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49"/>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t/>
            </a:r>
            <a:endParaRPr/>
          </a:p>
        </p:txBody>
      </p:sp>
      <p:sp>
        <p:nvSpPr>
          <p:cNvPr id="476" name="Google Shape;476;p49"/>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fontScale="25000" lnSpcReduction="20000"/>
          </a:bodyPr>
          <a:lstStyle/>
          <a:p>
            <a:pPr indent="-342900" lvl="0" marL="411480" rtl="0" algn="l">
              <a:spcBef>
                <a:spcPts val="0"/>
              </a:spcBef>
              <a:spcAft>
                <a:spcPts val="0"/>
              </a:spcAft>
              <a:buSzPct val="95000"/>
              <a:buChar char="▪"/>
            </a:pPr>
            <a:r>
              <a:rPr b="1" lang="fr-FR"/>
              <a:t>II. Deuxième étape - Établir étiologie de la formation tumorale</a:t>
            </a:r>
            <a:r>
              <a:rPr lang="fr-FR"/>
              <a:t>. Elle est effectuée par :</a:t>
            </a:r>
            <a:endParaRPr/>
          </a:p>
          <a:p>
            <a:pPr indent="-342900" lvl="0" marL="411480" rtl="0" algn="l">
              <a:spcBef>
                <a:spcPts val="700"/>
              </a:spcBef>
              <a:spcAft>
                <a:spcPts val="0"/>
              </a:spcAft>
              <a:buSzPct val="95000"/>
              <a:buChar char="▪"/>
            </a:pPr>
            <a:r>
              <a:rPr lang="fr-FR"/>
              <a:t>1. </a:t>
            </a:r>
            <a:r>
              <a:rPr i="1" lang="fr-FR"/>
              <a:t>L’anamnèse</a:t>
            </a:r>
            <a:endParaRPr/>
          </a:p>
          <a:p>
            <a:pPr indent="-342900" lvl="0" marL="411480" rtl="0" algn="l">
              <a:spcBef>
                <a:spcPts val="700"/>
              </a:spcBef>
              <a:spcAft>
                <a:spcPts val="0"/>
              </a:spcAft>
              <a:buSzPct val="95000"/>
              <a:buChar char="▪"/>
            </a:pPr>
            <a:r>
              <a:rPr lang="fr-FR"/>
              <a:t>Nous avons dit :</a:t>
            </a:r>
            <a:endParaRPr/>
          </a:p>
          <a:p>
            <a:pPr indent="-342900" lvl="0" marL="411480" rtl="0" algn="l">
              <a:spcBef>
                <a:spcPts val="700"/>
              </a:spcBef>
              <a:spcAft>
                <a:spcPts val="0"/>
              </a:spcAft>
              <a:buSzPct val="95000"/>
              <a:buChar char="▪"/>
            </a:pPr>
            <a:r>
              <a:rPr lang="fr-FR"/>
              <a:t>- Historique de la maladie - l’apparition ;</a:t>
            </a:r>
            <a:endParaRPr/>
          </a:p>
          <a:p>
            <a:pPr indent="-342900" lvl="0" marL="411480" rtl="0" algn="l">
              <a:spcBef>
                <a:spcPts val="700"/>
              </a:spcBef>
              <a:spcAft>
                <a:spcPts val="0"/>
              </a:spcAft>
              <a:buSzPct val="95000"/>
              <a:buChar char="▪"/>
            </a:pPr>
            <a:r>
              <a:rPr lang="fr-FR"/>
              <a:t>- Évolution ;</a:t>
            </a:r>
            <a:endParaRPr/>
          </a:p>
          <a:p>
            <a:pPr indent="-342900" lvl="0" marL="411480" rtl="0" algn="l">
              <a:spcBef>
                <a:spcPts val="700"/>
              </a:spcBef>
              <a:spcAft>
                <a:spcPts val="0"/>
              </a:spcAft>
              <a:buSzPct val="95000"/>
              <a:buChar char="▪"/>
            </a:pPr>
            <a:r>
              <a:rPr lang="fr-FR"/>
              <a:t>- D’autres symptômes ;</a:t>
            </a:r>
            <a:endParaRPr/>
          </a:p>
          <a:p>
            <a:pPr indent="-342900" lvl="0" marL="411480" rtl="0" algn="l">
              <a:spcBef>
                <a:spcPts val="700"/>
              </a:spcBef>
              <a:spcAft>
                <a:spcPts val="0"/>
              </a:spcAft>
              <a:buSzPct val="95000"/>
              <a:buChar char="▪"/>
            </a:pPr>
            <a:r>
              <a:rPr lang="fr-FR"/>
              <a:t>- Traitements.</a:t>
            </a:r>
            <a:endParaRPr/>
          </a:p>
          <a:p>
            <a:pPr indent="-342900" lvl="0" marL="411480" rtl="0" algn="l">
              <a:spcBef>
                <a:spcPts val="700"/>
              </a:spcBef>
              <a:spcAft>
                <a:spcPts val="0"/>
              </a:spcAft>
              <a:buSzPct val="95000"/>
              <a:buChar char="▪"/>
            </a:pPr>
            <a:r>
              <a:rPr lang="fr-FR"/>
              <a:t>- Antécédents médicaux - bacillaire ;</a:t>
            </a:r>
            <a:endParaRPr/>
          </a:p>
          <a:p>
            <a:pPr indent="-342900" lvl="0" marL="411480" rtl="0" algn="l">
              <a:spcBef>
                <a:spcPts val="700"/>
              </a:spcBef>
              <a:spcAft>
                <a:spcPts val="0"/>
              </a:spcAft>
              <a:buSzPct val="95000"/>
              <a:buChar char="▪"/>
            </a:pPr>
            <a:r>
              <a:rPr lang="fr-FR"/>
              <a:t>- Les tumeurs opérées ;</a:t>
            </a:r>
            <a:endParaRPr/>
          </a:p>
          <a:p>
            <a:pPr indent="-342900" lvl="0" marL="411480" rtl="0" algn="l">
              <a:spcBef>
                <a:spcPts val="700"/>
              </a:spcBef>
              <a:spcAft>
                <a:spcPts val="0"/>
              </a:spcAft>
              <a:buSzPct val="95000"/>
              <a:buChar char="▪"/>
            </a:pPr>
            <a:r>
              <a:rPr lang="fr-FR"/>
              <a:t>- Conditions de vie et de travail - les habitudes alimentaires ;</a:t>
            </a:r>
            <a:endParaRPr/>
          </a:p>
          <a:p>
            <a:pPr indent="-342900" lvl="0" marL="411480" rtl="0" algn="l">
              <a:spcBef>
                <a:spcPts val="700"/>
              </a:spcBef>
              <a:spcAft>
                <a:spcPts val="0"/>
              </a:spcAft>
              <a:buSzPct val="95000"/>
              <a:buChar char="▪"/>
            </a:pPr>
            <a:r>
              <a:rPr lang="fr-FR"/>
              <a:t>- Tabac - alcool ;</a:t>
            </a:r>
            <a:endParaRPr/>
          </a:p>
          <a:p>
            <a:pPr indent="-342900" lvl="0" marL="411480" rtl="0" algn="l">
              <a:spcBef>
                <a:spcPts val="700"/>
              </a:spcBef>
              <a:spcAft>
                <a:spcPts val="0"/>
              </a:spcAft>
              <a:buSzPct val="95000"/>
              <a:buChar char="▪"/>
            </a:pPr>
            <a:r>
              <a:rPr lang="fr-FR"/>
              <a:t>- Nuisances professionnelles.</a:t>
            </a:r>
            <a:endParaRPr/>
          </a:p>
          <a:p>
            <a:pPr indent="-342900" lvl="0" marL="411480" rtl="0" algn="l">
              <a:spcBef>
                <a:spcPts val="700"/>
              </a:spcBef>
              <a:spcAft>
                <a:spcPts val="0"/>
              </a:spcAft>
              <a:buSzPct val="95000"/>
              <a:buChar char="▪"/>
            </a:pPr>
            <a:r>
              <a:rPr b="1" lang="fr-FR"/>
              <a:t>2. L’examen clinique objectif :</a:t>
            </a:r>
            <a:endParaRPr/>
          </a:p>
          <a:p>
            <a:pPr indent="-342900" lvl="0" marL="411480" rtl="0" algn="l">
              <a:spcBef>
                <a:spcPts val="700"/>
              </a:spcBef>
              <a:spcAft>
                <a:spcPts val="0"/>
              </a:spcAft>
              <a:buSzPct val="95000"/>
              <a:buChar char="▪"/>
            </a:pPr>
            <a:r>
              <a:rPr b="1" lang="fr-FR"/>
              <a:t>a. </a:t>
            </a:r>
            <a:r>
              <a:rPr i="1" lang="fr-FR"/>
              <a:t>Local </a:t>
            </a:r>
            <a:r>
              <a:rPr lang="fr-FR"/>
              <a:t>- établira des caractères de la formation tumorale ;</a:t>
            </a:r>
            <a:endParaRPr/>
          </a:p>
          <a:p>
            <a:pPr indent="-342900" lvl="0" marL="411480" rtl="0" algn="l">
              <a:spcBef>
                <a:spcPts val="700"/>
              </a:spcBef>
              <a:spcAft>
                <a:spcPts val="0"/>
              </a:spcAft>
              <a:buSzPct val="95000"/>
              <a:buChar char="▪"/>
            </a:pPr>
            <a:r>
              <a:rPr lang="fr-FR"/>
              <a:t>- Examen des dents et de la bouche ;</a:t>
            </a:r>
            <a:endParaRPr/>
          </a:p>
          <a:p>
            <a:pPr indent="-342900" lvl="0" marL="411480" rtl="0" algn="l">
              <a:spcBef>
                <a:spcPts val="700"/>
              </a:spcBef>
              <a:spcAft>
                <a:spcPts val="0"/>
              </a:spcAft>
              <a:buSzPct val="95000"/>
              <a:buChar char="▪"/>
            </a:pPr>
            <a:r>
              <a:rPr lang="fr-FR"/>
              <a:t>- Examen ORL complète, étant donné que plus de 80 % d’une adénopathie métastatique cervicales ont la lésion primaire au niveau des voies aéro-digestives supérieure.</a:t>
            </a:r>
            <a:endParaRPr/>
          </a:p>
          <a:p>
            <a:pPr indent="-342900" lvl="0" marL="411480" rtl="0" algn="l">
              <a:spcBef>
                <a:spcPts val="700"/>
              </a:spcBef>
              <a:spcAft>
                <a:spcPts val="0"/>
              </a:spcAft>
              <a:buSzPct val="95000"/>
              <a:buChar char="▪"/>
            </a:pPr>
            <a:r>
              <a:rPr lang="fr-FR"/>
              <a:t>Au moment quand il suppose l’étiologie néoplasique est préférable d’effectuer la pan endoscopie qui examinera endoscopique :</a:t>
            </a:r>
            <a:endParaRPr/>
          </a:p>
          <a:p>
            <a:pPr indent="-342900" lvl="0" marL="411480" rtl="0" algn="l">
              <a:spcBef>
                <a:spcPts val="700"/>
              </a:spcBef>
              <a:spcAft>
                <a:spcPts val="0"/>
              </a:spcAft>
              <a:buSzPct val="95000"/>
              <a:buChar char="▪"/>
            </a:pPr>
            <a:r>
              <a:rPr lang="fr-FR"/>
              <a:t>- les cavités nasales ;</a:t>
            </a:r>
            <a:endParaRPr/>
          </a:p>
          <a:p>
            <a:pPr indent="-342900" lvl="0" marL="411480" rtl="0" algn="l">
              <a:spcBef>
                <a:spcPts val="700"/>
              </a:spcBef>
              <a:spcAft>
                <a:spcPts val="0"/>
              </a:spcAft>
              <a:buSzPct val="95000"/>
              <a:buChar char="▪"/>
            </a:pPr>
            <a:r>
              <a:rPr lang="fr-FR"/>
              <a:t>- le rhino-pharynx ;</a:t>
            </a:r>
            <a:endParaRPr/>
          </a:p>
          <a:p>
            <a:pPr indent="-342900" lvl="0" marL="411480" rtl="0" algn="l">
              <a:spcBef>
                <a:spcPts val="700"/>
              </a:spcBef>
              <a:spcAft>
                <a:spcPts val="0"/>
              </a:spcAft>
              <a:buSzPct val="95000"/>
              <a:buChar char="▪"/>
            </a:pPr>
            <a:r>
              <a:rPr lang="fr-FR"/>
              <a:t>- Oropharynx ;</a:t>
            </a:r>
            <a:endParaRPr/>
          </a:p>
          <a:p>
            <a:pPr indent="-342900" lvl="0" marL="411480" rtl="0" algn="l">
              <a:spcBef>
                <a:spcPts val="700"/>
              </a:spcBef>
              <a:spcAft>
                <a:spcPts val="0"/>
              </a:spcAft>
              <a:buSzPct val="95000"/>
              <a:buChar char="▪"/>
            </a:pPr>
            <a:r>
              <a:rPr lang="fr-FR"/>
              <a:t>- Larynx et de l’hypopharynx ;</a:t>
            </a:r>
            <a:endParaRPr/>
          </a:p>
          <a:p>
            <a:pPr indent="-342900" lvl="0" marL="411480" rtl="0" algn="l">
              <a:spcBef>
                <a:spcPts val="700"/>
              </a:spcBef>
              <a:spcAft>
                <a:spcPts val="0"/>
              </a:spcAft>
              <a:buSzPct val="95000"/>
              <a:buChar char="▪"/>
            </a:pPr>
            <a:r>
              <a:rPr lang="fr-FR"/>
              <a:t>- La trachée ;</a:t>
            </a:r>
            <a:endParaRPr/>
          </a:p>
          <a:p>
            <a:pPr indent="-342900" lvl="0" marL="411480" rtl="0" algn="l">
              <a:spcBef>
                <a:spcPts val="700"/>
              </a:spcBef>
              <a:spcAft>
                <a:spcPts val="0"/>
              </a:spcAft>
              <a:buSzPct val="95000"/>
              <a:buChar char="▪"/>
            </a:pPr>
            <a:r>
              <a:rPr lang="fr-FR"/>
              <a:t>- L’œsophage.</a:t>
            </a:r>
            <a:endParaRPr/>
          </a:p>
          <a:p>
            <a:pPr indent="-342900" lvl="0" marL="411480" rtl="0" algn="l">
              <a:spcBef>
                <a:spcPts val="700"/>
              </a:spcBef>
              <a:spcAft>
                <a:spcPts val="0"/>
              </a:spcAft>
              <a:buSzPct val="95000"/>
              <a:buChar char="▪"/>
            </a:pPr>
            <a:r>
              <a:rPr i="1" lang="fr-FR"/>
              <a:t>b. Général. :</a:t>
            </a:r>
            <a:br>
              <a:rPr lang="fr-FR"/>
            </a:br>
            <a:r>
              <a:rPr lang="fr-FR"/>
              <a:t>Examen clinique général couvrira en particulier :</a:t>
            </a:r>
            <a:endParaRPr/>
          </a:p>
          <a:p>
            <a:pPr indent="-342900" lvl="0" marL="411480" rtl="0" algn="l">
              <a:spcBef>
                <a:spcPts val="700"/>
              </a:spcBef>
              <a:spcAft>
                <a:spcPts val="0"/>
              </a:spcAft>
              <a:buSzPct val="95000"/>
              <a:buChar char="▪"/>
            </a:pPr>
            <a:r>
              <a:rPr lang="fr-FR"/>
              <a:t>- les autres zones ganglionnaires</a:t>
            </a:r>
            <a:br>
              <a:rPr lang="fr-FR"/>
            </a:br>
            <a:r>
              <a:rPr lang="fr-FR"/>
              <a:t>- la cavité thoracique - poumons</a:t>
            </a:r>
            <a:br>
              <a:rPr lang="fr-FR"/>
            </a:br>
            <a:r>
              <a:rPr lang="fr-FR"/>
              <a:t>- le foie ;</a:t>
            </a:r>
            <a:br>
              <a:rPr lang="fr-FR"/>
            </a:br>
            <a:r>
              <a:rPr lang="fr-FR"/>
              <a:t>- la rate.</a:t>
            </a:r>
            <a:endParaRPr/>
          </a:p>
          <a:p>
            <a:pPr indent="-297656" lvl="0" marL="411480" rtl="0" algn="l">
              <a:spcBef>
                <a:spcPts val="700"/>
              </a:spcBef>
              <a:spcAft>
                <a:spcPts val="0"/>
              </a:spcAft>
              <a:buSzPct val="95000"/>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50"/>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t/>
            </a:r>
            <a:endParaRPr/>
          </a:p>
        </p:txBody>
      </p:sp>
      <p:sp>
        <p:nvSpPr>
          <p:cNvPr id="482" name="Google Shape;482;p50"/>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fontScale="55000" lnSpcReduction="20000"/>
          </a:bodyPr>
          <a:lstStyle/>
          <a:p>
            <a:pPr indent="-342900" lvl="0" marL="411480" rtl="0" algn="l">
              <a:spcBef>
                <a:spcPts val="0"/>
              </a:spcBef>
              <a:spcAft>
                <a:spcPts val="0"/>
              </a:spcAft>
              <a:buSzPct val="95000"/>
              <a:buChar char="▪"/>
            </a:pPr>
            <a:r>
              <a:rPr b="1" lang="fr-FR"/>
              <a:t>3 L’examen usuel de laboratoire :</a:t>
            </a:r>
            <a:br>
              <a:rPr b="1" lang="fr-FR"/>
            </a:br>
            <a:r>
              <a:rPr lang="fr-FR"/>
              <a:t>Les examens communs seront les suivantes :</a:t>
            </a:r>
            <a:endParaRPr/>
          </a:p>
          <a:p>
            <a:pPr indent="-342900" lvl="0" marL="411480" rtl="0" algn="l">
              <a:spcBef>
                <a:spcPts val="700"/>
              </a:spcBef>
              <a:spcAft>
                <a:spcPts val="0"/>
              </a:spcAft>
              <a:buSzPct val="95000"/>
              <a:buChar char="▪"/>
            </a:pPr>
            <a:r>
              <a:rPr lang="fr-FR"/>
              <a:t>- les tests biologiques de l’inflammation ;</a:t>
            </a:r>
            <a:br>
              <a:rPr lang="fr-FR"/>
            </a:br>
            <a:r>
              <a:rPr lang="fr-FR"/>
              <a:t>- test à la tuberculine ;</a:t>
            </a:r>
            <a:br>
              <a:rPr lang="fr-FR"/>
            </a:br>
            <a:r>
              <a:rPr lang="fr-FR"/>
              <a:t>- les tests sérologiques pour la syphilis ;</a:t>
            </a:r>
            <a:br>
              <a:rPr lang="fr-FR"/>
            </a:br>
            <a:r>
              <a:rPr lang="fr-FR"/>
              <a:t>- sérologie virale, parasitaire.</a:t>
            </a:r>
            <a:endParaRPr/>
          </a:p>
          <a:p>
            <a:pPr indent="-342900" lvl="0" marL="411480" rtl="0" algn="l">
              <a:spcBef>
                <a:spcPts val="700"/>
              </a:spcBef>
              <a:spcAft>
                <a:spcPts val="0"/>
              </a:spcAft>
              <a:buSzPct val="95000"/>
              <a:buChar char="▪"/>
            </a:pPr>
            <a:r>
              <a:rPr b="1" lang="fr-FR"/>
              <a:t>4. L’examen radiologique : </a:t>
            </a:r>
            <a:r>
              <a:rPr lang="fr-FR"/>
              <a:t>comprendra : 	</a:t>
            </a:r>
            <a:endParaRPr/>
          </a:p>
          <a:p>
            <a:pPr indent="-342900" lvl="0" marL="411480" rtl="0" algn="l">
              <a:spcBef>
                <a:spcPts val="700"/>
              </a:spcBef>
              <a:spcAft>
                <a:spcPts val="0"/>
              </a:spcAft>
              <a:buSzPct val="95000"/>
              <a:buChar char="▪"/>
            </a:pPr>
            <a:r>
              <a:rPr lang="fr-FR"/>
              <a:t>- La radiographie thoracique pulmonaire ; </a:t>
            </a:r>
            <a:br>
              <a:rPr lang="fr-FR"/>
            </a:br>
            <a:r>
              <a:rPr lang="fr-FR"/>
              <a:t>- Tomographie par ordinateur avec ou sans produit de contraste ; </a:t>
            </a:r>
            <a:br>
              <a:rPr lang="fr-FR"/>
            </a:br>
            <a:r>
              <a:rPr lang="fr-FR"/>
              <a:t>- Résonance magnétique nucléaire.</a:t>
            </a:r>
            <a:endParaRPr/>
          </a:p>
          <a:p>
            <a:pPr indent="-342900" lvl="0" marL="411480" rtl="0" algn="l">
              <a:spcBef>
                <a:spcPts val="700"/>
              </a:spcBef>
              <a:spcAft>
                <a:spcPts val="0"/>
              </a:spcAft>
              <a:buSzPct val="95000"/>
              <a:buChar char="▪"/>
            </a:pPr>
            <a:r>
              <a:rPr b="1" lang="fr-FR"/>
              <a:t>5. L’examen histopathologique :</a:t>
            </a:r>
            <a:endParaRPr/>
          </a:p>
          <a:p>
            <a:pPr indent="-342900" lvl="0" marL="411480" rtl="0" algn="l">
              <a:spcBef>
                <a:spcPts val="700"/>
              </a:spcBef>
              <a:spcAft>
                <a:spcPts val="0"/>
              </a:spcAft>
              <a:buSzPct val="95000"/>
              <a:buChar char="▪"/>
            </a:pPr>
            <a:r>
              <a:rPr lang="fr-FR"/>
              <a:t>Le matériau pour un examen histopathologique peut être obtenu par :</a:t>
            </a:r>
            <a:endParaRPr/>
          </a:p>
          <a:p>
            <a:pPr indent="-342900" lvl="0" marL="411480" rtl="0" algn="l">
              <a:spcBef>
                <a:spcPts val="700"/>
              </a:spcBef>
              <a:spcAft>
                <a:spcPts val="0"/>
              </a:spcAft>
              <a:buSzPct val="95000"/>
              <a:buChar char="▪"/>
            </a:pPr>
            <a:r>
              <a:rPr lang="fr-FR"/>
              <a:t>- ponction cytologique ganglionnaire ;</a:t>
            </a:r>
            <a:endParaRPr/>
          </a:p>
          <a:p>
            <a:pPr indent="-342900" lvl="0" marL="411480" rtl="0" algn="l">
              <a:spcBef>
                <a:spcPts val="700"/>
              </a:spcBef>
              <a:spcAft>
                <a:spcPts val="0"/>
              </a:spcAft>
              <a:buSzPct val="95000"/>
              <a:buChar char="▪"/>
            </a:pPr>
            <a:r>
              <a:rPr lang="fr-FR"/>
              <a:t>- cervicotomie exploratoire avec l’exérèse complète du ganglion affecté.</a:t>
            </a:r>
            <a:br>
              <a:rPr lang="fr-FR"/>
            </a:br>
            <a:br>
              <a:rPr lang="fr-FR"/>
            </a:br>
            <a:r>
              <a:rPr lang="fr-FR"/>
              <a:t>Les troubles des ganglions comprennent :</a:t>
            </a:r>
            <a:br>
              <a:rPr lang="fr-FR"/>
            </a:br>
            <a:r>
              <a:rPr lang="fr-FR"/>
              <a:t>- primitives (maladies propres des ganglions) ou</a:t>
            </a:r>
            <a:br>
              <a:rPr lang="fr-FR"/>
            </a:br>
            <a:r>
              <a:rPr lang="fr-FR"/>
              <a:t>- secondaires aux processus pathologiques de voisinage.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1"/>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t/>
            </a:r>
            <a:endParaRPr/>
          </a:p>
        </p:txBody>
      </p:sp>
      <p:sp>
        <p:nvSpPr>
          <p:cNvPr id="488" name="Google Shape;488;p51"/>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fontScale="25000" lnSpcReduction="20000"/>
          </a:bodyPr>
          <a:lstStyle/>
          <a:p>
            <a:pPr indent="-342900" lvl="0" marL="411480" rtl="0" algn="l">
              <a:spcBef>
                <a:spcPts val="0"/>
              </a:spcBef>
              <a:spcAft>
                <a:spcPts val="0"/>
              </a:spcAft>
              <a:buSzPct val="95000"/>
              <a:buChar char="▪"/>
            </a:pPr>
            <a:r>
              <a:rPr b="1" lang="fr-FR"/>
              <a:t>LA CLASSIFICATION DES ADÉNOPATHIES</a:t>
            </a:r>
            <a:endParaRPr/>
          </a:p>
          <a:p>
            <a:pPr indent="-342900" lvl="0" marL="411480" rtl="0" algn="l">
              <a:spcBef>
                <a:spcPts val="700"/>
              </a:spcBef>
              <a:spcAft>
                <a:spcPts val="0"/>
              </a:spcAft>
              <a:buSzPct val="95000"/>
              <a:buChar char="▪"/>
            </a:pPr>
            <a:r>
              <a:rPr lang="fr-FR"/>
              <a:t> </a:t>
            </a:r>
            <a:endParaRPr/>
          </a:p>
          <a:p>
            <a:pPr indent="-342900" lvl="0" marL="411480" rtl="0" algn="l">
              <a:spcBef>
                <a:spcPts val="700"/>
              </a:spcBef>
              <a:spcAft>
                <a:spcPts val="0"/>
              </a:spcAft>
              <a:buSzPct val="95000"/>
              <a:buChar char="▪"/>
            </a:pPr>
            <a:r>
              <a:rPr b="1" i="1" lang="fr-FR"/>
              <a:t>Adénopathies primaires (primitive)</a:t>
            </a:r>
            <a:endParaRPr/>
          </a:p>
          <a:p>
            <a:pPr indent="-342900" lvl="0" marL="411480" rtl="0" algn="l">
              <a:spcBef>
                <a:spcPts val="700"/>
              </a:spcBef>
              <a:spcAft>
                <a:spcPts val="0"/>
              </a:spcAft>
              <a:buSzPct val="95000"/>
              <a:buChar char="▪"/>
            </a:pPr>
            <a:r>
              <a:rPr lang="fr-FR"/>
              <a:t>Sont des affections propres des ganglions lymphatiques et ils peuvent être :</a:t>
            </a:r>
            <a:endParaRPr/>
          </a:p>
          <a:p>
            <a:pPr indent="-342900" lvl="0" marL="411480" rtl="0" algn="l">
              <a:spcBef>
                <a:spcPts val="700"/>
              </a:spcBef>
              <a:spcAft>
                <a:spcPts val="0"/>
              </a:spcAft>
              <a:buSzPct val="95000"/>
              <a:buChar char="▪"/>
            </a:pPr>
            <a:r>
              <a:rPr lang="fr-FR"/>
              <a:t>1. Inflammatoires :</a:t>
            </a:r>
            <a:endParaRPr/>
          </a:p>
          <a:p>
            <a:pPr indent="-342900" lvl="0" marL="411480" rtl="0" algn="l">
              <a:spcBef>
                <a:spcPts val="700"/>
              </a:spcBef>
              <a:spcAft>
                <a:spcPts val="0"/>
              </a:spcAft>
              <a:buSzPct val="95000"/>
              <a:buChar char="▪"/>
            </a:pPr>
            <a:r>
              <a:rPr i="1" lang="fr-FR"/>
              <a:t>a. lymphadénites aiguës</a:t>
            </a:r>
            <a:endParaRPr/>
          </a:p>
          <a:p>
            <a:pPr indent="-342900" lvl="0" marL="411480" rtl="0" algn="l">
              <a:spcBef>
                <a:spcPts val="700"/>
              </a:spcBef>
              <a:spcAft>
                <a:spcPts val="0"/>
              </a:spcAft>
              <a:buSzPct val="95000"/>
              <a:buChar char="▪"/>
            </a:pPr>
            <a:r>
              <a:rPr lang="fr-FR"/>
              <a:t>	- non suppurée - non spécifique – virale</a:t>
            </a:r>
            <a:endParaRPr/>
          </a:p>
          <a:p>
            <a:pPr indent="-342900" lvl="0" marL="411480" rtl="0" algn="l">
              <a:spcBef>
                <a:spcPts val="700"/>
              </a:spcBef>
              <a:spcAft>
                <a:spcPts val="0"/>
              </a:spcAft>
              <a:buSzPct val="95000"/>
              <a:buChar char="▪"/>
            </a:pPr>
            <a:r>
              <a:rPr lang="fr-FR"/>
              <a:t>	- bactérienne</a:t>
            </a:r>
            <a:endParaRPr/>
          </a:p>
          <a:p>
            <a:pPr indent="-342900" lvl="0" marL="411480" rtl="0" algn="l">
              <a:spcBef>
                <a:spcPts val="700"/>
              </a:spcBef>
              <a:spcAft>
                <a:spcPts val="0"/>
              </a:spcAft>
              <a:buSzPct val="95000"/>
              <a:buChar char="▪"/>
            </a:pPr>
            <a:r>
              <a:rPr lang="fr-FR"/>
              <a:t>	- spécifique - la mononucléose infectieuse</a:t>
            </a:r>
            <a:endParaRPr/>
          </a:p>
          <a:p>
            <a:pPr indent="-342900" lvl="0" marL="411480" rtl="0" algn="l">
              <a:spcBef>
                <a:spcPts val="700"/>
              </a:spcBef>
              <a:spcAft>
                <a:spcPts val="0"/>
              </a:spcAft>
              <a:buSzPct val="95000"/>
              <a:buChar char="▪"/>
            </a:pPr>
            <a:r>
              <a:rPr lang="fr-FR"/>
              <a:t>	- rubéole</a:t>
            </a:r>
            <a:endParaRPr/>
          </a:p>
          <a:p>
            <a:pPr indent="-342900" lvl="0" marL="411480" rtl="0" algn="l">
              <a:spcBef>
                <a:spcPts val="700"/>
              </a:spcBef>
              <a:spcAft>
                <a:spcPts val="0"/>
              </a:spcAft>
              <a:buSzPct val="95000"/>
              <a:buChar char="▪"/>
            </a:pPr>
            <a:r>
              <a:rPr lang="fr-FR"/>
              <a:t>	- suppurée – adénophlegmon</a:t>
            </a:r>
            <a:endParaRPr/>
          </a:p>
          <a:p>
            <a:pPr indent="-342900" lvl="0" marL="411480" rtl="0" algn="l">
              <a:spcBef>
                <a:spcPts val="700"/>
              </a:spcBef>
              <a:spcAft>
                <a:spcPts val="0"/>
              </a:spcAft>
              <a:buSzPct val="95000"/>
              <a:buChar char="▪"/>
            </a:pPr>
            <a:r>
              <a:rPr i="1" lang="fr-FR"/>
              <a:t>b. lymphadénites chroniques :</a:t>
            </a:r>
            <a:endParaRPr/>
          </a:p>
          <a:p>
            <a:pPr indent="-342900" lvl="0" marL="411480" rtl="0" algn="l">
              <a:spcBef>
                <a:spcPts val="700"/>
              </a:spcBef>
              <a:spcAft>
                <a:spcPts val="0"/>
              </a:spcAft>
              <a:buSzPct val="95000"/>
              <a:buChar char="▪"/>
            </a:pPr>
            <a:r>
              <a:rPr lang="fr-FR"/>
              <a:t>	- non spécifique – virale</a:t>
            </a:r>
            <a:endParaRPr/>
          </a:p>
          <a:p>
            <a:pPr indent="-342900" lvl="0" marL="411480" rtl="0" algn="l">
              <a:spcBef>
                <a:spcPts val="700"/>
              </a:spcBef>
              <a:spcAft>
                <a:spcPts val="0"/>
              </a:spcAft>
              <a:buSzPct val="95000"/>
              <a:buChar char="▪"/>
            </a:pPr>
            <a:r>
              <a:rPr lang="fr-FR"/>
              <a:t>	- bactérienne</a:t>
            </a:r>
            <a:endParaRPr/>
          </a:p>
          <a:p>
            <a:pPr indent="-342900" lvl="0" marL="411480" rtl="0" algn="l">
              <a:spcBef>
                <a:spcPts val="700"/>
              </a:spcBef>
              <a:spcAft>
                <a:spcPts val="0"/>
              </a:spcAft>
              <a:buSzPct val="95000"/>
              <a:buChar char="▪"/>
            </a:pPr>
            <a:r>
              <a:rPr lang="fr-FR"/>
              <a:t>	- spécifiques :</a:t>
            </a:r>
            <a:endParaRPr/>
          </a:p>
          <a:p>
            <a:pPr indent="-342900" lvl="0" marL="411480" rtl="0" algn="l">
              <a:spcBef>
                <a:spcPts val="700"/>
              </a:spcBef>
              <a:spcAft>
                <a:spcPts val="0"/>
              </a:spcAft>
              <a:buSzPct val="95000"/>
              <a:buChar char="▪"/>
            </a:pPr>
            <a:r>
              <a:rPr lang="fr-FR"/>
              <a:t>		- TB	</a:t>
            </a:r>
            <a:endParaRPr/>
          </a:p>
          <a:p>
            <a:pPr indent="-342900" lvl="0" marL="411480" rtl="0" algn="l">
              <a:spcBef>
                <a:spcPts val="700"/>
              </a:spcBef>
              <a:spcAft>
                <a:spcPts val="0"/>
              </a:spcAft>
              <a:buSzPct val="95000"/>
              <a:buChar char="▪"/>
            </a:pPr>
            <a:r>
              <a:rPr lang="fr-FR"/>
              <a:t>		- mycobactéries atypiques</a:t>
            </a:r>
            <a:endParaRPr/>
          </a:p>
          <a:p>
            <a:pPr indent="-342900" lvl="0" marL="411480" rtl="0" algn="l">
              <a:spcBef>
                <a:spcPts val="700"/>
              </a:spcBef>
              <a:spcAft>
                <a:spcPts val="0"/>
              </a:spcAft>
              <a:buSzPct val="95000"/>
              <a:buChar char="▪"/>
            </a:pPr>
            <a:r>
              <a:rPr lang="fr-FR"/>
              <a:t>		- </a:t>
            </a:r>
            <a:r>
              <a:rPr b="1" i="1" lang="fr-FR"/>
              <a:t>lymphoréticulose</a:t>
            </a:r>
            <a:r>
              <a:rPr lang="fr-FR"/>
              <a:t> bénigne ;</a:t>
            </a:r>
            <a:endParaRPr/>
          </a:p>
          <a:p>
            <a:pPr indent="-342900" lvl="0" marL="411480" rtl="0" algn="l">
              <a:spcBef>
                <a:spcPts val="700"/>
              </a:spcBef>
              <a:spcAft>
                <a:spcPts val="0"/>
              </a:spcAft>
              <a:buSzPct val="95000"/>
              <a:buChar char="▪"/>
            </a:pPr>
            <a:r>
              <a:rPr lang="fr-FR"/>
              <a:t>		- la tularémie ;</a:t>
            </a:r>
            <a:endParaRPr/>
          </a:p>
          <a:p>
            <a:pPr indent="-342900" lvl="0" marL="411480" rtl="0" algn="l">
              <a:spcBef>
                <a:spcPts val="700"/>
              </a:spcBef>
              <a:spcAft>
                <a:spcPts val="0"/>
              </a:spcAft>
              <a:buSzPct val="95000"/>
              <a:buChar char="▪"/>
            </a:pPr>
            <a:r>
              <a:rPr lang="fr-FR"/>
              <a:t>		- la syphilis primaire ;</a:t>
            </a:r>
            <a:endParaRPr/>
          </a:p>
          <a:p>
            <a:pPr indent="-342900" lvl="0" marL="411480" rtl="0" algn="l">
              <a:spcBef>
                <a:spcPts val="700"/>
              </a:spcBef>
              <a:spcAft>
                <a:spcPts val="0"/>
              </a:spcAft>
              <a:buSzPct val="95000"/>
              <a:buChar char="▪"/>
            </a:pPr>
            <a:r>
              <a:rPr lang="fr-FR"/>
              <a:t>		- actinomycoses ;</a:t>
            </a:r>
            <a:endParaRPr/>
          </a:p>
          <a:p>
            <a:pPr indent="-342900" lvl="0" marL="411480" rtl="0" algn="l">
              <a:spcBef>
                <a:spcPts val="700"/>
              </a:spcBef>
              <a:spcAft>
                <a:spcPts val="0"/>
              </a:spcAft>
              <a:buSzPct val="95000"/>
              <a:buChar char="▪"/>
            </a:pPr>
            <a:r>
              <a:rPr lang="fr-FR"/>
              <a:t>- Les parasites, la toxoplasmose ;</a:t>
            </a:r>
            <a:endParaRPr/>
          </a:p>
          <a:p>
            <a:pPr indent="-342900" lvl="0" marL="411480" rtl="0" algn="l">
              <a:spcBef>
                <a:spcPts val="700"/>
              </a:spcBef>
              <a:spcAft>
                <a:spcPts val="0"/>
              </a:spcAft>
              <a:buSzPct val="95000"/>
              <a:buChar char="▪"/>
            </a:pPr>
            <a:r>
              <a:rPr lang="fr-FR"/>
              <a:t>- Adénopathies</a:t>
            </a:r>
            <a:r>
              <a:rPr b="1" i="1" lang="fr-FR"/>
              <a:t> </a:t>
            </a:r>
            <a:r>
              <a:rPr lang="fr-FR"/>
              <a:t>avec le virus VIH ;</a:t>
            </a:r>
            <a:endParaRPr/>
          </a:p>
          <a:p>
            <a:pPr indent="-342900" lvl="0" marL="411480" rtl="0" algn="l">
              <a:spcBef>
                <a:spcPts val="700"/>
              </a:spcBef>
              <a:spcAft>
                <a:spcPts val="0"/>
              </a:spcAft>
              <a:buSzPct val="95000"/>
              <a:buChar char="▪"/>
            </a:pPr>
            <a:r>
              <a:rPr lang="fr-FR"/>
              <a:t>- affections inflammatoires de système ;</a:t>
            </a:r>
            <a:endParaRPr/>
          </a:p>
          <a:p>
            <a:pPr indent="-342900" lvl="0" marL="411480" rtl="0" algn="l">
              <a:spcBef>
                <a:spcPts val="700"/>
              </a:spcBef>
              <a:spcAft>
                <a:spcPts val="0"/>
              </a:spcAft>
              <a:buSzPct val="95000"/>
              <a:buChar char="▪"/>
            </a:pPr>
            <a:r>
              <a:rPr lang="fr-FR"/>
              <a:t>- Lupus érythémateux ;</a:t>
            </a:r>
            <a:endParaRPr/>
          </a:p>
          <a:p>
            <a:pPr indent="-342900" lvl="0" marL="411480" rtl="0" algn="l">
              <a:spcBef>
                <a:spcPts val="700"/>
              </a:spcBef>
              <a:spcAft>
                <a:spcPts val="0"/>
              </a:spcAft>
              <a:buSzPct val="95000"/>
              <a:buChar char="▪"/>
            </a:pPr>
            <a:r>
              <a:rPr lang="fr-FR"/>
              <a:t>- La polyarthrite rhumatoïde ;</a:t>
            </a:r>
            <a:endParaRPr/>
          </a:p>
          <a:p>
            <a:pPr indent="-342900" lvl="0" marL="411480" rtl="0" algn="l">
              <a:spcBef>
                <a:spcPts val="700"/>
              </a:spcBef>
              <a:spcAft>
                <a:spcPts val="0"/>
              </a:spcAft>
              <a:buSzPct val="95000"/>
              <a:buChar char="▪"/>
            </a:pPr>
            <a:r>
              <a:rPr lang="fr-FR"/>
              <a:t>- Adénopathies</a:t>
            </a:r>
            <a:r>
              <a:rPr b="1" i="1" lang="fr-FR"/>
              <a:t> </a:t>
            </a:r>
            <a:r>
              <a:rPr lang="fr-FR"/>
              <a:t>médicamenteuses (pénicilline, la carbamazépine) ;</a:t>
            </a:r>
            <a:endParaRPr/>
          </a:p>
          <a:p>
            <a:pPr indent="-342900" lvl="0" marL="411480" rtl="0" algn="l">
              <a:spcBef>
                <a:spcPts val="700"/>
              </a:spcBef>
              <a:spcAft>
                <a:spcPts val="0"/>
              </a:spcAft>
              <a:buSzPct val="95000"/>
              <a:buChar char="▪"/>
            </a:pPr>
            <a:r>
              <a:rPr lang="fr-FR"/>
              <a:t>- Reticulosis – sarcoïdose</a:t>
            </a:r>
            <a:endParaRPr/>
          </a:p>
          <a:p>
            <a:pPr indent="-342900" lvl="0" marL="411480" rtl="0" algn="l">
              <a:spcBef>
                <a:spcPts val="700"/>
              </a:spcBef>
              <a:spcAft>
                <a:spcPts val="0"/>
              </a:spcAft>
              <a:buSzPct val="95000"/>
              <a:buChar char="▪"/>
            </a:pPr>
            <a:r>
              <a:rPr lang="fr-FR"/>
              <a:t>- Affection Letterer – Siwe</a:t>
            </a:r>
            <a:endParaRPr/>
          </a:p>
          <a:p>
            <a:pPr indent="-342900" lvl="0" marL="411480" rtl="0" algn="l">
              <a:spcBef>
                <a:spcPts val="700"/>
              </a:spcBef>
              <a:spcAft>
                <a:spcPts val="0"/>
              </a:spcAft>
              <a:buSzPct val="95000"/>
              <a:buChar char="▪"/>
            </a:pPr>
            <a:r>
              <a:rPr lang="fr-FR"/>
              <a:t>2 Les tumeurs :</a:t>
            </a:r>
            <a:endParaRPr/>
          </a:p>
          <a:p>
            <a:pPr indent="-342900" lvl="0" marL="411480" rtl="0" algn="l">
              <a:spcBef>
                <a:spcPts val="700"/>
              </a:spcBef>
              <a:spcAft>
                <a:spcPts val="0"/>
              </a:spcAft>
              <a:buSzPct val="95000"/>
              <a:buChar char="▪"/>
            </a:pPr>
            <a:r>
              <a:rPr lang="fr-FR"/>
              <a:t>- hémopathies malignes : - la maladie de Hodgkin ;</a:t>
            </a:r>
            <a:endParaRPr/>
          </a:p>
          <a:p>
            <a:pPr indent="-342900" lvl="0" marL="411480" rtl="0" algn="l">
              <a:spcBef>
                <a:spcPts val="700"/>
              </a:spcBef>
              <a:spcAft>
                <a:spcPts val="0"/>
              </a:spcAft>
              <a:buSzPct val="95000"/>
              <a:buChar char="▪"/>
            </a:pPr>
            <a:r>
              <a:rPr lang="fr-FR"/>
              <a:t>- Lymphome nonhodgkinia</a:t>
            </a:r>
            <a:endParaRPr/>
          </a:p>
          <a:p>
            <a:pPr indent="-342900" lvl="0" marL="411480" rtl="0" algn="l">
              <a:spcBef>
                <a:spcPts val="700"/>
              </a:spcBef>
              <a:spcAft>
                <a:spcPts val="0"/>
              </a:spcAft>
              <a:buSzPct val="95000"/>
              <a:buChar char="▪"/>
            </a:pPr>
            <a:r>
              <a:rPr lang="fr-FR"/>
              <a:t>- La leucémie lymphoïde chronique</a:t>
            </a:r>
            <a:endParaRPr/>
          </a:p>
          <a:p>
            <a:pPr indent="-297656" lvl="0" marL="411480" rtl="0" algn="l">
              <a:spcBef>
                <a:spcPts val="700"/>
              </a:spcBef>
              <a:spcAft>
                <a:spcPts val="0"/>
              </a:spcAft>
              <a:buSzPct val="95000"/>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2"/>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t/>
            </a:r>
            <a:endParaRPr/>
          </a:p>
        </p:txBody>
      </p:sp>
      <p:sp>
        <p:nvSpPr>
          <p:cNvPr id="494" name="Google Shape;494;p52"/>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fontScale="55000" lnSpcReduction="20000"/>
          </a:bodyPr>
          <a:lstStyle/>
          <a:p>
            <a:pPr indent="-342900" lvl="0" marL="411480" rtl="0" algn="l">
              <a:spcBef>
                <a:spcPts val="0"/>
              </a:spcBef>
              <a:spcAft>
                <a:spcPts val="0"/>
              </a:spcAft>
              <a:buSzPct val="95000"/>
              <a:buChar char="▪"/>
            </a:pPr>
            <a:r>
              <a:rPr lang="fr-FR"/>
              <a:t> </a:t>
            </a:r>
            <a:endParaRPr/>
          </a:p>
          <a:p>
            <a:pPr indent="-342900" lvl="0" marL="411480" rtl="0" algn="l">
              <a:spcBef>
                <a:spcPts val="700"/>
              </a:spcBef>
              <a:spcAft>
                <a:spcPts val="0"/>
              </a:spcAft>
              <a:buSzPct val="95000"/>
              <a:buChar char="▪"/>
            </a:pPr>
            <a:r>
              <a:rPr b="1" i="1" lang="fr-FR"/>
              <a:t>Adénopathies secondaires</a:t>
            </a:r>
            <a:endParaRPr/>
          </a:p>
          <a:p>
            <a:pPr indent="-342900" lvl="0" marL="411480" rtl="0" algn="l">
              <a:spcBef>
                <a:spcPts val="700"/>
              </a:spcBef>
              <a:spcAft>
                <a:spcPts val="0"/>
              </a:spcAft>
              <a:buSzPct val="95000"/>
              <a:buChar char="▪"/>
            </a:pPr>
            <a:r>
              <a:rPr lang="fr-FR"/>
              <a:t> </a:t>
            </a:r>
            <a:endParaRPr/>
          </a:p>
          <a:p>
            <a:pPr indent="-342900" lvl="0" marL="411480" rtl="0" algn="l">
              <a:spcBef>
                <a:spcPts val="700"/>
              </a:spcBef>
              <a:spcAft>
                <a:spcPts val="0"/>
              </a:spcAft>
              <a:buSzPct val="95000"/>
              <a:buChar char="▪"/>
            </a:pPr>
            <a:r>
              <a:rPr lang="fr-FR"/>
              <a:t>Sont des affections ganglionnaires secondaires à des processus pathologiques de voisinage ou à distance.</a:t>
            </a:r>
            <a:endParaRPr/>
          </a:p>
          <a:p>
            <a:pPr indent="-342900" lvl="0" marL="411480" rtl="0" algn="l">
              <a:spcBef>
                <a:spcPts val="700"/>
              </a:spcBef>
              <a:spcAft>
                <a:spcPts val="0"/>
              </a:spcAft>
              <a:buSzPct val="95000"/>
              <a:buChar char="▪"/>
            </a:pPr>
            <a:r>
              <a:rPr b="1" lang="fr-FR"/>
              <a:t>1.</a:t>
            </a:r>
            <a:r>
              <a:rPr b="1" i="1" lang="fr-FR"/>
              <a:t> </a:t>
            </a:r>
            <a:r>
              <a:rPr b="1" lang="fr-FR"/>
              <a:t>Adénopathies secondaires inflammatoires :</a:t>
            </a:r>
            <a:endParaRPr/>
          </a:p>
          <a:p>
            <a:pPr indent="-342900" lvl="0" marL="411480" rtl="0" algn="l">
              <a:spcBef>
                <a:spcPts val="700"/>
              </a:spcBef>
              <a:spcAft>
                <a:spcPts val="0"/>
              </a:spcAft>
              <a:buSzPct val="95000"/>
              <a:buChar char="▪"/>
            </a:pPr>
            <a:r>
              <a:rPr b="1" lang="fr-FR"/>
              <a:t>a.</a:t>
            </a:r>
            <a:r>
              <a:rPr lang="fr-FR"/>
              <a:t> </a:t>
            </a:r>
            <a:r>
              <a:rPr lang="fr-FR" u="sng"/>
              <a:t>Aigu</a:t>
            </a:r>
            <a:r>
              <a:rPr lang="fr-FR"/>
              <a:t>ë</a:t>
            </a:r>
            <a:r>
              <a:rPr lang="fr-FR" u="sng"/>
              <a:t>s:</a:t>
            </a:r>
            <a:endParaRPr/>
          </a:p>
          <a:p>
            <a:pPr indent="-342900" lvl="0" marL="411480" rtl="0" algn="l">
              <a:spcBef>
                <a:spcPts val="700"/>
              </a:spcBef>
              <a:spcAft>
                <a:spcPts val="0"/>
              </a:spcAft>
              <a:buSzPct val="95000"/>
              <a:buChar char="▪"/>
            </a:pPr>
            <a:r>
              <a:rPr lang="fr-FR"/>
              <a:t>Sont des réactions ganglionnaires - lymphadénite aiguës de voisinage secondaire aux affections inflammatoires aiguës : rhino-pharyngites aiguës virales ou bactériennes, infections cutanées faciales, d’inflammations aiguës dentaires.</a:t>
            </a:r>
            <a:endParaRPr/>
          </a:p>
          <a:p>
            <a:pPr indent="-342900" lvl="0" marL="411480" rtl="0" algn="l">
              <a:spcBef>
                <a:spcPts val="700"/>
              </a:spcBef>
              <a:spcAft>
                <a:spcPts val="0"/>
              </a:spcAft>
              <a:buSzPct val="95000"/>
              <a:buChar char="▪"/>
            </a:pPr>
            <a:r>
              <a:rPr b="1" lang="fr-FR"/>
              <a:t>b.</a:t>
            </a:r>
            <a:r>
              <a:rPr lang="fr-FR"/>
              <a:t> </a:t>
            </a:r>
            <a:r>
              <a:rPr lang="fr-FR" u="sng"/>
              <a:t>Chroniques :</a:t>
            </a:r>
            <a:endParaRPr/>
          </a:p>
          <a:p>
            <a:pPr indent="-342900" lvl="0" marL="411480" rtl="0" algn="l">
              <a:spcBef>
                <a:spcPts val="700"/>
              </a:spcBef>
              <a:spcAft>
                <a:spcPts val="0"/>
              </a:spcAft>
              <a:buSzPct val="95000"/>
              <a:buChar char="▪"/>
            </a:pPr>
            <a:r>
              <a:rPr lang="fr-FR"/>
              <a:t>- non spécifiques – des adénopathies</a:t>
            </a:r>
            <a:r>
              <a:rPr b="1" lang="fr-FR"/>
              <a:t> </a:t>
            </a:r>
            <a:r>
              <a:rPr lang="fr-FR"/>
              <a:t>uniques ou multiples dont la cause est difficile de déterminer : foyer d’infection oto-rhino-laryngologique, foyers dentaires.</a:t>
            </a:r>
            <a:endParaRPr/>
          </a:p>
          <a:p>
            <a:pPr indent="-342900" lvl="0" marL="411480" rtl="0" algn="l">
              <a:spcBef>
                <a:spcPts val="700"/>
              </a:spcBef>
              <a:spcAft>
                <a:spcPts val="0"/>
              </a:spcAft>
              <a:buSzPct val="95000"/>
              <a:buChar char="▪"/>
            </a:pPr>
            <a:r>
              <a:rPr lang="fr-FR"/>
              <a:t>- Spécifiques - la tuberculose pharyngée ;</a:t>
            </a:r>
            <a:endParaRPr/>
          </a:p>
          <a:p>
            <a:pPr indent="-342900" lvl="0" marL="411480" rtl="0" algn="l">
              <a:spcBef>
                <a:spcPts val="700"/>
              </a:spcBef>
              <a:spcAft>
                <a:spcPts val="0"/>
              </a:spcAft>
              <a:buSzPct val="95000"/>
              <a:buChar char="▪"/>
            </a:pPr>
            <a:r>
              <a:rPr lang="fr-FR"/>
              <a:t>- la syphilis oropharyngée.</a:t>
            </a:r>
            <a:endParaRPr/>
          </a:p>
          <a:p>
            <a:pPr indent="-243363" lvl="0" marL="411480" rtl="0" algn="l">
              <a:spcBef>
                <a:spcPts val="700"/>
              </a:spcBef>
              <a:spcAft>
                <a:spcPts val="0"/>
              </a:spcAft>
              <a:buSzPct val="95000"/>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3"/>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t/>
            </a:r>
            <a:endParaRPr/>
          </a:p>
        </p:txBody>
      </p:sp>
      <p:sp>
        <p:nvSpPr>
          <p:cNvPr id="500" name="Google Shape;500;p53"/>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fontScale="47500" lnSpcReduction="20000"/>
          </a:bodyPr>
          <a:lstStyle/>
          <a:p>
            <a:pPr indent="-342900" lvl="0" marL="411480" rtl="0" algn="l">
              <a:spcBef>
                <a:spcPts val="0"/>
              </a:spcBef>
              <a:spcAft>
                <a:spcPts val="0"/>
              </a:spcAft>
              <a:buSzPct val="95000"/>
              <a:buChar char="▪"/>
            </a:pPr>
            <a:r>
              <a:rPr b="1" i="1" lang="fr-FR"/>
              <a:t>Adénopathies secondaires</a:t>
            </a:r>
            <a:endParaRPr/>
          </a:p>
          <a:p>
            <a:pPr indent="-342900" lvl="0" marL="411480" rtl="0" algn="l">
              <a:spcBef>
                <a:spcPts val="700"/>
              </a:spcBef>
              <a:spcAft>
                <a:spcPts val="0"/>
              </a:spcAft>
              <a:buSzPct val="95000"/>
              <a:buChar char="▪"/>
            </a:pPr>
            <a:r>
              <a:rPr lang="fr-FR"/>
              <a:t> </a:t>
            </a:r>
            <a:endParaRPr/>
          </a:p>
          <a:p>
            <a:pPr indent="-342900" lvl="0" marL="411480" rtl="0" algn="l">
              <a:spcBef>
                <a:spcPts val="700"/>
              </a:spcBef>
              <a:spcAft>
                <a:spcPts val="0"/>
              </a:spcAft>
              <a:buSzPct val="95000"/>
              <a:buChar char="▪"/>
            </a:pPr>
            <a:r>
              <a:rPr lang="fr-FR"/>
              <a:t>Sont des affections ganglionnaires secondaires à des processus pathologiques de voisinage ou à distance.</a:t>
            </a:r>
            <a:endParaRPr/>
          </a:p>
          <a:p>
            <a:pPr indent="-342900" lvl="0" marL="411480" rtl="0" algn="l">
              <a:spcBef>
                <a:spcPts val="700"/>
              </a:spcBef>
              <a:spcAft>
                <a:spcPts val="0"/>
              </a:spcAft>
              <a:buSzPct val="95000"/>
              <a:buChar char="▪"/>
            </a:pPr>
            <a:r>
              <a:rPr b="1" lang="fr-FR"/>
              <a:t>1.</a:t>
            </a:r>
            <a:r>
              <a:rPr b="1" i="1" lang="fr-FR"/>
              <a:t> </a:t>
            </a:r>
            <a:r>
              <a:rPr b="1" lang="fr-FR"/>
              <a:t>Adénopathies secondaires inflammatoires :</a:t>
            </a:r>
            <a:endParaRPr/>
          </a:p>
          <a:p>
            <a:pPr indent="-342900" lvl="0" marL="411480" rtl="0" algn="l">
              <a:spcBef>
                <a:spcPts val="700"/>
              </a:spcBef>
              <a:spcAft>
                <a:spcPts val="0"/>
              </a:spcAft>
              <a:buSzPct val="95000"/>
              <a:buChar char="▪"/>
            </a:pPr>
            <a:r>
              <a:rPr b="1" lang="fr-FR"/>
              <a:t>a.</a:t>
            </a:r>
            <a:r>
              <a:rPr lang="fr-FR"/>
              <a:t> </a:t>
            </a:r>
            <a:r>
              <a:rPr lang="fr-FR" u="sng"/>
              <a:t>Aigu</a:t>
            </a:r>
            <a:r>
              <a:rPr lang="fr-FR"/>
              <a:t>ë</a:t>
            </a:r>
            <a:r>
              <a:rPr lang="fr-FR" u="sng"/>
              <a:t>s:</a:t>
            </a:r>
            <a:endParaRPr/>
          </a:p>
          <a:p>
            <a:pPr indent="-342900" lvl="0" marL="411480" rtl="0" algn="l">
              <a:spcBef>
                <a:spcPts val="700"/>
              </a:spcBef>
              <a:spcAft>
                <a:spcPts val="0"/>
              </a:spcAft>
              <a:buSzPct val="95000"/>
              <a:buChar char="▪"/>
            </a:pPr>
            <a:r>
              <a:rPr lang="fr-FR"/>
              <a:t>Sont des réactions ganglionnaires - lymphadénite aiguës de voisinage secondaire aux affections inflammatoires aiguës : rhino-pharyngites aiguës virales ou bactériennes, infections cutanées faciales, d’inflammations aiguës dentaires.</a:t>
            </a:r>
            <a:endParaRPr/>
          </a:p>
          <a:p>
            <a:pPr indent="-342900" lvl="0" marL="411480" rtl="0" algn="l">
              <a:spcBef>
                <a:spcPts val="700"/>
              </a:spcBef>
              <a:spcAft>
                <a:spcPts val="0"/>
              </a:spcAft>
              <a:buSzPct val="95000"/>
              <a:buChar char="▪"/>
            </a:pPr>
            <a:r>
              <a:rPr b="1" lang="fr-FR"/>
              <a:t>b.</a:t>
            </a:r>
            <a:r>
              <a:rPr lang="fr-FR"/>
              <a:t> </a:t>
            </a:r>
            <a:r>
              <a:rPr lang="fr-FR" u="sng"/>
              <a:t>Chroniques :</a:t>
            </a:r>
            <a:endParaRPr/>
          </a:p>
          <a:p>
            <a:pPr indent="-342900" lvl="0" marL="411480" rtl="0" algn="l">
              <a:spcBef>
                <a:spcPts val="700"/>
              </a:spcBef>
              <a:spcAft>
                <a:spcPts val="0"/>
              </a:spcAft>
              <a:buSzPct val="95000"/>
              <a:buChar char="▪"/>
            </a:pPr>
            <a:r>
              <a:rPr lang="fr-FR"/>
              <a:t>- non spécifiques – des adénopathies</a:t>
            </a:r>
            <a:r>
              <a:rPr b="1" lang="fr-FR"/>
              <a:t> </a:t>
            </a:r>
            <a:r>
              <a:rPr lang="fr-FR"/>
              <a:t>uniques ou multiples dont la cause est difficile de déterminer : foyer d’infection oto-rhino-laryngologique, foyers dentaires.</a:t>
            </a:r>
            <a:endParaRPr/>
          </a:p>
          <a:p>
            <a:pPr indent="-342900" lvl="0" marL="411480" rtl="0" algn="l">
              <a:spcBef>
                <a:spcPts val="700"/>
              </a:spcBef>
              <a:spcAft>
                <a:spcPts val="0"/>
              </a:spcAft>
              <a:buSzPct val="95000"/>
              <a:buChar char="▪"/>
            </a:pPr>
            <a:r>
              <a:rPr lang="fr-FR"/>
              <a:t>- Spécifiques - la tuberculose pharyngée ;</a:t>
            </a:r>
            <a:endParaRPr/>
          </a:p>
          <a:p>
            <a:pPr indent="-342900" lvl="0" marL="411480" rtl="0" algn="l">
              <a:spcBef>
                <a:spcPts val="700"/>
              </a:spcBef>
              <a:spcAft>
                <a:spcPts val="0"/>
              </a:spcAft>
              <a:buSzPct val="95000"/>
              <a:buChar char="▪"/>
            </a:pPr>
            <a:r>
              <a:rPr lang="fr-FR"/>
              <a:t>- la syphilis oropharyngée.</a:t>
            </a:r>
            <a:endParaRPr/>
          </a:p>
          <a:p>
            <a:pPr indent="-342900" lvl="0" marL="411480" rtl="0" algn="l">
              <a:spcBef>
                <a:spcPts val="700"/>
              </a:spcBef>
              <a:spcAft>
                <a:spcPts val="0"/>
              </a:spcAft>
              <a:buSzPct val="95000"/>
              <a:buChar char="▪"/>
            </a:pPr>
            <a:r>
              <a:rPr b="1" lang="fr-FR"/>
              <a:t>2. Adénopathies secondaires métastatiques :</a:t>
            </a:r>
            <a:endParaRPr/>
          </a:p>
          <a:p>
            <a:pPr indent="-342900" lvl="0" marL="411480" rtl="0" algn="l">
              <a:spcBef>
                <a:spcPts val="700"/>
              </a:spcBef>
              <a:spcAft>
                <a:spcPts val="0"/>
              </a:spcAft>
              <a:buSzPct val="95000"/>
              <a:buChar char="▪"/>
            </a:pPr>
            <a:r>
              <a:rPr lang="fr-FR"/>
              <a:t>Il y a des adénopathies secondaires (métastatiques) de cancers des voies aéro-digestives supérieures le plus souvent, ou d’un cancer à distance.</a:t>
            </a:r>
            <a:endParaRPr/>
          </a:p>
          <a:p>
            <a:pPr indent="-342900" lvl="0" marL="411480" rtl="0" algn="l">
              <a:spcBef>
                <a:spcPts val="700"/>
              </a:spcBef>
              <a:spcAft>
                <a:spcPts val="0"/>
              </a:spcAft>
              <a:buSzPct val="95000"/>
              <a:buChar char="▪"/>
            </a:pPr>
            <a:r>
              <a:rPr lang="fr-FR"/>
              <a:t> </a:t>
            </a:r>
            <a:endParaRPr/>
          </a:p>
          <a:p>
            <a:pPr indent="-256936" lvl="0" marL="411480" rtl="0" algn="l">
              <a:spcBef>
                <a:spcPts val="700"/>
              </a:spcBef>
              <a:spcAft>
                <a:spcPts val="0"/>
              </a:spcAft>
              <a:buSzPct val="95000"/>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54"/>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t/>
            </a:r>
            <a:endParaRPr/>
          </a:p>
        </p:txBody>
      </p:sp>
      <p:sp>
        <p:nvSpPr>
          <p:cNvPr id="506" name="Google Shape;506;p54"/>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fontScale="55000" lnSpcReduction="20000"/>
          </a:bodyPr>
          <a:lstStyle/>
          <a:p>
            <a:pPr indent="-342900" lvl="0" marL="411480" rtl="0" algn="l">
              <a:spcBef>
                <a:spcPts val="0"/>
              </a:spcBef>
              <a:spcAft>
                <a:spcPts val="0"/>
              </a:spcAft>
              <a:buSzPct val="95000"/>
              <a:buChar char="▪"/>
            </a:pPr>
            <a:r>
              <a:rPr b="1" i="1" lang="fr-FR"/>
              <a:t>Description des maladies des ganglions lymphatiques les plus courantes </a:t>
            </a:r>
            <a:r>
              <a:rPr lang="fr-FR"/>
              <a:t>:</a:t>
            </a:r>
            <a:endParaRPr/>
          </a:p>
          <a:p>
            <a:pPr indent="-342900" lvl="0" marL="411480" rtl="0" algn="l">
              <a:spcBef>
                <a:spcPts val="700"/>
              </a:spcBef>
              <a:spcAft>
                <a:spcPts val="0"/>
              </a:spcAft>
              <a:buSzPct val="95000"/>
              <a:buChar char="▪"/>
            </a:pPr>
            <a:r>
              <a:rPr b="1" lang="fr-FR"/>
              <a:t>1 Adénopathie aiguë :</a:t>
            </a:r>
            <a:endParaRPr/>
          </a:p>
          <a:p>
            <a:pPr indent="-342900" lvl="0" marL="411480" rtl="0" algn="l">
              <a:spcBef>
                <a:spcPts val="700"/>
              </a:spcBef>
              <a:spcAft>
                <a:spcPts val="0"/>
              </a:spcAft>
              <a:buSzPct val="95000"/>
              <a:buChar char="▪"/>
            </a:pPr>
            <a:r>
              <a:rPr lang="fr-FR"/>
              <a:t>C’est une affection très fréquente aussi chez les enfants que chez les adultes.</a:t>
            </a:r>
            <a:endParaRPr/>
          </a:p>
          <a:p>
            <a:pPr indent="-342900" lvl="0" marL="411480" rtl="0" algn="l">
              <a:spcBef>
                <a:spcPts val="700"/>
              </a:spcBef>
              <a:spcAft>
                <a:spcPts val="0"/>
              </a:spcAft>
              <a:buSzPct val="95000"/>
              <a:buChar char="▪"/>
            </a:pPr>
            <a:r>
              <a:rPr b="1" lang="fr-FR"/>
              <a:t>Infections virales</a:t>
            </a:r>
            <a:endParaRPr/>
          </a:p>
          <a:p>
            <a:pPr indent="-342900" lvl="0" marL="411480" rtl="0" algn="l">
              <a:spcBef>
                <a:spcPts val="700"/>
              </a:spcBef>
              <a:spcAft>
                <a:spcPts val="0"/>
              </a:spcAft>
              <a:buSzPct val="95000"/>
              <a:buChar char="▪"/>
            </a:pPr>
            <a:r>
              <a:rPr b="1" lang="fr-FR"/>
              <a:t>a. lymphadénite virale non spécifique </a:t>
            </a:r>
            <a:r>
              <a:rPr lang="fr-FR"/>
              <a:t>:</a:t>
            </a:r>
            <a:endParaRPr/>
          </a:p>
          <a:p>
            <a:pPr indent="-342900" lvl="0" marL="411480" rtl="0" algn="l">
              <a:spcBef>
                <a:spcPts val="700"/>
              </a:spcBef>
              <a:spcAft>
                <a:spcPts val="0"/>
              </a:spcAft>
              <a:buSzPct val="95000"/>
              <a:buChar char="▪"/>
            </a:pPr>
            <a:r>
              <a:rPr lang="fr-FR"/>
              <a:t>L’adénopathie est bilatérale, très fréquente chez les enfants, souvent liés à des infections aiguës virales rhino-pharyngiennes, mais fréquemment apparaît des lymphadénites virales indépendantes, sans affectations rhino-pharyngiennes, la sensibilité locale est modérée ; le traitement et symptomatique.</a:t>
            </a:r>
            <a:endParaRPr/>
          </a:p>
          <a:p>
            <a:pPr indent="-342900" lvl="0" marL="411480" rtl="0" algn="l">
              <a:spcBef>
                <a:spcPts val="700"/>
              </a:spcBef>
              <a:spcAft>
                <a:spcPts val="0"/>
              </a:spcAft>
              <a:buSzPct val="95000"/>
              <a:buChar char="▪"/>
            </a:pPr>
            <a:r>
              <a:rPr b="1" lang="fr-FR"/>
              <a:t>b. Mononucléose infectieuse :</a:t>
            </a:r>
            <a:endParaRPr/>
          </a:p>
          <a:p>
            <a:pPr indent="-342900" lvl="0" marL="411480" rtl="0" algn="l">
              <a:spcBef>
                <a:spcPts val="700"/>
              </a:spcBef>
              <a:spcAft>
                <a:spcPts val="0"/>
              </a:spcAft>
              <a:buSzPct val="95000"/>
              <a:buChar char="▪"/>
            </a:pPr>
            <a:r>
              <a:rPr lang="fr-FR"/>
              <a:t>Il s’agit d’une infection par le virus Epstein - Barr, en particulier aux jeunes et aux adolescents ; la polyadénopathie est latéro-cervicale, bilatérale, consistance accrue, angine aiguë érythémato-pultacée, la splénomégalie et l’asthénie accentué sont caractéristiques.</a:t>
            </a:r>
            <a:endParaRPr/>
          </a:p>
          <a:p>
            <a:pPr indent="-342900" lvl="0" marL="411480" rtl="0" algn="l">
              <a:spcBef>
                <a:spcPts val="700"/>
              </a:spcBef>
              <a:spcAft>
                <a:spcPts val="0"/>
              </a:spcAft>
              <a:buSzPct val="95000"/>
              <a:buChar char="▪"/>
            </a:pPr>
            <a:r>
              <a:rPr b="1" lang="fr-FR"/>
              <a:t>c. Lymphadénite rubéolique :</a:t>
            </a:r>
            <a:endParaRPr/>
          </a:p>
          <a:p>
            <a:pPr indent="-342900" lvl="0" marL="411480" rtl="0" algn="l">
              <a:spcBef>
                <a:spcPts val="700"/>
              </a:spcBef>
              <a:spcAft>
                <a:spcPts val="0"/>
              </a:spcAft>
              <a:buSzPct val="95000"/>
              <a:buChar char="▪"/>
            </a:pPr>
            <a:r>
              <a:rPr lang="fr-FR"/>
              <a:t>Il est situé postérieure, spinale et occipitale, apparaît de sous-febrilité et une éruption cutanée passagère.</a:t>
            </a:r>
            <a:endParaRPr/>
          </a:p>
          <a:p>
            <a:pPr indent="-243363" lvl="0" marL="411480" rtl="0" algn="l">
              <a:spcBef>
                <a:spcPts val="700"/>
              </a:spcBef>
              <a:spcAft>
                <a:spcPts val="0"/>
              </a:spcAft>
              <a:buSzPct val="95000"/>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5"/>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t/>
            </a:r>
            <a:endParaRPr/>
          </a:p>
        </p:txBody>
      </p:sp>
      <p:sp>
        <p:nvSpPr>
          <p:cNvPr id="512" name="Google Shape;512;p55"/>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fontScale="62500" lnSpcReduction="20000"/>
          </a:bodyPr>
          <a:lstStyle/>
          <a:p>
            <a:pPr indent="-342900" lvl="0" marL="411480" rtl="0" algn="l">
              <a:spcBef>
                <a:spcPts val="0"/>
              </a:spcBef>
              <a:spcAft>
                <a:spcPts val="0"/>
              </a:spcAft>
              <a:buSzPct val="95000"/>
              <a:buChar char="▪"/>
            </a:pPr>
            <a:r>
              <a:rPr b="1" i="1" lang="fr-FR"/>
              <a:t>Infections bactériennes</a:t>
            </a:r>
            <a:endParaRPr/>
          </a:p>
          <a:p>
            <a:pPr indent="-342900" lvl="0" marL="411480" rtl="0" algn="l">
              <a:spcBef>
                <a:spcPts val="700"/>
              </a:spcBef>
              <a:spcAft>
                <a:spcPts val="0"/>
              </a:spcAft>
              <a:buSzPct val="95000"/>
              <a:buChar char="▪"/>
            </a:pPr>
            <a:r>
              <a:rPr lang="fr-FR"/>
              <a:t>Contrairement aux infections virales, des bactéries sont généralement situées à un seul ganglion, sont maintes fois secondaires à un processus infectieux bactérien - cutanée, pharyngo-amygdaliennes, dentaire, mais il y a des nombreuses situations quand ne se trouve pas la porte d’entrée.</a:t>
            </a:r>
            <a:endParaRPr/>
          </a:p>
          <a:p>
            <a:pPr indent="-342900" lvl="0" marL="411480" rtl="0" algn="l">
              <a:spcBef>
                <a:spcPts val="700"/>
              </a:spcBef>
              <a:spcAft>
                <a:spcPts val="0"/>
              </a:spcAft>
              <a:buSzPct val="95000"/>
              <a:buChar char="▪"/>
            </a:pPr>
            <a:r>
              <a:rPr b="1" lang="fr-FR"/>
              <a:t>a. Lymphadénite inflammatoire aiguë :</a:t>
            </a:r>
            <a:endParaRPr/>
          </a:p>
          <a:p>
            <a:pPr indent="-342900" lvl="0" marL="411480" rtl="0" algn="l">
              <a:spcBef>
                <a:spcPts val="700"/>
              </a:spcBef>
              <a:spcAft>
                <a:spcPts val="0"/>
              </a:spcAft>
              <a:buSzPct val="95000"/>
              <a:buChar char="▪"/>
            </a:pPr>
            <a:r>
              <a:rPr lang="fr-FR"/>
              <a:t>L’examen clinique révèle un ganglion volumineux, de consistance accrue, sensible au toucher, non-adhérent. Souvent, vous ne pouvez pas mettre en évidence la cause. Le traitement est antibiotique antistaphylococciques anti streptococcique.</a:t>
            </a:r>
            <a:endParaRPr/>
          </a:p>
          <a:p>
            <a:pPr indent="-342900" lvl="0" marL="411480" rtl="0" algn="l">
              <a:spcBef>
                <a:spcPts val="700"/>
              </a:spcBef>
              <a:spcAft>
                <a:spcPts val="0"/>
              </a:spcAft>
              <a:buSzPct val="95000"/>
              <a:buChar char="▪"/>
            </a:pPr>
            <a:r>
              <a:rPr b="1" lang="fr-FR"/>
              <a:t>b</a:t>
            </a:r>
            <a:r>
              <a:rPr lang="fr-FR"/>
              <a:t>. Lymphadénite aiguë suppurée :</a:t>
            </a:r>
            <a:endParaRPr/>
          </a:p>
          <a:p>
            <a:pPr indent="-342900" lvl="0" marL="411480" rtl="0" algn="l">
              <a:spcBef>
                <a:spcPts val="700"/>
              </a:spcBef>
              <a:spcAft>
                <a:spcPts val="0"/>
              </a:spcAft>
              <a:buSzPct val="95000"/>
              <a:buChar char="▪"/>
            </a:pPr>
            <a:r>
              <a:rPr lang="fr-FR"/>
              <a:t>Le ganglion augmentation son volume, se fixe sur les plans profonds, devient très sensible au toucher et plus tard, fluctuent, tout accompagné par des signes généraux : fièvre, malaise. Le traitement est chirurgical (incision - drainage) et des antibiotiques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56"/>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t/>
            </a:r>
            <a:endParaRPr/>
          </a:p>
        </p:txBody>
      </p:sp>
      <p:sp>
        <p:nvSpPr>
          <p:cNvPr id="518" name="Google Shape;518;p56"/>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fontScale="70000" lnSpcReduction="20000"/>
          </a:bodyPr>
          <a:lstStyle/>
          <a:p>
            <a:pPr indent="-342900" lvl="0" marL="411480" rtl="0" algn="l">
              <a:spcBef>
                <a:spcPts val="0"/>
              </a:spcBef>
              <a:spcAft>
                <a:spcPts val="0"/>
              </a:spcAft>
              <a:buSzPct val="95000"/>
              <a:buChar char="▪"/>
            </a:pPr>
            <a:r>
              <a:rPr b="1" lang="fr-FR"/>
              <a:t>2. Adénopathies chroniques :</a:t>
            </a:r>
            <a:endParaRPr/>
          </a:p>
          <a:p>
            <a:pPr indent="-342900" lvl="0" marL="411480" rtl="0" algn="l">
              <a:spcBef>
                <a:spcPts val="700"/>
              </a:spcBef>
              <a:spcAft>
                <a:spcPts val="0"/>
              </a:spcAft>
              <a:buSzPct val="95000"/>
              <a:buChar char="▪"/>
            </a:pPr>
            <a:r>
              <a:rPr lang="fr-FR"/>
              <a:t>	</a:t>
            </a:r>
            <a:endParaRPr/>
          </a:p>
          <a:p>
            <a:pPr indent="-342900" lvl="0" marL="411480" rtl="0" algn="l">
              <a:spcBef>
                <a:spcPts val="700"/>
              </a:spcBef>
              <a:spcAft>
                <a:spcPts val="0"/>
              </a:spcAft>
              <a:buSzPct val="95000"/>
              <a:buChar char="▪"/>
            </a:pPr>
            <a:r>
              <a:rPr lang="fr-FR"/>
              <a:t>Apparaissent généralement et augmentent progressivement en quelques semaines et peuvent persister pendant plusieurs mois, le diagnostic de ganglions lymphatiques chroniques sont beaucoup plus difficiles à réaliser, plus complexe et comprend :</a:t>
            </a:r>
            <a:endParaRPr/>
          </a:p>
          <a:p>
            <a:pPr indent="-342900" lvl="0" marL="411480" rtl="0" algn="l">
              <a:spcBef>
                <a:spcPts val="700"/>
              </a:spcBef>
              <a:spcAft>
                <a:spcPts val="0"/>
              </a:spcAft>
              <a:buSzPct val="95000"/>
              <a:buChar char="▪"/>
            </a:pPr>
            <a:r>
              <a:rPr lang="fr-FR"/>
              <a:t>- anamnèse ;</a:t>
            </a:r>
            <a:endParaRPr/>
          </a:p>
          <a:p>
            <a:pPr indent="-342900" lvl="0" marL="411480" rtl="0" algn="l">
              <a:spcBef>
                <a:spcPts val="700"/>
              </a:spcBef>
              <a:spcAft>
                <a:spcPts val="0"/>
              </a:spcAft>
              <a:buSzPct val="95000"/>
              <a:buChar char="▪"/>
            </a:pPr>
            <a:r>
              <a:rPr lang="fr-FR"/>
              <a:t>- examen clinique ORL – panendoscopie</a:t>
            </a:r>
            <a:endParaRPr/>
          </a:p>
          <a:p>
            <a:pPr indent="-342900" lvl="0" marL="411480" rtl="0" algn="l">
              <a:spcBef>
                <a:spcPts val="700"/>
              </a:spcBef>
              <a:spcAft>
                <a:spcPts val="0"/>
              </a:spcAft>
              <a:buSzPct val="95000"/>
              <a:buChar char="▪"/>
            </a:pPr>
            <a:r>
              <a:rPr lang="fr-FR"/>
              <a:t>- examen clinique général ;</a:t>
            </a:r>
            <a:endParaRPr/>
          </a:p>
          <a:p>
            <a:pPr indent="-342900" lvl="0" marL="411480" rtl="0" algn="l">
              <a:spcBef>
                <a:spcPts val="700"/>
              </a:spcBef>
              <a:spcAft>
                <a:spcPts val="0"/>
              </a:spcAft>
              <a:buSzPct val="95000"/>
              <a:buChar char="▪"/>
            </a:pPr>
            <a:r>
              <a:rPr lang="fr-FR"/>
              <a:t>- les examens de laboratoire ;</a:t>
            </a:r>
            <a:endParaRPr/>
          </a:p>
          <a:p>
            <a:pPr indent="-342900" lvl="0" marL="411480" rtl="0" algn="l">
              <a:spcBef>
                <a:spcPts val="700"/>
              </a:spcBef>
              <a:spcAft>
                <a:spcPts val="0"/>
              </a:spcAft>
              <a:buSzPct val="95000"/>
              <a:buChar char="▪"/>
            </a:pPr>
            <a:r>
              <a:rPr lang="fr-FR"/>
              <a:t>- l’examen radiologique.</a:t>
            </a:r>
            <a:endParaRPr/>
          </a:p>
          <a:p>
            <a:pPr indent="-342900" lvl="0" marL="411480" rtl="0" algn="l">
              <a:spcBef>
                <a:spcPts val="700"/>
              </a:spcBef>
              <a:spcAft>
                <a:spcPts val="0"/>
              </a:spcAft>
              <a:buSzPct val="95000"/>
              <a:buChar char="▪"/>
            </a:pPr>
            <a:r>
              <a:rPr lang="fr-FR"/>
              <a:t>Il y a de nombreuses situations où on ne peut pas déterminer l’étiologie, nécessitant de la ponction cytologique et / ou l’enlèvement d’adénopathie pour l’examen histopathologique.</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57"/>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t/>
            </a:r>
            <a:endParaRPr/>
          </a:p>
        </p:txBody>
      </p:sp>
      <p:sp>
        <p:nvSpPr>
          <p:cNvPr id="524" name="Google Shape;524;p57"/>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fontScale="62500" lnSpcReduction="20000"/>
          </a:bodyPr>
          <a:lstStyle/>
          <a:p>
            <a:pPr indent="-342900" lvl="0" marL="411480" rtl="0" algn="l">
              <a:spcBef>
                <a:spcPts val="0"/>
              </a:spcBef>
              <a:spcAft>
                <a:spcPts val="0"/>
              </a:spcAft>
              <a:buSzPct val="95000"/>
              <a:buChar char="▪"/>
            </a:pPr>
            <a:r>
              <a:rPr lang="fr-FR" u="sng"/>
              <a:t>a. L’adénopathie tuberculeuse.</a:t>
            </a:r>
            <a:endParaRPr/>
          </a:p>
          <a:p>
            <a:pPr indent="-342900" lvl="0" marL="411480" rtl="0" algn="l">
              <a:spcBef>
                <a:spcPts val="700"/>
              </a:spcBef>
              <a:spcAft>
                <a:spcPts val="0"/>
              </a:spcAft>
              <a:buSzPct val="95000"/>
              <a:buChar char="▪"/>
            </a:pPr>
            <a:r>
              <a:rPr lang="fr-FR"/>
              <a:t>Il est l’endroit le plus courante de l’infection bacillaire extra-pulmonaire - 10 % - des cas signalés - et l’emplacement cervical est de 70-90 % des adénopathies tuberculeuses.</a:t>
            </a:r>
            <a:endParaRPr/>
          </a:p>
          <a:p>
            <a:pPr indent="-342900" lvl="0" marL="411480" rtl="0" algn="l">
              <a:spcBef>
                <a:spcPts val="700"/>
              </a:spcBef>
              <a:spcAft>
                <a:spcPts val="0"/>
              </a:spcAft>
              <a:buSzPct val="95000"/>
              <a:buChar char="▪"/>
            </a:pPr>
            <a:r>
              <a:rPr lang="fr-FR"/>
              <a:t>La durée de vie la plus touchée est de 20-40 ans, et les femmes sont les cas les plus fréquents d’adénopathie TB.</a:t>
            </a:r>
            <a:endParaRPr/>
          </a:p>
          <a:p>
            <a:pPr indent="-342900" lvl="0" marL="411480" rtl="0" algn="l">
              <a:spcBef>
                <a:spcPts val="700"/>
              </a:spcBef>
              <a:spcAft>
                <a:spcPts val="0"/>
              </a:spcAft>
              <a:buSzPct val="95000"/>
              <a:buChar char="▪"/>
            </a:pPr>
            <a:r>
              <a:rPr lang="fr-FR"/>
              <a:t>Comme l’emplacement, le plus fréquemment apparaissent un ou deux ganglions dans la région sous digastrique ou sous-maxillaire.</a:t>
            </a:r>
            <a:endParaRPr/>
          </a:p>
          <a:p>
            <a:pPr indent="-342900" lvl="0" marL="411480" rtl="0" algn="l">
              <a:spcBef>
                <a:spcPts val="700"/>
              </a:spcBef>
              <a:spcAft>
                <a:spcPts val="0"/>
              </a:spcAft>
              <a:buSzPct val="95000"/>
              <a:buChar char="▪"/>
            </a:pPr>
            <a:r>
              <a:rPr lang="fr-FR"/>
              <a:t>L’évolution sans traitement est habituellement de régression et de calcification ou se ramollit et suite la fistulisation (10 à 20 % des cas).</a:t>
            </a:r>
            <a:endParaRPr/>
          </a:p>
          <a:p>
            <a:pPr indent="-342900" lvl="0" marL="411480" rtl="0" algn="l">
              <a:spcBef>
                <a:spcPts val="700"/>
              </a:spcBef>
              <a:spcAft>
                <a:spcPts val="0"/>
              </a:spcAft>
              <a:buSzPct val="95000"/>
              <a:buChar char="▪"/>
            </a:pPr>
            <a:r>
              <a:rPr lang="fr-FR"/>
              <a:t>L’intradermoréaction à la tuberculine est positive dans 90 % des cas. La ponction cytologique a des résultats variables selon le stade et d’étude effectuée – le diagnostic cytologique peut être pris en considération juste quand il y a des cellules géantes ou l’examen bactériologique est positif. L’examen clinique de biopsie doit être fait rarement.</a:t>
            </a:r>
            <a:endParaRPr/>
          </a:p>
          <a:p>
            <a:pPr indent="-342900" lvl="0" marL="411480" rtl="0" algn="l">
              <a:spcBef>
                <a:spcPts val="700"/>
              </a:spcBef>
              <a:spcAft>
                <a:spcPts val="0"/>
              </a:spcAft>
              <a:buSzPct val="95000"/>
              <a:buChar char="▪"/>
            </a:pPr>
            <a:r>
              <a:rPr lang="fr-FR"/>
              <a:t>Le traitement est médicamenteux - antibiotiques antituberculeuse est élective, la chirurgie est réservée aux cas d’échec.</a:t>
            </a:r>
            <a:endParaRPr/>
          </a:p>
          <a:p>
            <a:pPr indent="-229790" lvl="0" marL="411480" rtl="0" algn="l">
              <a:spcBef>
                <a:spcPts val="700"/>
              </a:spcBef>
              <a:spcAft>
                <a:spcPts val="0"/>
              </a:spcAft>
              <a:buSzPct val="95000"/>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58"/>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t/>
            </a:r>
            <a:endParaRPr/>
          </a:p>
        </p:txBody>
      </p:sp>
      <p:sp>
        <p:nvSpPr>
          <p:cNvPr id="530" name="Google Shape;530;p58"/>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fontScale="40000" lnSpcReduction="20000"/>
          </a:bodyPr>
          <a:lstStyle/>
          <a:p>
            <a:pPr indent="-342900" lvl="0" marL="411480" rtl="0" algn="l">
              <a:spcBef>
                <a:spcPts val="0"/>
              </a:spcBef>
              <a:spcAft>
                <a:spcPts val="0"/>
              </a:spcAft>
              <a:buSzPct val="95000"/>
              <a:buChar char="▪"/>
            </a:pPr>
            <a:r>
              <a:rPr lang="fr-FR" u="sng"/>
              <a:t>b. Adénopathie par des mycobactéries atypiques</a:t>
            </a:r>
            <a:endParaRPr/>
          </a:p>
          <a:p>
            <a:pPr indent="-342900" lvl="0" marL="411480" rtl="0" algn="l">
              <a:spcBef>
                <a:spcPts val="700"/>
              </a:spcBef>
              <a:spcAft>
                <a:spcPts val="0"/>
              </a:spcAft>
              <a:buSzPct val="95000"/>
              <a:buChar char="▪"/>
            </a:pPr>
            <a:r>
              <a:rPr lang="fr-FR"/>
              <a:t>Mycobacterium kansaii et Mycobacterium scrofulaceum sont des bactéries qui vivent normalement dans l’environnement.</a:t>
            </a:r>
            <a:endParaRPr/>
          </a:p>
          <a:p>
            <a:pPr indent="-342900" lvl="0" marL="411480" rtl="0" algn="l">
              <a:spcBef>
                <a:spcPts val="700"/>
              </a:spcBef>
              <a:spcAft>
                <a:spcPts val="0"/>
              </a:spcAft>
              <a:buSzPct val="95000"/>
              <a:buChar char="▪"/>
            </a:pPr>
            <a:r>
              <a:rPr lang="fr-FR"/>
              <a:t>Elle se produit fréquemment chez les enfants de 1-3 ans – l’adénopathie unilatérale se trouve sous la mâchoire, rétro-auriculaire, prétragien. L’évolution est à long terme, la tendance est de ramollir dans 70 % des cas.</a:t>
            </a:r>
            <a:endParaRPr/>
          </a:p>
          <a:p>
            <a:pPr indent="-342900" lvl="0" marL="411480" rtl="0" algn="l">
              <a:spcBef>
                <a:spcPts val="700"/>
              </a:spcBef>
              <a:spcAft>
                <a:spcPts val="0"/>
              </a:spcAft>
              <a:buSzPct val="95000"/>
              <a:buChar char="▪"/>
            </a:pPr>
            <a:r>
              <a:rPr b="1" lang="fr-FR"/>
              <a:t>c.</a:t>
            </a:r>
            <a:r>
              <a:rPr lang="fr-FR"/>
              <a:t> </a:t>
            </a:r>
            <a:r>
              <a:rPr lang="fr-FR" u="sng"/>
              <a:t>Les Adénopathie lors de l’infection VIH</a:t>
            </a:r>
            <a:endParaRPr/>
          </a:p>
          <a:p>
            <a:pPr indent="-342900" lvl="0" marL="411480" rtl="0" algn="l">
              <a:spcBef>
                <a:spcPts val="700"/>
              </a:spcBef>
              <a:spcAft>
                <a:spcPts val="0"/>
              </a:spcAft>
              <a:buSzPct val="95000"/>
              <a:buChar char="▪"/>
            </a:pPr>
            <a:r>
              <a:rPr lang="fr-FR"/>
              <a:t>L’adénopathie est multiple, localisée principalement occipitale et spinale et des ganglions lymphatiques sont de petite taille, indolores, mobiles, bilatérale et symétrique.</a:t>
            </a:r>
            <a:endParaRPr/>
          </a:p>
          <a:p>
            <a:pPr indent="-342900" lvl="0" marL="411480" rtl="0" algn="l">
              <a:spcBef>
                <a:spcPts val="700"/>
              </a:spcBef>
              <a:spcAft>
                <a:spcPts val="0"/>
              </a:spcAft>
              <a:buSzPct val="95000"/>
              <a:buChar char="▪"/>
            </a:pPr>
            <a:r>
              <a:rPr lang="fr-FR"/>
              <a:t>3. L’adénopathie</a:t>
            </a:r>
            <a:r>
              <a:rPr b="1" lang="fr-FR"/>
              <a:t> métastatique :</a:t>
            </a:r>
            <a:endParaRPr/>
          </a:p>
          <a:p>
            <a:pPr indent="-342900" lvl="0" marL="411480" rtl="0" algn="l">
              <a:spcBef>
                <a:spcPts val="700"/>
              </a:spcBef>
              <a:spcAft>
                <a:spcPts val="0"/>
              </a:spcAft>
              <a:buSzPct val="95000"/>
              <a:buChar char="▪"/>
            </a:pPr>
            <a:r>
              <a:rPr lang="fr-FR"/>
              <a:t>Il faut évoquer systématiquement - surtout pour un homme de plus de 50, fumeur, consommateur d’alcool, surtout si l’adénopathie est dure et sans symptômes inflammatoires.</a:t>
            </a:r>
            <a:endParaRPr/>
          </a:p>
          <a:p>
            <a:pPr indent="-342900" lvl="0" marL="411480" rtl="0" algn="l">
              <a:spcBef>
                <a:spcPts val="700"/>
              </a:spcBef>
              <a:spcAft>
                <a:spcPts val="0"/>
              </a:spcAft>
              <a:buSzPct val="95000"/>
              <a:buChar char="▪"/>
            </a:pPr>
            <a:r>
              <a:rPr b="1" lang="fr-FR"/>
              <a:t>Le ganglion sous-digastrique</a:t>
            </a:r>
            <a:r>
              <a:rPr lang="fr-FR"/>
              <a:t> est un véritable carrefour de drainage lymphatique des territoires oto-rhino-laryngologie et est le plus souvent affecté. Des étapes de diagnostic positif sont :</a:t>
            </a:r>
            <a:endParaRPr/>
          </a:p>
          <a:p>
            <a:pPr indent="-342900" lvl="0" marL="411480" rtl="0" algn="l">
              <a:spcBef>
                <a:spcPts val="700"/>
              </a:spcBef>
              <a:spcAft>
                <a:spcPts val="0"/>
              </a:spcAft>
              <a:buSzPct val="95000"/>
              <a:buChar char="▪"/>
            </a:pPr>
            <a:r>
              <a:rPr lang="fr-FR"/>
              <a:t>- l’anamnèse ;</a:t>
            </a:r>
            <a:endParaRPr/>
          </a:p>
          <a:p>
            <a:pPr indent="-342900" lvl="0" marL="411480" rtl="0" algn="l">
              <a:spcBef>
                <a:spcPts val="700"/>
              </a:spcBef>
              <a:spcAft>
                <a:spcPts val="0"/>
              </a:spcAft>
              <a:buSzPct val="95000"/>
              <a:buChar char="▪"/>
            </a:pPr>
            <a:r>
              <a:rPr lang="fr-FR"/>
              <a:t>- l’examen clinique ORL ;</a:t>
            </a:r>
            <a:endParaRPr/>
          </a:p>
          <a:p>
            <a:pPr indent="-342900" lvl="0" marL="411480" rtl="0" algn="l">
              <a:spcBef>
                <a:spcPts val="700"/>
              </a:spcBef>
              <a:spcAft>
                <a:spcPts val="0"/>
              </a:spcAft>
              <a:buSzPct val="95000"/>
              <a:buChar char="▪"/>
            </a:pPr>
            <a:r>
              <a:rPr lang="fr-FR"/>
              <a:t>- panendoscopie</a:t>
            </a:r>
            <a:endParaRPr/>
          </a:p>
          <a:p>
            <a:pPr indent="-342900" lvl="0" marL="411480" rtl="0" algn="l">
              <a:spcBef>
                <a:spcPts val="700"/>
              </a:spcBef>
              <a:spcAft>
                <a:spcPts val="0"/>
              </a:spcAft>
              <a:buSzPct val="95000"/>
              <a:buChar char="▪"/>
            </a:pPr>
            <a:r>
              <a:rPr lang="fr-FR"/>
              <a:t>- l’examen paraclinique.</a:t>
            </a:r>
            <a:endParaRPr/>
          </a:p>
          <a:p>
            <a:pPr indent="-342900" lvl="0" marL="411480" rtl="0" algn="l">
              <a:spcBef>
                <a:spcPts val="700"/>
              </a:spcBef>
              <a:spcAft>
                <a:spcPts val="0"/>
              </a:spcAft>
              <a:buSzPct val="95000"/>
              <a:buChar char="▪"/>
            </a:pPr>
            <a:r>
              <a:rPr lang="fr-FR"/>
              <a:t>Souvent, il n’y a pas des preuves parce que - adénopathie maligne apparemment primitive – a la cervicotomie comme indication exploratoire avec l’histopathologie du ganglion lymphatique.</a:t>
            </a:r>
            <a:endParaRPr/>
          </a:p>
          <a:p>
            <a:pPr indent="-342900" lvl="0" marL="411480" rtl="0" algn="l">
              <a:spcBef>
                <a:spcPts val="700"/>
              </a:spcBef>
              <a:spcAft>
                <a:spcPts val="0"/>
              </a:spcAft>
              <a:buSzPct val="95000"/>
              <a:buChar char="▪"/>
            </a:pPr>
            <a:r>
              <a:rPr lang="fr-FR"/>
              <a:t>Rarement, l’adénopathie maline métastatique représente la source (néoplasme primitif) au niveau du thorax ou au niveau abdomeno-pelvienne. Dans ce cas, l’adénopathie est le plus fréquent sous-claviculaire.</a:t>
            </a:r>
            <a:endParaRPr/>
          </a:p>
          <a:p>
            <a:pPr indent="-342900" lvl="0" marL="411480" rtl="0" algn="l">
              <a:spcBef>
                <a:spcPts val="700"/>
              </a:spcBef>
              <a:spcAft>
                <a:spcPts val="0"/>
              </a:spcAft>
              <a:buSzPct val="95000"/>
              <a:buChar char="▪"/>
            </a:pPr>
            <a:r>
              <a:rPr lang="fr-FR"/>
              <a:t> </a:t>
            </a:r>
            <a:endParaRPr/>
          </a:p>
          <a:p>
            <a:pPr indent="-270510" lvl="0" marL="411480" rtl="0" algn="l">
              <a:spcBef>
                <a:spcPts val="700"/>
              </a:spcBef>
              <a:spcAft>
                <a:spcPts val="0"/>
              </a:spcAft>
              <a:buSzPct val="95000"/>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59"/>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t/>
            </a:r>
            <a:endParaRPr/>
          </a:p>
        </p:txBody>
      </p:sp>
      <p:sp>
        <p:nvSpPr>
          <p:cNvPr id="536" name="Google Shape;536;p59"/>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fontScale="92500" lnSpcReduction="20000"/>
          </a:bodyPr>
          <a:lstStyle/>
          <a:p>
            <a:pPr indent="-342900" lvl="0" marL="411480" rtl="0" algn="l">
              <a:spcBef>
                <a:spcPts val="0"/>
              </a:spcBef>
              <a:spcAft>
                <a:spcPts val="0"/>
              </a:spcAft>
              <a:buSzPct val="95000"/>
              <a:buChar char="▪"/>
            </a:pPr>
            <a:r>
              <a:rPr b="1" lang="fr-FR"/>
              <a:t>Conclusions à retenir</a:t>
            </a:r>
            <a:endParaRPr/>
          </a:p>
          <a:p>
            <a:pPr indent="-342900" lvl="0" marL="411480" rtl="0" algn="l">
              <a:spcBef>
                <a:spcPts val="700"/>
              </a:spcBef>
              <a:spcAft>
                <a:spcPts val="0"/>
              </a:spcAft>
              <a:buSzPct val="95000"/>
              <a:buChar char="▪"/>
            </a:pPr>
            <a:r>
              <a:rPr lang="fr-FR"/>
              <a:t> </a:t>
            </a:r>
            <a:endParaRPr/>
          </a:p>
          <a:p>
            <a:pPr indent="-342900" lvl="0" marL="411480" rtl="0" algn="l">
              <a:spcBef>
                <a:spcPts val="700"/>
              </a:spcBef>
              <a:spcAft>
                <a:spcPts val="0"/>
              </a:spcAft>
              <a:buSzPct val="95000"/>
              <a:buChar char="▪"/>
            </a:pPr>
            <a:r>
              <a:rPr lang="fr-FR"/>
              <a:t>Tout patient présentant une tumeur latéro-cervicale sera envoyé principalement aux spécialistes ORL, en tenant compte du pourcentage élevé de tumeurs malignes des voies aéro-digestives supérieures (plus de 80 % des adénopathies métastatiques sont secondaires à un processus pathologique des voies aéro-digestives supérieures).</a:t>
            </a:r>
            <a:endParaRPr/>
          </a:p>
          <a:p>
            <a:pPr indent="-342900" lvl="0" marL="411480" rtl="0" algn="l">
              <a:spcBef>
                <a:spcPts val="700"/>
              </a:spcBef>
              <a:spcAft>
                <a:spcPts val="0"/>
              </a:spcAft>
              <a:buSzPct val="95000"/>
              <a:buChar char="▪"/>
            </a:pPr>
            <a:r>
              <a:rPr lang="fr-FR"/>
              <a:t> </a:t>
            </a:r>
            <a:endParaRPr/>
          </a:p>
          <a:p>
            <a:pPr indent="-175498" lvl="0" marL="411480" rtl="0" algn="l">
              <a:spcBef>
                <a:spcPts val="700"/>
              </a:spcBef>
              <a:spcAft>
                <a:spcPts val="0"/>
              </a:spcAft>
              <a:buSzPct val="95000"/>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60"/>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t/>
            </a:r>
            <a:endParaRPr/>
          </a:p>
        </p:txBody>
      </p:sp>
      <p:sp>
        <p:nvSpPr>
          <p:cNvPr id="542" name="Google Shape;542;p60"/>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fontScale="62500" lnSpcReduction="20000"/>
          </a:bodyPr>
          <a:lstStyle/>
          <a:p>
            <a:pPr indent="-342900" lvl="0" marL="411480" rtl="0" algn="l">
              <a:spcBef>
                <a:spcPts val="0"/>
              </a:spcBef>
              <a:spcAft>
                <a:spcPts val="0"/>
              </a:spcAft>
              <a:buSzPct val="95000"/>
              <a:buChar char="▪"/>
            </a:pPr>
            <a:r>
              <a:rPr b="1" lang="fr-FR"/>
              <a:t>MANIFESTATIONS ORL DE L’INFECTION A VIH</a:t>
            </a:r>
            <a:endParaRPr/>
          </a:p>
          <a:p>
            <a:pPr indent="-342900" lvl="0" marL="411480" rtl="0" algn="l">
              <a:spcBef>
                <a:spcPts val="700"/>
              </a:spcBef>
              <a:spcAft>
                <a:spcPts val="0"/>
              </a:spcAft>
              <a:buSzPct val="95000"/>
              <a:buChar char="▪"/>
            </a:pPr>
            <a:r>
              <a:rPr lang="fr-FR"/>
              <a:t> </a:t>
            </a:r>
            <a:endParaRPr/>
          </a:p>
          <a:p>
            <a:pPr indent="-342900" lvl="0" marL="411480" rtl="0" algn="l">
              <a:spcBef>
                <a:spcPts val="700"/>
              </a:spcBef>
              <a:spcAft>
                <a:spcPts val="0"/>
              </a:spcAft>
              <a:buSzPct val="95000"/>
              <a:buChar char="▪"/>
            </a:pPr>
            <a:r>
              <a:rPr lang="fr-FR"/>
              <a:t>CAVITÉ BUCCALE ET PHARYNX</a:t>
            </a:r>
            <a:endParaRPr/>
          </a:p>
          <a:p>
            <a:pPr indent="-342900" lvl="0" marL="411480" rtl="0" algn="l">
              <a:spcBef>
                <a:spcPts val="700"/>
              </a:spcBef>
              <a:spcAft>
                <a:spcPts val="0"/>
              </a:spcAft>
              <a:buSzPct val="95000"/>
              <a:buChar char="▪"/>
            </a:pPr>
            <a:r>
              <a:rPr lang="fr-FR"/>
              <a:t>- sont les organes touchés les plus fréquemment </a:t>
            </a:r>
            <a:br>
              <a:rPr lang="fr-FR"/>
            </a:br>
            <a:r>
              <a:rPr lang="fr-FR"/>
              <a:t>- La candidose bucco-pharyngée est courante chez ces patients :</a:t>
            </a:r>
            <a:br>
              <a:rPr lang="fr-FR"/>
            </a:br>
            <a:r>
              <a:rPr lang="fr-FR"/>
              <a:t>- Chéilite angulaire - lésions au niveau des commissures des lèvres</a:t>
            </a:r>
            <a:br>
              <a:rPr lang="fr-FR"/>
            </a:br>
            <a:r>
              <a:rPr lang="fr-FR"/>
              <a:t>- forme avec des Dépôts blancs crémeux sur le fond d’une muqueuse diffuse congestionnée érythémateuse.</a:t>
            </a:r>
            <a:br>
              <a:rPr lang="fr-FR"/>
            </a:br>
            <a:r>
              <a:rPr lang="fr-FR"/>
              <a:t>- la forme hyperplasiques - leucoplasie candidosique</a:t>
            </a:r>
            <a:br>
              <a:rPr lang="fr-FR"/>
            </a:br>
            <a:r>
              <a:rPr lang="fr-FR"/>
              <a:t>- les infections pharyngées à cytomégalovirus sont fréquentes - tableau clinique similaire à la mononucléose infectieuse</a:t>
            </a:r>
            <a:br>
              <a:rPr lang="fr-FR"/>
            </a:br>
            <a:r>
              <a:rPr lang="fr-FR"/>
              <a:t>- les infections pharyngées à virus herpès simplex sont des formes courantes et graves,</a:t>
            </a:r>
            <a:endParaRPr/>
          </a:p>
          <a:p>
            <a:pPr indent="-342900" lvl="0" marL="411480" rtl="0" algn="l">
              <a:spcBef>
                <a:spcPts val="700"/>
              </a:spcBef>
              <a:spcAft>
                <a:spcPts val="0"/>
              </a:spcAft>
              <a:buSzPct val="95000"/>
              <a:buChar char="▪"/>
            </a:pPr>
            <a:r>
              <a:rPr lang="fr-FR"/>
              <a:t>- Les sarcomes Kaposi et les lymphomes souvent nonhodgkiniene</a:t>
            </a:r>
            <a:endParaRPr/>
          </a:p>
          <a:p>
            <a:pPr indent="-342900" lvl="0" marL="411480" rtl="0" algn="l">
              <a:spcBef>
                <a:spcPts val="700"/>
              </a:spcBef>
              <a:spcAft>
                <a:spcPts val="0"/>
              </a:spcAft>
              <a:buSzPct val="95000"/>
              <a:buChar char="▪"/>
            </a:pPr>
            <a:r>
              <a:rPr lang="fr-FR"/>
              <a:t> </a:t>
            </a:r>
            <a:endParaRPr/>
          </a:p>
          <a:p>
            <a:pPr indent="-229790" lvl="0" marL="411480" rtl="0" algn="l">
              <a:spcBef>
                <a:spcPts val="700"/>
              </a:spcBef>
              <a:spcAft>
                <a:spcPts val="0"/>
              </a:spcAft>
              <a:buSzPct val="95000"/>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1"/>
          <p:cNvSpPr txBox="1"/>
          <p:nvPr>
            <p:ph type="title"/>
          </p:nvPr>
        </p:nvSpPr>
        <p:spPr>
          <a:xfrm>
            <a:off x="914400" y="512064"/>
            <a:ext cx="7772400" cy="9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1EDFF"/>
              </a:buClr>
              <a:buSzPts val="4000"/>
              <a:buFont typeface="Consolas"/>
              <a:buNone/>
            </a:pPr>
            <a:r>
              <a:t/>
            </a:r>
            <a:endParaRPr/>
          </a:p>
        </p:txBody>
      </p:sp>
      <p:sp>
        <p:nvSpPr>
          <p:cNvPr id="548" name="Google Shape;548;p61"/>
          <p:cNvSpPr txBox="1"/>
          <p:nvPr>
            <p:ph idx="1" type="body"/>
          </p:nvPr>
        </p:nvSpPr>
        <p:spPr>
          <a:xfrm>
            <a:off x="914400" y="1783560"/>
            <a:ext cx="7772400" cy="4572000"/>
          </a:xfrm>
          <a:prstGeom prst="rect">
            <a:avLst/>
          </a:prstGeom>
          <a:noFill/>
          <a:ln>
            <a:noFill/>
          </a:ln>
        </p:spPr>
        <p:txBody>
          <a:bodyPr anchorCtr="0" anchor="t" bIns="45700" lIns="91425" spcFirstLastPara="1" rIns="91425" wrap="square" tIns="45700">
            <a:normAutofit fontScale="55000" lnSpcReduction="20000"/>
          </a:bodyPr>
          <a:lstStyle/>
          <a:p>
            <a:pPr indent="-342900" lvl="0" marL="411480" rtl="0" algn="l">
              <a:spcBef>
                <a:spcPts val="0"/>
              </a:spcBef>
              <a:spcAft>
                <a:spcPts val="0"/>
              </a:spcAft>
              <a:buSzPct val="95000"/>
              <a:buChar char="▪"/>
            </a:pPr>
            <a:r>
              <a:rPr lang="fr-FR"/>
              <a:t>MANIFESTATIONS RHINOSINUSALES</a:t>
            </a:r>
            <a:endParaRPr/>
          </a:p>
          <a:p>
            <a:pPr indent="-342900" lvl="0" marL="411480" rtl="0" algn="l">
              <a:spcBef>
                <a:spcPts val="700"/>
              </a:spcBef>
              <a:spcAft>
                <a:spcPts val="0"/>
              </a:spcAft>
              <a:buSzPct val="95000"/>
              <a:buChar char="▪"/>
            </a:pPr>
            <a:r>
              <a:rPr lang="fr-FR"/>
              <a:t>– Infection herpétique à des ulcérations géantes au niveau du vestibule nasal, de la cloison nasale et de la peau de la lèvre supérieure </a:t>
            </a:r>
            <a:br>
              <a:rPr lang="fr-FR"/>
            </a:br>
            <a:r>
              <a:rPr lang="fr-FR"/>
              <a:t>	- Sinusite avec des agents opportunistes - Alternaria alternate, Cryptococus neoformans, Acanthanema castellani</a:t>
            </a:r>
            <a:endParaRPr/>
          </a:p>
          <a:p>
            <a:pPr indent="-342900" lvl="0" marL="411480" rtl="0" algn="l">
              <a:spcBef>
                <a:spcPts val="700"/>
              </a:spcBef>
              <a:spcAft>
                <a:spcPts val="0"/>
              </a:spcAft>
              <a:buSzPct val="95000"/>
              <a:buChar char="▪"/>
            </a:pPr>
            <a:r>
              <a:rPr lang="fr-FR"/>
              <a:t>- Le sarcome de Kaposi et le lymphome nasal nonhodgkiniene</a:t>
            </a:r>
            <a:endParaRPr/>
          </a:p>
          <a:p>
            <a:pPr indent="-342900" lvl="0" marL="411480" rtl="0" algn="l">
              <a:spcBef>
                <a:spcPts val="700"/>
              </a:spcBef>
              <a:spcAft>
                <a:spcPts val="0"/>
              </a:spcAft>
              <a:buSzPct val="95000"/>
              <a:buChar char="▪"/>
            </a:pPr>
            <a:r>
              <a:rPr lang="fr-FR"/>
              <a:t> </a:t>
            </a:r>
            <a:endParaRPr/>
          </a:p>
          <a:p>
            <a:pPr indent="-342900" lvl="0" marL="411480" rtl="0" algn="l">
              <a:spcBef>
                <a:spcPts val="700"/>
              </a:spcBef>
              <a:spcAft>
                <a:spcPts val="0"/>
              </a:spcAft>
              <a:buSzPct val="95000"/>
              <a:buChar char="▪"/>
            </a:pPr>
            <a:r>
              <a:rPr lang="fr-FR"/>
              <a:t>MANIFESTATIONS OTOLOGIQUES</a:t>
            </a:r>
            <a:endParaRPr/>
          </a:p>
          <a:p>
            <a:pPr indent="-342900" lvl="0" marL="411480" rtl="0" algn="l">
              <a:spcBef>
                <a:spcPts val="700"/>
              </a:spcBef>
              <a:spcAft>
                <a:spcPts val="0"/>
              </a:spcAft>
              <a:buSzPct val="95000"/>
              <a:buChar char="▪"/>
            </a:pPr>
            <a:r>
              <a:rPr lang="fr-FR"/>
              <a:t>- Sarcomes de Kaposi au niveau du pavillon auriculaire – biopsie ; </a:t>
            </a:r>
            <a:br>
              <a:rPr lang="fr-FR"/>
            </a:br>
            <a:r>
              <a:rPr lang="fr-FR"/>
              <a:t>- Hypoacousie neuro-sensorielle – virus VIH a un potentiel neurotrope.</a:t>
            </a:r>
            <a:endParaRPr/>
          </a:p>
          <a:p>
            <a:pPr indent="-342900" lvl="0" marL="411480" rtl="0" algn="l">
              <a:spcBef>
                <a:spcPts val="700"/>
              </a:spcBef>
              <a:spcAft>
                <a:spcPts val="0"/>
              </a:spcAft>
              <a:buSzPct val="95000"/>
              <a:buChar char="▪"/>
            </a:pPr>
            <a:r>
              <a:rPr lang="fr-FR"/>
              <a:t> </a:t>
            </a:r>
            <a:endParaRPr/>
          </a:p>
          <a:p>
            <a:pPr indent="-342900" lvl="0" marL="411480" rtl="0" algn="l">
              <a:spcBef>
                <a:spcPts val="700"/>
              </a:spcBef>
              <a:spcAft>
                <a:spcPts val="0"/>
              </a:spcAft>
              <a:buSzPct val="95000"/>
              <a:buChar char="▪"/>
            </a:pPr>
            <a:r>
              <a:rPr lang="fr-FR"/>
              <a:t>MANIFESTATIONS</a:t>
            </a:r>
            <a:r>
              <a:rPr b="1" lang="fr-FR"/>
              <a:t> </a:t>
            </a:r>
            <a:r>
              <a:rPr lang="fr-FR"/>
              <a:t>LATÉRO-CERVICALES</a:t>
            </a:r>
            <a:endParaRPr/>
          </a:p>
          <a:p>
            <a:pPr indent="-342900" lvl="0" marL="411480" rtl="0" algn="l">
              <a:spcBef>
                <a:spcPts val="700"/>
              </a:spcBef>
              <a:spcAft>
                <a:spcPts val="0"/>
              </a:spcAft>
              <a:buSzPct val="95000"/>
              <a:buChar char="▪"/>
            </a:pPr>
            <a:r>
              <a:rPr lang="fr-FR"/>
              <a:t>- Les adénopathies latéro-cervicales persistantes :</a:t>
            </a:r>
            <a:endParaRPr/>
          </a:p>
          <a:p>
            <a:pPr indent="-342900" lvl="0" marL="411480" rtl="0" algn="l">
              <a:spcBef>
                <a:spcPts val="700"/>
              </a:spcBef>
              <a:spcAft>
                <a:spcPts val="0"/>
              </a:spcAft>
              <a:buSzPct val="95000"/>
              <a:buChar char="▪"/>
            </a:pPr>
            <a:r>
              <a:rPr lang="fr-FR"/>
              <a:t>- hyperplasie ganglionnaire folliculaire causée par le VIH</a:t>
            </a:r>
            <a:endParaRPr/>
          </a:p>
          <a:p>
            <a:pPr indent="-342900" lvl="0" marL="411480" rtl="0" algn="l">
              <a:spcBef>
                <a:spcPts val="700"/>
              </a:spcBef>
              <a:spcAft>
                <a:spcPts val="0"/>
              </a:spcAft>
              <a:buSzPct val="95000"/>
              <a:buChar char="▪"/>
            </a:pPr>
            <a:r>
              <a:rPr lang="fr-FR"/>
              <a:t>- Les lymphomes nonhodgkinienes.</a:t>
            </a:r>
            <a:endParaRPr/>
          </a:p>
          <a:p>
            <a:pPr indent="-342900" lvl="0" marL="411480" rtl="0" algn="l">
              <a:spcBef>
                <a:spcPts val="700"/>
              </a:spcBef>
              <a:spcAft>
                <a:spcPts val="0"/>
              </a:spcAft>
              <a:buSzPct val="95000"/>
              <a:buChar char="▪"/>
            </a:pPr>
            <a:r>
              <a:rPr lang="fr-FR"/>
              <a:t> </a:t>
            </a:r>
            <a:endParaRPr/>
          </a:p>
          <a:p>
            <a:pPr indent="-243363" lvl="0" marL="411480" rtl="0" algn="l">
              <a:spcBef>
                <a:spcPts val="700"/>
              </a:spcBef>
              <a:spcAft>
                <a:spcPts val="0"/>
              </a:spcAft>
              <a:buSzPct val="95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etro">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2015-12-14T19:37:35Z</dcterms:created>
  <dc:creator>Raica</dc:creator>
</cp:coreProperties>
</file>