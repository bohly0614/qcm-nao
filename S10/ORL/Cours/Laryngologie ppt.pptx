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y="6858000" cx="9144000"/>
  <p:notesSz cx="6858000" cy="9144000"/>
  <p:embeddedFontLst>
    <p:embeddedFont>
      <p:font typeface="Corbel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6" roundtripDataSignature="AMtx7mg7b4Kabv0Psif9dh5NM7J8I4GO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Corbel-regular.fntdata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Corbel-italic.fntdata"/><Relationship Id="rId63" Type="http://schemas.openxmlformats.org/officeDocument/2006/relationships/font" Target="fonts/Corbel-bold.fntdata"/><Relationship Id="rId22" Type="http://schemas.openxmlformats.org/officeDocument/2006/relationships/slide" Target="slides/slide17.xml"/><Relationship Id="rId66" Type="http://customschemas.google.com/relationships/presentationmetadata" Target="metadata"/><Relationship Id="rId21" Type="http://schemas.openxmlformats.org/officeDocument/2006/relationships/slide" Target="slides/slide16.xml"/><Relationship Id="rId65" Type="http://schemas.openxmlformats.org/officeDocument/2006/relationships/font" Target="fonts/Corbel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8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8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8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28" name="Google Shape;28;p58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" name="Google Shape;29;p58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0" name="Google Shape;30;p58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1" name="Google Shape;31;p58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2" name="Google Shape;32;p58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" name="Google Shape;33;p58"/>
          <p:cNvSpPr txBox="1"/>
          <p:nvPr>
            <p:ph type="ctrTitle"/>
          </p:nvPr>
        </p:nvSpPr>
        <p:spPr>
          <a:xfrm>
            <a:off x="914400" y="4343400"/>
            <a:ext cx="7772400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9144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8"/>
          <p:cNvSpPr txBox="1"/>
          <p:nvPr>
            <p:ph idx="1" type="subTitle"/>
          </p:nvPr>
        </p:nvSpPr>
        <p:spPr>
          <a:xfrm>
            <a:off x="914400" y="2834640"/>
            <a:ext cx="77724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10057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62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5" name="Google Shape;35;p58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" name="Google Shape;36;p58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7" name="Google Shape;37;p58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" name="Google Shape;38;p58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9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9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42" name="Google Shape;42;p59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9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9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0"/>
          <p:cNvSpPr/>
          <p:nvPr/>
        </p:nvSpPr>
        <p:spPr>
          <a:xfrm>
            <a:off x="4828952" y="1073888"/>
            <a:ext cx="4322136" cy="5791200"/>
          </a:xfrm>
          <a:custGeom>
            <a:rect b="b" l="l" r="r" t="t"/>
            <a:pathLst>
              <a:path extrusionOk="0" h="3648" w="2736">
                <a:moveTo>
                  <a:pt x="0" y="3648"/>
                </a:moveTo>
                <a:lnTo>
                  <a:pt x="720" y="2016"/>
                </a:lnTo>
                <a:lnTo>
                  <a:pt x="2736" y="672"/>
                </a:lnTo>
                <a:lnTo>
                  <a:pt x="2736" y="720"/>
                </a:lnTo>
                <a:lnTo>
                  <a:pt x="744" y="2038"/>
                </a:lnTo>
                <a:lnTo>
                  <a:pt x="48" y="3648"/>
                </a:lnTo>
                <a:lnTo>
                  <a:pt x="48" y="3648"/>
                </a:lnTo>
                <a:close/>
              </a:path>
            </a:pathLst>
          </a:custGeom>
          <a:noFill/>
          <a:ln cap="flat" cmpd="sng" w="9525">
            <a:solidFill>
              <a:schemeClr val="accent2">
                <a:alpha val="5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" name="Google Shape;47;p60"/>
          <p:cNvSpPr/>
          <p:nvPr/>
        </p:nvSpPr>
        <p:spPr>
          <a:xfrm>
            <a:off x="373966" y="0"/>
            <a:ext cx="5514536" cy="6615332"/>
          </a:xfrm>
          <a:custGeom>
            <a:rect b="b" l="l" r="r" t="t"/>
            <a:pathLst>
              <a:path extrusionOk="0" h="4128" w="3504">
                <a:moveTo>
                  <a:pt x="0" y="4080"/>
                </a:moveTo>
                <a:lnTo>
                  <a:pt x="0" y="4128"/>
                </a:lnTo>
                <a:lnTo>
                  <a:pt x="3504" y="2640"/>
                </a:lnTo>
                <a:lnTo>
                  <a:pt x="2880" y="0"/>
                </a:lnTo>
                <a:lnTo>
                  <a:pt x="2832" y="0"/>
                </a:lnTo>
                <a:lnTo>
                  <a:pt x="3465" y="2619"/>
                </a:lnTo>
                <a:lnTo>
                  <a:pt x="0" y="4080"/>
                </a:lnTo>
                <a:close/>
              </a:path>
            </a:pathLst>
          </a:custGeom>
          <a:noFill/>
          <a:ln cap="flat" cmpd="sng" w="9525">
            <a:solidFill>
              <a:schemeClr val="accent2">
                <a:alpha val="52941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8" name="Google Shape;48;p60"/>
          <p:cNvSpPr/>
          <p:nvPr/>
        </p:nvSpPr>
        <p:spPr>
          <a:xfrm rot="5236414">
            <a:off x="4462128" y="1483600"/>
            <a:ext cx="4114800" cy="1188720"/>
          </a:xfrm>
          <a:custGeom>
            <a:rect b="b" l="l" r="r" t="t"/>
            <a:pathLst>
              <a:path extrusionOk="0" h="1344" w="3552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566885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" name="Google Shape;49;p60"/>
          <p:cNvSpPr/>
          <p:nvPr/>
        </p:nvSpPr>
        <p:spPr>
          <a:xfrm>
            <a:off x="5943600" y="0"/>
            <a:ext cx="2743200" cy="4267200"/>
          </a:xfrm>
          <a:custGeom>
            <a:rect b="b" l="l" r="r" t="t"/>
            <a:pathLst>
              <a:path extrusionOk="0" h="2688" w="1728">
                <a:moveTo>
                  <a:pt x="1104" y="0"/>
                </a:moveTo>
                <a:lnTo>
                  <a:pt x="1728" y="0"/>
                </a:lnTo>
                <a:lnTo>
                  <a:pt x="0" y="2688"/>
                </a:lnTo>
                <a:lnTo>
                  <a:pt x="1104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" name="Google Shape;50;p60"/>
          <p:cNvSpPr/>
          <p:nvPr/>
        </p:nvSpPr>
        <p:spPr>
          <a:xfrm>
            <a:off x="5943600" y="4267200"/>
            <a:ext cx="3200400" cy="1143000"/>
          </a:xfrm>
          <a:custGeom>
            <a:rect b="b" l="l" r="r" t="t"/>
            <a:pathLst>
              <a:path extrusionOk="0" h="720" w="2016">
                <a:moveTo>
                  <a:pt x="0" y="0"/>
                </a:moveTo>
                <a:lnTo>
                  <a:pt x="2016" y="240"/>
                </a:lnTo>
                <a:lnTo>
                  <a:pt x="2016" y="720"/>
                </a:lnTo>
                <a:lnTo>
                  <a:pt x="0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" name="Google Shape;51;p60"/>
          <p:cNvSpPr/>
          <p:nvPr/>
        </p:nvSpPr>
        <p:spPr>
          <a:xfrm>
            <a:off x="5943600" y="0"/>
            <a:ext cx="1371600" cy="4267200"/>
          </a:xfrm>
          <a:custGeom>
            <a:rect b="b" l="l" r="r" t="t"/>
            <a:pathLst>
              <a:path extrusionOk="0" h="2688" w="864">
                <a:moveTo>
                  <a:pt x="864" y="0"/>
                </a:moveTo>
                <a:lnTo>
                  <a:pt x="0" y="2688"/>
                </a:lnTo>
                <a:lnTo>
                  <a:pt x="768" y="0"/>
                </a:lnTo>
                <a:lnTo>
                  <a:pt x="864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" name="Google Shape;52;p60"/>
          <p:cNvSpPr/>
          <p:nvPr/>
        </p:nvSpPr>
        <p:spPr>
          <a:xfrm>
            <a:off x="5948363" y="4246563"/>
            <a:ext cx="2090737" cy="2611437"/>
          </a:xfrm>
          <a:custGeom>
            <a:rect b="b" l="l" r="r" t="t"/>
            <a:pathLst>
              <a:path extrusionOk="0" h="1645" w="1317">
                <a:moveTo>
                  <a:pt x="1071" y="1645"/>
                </a:moveTo>
                <a:lnTo>
                  <a:pt x="1317" y="1645"/>
                </a:lnTo>
                <a:lnTo>
                  <a:pt x="0" y="0"/>
                </a:lnTo>
                <a:lnTo>
                  <a:pt x="1071" y="1645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" name="Google Shape;53;p60"/>
          <p:cNvSpPr/>
          <p:nvPr/>
        </p:nvSpPr>
        <p:spPr>
          <a:xfrm>
            <a:off x="5943600" y="4267200"/>
            <a:ext cx="1600200" cy="2590800"/>
          </a:xfrm>
          <a:custGeom>
            <a:rect b="b" l="l" r="r" t="t"/>
            <a:pathLst>
              <a:path extrusionOk="0" h="1632" w="1008">
                <a:moveTo>
                  <a:pt x="1008" y="1632"/>
                </a:moveTo>
                <a:lnTo>
                  <a:pt x="0" y="0"/>
                </a:lnTo>
                <a:lnTo>
                  <a:pt x="960" y="1632"/>
                </a:lnTo>
                <a:lnTo>
                  <a:pt x="1008" y="1632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4" name="Google Shape;54;p60"/>
          <p:cNvSpPr/>
          <p:nvPr/>
        </p:nvSpPr>
        <p:spPr>
          <a:xfrm>
            <a:off x="5943600" y="1371600"/>
            <a:ext cx="3200400" cy="2895600"/>
          </a:xfrm>
          <a:custGeom>
            <a:rect b="b" l="l" r="r" t="t"/>
            <a:pathLst>
              <a:path extrusionOk="0" h="1824" w="2016">
                <a:moveTo>
                  <a:pt x="2016" y="0"/>
                </a:moveTo>
                <a:lnTo>
                  <a:pt x="2016" y="144"/>
                </a:lnTo>
                <a:lnTo>
                  <a:pt x="0" y="1824"/>
                </a:lnTo>
                <a:lnTo>
                  <a:pt x="2016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" name="Google Shape;55;p60"/>
          <p:cNvSpPr/>
          <p:nvPr/>
        </p:nvSpPr>
        <p:spPr>
          <a:xfrm>
            <a:off x="5943600" y="1752600"/>
            <a:ext cx="3200400" cy="2514600"/>
          </a:xfrm>
          <a:custGeom>
            <a:rect b="b" l="l" r="r" t="t"/>
            <a:pathLst>
              <a:path extrusionOk="0" h="1584" w="2016">
                <a:moveTo>
                  <a:pt x="2016" y="0"/>
                </a:moveTo>
                <a:lnTo>
                  <a:pt x="0" y="1584"/>
                </a:lnTo>
                <a:lnTo>
                  <a:pt x="2016" y="48"/>
                </a:lnTo>
                <a:lnTo>
                  <a:pt x="2016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" name="Google Shape;56;p60"/>
          <p:cNvSpPr/>
          <p:nvPr/>
        </p:nvSpPr>
        <p:spPr>
          <a:xfrm>
            <a:off x="990600" y="4267200"/>
            <a:ext cx="4953000" cy="2590800"/>
          </a:xfrm>
          <a:custGeom>
            <a:rect b="b" l="l" r="r" t="t"/>
            <a:pathLst>
              <a:path extrusionOk="0" h="1632" w="3120">
                <a:moveTo>
                  <a:pt x="0" y="1632"/>
                </a:moveTo>
                <a:lnTo>
                  <a:pt x="3120" y="0"/>
                </a:lnTo>
                <a:lnTo>
                  <a:pt x="1056" y="1632"/>
                </a:lnTo>
                <a:lnTo>
                  <a:pt x="0" y="1632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" name="Google Shape;57;p60"/>
          <p:cNvSpPr/>
          <p:nvPr/>
        </p:nvSpPr>
        <p:spPr>
          <a:xfrm>
            <a:off x="533400" y="4267200"/>
            <a:ext cx="5334000" cy="2590800"/>
          </a:xfrm>
          <a:custGeom>
            <a:rect b="b" l="l" r="r" t="t"/>
            <a:pathLst>
              <a:path extrusionOk="0" h="1632" w="3360">
                <a:moveTo>
                  <a:pt x="0" y="1632"/>
                </a:moveTo>
                <a:lnTo>
                  <a:pt x="3360" y="0"/>
                </a:lnTo>
                <a:lnTo>
                  <a:pt x="144" y="1632"/>
                </a:lnTo>
                <a:lnTo>
                  <a:pt x="0" y="1632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8" name="Google Shape;58;p60"/>
          <p:cNvSpPr/>
          <p:nvPr/>
        </p:nvSpPr>
        <p:spPr>
          <a:xfrm>
            <a:off x="366824" y="2438400"/>
            <a:ext cx="5638800" cy="1828800"/>
          </a:xfrm>
          <a:custGeom>
            <a:rect b="b" l="l" r="r" t="t"/>
            <a:pathLst>
              <a:path extrusionOk="0" h="1152" w="3552">
                <a:moveTo>
                  <a:pt x="0" y="0"/>
                </a:moveTo>
                <a:lnTo>
                  <a:pt x="3504" y="1152"/>
                </a:lnTo>
                <a:lnTo>
                  <a:pt x="0" y="384"/>
                </a:lnTo>
                <a:lnTo>
                  <a:pt x="0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" name="Google Shape;59;p60"/>
          <p:cNvSpPr/>
          <p:nvPr/>
        </p:nvSpPr>
        <p:spPr>
          <a:xfrm>
            <a:off x="366824" y="2133600"/>
            <a:ext cx="5638800" cy="2133600"/>
          </a:xfrm>
          <a:custGeom>
            <a:rect b="b" l="l" r="r" t="t"/>
            <a:pathLst>
              <a:path extrusionOk="0" h="1344" w="3552">
                <a:moveTo>
                  <a:pt x="0" y="0"/>
                </a:moveTo>
                <a:lnTo>
                  <a:pt x="3552" y="1344"/>
                </a:lnTo>
                <a:lnTo>
                  <a:pt x="0" y="48"/>
                </a:lnTo>
                <a:lnTo>
                  <a:pt x="0" y="0"/>
                </a:lnTo>
                <a:close/>
              </a:path>
            </a:pathLst>
          </a:custGeom>
          <a:solidFill>
            <a:srgbClr val="536888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0" name="Google Shape;60;p60"/>
          <p:cNvSpPr/>
          <p:nvPr/>
        </p:nvSpPr>
        <p:spPr>
          <a:xfrm>
            <a:off x="4572000" y="4267200"/>
            <a:ext cx="1371600" cy="2590800"/>
          </a:xfrm>
          <a:custGeom>
            <a:rect b="b" l="l" r="r" t="t"/>
            <a:pathLst>
              <a:path extrusionOk="0" h="1632" w="864">
                <a:moveTo>
                  <a:pt x="0" y="1632"/>
                </a:moveTo>
                <a:lnTo>
                  <a:pt x="96" y="1632"/>
                </a:lnTo>
                <a:lnTo>
                  <a:pt x="864" y="0"/>
                </a:lnTo>
                <a:lnTo>
                  <a:pt x="0" y="1632"/>
                </a:lnTo>
                <a:close/>
              </a:path>
            </a:pathLst>
          </a:custGeom>
          <a:solidFill>
            <a:srgbClr val="566885">
              <a:alpha val="2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" name="Google Shape;61;p60"/>
          <p:cNvSpPr txBox="1"/>
          <p:nvPr>
            <p:ph idx="1" type="body"/>
          </p:nvPr>
        </p:nvSpPr>
        <p:spPr>
          <a:xfrm>
            <a:off x="706902" y="1351672"/>
            <a:ext cx="5718048" cy="977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227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9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62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62" name="Google Shape;62;p60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0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0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5" name="Google Shape;65;p60"/>
          <p:cNvSpPr/>
          <p:nvPr/>
        </p:nvSpPr>
        <p:spPr>
          <a:xfrm>
            <a:off x="363160" y="402264"/>
            <a:ext cx="8503920" cy="886265"/>
          </a:xfrm>
          <a:prstGeom prst="rect">
            <a:avLst/>
          </a:prstGeom>
          <a:solidFill>
            <a:srgbClr val="566885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" name="Google Shape;66;p60"/>
          <p:cNvSpPr txBox="1"/>
          <p:nvPr>
            <p:ph type="title"/>
          </p:nvPr>
        </p:nvSpPr>
        <p:spPr>
          <a:xfrm>
            <a:off x="706902" y="512064"/>
            <a:ext cx="8156448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640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800"/>
              <a:buFont typeface="Consolas"/>
              <a:buNone/>
              <a:defRPr b="0" sz="38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0"/>
          <p:cNvSpPr/>
          <p:nvPr/>
        </p:nvSpPr>
        <p:spPr>
          <a:xfrm flipH="1">
            <a:off x="371538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8" name="Google Shape;68;p60"/>
          <p:cNvSpPr/>
          <p:nvPr/>
        </p:nvSpPr>
        <p:spPr>
          <a:xfrm flipH="1">
            <a:off x="411109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9" name="Google Shape;69;p60"/>
          <p:cNvSpPr/>
          <p:nvPr/>
        </p:nvSpPr>
        <p:spPr>
          <a:xfrm flipH="1">
            <a:off x="448450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" name="Google Shape;70;p60"/>
          <p:cNvSpPr/>
          <p:nvPr/>
        </p:nvSpPr>
        <p:spPr>
          <a:xfrm flipH="1">
            <a:off x="476702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" name="Google Shape;71;p60"/>
          <p:cNvSpPr/>
          <p:nvPr/>
        </p:nvSpPr>
        <p:spPr>
          <a:xfrm>
            <a:off x="500478" y="680477"/>
            <a:ext cx="36576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 type="twoObj">
  <p:cSld name="TWO_OBJECT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1"/>
          <p:cNvSpPr txBox="1"/>
          <p:nvPr>
            <p:ph type="title"/>
          </p:nvPr>
        </p:nvSpPr>
        <p:spPr>
          <a:xfrm>
            <a:off x="457200" y="512064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1"/>
          <p:cNvSpPr txBox="1"/>
          <p:nvPr>
            <p:ph idx="1" type="body"/>
          </p:nvPr>
        </p:nvSpPr>
        <p:spPr>
          <a:xfrm>
            <a:off x="464344" y="17705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510" lvl="0" marL="457200" algn="l">
              <a:spcBef>
                <a:spcPts val="700"/>
              </a:spcBef>
              <a:spcAft>
                <a:spcPts val="0"/>
              </a:spcAft>
              <a:buSzPts val="2660"/>
              <a:buChar char="▪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🢭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5" name="Google Shape;75;p61"/>
          <p:cNvSpPr txBox="1"/>
          <p:nvPr>
            <p:ph idx="2" type="body"/>
          </p:nvPr>
        </p:nvSpPr>
        <p:spPr>
          <a:xfrm>
            <a:off x="4655344" y="1770501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7510" lvl="0" marL="457200" algn="l">
              <a:spcBef>
                <a:spcPts val="700"/>
              </a:spcBef>
              <a:spcAft>
                <a:spcPts val="0"/>
              </a:spcAft>
              <a:buSzPts val="2660"/>
              <a:buChar char="▪"/>
              <a:defRPr sz="2800"/>
            </a:lvl1pPr>
            <a:lvl2pPr indent="-365760" lvl="1" marL="914400" algn="l">
              <a:spcBef>
                <a:spcPts val="480"/>
              </a:spcBef>
              <a:spcAft>
                <a:spcPts val="0"/>
              </a:spcAft>
              <a:buSzPts val="2160"/>
              <a:buChar char="🢭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76" name="Google Shape;76;p61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1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1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2"/>
          <p:cNvSpPr/>
          <p:nvPr/>
        </p:nvSpPr>
        <p:spPr>
          <a:xfrm>
            <a:off x="0" y="402265"/>
            <a:ext cx="8867080" cy="886265"/>
          </a:xfrm>
          <a:prstGeom prst="rect">
            <a:avLst/>
          </a:prstGeom>
          <a:solidFill>
            <a:srgbClr val="566885">
              <a:alpha val="4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1" name="Google Shape;81;p62"/>
          <p:cNvSpPr txBox="1"/>
          <p:nvPr>
            <p:ph type="title"/>
          </p:nvPr>
        </p:nvSpPr>
        <p:spPr>
          <a:xfrm>
            <a:off x="504824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2"/>
          <p:cNvSpPr txBox="1"/>
          <p:nvPr>
            <p:ph idx="1" type="body"/>
          </p:nvPr>
        </p:nvSpPr>
        <p:spPr>
          <a:xfrm>
            <a:off x="457200" y="1809750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8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3" name="Google Shape;83;p62"/>
          <p:cNvSpPr txBox="1"/>
          <p:nvPr>
            <p:ph idx="2" type="body"/>
          </p:nvPr>
        </p:nvSpPr>
        <p:spPr>
          <a:xfrm>
            <a:off x="4645025" y="1809750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2280"/>
              <a:buNone/>
              <a:defRPr b="1" sz="24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8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4" name="Google Shape;84;p62"/>
          <p:cNvSpPr txBox="1"/>
          <p:nvPr>
            <p:ph idx="3" type="body"/>
          </p:nvPr>
        </p:nvSpPr>
        <p:spPr>
          <a:xfrm>
            <a:off x="457200" y="2459037"/>
            <a:ext cx="4040188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380" lvl="0" marL="457200" algn="l">
              <a:spcBef>
                <a:spcPts val="700"/>
              </a:spcBef>
              <a:spcAft>
                <a:spcPts val="0"/>
              </a:spcAft>
              <a:buSzPts val="2280"/>
              <a:buChar char="▪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🢭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5" name="Google Shape;85;p62"/>
          <p:cNvSpPr txBox="1"/>
          <p:nvPr>
            <p:ph idx="4" type="body"/>
          </p:nvPr>
        </p:nvSpPr>
        <p:spPr>
          <a:xfrm>
            <a:off x="4645025" y="2459037"/>
            <a:ext cx="4041775" cy="395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73380" lvl="0" marL="457200" algn="l">
              <a:spcBef>
                <a:spcPts val="700"/>
              </a:spcBef>
              <a:spcAft>
                <a:spcPts val="0"/>
              </a:spcAft>
              <a:buSzPts val="2280"/>
              <a:buChar char="▪"/>
              <a:defRPr sz="24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SzPts val="1800"/>
              <a:buChar char="🢭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🢝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86" name="Google Shape;86;p62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62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2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89" name="Google Shape;89;p62"/>
          <p:cNvSpPr/>
          <p:nvPr/>
        </p:nvSpPr>
        <p:spPr>
          <a:xfrm>
            <a:off x="87790" y="680477"/>
            <a:ext cx="45720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62"/>
          <p:cNvSpPr/>
          <p:nvPr/>
        </p:nvSpPr>
        <p:spPr>
          <a:xfrm>
            <a:off x="47305" y="680477"/>
            <a:ext cx="27432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1" name="Google Shape;91;p62"/>
          <p:cNvSpPr/>
          <p:nvPr/>
        </p:nvSpPr>
        <p:spPr>
          <a:xfrm>
            <a:off x="28252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2" name="Google Shape;92;p62"/>
          <p:cNvSpPr/>
          <p:nvPr/>
        </p:nvSpPr>
        <p:spPr>
          <a:xfrm>
            <a:off x="0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" name="Google Shape;93;p62"/>
          <p:cNvSpPr/>
          <p:nvPr/>
        </p:nvSpPr>
        <p:spPr>
          <a:xfrm flipH="1">
            <a:off x="149770" y="680477"/>
            <a:ext cx="27432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" name="Google Shape;94;p62"/>
          <p:cNvSpPr/>
          <p:nvPr/>
        </p:nvSpPr>
        <p:spPr>
          <a:xfrm flipH="1">
            <a:off x="189341" y="680477"/>
            <a:ext cx="27432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5" name="Google Shape;95;p62"/>
          <p:cNvSpPr/>
          <p:nvPr/>
        </p:nvSpPr>
        <p:spPr>
          <a:xfrm flipH="1">
            <a:off x="226682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6" name="Google Shape;96;p62"/>
          <p:cNvSpPr/>
          <p:nvPr/>
        </p:nvSpPr>
        <p:spPr>
          <a:xfrm flipH="1">
            <a:off x="254934" y="680477"/>
            <a:ext cx="9144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7" name="Google Shape;97;p62"/>
          <p:cNvSpPr/>
          <p:nvPr/>
        </p:nvSpPr>
        <p:spPr>
          <a:xfrm>
            <a:off x="278710" y="680477"/>
            <a:ext cx="36576" cy="3657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3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63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3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3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4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64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4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5"/>
          <p:cNvSpPr txBox="1"/>
          <p:nvPr>
            <p:ph type="title"/>
          </p:nvPr>
        </p:nvSpPr>
        <p:spPr>
          <a:xfrm>
            <a:off x="685800" y="273050"/>
            <a:ext cx="82296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  <a:defRPr b="0"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65"/>
          <p:cNvSpPr txBox="1"/>
          <p:nvPr>
            <p:ph idx="1" type="body"/>
          </p:nvPr>
        </p:nvSpPr>
        <p:spPr>
          <a:xfrm>
            <a:off x="685800" y="1435100"/>
            <a:ext cx="2514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700"/>
              </a:spcBef>
              <a:spcAft>
                <a:spcPts val="0"/>
              </a:spcAft>
              <a:buSzPts val="1710"/>
              <a:buNone/>
              <a:defRPr sz="18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8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0" name="Google Shape;110;p65"/>
          <p:cNvSpPr txBox="1"/>
          <p:nvPr>
            <p:ph idx="2" type="body"/>
          </p:nvPr>
        </p:nvSpPr>
        <p:spPr>
          <a:xfrm>
            <a:off x="3429000" y="1435100"/>
            <a:ext cx="5486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21640" lvl="0" marL="457200" algn="l">
              <a:spcBef>
                <a:spcPts val="700"/>
              </a:spcBef>
              <a:spcAft>
                <a:spcPts val="0"/>
              </a:spcAft>
              <a:buSzPts val="3040"/>
              <a:buChar char="▪"/>
              <a:defRPr sz="3200"/>
            </a:lvl1pPr>
            <a:lvl2pPr indent="-388619" lvl="1" marL="914400" algn="l">
              <a:spcBef>
                <a:spcPts val="560"/>
              </a:spcBef>
              <a:spcAft>
                <a:spcPts val="0"/>
              </a:spcAft>
              <a:buSzPts val="2520"/>
              <a:buChar char="🢭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🢝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11" name="Google Shape;111;p65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5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5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6"/>
          <p:cNvSpPr/>
          <p:nvPr/>
        </p:nvSpPr>
        <p:spPr>
          <a:xfrm>
            <a:off x="368032" y="0"/>
            <a:ext cx="8778240" cy="187803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16" name="Google Shape;116;p66"/>
          <p:cNvCxnSpPr/>
          <p:nvPr/>
        </p:nvCxnSpPr>
        <p:spPr>
          <a:xfrm>
            <a:off x="363195" y="1885028"/>
            <a:ext cx="8782622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7" name="Google Shape;117;p66"/>
          <p:cNvGrpSpPr/>
          <p:nvPr/>
        </p:nvGrpSpPr>
        <p:grpSpPr>
          <a:xfrm rot="5400000">
            <a:off x="8514581" y="1219200"/>
            <a:ext cx="132763" cy="128466"/>
            <a:chOff x="6668087" y="1297746"/>
            <a:chExt cx="161840" cy="156602"/>
          </a:xfrm>
        </p:grpSpPr>
        <p:cxnSp>
          <p:nvCxnSpPr>
            <p:cNvPr id="118" name="Google Shape;118;p66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66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0" name="Google Shape;120;p66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1" name="Google Shape;121;p66"/>
          <p:cNvSpPr txBox="1"/>
          <p:nvPr>
            <p:ph type="title"/>
          </p:nvPr>
        </p:nvSpPr>
        <p:spPr>
          <a:xfrm>
            <a:off x="914400" y="441251"/>
            <a:ext cx="6858000" cy="7017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2100"/>
              <a:buFont typeface="Consolas"/>
              <a:buNone/>
              <a:defRPr b="0" sz="21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6"/>
          <p:cNvSpPr/>
          <p:nvPr>
            <p:ph idx="2" type="pic"/>
          </p:nvPr>
        </p:nvSpPr>
        <p:spPr>
          <a:xfrm>
            <a:off x="368032" y="1893781"/>
            <a:ext cx="8778240" cy="4960144"/>
          </a:xfrm>
          <a:prstGeom prst="rect">
            <a:avLst/>
          </a:prstGeom>
          <a:solidFill>
            <a:schemeClr val="dk2"/>
          </a:solidFill>
          <a:ln>
            <a:noFill/>
          </a:ln>
        </p:spPr>
      </p:sp>
      <p:sp>
        <p:nvSpPr>
          <p:cNvPr id="123" name="Google Shape;123;p66"/>
          <p:cNvSpPr txBox="1"/>
          <p:nvPr>
            <p:ph idx="1" type="body"/>
          </p:nvPr>
        </p:nvSpPr>
        <p:spPr>
          <a:xfrm>
            <a:off x="914400" y="1150144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330"/>
              <a:buNone/>
              <a:defRPr sz="1400">
                <a:solidFill>
                  <a:srgbClr val="FFFFFF"/>
                </a:solidFill>
              </a:defRPr>
            </a:lvl1pPr>
            <a:lvl2pPr indent="-297180" lvl="1" marL="914400" algn="l">
              <a:spcBef>
                <a:spcPts val="240"/>
              </a:spcBef>
              <a:spcAft>
                <a:spcPts val="0"/>
              </a:spcAft>
              <a:buSzPts val="1080"/>
              <a:buChar char="🢭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85750" lvl="3" marL="1828800" algn="l">
              <a:spcBef>
                <a:spcPts val="180"/>
              </a:spcBef>
              <a:spcAft>
                <a:spcPts val="0"/>
              </a:spcAft>
              <a:buSzPts val="900"/>
              <a:buChar char="🢝"/>
              <a:defRPr sz="900"/>
            </a:lvl4pPr>
            <a:lvl5pPr indent="-285750" lvl="4" marL="2286000" algn="l">
              <a:spcBef>
                <a:spcPts val="18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grpSp>
        <p:nvGrpSpPr>
          <p:cNvPr id="124" name="Google Shape;124;p66"/>
          <p:cNvGrpSpPr/>
          <p:nvPr/>
        </p:nvGrpSpPr>
        <p:grpSpPr>
          <a:xfrm rot="5400000">
            <a:off x="8666981" y="1371600"/>
            <a:ext cx="132763" cy="128466"/>
            <a:chOff x="6668087" y="1297746"/>
            <a:chExt cx="161840" cy="156602"/>
          </a:xfrm>
        </p:grpSpPr>
        <p:cxnSp>
          <p:nvCxnSpPr>
            <p:cNvPr id="125" name="Google Shape;125;p66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66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66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8" name="Google Shape;128;p66"/>
          <p:cNvGrpSpPr/>
          <p:nvPr/>
        </p:nvGrpSpPr>
        <p:grpSpPr>
          <a:xfrm rot="5400000">
            <a:off x="8320088" y="1474763"/>
            <a:ext cx="132763" cy="128466"/>
            <a:chOff x="6668087" y="1297746"/>
            <a:chExt cx="161840" cy="156602"/>
          </a:xfrm>
        </p:grpSpPr>
        <p:cxnSp>
          <p:nvCxnSpPr>
            <p:cNvPr id="129" name="Google Shape;129;p66"/>
            <p:cNvCxnSpPr/>
            <p:nvPr/>
          </p:nvCxnSpPr>
          <p:spPr>
            <a:xfrm rot="-5400000">
              <a:off x="6664064" y="1301769"/>
              <a:ext cx="88509" cy="80463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66"/>
            <p:cNvCxnSpPr/>
            <p:nvPr/>
          </p:nvCxnSpPr>
          <p:spPr>
            <a:xfrm flipH="1" rot="5400000">
              <a:off x="6685888" y="1391257"/>
              <a:ext cx="125755" cy="427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66"/>
            <p:cNvCxnSpPr/>
            <p:nvPr/>
          </p:nvCxnSpPr>
          <p:spPr>
            <a:xfrm flipH="1" rot="5400000">
              <a:off x="6744524" y="1300853"/>
              <a:ext cx="88509" cy="82296"/>
            </a:xfrm>
            <a:prstGeom prst="straightConnector1">
              <a:avLst/>
            </a:prstGeom>
            <a:noFill/>
            <a:ln cap="rnd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2" name="Google Shape;132;p66"/>
          <p:cNvSpPr txBox="1"/>
          <p:nvPr>
            <p:ph idx="10" type="dt"/>
          </p:nvPr>
        </p:nvSpPr>
        <p:spPr>
          <a:xfrm>
            <a:off x="6477000" y="55499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66"/>
          <p:cNvSpPr txBox="1"/>
          <p:nvPr>
            <p:ph idx="11" type="ftr"/>
          </p:nvPr>
        </p:nvSpPr>
        <p:spPr>
          <a:xfrm>
            <a:off x="914400" y="55499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66"/>
          <p:cNvSpPr txBox="1"/>
          <p:nvPr>
            <p:ph idx="12" type="sldNum"/>
          </p:nvPr>
        </p:nvSpPr>
        <p:spPr>
          <a:xfrm>
            <a:off x="8610600" y="55499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7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67"/>
          <p:cNvSpPr txBox="1"/>
          <p:nvPr>
            <p:ph idx="1" type="body"/>
          </p:nvPr>
        </p:nvSpPr>
        <p:spPr>
          <a:xfrm rot="5400000">
            <a:off x="2514600" y="183360"/>
            <a:ext cx="45720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38" name="Google Shape;138;p67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67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7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8"/>
          <p:cNvSpPr txBox="1"/>
          <p:nvPr>
            <p:ph type="title"/>
          </p:nvPr>
        </p:nvSpPr>
        <p:spPr>
          <a:xfrm rot="5400000">
            <a:off x="4694238" y="2209802"/>
            <a:ext cx="5851525" cy="19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68"/>
          <p:cNvSpPr txBox="1"/>
          <p:nvPr>
            <p:ph idx="1" type="body"/>
          </p:nvPr>
        </p:nvSpPr>
        <p:spPr>
          <a:xfrm rot="5400000">
            <a:off x="617538" y="266701"/>
            <a:ext cx="5851525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700"/>
              </a:spcBef>
              <a:spcAft>
                <a:spcPts val="0"/>
              </a:spcAft>
              <a:buSzPts val="1710"/>
              <a:buChar char="▪"/>
              <a:defRPr/>
            </a:lvl1pPr>
            <a:lvl2pPr indent="-331469" lvl="1" marL="914400" algn="l">
              <a:spcBef>
                <a:spcPts val="360"/>
              </a:spcBef>
              <a:spcAft>
                <a:spcPts val="0"/>
              </a:spcAft>
              <a:buSzPts val="1620"/>
              <a:buChar char="🢭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🢝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●"/>
              <a:defRPr/>
            </a:lvl9pPr>
          </a:lstStyle>
          <a:p/>
        </p:txBody>
      </p:sp>
      <p:sp>
        <p:nvSpPr>
          <p:cNvPr id="144" name="Google Shape;144;p68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68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68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1"/>
            </a:gs>
            <a:gs pos="65000">
              <a:schemeClr val="dk1"/>
            </a:gs>
            <a:gs pos="100000">
              <a:srgbClr val="5676AA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7"/>
          <p:cNvSpPr/>
          <p:nvPr/>
        </p:nvSpPr>
        <p:spPr>
          <a:xfrm>
            <a:off x="0" y="-1"/>
            <a:ext cx="365760" cy="6854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" name="Google Shape;11;p57"/>
          <p:cNvSpPr/>
          <p:nvPr/>
        </p:nvSpPr>
        <p:spPr>
          <a:xfrm>
            <a:off x="255291" y="5047394"/>
            <a:ext cx="73152" cy="1691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" name="Google Shape;12;p57"/>
          <p:cNvSpPr/>
          <p:nvPr/>
        </p:nvSpPr>
        <p:spPr>
          <a:xfrm>
            <a:off x="255291" y="4796819"/>
            <a:ext cx="7315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" name="Google Shape;13;p57"/>
          <p:cNvSpPr/>
          <p:nvPr/>
        </p:nvSpPr>
        <p:spPr>
          <a:xfrm>
            <a:off x="255291" y="4637685"/>
            <a:ext cx="73152" cy="13716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" name="Google Shape;14;p57"/>
          <p:cNvSpPr/>
          <p:nvPr/>
        </p:nvSpPr>
        <p:spPr>
          <a:xfrm>
            <a:off x="255291" y="4542559"/>
            <a:ext cx="73152" cy="73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" name="Google Shape;15;p57"/>
          <p:cNvSpPr/>
          <p:nvPr/>
        </p:nvSpPr>
        <p:spPr>
          <a:xfrm>
            <a:off x="309558" y="680477"/>
            <a:ext cx="4572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" name="Google Shape;16;p57"/>
          <p:cNvSpPr/>
          <p:nvPr/>
        </p:nvSpPr>
        <p:spPr>
          <a:xfrm>
            <a:off x="269073" y="680477"/>
            <a:ext cx="27432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" name="Google Shape;17;p57"/>
          <p:cNvSpPr/>
          <p:nvPr/>
        </p:nvSpPr>
        <p:spPr>
          <a:xfrm>
            <a:off x="250020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" name="Google Shape;18;p57"/>
          <p:cNvSpPr/>
          <p:nvPr/>
        </p:nvSpPr>
        <p:spPr>
          <a:xfrm>
            <a:off x="221768" y="680477"/>
            <a:ext cx="9144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" name="Google Shape;19;p57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  <a:defRPr b="0" i="0" sz="4000" u="none" cap="none" strike="noStrike">
                <a:solidFill>
                  <a:srgbClr val="C1EDFF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57"/>
          <p:cNvSpPr txBox="1"/>
          <p:nvPr>
            <p:ph idx="1" type="body"/>
          </p:nvPr>
        </p:nvSpPr>
        <p:spPr>
          <a:xfrm>
            <a:off x="914400" y="1783560"/>
            <a:ext cx="7772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9575" lvl="0" marL="457200" marR="0" rtl="0" algn="l">
              <a:spcBef>
                <a:spcPts val="700"/>
              </a:spcBef>
              <a:spcAft>
                <a:spcPts val="0"/>
              </a:spcAft>
              <a:buClr>
                <a:schemeClr val="lt2"/>
              </a:buClr>
              <a:buSzPts val="2850"/>
              <a:buFont typeface="Noto Sans Symbols"/>
              <a:buChar char="▪"/>
              <a:defRPr b="0" i="0" sz="3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7719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🢭"/>
              <a:defRPr b="0" i="0" sz="2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■"/>
              <a:defRPr b="0" i="0" sz="24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68300" lvl="3" marL="1828800" marR="0" rtl="0" algn="l">
              <a:spcBef>
                <a:spcPts val="4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Noto Sans Symbols"/>
              <a:buChar char="🢝"/>
              <a:defRPr b="0" i="0" sz="22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57"/>
          <p:cNvSpPr txBox="1"/>
          <p:nvPr>
            <p:ph idx="10" type="dt"/>
          </p:nvPr>
        </p:nvSpPr>
        <p:spPr>
          <a:xfrm>
            <a:off x="6477000" y="64166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2" name="Google Shape;22;p57"/>
          <p:cNvSpPr txBox="1"/>
          <p:nvPr>
            <p:ph idx="11" type="ftr"/>
          </p:nvPr>
        </p:nvSpPr>
        <p:spPr>
          <a:xfrm>
            <a:off x="914400" y="6416675"/>
            <a:ext cx="5562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3" name="Google Shape;23;p57"/>
          <p:cNvSpPr txBox="1"/>
          <p:nvPr>
            <p:ph idx="12" type="sldNum"/>
          </p:nvPr>
        </p:nvSpPr>
        <p:spPr>
          <a:xfrm>
            <a:off x="8610600" y="6416675"/>
            <a:ext cx="457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Relationship Id="rId4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4.jp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Relationship Id="rId4" Type="http://schemas.openxmlformats.org/officeDocument/2006/relationships/image" Target="../media/image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9.jpg"/><Relationship Id="rId4" Type="http://schemas.openxmlformats.org/officeDocument/2006/relationships/image" Target="../media/image13.png"/><Relationship Id="rId5" Type="http://schemas.openxmlformats.org/officeDocument/2006/relationships/image" Target="../media/image2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image" Target="../media/image1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0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jpg"/><Relationship Id="rId4" Type="http://schemas.openxmlformats.org/officeDocument/2006/relationships/image" Target="../media/image12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jpg"/><Relationship Id="rId4" Type="http://schemas.openxmlformats.org/officeDocument/2006/relationships/image" Target="../media/image26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jpg"/><Relationship Id="rId4" Type="http://schemas.openxmlformats.org/officeDocument/2006/relationships/image" Target="../media/image28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jpg"/><Relationship Id="rId4" Type="http://schemas.openxmlformats.org/officeDocument/2006/relationships/image" Target="../media/image44.jpg"/><Relationship Id="rId5" Type="http://schemas.openxmlformats.org/officeDocument/2006/relationships/image" Target="../media/image3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6.jpg"/><Relationship Id="rId4" Type="http://schemas.openxmlformats.org/officeDocument/2006/relationships/image" Target="../media/image31.jpg"/><Relationship Id="rId5" Type="http://schemas.openxmlformats.org/officeDocument/2006/relationships/image" Target="../media/image3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jpg"/><Relationship Id="rId4" Type="http://schemas.openxmlformats.org/officeDocument/2006/relationships/image" Target="../media/image36.jpg"/><Relationship Id="rId5" Type="http://schemas.openxmlformats.org/officeDocument/2006/relationships/image" Target="../media/image3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6.png"/><Relationship Id="rId4" Type="http://schemas.openxmlformats.org/officeDocument/2006/relationships/image" Target="../media/image40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0.jpg"/><Relationship Id="rId4" Type="http://schemas.openxmlformats.org/officeDocument/2006/relationships/image" Target="../media/image41.jpg"/><Relationship Id="rId5" Type="http://schemas.openxmlformats.org/officeDocument/2006/relationships/image" Target="../media/image5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png"/><Relationship Id="rId4" Type="http://schemas.openxmlformats.org/officeDocument/2006/relationships/image" Target="../media/image43.png"/><Relationship Id="rId5" Type="http://schemas.openxmlformats.org/officeDocument/2006/relationships/image" Target="../media/image5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7.png"/><Relationship Id="rId4" Type="http://schemas.openxmlformats.org/officeDocument/2006/relationships/image" Target="../media/image58.jpg"/><Relationship Id="rId5" Type="http://schemas.openxmlformats.org/officeDocument/2006/relationships/image" Target="../media/image57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5.jpg"/><Relationship Id="rId4" Type="http://schemas.openxmlformats.org/officeDocument/2006/relationships/image" Target="../media/image62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0.png"/><Relationship Id="rId4" Type="http://schemas.openxmlformats.org/officeDocument/2006/relationships/image" Target="../media/image42.jpg"/><Relationship Id="rId5" Type="http://schemas.openxmlformats.org/officeDocument/2006/relationships/image" Target="../media/image53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8.jpg"/><Relationship Id="rId4" Type="http://schemas.openxmlformats.org/officeDocument/2006/relationships/image" Target="../media/image65.jpg"/><Relationship Id="rId5" Type="http://schemas.openxmlformats.org/officeDocument/2006/relationships/image" Target="../media/image59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2.jpg"/><Relationship Id="rId4" Type="http://schemas.openxmlformats.org/officeDocument/2006/relationships/image" Target="../media/image60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6.jpg"/><Relationship Id="rId4" Type="http://schemas.openxmlformats.org/officeDocument/2006/relationships/image" Target="../media/image6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8.jpg"/><Relationship Id="rId4" Type="http://schemas.openxmlformats.org/officeDocument/2006/relationships/image" Target="../media/image54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4.jpg"/><Relationship Id="rId4" Type="http://schemas.openxmlformats.org/officeDocument/2006/relationships/image" Target="../media/image63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7.jpg"/><Relationship Id="rId4" Type="http://schemas.openxmlformats.org/officeDocument/2006/relationships/image" Target="../media/image70.jpg"/><Relationship Id="rId5" Type="http://schemas.openxmlformats.org/officeDocument/2006/relationships/image" Target="../media/image69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"/>
          <p:cNvSpPr txBox="1"/>
          <p:nvPr>
            <p:ph type="ctrTitle"/>
          </p:nvPr>
        </p:nvSpPr>
        <p:spPr>
          <a:xfrm>
            <a:off x="914400" y="1600200"/>
            <a:ext cx="7772400" cy="5023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144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6600"/>
              <a:buFont typeface="Consolas"/>
              <a:buNone/>
            </a:pPr>
            <a:br>
              <a:rPr lang="fr-FR" sz="6600"/>
            </a:br>
            <a:r>
              <a:rPr lang="fr-FR" sz="6600"/>
              <a:t>     LARYNGOLOGIE</a:t>
            </a:r>
            <a:br>
              <a:rPr lang="fr-FR" sz="6600"/>
            </a:br>
            <a:endParaRPr sz="6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"/>
          <p:cNvSpPr txBox="1"/>
          <p:nvPr>
            <p:ph type="title"/>
          </p:nvPr>
        </p:nvSpPr>
        <p:spPr>
          <a:xfrm>
            <a:off x="609600" y="228600"/>
            <a:ext cx="80772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LES SYNDROMES LARYNGIENS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7" name="Google Shape;157;p2"/>
          <p:cNvSpPr txBox="1"/>
          <p:nvPr>
            <p:ph idx="1" type="body"/>
          </p:nvPr>
        </p:nvSpPr>
        <p:spPr>
          <a:xfrm>
            <a:off x="609600" y="1143000"/>
            <a:ext cx="8077200" cy="62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br>
              <a:rPr b="1" lang="fr-FR"/>
            </a:b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200">
                <a:solidFill>
                  <a:srgbClr val="FFC000"/>
                </a:solidFill>
              </a:rPr>
              <a:t>LE  SYNDROME  RESPIRATOIRE</a:t>
            </a:r>
            <a:endParaRPr b="1" sz="4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 </a:t>
            </a:r>
            <a:r>
              <a:rPr b="1" i="1" lang="fr-FR" sz="3600">
                <a:solidFill>
                  <a:srgbClr val="FFC000"/>
                </a:solidFill>
              </a:rPr>
              <a:t>LA  DYSPNÉE  LARYNGÉE</a:t>
            </a:r>
            <a:r>
              <a:rPr lang="fr-FR" sz="3600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 syndrome d’insuffisance respiratoire de type laryngien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600">
                <a:solidFill>
                  <a:srgbClr val="FFC000"/>
                </a:solidFill>
              </a:rPr>
              <a:t>Étiologie </a:t>
            </a:r>
            <a:endParaRPr sz="3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les malformations du larynx (congénital ou acquis)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les traumatismes du larynx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les corps étrangers laryngiens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inflammations aiguës : - la laryngite aiguë sous-glottique œdémateuse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la laryngite striduleuse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inflammation chronique – plus rarement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tumeurs : - bénignes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- malignes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troubles neuromoteurs - diplégie laryngée en adduction.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Œdème Quincke laryngé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/>
          <p:nvPr>
            <p:ph type="title"/>
          </p:nvPr>
        </p:nvSpPr>
        <p:spPr>
          <a:xfrm>
            <a:off x="533400" y="304800"/>
            <a:ext cx="815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i="1" lang="fr-FR" sz="3600">
                <a:latin typeface="Corbel"/>
                <a:ea typeface="Corbel"/>
                <a:cs typeface="Corbel"/>
                <a:sym typeface="Corbel"/>
              </a:rPr>
              <a:t>LA DYSPNÉE LARYNGÉE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3" name="Google Shape;163;p3"/>
          <p:cNvSpPr txBox="1"/>
          <p:nvPr>
            <p:ph idx="1" type="body"/>
          </p:nvPr>
        </p:nvSpPr>
        <p:spPr>
          <a:xfrm>
            <a:off x="609600" y="1295400"/>
            <a:ext cx="80772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8600">
                <a:solidFill>
                  <a:srgbClr val="FFC000"/>
                </a:solidFill>
              </a:rPr>
              <a:t>Symptomatologie :</a:t>
            </a:r>
            <a:endParaRPr sz="8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8600">
                <a:solidFill>
                  <a:srgbClr val="FFC000"/>
                </a:solidFill>
              </a:rPr>
              <a:t> </a:t>
            </a:r>
            <a:r>
              <a:rPr b="1" i="1" lang="fr-FR" sz="5600" u="sng">
                <a:solidFill>
                  <a:srgbClr val="FFC000"/>
                </a:solidFill>
              </a:rPr>
              <a:t>Signes majeurs</a:t>
            </a:r>
            <a:r>
              <a:rPr b="1" i="1" lang="fr-FR" sz="5600" u="sng"/>
              <a:t> (</a:t>
            </a:r>
            <a:r>
              <a:rPr lang="fr-FR" sz="5600"/>
              <a:t> toujours présents) :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bradypnée de type inspiratoire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le tirage sternale et supraclaviculaire ( la dépression des parties molles en l’inspiration)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abaissement du larynx en l’inspiration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5600"/>
              <a:t>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5600" u="sng">
                <a:solidFill>
                  <a:srgbClr val="FFC000"/>
                </a:solidFill>
              </a:rPr>
              <a:t>Signes mineurs</a:t>
            </a:r>
            <a:r>
              <a:rPr b="1" i="1" lang="fr-FR" sz="5600" u="sng"/>
              <a:t> :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la position - la tête en extension, le tronc soutenu par des bras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le cornage - le son produit par le passage de l’air à travers d’un lumen respiratoire diminué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le tirage intercostal, sous-costale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/>
              <a:t>dysphonie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5600" u="sng">
                <a:solidFill>
                  <a:srgbClr val="FFC000"/>
                </a:solidFill>
              </a:rPr>
              <a:t>Diagnostic positif </a:t>
            </a:r>
            <a:endParaRPr i="1" sz="56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5600">
                <a:solidFill>
                  <a:srgbClr val="FFC000"/>
                </a:solidFill>
              </a:rPr>
              <a:t>il soit effectué rapidement  -  laryngoscopie directe ou indirecte</a:t>
            </a:r>
            <a:endParaRPr sz="5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/>
              <a:t> </a:t>
            </a:r>
            <a:endParaRPr sz="5600"/>
          </a:p>
          <a:p>
            <a:pPr indent="-207772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/>
          <p:nvPr>
            <p:ph type="title"/>
          </p:nvPr>
        </p:nvSpPr>
        <p:spPr>
          <a:xfrm>
            <a:off x="533400" y="228600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i="1" lang="fr-FR" sz="3600">
                <a:latin typeface="Corbel"/>
                <a:ea typeface="Corbel"/>
                <a:cs typeface="Corbel"/>
                <a:sym typeface="Corbel"/>
              </a:rPr>
              <a:t>LA  DYSPNÉE  LARYNGÉE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69" name="Google Shape;169;p4"/>
          <p:cNvSpPr txBox="1"/>
          <p:nvPr>
            <p:ph idx="1" type="body"/>
          </p:nvPr>
        </p:nvSpPr>
        <p:spPr>
          <a:xfrm>
            <a:off x="457200" y="1143000"/>
            <a:ext cx="8229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4400">
                <a:solidFill>
                  <a:srgbClr val="FFC000"/>
                </a:solidFill>
              </a:rPr>
              <a:t>Évolution </a:t>
            </a:r>
            <a:endParaRPr b="1" sz="4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200" u="sng"/>
              <a:t>La phase compensée</a:t>
            </a:r>
            <a:r>
              <a:rPr lang="fr-FR" sz="3200" u="sng"/>
              <a:t> </a:t>
            </a:r>
            <a:r>
              <a:rPr lang="fr-FR" sz="3200"/>
              <a:t>-  patient agité, présente les symptômes décrits, mais il a la coloration normale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200" u="sng"/>
              <a:t>La phase décompensée</a:t>
            </a:r>
            <a:endParaRPr sz="32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Hypercapnie – des téguments rosés, chaudes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Vasodilatation périphérique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Anoxie - cyanose, la respiration devient tachypnée, superficielle, apparaît la somnolence et survient la mort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200"/>
              <a:t>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000">
                <a:solidFill>
                  <a:srgbClr val="FFC000"/>
                </a:solidFill>
              </a:rPr>
              <a:t>Traitement </a:t>
            </a:r>
            <a:endParaRPr b="1" sz="4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4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 idéal - traitement étiologique - suppression de la cause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oxygénothérapie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intubation oro — ou nasotrachéale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3200"/>
              <a:t>trachéotomie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>
            <p:ph type="title"/>
          </p:nvPr>
        </p:nvSpPr>
        <p:spPr>
          <a:xfrm>
            <a:off x="533400" y="304800"/>
            <a:ext cx="815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TRACHÉOTOMIE</a:t>
            </a:r>
            <a:br>
              <a:rPr lang="fr-FR" sz="3600">
                <a:latin typeface="Corbel"/>
                <a:ea typeface="Corbel"/>
                <a:cs typeface="Corbel"/>
                <a:sym typeface="Corbel"/>
              </a:rPr>
            </a:b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75" name="Google Shape;175;p5"/>
          <p:cNvSpPr txBox="1"/>
          <p:nvPr>
            <p:ph idx="1" type="body"/>
          </p:nvPr>
        </p:nvSpPr>
        <p:spPr>
          <a:xfrm>
            <a:off x="609600" y="838200"/>
            <a:ext cx="8534400" cy="70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100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100"/>
              <a:t>l’intervention chirurgicale qui réalise un orifice au niveau de la paroi antérieure de la trachée</a:t>
            </a:r>
            <a:endParaRPr sz="31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100">
                <a:solidFill>
                  <a:srgbClr val="FFC000"/>
                </a:solidFill>
              </a:rPr>
              <a:t>Indications </a:t>
            </a:r>
            <a:endParaRPr sz="31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100"/>
              <a:t>dyspnée aiguë ou chronique de cause laryngée et supra laryngée : l’oropharynx, de l’hypopharynx </a:t>
            </a:r>
            <a:endParaRPr sz="31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100"/>
              <a:t>temps de préparation dans les interventions chirurgicales laryngées </a:t>
            </a:r>
            <a:endParaRPr sz="31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 sz="3100"/>
              <a:t>assistance respiratoire longtemps (coma, le tétanos)</a:t>
            </a:r>
            <a:endParaRPr sz="31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100">
                <a:solidFill>
                  <a:srgbClr val="FFC000"/>
                </a:solidFill>
              </a:rPr>
              <a:t>Contre-indications </a:t>
            </a:r>
            <a:endParaRPr sz="31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100"/>
              <a:t>Étant une intervention chirurgicale qui rend une fonction vitale, </a:t>
            </a:r>
            <a:r>
              <a:rPr b="1" lang="fr-FR" sz="3100" u="sng">
                <a:solidFill>
                  <a:srgbClr val="FF0000"/>
                </a:solidFill>
              </a:rPr>
              <a:t>n’a pas</a:t>
            </a:r>
            <a:r>
              <a:rPr lang="fr-FR" sz="3100" u="sng">
                <a:solidFill>
                  <a:srgbClr val="FF0000"/>
                </a:solidFill>
              </a:rPr>
              <a:t> de contre-indications.</a:t>
            </a:r>
            <a:endParaRPr sz="3100">
              <a:solidFill>
                <a:srgbClr val="FF0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br>
              <a:rPr lang="fr-FR" sz="5600"/>
            </a:br>
            <a:r>
              <a:rPr lang="fr-FR" sz="5600"/>
              <a:t>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/>
              <a:t> </a:t>
            </a:r>
            <a:endParaRPr sz="5600"/>
          </a:p>
          <a:p>
            <a:pPr indent="-5575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 txBox="1"/>
          <p:nvPr>
            <p:ph type="title"/>
          </p:nvPr>
        </p:nvSpPr>
        <p:spPr>
          <a:xfrm>
            <a:off x="533400" y="228600"/>
            <a:ext cx="8153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TRACHÉOTOMIE</a:t>
            </a:r>
            <a:br>
              <a:rPr lang="fr-FR" sz="3600">
                <a:latin typeface="Corbel"/>
                <a:ea typeface="Corbel"/>
                <a:cs typeface="Corbel"/>
                <a:sym typeface="Corbel"/>
              </a:rPr>
            </a:b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2" name="Google Shape;182;p6"/>
          <p:cNvSpPr txBox="1"/>
          <p:nvPr>
            <p:ph idx="1" type="body"/>
          </p:nvPr>
        </p:nvSpPr>
        <p:spPr>
          <a:xfrm>
            <a:off x="533400" y="1219200"/>
            <a:ext cx="67818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b="1" lang="fr-FR" sz="2800">
                <a:solidFill>
                  <a:srgbClr val="FFC000"/>
                </a:solidFill>
              </a:rPr>
              <a:t>Anatomie </a:t>
            </a:r>
            <a:endParaRPr sz="2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- le cartilage thyroïde (pomme d’Adam) supérieur 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- la fourchette sternale - inférieur 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- les muscles sterno-cléido-mastoïdiens - latéralement 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 u="sng">
                <a:solidFill>
                  <a:srgbClr val="FFC000"/>
                </a:solidFill>
              </a:rPr>
              <a:t>Topographique :</a:t>
            </a:r>
            <a:endParaRPr sz="20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- le tégument 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- le tissu sous-cutané et le muscle platysma 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- le fascia cervical superficiel 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Font typeface="Corbel"/>
              <a:buChar char="-"/>
            </a:pPr>
            <a:r>
              <a:rPr lang="fr-FR" sz="2000"/>
              <a:t>les muscles sous-hyoïdiens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   - sternohyoïdien et sterno-thyroïdiens 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- isthme de la thyroïde - assise transversale sur le cartilage cricoïde et les premiers anneaux de la trachée </a:t>
            </a:r>
            <a:endParaRPr sz="2000"/>
          </a:p>
        </p:txBody>
      </p:sp>
      <p:pic>
        <p:nvPicPr>
          <p:cNvPr descr="C:\Users\Alex\Desktop\incision.jpg" id="183" name="Google Shape;1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2895600"/>
            <a:ext cx="3048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 txBox="1"/>
          <p:nvPr>
            <p:ph type="title"/>
          </p:nvPr>
        </p:nvSpPr>
        <p:spPr>
          <a:xfrm>
            <a:off x="457200" y="228600"/>
            <a:ext cx="8229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TRACHÉOTOMIE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89" name="Google Shape;189;p7"/>
          <p:cNvSpPr txBox="1"/>
          <p:nvPr>
            <p:ph idx="1" type="body"/>
          </p:nvPr>
        </p:nvSpPr>
        <p:spPr>
          <a:xfrm>
            <a:off x="457200" y="990600"/>
            <a:ext cx="86868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u="sng">
                <a:solidFill>
                  <a:srgbClr val="FFC000"/>
                </a:solidFill>
              </a:rPr>
              <a:t>La position du patient </a:t>
            </a:r>
            <a:endParaRPr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2600"/>
              <a:t>Décubitus dorsal avec la tête en hyperextension 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2600"/>
              <a:t>L’incision est pratiquée sur la ligne médiane du cartilage cricoïde →la fourchette sternale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2600"/>
              <a:t>Decollement des tissus mous strictement sur la « ligne médiane » - jusqu’à niveau de la paroi antérieure de la trachée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2600"/>
              <a:t>l’isthme de la glande thyroïde est sectionné et ligaturés verticalement entre deux pinces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2600"/>
              <a:t>S’instiller 2-3 cmc de lidocaïne dans la trachée (pour inhiber le réflexe de la toux)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2600"/>
              <a:t>incision verticalement les anneaux trachéaux 2 et 3, est inséré l’écarteur trachéal, puis insère la canule trachéale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2600"/>
              <a:t>Hémostase rigoureuse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2600"/>
              <a:t>Suture – sur les plans anatomiques</a:t>
            </a:r>
            <a:endParaRPr sz="2600"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>
            <p:ph type="title"/>
          </p:nvPr>
        </p:nvSpPr>
        <p:spPr>
          <a:xfrm>
            <a:off x="533400" y="0"/>
            <a:ext cx="8153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TRACHÉOTOMIE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C:\Users\Alex\Desktop\B9781437708332000029_f002-001-9781437708332.jpg" id="195" name="Google Shape;195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143000"/>
            <a:ext cx="7086600" cy="56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 txBox="1"/>
          <p:nvPr>
            <p:ph type="title"/>
          </p:nvPr>
        </p:nvSpPr>
        <p:spPr>
          <a:xfrm>
            <a:off x="533400" y="0"/>
            <a:ext cx="81534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TRACHÉOTOMIE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1" name="Google Shape;201;p9"/>
          <p:cNvSpPr txBox="1"/>
          <p:nvPr>
            <p:ph idx="1" type="body"/>
          </p:nvPr>
        </p:nvSpPr>
        <p:spPr>
          <a:xfrm>
            <a:off x="457200" y="1219200"/>
            <a:ext cx="8229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2400">
                <a:solidFill>
                  <a:srgbClr val="FFC000"/>
                </a:solidFill>
              </a:rPr>
              <a:t>Complications </a:t>
            </a:r>
            <a:endParaRPr sz="2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400" u="sng"/>
              <a:t>Intra-opératoire</a:t>
            </a:r>
            <a:r>
              <a:rPr lang="fr-FR" sz="2400" u="sng"/>
              <a:t> 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-saignement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-l’arrêt respiratoire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- emphysème médiastinal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2400" u="sng"/>
              <a:t>Postopératoire</a:t>
            </a:r>
            <a:r>
              <a:rPr lang="fr-FR" sz="2400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- infection de la plaie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- emphysème sous-cutané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-les complications pulmonaires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- obstruction de la canule (de sécrétion collante)</a:t>
            </a:r>
            <a:br>
              <a:rPr lang="fr-FR" sz="2400"/>
            </a:b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2400">
                <a:solidFill>
                  <a:srgbClr val="FFC000"/>
                </a:solidFill>
              </a:rPr>
              <a:t>Trachéotomie d’urgence maximale</a:t>
            </a:r>
            <a:endParaRPr sz="2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2400"/>
              <a:t> une laryngotomie.conditions d’urgence maxime 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 sz="2400"/>
              <a:t>une incision des tous les plans, au niveau de membrane crico-thyroïdienne </a:t>
            </a:r>
            <a:endParaRPr sz="2400"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tracheostomy1.jpg" id="202" name="Google Shape;2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0" y="621745"/>
            <a:ext cx="3124200" cy="3797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"/>
          <p:cNvSpPr txBox="1"/>
          <p:nvPr>
            <p:ph type="title"/>
          </p:nvPr>
        </p:nvSpPr>
        <p:spPr>
          <a:xfrm>
            <a:off x="533400" y="1524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LES SYNDROMES LARYNGIENS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08" name="Google Shape;208;p10"/>
          <p:cNvSpPr txBox="1"/>
          <p:nvPr>
            <p:ph idx="1" type="body"/>
          </p:nvPr>
        </p:nvSpPr>
        <p:spPr>
          <a:xfrm>
            <a:off x="533400" y="1143000"/>
            <a:ext cx="81534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 </a:t>
            </a:r>
            <a:r>
              <a:rPr b="1" lang="fr-FR">
                <a:solidFill>
                  <a:srgbClr val="FFC000"/>
                </a:solidFill>
              </a:rPr>
              <a:t>LE SYNDROME PHONATOIRE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100">
                <a:solidFill>
                  <a:srgbClr val="FFC000"/>
                </a:solidFill>
              </a:rPr>
              <a:t>La dysphonie </a:t>
            </a:r>
            <a:endParaRPr sz="31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enrouement est l’altération du son fondamental laryngé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Causes </a:t>
            </a:r>
            <a:r>
              <a:rPr lang="fr-FR"/>
              <a:t>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- causes du syndrome respiratoire (dyspnée)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- affections neuromoteurs du larynx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- causes fonctionnelles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- phonastenie - fatigue de voix parlée se produit après des efforts vocaux minimums, surtout aux professionnels vocaux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- endocrines - voix eunucoïde caractéristique aux jeunes au cours de la puberté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- aphonie - troubles mentaux - l’hystérie, la psychose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400">
                <a:solidFill>
                  <a:srgbClr val="FFC000"/>
                </a:solidFill>
              </a:rPr>
              <a:t>La toux</a:t>
            </a:r>
            <a:r>
              <a:rPr lang="fr-FR" sz="3400">
                <a:solidFill>
                  <a:srgbClr val="FFC000"/>
                </a:solidFill>
              </a:rPr>
              <a:t> </a:t>
            </a:r>
            <a:r>
              <a:rPr lang="fr-FR"/>
              <a:t>- origine strictement laryngée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accompagne symptômes laryngiens : dysphonie, dyspnée.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LES SYNDROMES LARYNGIENS</a:t>
            </a:r>
            <a:endParaRPr/>
          </a:p>
        </p:txBody>
      </p:sp>
      <p:sp>
        <p:nvSpPr>
          <p:cNvPr id="214" name="Google Shape;214;p11"/>
          <p:cNvSpPr txBox="1"/>
          <p:nvPr>
            <p:ph idx="1" type="body"/>
          </p:nvPr>
        </p:nvSpPr>
        <p:spPr>
          <a:xfrm>
            <a:off x="609600" y="1219200"/>
            <a:ext cx="83820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LE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b="1" lang="fr-FR">
                <a:solidFill>
                  <a:srgbClr val="FFC000"/>
                </a:solidFill>
              </a:rPr>
              <a:t>SYNDROME SENSITIF</a:t>
            </a:r>
            <a:endParaRPr>
              <a:solidFill>
                <a:srgbClr val="FFC000"/>
              </a:solidFill>
            </a:endParaRPr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u="sng">
                <a:solidFill>
                  <a:srgbClr val="FFC000"/>
                </a:solidFill>
              </a:rPr>
              <a:t>La douleur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-origine laryngée spontanée, exacerbée par la déglutition, la toux, la phonation, la respiration; il rayonne à « l’oreille »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100" u="sng">
                <a:solidFill>
                  <a:srgbClr val="FFC000"/>
                </a:solidFill>
              </a:rPr>
              <a:t>Hyperesthésie</a:t>
            </a: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survient dans les laryngites aiguës, des névroses (cancérophobie)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100" u="sng">
                <a:solidFill>
                  <a:srgbClr val="FFC000"/>
                </a:solidFill>
              </a:rPr>
              <a:t>Les paresthésies </a:t>
            </a:r>
            <a:endParaRPr b="1" sz="31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 névroses, inflammations, tumeurs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-  examinés avec soin (fréquences accrues des tumeurs du larynx)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"/>
          <p:cNvSpPr txBox="1"/>
          <p:nvPr>
            <p:ph type="title"/>
          </p:nvPr>
        </p:nvSpPr>
        <p:spPr>
          <a:xfrm>
            <a:off x="609600" y="228600"/>
            <a:ext cx="8077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LES MALFORMATIONS DU LARYNX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0" name="Google Shape;220;p12"/>
          <p:cNvSpPr txBox="1"/>
          <p:nvPr>
            <p:ph idx="1" type="body"/>
          </p:nvPr>
        </p:nvSpPr>
        <p:spPr>
          <a:xfrm>
            <a:off x="0" y="914400"/>
            <a:ext cx="655320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 </a:t>
            </a:r>
            <a:r>
              <a:rPr b="1" lang="fr-FR">
                <a:solidFill>
                  <a:srgbClr val="FFC000"/>
                </a:solidFill>
              </a:rPr>
              <a:t>MALFORMATIONS CONGÉNITALES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/>
              <a:t>        </a:t>
            </a:r>
            <a:r>
              <a:rPr b="1" i="1" lang="fr-FR">
                <a:solidFill>
                  <a:srgbClr val="FFC000"/>
                </a:solidFill>
              </a:rPr>
              <a:t>1. malformations de l’épiglotte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l’absence de l’épiglotte, change de la forme (eΩ)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/>
              <a:t>        </a:t>
            </a:r>
            <a:r>
              <a:rPr b="1" i="1" lang="fr-FR">
                <a:solidFill>
                  <a:srgbClr val="FFC000"/>
                </a:solidFill>
              </a:rPr>
              <a:t>2. malformation du cartilage thyroïde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sa fente dans la partie antérieure </a:t>
            </a:r>
            <a:br>
              <a:rPr lang="fr-FR"/>
            </a:br>
            <a:r>
              <a:rPr b="1" i="1" lang="fr-FR">
                <a:solidFill>
                  <a:srgbClr val="FFC000"/>
                </a:solidFill>
              </a:rPr>
              <a:t>3. laryngomalacie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larynx flasque congénital se manifeste par le manque de tonicité de l’épiglotte ou des replis ariténo-épiglottiens, qui détermine leurs d’aspiration dans le lumen du larynx lors de l’inspiration.</a:t>
            </a:r>
            <a:br>
              <a:rPr lang="fr-FR"/>
            </a:br>
            <a:r>
              <a:rPr b="1" i="1" lang="fr-FR">
                <a:solidFill>
                  <a:srgbClr val="FFC000"/>
                </a:solidFill>
              </a:rPr>
              <a:t>4. kystes laryngés </a:t>
            </a:r>
            <a:r>
              <a:rPr lang="fr-FR"/>
              <a:t>-  la valecula / le repli ariténo-épiglottien</a:t>
            </a:r>
            <a:br>
              <a:rPr lang="fr-FR"/>
            </a:br>
            <a:r>
              <a:rPr b="1" i="1" lang="fr-FR">
                <a:solidFill>
                  <a:srgbClr val="FFC000"/>
                </a:solidFill>
              </a:rPr>
              <a:t>5. les malformations de la glotte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- le diaphragme glottique / la glotte palmé  réduit l’espace respira­teur.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hendidura_laringea_despues.jpg" id="221" name="Google Shape;22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1447800"/>
            <a:ext cx="24384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images (4).jpg" id="222" name="Google Shape;22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3200" y="3933825"/>
            <a:ext cx="2466975" cy="185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"/>
          <p:cNvSpPr txBox="1"/>
          <p:nvPr>
            <p:ph type="title"/>
          </p:nvPr>
        </p:nvSpPr>
        <p:spPr>
          <a:xfrm>
            <a:off x="457200" y="22860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LES MALFORMATIONS DU LARYNX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28" name="Google Shape;228;p13"/>
          <p:cNvSpPr txBox="1"/>
          <p:nvPr>
            <p:ph idx="1" type="body"/>
          </p:nvPr>
        </p:nvSpPr>
        <p:spPr>
          <a:xfrm>
            <a:off x="381000" y="990600"/>
            <a:ext cx="5334000" cy="31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MALFORMATIONS CONGÉNITALES</a:t>
            </a:r>
            <a:r>
              <a:rPr b="1"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6. </a:t>
            </a:r>
            <a:r>
              <a:rPr b="1" i="1" lang="fr-FR">
                <a:solidFill>
                  <a:srgbClr val="FFC000"/>
                </a:solidFill>
              </a:rPr>
              <a:t>le laryngocèle</a:t>
            </a:r>
            <a:r>
              <a:rPr b="1" lang="fr-FR"/>
              <a:t> </a:t>
            </a:r>
            <a:r>
              <a:rPr lang="fr-FR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118750"/>
              <a:buNone/>
            </a:pPr>
            <a:r>
              <a:rPr lang="fr-FR"/>
              <a:t>          </a:t>
            </a:r>
            <a:r>
              <a:rPr lang="fr-FR" sz="2400"/>
              <a:t>une hernie de la muqueuse du ventricule de Morgagni 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         - </a:t>
            </a:r>
            <a:r>
              <a:rPr i="1" lang="fr-FR" sz="2400"/>
              <a:t>interne</a:t>
            </a:r>
            <a:r>
              <a:rPr lang="fr-FR" sz="2400"/>
              <a:t> - la plique ariteno-épiglottienne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         - </a:t>
            </a:r>
            <a:r>
              <a:rPr i="1" lang="fr-FR" sz="2400"/>
              <a:t>externe</a:t>
            </a:r>
            <a:r>
              <a:rPr lang="fr-FR" sz="2400"/>
              <a:t> - en traversant la membrane de la thyroïde et s’extérieurise latéro-cervicale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400"/>
              <a:t>           - </a:t>
            </a:r>
            <a:r>
              <a:rPr i="1" lang="fr-FR" sz="2400"/>
              <a:t>mixte</a:t>
            </a:r>
            <a:r>
              <a:rPr lang="fr-FR" sz="2400"/>
              <a:t>- sac herniaire est rempli d’air, on augmente à la manœuvre de Valsalva, mais peut contenir un fluide muqueux</a:t>
            </a:r>
            <a:endParaRPr sz="2400"/>
          </a:p>
        </p:txBody>
      </p:sp>
      <p:pic>
        <p:nvPicPr>
          <p:cNvPr descr="C:\Users\Alex\Desktop\Picture3.png" id="229" name="Google Shape;22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4191000"/>
            <a:ext cx="33528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descărcare (3).jpg" id="230" name="Google Shape;23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1200" y="4267200"/>
            <a:ext cx="3124200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0" y="1447800"/>
            <a:ext cx="31242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LES MALFORMATIONS DU LARYNX</a:t>
            </a:r>
            <a:endParaRPr/>
          </a:p>
        </p:txBody>
      </p:sp>
      <p:sp>
        <p:nvSpPr>
          <p:cNvPr id="237" name="Google Shape;237;p14"/>
          <p:cNvSpPr txBox="1"/>
          <p:nvPr>
            <p:ph idx="1" type="body"/>
          </p:nvPr>
        </p:nvSpPr>
        <p:spPr>
          <a:xfrm>
            <a:off x="457200" y="1426475"/>
            <a:ext cx="6172200" cy="49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 </a:t>
            </a:r>
            <a:r>
              <a:rPr b="1" lang="fr-FR">
                <a:solidFill>
                  <a:srgbClr val="FFC000"/>
                </a:solidFill>
              </a:rPr>
              <a:t>MALFORMATIONS ACQUISES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 Sténoses laryngées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fréquemment après les traumatismes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♦ mécaniques: intubation traumatique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♦ chirurgicales: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♦ chimiques : substances caustiques, gaz toxiques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 → </a:t>
            </a:r>
            <a:r>
              <a:rPr lang="fr-FR"/>
              <a:t>troubles phonatoires et respiratoires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estenosis-traqueal.jpg" id="238" name="Google Shape;23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53200" y="1295400"/>
            <a:ext cx="25146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4267200"/>
            <a:ext cx="2438400" cy="208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"/>
          <p:cNvSpPr txBox="1"/>
          <p:nvPr>
            <p:ph type="title"/>
          </p:nvPr>
        </p:nvSpPr>
        <p:spPr>
          <a:xfrm>
            <a:off x="914400" y="0"/>
            <a:ext cx="77724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LES TRAUMATISMES DU LARYNX</a:t>
            </a:r>
            <a:endParaRPr/>
          </a:p>
        </p:txBody>
      </p:sp>
      <p:sp>
        <p:nvSpPr>
          <p:cNvPr id="245" name="Google Shape;245;p15"/>
          <p:cNvSpPr txBox="1"/>
          <p:nvPr>
            <p:ph idx="1" type="body"/>
          </p:nvPr>
        </p:nvSpPr>
        <p:spPr>
          <a:xfrm>
            <a:off x="914400" y="533400"/>
            <a:ext cx="7772400" cy="5822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79166"/>
              <a:buNone/>
            </a:pPr>
            <a:br>
              <a:rPr b="1" lang="fr-FR"/>
            </a:br>
            <a:endParaRPr b="1" i="1" sz="36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3600" u="sng">
                <a:solidFill>
                  <a:srgbClr val="FFC000"/>
                </a:solidFill>
              </a:rPr>
              <a:t>CLASSIFICATION</a:t>
            </a:r>
            <a:endParaRPr b="1" i="1" sz="3600" u="sng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Selon la nature de l’agent traumatique</a:t>
            </a:r>
            <a:r>
              <a:rPr lang="fr-FR">
                <a:solidFill>
                  <a:srgbClr val="FFC000"/>
                </a:solidFill>
              </a:rPr>
              <a:t> 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traumatismes mécaniques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traumatismes thermiques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traumatismes chimiques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traumatismes physiques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Selon le mode d’action de l’agent traumatique</a:t>
            </a:r>
            <a:r>
              <a:rPr lang="fr-FR">
                <a:solidFill>
                  <a:srgbClr val="FFC000"/>
                </a:solidFill>
              </a:rPr>
              <a:t> 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  traumatismes éxo laryngiens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 traumatismes endolaryngés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Selon la complexité du traumatisme 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 traumatismes du larynx isolés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 poly traumatismes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6"/>
          <p:cNvSpPr txBox="1"/>
          <p:nvPr>
            <p:ph type="title"/>
          </p:nvPr>
        </p:nvSpPr>
        <p:spPr>
          <a:xfrm>
            <a:off x="914400" y="152400"/>
            <a:ext cx="7772400" cy="127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TRAUMATISMES MÉCANIQUES</a:t>
            </a:r>
            <a:br>
              <a:rPr lang="fr-FR"/>
            </a:br>
            <a:endParaRPr/>
          </a:p>
        </p:txBody>
      </p:sp>
      <p:sp>
        <p:nvSpPr>
          <p:cNvPr id="251" name="Google Shape;251;p16"/>
          <p:cNvSpPr txBox="1"/>
          <p:nvPr>
            <p:ph idx="1" type="body"/>
          </p:nvPr>
        </p:nvSpPr>
        <p:spPr>
          <a:xfrm>
            <a:off x="381000" y="914400"/>
            <a:ext cx="76962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traumatismes fermés / ouverts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48305"/>
              <a:buNone/>
            </a:pPr>
            <a:r>
              <a:rPr b="1" lang="fr-FR"/>
              <a:t>  </a:t>
            </a:r>
            <a:r>
              <a:rPr b="1" lang="fr-FR" sz="5900">
                <a:solidFill>
                  <a:srgbClr val="FFC000"/>
                </a:solidFill>
              </a:rPr>
              <a:t>Traumatismes fermés </a:t>
            </a:r>
            <a:endParaRPr sz="59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- les ecchymoses du larynx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 - les fractures des cartilages laryngées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Étiologie </a:t>
            </a:r>
            <a:endParaRPr sz="3800">
              <a:solidFill>
                <a:srgbClr val="FFC000"/>
              </a:solidFill>
            </a:endParaRPr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ct val="95000"/>
              <a:buAutoNum type="alphaLcPeriod"/>
            </a:pPr>
            <a:r>
              <a:rPr b="1" lang="fr-FR"/>
              <a:t>après le mode de production</a:t>
            </a:r>
            <a:r>
              <a:rPr lang="fr-FR"/>
              <a:t> </a:t>
            </a:r>
            <a:endParaRPr/>
          </a:p>
          <a:p>
            <a:pPr indent="-514350" lvl="0" marL="58293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direct</a:t>
            </a:r>
            <a:r>
              <a:rPr lang="fr-FR"/>
              <a:t> – - chute sur le volant de la voiture, la pendaison, la strangulation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</a:t>
            </a:r>
            <a:r>
              <a:rPr i="1" lang="fr-FR"/>
              <a:t>indirecte</a:t>
            </a:r>
            <a:r>
              <a:rPr lang="fr-FR"/>
              <a:t> -  l’écrasement du larynx entre sternum, la mâchoire et la colonne vertébrale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b. après les circonstances de la production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accidents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agressions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tentatives de suicide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accidents du travail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Anatomie pathologique 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contusions simples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les fractures avec ou sans déplacement des cartilages du larynx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hématome sous-muqueux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luxation des aryténoïdes</a:t>
            </a:r>
            <a:endParaRPr/>
          </a:p>
        </p:txBody>
      </p:sp>
      <p:pic>
        <p:nvPicPr>
          <p:cNvPr descr="C:\Users\Alex\Desktop\images (5).jpg" id="252" name="Google Shape;2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990600"/>
            <a:ext cx="325755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larynx-cancer-0704-b.jpg" id="253" name="Google Shape;2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3857625"/>
            <a:ext cx="3352800" cy="24245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7"/>
          <p:cNvSpPr txBox="1"/>
          <p:nvPr>
            <p:ph type="title"/>
          </p:nvPr>
        </p:nvSpPr>
        <p:spPr>
          <a:xfrm>
            <a:off x="381000" y="0"/>
            <a:ext cx="8305800" cy="1426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TRAUMATISMES MÉCANIQUES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59" name="Google Shape;259;p17"/>
          <p:cNvSpPr txBox="1"/>
          <p:nvPr>
            <p:ph idx="1" type="body"/>
          </p:nvPr>
        </p:nvSpPr>
        <p:spPr>
          <a:xfrm>
            <a:off x="457200" y="838200"/>
            <a:ext cx="70104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7200">
                <a:solidFill>
                  <a:srgbClr val="FFC000"/>
                </a:solidFill>
              </a:rPr>
              <a:t>Symptomatologie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 - douleur fixe vivante, intense, accentuée à la phonation / déglutition  / palpation 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dysphonie douloureuse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dysphagie, l’odynophagie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dyspnée de type laryngée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Laryngoscopie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la congestion des muqueuses  sous-fusions sanguines / hématomes / altération de la mobilité des cordes vocales / le rétrécissement du lumen laryngien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5600"/>
              <a:t> </a:t>
            </a:r>
            <a:r>
              <a:rPr b="1" lang="fr-FR" sz="7200">
                <a:solidFill>
                  <a:srgbClr val="FFC000"/>
                </a:solidFill>
              </a:rPr>
              <a:t>Traitement </a:t>
            </a:r>
            <a:endParaRPr b="1" sz="7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5600"/>
              <a:t>Objectif principal</a:t>
            </a:r>
            <a:r>
              <a:rPr lang="fr-FR" sz="5600"/>
              <a:t> – la surveillance et l’entretien de la fonction respiratoire (l’intubation, la trachéotomie)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5600" u="sng"/>
              <a:t>Traitement hygiénique diététique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- repos absolu de la voix,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 -la nutrition parentérale,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  - humidification de l’atmosphère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5600" u="sng"/>
              <a:t>Traitement médicamenteux  :</a:t>
            </a:r>
            <a:endParaRPr b="1" i="1" sz="56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anti-inflammatoires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analgésiques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antibiotiques avec de spectre large 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-  corticothérapies – en cas de besoin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Corbel"/>
              <a:buChar char="-"/>
            </a:pPr>
            <a:r>
              <a:rPr lang="fr-FR" sz="5600"/>
              <a:t>traitement correct de la toux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 </a:t>
            </a:r>
            <a:r>
              <a:rPr b="1" i="1" lang="fr-FR" sz="5600" u="sng"/>
              <a:t>Intervention chirurgicale de correction (f</a:t>
            </a:r>
            <a:r>
              <a:rPr lang="fr-FR" sz="5600"/>
              <a:t>ractures avec l’effondrement des cartilages )</a:t>
            </a:r>
            <a:endParaRPr sz="5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5600"/>
              <a:t> </a:t>
            </a:r>
            <a:endParaRPr sz="5600"/>
          </a:p>
          <a:p>
            <a:pPr indent="-29765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20090220-larynx-cancer-750.jpg" id="260" name="Google Shape;2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62600" y="3886200"/>
            <a:ext cx="2581275" cy="23713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8"/>
          <p:cNvSpPr txBox="1"/>
          <p:nvPr>
            <p:ph type="title"/>
          </p:nvPr>
        </p:nvSpPr>
        <p:spPr>
          <a:xfrm>
            <a:off x="914400" y="152400"/>
            <a:ext cx="7772400" cy="127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TRAUMATISMES MÉCANIQUES</a:t>
            </a:r>
            <a:endParaRPr/>
          </a:p>
        </p:txBody>
      </p:sp>
      <p:sp>
        <p:nvSpPr>
          <p:cNvPr id="266" name="Google Shape;266;p18"/>
          <p:cNvSpPr txBox="1"/>
          <p:nvPr>
            <p:ph idx="1" type="body"/>
          </p:nvPr>
        </p:nvSpPr>
        <p:spPr>
          <a:xfrm>
            <a:off x="762000" y="1295400"/>
            <a:ext cx="7924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5100">
                <a:solidFill>
                  <a:srgbClr val="FFC000"/>
                </a:solidFill>
              </a:rPr>
              <a:t>Traumatismes ouverts </a:t>
            </a:r>
            <a:endParaRPr sz="51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plaies cervicales laryngées : lisses ou réguliers /  infructueux, avec des sections - fractures des cartilages, esquilles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200">
                <a:solidFill>
                  <a:srgbClr val="FFC000"/>
                </a:solidFill>
              </a:rPr>
              <a:t>Symptomatologie</a:t>
            </a: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le choc et l’hémorragie domine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l’ enrouement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la dysphagie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la toux avec d’expectoration sanglante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200">
                <a:solidFill>
                  <a:srgbClr val="FFC000"/>
                </a:solidFill>
              </a:rPr>
              <a:t>Traitement</a:t>
            </a:r>
            <a:r>
              <a:rPr b="1" lang="fr-FR" sz="2900">
                <a:solidFill>
                  <a:srgbClr val="FFC000"/>
                </a:solidFill>
              </a:rPr>
              <a:t> </a:t>
            </a:r>
            <a:endParaRPr sz="29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La surveillance des fonctions vitales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- l’ état ​​de choc  -&gt; Remplissage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- la respiration 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- l’appareil cardio-vasculaire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Local 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l’hémostase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la suture de la plaie sur des plans anatomiques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</p:txBody>
      </p:sp>
      <p:pic>
        <p:nvPicPr>
          <p:cNvPr descr="C:\Users\Alex\Desktop\larynx.jpg" id="267" name="Google Shape;2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1" y="2093450"/>
            <a:ext cx="2590799" cy="194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4267200"/>
            <a:ext cx="2647949" cy="19632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/>
          <p:nvPr>
            <p:ph type="title"/>
          </p:nvPr>
        </p:nvSpPr>
        <p:spPr>
          <a:xfrm>
            <a:off x="457200" y="228600"/>
            <a:ext cx="82296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TRAUMATISMES MÉCANIQUES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74" name="Google Shape;274;p19"/>
          <p:cNvSpPr txBox="1"/>
          <p:nvPr>
            <p:ph idx="1" type="body"/>
          </p:nvPr>
        </p:nvSpPr>
        <p:spPr>
          <a:xfrm>
            <a:off x="457200" y="1143000"/>
            <a:ext cx="71628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Traumatismes mécaniques endolaryngienes</a:t>
            </a: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traumatismes iatrogènes  après: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l’endoscopie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la laryngo-intubation trachéale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♦"/>
            </a:pPr>
            <a:r>
              <a:rPr b="1" lang="fr-FR" sz="2400" u="sng">
                <a:solidFill>
                  <a:srgbClr val="FFC000"/>
                </a:solidFill>
              </a:rPr>
              <a:t>œdème post-intubation</a:t>
            </a:r>
            <a:r>
              <a:rPr b="1" lang="fr-FR" sz="2400" u="sng"/>
              <a:t> </a:t>
            </a:r>
            <a:r>
              <a:rPr lang="fr-FR" sz="2400"/>
              <a:t>-après quelconque intubation / l’intubation prolongée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Traitement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corticothérapie fortes doses / la trachéotomie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♦ </a:t>
            </a:r>
            <a:r>
              <a:rPr b="1" lang="fr-FR" sz="2400" u="sng">
                <a:solidFill>
                  <a:srgbClr val="FFC000"/>
                </a:solidFill>
              </a:rPr>
              <a:t>granulome post-intubation</a:t>
            </a:r>
            <a:endParaRPr b="1" sz="2400" u="sng">
              <a:solidFill>
                <a:srgbClr val="FFC000"/>
              </a:solidFill>
            </a:endParaRPr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C:\Users\Alex\Desktop\laryngeal-trauma-canonical.jpg" id="275" name="Google Shape;2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762000"/>
            <a:ext cx="3276600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fig1.png" id="276" name="Google Shape;2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8800" y="3124200"/>
            <a:ext cx="2235200" cy="1720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3604" y="4953000"/>
            <a:ext cx="2640396" cy="1828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"/>
          <p:cNvSpPr txBox="1"/>
          <p:nvPr>
            <p:ph type="title"/>
          </p:nvPr>
        </p:nvSpPr>
        <p:spPr>
          <a:xfrm>
            <a:off x="457200" y="228600"/>
            <a:ext cx="8686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 TRAUMATISMES  THERMIQUES  ET  CHIMIQUES</a:t>
            </a:r>
            <a:br>
              <a:rPr lang="fr-FR" sz="3200"/>
            </a:br>
            <a:endParaRPr sz="3200"/>
          </a:p>
        </p:txBody>
      </p:sp>
      <p:sp>
        <p:nvSpPr>
          <p:cNvPr id="283" name="Google Shape;283;p20"/>
          <p:cNvSpPr txBox="1"/>
          <p:nvPr>
            <p:ph idx="1" type="body"/>
          </p:nvPr>
        </p:nvSpPr>
        <p:spPr>
          <a:xfrm>
            <a:off x="609600" y="914400"/>
            <a:ext cx="82296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83823"/>
              <a:buNone/>
            </a:pPr>
            <a:r>
              <a:rPr lang="fr-FR"/>
              <a:t>   </a:t>
            </a:r>
            <a:r>
              <a:rPr i="1" lang="fr-FR" sz="3400" u="sng"/>
              <a:t>l’aspiration des liquides brûlants  / des vapeurs  /  des substances toxiques</a:t>
            </a:r>
            <a:endParaRPr i="1" sz="3400" u="sng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83823"/>
              <a:buNone/>
            </a:pPr>
            <a:r>
              <a:rPr b="1" lang="fr-FR"/>
              <a:t>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Symptomatologie</a:t>
            </a:r>
            <a:r>
              <a:rPr b="1" lang="fr-FR" sz="3400"/>
              <a:t> </a:t>
            </a:r>
            <a:br>
              <a:rPr lang="fr-FR" sz="3400"/>
            </a:br>
            <a:r>
              <a:rPr lang="fr-FR" sz="3400"/>
              <a:t>- de douleur intense et surtout sensation de picotement </a:t>
            </a:r>
            <a:br>
              <a:rPr lang="fr-FR" sz="3400"/>
            </a:br>
            <a:r>
              <a:rPr lang="fr-FR" sz="3400"/>
              <a:t>- spasmes laryngés </a:t>
            </a:r>
            <a:br>
              <a:rPr lang="fr-FR" sz="3400"/>
            </a:br>
            <a:r>
              <a:rPr lang="fr-FR" sz="3400"/>
              <a:t>- dyspnée - due au spasme et surtout à l’œdème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- toux irritante 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 - la dysphagie, odynophagie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Laryngoscopie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        changements différents, selon la profondeur des lésions (concentration, temps de contact, la nature de la substance) congestion diffuse, gonflement, œdème, ulcérations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Traitement 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400"/>
              <a:t> </a:t>
            </a:r>
            <a:r>
              <a:rPr i="1" lang="fr-FR" sz="3400" u="sng"/>
              <a:t>traitement hygiénique - diététique </a:t>
            </a:r>
            <a:r>
              <a:rPr lang="fr-FR" sz="3400"/>
              <a:t>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- repos vocal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-  nutrition parentérale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400"/>
              <a:t> </a:t>
            </a:r>
            <a:r>
              <a:rPr i="1" lang="fr-FR" sz="3400" u="sng"/>
              <a:t>traitement général</a:t>
            </a:r>
            <a:r>
              <a:rPr i="1" lang="fr-FR" sz="3400"/>
              <a:t> :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- AINS (des anti-inflammatoires nestéroïdiennes)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- analgésiques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-  corticothérapies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- le traitement de la toux</a:t>
            </a:r>
            <a:endParaRPr sz="3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400"/>
              <a:t> Local </a:t>
            </a:r>
            <a:r>
              <a:rPr lang="fr-FR"/>
              <a:t>: aérosol (’éphédrine ou l’adrénaline)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1"/>
          <p:cNvSpPr txBox="1"/>
          <p:nvPr>
            <p:ph type="title"/>
          </p:nvPr>
        </p:nvSpPr>
        <p:spPr>
          <a:xfrm>
            <a:off x="381000" y="228600"/>
            <a:ext cx="87630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TRAUMATISMES LARYNGIENS  PAR  L’IRRADIATION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89" name="Google Shape;289;p21"/>
          <p:cNvSpPr txBox="1"/>
          <p:nvPr>
            <p:ph idx="1" type="body"/>
          </p:nvPr>
        </p:nvSpPr>
        <p:spPr>
          <a:xfrm>
            <a:off x="533400" y="1143000"/>
            <a:ext cx="80772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après </a:t>
            </a:r>
            <a:r>
              <a:rPr b="1" lang="fr-FR" u="sng">
                <a:solidFill>
                  <a:srgbClr val="FFC000"/>
                </a:solidFill>
              </a:rPr>
              <a:t>la cobaltothérapie </a:t>
            </a:r>
            <a:r>
              <a:rPr lang="fr-FR"/>
              <a:t>réalisée pour le néoplasme laryngien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-</a:t>
            </a:r>
            <a:r>
              <a:rPr lang="fr-FR" u="sng"/>
              <a:t> primaire</a:t>
            </a:r>
            <a:r>
              <a:rPr lang="fr-FR"/>
              <a:t> : radio mucite aiguë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- </a:t>
            </a:r>
            <a:r>
              <a:rPr lang="fr-FR" u="sng"/>
              <a:t>subaiguë</a:t>
            </a:r>
            <a:r>
              <a:rPr lang="fr-FR"/>
              <a:t> radio mucite secondaire, chondrite aiguë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- </a:t>
            </a:r>
            <a:r>
              <a:rPr lang="fr-FR" u="sng"/>
              <a:t>tardif</a:t>
            </a:r>
            <a:r>
              <a:rPr lang="fr-FR"/>
              <a:t> - œdème chronique, chondronécrose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C:\Users\Alex\Desktop\ooa9019f1.png" id="290" name="Google Shape;29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2209800"/>
            <a:ext cx="2886075" cy="204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2"/>
          <p:cNvSpPr txBox="1"/>
          <p:nvPr>
            <p:ph type="title"/>
          </p:nvPr>
        </p:nvSpPr>
        <p:spPr>
          <a:xfrm>
            <a:off x="914400" y="152400"/>
            <a:ext cx="7772400" cy="127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LES CORPS ÉTRANGERS LARYNGÉS</a:t>
            </a:r>
            <a:br>
              <a:rPr lang="fr-FR"/>
            </a:br>
            <a:endParaRPr/>
          </a:p>
        </p:txBody>
      </p:sp>
      <p:sp>
        <p:nvSpPr>
          <p:cNvPr id="296" name="Google Shape;296;p22"/>
          <p:cNvSpPr txBox="1"/>
          <p:nvPr>
            <p:ph idx="1" type="body"/>
          </p:nvPr>
        </p:nvSpPr>
        <p:spPr>
          <a:xfrm>
            <a:off x="457200" y="838200"/>
            <a:ext cx="68580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r>
              <a:rPr lang="fr-FR"/>
              <a:t>une grande variété des corps étrangers laryngiens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♦</a:t>
            </a:r>
            <a:r>
              <a:rPr lang="fr-FR" u="sng"/>
              <a:t>alimentaires</a:t>
            </a:r>
            <a:r>
              <a:rPr lang="fr-FR"/>
              <a:t> : os de poulet, de poisson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♦</a:t>
            </a:r>
            <a:r>
              <a:rPr lang="fr-FR" u="sng"/>
              <a:t>non alimentaires</a:t>
            </a:r>
            <a:r>
              <a:rPr lang="fr-FR"/>
              <a:t> : les aiguilles, des clous, des prothèses dentaires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Localisation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∙ épiglotte, valecula, les replis aryténo-épiglottiques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∙ endolarynx - glotte, ventricules, région sous-glottique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Symptomatologie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dyspnée intense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spasme laryngé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toux irritante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peuvent s’améliorer spontanément après 20 à 30 minutes pour resurgir périodiquement en crise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la dysphonie inconstante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odynophagie et dysphagie.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Traitement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Objectif principal - assurer la fonction respiratoire.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L’extraction du corps étranger par la voie naturelle et sous le contrôle de la vue (laryngoscopie indirecte ou directe) avec des instruments spéciaux.</a:t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images (6).jpg" id="297" name="Google Shape;29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1143000"/>
            <a:ext cx="228600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"/>
          <p:cNvSpPr txBox="1"/>
          <p:nvPr>
            <p:ph type="title"/>
          </p:nvPr>
        </p:nvSpPr>
        <p:spPr>
          <a:xfrm>
            <a:off x="609600" y="228600"/>
            <a:ext cx="8077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LES LARYNGITES AIGUËS</a:t>
            </a:r>
            <a:br>
              <a:rPr lang="fr-FR" sz="3600"/>
            </a:br>
            <a:endParaRPr sz="3600"/>
          </a:p>
        </p:txBody>
      </p:sp>
      <p:sp>
        <p:nvSpPr>
          <p:cNvPr id="303" name="Google Shape;303;p23"/>
          <p:cNvSpPr txBox="1"/>
          <p:nvPr>
            <p:ph idx="1" type="body"/>
          </p:nvPr>
        </p:nvSpPr>
        <p:spPr>
          <a:xfrm>
            <a:off x="304800" y="1295400"/>
            <a:ext cx="6019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r>
              <a:rPr lang="fr-FR" sz="2400"/>
              <a:t>inflammations aiguës du larynx    </a:t>
            </a:r>
            <a:r>
              <a:rPr i="1" lang="fr-FR" sz="2400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i="1" lang="fr-FR" sz="2400">
                <a:solidFill>
                  <a:srgbClr val="FFC000"/>
                </a:solidFill>
              </a:rPr>
              <a:t>                 laryngite aiguë non spécifique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i="1" lang="fr-FR" sz="2400">
                <a:solidFill>
                  <a:srgbClr val="FFC000"/>
                </a:solidFill>
              </a:rPr>
              <a:t>                 laryngite aiguë spécifique</a:t>
            </a:r>
            <a:endParaRPr i="1"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r>
              <a:rPr b="1" lang="fr-FR" sz="2000">
                <a:solidFill>
                  <a:srgbClr val="FFC000"/>
                </a:solidFill>
              </a:rPr>
              <a:t>LARYNGITE AIGUË NON SPÉCIFIQUE</a:t>
            </a:r>
            <a:r>
              <a:rPr lang="fr-FR" sz="2000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>
                <a:solidFill>
                  <a:srgbClr val="FFC000"/>
                </a:solidFill>
              </a:rPr>
              <a:t> </a:t>
            </a:r>
            <a:r>
              <a:rPr b="1" lang="fr-FR" sz="2000">
                <a:solidFill>
                  <a:srgbClr val="FFC000"/>
                </a:solidFill>
              </a:rPr>
              <a:t>Laryngite aiguë catarrhale</a:t>
            </a:r>
            <a:endParaRPr sz="2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 inflammation aiguë de la muqueuse laryngée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                                 associée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à une inflammation aiguë du trachéo  bronchique</a:t>
            </a:r>
            <a:endParaRPr sz="2000"/>
          </a:p>
        </p:txBody>
      </p:sp>
      <p:pic>
        <p:nvPicPr>
          <p:cNvPr id="304" name="Google Shape;3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43625" y="1295400"/>
            <a:ext cx="28479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Pictures\New folder\laringita_acuta.jpg" id="305" name="Google Shape;30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4267200"/>
            <a:ext cx="28956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 txBox="1"/>
          <p:nvPr>
            <p:ph type="title"/>
          </p:nvPr>
        </p:nvSpPr>
        <p:spPr>
          <a:xfrm>
            <a:off x="533400" y="228600"/>
            <a:ext cx="84582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7D6FF"/>
              </a:buClr>
              <a:buSzPts val="3600"/>
              <a:buFont typeface="Consolas"/>
              <a:buNone/>
            </a:pPr>
            <a:r>
              <a:rPr b="1" lang="fr-FR" sz="3600">
                <a:solidFill>
                  <a:srgbClr val="A7D6FF"/>
                </a:solidFill>
              </a:rPr>
              <a:t>LARYNGITE AIGUË NON SPÉCIFIQUE</a:t>
            </a:r>
            <a:r>
              <a:rPr lang="fr-FR">
                <a:solidFill>
                  <a:srgbClr val="A7D6FF"/>
                </a:solidFill>
              </a:rPr>
              <a:t> </a:t>
            </a:r>
            <a:br>
              <a:rPr lang="fr-FR"/>
            </a:br>
            <a:endParaRPr/>
          </a:p>
        </p:txBody>
      </p:sp>
      <p:sp>
        <p:nvSpPr>
          <p:cNvPr id="311" name="Google Shape;311;p24"/>
          <p:cNvSpPr txBox="1"/>
          <p:nvPr>
            <p:ph idx="1" type="body"/>
          </p:nvPr>
        </p:nvSpPr>
        <p:spPr>
          <a:xfrm>
            <a:off x="533400" y="914400"/>
            <a:ext cx="86106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3040"/>
              <a:buNone/>
            </a:pPr>
            <a:r>
              <a:rPr lang="fr-FR" sz="3200">
                <a:solidFill>
                  <a:srgbClr val="FFC000"/>
                </a:solidFill>
              </a:rPr>
              <a:t> </a:t>
            </a:r>
            <a:r>
              <a:rPr b="1" lang="fr-FR" sz="3200">
                <a:solidFill>
                  <a:srgbClr val="FFC000"/>
                </a:solidFill>
              </a:rPr>
              <a:t>Laryngite aiguë catarrhale</a:t>
            </a:r>
            <a:endParaRPr sz="3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b="1" lang="fr-FR" sz="2600">
                <a:solidFill>
                  <a:srgbClr val="FFC000"/>
                </a:solidFill>
              </a:rPr>
              <a:t>Étiologie :</a:t>
            </a:r>
            <a:endParaRPr sz="2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b="1" i="1" lang="fr-FR" sz="2600">
                <a:solidFill>
                  <a:srgbClr val="FFC000"/>
                </a:solidFill>
              </a:rPr>
              <a:t>Facteurs déterminants :</a:t>
            </a:r>
            <a:endParaRPr b="1" sz="2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les virus respiratoires (viroses)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participation microbienne 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b="1" i="1" lang="fr-FR" sz="2600">
                <a:solidFill>
                  <a:srgbClr val="FFC000"/>
                </a:solidFill>
              </a:rPr>
              <a:t>Facteurs favorisants </a:t>
            </a:r>
            <a:r>
              <a:rPr i="1" lang="fr-FR" sz="2400">
                <a:solidFill>
                  <a:srgbClr val="FFC000"/>
                </a:solidFill>
              </a:rPr>
              <a:t>:</a:t>
            </a:r>
            <a:endParaRPr sz="2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✔"/>
            </a:pPr>
            <a:r>
              <a:rPr i="1" lang="fr-FR" sz="2400"/>
              <a:t>       </a:t>
            </a:r>
            <a:r>
              <a:rPr lang="fr-FR" sz="2400"/>
              <a:t>le tabagisme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✔"/>
            </a:pPr>
            <a:r>
              <a:rPr lang="fr-FR" sz="2400"/>
              <a:t>       la consommation d’alcool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✔"/>
            </a:pPr>
            <a:r>
              <a:rPr lang="fr-FR" sz="2400"/>
              <a:t>       froide et humidité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✔"/>
            </a:pPr>
            <a:r>
              <a:rPr lang="fr-FR" sz="2400"/>
              <a:t>       les polluantes professionnelles (fumée, poussière, gaz)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✔"/>
            </a:pPr>
            <a:r>
              <a:rPr lang="fr-FR" sz="2400"/>
              <a:t>       effort vocal 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✔"/>
            </a:pPr>
            <a:r>
              <a:rPr lang="fr-FR" sz="2400"/>
              <a:t>      rhinosinusites adénoïdiennes, pharyngo-amygdaliennes</a:t>
            </a:r>
            <a:endParaRPr sz="24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C:\Users\Alex\Desktop\Prezentare_Conf\New folder\laringita_bacteriana2.jpg" id="312" name="Google Shape;31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981200"/>
            <a:ext cx="2667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 txBox="1"/>
          <p:nvPr>
            <p:ph type="title"/>
          </p:nvPr>
        </p:nvSpPr>
        <p:spPr>
          <a:xfrm>
            <a:off x="457200" y="228600"/>
            <a:ext cx="8686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7D6FF"/>
              </a:buClr>
              <a:buSzPts val="3600"/>
              <a:buFont typeface="Consolas"/>
              <a:buNone/>
            </a:pPr>
            <a:r>
              <a:rPr b="1" lang="fr-FR" sz="3600">
                <a:solidFill>
                  <a:srgbClr val="A7D6FF"/>
                </a:solidFill>
              </a:rPr>
              <a:t>LARYNGITE AIGUË NON SPÉCIFIQUE</a:t>
            </a:r>
            <a:r>
              <a:rPr lang="fr-FR" sz="3600">
                <a:solidFill>
                  <a:srgbClr val="A7D6FF"/>
                </a:solidFill>
              </a:rPr>
              <a:t> </a:t>
            </a:r>
            <a:br>
              <a:rPr lang="fr-FR" sz="3600"/>
            </a:br>
            <a:endParaRPr sz="3600"/>
          </a:p>
        </p:txBody>
      </p:sp>
      <p:sp>
        <p:nvSpPr>
          <p:cNvPr id="318" name="Google Shape;318;p25"/>
          <p:cNvSpPr txBox="1"/>
          <p:nvPr>
            <p:ph idx="1" type="body"/>
          </p:nvPr>
        </p:nvSpPr>
        <p:spPr>
          <a:xfrm>
            <a:off x="381000" y="914400"/>
            <a:ext cx="8305800" cy="544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660"/>
              <a:buNone/>
            </a:pPr>
            <a:r>
              <a:rPr lang="fr-FR" sz="2800">
                <a:solidFill>
                  <a:srgbClr val="FFC000"/>
                </a:solidFill>
              </a:rPr>
              <a:t> </a:t>
            </a:r>
            <a:r>
              <a:rPr b="1" lang="fr-FR" sz="2800">
                <a:solidFill>
                  <a:srgbClr val="FFC000"/>
                </a:solidFill>
              </a:rPr>
              <a:t>Laryngite aiguë catarrhale</a:t>
            </a:r>
            <a:endParaRPr sz="2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b="1" lang="fr-FR" sz="2600">
                <a:solidFill>
                  <a:srgbClr val="FFC000"/>
                </a:solidFill>
              </a:rPr>
              <a:t>Symptomatologie :</a:t>
            </a:r>
            <a:endParaRPr sz="26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i="1" lang="fr-FR" sz="2600"/>
              <a:t>     </a:t>
            </a:r>
            <a:r>
              <a:rPr i="1" lang="fr-FR" sz="2600">
                <a:solidFill>
                  <a:srgbClr val="FFC000"/>
                </a:solidFill>
              </a:rPr>
              <a:t>Subjectif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i="1" lang="fr-FR" sz="2600">
                <a:solidFill>
                  <a:srgbClr val="FFC000"/>
                </a:solidFill>
              </a:rPr>
              <a:t>           </a:t>
            </a:r>
            <a:r>
              <a:rPr lang="fr-FR" sz="2600"/>
              <a:t>- hyperesthésie laryngée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           - sensation de sécheresse laryngée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           - douleur et picotement local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           - toux irritante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            - dysphagie 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lang="fr-FR" sz="2600"/>
              <a:t>            -  frissons, arthralgies, myalgies</a:t>
            </a:r>
            <a:endParaRPr sz="26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rPr i="1" lang="fr-FR" sz="2600"/>
              <a:t>     </a:t>
            </a:r>
            <a:r>
              <a:rPr i="1" lang="fr-FR" sz="2600">
                <a:solidFill>
                  <a:srgbClr val="FFC000"/>
                </a:solidFill>
              </a:rPr>
              <a:t>Objectif</a:t>
            </a:r>
            <a:r>
              <a:rPr lang="fr-FR" sz="2600"/>
              <a:t> –  congestion diffuse, intense de la muqueuse laryngée, sécrétion muqueuse ou mucopurulent, parfois des suffusions sanguines.</a:t>
            </a:r>
            <a:endParaRPr sz="2600"/>
          </a:p>
          <a:p>
            <a:pPr indent="-186055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600"/>
          </a:p>
          <a:p>
            <a:pPr indent="-186055" lvl="0" marL="411480" rtl="0" algn="l">
              <a:spcBef>
                <a:spcPts val="70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 sz="2600"/>
          </a:p>
        </p:txBody>
      </p:sp>
      <p:pic>
        <p:nvPicPr>
          <p:cNvPr id="319" name="Google Shape;3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1600200"/>
            <a:ext cx="28194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6"/>
          <p:cNvSpPr txBox="1"/>
          <p:nvPr>
            <p:ph type="title"/>
          </p:nvPr>
        </p:nvSpPr>
        <p:spPr>
          <a:xfrm>
            <a:off x="457200" y="15240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7D6FF"/>
              </a:buClr>
              <a:buSzPts val="3600"/>
              <a:buFont typeface="Consolas"/>
              <a:buNone/>
            </a:pPr>
            <a:r>
              <a:rPr b="1" lang="fr-FR" sz="3600">
                <a:solidFill>
                  <a:srgbClr val="A7D6FF"/>
                </a:solidFill>
              </a:rPr>
              <a:t>LARYNGITE AIGUË NON SPÉCIFIQUE</a:t>
            </a:r>
            <a:r>
              <a:rPr lang="fr-FR" sz="3600">
                <a:solidFill>
                  <a:srgbClr val="A7D6FF"/>
                </a:solidFill>
              </a:rPr>
              <a:t> </a:t>
            </a:r>
            <a:br>
              <a:rPr lang="fr-FR" sz="3600"/>
            </a:br>
            <a:endParaRPr sz="3600"/>
          </a:p>
        </p:txBody>
      </p:sp>
      <p:sp>
        <p:nvSpPr>
          <p:cNvPr id="325" name="Google Shape;325;p26"/>
          <p:cNvSpPr txBox="1"/>
          <p:nvPr>
            <p:ph idx="1" type="body"/>
          </p:nvPr>
        </p:nvSpPr>
        <p:spPr>
          <a:xfrm>
            <a:off x="609600" y="838200"/>
            <a:ext cx="8382000" cy="57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200">
                <a:solidFill>
                  <a:srgbClr val="FFC000"/>
                </a:solidFill>
              </a:rPr>
              <a:t>Laryngite aiguë catarrhale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Traitement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généralement </a:t>
            </a:r>
            <a:r>
              <a:rPr lang="fr-FR">
                <a:solidFill>
                  <a:srgbClr val="FFC000"/>
                </a:solidFill>
              </a:rPr>
              <a:t>symptomatique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les AINS (anti inflammateurs ne stéroïdiennes)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antipyrétiques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le traitement de la toux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Traitement hygiénique alimentaire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repos vocal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alimentation - aucuns condiments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une température convenable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boissons siphonnées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l’air humide - inhalation </a:t>
            </a:r>
            <a:br>
              <a:rPr lang="fr-FR"/>
            </a:b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Dans certaines situations - terrain taré, surinfection bactérienne : administration des antibiotiques.</a:t>
            </a: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1888_45_290.jpg" id="326" name="Google Shape;3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800" y="2362200"/>
            <a:ext cx="3200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7"/>
          <p:cNvSpPr txBox="1"/>
          <p:nvPr>
            <p:ph type="title"/>
          </p:nvPr>
        </p:nvSpPr>
        <p:spPr>
          <a:xfrm>
            <a:off x="304800" y="152400"/>
            <a:ext cx="8839200" cy="127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rgbClr val="A7D6FF"/>
                </a:solidFill>
                <a:latin typeface="Corbel"/>
                <a:ea typeface="Corbel"/>
                <a:cs typeface="Corbel"/>
                <a:sym typeface="Corbel"/>
              </a:rPr>
              <a:t>Laryngites aiguës non spécifiques de l’enfant</a:t>
            </a:r>
            <a:br>
              <a:rPr lang="fr-FR" sz="3600">
                <a:solidFill>
                  <a:srgbClr val="A7D6FF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3600">
              <a:solidFill>
                <a:srgbClr val="A7D6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2" name="Google Shape;332;p27"/>
          <p:cNvSpPr txBox="1"/>
          <p:nvPr>
            <p:ph idx="1" type="body"/>
          </p:nvPr>
        </p:nvSpPr>
        <p:spPr>
          <a:xfrm>
            <a:off x="381000" y="990600"/>
            <a:ext cx="6705600" cy="60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b="1" lang="fr-FR" sz="2400"/>
              <a:t> </a:t>
            </a:r>
            <a:r>
              <a:rPr b="1" lang="fr-FR" sz="2400">
                <a:solidFill>
                  <a:srgbClr val="FFC000"/>
                </a:solidFill>
              </a:rPr>
              <a:t>La laryngite aiguë œdémateuse sous-glottique :</a:t>
            </a:r>
            <a:endParaRPr sz="2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▪"/>
            </a:pPr>
            <a:r>
              <a:rPr lang="fr-FR" sz="2400"/>
              <a:t> </a:t>
            </a:r>
            <a:r>
              <a:rPr lang="fr-FR" sz="1900"/>
              <a:t>maladie grave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Font typeface="Noto Sans Symbols"/>
              <a:buChar char="▪"/>
            </a:pPr>
            <a:r>
              <a:rPr lang="fr-FR" sz="1900"/>
              <a:t> les enfants de moins de 5 ans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None/>
            </a:pPr>
            <a:r>
              <a:rPr lang="fr-FR" sz="1900"/>
              <a:t> la présence dans la région sous-glottique d’un tissu cellulaire lâche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None/>
            </a:pPr>
            <a:r>
              <a:rPr b="1" i="1" lang="fr-FR" sz="1900">
                <a:solidFill>
                  <a:srgbClr val="FFC000"/>
                </a:solidFill>
              </a:rPr>
              <a:t>Étiologie :</a:t>
            </a:r>
            <a:endParaRPr sz="19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None/>
            </a:pPr>
            <a:r>
              <a:rPr lang="fr-FR" sz="1900"/>
              <a:t>  la grippe, le virus paragrippal, la rougeole,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None/>
            </a:pPr>
            <a:r>
              <a:rPr lang="fr-FR" sz="1900"/>
              <a:t> à qui s’ajoute la flore saprophyte microbienne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None/>
            </a:pPr>
            <a:r>
              <a:rPr b="1" i="1" lang="fr-FR" sz="1900">
                <a:solidFill>
                  <a:srgbClr val="FFC000"/>
                </a:solidFill>
              </a:rPr>
              <a:t>Facteurs favorisants</a:t>
            </a:r>
            <a:r>
              <a:rPr b="1" i="1" lang="fr-FR" sz="1900"/>
              <a:t> </a:t>
            </a:r>
            <a:r>
              <a:rPr b="1" lang="fr-FR" sz="1900"/>
              <a:t>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None/>
            </a:pPr>
            <a:r>
              <a:rPr lang="fr-FR" sz="1900"/>
              <a:t> L’hiver 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None/>
            </a:pPr>
            <a:r>
              <a:rPr lang="fr-FR" sz="1900"/>
              <a:t> l’adénoïdite aiguë 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None/>
            </a:pPr>
            <a:r>
              <a:rPr lang="fr-FR" sz="1900"/>
              <a:t> les maladies contagieuses 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None/>
            </a:pPr>
            <a:r>
              <a:rPr lang="fr-FR" sz="1900"/>
              <a:t>le terrain - enfants diabétiques, lymphatiques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None/>
            </a:pPr>
            <a:r>
              <a:rPr lang="fr-FR" sz="1900"/>
              <a:t> des avitaminoses.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805"/>
              <a:buNone/>
            </a:pPr>
            <a:r>
              <a:rPr lang="fr-FR" sz="1900"/>
              <a:t> 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3040"/>
              <a:buNone/>
            </a:pPr>
            <a:r>
              <a:t/>
            </a:r>
            <a:endParaRPr sz="32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C:\Users\Alex\Desktop\Prezentare_Conf\New folder\laringita_subglotica2.jpg" id="333" name="Google Shape;3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1447800"/>
            <a:ext cx="22098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1325" y="4419600"/>
            <a:ext cx="2200275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8"/>
          <p:cNvSpPr txBox="1"/>
          <p:nvPr>
            <p:ph type="title"/>
          </p:nvPr>
        </p:nvSpPr>
        <p:spPr>
          <a:xfrm>
            <a:off x="457200" y="152400"/>
            <a:ext cx="8991600" cy="127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7D6FF"/>
              </a:buClr>
              <a:buSzPts val="3200"/>
              <a:buFont typeface="Corbel"/>
              <a:buNone/>
            </a:pPr>
            <a:r>
              <a:rPr b="1" lang="fr-FR" sz="3200">
                <a:solidFill>
                  <a:srgbClr val="A7D6FF"/>
                </a:solidFill>
                <a:latin typeface="Corbel"/>
                <a:ea typeface="Corbel"/>
                <a:cs typeface="Corbel"/>
                <a:sym typeface="Corbel"/>
              </a:rPr>
              <a:t>Laryngites aiguës non spécifiques de l’enfant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0" name="Google Shape;340;p28"/>
          <p:cNvSpPr txBox="1"/>
          <p:nvPr>
            <p:ph idx="1" type="body"/>
          </p:nvPr>
        </p:nvSpPr>
        <p:spPr>
          <a:xfrm>
            <a:off x="457200" y="838200"/>
            <a:ext cx="8686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945"/>
              <a:buNone/>
            </a:pPr>
            <a:r>
              <a:rPr b="1" lang="fr-FR" sz="3100">
                <a:solidFill>
                  <a:srgbClr val="FFC000"/>
                </a:solidFill>
              </a:rPr>
              <a:t>La laryngite aiguë œdémateuse sous-glottique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i="1" lang="fr-FR" sz="1800">
                <a:solidFill>
                  <a:srgbClr val="FFC000"/>
                </a:solidFill>
              </a:rPr>
              <a:t>Symptomatologie :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dyspnée laryngée avec tous les caractères décrits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toux aboyeuse, mais la voix est normale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état général est altéré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l’enfant est fiévreux, agité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Char char="▪"/>
            </a:pPr>
            <a:r>
              <a:rPr lang="fr-FR" sz="1800"/>
              <a:t>Laryngoscopie : l’œdème inflammatoire dans la région sous-glottique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b="1" i="1" lang="fr-FR" sz="1800">
                <a:solidFill>
                  <a:srgbClr val="FFC000"/>
                </a:solidFill>
              </a:rPr>
              <a:t>Traitement :</a:t>
            </a:r>
            <a:endParaRPr sz="1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i="1" lang="fr-FR" sz="1800">
                <a:solidFill>
                  <a:srgbClr val="FFC000"/>
                </a:solidFill>
              </a:rPr>
              <a:t>Hygiénique - diététique</a:t>
            </a:r>
            <a:r>
              <a:rPr i="1" lang="fr-FR" sz="1800"/>
              <a:t> </a:t>
            </a:r>
            <a:r>
              <a:rPr lang="fr-FR" sz="1800"/>
              <a:t>: voir la laryngite aiguë catarrhale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i="1" lang="fr-FR" sz="1800">
                <a:solidFill>
                  <a:srgbClr val="FFC000"/>
                </a:solidFill>
              </a:rPr>
              <a:t>Général </a:t>
            </a:r>
            <a:r>
              <a:rPr lang="fr-FR" sz="1800"/>
              <a:t>: - hémisuccinate d’hydrocortisone = 1 mg / kg de poids corporel / 24 heures 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           - antibiotiques injectables 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i="1" lang="fr-FR" sz="1800">
                <a:solidFill>
                  <a:srgbClr val="FFC000"/>
                </a:solidFill>
              </a:rPr>
              <a:t>  Local </a:t>
            </a:r>
            <a:r>
              <a:rPr lang="fr-FR" sz="1800">
                <a:solidFill>
                  <a:srgbClr val="FFC000"/>
                </a:solidFill>
              </a:rPr>
              <a:t>: </a:t>
            </a:r>
            <a:r>
              <a:rPr lang="fr-FR" sz="1800"/>
              <a:t>- pulvérisations et aérosols d’éphédrine  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          - intubation nasotrachéale  </a:t>
            </a:r>
            <a:endParaRPr sz="18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710"/>
              <a:buNone/>
            </a:pPr>
            <a:r>
              <a:rPr lang="fr-FR" sz="1800"/>
              <a:t>                  - la trachéotomie</a:t>
            </a:r>
            <a:endParaRPr sz="1800"/>
          </a:p>
        </p:txBody>
      </p:sp>
      <p:pic>
        <p:nvPicPr>
          <p:cNvPr id="341" name="Google Shape;3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4625" y="1295400"/>
            <a:ext cx="2466975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4648200"/>
            <a:ext cx="20574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9"/>
          <p:cNvSpPr txBox="1"/>
          <p:nvPr>
            <p:ph type="title"/>
          </p:nvPr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7D6FF"/>
              </a:buClr>
              <a:buSzPts val="3200"/>
              <a:buFont typeface="Corbel"/>
              <a:buNone/>
            </a:pPr>
            <a:r>
              <a:rPr b="1" lang="fr-FR" sz="3200">
                <a:solidFill>
                  <a:srgbClr val="A7D6FF"/>
                </a:solidFill>
                <a:latin typeface="Corbel"/>
                <a:ea typeface="Corbel"/>
                <a:cs typeface="Corbel"/>
                <a:sym typeface="Corbel"/>
              </a:rPr>
              <a:t>Laryngites aiguës non spécifiques de l’enfant</a:t>
            </a:r>
            <a:r>
              <a:rPr b="1" lang="fr-FR"/>
              <a:t> </a:t>
            </a:r>
            <a:endParaRPr/>
          </a:p>
        </p:txBody>
      </p:sp>
      <p:sp>
        <p:nvSpPr>
          <p:cNvPr id="348" name="Google Shape;348;p29"/>
          <p:cNvSpPr txBox="1"/>
          <p:nvPr>
            <p:ph idx="1" type="body"/>
          </p:nvPr>
        </p:nvSpPr>
        <p:spPr>
          <a:xfrm>
            <a:off x="457200" y="838200"/>
            <a:ext cx="65532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 sz="4400"/>
              <a:t> </a:t>
            </a:r>
            <a:r>
              <a:rPr b="1" lang="fr-FR" sz="4400">
                <a:solidFill>
                  <a:srgbClr val="FFC000"/>
                </a:solidFill>
              </a:rPr>
              <a:t>Laryngite aiguë striduleuse :</a:t>
            </a:r>
            <a:endParaRPr sz="4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inflammation de la muqueuse laryngée a qui s’ajoute le spasme glottique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Étiologie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inflammation rhino-adenoïdienne aiguë  de l’enfant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des sécrétions muco-purulentes qui s’écoulent pendant la nuit dans le larynx, provoquant une irritation et l’apparition d’un spasme glottique.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Symptomatologie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dramatique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pendant la nuit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dyspnée intense, de type laryngé, caractéristique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le spam cesse et la respiration se normalise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Le diagnostic est généralement établi par l’anamnèse.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Traitement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traitement des infections nasales, sinusales, adénoïdiennes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correction des problèmes liés de terrain.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2979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id="349" name="Google Shape;34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38975" y="1524000"/>
            <a:ext cx="2105025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0400" y="4495800"/>
            <a:ext cx="2133600" cy="213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0"/>
          <p:cNvSpPr txBox="1"/>
          <p:nvPr>
            <p:ph type="title"/>
          </p:nvPr>
        </p:nvSpPr>
        <p:spPr>
          <a:xfrm>
            <a:off x="381000" y="228600"/>
            <a:ext cx="8305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LARYNGITES AIGUËS SPÉCIFIQUES</a:t>
            </a:r>
            <a:br>
              <a:rPr lang="fr-FR"/>
            </a:br>
            <a:endParaRPr/>
          </a:p>
        </p:txBody>
      </p:sp>
      <p:sp>
        <p:nvSpPr>
          <p:cNvPr id="356" name="Google Shape;356;p30"/>
          <p:cNvSpPr txBox="1"/>
          <p:nvPr>
            <p:ph idx="1" type="body"/>
          </p:nvPr>
        </p:nvSpPr>
        <p:spPr>
          <a:xfrm>
            <a:off x="533400" y="1219200"/>
            <a:ext cx="81534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r>
              <a:rPr b="1" lang="fr-FR">
                <a:solidFill>
                  <a:srgbClr val="FFC000"/>
                </a:solidFill>
              </a:rPr>
              <a:t> La laryngite aiguë grippale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À la symptomatologie de la grippe s’ajoute celle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d’une laryngite aiguë œdémateuse: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               sous-glottique - à l’enfant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                catarrhale - pour adultes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C:\Users\Alex\Desktop\Prezentare_Conf\New folder\laringita_virala.jpg" id="357" name="Google Shape;35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4700" y="4419600"/>
            <a:ext cx="28575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Prezentare_Conf\New folder\laringita_virala1.jpg" id="358" name="Google Shape;35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400" y="4419600"/>
            <a:ext cx="28194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4343400"/>
            <a:ext cx="2667000" cy="22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1"/>
          <p:cNvSpPr txBox="1"/>
          <p:nvPr>
            <p:ph idx="1" type="body"/>
          </p:nvPr>
        </p:nvSpPr>
        <p:spPr>
          <a:xfrm>
            <a:off x="457200" y="1106450"/>
            <a:ext cx="8686800" cy="52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La laryngite aiguë de la varicelle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✔"/>
            </a:pPr>
            <a:r>
              <a:rPr lang="fr-FR" sz="2400"/>
              <a:t> des vésicules au niveau de la muqueuse laryngée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✔"/>
            </a:pPr>
            <a:r>
              <a:rPr lang="fr-FR" sz="2400"/>
              <a:t> des ulcérations superficielles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Font typeface="Noto Sans Symbols"/>
              <a:buChar char="✔"/>
            </a:pPr>
            <a:r>
              <a:rPr lang="fr-FR" sz="2400"/>
              <a:t>de fausses membranes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Le même problème se produit dans -l’herpès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                                                                          - le zona  Zostère</a:t>
            </a:r>
            <a:endParaRPr sz="2400"/>
          </a:p>
        </p:txBody>
      </p:sp>
      <p:sp>
        <p:nvSpPr>
          <p:cNvPr id="365" name="Google Shape;365;p31"/>
          <p:cNvSpPr txBox="1"/>
          <p:nvPr>
            <p:ph type="title"/>
          </p:nvPr>
        </p:nvSpPr>
        <p:spPr>
          <a:xfrm>
            <a:off x="457200" y="3048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LARYNGITES AIGUËS SPÉCIFIQUES</a:t>
            </a:r>
            <a:br>
              <a:rPr lang="fr-FR"/>
            </a:br>
            <a:endParaRPr/>
          </a:p>
        </p:txBody>
      </p:sp>
      <p:pic>
        <p:nvPicPr>
          <p:cNvPr id="366" name="Google Shape;36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4572000"/>
            <a:ext cx="281940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4572000"/>
            <a:ext cx="2667000" cy="213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76600" y="4572000"/>
            <a:ext cx="26670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2"/>
          <p:cNvSpPr txBox="1"/>
          <p:nvPr>
            <p:ph idx="1" type="body"/>
          </p:nvPr>
        </p:nvSpPr>
        <p:spPr>
          <a:xfrm>
            <a:off x="381000" y="1447800"/>
            <a:ext cx="8305800" cy="490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 </a:t>
            </a:r>
            <a:r>
              <a:rPr b="1" lang="fr-FR">
                <a:solidFill>
                  <a:srgbClr val="FFC000"/>
                </a:solidFill>
              </a:rPr>
              <a:t>Laryngite aiguë diphtérique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Grâce à la vaccination, elle apparaît exceptionnelle, la lésion caractéristique étant le croup diphtérique.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sp>
        <p:nvSpPr>
          <p:cNvPr id="374" name="Google Shape;374;p32"/>
          <p:cNvSpPr txBox="1"/>
          <p:nvPr>
            <p:ph type="title"/>
          </p:nvPr>
        </p:nvSpPr>
        <p:spPr>
          <a:xfrm>
            <a:off x="533400" y="0"/>
            <a:ext cx="8153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br>
              <a:rPr b="1" lang="fr-FR" sz="3600">
                <a:latin typeface="Corbel"/>
                <a:ea typeface="Corbel"/>
                <a:cs typeface="Corbel"/>
                <a:sym typeface="Corbel"/>
              </a:rPr>
            </a:b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LARYNGITES AIGUËS SPÉCIFIQUES</a:t>
            </a:r>
            <a:br>
              <a:rPr lang="fr-FR"/>
            </a:br>
            <a:endParaRPr/>
          </a:p>
        </p:txBody>
      </p:sp>
      <p:pic>
        <p:nvPicPr>
          <p:cNvPr id="375" name="Google Shape;37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3657600"/>
            <a:ext cx="25146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10000" y="3657600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05600" y="3505200"/>
            <a:ext cx="2057400" cy="2722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LES LARYNGITES CHRONIQUES</a:t>
            </a:r>
            <a:br>
              <a:rPr lang="fr-FR"/>
            </a:br>
            <a:endParaRPr/>
          </a:p>
        </p:txBody>
      </p:sp>
      <p:sp>
        <p:nvSpPr>
          <p:cNvPr id="383" name="Google Shape;383;p33"/>
          <p:cNvSpPr txBox="1"/>
          <p:nvPr>
            <p:ph idx="1" type="body"/>
          </p:nvPr>
        </p:nvSpPr>
        <p:spPr>
          <a:xfrm>
            <a:off x="609600" y="1066800"/>
            <a:ext cx="8229600" cy="6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b="1" i="1" lang="fr-FR" sz="2200">
                <a:solidFill>
                  <a:srgbClr val="FFC000"/>
                </a:solidFill>
              </a:rPr>
              <a:t>Laryngites Chroniques Non Spécifique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t/>
            </a:r>
            <a:endParaRPr b="1" i="1" sz="2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i="1" lang="fr-FR" sz="2200"/>
              <a:t>     </a:t>
            </a:r>
            <a:r>
              <a:rPr lang="fr-FR" sz="2200"/>
              <a:t>Formes 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lang="fr-FR" sz="2200"/>
              <a:t>                     a.  laryngite chronique catarrhale 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lang="fr-FR" sz="2200"/>
              <a:t>                     b. laryngite chronique hypertrophique 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lang="fr-FR" sz="2200"/>
              <a:t>                     c. laryngite chronique atrophique</a:t>
            </a:r>
            <a:endParaRPr/>
          </a:p>
          <a:p>
            <a:pPr indent="-457200" lvl="0" marL="5257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t/>
            </a:r>
            <a:endParaRPr i="1"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b="1" i="1" lang="fr-FR" sz="2200">
                <a:solidFill>
                  <a:srgbClr val="FFC000"/>
                </a:solidFill>
              </a:rPr>
              <a:t>Laryngites Chroniques Spécifiques</a:t>
            </a:r>
            <a:endParaRPr b="1" sz="480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4"/>
          <p:cNvSpPr txBox="1"/>
          <p:nvPr>
            <p:ph type="title"/>
          </p:nvPr>
        </p:nvSpPr>
        <p:spPr>
          <a:xfrm>
            <a:off x="457200" y="304800"/>
            <a:ext cx="8686800" cy="112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LARYNGITES CHRONIQUES NON SPÉCIFIQUES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89" name="Google Shape;389;p34"/>
          <p:cNvSpPr txBox="1"/>
          <p:nvPr>
            <p:ph idx="1" type="body"/>
          </p:nvPr>
        </p:nvSpPr>
        <p:spPr>
          <a:xfrm>
            <a:off x="609600" y="1371600"/>
            <a:ext cx="8534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 inflammatoires chroniques non spécifiques, de la muqueuse du larynx.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200"/>
              <a:t>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4200">
                <a:solidFill>
                  <a:srgbClr val="FFC000"/>
                </a:solidFill>
              </a:rPr>
              <a:t>Étiopathogénie :</a:t>
            </a:r>
            <a:endParaRPr sz="4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La maladie survient principalement chez les hommes adultes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Les facteurs prédisposants 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    - le tabagisme </a:t>
            </a:r>
            <a:br>
              <a:rPr lang="fr-FR" sz="3200"/>
            </a:br>
            <a:r>
              <a:rPr lang="fr-FR" sz="3200"/>
              <a:t>- la consommation d’alcool </a:t>
            </a:r>
            <a:br>
              <a:rPr lang="fr-FR" sz="3200"/>
            </a:br>
            <a:r>
              <a:rPr lang="fr-FR" sz="3200"/>
              <a:t>- alimentation : - aliments et / ou boissons froides </a:t>
            </a:r>
            <a:br>
              <a:rPr lang="fr-FR" sz="3200"/>
            </a:br>
            <a:r>
              <a:rPr lang="fr-FR" sz="3200"/>
              <a:t>- épices </a:t>
            </a:r>
            <a:br>
              <a:rPr lang="fr-FR" sz="3200"/>
            </a:br>
            <a:r>
              <a:rPr lang="fr-FR" sz="3200"/>
              <a:t>- boissons siphonnées </a:t>
            </a:r>
            <a:br>
              <a:rPr lang="fr-FR" sz="3200"/>
            </a:br>
            <a:r>
              <a:rPr lang="fr-FR" sz="3200"/>
              <a:t>- insuffisance respiratoire nasale avec de respiration orale </a:t>
            </a:r>
            <a:br>
              <a:rPr lang="fr-FR" sz="3200"/>
            </a:br>
            <a:r>
              <a:rPr lang="fr-FR" sz="3200"/>
              <a:t>- rhinites chroniques /sinusites chroniques / adénoïdites chroniques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Les facteurs climatiques : - froid excessif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                                                  - chaleur sèche (chauffage central) </a:t>
            </a:r>
            <a:br>
              <a:rPr lang="fr-FR" sz="3200"/>
            </a:br>
            <a:r>
              <a:rPr lang="fr-FR" sz="3200"/>
              <a:t>                                              - nuisances professionnelles </a:t>
            </a:r>
            <a:br>
              <a:rPr lang="fr-FR" sz="3200"/>
            </a:br>
            <a:r>
              <a:rPr lang="fr-FR" sz="3200"/>
              <a:t>                                              - le mal ménage vocal - professionnels vocales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Les facteurs endogènes - rénales, hépatiques.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Les facteurs étiologiques agissent sur la muqueuse laryngienne provoquant des changements sur l’épithélium (hyperplasie)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         le chorion (infiltration œdémateuse et inflammatoire)</a:t>
            </a:r>
            <a:br>
              <a:rPr lang="fr-FR" sz="3200"/>
            </a:br>
            <a:r>
              <a:rPr lang="fr-FR" sz="2400"/>
              <a:t>.</a:t>
            </a:r>
            <a:endParaRPr sz="2400"/>
          </a:p>
          <a:p>
            <a:pPr indent="-256936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5"/>
          <p:cNvSpPr txBox="1"/>
          <p:nvPr>
            <p:ph type="title"/>
          </p:nvPr>
        </p:nvSpPr>
        <p:spPr>
          <a:xfrm>
            <a:off x="457200" y="304800"/>
            <a:ext cx="8229600" cy="112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LES LARYNGITES CHRONIQUES NON SPÉCIFIQUES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95" name="Google Shape;395;p35"/>
          <p:cNvSpPr txBox="1"/>
          <p:nvPr>
            <p:ph idx="1" type="body"/>
          </p:nvPr>
        </p:nvSpPr>
        <p:spPr>
          <a:xfrm>
            <a:off x="381000" y="1447800"/>
            <a:ext cx="8534400" cy="490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Symptomatologie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Subjectif </a:t>
            </a:r>
            <a:r>
              <a:rPr lang="fr-FR"/>
              <a:t>- la dysphonie est le principal symptôme qui est persistant, avec des alternances moins progressistes = &gt; aggravation – amélioration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- toux irritante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- hemage- „le nettoyage de la gorge"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- phono-asthènie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- brûlures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- sécheresse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r>
              <a:rPr i="1" lang="fr-FR"/>
              <a:t>Objectif</a:t>
            </a:r>
            <a:r>
              <a:rPr lang="fr-FR"/>
              <a:t> - laryngoscopie souligne les aspects (images) diffèrent en fonction de la forme clinique</a:t>
            </a:r>
            <a:endParaRPr/>
          </a:p>
          <a:p>
            <a:pPr indent="-17549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6"/>
          <p:cNvSpPr txBox="1"/>
          <p:nvPr>
            <p:ph type="title"/>
          </p:nvPr>
        </p:nvSpPr>
        <p:spPr>
          <a:xfrm>
            <a:off x="457200" y="3048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 </a:t>
            </a: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La laryngite chronique catarrhale</a:t>
            </a:r>
            <a:br>
              <a:rPr lang="fr-FR"/>
            </a:br>
            <a:endParaRPr/>
          </a:p>
        </p:txBody>
      </p:sp>
      <p:sp>
        <p:nvSpPr>
          <p:cNvPr id="401" name="Google Shape;401;p36"/>
          <p:cNvSpPr txBox="1"/>
          <p:nvPr>
            <p:ph idx="1" type="body"/>
          </p:nvPr>
        </p:nvSpPr>
        <p:spPr>
          <a:xfrm>
            <a:off x="685800" y="1219200"/>
            <a:ext cx="8001000" cy="5136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Le processus inflammatoire ne comprend que la couche muqueuse sans œdème du chorion.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Laryngoscopie 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la congestion de la muqueuse diffuse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cordes vocales rosées, mates, congestionné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C:\Users\Alex\Pictures\laringita_difuza.jpg.png" id="402" name="Google Shape;40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191000"/>
            <a:ext cx="2819400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0200" y="4191000"/>
            <a:ext cx="2819400" cy="219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7"/>
          <p:cNvSpPr txBox="1"/>
          <p:nvPr>
            <p:ph type="title"/>
          </p:nvPr>
        </p:nvSpPr>
        <p:spPr>
          <a:xfrm>
            <a:off x="609600" y="228600"/>
            <a:ext cx="8077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La laryngite chronique hypertrophique</a:t>
            </a:r>
            <a:br>
              <a:rPr lang="fr-FR"/>
            </a:br>
            <a:endParaRPr/>
          </a:p>
        </p:txBody>
      </p:sp>
      <p:sp>
        <p:nvSpPr>
          <p:cNvPr id="409" name="Google Shape;409;p37"/>
          <p:cNvSpPr txBox="1"/>
          <p:nvPr>
            <p:ph idx="1" type="body"/>
          </p:nvPr>
        </p:nvSpPr>
        <p:spPr>
          <a:xfrm>
            <a:off x="457200" y="9906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 </a:t>
            </a:r>
            <a:r>
              <a:rPr b="1" lang="fr-FR">
                <a:solidFill>
                  <a:srgbClr val="FFC000"/>
                </a:solidFill>
              </a:rPr>
              <a:t>La laryngite hypertrophique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b="1" lang="fr-FR">
                <a:solidFill>
                  <a:srgbClr val="FFC000"/>
                </a:solidFill>
              </a:rPr>
              <a:t>rouge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                                         (pachydermie rouge) 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muqueuse laryngée: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        diffuse congestionnée,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        rouge, gonflées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        sans des lésions d’hyperkératose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	</a:t>
            </a:r>
            <a:endParaRPr/>
          </a:p>
        </p:txBody>
      </p:sp>
      <p:pic>
        <p:nvPicPr>
          <p:cNvPr descr="C:\Users\Alex\Pictures\New folder\pahidermia.jpg" id="410" name="Google Shape;41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648200"/>
            <a:ext cx="25146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Pictures\New folder\pahidermia_interaritenoidiana.jpg" id="411" name="Google Shape;41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3800" y="4648200"/>
            <a:ext cx="2525486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Pictures\New folder\pahidermie_interaritenoidiana.jpg" id="412" name="Google Shape;41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4648200"/>
            <a:ext cx="2391784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8"/>
          <p:cNvSpPr txBox="1"/>
          <p:nvPr>
            <p:ph type="title"/>
          </p:nvPr>
        </p:nvSpPr>
        <p:spPr>
          <a:xfrm>
            <a:off x="381000" y="228600"/>
            <a:ext cx="87630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La laryngite chronique hypertrophique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18" name="Google Shape;418;p38"/>
          <p:cNvSpPr txBox="1"/>
          <p:nvPr>
            <p:ph idx="1" type="body"/>
          </p:nvPr>
        </p:nvSpPr>
        <p:spPr>
          <a:xfrm>
            <a:off x="533400" y="990600"/>
            <a:ext cx="8153400" cy="53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 La laryngite hypertrophique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b="1" lang="fr-FR">
                <a:solidFill>
                  <a:srgbClr val="FFC000"/>
                </a:solidFill>
              </a:rPr>
              <a:t>blanche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b="1" lang="fr-FR">
                <a:solidFill>
                  <a:srgbClr val="FFC000"/>
                </a:solidFill>
              </a:rPr>
              <a:t>(la leucoplasie laryngée,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b="1" lang="fr-FR">
                <a:solidFill>
                  <a:srgbClr val="FFC000"/>
                </a:solidFill>
              </a:rPr>
              <a:t>pachydermie blanche</a:t>
            </a:r>
            <a:r>
              <a:rPr lang="fr-FR">
                <a:solidFill>
                  <a:srgbClr val="FFC000"/>
                </a:solidFill>
              </a:rPr>
              <a:t>)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 u="sng">
                <a:solidFill>
                  <a:srgbClr val="FFC000"/>
                </a:solidFill>
              </a:rPr>
              <a:t>La leucoplasie</a:t>
            </a:r>
            <a:r>
              <a:rPr lang="fr-FR" sz="2400">
                <a:solidFill>
                  <a:srgbClr val="FFC000"/>
                </a:solidFill>
              </a:rPr>
              <a:t> </a:t>
            </a:r>
            <a:r>
              <a:rPr lang="fr-FR" sz="2400"/>
              <a:t>– la zone blanchâtre, lisse, nacrée, situé sur la corde vocale généralement sur la moitié antérieure.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i="1" lang="fr-FR" sz="2400">
                <a:solidFill>
                  <a:srgbClr val="FFC000"/>
                </a:solidFill>
              </a:rPr>
              <a:t>Il s’agit d’un état ​​précancéreux ; des patients il faut qu’ils soient soignés attentivement !</a:t>
            </a:r>
            <a:endParaRPr sz="2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/>
              <a:t> </a:t>
            </a:r>
            <a:r>
              <a:rPr b="1" lang="fr-FR" sz="2400">
                <a:solidFill>
                  <a:srgbClr val="FFC000"/>
                </a:solidFill>
              </a:rPr>
              <a:t>Traitement :</a:t>
            </a:r>
            <a:endParaRPr sz="2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vise les facteurs irritatifs qui doivent être corrigés</a:t>
            </a:r>
            <a:endParaRPr sz="24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C:\Users\Alex\Pictures\leucoplazia.jpg.png" id="419" name="Google Shape;41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4572000"/>
            <a:ext cx="2438400" cy="21129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aringitacronicahiperplazica" id="420" name="Google Shape;420;p38"/>
          <p:cNvPicPr preferRelativeResize="0"/>
          <p:nvPr/>
        </p:nvPicPr>
        <p:blipFill rotWithShape="1">
          <a:blip r:embed="rId4">
            <a:alphaModFix/>
          </a:blip>
          <a:srcRect b="20000" l="20313" r="28124" t="13333"/>
          <a:stretch/>
        </p:blipFill>
        <p:spPr>
          <a:xfrm>
            <a:off x="3581400" y="4572000"/>
            <a:ext cx="2438400" cy="205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iperkeratozacomisuraant" id="421" name="Google Shape;421;p38"/>
          <p:cNvPicPr preferRelativeResize="0"/>
          <p:nvPr/>
        </p:nvPicPr>
        <p:blipFill rotWithShape="1">
          <a:blip r:embed="rId5">
            <a:alphaModFix/>
          </a:blip>
          <a:srcRect b="21568" l="28943" r="32851" t="21568"/>
          <a:stretch/>
        </p:blipFill>
        <p:spPr>
          <a:xfrm>
            <a:off x="6324599" y="4572000"/>
            <a:ext cx="2532185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9"/>
          <p:cNvSpPr txBox="1"/>
          <p:nvPr>
            <p:ph type="title"/>
          </p:nvPr>
        </p:nvSpPr>
        <p:spPr>
          <a:xfrm>
            <a:off x="457200" y="228600"/>
            <a:ext cx="86868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La laryngite chronique hypertrophique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7" name="Google Shape;427;p39"/>
          <p:cNvSpPr txBox="1"/>
          <p:nvPr>
            <p:ph idx="1" type="body"/>
          </p:nvPr>
        </p:nvSpPr>
        <p:spPr>
          <a:xfrm>
            <a:off x="381000" y="1143000"/>
            <a:ext cx="8763000" cy="5212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 </a:t>
            </a:r>
            <a:r>
              <a:rPr lang="fr-FR">
                <a:solidFill>
                  <a:srgbClr val="FFC000"/>
                </a:solidFill>
              </a:rPr>
              <a:t>La laryngite pseudo myxomateuse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dégénérescence de la muqueuse œdémateux et de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l’espace sous-muqueux au niveau des cordes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vocales, l’aspect de l’œdème gélatineux, qui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survient surtout chez les gros fumeurs.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C:\Users\Alex\Pictures\edem_Reinke.jpg.png" id="428" name="Google Shape;42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191000"/>
            <a:ext cx="2362564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Articol_B+\poze_B+\Edem_Reinke\Reinke's.jpg" id="429" name="Google Shape;42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5912" y="4214868"/>
            <a:ext cx="2501488" cy="21097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Pictures\New folder\edem_Reinke2.jpg" id="430" name="Google Shape;430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43600" y="4250592"/>
            <a:ext cx="2438400" cy="1997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0"/>
          <p:cNvSpPr txBox="1"/>
          <p:nvPr>
            <p:ph type="title"/>
          </p:nvPr>
        </p:nvSpPr>
        <p:spPr>
          <a:xfrm>
            <a:off x="609600" y="512064"/>
            <a:ext cx="807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La laryngite chronique atrophique</a:t>
            </a: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36" name="Google Shape;436;p40"/>
          <p:cNvSpPr txBox="1"/>
          <p:nvPr>
            <p:ph idx="1" type="body"/>
          </p:nvPr>
        </p:nvSpPr>
        <p:spPr>
          <a:xfrm>
            <a:off x="533400" y="1600200"/>
            <a:ext cx="7772400" cy="483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Se produit à la fois chez-les enfants (puberté)      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                                                -chez les adultes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une atrophie de la muqueuse laryngée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sécrétions muco-croûteuse adhérente</a:t>
            </a:r>
            <a:r>
              <a:rPr b="1"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C:\Users\Alex\Pictures\New folder\lar_atrofica.jpg" id="437" name="Google Shape;43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4114800"/>
            <a:ext cx="3048000" cy="2484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Pictures\New folder\lar_atrofica2.jpg" id="438" name="Google Shape;43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4114800"/>
            <a:ext cx="2846388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1"/>
          <p:cNvSpPr txBox="1"/>
          <p:nvPr>
            <p:ph type="title"/>
          </p:nvPr>
        </p:nvSpPr>
        <p:spPr>
          <a:xfrm>
            <a:off x="381000" y="304800"/>
            <a:ext cx="8763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 </a:t>
            </a: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LARYNGITES  CHRONIQUES  SPÉCIFIQUES</a:t>
            </a:r>
            <a:br>
              <a:rPr lang="fr-FR" sz="3600">
                <a:latin typeface="Corbel"/>
                <a:ea typeface="Corbel"/>
                <a:cs typeface="Corbel"/>
                <a:sym typeface="Corbel"/>
              </a:rPr>
            </a:b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44" name="Google Shape;444;p41"/>
          <p:cNvSpPr txBox="1"/>
          <p:nvPr>
            <p:ph idx="1" type="body"/>
          </p:nvPr>
        </p:nvSpPr>
        <p:spPr>
          <a:xfrm>
            <a:off x="381000" y="1295400"/>
            <a:ext cx="64770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 </a:t>
            </a:r>
            <a:r>
              <a:rPr b="1" lang="fr-FR">
                <a:solidFill>
                  <a:srgbClr val="FFC000"/>
                </a:solidFill>
              </a:rPr>
              <a:t>Laryngite chronique tuberculeuse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</a:t>
            </a:r>
            <a:r>
              <a:rPr lang="fr-FR" sz="2200"/>
              <a:t>secondaire à une tuberculose pulmonaire et augmente en fréquence.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</a:t>
            </a:r>
            <a:r>
              <a:rPr lang="fr-FR" sz="2800">
                <a:solidFill>
                  <a:srgbClr val="FFC000"/>
                </a:solidFill>
              </a:rPr>
              <a:t>Formes cliniques :</a:t>
            </a:r>
            <a:endParaRPr sz="2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Char char="▪"/>
            </a:pPr>
            <a:r>
              <a:rPr lang="fr-FR" sz="2200"/>
              <a:t>mono cordite bacillaire - inflammation d’une des cordes vocales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Char char="▪"/>
            </a:pPr>
            <a:r>
              <a:rPr lang="fr-FR" sz="2200"/>
              <a:t>en tant que pseudo-tumorale - la tuberculose 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Char char="▪"/>
            </a:pPr>
            <a:r>
              <a:rPr lang="fr-FR" sz="2200"/>
              <a:t>forme ulcéreuse-végétante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>
                <a:solidFill>
                  <a:srgbClr val="FFC000"/>
                </a:solidFill>
              </a:rPr>
              <a:t>Le diagnostic</a:t>
            </a:r>
            <a:r>
              <a:rPr lang="fr-FR" sz="2400">
                <a:solidFill>
                  <a:srgbClr val="FFC000"/>
                </a:solidFill>
              </a:rPr>
              <a:t> est fait par la biopsie du larynx et par examen radiologique pulmonaire.</a:t>
            </a:r>
            <a:endParaRPr sz="24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b="1" lang="fr-FR" sz="2400">
                <a:solidFill>
                  <a:srgbClr val="FFC000"/>
                </a:solidFill>
              </a:rPr>
              <a:t>Le traitement</a:t>
            </a:r>
            <a:r>
              <a:rPr lang="fr-FR" sz="2400"/>
              <a:t> est phtisiologue.</a:t>
            </a:r>
            <a:endParaRPr sz="24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tbc" id="445" name="Google Shape;445;p41"/>
          <p:cNvPicPr preferRelativeResize="0"/>
          <p:nvPr/>
        </p:nvPicPr>
        <p:blipFill rotWithShape="1">
          <a:blip r:embed="rId3">
            <a:alphaModFix/>
          </a:blip>
          <a:srcRect b="25307" l="17188" r="21875" t="7863"/>
          <a:stretch/>
        </p:blipFill>
        <p:spPr>
          <a:xfrm>
            <a:off x="6781800" y="1146175"/>
            <a:ext cx="2133600" cy="1628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b1" id="446" name="Google Shape;44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4968875"/>
            <a:ext cx="2057400" cy="1803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0" y="3011542"/>
            <a:ext cx="2057400" cy="1789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2"/>
          <p:cNvSpPr txBox="1"/>
          <p:nvPr>
            <p:ph type="title"/>
          </p:nvPr>
        </p:nvSpPr>
        <p:spPr>
          <a:xfrm>
            <a:off x="457200" y="152400"/>
            <a:ext cx="8686800" cy="12740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LARYNGITES  CHRONIQUES  SPÉCIFIQUES</a:t>
            </a:r>
            <a:br>
              <a:rPr lang="fr-FR"/>
            </a:br>
            <a:endParaRPr/>
          </a:p>
        </p:txBody>
      </p:sp>
      <p:sp>
        <p:nvSpPr>
          <p:cNvPr id="453" name="Google Shape;453;p42"/>
          <p:cNvSpPr txBox="1"/>
          <p:nvPr>
            <p:ph idx="1" type="body"/>
          </p:nvPr>
        </p:nvSpPr>
        <p:spPr>
          <a:xfrm>
            <a:off x="457200" y="990600"/>
            <a:ext cx="8686800" cy="5364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</a:t>
            </a:r>
            <a:r>
              <a:rPr b="1" lang="fr-FR">
                <a:solidFill>
                  <a:srgbClr val="FFC000"/>
                </a:solidFill>
              </a:rPr>
              <a:t>Le sclérome laryngé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inflammation granulomateuse chronique,spécifique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280"/>
              <a:buNone/>
            </a:pPr>
            <a:r>
              <a:rPr lang="fr-FR" sz="2400"/>
              <a:t> située sous-glottique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>
                <a:solidFill>
                  <a:srgbClr val="FFC000"/>
                </a:solidFill>
              </a:rPr>
              <a:t>La syphilis laryngée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</a:t>
            </a:r>
            <a:r>
              <a:rPr lang="fr-FR" sz="2400"/>
              <a:t>apparaît exceptionnellement</a:t>
            </a:r>
            <a:endParaRPr sz="24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  <p:pic>
        <p:nvPicPr>
          <p:cNvPr descr="C:\Users\Alex\Pictures\sclerom.jpg" id="454" name="Google Shape;45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3662" y="3124200"/>
            <a:ext cx="2624138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33800" y="4191000"/>
            <a:ext cx="2605088" cy="2408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filis" id="456" name="Google Shape;456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4191000"/>
            <a:ext cx="2787650" cy="247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"/>
          <p:cNvSpPr txBox="1"/>
          <p:nvPr>
            <p:ph type="title"/>
          </p:nvPr>
        </p:nvSpPr>
        <p:spPr>
          <a:xfrm>
            <a:off x="381000" y="228600"/>
            <a:ext cx="90678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2400"/>
              <a:buFont typeface="Corbel"/>
              <a:buNone/>
            </a:pPr>
            <a:r>
              <a:rPr b="1" lang="fr-FR" sz="2400">
                <a:latin typeface="Corbel"/>
                <a:ea typeface="Corbel"/>
                <a:cs typeface="Corbel"/>
                <a:sym typeface="Corbel"/>
              </a:rPr>
              <a:t>MANIFESTATIONS  PHARYNGO - LARYNGÉE  </a:t>
            </a:r>
            <a:br>
              <a:rPr b="1" lang="fr-FR" sz="2400">
                <a:latin typeface="Corbel"/>
                <a:ea typeface="Corbel"/>
                <a:cs typeface="Corbel"/>
                <a:sym typeface="Corbel"/>
              </a:rPr>
            </a:br>
            <a:r>
              <a:rPr b="1" lang="fr-FR" sz="2400">
                <a:latin typeface="Corbel"/>
                <a:ea typeface="Corbel"/>
                <a:cs typeface="Corbel"/>
                <a:sym typeface="Corbel"/>
              </a:rPr>
              <a:t> LA  MALADIE  DE REFLUX  GASTRO-OESOPHAGIEN   - MRGO</a:t>
            </a:r>
            <a:br>
              <a:rPr lang="fr-FR" sz="2400">
                <a:latin typeface="Corbel"/>
                <a:ea typeface="Corbel"/>
                <a:cs typeface="Corbel"/>
                <a:sym typeface="Corbel"/>
              </a:rPr>
            </a:br>
            <a:endParaRPr sz="24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2" name="Google Shape;462;p43"/>
          <p:cNvSpPr txBox="1"/>
          <p:nvPr>
            <p:ph idx="1" type="body"/>
          </p:nvPr>
        </p:nvSpPr>
        <p:spPr>
          <a:xfrm>
            <a:off x="457200" y="1295400"/>
            <a:ext cx="86868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Font typeface="Corbel"/>
              <a:buChar char="-"/>
            </a:pPr>
            <a:r>
              <a:rPr lang="fr-FR"/>
              <a:t>le reflux gastro - œsophagien est la réfluation du suc gastrique dans l’œsophage en l’absence de régurgitation et des vomissements - RGO.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Corbel"/>
              <a:buChar char="-"/>
            </a:pPr>
            <a:r>
              <a:rPr lang="fr-FR"/>
              <a:t> est physiologiquement et devient pathologique lorsque les mécanismes anti-reflux sont débordés</a:t>
            </a:r>
            <a:br>
              <a:rPr lang="fr-FR"/>
            </a:br>
            <a:r>
              <a:rPr lang="fr-FR"/>
              <a:t>	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Symptomatologie</a:t>
            </a:r>
            <a:endParaRPr b="1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i="1" lang="fr-FR"/>
              <a:t> </a:t>
            </a:r>
            <a:r>
              <a:rPr lang="fr-FR"/>
              <a:t>œsophagienne - brûlures rétrosternales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extra-œsophagienne - pharyngée et laryngée produit reflux pharyngo-laryngée, dysphonie, plus marquée le matin ;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hémage – le nettoyage de la gorge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de sécrétion de mucus en excès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toux irritante , sentiment de nœud à la gorge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la dysphagie ,des paresthésies pharyngées.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Objectif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i="1" lang="fr-FR"/>
              <a:t> </a:t>
            </a:r>
            <a:r>
              <a:rPr lang="fr-FR"/>
              <a:t> érythème diffus de la muqueuse pharyngo-laryngée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 congestion - gonflement des aryténoïdes, de l’espace inter-aryténoïdien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 sécrétion muqueuse abondante, visqueux, collant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Noto Sans Symbols"/>
              <a:buChar char="✔"/>
            </a:pPr>
            <a:r>
              <a:rPr lang="fr-FR"/>
              <a:t>œdème diffus, des granulations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4"/>
          <p:cNvSpPr txBox="1"/>
          <p:nvPr>
            <p:ph type="title"/>
          </p:nvPr>
        </p:nvSpPr>
        <p:spPr>
          <a:xfrm>
            <a:off x="304800" y="2286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2400"/>
              <a:buFont typeface="Corbel"/>
              <a:buNone/>
            </a:pPr>
            <a:r>
              <a:rPr b="1" lang="fr-FR" sz="2400">
                <a:latin typeface="Corbel"/>
                <a:ea typeface="Corbel"/>
                <a:cs typeface="Corbel"/>
                <a:sym typeface="Corbel"/>
              </a:rPr>
              <a:t>MANIFESTATIONS  PHARYNGO - LARYNGÉE </a:t>
            </a:r>
            <a:br>
              <a:rPr b="1" lang="fr-FR" sz="2400">
                <a:latin typeface="Corbel"/>
                <a:ea typeface="Corbel"/>
                <a:cs typeface="Corbel"/>
                <a:sym typeface="Corbel"/>
              </a:rPr>
            </a:br>
            <a:r>
              <a:rPr b="1" lang="fr-FR" sz="2400">
                <a:latin typeface="Corbel"/>
                <a:ea typeface="Corbel"/>
                <a:cs typeface="Corbel"/>
                <a:sym typeface="Corbel"/>
              </a:rPr>
              <a:t>LA  MALADIE  DE  REFLUX  GASTRO-OESOPHAGIEN - MRGO</a:t>
            </a:r>
            <a:endParaRPr sz="24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68" name="Google Shape;468;p44"/>
          <p:cNvSpPr txBox="1"/>
          <p:nvPr>
            <p:ph idx="1" type="body"/>
          </p:nvPr>
        </p:nvSpPr>
        <p:spPr>
          <a:xfrm>
            <a:off x="457200" y="1371600"/>
            <a:ext cx="8991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090"/>
              <a:buNone/>
            </a:pPr>
            <a:r>
              <a:rPr b="1" lang="fr-FR" sz="2200">
                <a:solidFill>
                  <a:srgbClr val="FFC000"/>
                </a:solidFill>
              </a:rPr>
              <a:t>Traitement</a:t>
            </a:r>
            <a:endParaRPr b="1" sz="22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lang="fr-FR" sz="2200"/>
              <a:t>est-ce dans l’équipe avec un camarade gastro-entérologue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b="1" lang="fr-FR" sz="2200" u="sng">
                <a:solidFill>
                  <a:srgbClr val="FFC000"/>
                </a:solidFill>
              </a:rPr>
              <a:t>Traitement  hygiénique – diététique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✔"/>
            </a:pPr>
            <a:r>
              <a:rPr lang="fr-FR" sz="2200"/>
              <a:t> modification du comportement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✔"/>
            </a:pPr>
            <a:r>
              <a:rPr lang="fr-FR" sz="2200"/>
              <a:t> haussement de la tête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✔"/>
            </a:pPr>
            <a:r>
              <a:rPr lang="fr-FR" sz="2200"/>
              <a:t> éviter de fumer, les graisses, les épices, l’alcool, la caféine, les tomates, l’oignons, la menthe, le chocolat, boissons gazeuses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✔"/>
            </a:pPr>
            <a:r>
              <a:rPr lang="fr-FR" sz="2200"/>
              <a:t> réduire le poids – s’il est nécessaire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None/>
            </a:pPr>
            <a:r>
              <a:rPr b="1" lang="fr-FR" sz="2200" u="sng">
                <a:solidFill>
                  <a:srgbClr val="FFC000"/>
                </a:solidFill>
              </a:rPr>
              <a:t>Traitement  médical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✔"/>
            </a:pPr>
            <a:r>
              <a:rPr lang="fr-FR" sz="2200"/>
              <a:t>    antisécrétoire</a:t>
            </a:r>
            <a:endParaRPr sz="2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✔"/>
            </a:pPr>
            <a:r>
              <a:rPr lang="fr-FR" sz="2200"/>
              <a:t>pro cinétique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090"/>
              <a:buFont typeface="Noto Sans Symbols"/>
              <a:buChar char="✔"/>
            </a:pPr>
            <a:r>
              <a:rPr lang="fr-FR" sz="2200"/>
              <a:t> les antiacides</a:t>
            </a:r>
            <a:endParaRPr sz="2200"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5"/>
          <p:cNvSpPr txBox="1"/>
          <p:nvPr>
            <p:ph type="title"/>
          </p:nvPr>
        </p:nvSpPr>
        <p:spPr>
          <a:xfrm>
            <a:off x="609600" y="228600"/>
            <a:ext cx="8077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nsolas"/>
              <a:buNone/>
            </a:pPr>
            <a:r>
              <a:rPr b="1" lang="fr-FR" sz="3600"/>
              <a:t>LES TUMEURS BÉNIGNES</a:t>
            </a:r>
            <a:br>
              <a:rPr lang="fr-FR"/>
            </a:br>
            <a:endParaRPr/>
          </a:p>
        </p:txBody>
      </p:sp>
      <p:sp>
        <p:nvSpPr>
          <p:cNvPr id="474" name="Google Shape;474;p45"/>
          <p:cNvSpPr txBox="1"/>
          <p:nvPr>
            <p:ph idx="1" type="body"/>
          </p:nvPr>
        </p:nvSpPr>
        <p:spPr>
          <a:xfrm>
            <a:off x="685800" y="914400"/>
            <a:ext cx="8001000" cy="59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3200"/>
              <a:t>Classification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</a:t>
            </a:r>
            <a:r>
              <a:rPr i="1" lang="fr-FR" sz="3200">
                <a:solidFill>
                  <a:srgbClr val="FFC000"/>
                </a:solidFill>
              </a:rPr>
              <a:t>Tumeurs bénignes non spécifiques (commune)</a:t>
            </a:r>
            <a:r>
              <a:rPr lang="fr-FR" sz="3200"/>
              <a:t> 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3200"/>
              <a:t> </a:t>
            </a:r>
            <a:r>
              <a:rPr lang="fr-FR" sz="2600"/>
              <a:t>Les tumeurs kystiques :</a:t>
            </a:r>
            <a:endParaRPr sz="2600"/>
          </a:p>
          <a:p>
            <a:pPr indent="-285750" lvl="1" marL="740664" rtl="0" algn="l">
              <a:spcBef>
                <a:spcPts val="481"/>
              </a:spcBef>
              <a:spcAft>
                <a:spcPts val="0"/>
              </a:spcAft>
              <a:buSzPct val="90000"/>
              <a:buNone/>
            </a:pPr>
            <a:r>
              <a:rPr lang="fr-FR"/>
              <a:t> l’angiome </a:t>
            </a:r>
            <a:endParaRPr/>
          </a:p>
          <a:p>
            <a:pPr indent="-285750" lvl="1" marL="740664" rtl="0" algn="l">
              <a:spcBef>
                <a:spcPts val="481"/>
              </a:spcBef>
              <a:spcAft>
                <a:spcPts val="0"/>
              </a:spcAft>
              <a:buSzPct val="90000"/>
              <a:buNone/>
            </a:pPr>
            <a:r>
              <a:rPr lang="fr-FR"/>
              <a:t>le chondrome </a:t>
            </a:r>
            <a:endParaRPr/>
          </a:p>
          <a:p>
            <a:pPr indent="-285750" lvl="1" marL="740664" rtl="0" algn="l">
              <a:spcBef>
                <a:spcPts val="481"/>
              </a:spcBef>
              <a:spcAft>
                <a:spcPts val="0"/>
              </a:spcAft>
              <a:buSzPct val="90000"/>
              <a:buNone/>
            </a:pPr>
            <a:r>
              <a:rPr lang="fr-FR"/>
              <a:t> le lipome </a:t>
            </a:r>
            <a:endParaRPr/>
          </a:p>
          <a:p>
            <a:pPr indent="-285750" lvl="1" marL="740664" rtl="0" algn="l">
              <a:spcBef>
                <a:spcPts val="481"/>
              </a:spcBef>
              <a:spcAft>
                <a:spcPts val="0"/>
              </a:spcAft>
              <a:buSzPct val="90000"/>
              <a:buNone/>
            </a:pPr>
            <a:r>
              <a:rPr lang="fr-FR"/>
              <a:t> les fibromes </a:t>
            </a:r>
            <a:endParaRPr/>
          </a:p>
          <a:p>
            <a:pPr indent="-285750" lvl="1" marL="740664" rtl="0" algn="l">
              <a:spcBef>
                <a:spcPts val="481"/>
              </a:spcBef>
              <a:spcAft>
                <a:spcPts val="0"/>
              </a:spcAft>
              <a:buSzPct val="90000"/>
              <a:buNone/>
            </a:pPr>
            <a:r>
              <a:rPr lang="fr-FR"/>
              <a:t> le plasmocytome </a:t>
            </a:r>
            <a:endParaRPr/>
          </a:p>
          <a:p>
            <a:pPr indent="-285750" lvl="1" marL="740664" rtl="0" algn="l">
              <a:spcBef>
                <a:spcPts val="481"/>
              </a:spcBef>
              <a:spcAft>
                <a:spcPts val="0"/>
              </a:spcAft>
              <a:buSzPct val="90000"/>
              <a:buNone/>
            </a:pPr>
            <a:r>
              <a:rPr lang="fr-FR"/>
              <a:t>le pseudo-gliome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 sz="3200">
                <a:solidFill>
                  <a:srgbClr val="FFC000"/>
                </a:solidFill>
              </a:rPr>
              <a:t>Les tumeurs bénignes spécifiques (pseudo-tumeur)</a:t>
            </a:r>
            <a:r>
              <a:rPr lang="fr-FR" sz="3200"/>
              <a:t> </a:t>
            </a:r>
            <a:endParaRPr sz="32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600"/>
              <a:t>       nodules vocaux  </a:t>
            </a:r>
            <a:br>
              <a:rPr lang="fr-FR" sz="2600"/>
            </a:br>
            <a:r>
              <a:rPr lang="fr-FR" sz="2600"/>
              <a:t>  polype de la corde vocale </a:t>
            </a:r>
            <a:br>
              <a:rPr lang="fr-FR" sz="2600"/>
            </a:br>
            <a:r>
              <a:rPr lang="fr-FR" sz="2600"/>
              <a:t>  papillomatose laryngée </a:t>
            </a:r>
            <a:br>
              <a:rPr lang="fr-FR" sz="2600"/>
            </a:br>
            <a:r>
              <a:rPr lang="fr-FR" sz="2600"/>
              <a:t>  granulome post intubation</a:t>
            </a:r>
            <a:endParaRPr sz="26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6"/>
          <p:cNvSpPr txBox="1"/>
          <p:nvPr>
            <p:ph type="title"/>
          </p:nvPr>
        </p:nvSpPr>
        <p:spPr>
          <a:xfrm>
            <a:off x="533400" y="2286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7D6FF"/>
              </a:buClr>
              <a:buSzPts val="3600"/>
              <a:buFont typeface="Corbel"/>
              <a:buNone/>
            </a:pPr>
            <a:r>
              <a:rPr b="1" lang="fr-FR" sz="3600">
                <a:solidFill>
                  <a:srgbClr val="A7D6FF"/>
                </a:solidFill>
                <a:latin typeface="Corbel"/>
                <a:ea typeface="Corbel"/>
                <a:cs typeface="Corbel"/>
                <a:sym typeface="Corbel"/>
              </a:rPr>
              <a:t>Les nodules vocaux</a:t>
            </a:r>
            <a:endParaRPr sz="3600">
              <a:solidFill>
                <a:srgbClr val="A7D6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80" name="Google Shape;480;p46"/>
          <p:cNvSpPr txBox="1"/>
          <p:nvPr>
            <p:ph idx="1" type="body"/>
          </p:nvPr>
        </p:nvSpPr>
        <p:spPr>
          <a:xfrm>
            <a:off x="533400" y="990600"/>
            <a:ext cx="81534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 sz="5000"/>
              <a:t> </a:t>
            </a:r>
            <a:r>
              <a:rPr lang="fr-FR" sz="2300"/>
              <a:t> réaction tissulaire de type inflammatoire chronique et mécanique</a:t>
            </a:r>
            <a:endParaRPr sz="23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2300">
                <a:solidFill>
                  <a:srgbClr val="FFC000"/>
                </a:solidFill>
              </a:rPr>
              <a:t>Étiologie </a:t>
            </a:r>
            <a:endParaRPr/>
          </a:p>
          <a:p>
            <a:pPr indent="-34293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Corbel"/>
              <a:buChar char="-"/>
            </a:pPr>
            <a:r>
              <a:rPr lang="fr-FR" sz="1500"/>
              <a:t>les facteurs favorisants </a:t>
            </a:r>
            <a:endParaRPr/>
          </a:p>
          <a:p>
            <a:pPr indent="-34293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Corbel"/>
              <a:buChar char="-"/>
            </a:pPr>
            <a:r>
              <a:rPr lang="fr-FR" sz="1500"/>
              <a:t> le mal ménage vocal (généralement aux professionnels vocaux) </a:t>
            </a:r>
            <a:endParaRPr/>
          </a:p>
          <a:p>
            <a:pPr indent="-34293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Corbel"/>
              <a:buChar char="-"/>
            </a:pPr>
            <a:r>
              <a:rPr lang="fr-FR" sz="1500"/>
              <a:t> facteur hormonal (survient le plus souvent chez les femmes) </a:t>
            </a:r>
            <a:endParaRPr/>
          </a:p>
          <a:p>
            <a:pPr indent="-342930" lvl="0" marL="411480" rtl="0" algn="l">
              <a:spcBef>
                <a:spcPts val="700"/>
              </a:spcBef>
              <a:spcAft>
                <a:spcPts val="0"/>
              </a:spcAft>
              <a:buSzPct val="95000"/>
              <a:buFont typeface="Corbel"/>
              <a:buChar char="-"/>
            </a:pPr>
            <a:r>
              <a:rPr lang="fr-FR" sz="1500"/>
              <a:t> le tabagisme, la consommation d’alcool</a:t>
            </a:r>
            <a:endParaRPr sz="15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2300">
                <a:solidFill>
                  <a:srgbClr val="FFC000"/>
                </a:solidFill>
              </a:rPr>
              <a:t>Symptomatologie</a:t>
            </a:r>
            <a:r>
              <a:rPr b="1" lang="fr-FR" sz="2300">
                <a:solidFill>
                  <a:srgbClr val="FFC000"/>
                </a:solidFill>
              </a:rPr>
              <a:t>:</a:t>
            </a:r>
            <a:endParaRPr sz="2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2300"/>
              <a:t> </a:t>
            </a:r>
            <a:r>
              <a:rPr lang="fr-FR" sz="1900"/>
              <a:t>dysphonie est le symptôme dominant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900"/>
              <a:t> Laryngoscopie: deux petites bosses, blanchâtres, symétriques, situées sur le bord de chaque corde vocale, à l’union du tiers antérieur avec le tiers moyen des cordes vocales.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 sz="2300">
                <a:solidFill>
                  <a:srgbClr val="FFC000"/>
                </a:solidFill>
              </a:rPr>
              <a:t>Traitement :</a:t>
            </a:r>
            <a:endParaRPr sz="23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900"/>
              <a:t> l’élimination des facteurs prédisposants </a:t>
            </a:r>
            <a:endParaRPr sz="19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900"/>
              <a:t> de repos vocal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900"/>
              <a:t> traitement phoniatrie dans les cas persistants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 sz="1900"/>
              <a:t> le traitement chirurgical - lorsque le traitement conservateur est inefficace</a:t>
            </a:r>
            <a:endParaRPr sz="1900"/>
          </a:p>
          <a:p>
            <a:pPr indent="-214588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 sz="2300"/>
          </a:p>
        </p:txBody>
      </p:sp>
      <p:pic>
        <p:nvPicPr>
          <p:cNvPr descr="C:\Users\Alex\Desktop\59410_11266_4029.jpg" id="481" name="Google Shape;48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676400"/>
            <a:ext cx="22860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images (1).jpg" id="482" name="Google Shape;482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4495800"/>
            <a:ext cx="2286000" cy="17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7"/>
          <p:cNvSpPr txBox="1"/>
          <p:nvPr>
            <p:ph type="title"/>
          </p:nvPr>
        </p:nvSpPr>
        <p:spPr>
          <a:xfrm>
            <a:off x="457200" y="228600"/>
            <a:ext cx="8229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7D6FF"/>
              </a:buClr>
              <a:buSzPts val="3600"/>
              <a:buFont typeface="Corbel"/>
              <a:buNone/>
            </a:pPr>
            <a:r>
              <a:rPr b="1" lang="fr-FR" sz="3600">
                <a:solidFill>
                  <a:srgbClr val="A7D6FF"/>
                </a:solidFill>
                <a:latin typeface="Corbel"/>
                <a:ea typeface="Corbel"/>
                <a:cs typeface="Corbel"/>
                <a:sym typeface="Corbel"/>
              </a:rPr>
              <a:t>Polype de la corde vocale </a:t>
            </a:r>
            <a:r>
              <a:rPr lang="fr-FR" sz="3600">
                <a:solidFill>
                  <a:srgbClr val="A7D6FF"/>
                </a:solidFill>
                <a:latin typeface="Corbel"/>
                <a:ea typeface="Corbel"/>
                <a:cs typeface="Corbel"/>
                <a:sym typeface="Corbel"/>
              </a:rPr>
              <a:t> </a:t>
            </a:r>
            <a:br>
              <a:rPr lang="fr-FR" sz="3600">
                <a:solidFill>
                  <a:srgbClr val="A7D6FF"/>
                </a:solidFill>
                <a:latin typeface="Corbel"/>
                <a:ea typeface="Corbel"/>
                <a:cs typeface="Corbel"/>
                <a:sym typeface="Corbel"/>
              </a:rPr>
            </a:br>
            <a:endParaRPr sz="3600">
              <a:solidFill>
                <a:srgbClr val="A7D6FF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88" name="Google Shape;488;p47"/>
          <p:cNvSpPr txBox="1"/>
          <p:nvPr>
            <p:ph idx="1" type="body"/>
          </p:nvPr>
        </p:nvSpPr>
        <p:spPr>
          <a:xfrm>
            <a:off x="533400" y="914400"/>
            <a:ext cx="81534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 </a:t>
            </a:r>
            <a:r>
              <a:rPr lang="fr-FR" sz="2000"/>
              <a:t>une manifestation localisée de l’inflammation chronique de la muqueuse laryngée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i="1" lang="fr-FR" sz="2000">
                <a:solidFill>
                  <a:srgbClr val="FFC000"/>
                </a:solidFill>
              </a:rPr>
              <a:t>Étiopathogénie :</a:t>
            </a:r>
            <a:endParaRPr sz="2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mêmes qu’aux nodules vocaux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i="1" lang="fr-FR" sz="2000">
                <a:solidFill>
                  <a:srgbClr val="FFC000"/>
                </a:solidFill>
              </a:rPr>
              <a:t>Symptomatologie :</a:t>
            </a:r>
            <a:endParaRPr sz="2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dysphonie  persistante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des formations tumorales solitaires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     ovales ou rondes,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     pédiculés ou sessiles,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           la surface lisse, irrégulière/irrégulières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dans la moitié antérieure des cordes vocales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i="1" lang="fr-FR" sz="2000">
                <a:solidFill>
                  <a:srgbClr val="FFC000"/>
                </a:solidFill>
              </a:rPr>
              <a:t>Traitement :</a:t>
            </a:r>
            <a:endParaRPr sz="2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chirurgical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- extirpation à laryngoscopie suspendue 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 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b="1" lang="fr-FR"/>
              <a:t> </a:t>
            </a:r>
            <a:endParaRPr/>
          </a:p>
        </p:txBody>
      </p:sp>
      <p:pic>
        <p:nvPicPr>
          <p:cNvPr descr="C:\Users\Alex\Desktop\kyste_epiderm_cv.JPG" id="489" name="Google Shape;48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1371600"/>
            <a:ext cx="22098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descărcare.jpg" id="490" name="Google Shape;490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4114800"/>
            <a:ext cx="2257425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8"/>
          <p:cNvSpPr txBox="1"/>
          <p:nvPr>
            <p:ph type="title"/>
          </p:nvPr>
        </p:nvSpPr>
        <p:spPr>
          <a:xfrm>
            <a:off x="457200" y="3048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La papillomatose laryngée </a:t>
            </a:r>
            <a:br>
              <a:rPr lang="fr-FR" sz="3200"/>
            </a:br>
            <a:endParaRPr sz="3200"/>
          </a:p>
        </p:txBody>
      </p:sp>
      <p:sp>
        <p:nvSpPr>
          <p:cNvPr id="496" name="Google Shape;496;p48"/>
          <p:cNvSpPr txBox="1"/>
          <p:nvPr>
            <p:ph idx="1" type="body"/>
          </p:nvPr>
        </p:nvSpPr>
        <p:spPr>
          <a:xfrm>
            <a:off x="381000" y="1219200"/>
            <a:ext cx="6324600" cy="56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 tumeur bénigne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le caractère récidivant (aux enfants)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le risque de maligniser (aux adultes)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Symptomatologie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la dysphonie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aux enfants :la dyspnée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>
                <a:solidFill>
                  <a:srgbClr val="FFC000"/>
                </a:solidFill>
              </a:rPr>
              <a:t>Objectif</a:t>
            </a:r>
            <a:r>
              <a:rPr lang="fr-FR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formations tumorales müriforme, rougeâtres,disséminés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au niveau de la muqueuse laryngée à l’enfant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au niveau des cordes vocales à l’adulte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i="1" lang="fr-FR">
                <a:solidFill>
                  <a:srgbClr val="FFC000"/>
                </a:solidFill>
              </a:rPr>
              <a:t>Traitement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vaporisation de papillomes dans microlaryngoscopie directe suspendue, assistée laser CO2.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216217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13laryngealpapillomatosis.jpg" id="497" name="Google Shape;49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1035205"/>
            <a:ext cx="2667000" cy="23175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images (2).jpg" id="498" name="Google Shape;498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7400" y="3581400"/>
            <a:ext cx="2619375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9"/>
          <p:cNvSpPr txBox="1"/>
          <p:nvPr>
            <p:ph type="title"/>
          </p:nvPr>
        </p:nvSpPr>
        <p:spPr>
          <a:xfrm>
            <a:off x="609600" y="304800"/>
            <a:ext cx="8077200" cy="1121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Granulome postintubation</a:t>
            </a:r>
            <a:br>
              <a:rPr lang="fr-FR" sz="3600">
                <a:latin typeface="Corbel"/>
                <a:ea typeface="Corbel"/>
                <a:cs typeface="Corbel"/>
                <a:sym typeface="Corbel"/>
              </a:rPr>
            </a:b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4" name="Google Shape;504;p49"/>
          <p:cNvSpPr txBox="1"/>
          <p:nvPr>
            <p:ph idx="1" type="body"/>
          </p:nvPr>
        </p:nvSpPr>
        <p:spPr>
          <a:xfrm>
            <a:off x="457200" y="1295400"/>
            <a:ext cx="65532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 </a:t>
            </a:r>
            <a:r>
              <a:rPr lang="fr-FR" sz="2000"/>
              <a:t>l’intubation  trachéale prolonge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 souvent aux femmes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lang="fr-FR" sz="2000"/>
              <a:t>Le symptôme</a:t>
            </a:r>
            <a:r>
              <a:rPr lang="fr-FR" sz="2000"/>
              <a:t> </a:t>
            </a:r>
            <a:r>
              <a:rPr b="1" lang="fr-FR" sz="2000"/>
              <a:t>principal </a:t>
            </a:r>
            <a:r>
              <a:rPr lang="fr-FR" sz="2000"/>
              <a:t>et constant: </a:t>
            </a:r>
            <a:r>
              <a:rPr lang="fr-FR" sz="2000">
                <a:solidFill>
                  <a:srgbClr val="FFC000"/>
                </a:solidFill>
              </a:rPr>
              <a:t>la dysphonie</a:t>
            </a:r>
            <a:r>
              <a:rPr lang="fr-FR" sz="2000"/>
              <a:t>.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lang="fr-FR" sz="2000">
                <a:solidFill>
                  <a:srgbClr val="FFC000"/>
                </a:solidFill>
              </a:rPr>
              <a:t>Le diagnostic</a:t>
            </a:r>
            <a:r>
              <a:rPr lang="fr-FR" sz="2000">
                <a:solidFill>
                  <a:srgbClr val="FFC000"/>
                </a:solidFill>
              </a:rPr>
              <a:t> 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Intubation endotrachéale récente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>
                <a:solidFill>
                  <a:srgbClr val="FFC000"/>
                </a:solidFill>
              </a:rPr>
              <a:t>Objectif</a:t>
            </a:r>
            <a:r>
              <a:rPr lang="fr-FR" sz="2000"/>
              <a:t>:  granulome laryngé au niveau de l’aryténoïde, comme un grain de blé ou plus, avec la muqueuse de revêtement rougeâtre.</a:t>
            </a:r>
            <a:endParaRPr sz="2000"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b="1" lang="fr-FR" sz="2000">
                <a:solidFill>
                  <a:srgbClr val="FFC000"/>
                </a:solidFill>
              </a:rPr>
              <a:t>Traitement</a:t>
            </a:r>
            <a:endParaRPr sz="20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1900"/>
              <a:buNone/>
            </a:pPr>
            <a:r>
              <a:rPr lang="fr-FR" sz="2000"/>
              <a:t>L’excision du granulome par la microchirurgie laryngée</a:t>
            </a:r>
            <a:endParaRPr sz="2000"/>
          </a:p>
        </p:txBody>
      </p:sp>
      <p:pic>
        <p:nvPicPr>
          <p:cNvPr descr="C:\Users\Alex\Desktop\descărcare (1).jpg" id="505" name="Google Shape;50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24625" y="990600"/>
            <a:ext cx="2466975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Large-Granuloma-on-Posterior-Vocal-Fold.jpg" id="506" name="Google Shape;506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3657600"/>
            <a:ext cx="25908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0"/>
          <p:cNvSpPr txBox="1"/>
          <p:nvPr>
            <p:ph type="title"/>
          </p:nvPr>
        </p:nvSpPr>
        <p:spPr>
          <a:xfrm>
            <a:off x="533400" y="228600"/>
            <a:ext cx="815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LES KYSTES LARYNGES</a:t>
            </a:r>
            <a:br>
              <a:rPr lang="fr-FR" sz="3600">
                <a:latin typeface="Corbel"/>
                <a:ea typeface="Corbel"/>
                <a:cs typeface="Corbel"/>
                <a:sym typeface="Corbel"/>
              </a:rPr>
            </a:b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2" name="Google Shape;512;p50"/>
          <p:cNvSpPr txBox="1"/>
          <p:nvPr>
            <p:ph idx="1" type="body"/>
          </p:nvPr>
        </p:nvSpPr>
        <p:spPr>
          <a:xfrm>
            <a:off x="381000" y="990600"/>
            <a:ext cx="8763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congénitaux et acquises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sur les cordes vocales (55 %),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les bandes ventriculaires (25 %)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l’épiglotte (25 %).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Les kystes congénitaux</a:t>
            </a:r>
            <a:r>
              <a:rPr lang="fr-FR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rares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localisés aux bandes ventriculaires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plis ariépiglottiques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Les kystes de rétention</a:t>
            </a:r>
            <a:r>
              <a:rPr lang="fr-FR">
                <a:solidFill>
                  <a:srgbClr val="FFC000"/>
                </a:solidFill>
              </a:rPr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ont des origines dans l’obstruction des glandes salivaires séro-muqueuse.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Le diagnostic</a:t>
            </a:r>
            <a:r>
              <a:rPr lang="fr-FR">
                <a:solidFill>
                  <a:srgbClr val="FFC000"/>
                </a:solidFill>
              </a:rPr>
              <a:t> : </a:t>
            </a:r>
            <a:r>
              <a:rPr lang="fr-FR"/>
              <a:t>par laryngoscopie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Le traitement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l’excision de petits kystes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marsupialisation des ceux volumineux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216217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  <p:pic>
        <p:nvPicPr>
          <p:cNvPr descr="C:\Users\Alex\Desktop\descărcare (2).jpg" id="513" name="Google Shape;51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7000" y="457200"/>
            <a:ext cx="23622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lateral-saccular-cyst-1-crop-with-arrows-wm_.jpg" id="514" name="Google Shape;51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77000" y="2590800"/>
            <a:ext cx="2286000" cy="1824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lex\Desktop\laryngeal_cyst__1_1363995158045.jpg" id="515" name="Google Shape;515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77000" y="4972050"/>
            <a:ext cx="2514600" cy="188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51"/>
          <p:cNvSpPr txBox="1"/>
          <p:nvPr>
            <p:ph type="title"/>
          </p:nvPr>
        </p:nvSpPr>
        <p:spPr>
          <a:xfrm>
            <a:off x="457200" y="3048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600"/>
              <a:buFont typeface="Corbel"/>
              <a:buNone/>
            </a:pPr>
            <a:r>
              <a:rPr b="1" lang="fr-FR" sz="3600">
                <a:latin typeface="Corbel"/>
                <a:ea typeface="Corbel"/>
                <a:cs typeface="Corbel"/>
                <a:sym typeface="Corbel"/>
              </a:rPr>
              <a:t>LES  TROUBLES  MOTEURS  DU  LARYNX</a:t>
            </a:r>
            <a:br>
              <a:rPr lang="fr-FR" sz="3600">
                <a:latin typeface="Corbel"/>
                <a:ea typeface="Corbel"/>
                <a:cs typeface="Corbel"/>
                <a:sym typeface="Corbel"/>
              </a:rPr>
            </a:br>
            <a:endParaRPr sz="36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1" name="Google Shape;521;p51"/>
          <p:cNvSpPr txBox="1"/>
          <p:nvPr>
            <p:ph idx="1" type="body"/>
          </p:nvPr>
        </p:nvSpPr>
        <p:spPr>
          <a:xfrm>
            <a:off x="457200" y="990600"/>
            <a:ext cx="8686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lang="fr-FR"/>
              <a:t> les myopathies (myogène)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les neuropathique (neurogène)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PARÉSIES ET PARALYSIE MYOGÉNIQUES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dus aux lésions musculaires du larynx - et les muscles crico-thyroïdienne et inter-aryténoïdien.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Étiologie</a:t>
            </a:r>
            <a:r>
              <a:rPr lang="fr-FR"/>
              <a:t> - effort vocal excessif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- la laryngite aiguë.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La symptomatologie 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lang="fr-FR"/>
              <a:t>la dysphonie, l’insuffisance glottique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 sz="3800">
                <a:solidFill>
                  <a:srgbClr val="FFC000"/>
                </a:solidFill>
              </a:rPr>
              <a:t>PARÉSIES ET PARALYSIES NEUROGÈNES </a:t>
            </a:r>
            <a:endParaRPr sz="3800"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la diminution ou l’abolition de la motilité des cordes vocales produites par des lésions des voies nerveuses du larynx.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Classification :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</a:t>
            </a:r>
            <a:r>
              <a:rPr i="1" lang="fr-FR"/>
              <a:t>lésions simples</a:t>
            </a:r>
            <a:r>
              <a:rPr lang="fr-FR"/>
              <a:t> - seulement les voies motrices du larynx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</a:t>
            </a:r>
            <a:r>
              <a:rPr i="1" lang="fr-FR"/>
              <a:t>lésions associées</a:t>
            </a:r>
            <a:r>
              <a:rPr lang="fr-FR"/>
              <a:t> - et d’autres nerfs crâniens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</a:t>
            </a:r>
            <a:r>
              <a:rPr i="1" lang="fr-FR"/>
              <a:t>unilatérales</a:t>
            </a:r>
            <a:r>
              <a:rPr lang="fr-FR"/>
              <a:t> - incomplète ou totale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</a:t>
            </a:r>
            <a:r>
              <a:rPr i="1" lang="fr-FR"/>
              <a:t>bilatéral</a:t>
            </a:r>
            <a:r>
              <a:rPr lang="fr-FR"/>
              <a:t> - incomplète ou totale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i="1" lang="fr-FR"/>
              <a:t>-après la localisation des lésions </a:t>
            </a:r>
            <a:r>
              <a:rPr lang="fr-FR"/>
              <a:t>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- parésie d’origine corticale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                              bulbaire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                                  périphérique</a:t>
            </a:r>
            <a:endParaRPr/>
          </a:p>
          <a:p>
            <a:pPr indent="-243363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2"/>
          <p:cNvSpPr txBox="1"/>
          <p:nvPr>
            <p:ph type="title"/>
          </p:nvPr>
        </p:nvSpPr>
        <p:spPr>
          <a:xfrm>
            <a:off x="533400" y="228600"/>
            <a:ext cx="8610600" cy="119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PARALYSIES D’ORIGINE PÉRIPHÉRIQUE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r>
              <a:rPr lang="fr-FR" sz="3200">
                <a:latin typeface="Corbel"/>
                <a:ea typeface="Corbel"/>
                <a:cs typeface="Corbel"/>
                <a:sym typeface="Corbel"/>
              </a:rPr>
              <a:t> </a:t>
            </a:r>
            <a:br>
              <a:rPr lang="fr-FR"/>
            </a:br>
            <a:endParaRPr/>
          </a:p>
        </p:txBody>
      </p:sp>
      <p:sp>
        <p:nvSpPr>
          <p:cNvPr id="527" name="Google Shape;527;p52"/>
          <p:cNvSpPr txBox="1"/>
          <p:nvPr>
            <p:ph idx="1" type="body"/>
          </p:nvPr>
        </p:nvSpPr>
        <p:spPr>
          <a:xfrm>
            <a:off x="457200" y="838200"/>
            <a:ext cx="86868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Musculature laryngée est innervé par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>
                <a:solidFill>
                  <a:srgbClr val="FFC000"/>
                </a:solidFill>
              </a:rPr>
              <a:t>   - le nerf laryngé supérieur </a:t>
            </a:r>
            <a:r>
              <a:rPr lang="fr-FR"/>
              <a:t>- pour le muscle thyro-cricoïdien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</a:t>
            </a:r>
            <a:r>
              <a:rPr lang="fr-FR">
                <a:solidFill>
                  <a:srgbClr val="FFC000"/>
                </a:solidFill>
              </a:rPr>
              <a:t>- le nerf récurrent </a:t>
            </a:r>
            <a:r>
              <a:rPr lang="fr-FR"/>
              <a:t>- le reste des muscles du larynx -  est la branche du nerf vague qu’elle quitte au niveau du thorax différemment: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au niveau de la crosse de l’aorte à gauche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au niveau de l’artère sous-clavière vers la droite, puis vers le haut du larynx, étant situé entre l’œsophage et trachée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Étiologie </a:t>
            </a:r>
            <a:r>
              <a:rPr b="1" lang="fr-FR"/>
              <a:t>:</a:t>
            </a: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 les compressives – au niveau du médiastin – le récurrent gauche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des affections de l’œsophage / de la trachée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les maladies de la glande thyroïde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traumatisme – plaies	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- iatrogène - strumectomie.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3"/>
          <p:cNvSpPr txBox="1"/>
          <p:nvPr>
            <p:ph type="title"/>
          </p:nvPr>
        </p:nvSpPr>
        <p:spPr>
          <a:xfrm>
            <a:off x="381000" y="512064"/>
            <a:ext cx="830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LES PARALYSIES D’ORIGINE PÉRIPHÉRIQUE</a:t>
            </a: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3" name="Google Shape;533;p53"/>
          <p:cNvSpPr txBox="1"/>
          <p:nvPr>
            <p:ph idx="1" type="body"/>
          </p:nvPr>
        </p:nvSpPr>
        <p:spPr>
          <a:xfrm>
            <a:off x="533400" y="1143000"/>
            <a:ext cx="8153400" cy="55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La monoplégie récurrentièlle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dysphonie, voix bitonale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la corde vocale affectée est immobile dans la phonation, inégale avec l’autre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traitement  étiologique / phoniatrique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/>
              <a:t>	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b="1" lang="fr-FR">
                <a:solidFill>
                  <a:srgbClr val="FFC000"/>
                </a:solidFill>
              </a:rPr>
              <a:t>La diplégie</a:t>
            </a:r>
            <a:r>
              <a:rPr lang="fr-FR">
                <a:solidFill>
                  <a:srgbClr val="FFC000"/>
                </a:solidFill>
              </a:rPr>
              <a:t> </a:t>
            </a:r>
            <a:r>
              <a:rPr b="1" lang="fr-FR">
                <a:solidFill>
                  <a:srgbClr val="FFC000"/>
                </a:solidFill>
              </a:rPr>
              <a:t>récurrentièlle</a:t>
            </a:r>
            <a:endParaRPr>
              <a:solidFill>
                <a:srgbClr val="FFC000"/>
              </a:solidFill>
            </a:endParaRPr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</a:t>
            </a:r>
            <a:r>
              <a:rPr b="1" lang="fr-FR" u="sng"/>
              <a:t>Diplégie en adduction </a:t>
            </a:r>
            <a:r>
              <a:rPr lang="fr-FR"/>
              <a:t>- (syndrome Gerhardt) avec deux cordes rattachées à la ligne médiane -  dyspnée de type laryngée / voix normale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b="1" lang="fr-FR" u="sng"/>
              <a:t>Diplégie en abduction </a:t>
            </a:r>
            <a:r>
              <a:rPr lang="fr-FR"/>
              <a:t>-  respiration normale / phonation impossible. Le risque → aspirations alimentaires→ pneumonies secondaires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</a:t>
            </a:r>
            <a:r>
              <a:rPr b="1" lang="fr-FR" u="sng"/>
              <a:t>Diplégie dans la position intermédiair</a:t>
            </a:r>
            <a:r>
              <a:rPr lang="fr-FR"/>
              <a:t>e - rare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 </a:t>
            </a:r>
            <a:endParaRPr/>
          </a:p>
          <a:p>
            <a:pPr indent="-202644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4"/>
          <p:cNvSpPr txBox="1"/>
          <p:nvPr>
            <p:ph type="title"/>
          </p:nvPr>
        </p:nvSpPr>
        <p:spPr>
          <a:xfrm>
            <a:off x="609600" y="512064"/>
            <a:ext cx="8077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3200"/>
              <a:buFont typeface="Corbel"/>
              <a:buNone/>
            </a:pPr>
            <a:r>
              <a:rPr b="1" lang="fr-FR" sz="3200">
                <a:latin typeface="Corbel"/>
                <a:ea typeface="Corbel"/>
                <a:cs typeface="Corbel"/>
                <a:sym typeface="Corbel"/>
              </a:rPr>
              <a:t>PARALYSIES  LARYNGÉES  ASSOCIÉES</a:t>
            </a:r>
            <a:br>
              <a:rPr lang="fr-FR" sz="3200">
                <a:latin typeface="Corbel"/>
                <a:ea typeface="Corbel"/>
                <a:cs typeface="Corbel"/>
                <a:sym typeface="Corbel"/>
              </a:rPr>
            </a:br>
            <a:endParaRPr sz="3200"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9" name="Google Shape;539;p54"/>
          <p:cNvSpPr txBox="1"/>
          <p:nvPr>
            <p:ph idx="1" type="body"/>
          </p:nvPr>
        </p:nvSpPr>
        <p:spPr>
          <a:xfrm>
            <a:off x="914400" y="1447800"/>
            <a:ext cx="7772400" cy="490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fr-FR"/>
              <a:t>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 </a:t>
            </a:r>
            <a:r>
              <a:rPr b="1" lang="fr-FR" u="sng">
                <a:solidFill>
                  <a:srgbClr val="FFC000"/>
                </a:solidFill>
              </a:rPr>
              <a:t>paralysies laryngées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rPr lang="fr-FR"/>
              <a:t>associées à la paralysie d’autres nerfs crâniens : IX, X, XI, XII en diverses associations.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  <a:p>
            <a:pPr indent="-161925" lvl="0" marL="411480" rtl="0" algn="l">
              <a:spcBef>
                <a:spcPts val="700"/>
              </a:spcBef>
              <a:spcAft>
                <a:spcPts val="0"/>
              </a:spcAft>
              <a:buSzPts val="285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5"/>
          <p:cNvSpPr txBox="1"/>
          <p:nvPr>
            <p:ph type="title"/>
          </p:nvPr>
        </p:nvSpPr>
        <p:spPr>
          <a:xfrm>
            <a:off x="914400" y="512064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b="1" lang="fr-FR"/>
              <a:t>RETENIR !</a:t>
            </a:r>
            <a:br>
              <a:rPr lang="fr-FR"/>
            </a:br>
            <a:endParaRPr/>
          </a:p>
        </p:txBody>
      </p:sp>
      <p:sp>
        <p:nvSpPr>
          <p:cNvPr id="545" name="Google Shape;545;p55"/>
          <p:cNvSpPr txBox="1"/>
          <p:nvPr>
            <p:ph idx="1" type="body"/>
          </p:nvPr>
        </p:nvSpPr>
        <p:spPr>
          <a:xfrm>
            <a:off x="533400" y="1143000"/>
            <a:ext cx="8610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411480" rtl="0" algn="l">
              <a:spcBef>
                <a:spcPts val="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La reconnaissance rapide et précise de l’insuffisance respiratoire obstructive supérieure (IROS) ou du syndrome de dyspnée laryngée 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Char char="▪"/>
            </a:pPr>
            <a:r>
              <a:rPr lang="fr-FR"/>
              <a:t> La connaissance exacte de l’attitude correcte dans le traitement IROS, de préférence on va envoyer rapidement le patient →l’hôpital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- la libération et la sécurisation des voies respiratoires par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- la libération du pharynx - tuyau Guedel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- la manœuvre Heimlich -  corps étrangers du larynx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                                         - intubation trachéale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- trachéotomie d’urgence (extrême) - dans l’espace thyro-cricoïdien :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- compensation de la respiration par l’oxygénothérapie 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- prévention et traitement de corde pulmonaire aigu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- la réanimation respiratoire et cardiaque</a:t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t/>
            </a:r>
            <a:endParaRPr/>
          </a:p>
          <a:p>
            <a:pPr indent="-342900" lvl="0" marL="411480" rtl="0" algn="l">
              <a:spcBef>
                <a:spcPts val="700"/>
              </a:spcBef>
              <a:spcAft>
                <a:spcPts val="0"/>
              </a:spcAft>
              <a:buSzPct val="95000"/>
              <a:buNone/>
            </a:pPr>
            <a:r>
              <a:rPr lang="fr-FR"/>
              <a:t>      dysphonie qui dure plus de trois semaines (surtout les hommes de plus de 40 et fumeur) est envoyé pour examen au spécialiste ORL – à cause de la fréquence élevée du cancer du larynx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6"/>
          <p:cNvSpPr txBox="1"/>
          <p:nvPr>
            <p:ph type="ctrTitle"/>
          </p:nvPr>
        </p:nvSpPr>
        <p:spPr>
          <a:xfrm>
            <a:off x="914400" y="4343400"/>
            <a:ext cx="7772400" cy="1975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9144" rtl="0" algn="l">
              <a:spcBef>
                <a:spcPts val="0"/>
              </a:spcBef>
              <a:spcAft>
                <a:spcPts val="0"/>
              </a:spcAft>
              <a:buClr>
                <a:srgbClr val="C1EDFF"/>
              </a:buClr>
              <a:buSzPts val="4000"/>
              <a:buFont typeface="Consolas"/>
              <a:buNone/>
            </a:pPr>
            <a:r>
              <a:rPr lang="fr-FR"/>
              <a:t>       JE VOUS REMERCIE!</a:t>
            </a:r>
            <a:endParaRPr/>
          </a:p>
        </p:txBody>
      </p:sp>
      <p:sp>
        <p:nvSpPr>
          <p:cNvPr id="551" name="Google Shape;551;p56"/>
          <p:cNvSpPr txBox="1"/>
          <p:nvPr>
            <p:ph idx="1" type="subTitle"/>
          </p:nvPr>
        </p:nvSpPr>
        <p:spPr>
          <a:xfrm>
            <a:off x="914400" y="2834640"/>
            <a:ext cx="77724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10057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tro">
  <a:themeElements>
    <a:clrScheme name="Metro">
      <a:dk1>
        <a:srgbClr val="000000"/>
      </a:dk1>
      <a:lt1>
        <a:srgbClr val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2015-11-09T08:48:56Z</dcterms:created>
  <dc:creator>Raica</dc:creator>
</cp:coreProperties>
</file>