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480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8987C-F4F3-43D6-B153-11108DB489AE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32A12-85EC-43B2-AFC1-C1E781FD64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499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132A12-85EC-43B2-AFC1-C1E781FD64C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083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7DAAB34-C2C9-410B-8C43-C27991D8E328}" type="datetimeFigureOut">
              <a:rPr lang="en-US" smtClean="0"/>
              <a:pPr/>
              <a:t>11/13/2015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9568141-DA01-4547-A434-01F1DF42D3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130425"/>
            <a:ext cx="7924800" cy="2746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LES BESOINS NUTRITIONNELS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581400"/>
            <a:ext cx="7772400" cy="119970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02668" y="0"/>
            <a:ext cx="4741332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2392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534400" cy="59310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LA NUTRITION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science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qui étude</a:t>
            </a:r>
            <a:r>
              <a:rPr lang="en-US" sz="2000" dirty="0" smtClean="0"/>
              <a:t>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échanges 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entre l'organisme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vivant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et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l'environnement, par 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l'alimentation; elle est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étroitement liés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des conditions </a:t>
            </a: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socio-économiques, d'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hygiéne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, de santé </a:t>
            </a: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ou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maladie.</a:t>
            </a:r>
          </a:p>
          <a:p>
            <a:pPr marL="0" indent="0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LA NUTRITION OPTIMALE: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fournit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tous les principes diététiques, quantitativement et qualitativement, en combinaison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équilibrée,pour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l'organisme à  s’adapter 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à toutes les situations de stress exogènes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ou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endogènes de la vie, physiologique ou de l'effort, grâce à l'intervention de mécanismes homéostatiques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Les 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besoins nutritionnels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sont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a) Le besoin minimal: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limite de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l'apport quotidien d'un principe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nutritionnel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donné, en vertu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de cette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 santé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n’est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pas assurée.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Le </a:t>
            </a: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besoin </a:t>
            </a:r>
            <a:r>
              <a:rPr lang="fr-FR" sz="2000" b="1" dirty="0" err="1" smtClean="0">
                <a:latin typeface="Times New Roman" pitchFamily="18" charset="0"/>
                <a:cs typeface="Times New Roman" pitchFamily="18" charset="0"/>
              </a:rPr>
              <a:t>optimale:l’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apport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quotidien d'un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principe nutritionnel pour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assurer un état optimal de santé physique et mentale.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09" y="0"/>
            <a:ext cx="2143125" cy="2143125"/>
          </a:xfrm>
          <a:prstGeom prst="rect">
            <a:avLst/>
          </a:prstGeom>
          <a:solidFill>
            <a:schemeClr val="tx1"/>
          </a:solidFill>
          <a:ln w="31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xmlns="" val="409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864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L'apport nutritionnel </a:t>
            </a: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recommandé (A.N.R.):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la quantité d'énergie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et de nutriments considérée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comme assez afin de maintenir et de promouvoir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 santé dans une population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donnée</a:t>
            </a: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A.N.R.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dépasse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avec 10% les besoins minimaux.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Les besoins énergétiques sont calculées en fonction de:</a:t>
            </a:r>
            <a:br>
              <a:rPr lang="fr-FR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l'apport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calorique à différents âges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la masse corporelle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composition du corps 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environnement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le processus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croissance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activité physique.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6397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 smtClean="0"/>
              <a:t>Les </a:t>
            </a:r>
            <a:r>
              <a:rPr lang="en-US" sz="2000" i="1" dirty="0" err="1" smtClean="0"/>
              <a:t>besoins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nutritionnels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xmlns="" val="57979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/>
              <a:t>- </a:t>
            </a:r>
            <a:r>
              <a:rPr lang="fr-FR" dirty="0" smtClean="0"/>
              <a:t>Les calcul </a:t>
            </a:r>
            <a:r>
              <a:rPr lang="fr-FR" dirty="0"/>
              <a:t>des besoins d'énergie est basée sur le poids corporel idéal comme le seul critère. </a:t>
            </a:r>
            <a:r>
              <a:rPr lang="fr-FR" dirty="0" smtClean="0"/>
              <a:t>Nous </a:t>
            </a:r>
            <a:r>
              <a:rPr lang="fr-FR" dirty="0" err="1" smtClean="0"/>
              <a:t>éviton</a:t>
            </a:r>
            <a:r>
              <a:rPr lang="fr-FR" dirty="0"/>
              <a:t> </a:t>
            </a:r>
            <a:r>
              <a:rPr lang="fr-FR" dirty="0" smtClean="0"/>
              <a:t>ainsi </a:t>
            </a:r>
            <a:r>
              <a:rPr lang="fr-FR" dirty="0"/>
              <a:t>la </a:t>
            </a:r>
            <a:r>
              <a:rPr lang="fr-FR" dirty="0" smtClean="0"/>
              <a:t>malnutrition et </a:t>
            </a:r>
            <a:r>
              <a:rPr lang="fr-FR" dirty="0"/>
              <a:t>la suralimentation.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- </a:t>
            </a:r>
            <a:r>
              <a:rPr lang="fr-FR" dirty="0" smtClean="0"/>
              <a:t>BC (besoins caloriques) </a:t>
            </a:r>
            <a:r>
              <a:rPr lang="fr-FR" dirty="0"/>
              <a:t>= </a:t>
            </a:r>
            <a:r>
              <a:rPr lang="fr-FR" dirty="0" smtClean="0"/>
              <a:t>le correspondant des dépenses </a:t>
            </a:r>
            <a:r>
              <a:rPr lang="fr-FR" dirty="0"/>
              <a:t>quotidienne</a:t>
            </a:r>
            <a:r>
              <a:rPr lang="fr-FR" dirty="0" smtClean="0"/>
              <a:t> d'énergie: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• Le métabolisme </a:t>
            </a:r>
            <a:r>
              <a:rPr lang="fr-FR" dirty="0" smtClean="0"/>
              <a:t>basal </a:t>
            </a:r>
            <a:r>
              <a:rPr lang="fr-FR" dirty="0"/>
              <a:t>(M. B.) = </a:t>
            </a:r>
            <a:r>
              <a:rPr lang="fr-FR" dirty="0" smtClean="0"/>
              <a:t>55-75 kcal/kg/jour-baissent à 25-30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• </a:t>
            </a:r>
            <a:r>
              <a:rPr lang="fr-FR" dirty="0" smtClean="0"/>
              <a:t>L</a:t>
            </a:r>
            <a:r>
              <a:rPr lang="fr-FR" dirty="0"/>
              <a:t>'</a:t>
            </a:r>
            <a:r>
              <a:rPr lang="fr-FR" dirty="0" smtClean="0"/>
              <a:t>action </a:t>
            </a:r>
            <a:r>
              <a:rPr lang="fr-FR" dirty="0"/>
              <a:t>dynamique spécifique </a:t>
            </a:r>
            <a:r>
              <a:rPr lang="fr-FR" dirty="0" smtClean="0"/>
              <a:t>=10kcal/kg/jour.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• </a:t>
            </a:r>
            <a:r>
              <a:rPr lang="fr-FR" dirty="0" smtClean="0"/>
              <a:t>Le thermorégulation </a:t>
            </a:r>
            <a:r>
              <a:rPr lang="fr-FR" dirty="0"/>
              <a:t>= 20 </a:t>
            </a:r>
            <a:r>
              <a:rPr lang="fr-FR" dirty="0" smtClean="0"/>
              <a:t>kcal/Kg/jour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• </a:t>
            </a:r>
            <a:r>
              <a:rPr lang="fr-FR" dirty="0" smtClean="0"/>
              <a:t>La croissance </a:t>
            </a:r>
            <a:r>
              <a:rPr lang="fr-FR" dirty="0"/>
              <a:t>= 52 </a:t>
            </a:r>
            <a:r>
              <a:rPr lang="fr-FR" dirty="0" smtClean="0"/>
              <a:t>kcal/kg/jour –baissent à10 </a:t>
            </a:r>
            <a:r>
              <a:rPr lang="fr-FR" dirty="0" err="1" smtClean="0"/>
              <a:t>apres</a:t>
            </a:r>
            <a:r>
              <a:rPr lang="fr-FR" dirty="0" smtClean="0"/>
              <a:t> l’</a:t>
            </a:r>
            <a:r>
              <a:rPr lang="fr-FR" dirty="0" err="1" smtClean="0"/>
              <a:t>age</a:t>
            </a:r>
            <a:r>
              <a:rPr lang="fr-FR" dirty="0" smtClean="0"/>
              <a:t> d’un an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• L'activité physique: </a:t>
            </a:r>
            <a:r>
              <a:rPr lang="fr-FR" dirty="0" smtClean="0"/>
              <a:t>augmente </a:t>
            </a:r>
            <a:r>
              <a:rPr lang="fr-FR" dirty="0"/>
              <a:t>parallèlement à l'âge de l'enfant</a:t>
            </a:r>
            <a:br>
              <a:rPr lang="fr-FR" dirty="0"/>
            </a:br>
            <a:r>
              <a:rPr lang="fr-FR" dirty="0"/>
              <a:t>• Selon la maladie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- </a:t>
            </a:r>
            <a:r>
              <a:rPr lang="fr-FR" dirty="0" smtClean="0"/>
              <a:t>Qualitativement</a:t>
            </a:r>
            <a:r>
              <a:rPr lang="fr-FR" dirty="0"/>
              <a:t>, l'apport calorique </a:t>
            </a:r>
            <a:r>
              <a:rPr lang="fr-FR" dirty="0" smtClean="0"/>
              <a:t>quotidien: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• Glucides </a:t>
            </a:r>
            <a:r>
              <a:rPr lang="fr-FR" dirty="0" smtClean="0"/>
              <a:t>(</a:t>
            </a:r>
            <a:r>
              <a:rPr lang="en-US" dirty="0" smtClean="0"/>
              <a:t>hydrates </a:t>
            </a:r>
            <a:r>
              <a:rPr lang="en-US" dirty="0"/>
              <a:t>de </a:t>
            </a:r>
            <a:r>
              <a:rPr lang="en-US" dirty="0" err="1" smtClean="0"/>
              <a:t>carbone</a:t>
            </a:r>
            <a:r>
              <a:rPr lang="fr-FR" dirty="0" smtClean="0"/>
              <a:t>) = </a:t>
            </a:r>
            <a:r>
              <a:rPr lang="fr-FR" dirty="0"/>
              <a:t>55-60%</a:t>
            </a:r>
            <a:br>
              <a:rPr lang="fr-FR" dirty="0"/>
            </a:br>
            <a:r>
              <a:rPr lang="fr-FR" dirty="0"/>
              <a:t>• Protéines = 12-15% (minimum = 6-8%)</a:t>
            </a:r>
            <a:br>
              <a:rPr lang="fr-FR" dirty="0"/>
            </a:br>
            <a:r>
              <a:rPr lang="fr-FR" dirty="0"/>
              <a:t>• L</a:t>
            </a:r>
            <a:r>
              <a:rPr lang="fr-FR" dirty="0" smtClean="0"/>
              <a:t>ipides </a:t>
            </a:r>
            <a:r>
              <a:rPr lang="fr-FR" dirty="0"/>
              <a:t>= 35-45%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ln w="31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 smtClean="0"/>
              <a:t>Les </a:t>
            </a:r>
            <a:r>
              <a:rPr lang="en-US" sz="2000" i="1" dirty="0" err="1" smtClean="0"/>
              <a:t>besoins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nutritionnels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xmlns="" val="244585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dirty="0" smtClean="0"/>
              <a:t>Le métabolisme </a:t>
            </a:r>
            <a:r>
              <a:rPr lang="fr-FR" b="1" dirty="0"/>
              <a:t>de </a:t>
            </a:r>
            <a:r>
              <a:rPr lang="fr-FR" b="1" dirty="0" smtClean="0"/>
              <a:t>l'eau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4600" y="2487304"/>
            <a:ext cx="6629400" cy="37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4614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Essentiel pour le processus de la vie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Deuxième place après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l'oxygène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Le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manque d'eau est toléré par les nourrissons 48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heures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Le contenu dans l’eau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est inversement proportionnelle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à l'âge: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• L’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embrion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=90%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Le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nn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= 75-72%</a:t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L'enfant = 72-68%</a:t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L'adulte = 60 à 50%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609600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32178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- Repartiţia apei în organism între compartimente este variabilă cu vârsta:</a:t>
            </a:r>
          </a:p>
          <a:p>
            <a:pPr marL="0" indent="0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	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répartition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l'eau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entre les compartiments de l’organisme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varie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selon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l'âge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fr-FR" sz="8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         Dans 0-6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mois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L'espace extracellulaire =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40%</a:t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                                      -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35%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interstitielle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                                      -   5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plasmatique</a:t>
            </a:r>
            <a:endParaRPr lang="fr-FR" sz="8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L'espace intracellulaire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35%</a:t>
            </a:r>
            <a:endParaRPr lang="fr-FR" sz="8000" dirty="0">
              <a:latin typeface="Times New Roman" pitchFamily="18" charset="0"/>
              <a:cs typeface="Times New Roman" pitchFamily="18" charset="0"/>
            </a:endParaRPr>
          </a:p>
          <a:p>
            <a:pPr marL="1143000" indent="-1143000">
              <a:buFont typeface="Wingdings" pitchFamily="2" charset="2"/>
              <a:buChar char="Ø"/>
            </a:pP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Apres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six mois: </a:t>
            </a:r>
          </a:p>
          <a:p>
            <a:pPr marL="0" indent="0">
              <a:buNone/>
            </a:pP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L'espace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extracellulaire = 25%</a:t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- 20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% interstitielle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  5% plasmatique </a:t>
            </a:r>
            <a:endParaRPr lang="fr-FR" sz="8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L'espace 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intracellulaire = </a:t>
            </a:r>
            <a:r>
              <a:rPr lang="fr-FR" sz="8000" dirty="0" smtClean="0"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%</a:t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- L'échange d'eau entre les secteurs dépend de:</a:t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• teneur en protéines</a:t>
            </a:r>
            <a:br>
              <a:rPr lang="fr-FR" sz="8000" dirty="0">
                <a:latin typeface="Times New Roman" pitchFamily="18" charset="0"/>
                <a:cs typeface="Times New Roman" pitchFamily="18" charset="0"/>
              </a:rPr>
            </a:br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• concentration d'électrolytes</a:t>
            </a:r>
            <a:r>
              <a:rPr lang="ro-RO" sz="8000" b="1" dirty="0" smtClean="0">
                <a:solidFill>
                  <a:srgbClr val="FFFFCC"/>
                </a:solidFill>
                <a:effectLst/>
                <a:latin typeface="Times New Roman" pitchFamily="18" charset="0"/>
                <a:cs typeface="Times New Roman" pitchFamily="18" charset="0"/>
              </a:rPr>
              <a:t>- sp.•	concentraţia de electroliţi</a:t>
            </a:r>
          </a:p>
          <a:p>
            <a:pPr marL="457200" indent="-457200">
              <a:buNone/>
            </a:pPr>
            <a:r>
              <a:rPr lang="ro-RO" sz="8000" b="1" dirty="0" smtClean="0">
                <a:solidFill>
                  <a:srgbClr val="FFFFCC"/>
                </a:solidFill>
                <a:effectLst/>
                <a:latin typeface="Times New Roman" pitchFamily="18" charset="0"/>
                <a:cs typeface="Times New Roman" pitchFamily="18" charset="0"/>
              </a:rPr>
              <a:t>- Repartiţia apei în organism între compartimente </a:t>
            </a:r>
            <a:r>
              <a:rPr lang="ro-RO" sz="6200" b="1" dirty="0" smtClean="0">
                <a:solidFill>
                  <a:srgbClr val="FFFFCC"/>
                </a:solidFill>
                <a:effectLst/>
              </a:rPr>
              <a:t>este variabilă cu vârsta:</a:t>
            </a:r>
          </a:p>
          <a:p>
            <a:pPr marL="457200" indent="-457200">
              <a:buNone/>
            </a:pPr>
            <a:r>
              <a:rPr lang="ro-RO" sz="6200" b="1" dirty="0" smtClean="0">
                <a:solidFill>
                  <a:srgbClr val="FFFFCC"/>
                </a:solidFill>
                <a:effectLst/>
              </a:rPr>
              <a:t>		¤ 0-6 luni: - sp.e.c. = 40 %	</a:t>
            </a:r>
          </a:p>
          <a:p>
            <a:pPr marL="457200" indent="-457200">
              <a:buNone/>
            </a:pPr>
            <a:r>
              <a:rPr lang="ro-RO" sz="6200" b="1" dirty="0" smtClean="0">
                <a:solidFill>
                  <a:srgbClr val="FFFFCC"/>
                </a:solidFill>
                <a:effectLst/>
              </a:rPr>
              <a:t>			</a:t>
            </a:r>
            <a:r>
              <a:rPr lang="en-US" sz="6200" b="1" dirty="0" smtClean="0">
                <a:solidFill>
                  <a:srgbClr val="FFFFCC"/>
                </a:solidFill>
                <a:effectLst/>
              </a:rPr>
              <a:t>		</a:t>
            </a:r>
            <a:r>
              <a:rPr lang="ro-RO" sz="6200" b="1" dirty="0" smtClean="0">
                <a:solidFill>
                  <a:srgbClr val="FFFFCC"/>
                </a:solidFill>
                <a:effectLst/>
              </a:rPr>
              <a:t>- 35 % în interstiţii</a:t>
            </a:r>
          </a:p>
          <a:p>
            <a:pPr marL="457200" indent="-457200">
              <a:buNone/>
            </a:pPr>
            <a:r>
              <a:rPr lang="ro-RO" sz="6200" b="1" dirty="0" smtClean="0">
                <a:solidFill>
                  <a:srgbClr val="FFFFCC"/>
                </a:solidFill>
                <a:effectLst/>
              </a:rPr>
              <a:t>			</a:t>
            </a:r>
            <a:r>
              <a:rPr lang="en-US" sz="6200" b="1" dirty="0" smtClean="0">
                <a:solidFill>
                  <a:srgbClr val="FFFFCC"/>
                </a:solidFill>
                <a:effectLst/>
              </a:rPr>
              <a:t>		</a:t>
            </a:r>
            <a:r>
              <a:rPr lang="ro-RO" sz="6200" b="1" dirty="0" smtClean="0">
                <a:solidFill>
                  <a:srgbClr val="FFFFCC"/>
                </a:solidFill>
                <a:effectLst/>
              </a:rPr>
              <a:t>- 5 % în plasmă </a:t>
            </a:r>
          </a:p>
          <a:p>
            <a:pPr marL="457200" indent="-457200">
              <a:buNone/>
            </a:pPr>
            <a:r>
              <a:rPr lang="ro-RO" sz="6200" b="1" dirty="0" smtClean="0">
                <a:solidFill>
                  <a:srgbClr val="FFFFCC"/>
                </a:solidFill>
                <a:effectLst/>
              </a:rPr>
              <a:t>			</a:t>
            </a:r>
            <a:r>
              <a:rPr lang="en-US" sz="6200" b="1" dirty="0" smtClean="0">
                <a:solidFill>
                  <a:srgbClr val="FFFFCC"/>
                </a:solidFill>
                <a:effectLst/>
              </a:rPr>
              <a:t>       </a:t>
            </a:r>
            <a:r>
              <a:rPr lang="ro-RO" sz="6200" b="1" dirty="0" smtClean="0">
                <a:solidFill>
                  <a:srgbClr val="FFFFCC"/>
                </a:solidFill>
                <a:effectLst/>
              </a:rPr>
              <a:t>- sp.i.c. = 35 %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		¤ Peste 6 luni:  - sp.e.c. = 25 %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				</a:t>
            </a:r>
            <a:r>
              <a:rPr lang="en-US" b="1" dirty="0" smtClean="0">
                <a:solidFill>
                  <a:srgbClr val="FFFFCC"/>
                </a:solidFill>
                <a:effectLst/>
              </a:rPr>
              <a:t>	</a:t>
            </a:r>
            <a:r>
              <a:rPr lang="ro-RO" b="1" dirty="0" smtClean="0">
                <a:solidFill>
                  <a:srgbClr val="FFFFCC"/>
                </a:solidFill>
                <a:effectLst/>
              </a:rPr>
              <a:t>- 20 % interstiţii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				</a:t>
            </a:r>
            <a:r>
              <a:rPr lang="en-US" b="1" dirty="0" smtClean="0">
                <a:solidFill>
                  <a:srgbClr val="FFFFCC"/>
                </a:solidFill>
                <a:effectLst/>
              </a:rPr>
              <a:t>	</a:t>
            </a:r>
            <a:r>
              <a:rPr lang="ro-RO" b="1" dirty="0" smtClean="0">
                <a:solidFill>
                  <a:srgbClr val="FFFFCC"/>
                </a:solidFill>
                <a:effectLst/>
              </a:rPr>
              <a:t>- 5 % plasmă 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				- sp.i.c. = 50 %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- Schimbul de apă între sectoare depinde: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•	conţinutul în proteine</a:t>
            </a:r>
          </a:p>
          <a:p>
            <a:pPr marL="457200" indent="-457200" algn="just">
              <a:buNone/>
            </a:pPr>
            <a:r>
              <a:rPr lang="ro-RO" b="1" dirty="0" smtClean="0">
                <a:solidFill>
                  <a:srgbClr val="FFFFCC"/>
                </a:solidFill>
                <a:effectLst/>
              </a:rPr>
              <a:t>•	concentraţia de electroliţi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077200" cy="457200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81172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dirty="0" smtClean="0"/>
              <a:t> 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Les besoins en eau sont augmentés chez les enfants: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pour la croissance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pour les échanges cellulaires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pour la régulation thermique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pour l’élimination 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des déchets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endParaRPr lang="fr-FR" sz="26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   Les besoins en eau 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recommandé: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0-3 mois = 180 à 160 ml / kg / jour (175)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3-6 mois = 160 à 130 ml / kg / jour (150)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6- 12 mois = 120 à 100 ml / kg / jour (110)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Minimum = 75 ml / kg / jour</a:t>
            </a:r>
            <a:br>
              <a:rPr lang="fr-FR" sz="2600" dirty="0">
                <a:latin typeface="Times New Roman" pitchFamily="18" charset="0"/>
                <a:cs typeface="Times New Roman" pitchFamily="18" charset="0"/>
              </a:rPr>
            </a:b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• Maximum =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1.000 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ml / jour (la première année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vie)</a:t>
            </a:r>
            <a:endParaRPr lang="fr-FR" sz="260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305800" cy="609600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59554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 calcul des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besoins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en eau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l'organisme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dépendent 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• Les pertes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quotidiennes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l'apport calorique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composition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du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regime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alimentaire (protéines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minéraux) = retenir l'eau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perte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d'eau: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peau+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poumons =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Perspiration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(insensible)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63-65%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urine = 17-23%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fécale = 3 -15%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Les besoins en eau sont assurés par: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les liquides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alimentaires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(l'eau exogène)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l'oxydation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des nutriments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(l'eau endogène)</a:t>
            </a:r>
            <a:endParaRPr lang="fr-FR" sz="200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001000" cy="4873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40512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besoins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en 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eau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dans les premiers 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mois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sont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couverts par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 ration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de lait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Les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signes nets de la 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soif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 l‘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apport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oit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ê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augment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é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jusqu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à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200 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ml/kg/jour.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Dans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es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conditions pathologiques (vomissements, diarrhée, augmentation de la diurèse), les pertes d'eau sont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l'eau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extracellulaire raison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perte en eau du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nourisson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10% en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associé à</a:t>
            </a:r>
            <a:r>
              <a:rPr lang="vi-VN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2200" dirty="0">
                <a:latin typeface="Times New Roman" pitchFamily="18" charset="0"/>
                <a:cs typeface="Times New Roman" pitchFamily="18" charset="0"/>
              </a:rPr>
            </a:b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• effondrement</a:t>
            </a:r>
            <a:br>
              <a:rPr lang="vi-VN" sz="2200" dirty="0">
                <a:latin typeface="Times New Roman" pitchFamily="18" charset="0"/>
                <a:cs typeface="Times New Roman" pitchFamily="18" charset="0"/>
              </a:rPr>
            </a:b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• acidose</a:t>
            </a:r>
            <a:br>
              <a:rPr lang="vi-VN" sz="2200" dirty="0">
                <a:latin typeface="Times New Roman" pitchFamily="18" charset="0"/>
                <a:cs typeface="Times New Roman" pitchFamily="18" charset="0"/>
              </a:rPr>
            </a:b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• hypoxie</a:t>
            </a:r>
            <a:br>
              <a:rPr lang="vi-VN" sz="2200" dirty="0">
                <a:latin typeface="Times New Roman" pitchFamily="18" charset="0"/>
                <a:cs typeface="Times New Roman" pitchFamily="18" charset="0"/>
              </a:rPr>
            </a:b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• coma</a:t>
            </a:r>
            <a:br>
              <a:rPr lang="vi-VN" sz="2200" dirty="0">
                <a:latin typeface="Times New Roman" pitchFamily="18" charset="0"/>
                <a:cs typeface="Times New Roman" pitchFamily="18" charset="0"/>
              </a:rPr>
            </a:br>
            <a:r>
              <a:rPr lang="vi-VN" sz="2200" dirty="0">
                <a:latin typeface="Times New Roman" pitchFamily="18" charset="0"/>
                <a:cs typeface="Times New Roman" pitchFamily="18" charset="0"/>
              </a:rPr>
              <a:t>• déshydratation plus de 25% = mort.</a:t>
            </a:r>
            <a:endParaRPr lang="vi-VN" sz="220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vi-V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001000" cy="4873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70085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dirty="0" smtClean="0"/>
              <a:t>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La régulation du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métabolisme de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l'eau= un mécanisme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complexe:</a:t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facteurs neuroendocrines</a:t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facteurs biocatalytiques (minéraux, vitamines)</a:t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fonction de l'excrétion rénale</a:t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température d'ambiante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(la chaleur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augmente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les pertes avec  50-100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ml/kg/jour).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Les pertes rénale de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l'eau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augmente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parallèle avec l'âge et de la maturation de la fonction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rénale.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Les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régimes riches en protéines et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hyperosmolaire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LV mature)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provoque la négativité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de l'équilibre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de l'eau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en guidant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l'eau extracellulaire par les reins à éliminer l'excès de déchets métaboliques.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1659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 smtClean="0"/>
              <a:t>  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          </a:t>
            </a:r>
          </a:p>
          <a:p>
            <a:pPr marL="0" indent="0" algn="ctr">
              <a:buNone/>
            </a:pPr>
            <a:endParaRPr lang="fr-FR" b="1" dirty="0"/>
          </a:p>
          <a:p>
            <a:pPr marL="0" indent="0" algn="ctr">
              <a:buNone/>
            </a:pPr>
            <a:endParaRPr lang="fr-FR" b="1" dirty="0" smtClean="0"/>
          </a:p>
          <a:p>
            <a:pPr marL="0" indent="0" algn="ctr">
              <a:buNone/>
            </a:pPr>
            <a:r>
              <a:rPr lang="fr-FR" b="1" dirty="0" smtClean="0"/>
              <a:t>Les </a:t>
            </a:r>
            <a:r>
              <a:rPr lang="fr-FR" b="1" dirty="0"/>
              <a:t>protéines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600" y="14785"/>
            <a:ext cx="7888122" cy="525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3579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Constituants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du cytoplasme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et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noyau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cellulaire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Entrent dans la structure des parenchymes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Constituants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Hb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, enzymes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hormones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Fournit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des processus de croissance et de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développement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Teneur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en protéines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alimentaires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est estimé sur la base de la quantité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d'azote(la teneur en azote)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Protéines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à haute valeur biologique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-contenu d'azote =16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% </a:t>
            </a: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L'apport minimum en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protéines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pour l’enfant =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1,5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g/ kg/jour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L’apport nutritionnel recommand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é(A.N.R.)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0-6 mois - alimenté artificielle =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3-3,5g/kg/jour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     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             - alimenté naturel      = 1,8-2g/kg/jour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dirty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Après six mois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A.N.R.=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l,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5-2g/kg/jour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5635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724096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305800" cy="5321491"/>
          </a:xfrm>
        </p:spPr>
        <p:txBody>
          <a:bodyPr>
            <a:no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 coefficient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d'utilisation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digestive (CUD):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(C.U.D.)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azote absorbé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 l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azote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ingérée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U.D.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pour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maternel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(L.H.)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= 1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pour le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vache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L.V.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=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0,95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pour les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égétales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= 0,60 à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0,80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La v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al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eur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biologique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la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quantité et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ucture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acides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amin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é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essentiele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s(AAE)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dans l'apport alimentaire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Pour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une utilisation efficace de l'apport alimentaire des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doit être distribué uniformément dans toute la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journée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Pour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une utilisation correcte des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AA, l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AAE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doit représenter 37% de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Utilisation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protéique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nette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UPN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 l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résultat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C.U.D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. et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valeur biologique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protéine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UPN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: - 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= 100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  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= 90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  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- La viande (boeuf, poisson) = 84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 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LV = 75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  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Végétales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= 50</a:t>
            </a:r>
            <a:endParaRPr lang="vi-VN" sz="200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vi-VN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02968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305800" cy="5397691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Dans l'alimentation diversifiée(ou complémentaires),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50% de l'apport en protéines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sont d'origine animale: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le lait, la viande, les œufs, le fromage, le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poisson</a:t>
            </a: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</a:pP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       Réduction de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la consommation de protéines chez les nourrissons et les jeunes enfants:</a:t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malnutrition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protéique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et/ou calorique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retard de croissance (multiplication cellulaire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 s’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arrête pour SNC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et d'autres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organes)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L‘excès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de protéines:</a:t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processus de putréfaction dans l'intestin</a:t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multiplication des agents pathogènes dans l'intestin</a:t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accélération du catabolisme des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protéines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surcharge de </a:t>
            </a:r>
            <a:r>
              <a:rPr lang="fr-FR" sz="2200" dirty="0" smtClean="0">
                <a:latin typeface="Times New Roman" pitchFamily="18" charset="0"/>
                <a:cs typeface="Times New Roman" pitchFamily="18" charset="0"/>
              </a:rPr>
              <a:t>la fonction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rénale</a:t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multiplication des adipocytes - l'obésité</a:t>
            </a:r>
            <a:br>
              <a:rPr lang="fr-FR" sz="2200" dirty="0">
                <a:latin typeface="Times New Roman" pitchFamily="18" charset="0"/>
                <a:cs typeface="Times New Roman" pitchFamily="18" charset="0"/>
              </a:rPr>
            </a:b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• processus dégénératifs précoces</a:t>
            </a:r>
            <a:endParaRPr lang="fr-FR" sz="220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81800" y="4500349"/>
            <a:ext cx="2357651" cy="235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64198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dirty="0"/>
              <a:t>Le métabolisme des </a:t>
            </a:r>
            <a:r>
              <a:rPr lang="fr-FR" b="1" dirty="0" smtClean="0"/>
              <a:t>lipides</a:t>
            </a:r>
          </a:p>
          <a:p>
            <a:pPr marL="0" indent="0" algn="ctr">
              <a:buNone/>
            </a:pPr>
            <a:endParaRPr lang="fr-F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14999" y="2411620"/>
            <a:ext cx="3334817" cy="44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033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4864291"/>
          </a:xfrm>
        </p:spPr>
        <p:txBody>
          <a:bodyPr>
            <a:noAutofit/>
          </a:bodyPr>
          <a:lstStyle/>
          <a:p>
            <a:pPr marL="342900" indent="-342900">
              <a:buFontTx/>
              <a:buChar char="-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energetique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(1g = 9,3 kcal) et structurel.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L‘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reserve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(du tissu sous-cutané).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Rôle plastique: les phospholipides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et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 cholestérol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entre dans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les structures   des membranes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cellulaires et la myéline.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Favorisent l'absorption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vitamine liposoluble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A,D,E,K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Contient des acides gras essentiels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indispensable pour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croissance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¤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linoléique,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gamalinoléique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(précurseur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ac.arahidonique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¤ Les acides gras essentiels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(AGE)-dérivés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matières grasses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végétales: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 contenu en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. Linoléique- 65-75% dans l’huile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tournesol, 52-57%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dansl’huile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de mais,51% dans l’huile de soja et 8-16% dans l’huile d'olive</a:t>
            </a:r>
          </a:p>
          <a:p>
            <a:pPr marL="342900" indent="-342900">
              <a:buFontTx/>
              <a:buChar char="-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La diminution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l'acide linoléique de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moins de 1% de la </a:t>
            </a:r>
            <a:r>
              <a:rPr lang="fr-FR" sz="2000">
                <a:latin typeface="Times New Roman" pitchFamily="18" charset="0"/>
                <a:cs typeface="Times New Roman" pitchFamily="18" charset="0"/>
              </a:rPr>
              <a:t>ration </a:t>
            </a:r>
            <a:r>
              <a:rPr lang="fr-FR" sz="2000" smtClean="0">
                <a:latin typeface="Times New Roman" pitchFamily="18" charset="0"/>
                <a:cs typeface="Times New Roman" pitchFamily="18" charset="0"/>
              </a:rPr>
              <a:t>alimentaire produite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l'arrêt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la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croissance.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 pour le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nn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la digestion et l'absorption des lipides est limitée: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lipase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et des acides biliaires pancréatiques diminué.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 pour le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nn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l’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absorbtion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des graisses du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lait humain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= 95%; L.V. = 85%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 pour le prématurée - d'absorption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lipides de lait humain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= 75%; L.V. = 6o%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034412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L’</a:t>
            </a:r>
            <a:r>
              <a:rPr lang="fr-FR" sz="2900" dirty="0" err="1" smtClean="0">
                <a:latin typeface="Times New Roman" pitchFamily="18" charset="0"/>
                <a:cs typeface="Times New Roman" pitchFamily="18" charset="0"/>
              </a:rPr>
              <a:t>exces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lipides d'origine animale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- hypercholestérolémie</a:t>
            </a:r>
            <a:endParaRPr lang="fr-FR" sz="29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Les lipides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végétaux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baissent le cholestérol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Apport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minimal de graisse chez le nourrisson = l, 5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g/kg/jour    A.N.R. pour lipides avant 1 année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3-6g/kg/ jour (25-40% de l’apport </a:t>
            </a:r>
            <a:r>
              <a:rPr lang="fr-FR" sz="2900" dirty="0" err="1" smtClean="0">
                <a:latin typeface="Times New Roman" pitchFamily="18" charset="0"/>
                <a:cs typeface="Times New Roman" pitchFamily="18" charset="0"/>
              </a:rPr>
              <a:t>energetique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900" dirty="0">
                <a:latin typeface="Times New Roman" pitchFamily="18" charset="0"/>
                <a:cs typeface="Times New Roman" pitchFamily="18" charset="0"/>
              </a:rPr>
            </a:b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900" dirty="0">
                <a:latin typeface="Times New Roman" pitchFamily="18" charset="0"/>
                <a:cs typeface="Times New Roman" pitchFamily="18" charset="0"/>
              </a:rPr>
            </a:b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A.N.R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pour lipides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après 1 année =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3-3,5g/kg/jour (30-40% de l’apport </a:t>
            </a:r>
            <a:r>
              <a:rPr lang="fr-FR" sz="2900" dirty="0" err="1" smtClean="0">
                <a:latin typeface="Times New Roman" pitchFamily="18" charset="0"/>
                <a:cs typeface="Times New Roman" pitchFamily="18" charset="0"/>
              </a:rPr>
              <a:t>energetique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900" dirty="0">
                <a:latin typeface="Times New Roman" pitchFamily="18" charset="0"/>
                <a:cs typeface="Times New Roman" pitchFamily="18" charset="0"/>
              </a:rPr>
            </a:b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Dans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L.H: rapport de </a:t>
            </a:r>
            <a:r>
              <a:rPr lang="fr-FR" sz="2900" dirty="0" err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. gras insaturé/</a:t>
            </a:r>
            <a:r>
              <a:rPr lang="fr-FR" sz="2900" dirty="0" err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. sature = 1 (le meilleur)</a:t>
            </a:r>
            <a:br>
              <a:rPr lang="fr-FR" sz="2900" dirty="0">
                <a:latin typeface="Times New Roman" pitchFamily="18" charset="0"/>
                <a:cs typeface="Times New Roman" pitchFamily="18" charset="0"/>
              </a:rPr>
            </a:b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900" dirty="0" err="1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. linoléique = 12% des lipides totaux 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et fournit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3-5% de l'apport énergétique.</a:t>
            </a:r>
            <a:br>
              <a:rPr lang="fr-FR" sz="2900" dirty="0">
                <a:latin typeface="Times New Roman" pitchFamily="18" charset="0"/>
                <a:cs typeface="Times New Roman" pitchFamily="18" charset="0"/>
              </a:rPr>
            </a:b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900" dirty="0">
                <a:latin typeface="Times New Roman" pitchFamily="18" charset="0"/>
                <a:cs typeface="Times New Roman" pitchFamily="18" charset="0"/>
              </a:rPr>
            </a:b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- Dans L.V</a:t>
            </a:r>
            <a:r>
              <a:rPr lang="fr-FR" sz="2900" dirty="0" smtClean="0">
                <a:latin typeface="Times New Roman" pitchFamily="18" charset="0"/>
                <a:cs typeface="Times New Roman" pitchFamily="18" charset="0"/>
              </a:rPr>
              <a:t>.: 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valeur biologique est plus faible (2/3 </a:t>
            </a:r>
            <a:r>
              <a:rPr lang="fr-FR" sz="2900" dirty="0" err="1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900" dirty="0">
                <a:latin typeface="Times New Roman" pitchFamily="18" charset="0"/>
                <a:cs typeface="Times New Roman" pitchFamily="18" charset="0"/>
              </a:rPr>
              <a:t>. saturée).</a:t>
            </a:r>
            <a:endParaRPr lang="en-US" sz="2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3808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229600" cy="4864291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Régime alimentaire faible en acide linoléique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entraîne: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modifications de la peau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réduction de la synthèse de l'acide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arachidonique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de prostaglandine et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thromboxane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des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changements biochimiques des membranes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cellulaires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L'excès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graisse =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obésité                                            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L'obésité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provoque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trouble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la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statique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anomalies orthopédiques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augmentation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d'incidence pour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H.T.A.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hyperlipidémie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hypercholestérolémie.</a:t>
            </a:r>
            <a:endParaRPr lang="fr-FR" sz="200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1" y="3048001"/>
            <a:ext cx="4698999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2989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 smtClean="0"/>
              <a:t>    Le </a:t>
            </a:r>
            <a:r>
              <a:rPr lang="fr-FR" dirty="0"/>
              <a:t>métabolisme des </a:t>
            </a:r>
            <a:r>
              <a:rPr lang="fr-FR" dirty="0" smtClean="0"/>
              <a:t>glucides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20750" y="1981200"/>
            <a:ext cx="6357748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6494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principale source d'énergie pour le corps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Glucose: combustible principal pour les cellules nerveuses, les cellules rouges du sang,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la glande surrénale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Les glucides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processus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glycuronoconjugaison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Galactose: structure de cérébrosides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Glucose, le cycle de Krebs, en participant à: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synthèse des acides gras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 la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synthèse des acides aminés non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essentiels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Les types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d'aliments riches en glucides: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Monosaccharides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a) glucose- contenues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dans les fruits, le miel, les légumes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fructose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galactose: la décomposition du lactose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968061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2. Disaccharides: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Lactose: une molécule 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glucose + molécule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galactose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saccharose (sucre): 1 molécule de fructose + 1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molécule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glucose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Maltose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deux molécules 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glucose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(produit intermédiaire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d'hydrolyse de l'amidon)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3. Les polysaccharides: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L'amidon: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l'amylose +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amylopectine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 La glycogène: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reserve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d'hydrocarbures dans les hépatocytes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 Lactose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dans le lait: principal apport en glucides au premier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6 mois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-&gt;Lactose est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utilisé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           -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dans la synthèse de cérébrosides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          - dans le processus de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glycuronoconjugaison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-&gt; Lactose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favorise l'absorption de Ca, Mg, Ph, Mn.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382365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miel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n'a pas prouvé supérieur à d'autres sucres (botulisme infantile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Polysaccharides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insolubles (sucres) des effets favorables colloïdales dans le système digestif.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- Absence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alpha-amylase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pancréatique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et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salivaires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jusqu'à l'âge de 4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mois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l'hydrolyse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de l'amidon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t limitée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L’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amidon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végétal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introdui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 smtClean="0">
                <a:latin typeface="Times New Roman" pitchFamily="18" charset="0"/>
                <a:cs typeface="Times New Roman" pitchFamily="18" charset="0"/>
              </a:rPr>
              <a:t>dans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l'alimentation:</a:t>
            </a:r>
            <a:br>
              <a:rPr lang="vi-VN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Dans les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premier mois de la vie comme la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décoct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riz 2-3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% puis mucilage de riz en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lait en poudre pour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suspension,et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pour 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dilution de 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Apres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 quatrième mois de la vie: la farine de riz dans le lait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Après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sixième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mois: farine de blé (sensibilisation).</a:t>
            </a:r>
            <a:endParaRPr lang="vi-VN" sz="2000" dirty="0" smtClean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4168733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 smtClean="0"/>
              <a:t>LES FIBRES ALIMENTAIRES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3095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7880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Accélérer le transite intestinal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ygroscopique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100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grammes de carottes conservent 200 ml d’eau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Modifier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et réduire </a:t>
            </a:r>
            <a:r>
              <a:rPr lang="fr-FR" sz="2000" dirty="0"/>
              <a:t>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 flore bactérienne intestinale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smtClean="0">
                <a:latin typeface="Times New Roman" pitchFamily="18" charset="0"/>
                <a:cs typeface="Times New Roman" pitchFamily="18" charset="0"/>
              </a:rPr>
              <a:t>Fixer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les acides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biliaires 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Supprimer les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cations: Na, K, Ca,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Mg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smtClean="0">
                <a:latin typeface="Times New Roman" pitchFamily="18" charset="0"/>
                <a:cs typeface="Times New Roman" pitchFamily="18" charset="0"/>
              </a:rPr>
              <a:t>Provoquer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hypolipaemia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hypocholestérolémie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Favoriser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l'excrétion de matières grasses, de protéines (calories) dans les fèces.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139045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Faible consommation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fibres alimentaires est liée à: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dyslipidémie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lithiase biliaire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athérosclérose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la cardiopathie ischémique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le cancer du côlon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- Excès alimentaires bonbons raffinés: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Il est rapidement absorbé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détermine hyperglycémie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Il stimule la sécrétion d'insuline</a:t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augmente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l'appétit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= L'obésité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000" dirty="0">
                <a:latin typeface="Times New Roman" pitchFamily="18" charset="0"/>
                <a:cs typeface="Times New Roman" pitchFamily="18" charset="0"/>
              </a:rPr>
            </a:b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 Effet cariogène (l'adhésif).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153400" cy="533400"/>
          </a:xfrm>
          <a:ln w="31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Les </a:t>
            </a:r>
            <a:r>
              <a:rPr lang="en-US" sz="2000" i="1" dirty="0" err="1"/>
              <a:t>besoins</a:t>
            </a:r>
            <a:r>
              <a:rPr lang="en-US" sz="2000" i="1" dirty="0"/>
              <a:t> </a:t>
            </a:r>
            <a:r>
              <a:rPr lang="en-US" sz="2000" i="1" dirty="0" err="1"/>
              <a:t>nutritionnels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156536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0"/>
            <a:ext cx="8311912" cy="5778170"/>
          </a:xfrm>
        </p:spPr>
      </p:pic>
    </p:spTree>
    <p:extLst>
      <p:ext uri="{BB962C8B-B14F-4D97-AF65-F5344CB8AC3E}">
        <p14:creationId xmlns:p14="http://schemas.microsoft.com/office/powerpoint/2010/main" xmlns="" val="7613784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912</TotalTime>
  <Words>540</Words>
  <Application>Microsoft Office PowerPoint</Application>
  <PresentationFormat>On-screen Show (4:3)</PresentationFormat>
  <Paragraphs>122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Concourse</vt:lpstr>
      <vt:lpstr>  LES BESOINS NUTRITIONNELS </vt:lpstr>
      <vt:lpstr>Slide 2</vt:lpstr>
      <vt:lpstr>Les besoins nutritionnels</vt:lpstr>
      <vt:lpstr>Les besoins nutritionnels</vt:lpstr>
      <vt:lpstr>Slide 5</vt:lpstr>
      <vt:lpstr>Les besoins nutritionnels</vt:lpstr>
      <vt:lpstr>Les besoins nutritionnels</vt:lpstr>
      <vt:lpstr>Les besoins nutritionnels</vt:lpstr>
      <vt:lpstr>Les besoins nutritionnels</vt:lpstr>
      <vt:lpstr>Les besoins nutritionnels</vt:lpstr>
      <vt:lpstr>Les besoins nutritionnels</vt:lpstr>
      <vt:lpstr>Slide 12</vt:lpstr>
      <vt:lpstr>Les besoins nutritionnels</vt:lpstr>
      <vt:lpstr>Les besoins nutritionnels</vt:lpstr>
      <vt:lpstr>Slide 15</vt:lpstr>
      <vt:lpstr>Slide 16</vt:lpstr>
      <vt:lpstr>Les besoins nutritionnels</vt:lpstr>
      <vt:lpstr>Les besoins nutritionnels</vt:lpstr>
      <vt:lpstr>Les besoins nutritionnels</vt:lpstr>
      <vt:lpstr>Slide 20</vt:lpstr>
      <vt:lpstr>Les besoins nutritionnels</vt:lpstr>
      <vt:lpstr>Les besoins nutritionnels</vt:lpstr>
      <vt:lpstr>Les besoins nutritionnels</vt:lpstr>
      <vt:lpstr>Slide 24</vt:lpstr>
      <vt:lpstr>Les besoins nutritionnels</vt:lpstr>
      <vt:lpstr>Les besoins nutritionnels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BESOINS NUTRITIONNELS</dc:title>
  <dc:creator>Cristina</dc:creator>
  <cp:lastModifiedBy>Neonat</cp:lastModifiedBy>
  <cp:revision>136</cp:revision>
  <dcterms:created xsi:type="dcterms:W3CDTF">2015-03-18T06:33:46Z</dcterms:created>
  <dcterms:modified xsi:type="dcterms:W3CDTF">2015-11-13T08:38:57Z</dcterms:modified>
</cp:coreProperties>
</file>