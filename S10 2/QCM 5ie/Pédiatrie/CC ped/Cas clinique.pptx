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60" r:id="rId5"/>
    <p:sldId id="282" r:id="rId6"/>
    <p:sldId id="262" r:id="rId7"/>
    <p:sldId id="281" r:id="rId8"/>
    <p:sldId id="265" r:id="rId9"/>
    <p:sldId id="266" r:id="rId10"/>
    <p:sldId id="267" r:id="rId11"/>
    <p:sldId id="268" r:id="rId12"/>
    <p:sldId id="269" r:id="rId13"/>
    <p:sldId id="270" r:id="rId14"/>
    <p:sldId id="272" r:id="rId15"/>
    <p:sldId id="273" r:id="rId16"/>
    <p:sldId id="274" r:id="rId17"/>
    <p:sldId id="275" r:id="rId18"/>
    <p:sldId id="283" r:id="rId19"/>
    <p:sldId id="277" r:id="rId20"/>
    <p:sldId id="278" r:id="rId21"/>
    <p:sldId id="279" r:id="rId22"/>
    <p:sldId id="28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36" d="100"/>
          <a:sy n="36" d="100"/>
        </p:scale>
        <p:origin x="518" y="9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2AE8F5-869C-40A3-8BE3-D418FEF1CB73}" type="datetimeFigureOut">
              <a:rPr lang="fr-FR" smtClean="0"/>
              <a:t>01/06/2025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B18695-B88B-4231-B4D4-A0A3BB0F33CC}" type="slidenum">
              <a:rPr lang="fr-FR" smtClean="0"/>
              <a:t>‹N°›</a:t>
            </a:fld>
            <a:endParaRPr lang="fr-FR"/>
          </a:p>
        </p:txBody>
      </p:sp>
    </p:spTree>
    <p:extLst>
      <p:ext uri="{BB962C8B-B14F-4D97-AF65-F5344CB8AC3E}">
        <p14:creationId xmlns:p14="http://schemas.microsoft.com/office/powerpoint/2010/main" val="259617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64C67-F65D-62D1-2594-4AAC54F4893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344E701C-9C5D-EC92-E7D0-38DFBE9934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838EDC3-70C5-1077-C9D1-E6C8848E9D2A}"/>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5" name="Espace réservé du pied de page 4">
            <a:extLst>
              <a:ext uri="{FF2B5EF4-FFF2-40B4-BE49-F238E27FC236}">
                <a16:creationId xmlns:a16="http://schemas.microsoft.com/office/drawing/2014/main" id="{CEF960A6-31D4-6BDB-6E22-16FD55607A3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52ACFDA-955D-2801-75B3-D549D1901F8B}"/>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2324077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D57B62-76EA-D70B-597B-A36A27A98F0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61A3F55-6EF5-BFE1-2CDB-12D3DB5F726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88CD56F-1654-9596-B864-B6E0557433CB}"/>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5" name="Espace réservé du pied de page 4">
            <a:extLst>
              <a:ext uri="{FF2B5EF4-FFF2-40B4-BE49-F238E27FC236}">
                <a16:creationId xmlns:a16="http://schemas.microsoft.com/office/drawing/2014/main" id="{26F0F8BE-11F7-3789-1126-BE38788A117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FB08BA-FE73-C387-8DA7-D20F5B54C2C2}"/>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36554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9AD93F-149A-DCA0-01F8-7793DF06A1A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EE1CBF-E96B-A57B-DA30-E2CA379E3C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6DC2A4A-E071-E5F0-FC60-3D4A2E95FA33}"/>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5" name="Espace réservé du pied de page 4">
            <a:extLst>
              <a:ext uri="{FF2B5EF4-FFF2-40B4-BE49-F238E27FC236}">
                <a16:creationId xmlns:a16="http://schemas.microsoft.com/office/drawing/2014/main" id="{FFE0C8F5-7CAB-C57C-3443-4D4B6B8EBD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939921-3E21-43BC-DFCC-57E6C46941C0}"/>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4211819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34C676-B9E7-310F-CE6B-037E0D8EE1D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9D1A19B-0BED-DC7F-D766-94C59F18006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EDB52B6-FF30-6A93-207F-DBA6C878A95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61E35DD-D179-10CA-AF51-46B114F54846}"/>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6" name="Espace réservé du pied de page 5">
            <a:extLst>
              <a:ext uri="{FF2B5EF4-FFF2-40B4-BE49-F238E27FC236}">
                <a16:creationId xmlns:a16="http://schemas.microsoft.com/office/drawing/2014/main" id="{0613E07B-6297-C956-D04D-7702BD89ED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2B21808-2233-8200-397E-17A4AD984A3B}"/>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803351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AF32EE-5909-4D36-EA8C-629DF80D456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E7197D2-946C-A4A7-A3F1-4105D16D1B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94BACB0-E303-B5DC-A23D-E293A878A74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1891AF5-BE10-2710-5B54-644D065A1C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95B37EB-54A1-D5B5-BF2A-F5D7203F20C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351ED31-D232-BF3B-6F1E-E71AB6274291}"/>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8" name="Espace réservé du pied de page 7">
            <a:extLst>
              <a:ext uri="{FF2B5EF4-FFF2-40B4-BE49-F238E27FC236}">
                <a16:creationId xmlns:a16="http://schemas.microsoft.com/office/drawing/2014/main" id="{05F56B04-DB55-2BA0-1A4E-229ADA80418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CCF670A-B337-0D79-1256-EDAE349E5DDB}"/>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5148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7FF84D-831F-0088-9F63-D1EF0153C0A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2A6A9F1-4053-9D49-1431-3EE3A1A255A1}"/>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4" name="Espace réservé du pied de page 3">
            <a:extLst>
              <a:ext uri="{FF2B5EF4-FFF2-40B4-BE49-F238E27FC236}">
                <a16:creationId xmlns:a16="http://schemas.microsoft.com/office/drawing/2014/main" id="{DB5796BE-7670-BDA5-FFB1-26507BAB6EC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F642C6B-9E1B-2EC0-E01E-D25027D19D52}"/>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296224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784850A-150C-D072-856B-26D8A4C23360}"/>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3" name="Espace réservé du pied de page 2">
            <a:extLst>
              <a:ext uri="{FF2B5EF4-FFF2-40B4-BE49-F238E27FC236}">
                <a16:creationId xmlns:a16="http://schemas.microsoft.com/office/drawing/2014/main" id="{E26CB4B3-4879-D670-36BF-ECA03B64933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394FC48-0F4C-3FAF-26F7-9224F0613D4C}"/>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1648215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BA5C02-C33B-5A6F-2304-15478E70E5D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07D0B07-105D-DE07-A955-4F67DA807F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71F5FB1-E14E-21C7-5F9C-CE6D1416DE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2B97485-9BEC-05AB-3156-8C14EE3AE376}"/>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6" name="Espace réservé du pied de page 5">
            <a:extLst>
              <a:ext uri="{FF2B5EF4-FFF2-40B4-BE49-F238E27FC236}">
                <a16:creationId xmlns:a16="http://schemas.microsoft.com/office/drawing/2014/main" id="{0F49143D-82E6-DD04-FF93-9A19024F774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4CFC1F0-3AFF-8CED-F8D3-A7A5651F0FFA}"/>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2973477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CF7043-E4BC-27E8-339A-C26CE5896A3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666B8CF-3D5A-7408-3FBF-8C2E33A103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371198F-575C-9F8B-0A08-A8C163183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41E409C-B94E-DF2E-E586-202ADAC6B142}"/>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6" name="Espace réservé du pied de page 5">
            <a:extLst>
              <a:ext uri="{FF2B5EF4-FFF2-40B4-BE49-F238E27FC236}">
                <a16:creationId xmlns:a16="http://schemas.microsoft.com/office/drawing/2014/main" id="{9AE49003-86EF-BBC0-8A33-E9426212343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9A2F909-7BC4-61CA-7B94-D3D038E34616}"/>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358802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93DD65-2B92-FA2C-D583-B4535FE8CCF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B0260AF-C0BE-7A1E-B0CF-25B7844AA41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3982AAD-9393-11C0-40F7-50CF51A4340E}"/>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5" name="Espace réservé du pied de page 4">
            <a:extLst>
              <a:ext uri="{FF2B5EF4-FFF2-40B4-BE49-F238E27FC236}">
                <a16:creationId xmlns:a16="http://schemas.microsoft.com/office/drawing/2014/main" id="{6527159E-202E-DA0C-94E9-AAAB20621C7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360A5DC-CE25-8A23-CBE9-D3CEED8D5A89}"/>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66022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75EB60F-F4D5-EB26-EE1F-8CB5A032204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3B5F8C5-0E43-4F4F-0F16-B5AA23E9327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E27D3D-D4D7-6326-3014-58636DFEF438}"/>
              </a:ext>
            </a:extLst>
          </p:cNvPr>
          <p:cNvSpPr>
            <a:spLocks noGrp="1"/>
          </p:cNvSpPr>
          <p:nvPr>
            <p:ph type="dt" sz="half" idx="10"/>
          </p:nvPr>
        </p:nvSpPr>
        <p:spPr/>
        <p:txBody>
          <a:bodyPr/>
          <a:lstStyle/>
          <a:p>
            <a:fld id="{3BFBFEB9-BE8F-433D-9B73-038EE2BCA46D}" type="datetimeFigureOut">
              <a:rPr lang="fr-FR" smtClean="0"/>
              <a:t>01/06/2025</a:t>
            </a:fld>
            <a:endParaRPr lang="fr-FR"/>
          </a:p>
        </p:txBody>
      </p:sp>
      <p:sp>
        <p:nvSpPr>
          <p:cNvPr id="5" name="Espace réservé du pied de page 4">
            <a:extLst>
              <a:ext uri="{FF2B5EF4-FFF2-40B4-BE49-F238E27FC236}">
                <a16:creationId xmlns:a16="http://schemas.microsoft.com/office/drawing/2014/main" id="{02910372-435B-B504-2124-F353C503465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F23BC5F-38A3-52E3-351C-1784879A47F4}"/>
              </a:ext>
            </a:extLst>
          </p:cNvPr>
          <p:cNvSpPr>
            <a:spLocks noGrp="1"/>
          </p:cNvSpPr>
          <p:nvPr>
            <p:ph type="sldNum" sz="quarter" idx="12"/>
          </p:nvPr>
        </p:nvSpPr>
        <p:spPr/>
        <p:txBody>
          <a:bodyPr/>
          <a:lstStyle/>
          <a:p>
            <a:fld id="{C2A2F7B0-C94F-4F4A-B80F-947E6DF46351}" type="slidenum">
              <a:rPr lang="fr-FR" smtClean="0"/>
              <a:t>‹N°›</a:t>
            </a:fld>
            <a:endParaRPr lang="fr-FR"/>
          </a:p>
        </p:txBody>
      </p:sp>
    </p:spTree>
    <p:extLst>
      <p:ext uri="{BB962C8B-B14F-4D97-AF65-F5344CB8AC3E}">
        <p14:creationId xmlns:p14="http://schemas.microsoft.com/office/powerpoint/2010/main" val="1402460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6DF3D36-D0DC-651A-7A26-33EEABF49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3850C9A-EC02-DE7B-92CA-C41F18EAD0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545E8DA-7622-65DB-64FF-52DA8F8CC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FBFEB9-BE8F-433D-9B73-038EE2BCA46D}" type="datetimeFigureOut">
              <a:rPr lang="fr-FR" smtClean="0"/>
              <a:t>01/06/2025</a:t>
            </a:fld>
            <a:endParaRPr lang="fr-FR"/>
          </a:p>
        </p:txBody>
      </p:sp>
      <p:sp>
        <p:nvSpPr>
          <p:cNvPr id="5" name="Espace réservé du pied de page 4">
            <a:extLst>
              <a:ext uri="{FF2B5EF4-FFF2-40B4-BE49-F238E27FC236}">
                <a16:creationId xmlns:a16="http://schemas.microsoft.com/office/drawing/2014/main" id="{78D43AAD-37AC-9DEF-9AF1-0CD18F9CED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2D7CF6F-D075-6AD6-454C-15F209D291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A2F7B0-C94F-4F4A-B80F-947E6DF46351}" type="slidenum">
              <a:rPr lang="fr-FR" smtClean="0"/>
              <a:t>‹N°›</a:t>
            </a:fld>
            <a:endParaRPr lang="fr-FR"/>
          </a:p>
        </p:txBody>
      </p:sp>
    </p:spTree>
    <p:extLst>
      <p:ext uri="{BB962C8B-B14F-4D97-AF65-F5344CB8AC3E}">
        <p14:creationId xmlns:p14="http://schemas.microsoft.com/office/powerpoint/2010/main" val="1926377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5A0EF7-90CC-6B5D-2BDF-5F81FEB12CCE}"/>
              </a:ext>
            </a:extLst>
          </p:cNvPr>
          <p:cNvSpPr>
            <a:spLocks noGrp="1"/>
          </p:cNvSpPr>
          <p:nvPr>
            <p:ph type="ctrTitle"/>
          </p:nvPr>
        </p:nvSpPr>
        <p:spPr>
          <a:xfrm>
            <a:off x="1017181" y="1498382"/>
            <a:ext cx="7800660" cy="1520987"/>
          </a:xfrm>
        </p:spPr>
        <p:txBody>
          <a:bodyPr anchor="t">
            <a:normAutofit/>
          </a:bodyPr>
          <a:lstStyle/>
          <a:p>
            <a:pPr algn="l"/>
            <a:r>
              <a:rPr lang="fr-FR" sz="4000"/>
              <a:t>Cas clinique d’entérocolite aigue pédiatrique </a:t>
            </a:r>
            <a:endParaRPr lang="fr-FR" sz="4000" dirty="0"/>
          </a:p>
        </p:txBody>
      </p:sp>
      <p:sp>
        <p:nvSpPr>
          <p:cNvPr id="3" name="Sous-titre 2">
            <a:extLst>
              <a:ext uri="{FF2B5EF4-FFF2-40B4-BE49-F238E27FC236}">
                <a16:creationId xmlns:a16="http://schemas.microsoft.com/office/drawing/2014/main" id="{C473AF74-8829-D543-3F7D-FE690921773E}"/>
              </a:ext>
            </a:extLst>
          </p:cNvPr>
          <p:cNvSpPr>
            <a:spLocks noGrp="1"/>
          </p:cNvSpPr>
          <p:nvPr>
            <p:ph type="subTitle" idx="1"/>
          </p:nvPr>
        </p:nvSpPr>
        <p:spPr>
          <a:xfrm>
            <a:off x="10165378" y="5890695"/>
            <a:ext cx="2987656" cy="967305"/>
          </a:xfrm>
        </p:spPr>
        <p:txBody>
          <a:bodyPr anchor="b">
            <a:normAutofit/>
          </a:bodyPr>
          <a:lstStyle/>
          <a:p>
            <a:pPr algn="l"/>
            <a:r>
              <a:rPr lang="fr-FR" sz="1800"/>
              <a:t>CHAHOUR Hafssa</a:t>
            </a:r>
          </a:p>
          <a:p>
            <a:pPr algn="l"/>
            <a:r>
              <a:rPr lang="fr-FR" sz="1800"/>
              <a:t>JUILLET Lolie</a:t>
            </a:r>
            <a:endParaRPr lang="fr-FR" sz="1800" dirty="0"/>
          </a:p>
        </p:txBody>
      </p:sp>
    </p:spTree>
    <p:extLst>
      <p:ext uri="{BB962C8B-B14F-4D97-AF65-F5344CB8AC3E}">
        <p14:creationId xmlns:p14="http://schemas.microsoft.com/office/powerpoint/2010/main" val="218608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3C1850-B8EC-E1E1-7286-9AAC34C31641}"/>
              </a:ext>
            </a:extLst>
          </p:cNvPr>
          <p:cNvSpPr>
            <a:spLocks noGrp="1"/>
          </p:cNvSpPr>
          <p:nvPr>
            <p:ph type="title"/>
          </p:nvPr>
        </p:nvSpPr>
        <p:spPr>
          <a:xfrm>
            <a:off x="6115317" y="405685"/>
            <a:ext cx="5464968" cy="1559301"/>
          </a:xfrm>
        </p:spPr>
        <p:txBody>
          <a:bodyPr>
            <a:normAutofit/>
          </a:bodyPr>
          <a:lstStyle/>
          <a:p>
            <a:r>
              <a:rPr lang="fr-FR" sz="4000" dirty="0"/>
              <a:t>1 – Motif d’hospitalisation</a:t>
            </a:r>
          </a:p>
        </p:txBody>
      </p:sp>
      <p:sp>
        <p:nvSpPr>
          <p:cNvPr id="5" name="Rectangle 2">
            <a:extLst>
              <a:ext uri="{FF2B5EF4-FFF2-40B4-BE49-F238E27FC236}">
                <a16:creationId xmlns:a16="http://schemas.microsoft.com/office/drawing/2014/main" id="{CC4BF44F-1684-EE69-02D7-B873806C2755}"/>
              </a:ext>
            </a:extLst>
          </p:cNvPr>
          <p:cNvSpPr>
            <a:spLocks noGrp="1" noChangeArrowheads="1"/>
          </p:cNvSpPr>
          <p:nvPr>
            <p:ph idx="1"/>
          </p:nvPr>
        </p:nvSpPr>
        <p:spPr bwMode="auto">
          <a:xfrm>
            <a:off x="6115317" y="2370671"/>
            <a:ext cx="5247340" cy="386940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2500" lnSpcReduction="10000"/>
          </a:bodyPr>
          <a:lstStyle/>
          <a:p>
            <a:pPr marL="0" indent="0" algn="l">
              <a:buNone/>
            </a:pPr>
            <a:r>
              <a:rPr lang="fr-FR" sz="2000" noProof="0" dirty="0">
                <a:solidFill>
                  <a:srgbClr val="4A4A45"/>
                </a:solidFill>
                <a:latin typeface="Lato" pitchFamily="34" charset="0"/>
                <a:ea typeface="Lato" pitchFamily="34" charset="-122"/>
                <a:cs typeface="Lato" pitchFamily="34" charset="-120"/>
              </a:rPr>
              <a:t>I.F. , enfant de sexe féminin, de 1 an et 10 mois hospitalisée sur une période de cinq jours au service de pédiatrie, du 14 au 19 mai 2025. </a:t>
            </a:r>
          </a:p>
          <a:p>
            <a:pPr marL="0" indent="0" algn="l">
              <a:buNone/>
            </a:pPr>
            <a:endParaRPr lang="fr-FR" sz="2000" noProof="0" dirty="0">
              <a:solidFill>
                <a:srgbClr val="4A4A45"/>
              </a:solidFill>
              <a:latin typeface="Lato" pitchFamily="34" charset="0"/>
              <a:ea typeface="Lato" pitchFamily="34" charset="-122"/>
              <a:cs typeface="Lato" pitchFamily="34" charset="-120"/>
            </a:endParaRPr>
          </a:p>
          <a:p>
            <a:pPr marL="0" indent="0" algn="l">
              <a:buNone/>
            </a:pPr>
            <a:r>
              <a:rPr lang="fr-FR" sz="2000" noProof="0" dirty="0">
                <a:solidFill>
                  <a:srgbClr val="4A4A45"/>
                </a:solidFill>
                <a:latin typeface="Lato" pitchFamily="34" charset="0"/>
                <a:ea typeface="Lato" pitchFamily="34" charset="-122"/>
                <a:cs typeface="Lato" pitchFamily="34" charset="-120"/>
              </a:rPr>
              <a:t>Admission faisait suite à un état clinique préoccupant nécessitant une surveillance et une intervention médicales intensives.</a:t>
            </a:r>
          </a:p>
          <a:p>
            <a:pPr marL="0" indent="0" algn="l">
              <a:buNone/>
            </a:pPr>
            <a:endParaRPr lang="fr-FR" sz="2000" noProof="0" dirty="0"/>
          </a:p>
          <a:p>
            <a:pPr marL="0" marR="0" lvl="0" indent="0" defTabSz="914400" rtl="0" eaLnBrk="0" fontAlgn="base" latinLnBrk="0" hangingPunct="0">
              <a:spcBef>
                <a:spcPct val="0"/>
              </a:spcBef>
              <a:spcAft>
                <a:spcPts val="600"/>
              </a:spcAft>
              <a:buClrTx/>
              <a:buSzTx/>
              <a:buFontTx/>
              <a:buNone/>
              <a:tabLst/>
            </a:pPr>
            <a:r>
              <a:rPr kumimoji="0" lang="fr-FR" altLang="fr-FR" sz="2000" b="1" i="0" u="none" strike="noStrike" cap="none" normalizeH="0" baseline="0" dirty="0">
                <a:ln>
                  <a:noFill/>
                </a:ln>
                <a:effectLst/>
                <a:latin typeface="Arial" panose="020B0604020202020204" pitchFamily="34" charset="0"/>
              </a:rPr>
              <a:t>Dates d'hospitalisation :</a:t>
            </a:r>
            <a:endParaRPr kumimoji="0" lang="fr-FR" altLang="fr-FR"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000" b="1" i="0" u="none" strike="noStrike" cap="none" normalizeH="0" baseline="0" dirty="0">
                <a:ln>
                  <a:noFill/>
                </a:ln>
                <a:effectLst/>
                <a:latin typeface="Arial" panose="020B0604020202020204" pitchFamily="34" charset="0"/>
              </a:rPr>
              <a:t>Date d'entrée :</a:t>
            </a:r>
            <a:r>
              <a:rPr kumimoji="0" lang="fr-FR" altLang="fr-FR" sz="2000" b="0" i="0" u="none" strike="noStrike" cap="none" normalizeH="0" baseline="0" dirty="0">
                <a:ln>
                  <a:noFill/>
                </a:ln>
                <a:effectLst/>
                <a:latin typeface="Arial" panose="020B0604020202020204" pitchFamily="34" charset="0"/>
              </a:rPr>
              <a:t> 14.05.2025 à 17:51 </a:t>
            </a:r>
          </a:p>
          <a:p>
            <a:pPr marL="0" marR="0" lvl="0" indent="0" defTabSz="914400" rtl="0" eaLnBrk="0" fontAlgn="base" latinLnBrk="0" hangingPunct="0">
              <a:spcBef>
                <a:spcPct val="0"/>
              </a:spcBef>
              <a:spcAft>
                <a:spcPts val="600"/>
              </a:spcAft>
              <a:buClrTx/>
              <a:buSzTx/>
              <a:buFontTx/>
              <a:buChar char="•"/>
              <a:tabLst/>
            </a:pPr>
            <a:r>
              <a:rPr kumimoji="0" lang="fr-FR" altLang="fr-FR" sz="2000" b="1" i="0" u="none" strike="noStrike" cap="none" normalizeH="0" baseline="0" dirty="0">
                <a:ln>
                  <a:noFill/>
                </a:ln>
                <a:effectLst/>
                <a:latin typeface="Arial" panose="020B0604020202020204" pitchFamily="34" charset="0"/>
              </a:rPr>
              <a:t>Poids :</a:t>
            </a:r>
            <a:r>
              <a:rPr kumimoji="0" lang="fr-FR" altLang="fr-FR" sz="2000" b="0" i="0" u="none" strike="noStrike" cap="none" normalizeH="0" baseline="0" dirty="0">
                <a:ln>
                  <a:noFill/>
                </a:ln>
                <a:effectLst/>
                <a:latin typeface="Arial" panose="020B0604020202020204" pitchFamily="34" charset="0"/>
              </a:rPr>
              <a:t> 11,8 kg </a:t>
            </a:r>
          </a:p>
          <a:p>
            <a:pPr marL="0" marR="0" lvl="0" indent="0" defTabSz="914400" rtl="0" eaLnBrk="0" fontAlgn="base" latinLnBrk="0" hangingPunct="0">
              <a:spcBef>
                <a:spcPct val="0"/>
              </a:spcBef>
              <a:spcAft>
                <a:spcPts val="600"/>
              </a:spcAft>
              <a:buClrTx/>
              <a:buSzTx/>
              <a:buFontTx/>
              <a:buChar char="•"/>
              <a:tabLst/>
            </a:pPr>
            <a:r>
              <a:rPr kumimoji="0" lang="fr-FR" altLang="fr-FR" sz="2000" b="1" i="0" u="none" strike="noStrike" cap="none" normalizeH="0" baseline="0" dirty="0">
                <a:ln>
                  <a:noFill/>
                </a:ln>
                <a:effectLst/>
                <a:latin typeface="Arial" panose="020B0604020202020204" pitchFamily="34" charset="0"/>
              </a:rPr>
              <a:t>Taille :</a:t>
            </a:r>
            <a:r>
              <a:rPr kumimoji="0" lang="fr-FR" altLang="fr-FR" sz="2000" b="0" i="0" u="none" strike="noStrike" cap="none" normalizeH="0" baseline="0" dirty="0">
                <a:ln>
                  <a:noFill/>
                </a:ln>
                <a:effectLst/>
                <a:latin typeface="Arial" panose="020B0604020202020204" pitchFamily="34" charset="0"/>
              </a:rPr>
              <a:t> 84 cm </a:t>
            </a:r>
          </a:p>
          <a:p>
            <a:pPr marL="0" marR="0" lvl="0" indent="0" defTabSz="914400" rtl="0" eaLnBrk="0" fontAlgn="base" latinLnBrk="0" hangingPunct="0">
              <a:spcBef>
                <a:spcPct val="0"/>
              </a:spcBef>
              <a:spcAft>
                <a:spcPts val="600"/>
              </a:spcAft>
              <a:buClrTx/>
              <a:buSzTx/>
              <a:buFontTx/>
              <a:buNone/>
              <a:tabLst/>
            </a:pPr>
            <a:endParaRPr kumimoji="0" lang="fr-FR" altLang="fr-FR" sz="20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94334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178E84-4A46-43B4-B73D-65064E6090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02FBA8-F389-5CB8-228B-83792FCAE7A4}"/>
              </a:ext>
            </a:extLst>
          </p:cNvPr>
          <p:cNvSpPr>
            <a:spLocks noGrp="1"/>
          </p:cNvSpPr>
          <p:nvPr>
            <p:ph type="title"/>
          </p:nvPr>
        </p:nvSpPr>
        <p:spPr>
          <a:xfrm>
            <a:off x="1050889" y="164104"/>
            <a:ext cx="9833548" cy="1325563"/>
          </a:xfrm>
        </p:spPr>
        <p:txBody>
          <a:bodyPr vert="horz" lIns="91440" tIns="45720" rIns="91440" bIns="45720" rtlCol="0" anchor="b">
            <a:normAutofit/>
          </a:bodyPr>
          <a:lstStyle/>
          <a:p>
            <a:pPr algn="ctr"/>
            <a:r>
              <a:rPr lang="en-US" sz="3600" kern="1200" dirty="0">
                <a:solidFill>
                  <a:schemeClr val="tx2"/>
                </a:solidFill>
                <a:latin typeface="+mj-lt"/>
                <a:ea typeface="+mj-ea"/>
                <a:cs typeface="+mj-cs"/>
              </a:rPr>
              <a:t>2 – Histoire de la </a:t>
            </a:r>
            <a:r>
              <a:rPr lang="en-US" sz="3600" kern="1200" dirty="0" err="1">
                <a:solidFill>
                  <a:schemeClr val="tx2"/>
                </a:solidFill>
                <a:latin typeface="+mj-lt"/>
                <a:ea typeface="+mj-ea"/>
                <a:cs typeface="+mj-cs"/>
              </a:rPr>
              <a:t>maladie</a:t>
            </a:r>
            <a:r>
              <a:rPr lang="en-US" sz="3600" kern="1200" dirty="0">
                <a:solidFill>
                  <a:schemeClr val="tx2"/>
                </a:solidFill>
                <a:latin typeface="+mj-lt"/>
                <a:ea typeface="+mj-ea"/>
                <a:cs typeface="+mj-cs"/>
              </a:rPr>
              <a:t> </a:t>
            </a:r>
          </a:p>
        </p:txBody>
      </p:sp>
      <p:sp>
        <p:nvSpPr>
          <p:cNvPr id="4" name="Rectangle 1">
            <a:extLst>
              <a:ext uri="{FF2B5EF4-FFF2-40B4-BE49-F238E27FC236}">
                <a16:creationId xmlns:a16="http://schemas.microsoft.com/office/drawing/2014/main" id="{284EFA9F-6BD3-538E-8BF8-E17CEAFC9267}"/>
              </a:ext>
            </a:extLst>
          </p:cNvPr>
          <p:cNvSpPr>
            <a:spLocks noChangeArrowheads="1"/>
          </p:cNvSpPr>
          <p:nvPr/>
        </p:nvSpPr>
        <p:spPr bwMode="auto">
          <a:xfrm>
            <a:off x="497305" y="1905923"/>
            <a:ext cx="11229474" cy="57482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indent="0" algn="l">
              <a:lnSpc>
                <a:spcPts val="2850"/>
              </a:lnSpc>
              <a:buNone/>
            </a:pPr>
            <a:r>
              <a:rPr lang="fr-FR" sz="1800" noProof="0" dirty="0">
                <a:solidFill>
                  <a:srgbClr val="4A4A45"/>
                </a:solidFill>
                <a:latin typeface="Lato" pitchFamily="34" charset="0"/>
                <a:ea typeface="Lato" pitchFamily="34" charset="-122"/>
                <a:cs typeface="Lato" pitchFamily="34" charset="-120"/>
              </a:rPr>
              <a:t>La petite fille de 1 an et 10 mois se présente à la Clinique de Pédiatrie avec un état inquiétant depuis 3 jours : </a:t>
            </a:r>
          </a:p>
          <a:p>
            <a:pPr marR="0" lvl="0" fontAlgn="base">
              <a:lnSpc>
                <a:spcPct val="90000"/>
              </a:lnSpc>
              <a:spcBef>
                <a:spcPct val="0"/>
              </a:spcBef>
              <a:spcAft>
                <a:spcPts val="600"/>
              </a:spcAft>
              <a:buClrTx/>
              <a:buSzTx/>
              <a:tabLst/>
            </a:pPr>
            <a:br>
              <a:rPr kumimoji="0" lang="en-US" altLang="fr-FR" b="0" i="0" u="none" strike="noStrike" cap="none" normalizeH="0" baseline="0" dirty="0">
                <a:ln>
                  <a:noFill/>
                </a:ln>
                <a:solidFill>
                  <a:schemeClr val="tx2"/>
                </a:solidFill>
                <a:effectLst/>
              </a:rPr>
            </a:br>
            <a:endParaRPr kumimoji="0" lang="en-US" altLang="fr-FR" b="0" i="0" u="none" strike="noStrike" cap="none" normalizeH="0" baseline="0" dirty="0">
              <a:ln>
                <a:noFill/>
              </a:ln>
              <a:solidFill>
                <a:schemeClr val="tx2"/>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fr-FR" b="0" i="0" u="none" strike="noStrike" cap="none" normalizeH="0" baseline="0" dirty="0">
              <a:ln>
                <a:noFill/>
              </a:ln>
              <a:solidFill>
                <a:schemeClr val="tx2"/>
              </a:solidFill>
              <a:effectLst/>
            </a:endParaRPr>
          </a:p>
        </p:txBody>
      </p:sp>
      <p:sp>
        <p:nvSpPr>
          <p:cNvPr id="3" name="Shape 2">
            <a:extLst>
              <a:ext uri="{FF2B5EF4-FFF2-40B4-BE49-F238E27FC236}">
                <a16:creationId xmlns:a16="http://schemas.microsoft.com/office/drawing/2014/main" id="{45F62A2D-BFFB-62B5-98E8-C25B500E82F9}"/>
              </a:ext>
            </a:extLst>
          </p:cNvPr>
          <p:cNvSpPr/>
          <p:nvPr/>
        </p:nvSpPr>
        <p:spPr>
          <a:xfrm>
            <a:off x="793790" y="2993588"/>
            <a:ext cx="510302" cy="510302"/>
          </a:xfrm>
          <a:prstGeom prst="roundRect">
            <a:avLst>
              <a:gd name="adj" fmla="val 6667"/>
            </a:avLst>
          </a:prstGeom>
          <a:solidFill>
            <a:srgbClr val="E5DFD2"/>
          </a:solidFill>
          <a:ln/>
        </p:spPr>
        <p:txBody>
          <a:bodyPr/>
          <a:lstStyle/>
          <a:p>
            <a:endParaRPr lang="fr-FR" noProof="0" dirty="0"/>
          </a:p>
        </p:txBody>
      </p:sp>
      <p:pic>
        <p:nvPicPr>
          <p:cNvPr id="5" name="Image 0" descr="preencoded.png">
            <a:extLst>
              <a:ext uri="{FF2B5EF4-FFF2-40B4-BE49-F238E27FC236}">
                <a16:creationId xmlns:a16="http://schemas.microsoft.com/office/drawing/2014/main" id="{3FE8EAD1-DEC7-E691-AFE0-5B1BD47902F4}"/>
              </a:ext>
            </a:extLst>
          </p:cNvPr>
          <p:cNvPicPr>
            <a:picLocks noChangeAspect="1"/>
          </p:cNvPicPr>
          <p:nvPr/>
        </p:nvPicPr>
        <p:blipFill>
          <a:blip r:embed="rId2"/>
          <a:stretch>
            <a:fillRect/>
          </a:stretch>
        </p:blipFill>
        <p:spPr>
          <a:xfrm>
            <a:off x="878860" y="3036094"/>
            <a:ext cx="340162" cy="425291"/>
          </a:xfrm>
          <a:prstGeom prst="rect">
            <a:avLst/>
          </a:prstGeom>
        </p:spPr>
      </p:pic>
      <p:sp>
        <p:nvSpPr>
          <p:cNvPr id="6" name="Text 3">
            <a:extLst>
              <a:ext uri="{FF2B5EF4-FFF2-40B4-BE49-F238E27FC236}">
                <a16:creationId xmlns:a16="http://schemas.microsoft.com/office/drawing/2014/main" id="{27F96575-D5A2-8B03-BBE1-B760EC835E14}"/>
              </a:ext>
            </a:extLst>
          </p:cNvPr>
          <p:cNvSpPr/>
          <p:nvPr/>
        </p:nvSpPr>
        <p:spPr>
          <a:xfrm>
            <a:off x="1530906" y="3071455"/>
            <a:ext cx="2835235" cy="354330"/>
          </a:xfrm>
          <a:prstGeom prst="rect">
            <a:avLst/>
          </a:prstGeom>
          <a:noFill/>
          <a:ln/>
        </p:spPr>
        <p:txBody>
          <a:bodyPr wrap="none" lIns="0" tIns="0" rIns="0" bIns="0" rtlCol="0" anchor="t"/>
          <a:lstStyle/>
          <a:p>
            <a:pPr marL="0" indent="0" algn="l">
              <a:lnSpc>
                <a:spcPts val="2750"/>
              </a:lnSpc>
              <a:buNone/>
            </a:pPr>
            <a:r>
              <a:rPr lang="fr-FR" sz="2200" b="1" noProof="0" dirty="0">
                <a:solidFill>
                  <a:srgbClr val="4A4A45"/>
                </a:solidFill>
                <a:latin typeface="Lato Bold" pitchFamily="34" charset="0"/>
                <a:ea typeface="Lato Bold" pitchFamily="34" charset="-122"/>
                <a:cs typeface="Lato Bold" pitchFamily="34" charset="-120"/>
              </a:rPr>
              <a:t>Fièvre élevée </a:t>
            </a:r>
            <a:endParaRPr lang="fr-FR" sz="2200" noProof="0" dirty="0"/>
          </a:p>
        </p:txBody>
      </p:sp>
      <p:sp>
        <p:nvSpPr>
          <p:cNvPr id="7" name="Text 4">
            <a:extLst>
              <a:ext uri="{FF2B5EF4-FFF2-40B4-BE49-F238E27FC236}">
                <a16:creationId xmlns:a16="http://schemas.microsoft.com/office/drawing/2014/main" id="{100E84C8-DC17-1A41-BAAC-E4C71391D3CE}"/>
              </a:ext>
            </a:extLst>
          </p:cNvPr>
          <p:cNvSpPr/>
          <p:nvPr/>
        </p:nvSpPr>
        <p:spPr>
          <a:xfrm>
            <a:off x="1530906" y="3561874"/>
            <a:ext cx="5642610" cy="725805"/>
          </a:xfrm>
          <a:prstGeom prst="rect">
            <a:avLst/>
          </a:prstGeom>
          <a:noFill/>
          <a:ln/>
        </p:spPr>
        <p:txBody>
          <a:bodyPr wrap="square" lIns="0" tIns="0" rIns="0" bIns="0" rtlCol="0" anchor="t"/>
          <a:lstStyle/>
          <a:p>
            <a:pPr marL="0" indent="0" algn="l">
              <a:lnSpc>
                <a:spcPts val="2850"/>
              </a:lnSpc>
              <a:buNone/>
            </a:pPr>
            <a:r>
              <a:rPr lang="fr-FR" sz="1750" noProof="0" dirty="0">
                <a:solidFill>
                  <a:srgbClr val="4A4A45"/>
                </a:solidFill>
                <a:latin typeface="Lato" pitchFamily="34" charset="0"/>
                <a:ea typeface="Lato" pitchFamily="34" charset="-122"/>
                <a:cs typeface="Lato" pitchFamily="34" charset="-120"/>
              </a:rPr>
              <a:t>Fièvre &gt; 39° et altération de l'état général, suggérant une infection généralisée.</a:t>
            </a:r>
            <a:endParaRPr lang="fr-FR" sz="1750" noProof="0" dirty="0"/>
          </a:p>
        </p:txBody>
      </p:sp>
      <p:sp>
        <p:nvSpPr>
          <p:cNvPr id="8" name="Shape 5">
            <a:extLst>
              <a:ext uri="{FF2B5EF4-FFF2-40B4-BE49-F238E27FC236}">
                <a16:creationId xmlns:a16="http://schemas.microsoft.com/office/drawing/2014/main" id="{43BB587D-95EA-C63B-EB46-A34AFFF4226F}"/>
              </a:ext>
            </a:extLst>
          </p:cNvPr>
          <p:cNvSpPr/>
          <p:nvPr/>
        </p:nvSpPr>
        <p:spPr>
          <a:xfrm>
            <a:off x="7457003" y="2993588"/>
            <a:ext cx="510302" cy="510302"/>
          </a:xfrm>
          <a:prstGeom prst="roundRect">
            <a:avLst>
              <a:gd name="adj" fmla="val 6667"/>
            </a:avLst>
          </a:prstGeom>
          <a:solidFill>
            <a:srgbClr val="E5DFD2"/>
          </a:solidFill>
          <a:ln/>
        </p:spPr>
        <p:txBody>
          <a:bodyPr/>
          <a:lstStyle/>
          <a:p>
            <a:endParaRPr lang="fr-FR" noProof="0" dirty="0"/>
          </a:p>
        </p:txBody>
      </p:sp>
      <p:pic>
        <p:nvPicPr>
          <p:cNvPr id="10" name="Image 1" descr="preencoded.png">
            <a:extLst>
              <a:ext uri="{FF2B5EF4-FFF2-40B4-BE49-F238E27FC236}">
                <a16:creationId xmlns:a16="http://schemas.microsoft.com/office/drawing/2014/main" id="{76EA1AFE-FAB3-1744-0650-F29DF733A6FE}"/>
              </a:ext>
            </a:extLst>
          </p:cNvPr>
          <p:cNvPicPr>
            <a:picLocks noChangeAspect="1"/>
          </p:cNvPicPr>
          <p:nvPr/>
        </p:nvPicPr>
        <p:blipFill>
          <a:blip r:embed="rId3"/>
          <a:stretch>
            <a:fillRect/>
          </a:stretch>
        </p:blipFill>
        <p:spPr>
          <a:xfrm>
            <a:off x="7542074" y="3036094"/>
            <a:ext cx="340162" cy="425291"/>
          </a:xfrm>
          <a:prstGeom prst="rect">
            <a:avLst/>
          </a:prstGeom>
        </p:spPr>
      </p:pic>
      <p:sp>
        <p:nvSpPr>
          <p:cNvPr id="26" name="Text 6">
            <a:extLst>
              <a:ext uri="{FF2B5EF4-FFF2-40B4-BE49-F238E27FC236}">
                <a16:creationId xmlns:a16="http://schemas.microsoft.com/office/drawing/2014/main" id="{1C49FB39-3E36-B0A6-0526-79BE01357040}"/>
              </a:ext>
            </a:extLst>
          </p:cNvPr>
          <p:cNvSpPr/>
          <p:nvPr/>
        </p:nvSpPr>
        <p:spPr>
          <a:xfrm>
            <a:off x="8194119" y="3071455"/>
            <a:ext cx="2835235" cy="354330"/>
          </a:xfrm>
          <a:prstGeom prst="rect">
            <a:avLst/>
          </a:prstGeom>
          <a:noFill/>
          <a:ln/>
        </p:spPr>
        <p:txBody>
          <a:bodyPr wrap="none" lIns="0" tIns="0" rIns="0" bIns="0" rtlCol="0" anchor="t"/>
          <a:lstStyle/>
          <a:p>
            <a:pPr marL="0" indent="0" algn="l">
              <a:lnSpc>
                <a:spcPts val="2750"/>
              </a:lnSpc>
              <a:buNone/>
            </a:pPr>
            <a:r>
              <a:rPr lang="fr-FR" sz="2200" b="1" noProof="0" dirty="0">
                <a:solidFill>
                  <a:srgbClr val="4A4A45"/>
                </a:solidFill>
                <a:latin typeface="Lato Bold" pitchFamily="34" charset="0"/>
                <a:ea typeface="Lato Bold" pitchFamily="34" charset="-122"/>
                <a:cs typeface="Lato Bold" pitchFamily="34" charset="-120"/>
              </a:rPr>
              <a:t>Troubles Digestifs</a:t>
            </a:r>
            <a:endParaRPr lang="fr-FR" sz="2200" noProof="0" dirty="0"/>
          </a:p>
        </p:txBody>
      </p:sp>
      <p:sp>
        <p:nvSpPr>
          <p:cNvPr id="27" name="Shape 8">
            <a:extLst>
              <a:ext uri="{FF2B5EF4-FFF2-40B4-BE49-F238E27FC236}">
                <a16:creationId xmlns:a16="http://schemas.microsoft.com/office/drawing/2014/main" id="{C081677E-DB19-DD46-55DA-34A8C4CC6EEE}"/>
              </a:ext>
            </a:extLst>
          </p:cNvPr>
          <p:cNvSpPr/>
          <p:nvPr/>
        </p:nvSpPr>
        <p:spPr>
          <a:xfrm>
            <a:off x="793790" y="4741307"/>
            <a:ext cx="510302" cy="510302"/>
          </a:xfrm>
          <a:prstGeom prst="roundRect">
            <a:avLst>
              <a:gd name="adj" fmla="val 6667"/>
            </a:avLst>
          </a:prstGeom>
          <a:solidFill>
            <a:srgbClr val="E5DFD2"/>
          </a:solidFill>
          <a:ln/>
        </p:spPr>
        <p:txBody>
          <a:bodyPr/>
          <a:lstStyle/>
          <a:p>
            <a:endParaRPr lang="fr-FR" noProof="0" dirty="0"/>
          </a:p>
        </p:txBody>
      </p:sp>
      <p:pic>
        <p:nvPicPr>
          <p:cNvPr id="28" name="Image 2" descr="preencoded.png">
            <a:extLst>
              <a:ext uri="{FF2B5EF4-FFF2-40B4-BE49-F238E27FC236}">
                <a16:creationId xmlns:a16="http://schemas.microsoft.com/office/drawing/2014/main" id="{AE5F2A7E-AA5D-91DB-284B-0BA292E7E9D5}"/>
              </a:ext>
            </a:extLst>
          </p:cNvPr>
          <p:cNvPicPr>
            <a:picLocks noChangeAspect="1"/>
          </p:cNvPicPr>
          <p:nvPr/>
        </p:nvPicPr>
        <p:blipFill>
          <a:blip r:embed="rId4"/>
          <a:stretch>
            <a:fillRect/>
          </a:stretch>
        </p:blipFill>
        <p:spPr>
          <a:xfrm>
            <a:off x="878860" y="4783812"/>
            <a:ext cx="340162" cy="425291"/>
          </a:xfrm>
          <a:prstGeom prst="rect">
            <a:avLst/>
          </a:prstGeom>
        </p:spPr>
      </p:pic>
      <p:sp>
        <p:nvSpPr>
          <p:cNvPr id="29" name="Text 9">
            <a:extLst>
              <a:ext uri="{FF2B5EF4-FFF2-40B4-BE49-F238E27FC236}">
                <a16:creationId xmlns:a16="http://schemas.microsoft.com/office/drawing/2014/main" id="{6B836270-C75A-609E-90FC-CCC45234DC9C}"/>
              </a:ext>
            </a:extLst>
          </p:cNvPr>
          <p:cNvSpPr/>
          <p:nvPr/>
        </p:nvSpPr>
        <p:spPr>
          <a:xfrm>
            <a:off x="1530906" y="4819174"/>
            <a:ext cx="4573548" cy="354330"/>
          </a:xfrm>
          <a:prstGeom prst="rect">
            <a:avLst/>
          </a:prstGeom>
          <a:noFill/>
          <a:ln/>
        </p:spPr>
        <p:txBody>
          <a:bodyPr wrap="none" lIns="0" tIns="0" rIns="0" bIns="0" rtlCol="0" anchor="t"/>
          <a:lstStyle/>
          <a:p>
            <a:pPr marL="0" indent="0" algn="l">
              <a:lnSpc>
                <a:spcPts val="2750"/>
              </a:lnSpc>
              <a:buNone/>
            </a:pPr>
            <a:r>
              <a:rPr lang="fr-FR" sz="2200" b="1" noProof="0" dirty="0">
                <a:solidFill>
                  <a:srgbClr val="4A4A45"/>
                </a:solidFill>
                <a:latin typeface="Lato Bold" pitchFamily="34" charset="0"/>
                <a:ea typeface="Lato Bold" pitchFamily="34" charset="-122"/>
                <a:cs typeface="Lato Bold" pitchFamily="34" charset="-120"/>
              </a:rPr>
              <a:t>Traitement inefficace </a:t>
            </a:r>
            <a:endParaRPr lang="fr-FR" sz="2200" noProof="0" dirty="0"/>
          </a:p>
        </p:txBody>
      </p:sp>
      <p:sp>
        <p:nvSpPr>
          <p:cNvPr id="30" name="Text 10">
            <a:extLst>
              <a:ext uri="{FF2B5EF4-FFF2-40B4-BE49-F238E27FC236}">
                <a16:creationId xmlns:a16="http://schemas.microsoft.com/office/drawing/2014/main" id="{AE8E3A61-EDD6-D47B-5F0D-02898C9F9110}"/>
              </a:ext>
            </a:extLst>
          </p:cNvPr>
          <p:cNvSpPr/>
          <p:nvPr/>
        </p:nvSpPr>
        <p:spPr>
          <a:xfrm>
            <a:off x="1530906" y="5309592"/>
            <a:ext cx="5642610" cy="725805"/>
          </a:xfrm>
          <a:prstGeom prst="rect">
            <a:avLst/>
          </a:prstGeom>
          <a:noFill/>
          <a:ln/>
        </p:spPr>
        <p:txBody>
          <a:bodyPr wrap="square" lIns="0" tIns="0" rIns="0" bIns="0" rtlCol="0" anchor="t"/>
          <a:lstStyle/>
          <a:p>
            <a:pPr marL="0" indent="0" algn="l">
              <a:lnSpc>
                <a:spcPts val="2850"/>
              </a:lnSpc>
              <a:buNone/>
            </a:pPr>
            <a:r>
              <a:rPr lang="fr-FR" sz="1750" noProof="0" dirty="0">
                <a:solidFill>
                  <a:srgbClr val="4A4A45"/>
                </a:solidFill>
                <a:latin typeface="Lato" pitchFamily="34" charset="0"/>
                <a:ea typeface="Lato" pitchFamily="34" charset="-122"/>
                <a:cs typeface="Lato" pitchFamily="34" charset="-120"/>
              </a:rPr>
              <a:t>Prise d’</a:t>
            </a:r>
            <a:r>
              <a:rPr lang="fr-FR" sz="1750" noProof="0" dirty="0" err="1">
                <a:solidFill>
                  <a:srgbClr val="4A4A45"/>
                </a:solidFill>
                <a:latin typeface="Lato" pitchFamily="34" charset="0"/>
                <a:ea typeface="Lato" pitchFamily="34" charset="-122"/>
                <a:cs typeface="Lato" pitchFamily="34" charset="-120"/>
              </a:rPr>
              <a:t>Osetron</a:t>
            </a:r>
            <a:r>
              <a:rPr lang="fr-FR" sz="1750" noProof="0" dirty="0">
                <a:solidFill>
                  <a:srgbClr val="4A4A45"/>
                </a:solidFill>
                <a:latin typeface="Lato" pitchFamily="34" charset="0"/>
                <a:ea typeface="Lato" pitchFamily="34" charset="-122"/>
                <a:cs typeface="Lato" pitchFamily="34" charset="-120"/>
              </a:rPr>
              <a:t>, </a:t>
            </a:r>
            <a:r>
              <a:rPr lang="fr-FR" sz="1750" noProof="0" dirty="0" err="1">
                <a:solidFill>
                  <a:srgbClr val="4A4A45"/>
                </a:solidFill>
                <a:latin typeface="Lato" pitchFamily="34" charset="0"/>
                <a:ea typeface="Lato" pitchFamily="34" charset="-122"/>
                <a:cs typeface="Lato" pitchFamily="34" charset="-120"/>
              </a:rPr>
              <a:t>Hidrasec</a:t>
            </a:r>
            <a:r>
              <a:rPr lang="fr-FR" sz="1750" noProof="0" dirty="0">
                <a:solidFill>
                  <a:srgbClr val="4A4A45"/>
                </a:solidFill>
                <a:latin typeface="Lato" pitchFamily="34" charset="0"/>
                <a:ea typeface="Lato" pitchFamily="34" charset="-122"/>
                <a:cs typeface="Lato" pitchFamily="34" charset="-120"/>
              </a:rPr>
              <a:t>, </a:t>
            </a:r>
            <a:r>
              <a:rPr lang="fr-FR" sz="1750" noProof="0" dirty="0" err="1">
                <a:solidFill>
                  <a:srgbClr val="4A4A45"/>
                </a:solidFill>
                <a:latin typeface="Lato" pitchFamily="34" charset="0"/>
                <a:ea typeface="Lato" pitchFamily="34" charset="-122"/>
                <a:cs typeface="Lato" pitchFamily="34" charset="-120"/>
              </a:rPr>
              <a:t>Nurofen</a:t>
            </a:r>
            <a:r>
              <a:rPr lang="fr-FR" sz="1750" noProof="0" dirty="0">
                <a:solidFill>
                  <a:srgbClr val="4A4A45"/>
                </a:solidFill>
                <a:latin typeface="Lato" pitchFamily="34" charset="0"/>
                <a:ea typeface="Lato" pitchFamily="34" charset="-122"/>
                <a:cs typeface="Lato" pitchFamily="34" charset="-120"/>
              </a:rPr>
              <a:t> et Paracétamol </a:t>
            </a:r>
            <a:endParaRPr lang="fr-FR" sz="1750" noProof="0" dirty="0"/>
          </a:p>
        </p:txBody>
      </p:sp>
    </p:spTree>
    <p:extLst>
      <p:ext uri="{BB962C8B-B14F-4D97-AF65-F5344CB8AC3E}">
        <p14:creationId xmlns:p14="http://schemas.microsoft.com/office/powerpoint/2010/main" val="2867853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4B67AF-BB0E-8A0B-40D2-4A0B35AD377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2E49104-77AA-9186-2F78-34B161595CCA}"/>
              </a:ext>
            </a:extLst>
          </p:cNvPr>
          <p:cNvSpPr>
            <a:spLocks noGrp="1"/>
          </p:cNvSpPr>
          <p:nvPr>
            <p:ph type="title"/>
          </p:nvPr>
        </p:nvSpPr>
        <p:spPr>
          <a:xfrm>
            <a:off x="640080" y="1243013"/>
            <a:ext cx="3855720" cy="4371974"/>
          </a:xfrm>
        </p:spPr>
        <p:txBody>
          <a:bodyPr>
            <a:normAutofit/>
          </a:bodyPr>
          <a:lstStyle/>
          <a:p>
            <a:r>
              <a:rPr lang="fr-FR" sz="3600" dirty="0">
                <a:solidFill>
                  <a:schemeClr val="tx2"/>
                </a:solidFill>
              </a:rPr>
              <a:t>3 – Antécédents personnels </a:t>
            </a:r>
          </a:p>
        </p:txBody>
      </p:sp>
      <p:sp>
        <p:nvSpPr>
          <p:cNvPr id="3" name="Espace réservé du contenu 2">
            <a:extLst>
              <a:ext uri="{FF2B5EF4-FFF2-40B4-BE49-F238E27FC236}">
                <a16:creationId xmlns:a16="http://schemas.microsoft.com/office/drawing/2014/main" id="{BEDDCE33-9663-967B-F9FC-400D7BC91D75}"/>
              </a:ext>
            </a:extLst>
          </p:cNvPr>
          <p:cNvSpPr>
            <a:spLocks noGrp="1"/>
          </p:cNvSpPr>
          <p:nvPr>
            <p:ph idx="1"/>
          </p:nvPr>
        </p:nvSpPr>
        <p:spPr>
          <a:xfrm>
            <a:off x="6172200" y="804672"/>
            <a:ext cx="5221224" cy="5230368"/>
          </a:xfrm>
        </p:spPr>
        <p:txBody>
          <a:bodyPr anchor="ctr">
            <a:normAutofit/>
          </a:bodyPr>
          <a:lstStyle/>
          <a:p>
            <a:r>
              <a:rPr lang="fr-FR" sz="1500" dirty="0">
                <a:solidFill>
                  <a:schemeClr val="tx2"/>
                </a:solidFill>
                <a:latin typeface="Lato" panose="020F0502020204030203" pitchFamily="34" charset="0"/>
                <a:ea typeface="Lato" panose="020F0502020204030203" pitchFamily="34" charset="0"/>
                <a:cs typeface="Lato" panose="020F0502020204030203" pitchFamily="34" charset="0"/>
              </a:rPr>
              <a:t>Physiologiques : </a:t>
            </a:r>
          </a:p>
          <a:p>
            <a:pPr lvl="1"/>
            <a:r>
              <a:rPr lang="fr-FR" sz="1500" dirty="0">
                <a:solidFill>
                  <a:schemeClr val="tx2"/>
                </a:solidFill>
                <a:latin typeface="Lato" panose="020F0502020204030203" pitchFamily="34" charset="0"/>
                <a:ea typeface="Lato" panose="020F0502020204030203" pitchFamily="34" charset="0"/>
                <a:cs typeface="Lato" panose="020F0502020204030203" pitchFamily="34" charset="0"/>
              </a:rPr>
              <a:t>P</a:t>
            </a:r>
            <a:r>
              <a:rPr lang="fr-FR" sz="1500" noProof="0" dirty="0">
                <a:solidFill>
                  <a:schemeClr val="tx2"/>
                </a:solidFill>
                <a:latin typeface="Lato" panose="020F0502020204030203" pitchFamily="34" charset="0"/>
                <a:ea typeface="Lato" panose="020F0502020204030203" pitchFamily="34" charset="0"/>
                <a:cs typeface="Lato" panose="020F0502020204030203" pitchFamily="34" charset="0"/>
              </a:rPr>
              <a:t>as de données connues concernant la grossesse, l’accouchement ou la diversification alimentaire </a:t>
            </a:r>
          </a:p>
          <a:p>
            <a:pPr lvl="1"/>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a:p>
            <a:pPr lvl="1"/>
            <a:endParaRPr lang="fr-FR" sz="1500" noProof="0" dirty="0">
              <a:solidFill>
                <a:schemeClr val="tx2"/>
              </a:solidFill>
              <a:latin typeface="Lato" panose="020F0502020204030203" pitchFamily="34" charset="0"/>
              <a:ea typeface="Lato" panose="020F0502020204030203" pitchFamily="34" charset="0"/>
              <a:cs typeface="Lato" panose="020F0502020204030203" pitchFamily="34" charset="0"/>
            </a:endParaRPr>
          </a:p>
          <a:p>
            <a:pPr lvl="1"/>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a:p>
            <a:pPr lvl="1"/>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fr-FR" sz="1500" noProof="0" dirty="0">
                <a:solidFill>
                  <a:schemeClr val="tx2"/>
                </a:solidFill>
                <a:latin typeface="Lato" panose="020F0502020204030203" pitchFamily="34" charset="0"/>
                <a:ea typeface="Lato" panose="020F0502020204030203" pitchFamily="34" charset="0"/>
                <a:cs typeface="Lato" panose="020F0502020204030203" pitchFamily="34" charset="0"/>
              </a:rPr>
              <a:t>Pathologiques : </a:t>
            </a:r>
          </a:p>
          <a:p>
            <a:pPr lvl="1"/>
            <a:r>
              <a:rPr lang="fr-FR" sz="1500" noProof="0" dirty="0">
                <a:solidFill>
                  <a:schemeClr val="tx2"/>
                </a:solidFill>
                <a:latin typeface="Lato" panose="020F0502020204030203" pitchFamily="34" charset="0"/>
                <a:ea typeface="Lato" panose="020F0502020204030203" pitchFamily="34" charset="0"/>
                <a:cs typeface="Lato" panose="020F0502020204030203" pitchFamily="34" charset="0"/>
              </a:rPr>
              <a:t>Connue pour une intolérance congénitale au fructose, diagnostiquée à </a:t>
            </a:r>
            <a:r>
              <a:rPr lang="fr-FR" sz="1500" noProof="0" dirty="0" err="1">
                <a:solidFill>
                  <a:schemeClr val="tx2"/>
                </a:solidFill>
                <a:latin typeface="Lato" panose="020F0502020204030203" pitchFamily="34" charset="0"/>
                <a:ea typeface="Lato" panose="020F0502020204030203" pitchFamily="34" charset="0"/>
                <a:cs typeface="Lato" panose="020F0502020204030203" pitchFamily="34" charset="0"/>
              </a:rPr>
              <a:t>l’age</a:t>
            </a:r>
            <a:r>
              <a:rPr lang="fr-FR" sz="1500" noProof="0" dirty="0">
                <a:solidFill>
                  <a:schemeClr val="tx2"/>
                </a:solidFill>
                <a:latin typeface="Lato" panose="020F0502020204030203" pitchFamily="34" charset="0"/>
                <a:ea typeface="Lato" panose="020F0502020204030203" pitchFamily="34" charset="0"/>
                <a:cs typeface="Lato" panose="020F0502020204030203" pitchFamily="34" charset="0"/>
              </a:rPr>
              <a:t> d’un an et 3 mois –&gt; régime adapté en conséquence</a:t>
            </a:r>
          </a:p>
          <a:p>
            <a:pPr marL="457200" lvl="1" indent="0">
              <a:buNone/>
            </a:pPr>
            <a:r>
              <a:rPr lang="fr-FR" sz="1500" dirty="0">
                <a:solidFill>
                  <a:schemeClr val="tx2"/>
                </a:solidFill>
                <a:latin typeface="Lato" panose="020F0502020204030203" pitchFamily="34" charset="0"/>
                <a:ea typeface="Lato" panose="020F0502020204030203" pitchFamily="34" charset="0"/>
                <a:cs typeface="Lato" panose="020F0502020204030203" pitchFamily="34" charset="0"/>
              </a:rPr>
              <a:t>= Déficit en ALDO B</a:t>
            </a:r>
            <a:endParaRPr lang="fr-FR" sz="1500" noProof="0" dirty="0">
              <a:solidFill>
                <a:schemeClr val="tx2"/>
              </a:solidFill>
              <a:latin typeface="Lato" panose="020F0502020204030203" pitchFamily="34" charset="0"/>
              <a:ea typeface="Lato" panose="020F0502020204030203" pitchFamily="34" charset="0"/>
              <a:cs typeface="Lato" panose="020F0502020204030203" pitchFamily="34" charset="0"/>
            </a:endParaRPr>
          </a:p>
          <a:p>
            <a:pPr lvl="1"/>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416112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FD5E9-AC82-D43A-8A38-2C78D0F9FE9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006DE6-8751-6C3F-A247-E748F69A9B7E}"/>
              </a:ext>
            </a:extLst>
          </p:cNvPr>
          <p:cNvSpPr>
            <a:spLocks noGrp="1"/>
          </p:cNvSpPr>
          <p:nvPr>
            <p:ph type="title"/>
          </p:nvPr>
        </p:nvSpPr>
        <p:spPr>
          <a:xfrm>
            <a:off x="640080" y="1243013"/>
            <a:ext cx="3855720" cy="4371974"/>
          </a:xfrm>
        </p:spPr>
        <p:txBody>
          <a:bodyPr>
            <a:normAutofit/>
          </a:bodyPr>
          <a:lstStyle/>
          <a:p>
            <a:r>
              <a:rPr lang="fr-FR" sz="3600" dirty="0">
                <a:solidFill>
                  <a:schemeClr val="tx2"/>
                </a:solidFill>
              </a:rPr>
              <a:t>4 – Antécédents familiaux </a:t>
            </a:r>
          </a:p>
        </p:txBody>
      </p:sp>
      <p:sp>
        <p:nvSpPr>
          <p:cNvPr id="3" name="Espace réservé du contenu 2">
            <a:extLst>
              <a:ext uri="{FF2B5EF4-FFF2-40B4-BE49-F238E27FC236}">
                <a16:creationId xmlns:a16="http://schemas.microsoft.com/office/drawing/2014/main" id="{7E3DCCBB-28FF-C135-4517-77E4D9BC87C9}"/>
              </a:ext>
            </a:extLst>
          </p:cNvPr>
          <p:cNvSpPr>
            <a:spLocks noGrp="1"/>
          </p:cNvSpPr>
          <p:nvPr>
            <p:ph idx="1"/>
          </p:nvPr>
        </p:nvSpPr>
        <p:spPr>
          <a:xfrm>
            <a:off x="6172200" y="804672"/>
            <a:ext cx="5221224" cy="5230368"/>
          </a:xfrm>
        </p:spPr>
        <p:txBody>
          <a:bodyPr anchor="ctr">
            <a:normAutofit/>
          </a:bodyPr>
          <a:lstStyle/>
          <a:p>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a:p>
            <a:r>
              <a:rPr lang="fr-FR" sz="1500" dirty="0">
                <a:solidFill>
                  <a:schemeClr val="tx2"/>
                </a:solidFill>
                <a:latin typeface="Lato" panose="020F0502020204030203" pitchFamily="34" charset="0"/>
                <a:ea typeface="Lato" panose="020F0502020204030203" pitchFamily="34" charset="0"/>
                <a:cs typeface="Lato" panose="020F0502020204030203" pitchFamily="34" charset="0"/>
              </a:rPr>
              <a:t>Familiaux : </a:t>
            </a:r>
          </a:p>
          <a:p>
            <a:pPr lvl="1"/>
            <a:r>
              <a:rPr kumimoji="0" lang="fr-FR" altLang="fr-FR" sz="1500" b="0" i="0" u="none" strike="noStrike" cap="none" normalizeH="0" baseline="0" dirty="0">
                <a:ln>
                  <a:noFill/>
                </a:ln>
                <a:solidFill>
                  <a:schemeClr val="tx2"/>
                </a:solidFill>
                <a:effectLst/>
                <a:latin typeface="Lato" panose="020F0502020204030203" pitchFamily="34" charset="0"/>
                <a:ea typeface="Lato" panose="020F0502020204030203" pitchFamily="34" charset="0"/>
                <a:cs typeface="Lato" panose="020F0502020204030203" pitchFamily="34" charset="0"/>
              </a:rPr>
              <a:t>L'intolérance congénitale au fructose (déficit en ALDO B) est une maladie génétique héréditaire autosomique récessive, ce qui suggère une prédisposition génétique, mais les antécédents familiaux spécifiques ne sont pas détaillés dans ce dossier d'hospitalisation</a:t>
            </a:r>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a:p>
            <a:endParaRPr lang="fr-FR" sz="1500" dirty="0">
              <a:solidFill>
                <a:schemeClr val="tx2"/>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261747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F962D5-4BAA-1CD4-7F8A-932A942EE6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780BA2-8C3E-C5DF-9ABB-CD79B4DC376C}"/>
              </a:ext>
            </a:extLst>
          </p:cNvPr>
          <p:cNvSpPr>
            <a:spLocks noGrp="1"/>
          </p:cNvSpPr>
          <p:nvPr>
            <p:ph type="title"/>
          </p:nvPr>
        </p:nvSpPr>
        <p:spPr>
          <a:xfrm>
            <a:off x="640080" y="1243013"/>
            <a:ext cx="3855720" cy="4371974"/>
          </a:xfrm>
        </p:spPr>
        <p:txBody>
          <a:bodyPr>
            <a:normAutofit/>
          </a:bodyPr>
          <a:lstStyle/>
          <a:p>
            <a:r>
              <a:rPr lang="fr-FR" sz="3600">
                <a:solidFill>
                  <a:schemeClr val="tx2"/>
                </a:solidFill>
              </a:rPr>
              <a:t>5 – Examen clinique </a:t>
            </a:r>
          </a:p>
        </p:txBody>
      </p:sp>
      <p:sp>
        <p:nvSpPr>
          <p:cNvPr id="3" name="Espace réservé du contenu 2">
            <a:extLst>
              <a:ext uri="{FF2B5EF4-FFF2-40B4-BE49-F238E27FC236}">
                <a16:creationId xmlns:a16="http://schemas.microsoft.com/office/drawing/2014/main" id="{29669EB8-DA34-7366-3782-211D47042547}"/>
              </a:ext>
            </a:extLst>
          </p:cNvPr>
          <p:cNvSpPr>
            <a:spLocks noGrp="1"/>
          </p:cNvSpPr>
          <p:nvPr>
            <p:ph idx="1"/>
          </p:nvPr>
        </p:nvSpPr>
        <p:spPr>
          <a:xfrm>
            <a:off x="6172200" y="804672"/>
            <a:ext cx="5221224" cy="5230368"/>
          </a:xfrm>
        </p:spPr>
        <p:txBody>
          <a:bodyPr anchor="ctr">
            <a:normAutofit/>
          </a:bodyPr>
          <a:lstStyle/>
          <a:p>
            <a:r>
              <a:rPr lang="fr-FR" sz="1800" b="1" dirty="0">
                <a:solidFill>
                  <a:schemeClr val="tx2"/>
                </a:solidFill>
              </a:rPr>
              <a:t>Arrivée aux urgences : </a:t>
            </a:r>
          </a:p>
          <a:p>
            <a:pPr lvl="1"/>
            <a:r>
              <a:rPr lang="fr-FR" sz="1800" dirty="0">
                <a:solidFill>
                  <a:schemeClr val="tx2"/>
                </a:solidFill>
              </a:rPr>
              <a:t>Etat général : moyen</a:t>
            </a:r>
          </a:p>
          <a:p>
            <a:pPr lvl="1"/>
            <a:r>
              <a:rPr lang="fr-FR" sz="1800" dirty="0">
                <a:solidFill>
                  <a:schemeClr val="tx2"/>
                </a:solidFill>
              </a:rPr>
              <a:t>Apyrétique à l’examen</a:t>
            </a:r>
          </a:p>
          <a:p>
            <a:pPr lvl="1"/>
            <a:r>
              <a:rPr lang="fr-FR" sz="1800" dirty="0">
                <a:solidFill>
                  <a:schemeClr val="tx2"/>
                </a:solidFill>
              </a:rPr>
              <a:t>Perte appétit</a:t>
            </a:r>
          </a:p>
          <a:p>
            <a:pPr lvl="1"/>
            <a:r>
              <a:rPr lang="fr-FR" sz="1800" dirty="0">
                <a:solidFill>
                  <a:schemeClr val="tx2"/>
                </a:solidFill>
              </a:rPr>
              <a:t>Téguments et muqueuses pales</a:t>
            </a:r>
          </a:p>
          <a:p>
            <a:pPr marL="0" indent="0">
              <a:buNone/>
            </a:pPr>
            <a:endParaRPr lang="fr-FR" sz="1800" dirty="0">
              <a:solidFill>
                <a:schemeClr val="tx2"/>
              </a:solidFill>
            </a:endParaRPr>
          </a:p>
          <a:p>
            <a:r>
              <a:rPr lang="fr-FR" sz="1800" b="1" dirty="0" err="1">
                <a:solidFill>
                  <a:schemeClr val="tx2"/>
                </a:solidFill>
              </a:rPr>
              <a:t>Apparteil</a:t>
            </a:r>
            <a:r>
              <a:rPr lang="fr-FR" sz="1800" b="1" dirty="0">
                <a:solidFill>
                  <a:schemeClr val="tx2"/>
                </a:solidFill>
              </a:rPr>
              <a:t> respiratoire : </a:t>
            </a:r>
          </a:p>
          <a:p>
            <a:pPr>
              <a:buFont typeface="Arial" panose="020B0604020202020204" pitchFamily="34" charset="0"/>
              <a:buChar char="•"/>
            </a:pPr>
            <a:r>
              <a:rPr lang="fr-FR" sz="1800" dirty="0">
                <a:solidFill>
                  <a:schemeClr val="tx2"/>
                </a:solidFill>
              </a:rPr>
              <a:t>Saturation : SpO2 = 98% (normale)</a:t>
            </a:r>
          </a:p>
          <a:p>
            <a:pPr>
              <a:buFont typeface="Arial" panose="020B0604020202020204" pitchFamily="34" charset="0"/>
              <a:buChar char="•"/>
            </a:pPr>
            <a:r>
              <a:rPr lang="fr-FR" sz="1800" dirty="0">
                <a:solidFill>
                  <a:schemeClr val="tx2"/>
                </a:solidFill>
              </a:rPr>
              <a:t>Auscultation : normale, murmure vésiculaire présent, pas de râles surajoutés</a:t>
            </a:r>
          </a:p>
          <a:p>
            <a:endParaRPr lang="fr-FR" sz="1800" dirty="0">
              <a:solidFill>
                <a:schemeClr val="tx2"/>
              </a:solidFill>
            </a:endParaRPr>
          </a:p>
          <a:p>
            <a:r>
              <a:rPr lang="fr-FR" sz="1800" b="1" dirty="0" err="1">
                <a:solidFill>
                  <a:schemeClr val="tx2"/>
                </a:solidFill>
              </a:rPr>
              <a:t>Appreil</a:t>
            </a:r>
            <a:r>
              <a:rPr lang="fr-FR" sz="1800" b="1" dirty="0">
                <a:solidFill>
                  <a:schemeClr val="tx2"/>
                </a:solidFill>
              </a:rPr>
              <a:t> cardio-vasculaire : </a:t>
            </a:r>
          </a:p>
          <a:p>
            <a:r>
              <a:rPr lang="fr-FR" sz="1800" dirty="0">
                <a:solidFill>
                  <a:schemeClr val="tx2"/>
                </a:solidFill>
              </a:rPr>
              <a:t>FC = 110 bpm</a:t>
            </a:r>
          </a:p>
          <a:p>
            <a:r>
              <a:rPr lang="fr-FR" sz="1800" dirty="0">
                <a:solidFill>
                  <a:schemeClr val="tx2"/>
                </a:solidFill>
              </a:rPr>
              <a:t>Bruits normaux, bilatéraux, sans souffle</a:t>
            </a:r>
            <a:endParaRPr lang="fr-FR" sz="1400" dirty="0">
              <a:solidFill>
                <a:schemeClr val="tx2"/>
              </a:solidFill>
            </a:endParaRPr>
          </a:p>
        </p:txBody>
      </p:sp>
    </p:spTree>
    <p:extLst>
      <p:ext uri="{BB962C8B-B14F-4D97-AF65-F5344CB8AC3E}">
        <p14:creationId xmlns:p14="http://schemas.microsoft.com/office/powerpoint/2010/main" val="1271974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8ADB13-D03E-FDC5-7059-DA283C5FD59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1B13141-144F-B4DB-552F-49DB37E1F200}"/>
              </a:ext>
            </a:extLst>
          </p:cNvPr>
          <p:cNvSpPr>
            <a:spLocks noGrp="1"/>
          </p:cNvSpPr>
          <p:nvPr>
            <p:ph type="title"/>
          </p:nvPr>
        </p:nvSpPr>
        <p:spPr>
          <a:xfrm>
            <a:off x="1178564" y="164104"/>
            <a:ext cx="9833548" cy="1325563"/>
          </a:xfrm>
        </p:spPr>
        <p:txBody>
          <a:bodyPr anchor="b">
            <a:normAutofit/>
          </a:bodyPr>
          <a:lstStyle/>
          <a:p>
            <a:pPr algn="ctr"/>
            <a:r>
              <a:rPr lang="fr-FR" sz="3600" dirty="0">
                <a:solidFill>
                  <a:schemeClr val="tx2"/>
                </a:solidFill>
              </a:rPr>
              <a:t>5 – Examen clinique </a:t>
            </a:r>
          </a:p>
        </p:txBody>
      </p:sp>
      <p:sp>
        <p:nvSpPr>
          <p:cNvPr id="6" name="Espace réservé du contenu 2">
            <a:extLst>
              <a:ext uri="{FF2B5EF4-FFF2-40B4-BE49-F238E27FC236}">
                <a16:creationId xmlns:a16="http://schemas.microsoft.com/office/drawing/2014/main" id="{BBCE7FDD-EF00-FC5A-3B2D-F7BB80AF5FA4}"/>
              </a:ext>
            </a:extLst>
          </p:cNvPr>
          <p:cNvSpPr>
            <a:spLocks noGrp="1"/>
          </p:cNvSpPr>
          <p:nvPr>
            <p:ph idx="1"/>
          </p:nvPr>
        </p:nvSpPr>
        <p:spPr>
          <a:xfrm>
            <a:off x="3484726" y="1558649"/>
            <a:ext cx="5221224" cy="5230368"/>
          </a:xfrm>
        </p:spPr>
        <p:txBody>
          <a:bodyPr anchor="ctr">
            <a:normAutofit/>
          </a:bodyPr>
          <a:lstStyle/>
          <a:p>
            <a:pPr marL="0" indent="0">
              <a:buNone/>
            </a:pPr>
            <a:endParaRPr lang="fr-FR" sz="1800" dirty="0">
              <a:solidFill>
                <a:schemeClr val="tx2"/>
              </a:solidFill>
            </a:endParaRPr>
          </a:p>
          <a:p>
            <a:r>
              <a:rPr lang="fr-FR" sz="1800" b="1" dirty="0" err="1">
                <a:solidFill>
                  <a:schemeClr val="tx2"/>
                </a:solidFill>
              </a:rPr>
              <a:t>Appreil</a:t>
            </a:r>
            <a:r>
              <a:rPr lang="fr-FR" sz="1800" b="1" dirty="0">
                <a:solidFill>
                  <a:schemeClr val="tx2"/>
                </a:solidFill>
              </a:rPr>
              <a:t> cardio-vasculaire : </a:t>
            </a:r>
          </a:p>
          <a:p>
            <a:r>
              <a:rPr lang="fr-FR" sz="1800" dirty="0">
                <a:solidFill>
                  <a:schemeClr val="tx2"/>
                </a:solidFill>
              </a:rPr>
              <a:t>FC = 110 bpm</a:t>
            </a:r>
          </a:p>
          <a:p>
            <a:r>
              <a:rPr lang="fr-FR" sz="1800" dirty="0">
                <a:solidFill>
                  <a:schemeClr val="tx2"/>
                </a:solidFill>
              </a:rPr>
              <a:t>Bruits cardiaques réguliers, sans souffle surajouté</a:t>
            </a:r>
          </a:p>
          <a:p>
            <a:endParaRPr lang="fr-FR" sz="1800" dirty="0">
              <a:solidFill>
                <a:schemeClr val="tx2"/>
              </a:solidFill>
            </a:endParaRPr>
          </a:p>
          <a:p>
            <a:endParaRPr lang="fr-FR" sz="1800" dirty="0">
              <a:solidFill>
                <a:schemeClr val="tx2"/>
              </a:solidFill>
            </a:endParaRPr>
          </a:p>
          <a:p>
            <a:r>
              <a:rPr lang="fr-FR" sz="1800" b="1" dirty="0">
                <a:solidFill>
                  <a:schemeClr val="tx2"/>
                </a:solidFill>
              </a:rPr>
              <a:t>Appareil digestif : </a:t>
            </a:r>
          </a:p>
          <a:p>
            <a:r>
              <a:rPr lang="fr-FR" sz="1800" dirty="0">
                <a:solidFill>
                  <a:schemeClr val="tx2"/>
                </a:solidFill>
              </a:rPr>
              <a:t>Abdomen météorisé, sensible à la palpation </a:t>
            </a:r>
          </a:p>
          <a:p>
            <a:r>
              <a:rPr lang="fr-FR" sz="1800" dirty="0">
                <a:solidFill>
                  <a:schemeClr val="tx2"/>
                </a:solidFill>
              </a:rPr>
              <a:t>Foie : normal, rate : palpable </a:t>
            </a:r>
          </a:p>
          <a:p>
            <a:r>
              <a:rPr lang="fr-FR" sz="1800" dirty="0">
                <a:solidFill>
                  <a:schemeClr val="tx2"/>
                </a:solidFill>
              </a:rPr>
              <a:t>Selles muco-aqueuses</a:t>
            </a:r>
          </a:p>
          <a:p>
            <a:r>
              <a:rPr lang="fr-FR" sz="1800" dirty="0">
                <a:solidFill>
                  <a:schemeClr val="tx2"/>
                </a:solidFill>
              </a:rPr>
              <a:t>Urines : normochromes, diurèse normale </a:t>
            </a:r>
            <a:endParaRPr lang="fr-FR" sz="1400" dirty="0">
              <a:solidFill>
                <a:schemeClr val="tx2"/>
              </a:solidFill>
            </a:endParaRPr>
          </a:p>
        </p:txBody>
      </p:sp>
    </p:spTree>
    <p:extLst>
      <p:ext uri="{BB962C8B-B14F-4D97-AF65-F5344CB8AC3E}">
        <p14:creationId xmlns:p14="http://schemas.microsoft.com/office/powerpoint/2010/main" val="737661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F2764-265A-2795-0722-EBBFEFED79A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237B678-93F2-C3D2-F9FD-7301D28537C5}"/>
              </a:ext>
            </a:extLst>
          </p:cNvPr>
          <p:cNvSpPr>
            <a:spLocks noGrp="1"/>
          </p:cNvSpPr>
          <p:nvPr>
            <p:ph type="title"/>
          </p:nvPr>
        </p:nvSpPr>
        <p:spPr/>
        <p:txBody>
          <a:bodyPr/>
          <a:lstStyle/>
          <a:p>
            <a:r>
              <a:rPr lang="fr-FR" dirty="0"/>
              <a:t>6 – Diagnostic d’étapes</a:t>
            </a:r>
          </a:p>
        </p:txBody>
      </p:sp>
      <p:sp>
        <p:nvSpPr>
          <p:cNvPr id="3" name="Espace réservé du contenu 2">
            <a:extLst>
              <a:ext uri="{FF2B5EF4-FFF2-40B4-BE49-F238E27FC236}">
                <a16:creationId xmlns:a16="http://schemas.microsoft.com/office/drawing/2014/main" id="{01365663-78B6-A1E9-E658-E967D75DB949}"/>
              </a:ext>
            </a:extLst>
          </p:cNvPr>
          <p:cNvSpPr>
            <a:spLocks noGrp="1"/>
          </p:cNvSpPr>
          <p:nvPr>
            <p:ph idx="1"/>
          </p:nvPr>
        </p:nvSpPr>
        <p:spPr/>
        <p:txBody>
          <a:bodyPr>
            <a:normAutofit/>
          </a:bodyPr>
          <a:lstStyle/>
          <a:p>
            <a:r>
              <a:rPr lang="fr-FR" dirty="0"/>
              <a:t>Sepsis : non spécifique </a:t>
            </a:r>
          </a:p>
        </p:txBody>
      </p:sp>
    </p:spTree>
    <p:extLst>
      <p:ext uri="{BB962C8B-B14F-4D97-AF65-F5344CB8AC3E}">
        <p14:creationId xmlns:p14="http://schemas.microsoft.com/office/powerpoint/2010/main" val="3759810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140B2-66D8-5333-3069-D12DF66DB9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FF3A61-909F-58F3-5EDB-C311C9D796C7}"/>
              </a:ext>
            </a:extLst>
          </p:cNvPr>
          <p:cNvSpPr>
            <a:spLocks noGrp="1"/>
          </p:cNvSpPr>
          <p:nvPr>
            <p:ph type="title"/>
          </p:nvPr>
        </p:nvSpPr>
        <p:spPr/>
        <p:txBody>
          <a:bodyPr/>
          <a:lstStyle/>
          <a:p>
            <a:r>
              <a:rPr lang="fr-FR" dirty="0"/>
              <a:t>7 – Examens paracliniques </a:t>
            </a:r>
          </a:p>
        </p:txBody>
      </p:sp>
      <p:sp>
        <p:nvSpPr>
          <p:cNvPr id="3" name="Espace réservé du contenu 2">
            <a:extLst>
              <a:ext uri="{FF2B5EF4-FFF2-40B4-BE49-F238E27FC236}">
                <a16:creationId xmlns:a16="http://schemas.microsoft.com/office/drawing/2014/main" id="{2AFB3030-F2CD-6F11-AE21-81F58F9CE9C1}"/>
              </a:ext>
            </a:extLst>
          </p:cNvPr>
          <p:cNvSpPr>
            <a:spLocks noGrp="1"/>
          </p:cNvSpPr>
          <p:nvPr>
            <p:ph idx="1"/>
          </p:nvPr>
        </p:nvSpPr>
        <p:spPr/>
        <p:txBody>
          <a:bodyPr>
            <a:normAutofit fontScale="92500" lnSpcReduction="10000"/>
          </a:bodyPr>
          <a:lstStyle/>
          <a:p>
            <a:pPr>
              <a:buNone/>
            </a:pPr>
            <a:r>
              <a:rPr lang="fr-FR" b="1" dirty="0"/>
              <a:t>16.05.2025 - Bilan initial complet :</a:t>
            </a:r>
          </a:p>
          <a:p>
            <a:pPr>
              <a:buNone/>
            </a:pPr>
            <a:r>
              <a:rPr lang="fr-FR" b="1" dirty="0"/>
              <a:t>HÉMOGRAMME COMPLET :</a:t>
            </a:r>
            <a:endParaRPr lang="fr-FR" dirty="0"/>
          </a:p>
          <a:p>
            <a:pPr>
              <a:buFont typeface="Arial" panose="020B0604020202020204" pitchFamily="34" charset="0"/>
              <a:buChar char="•"/>
            </a:pPr>
            <a:r>
              <a:rPr lang="fr-FR" dirty="0"/>
              <a:t>Leucocytes : 5,33 × 10³/</a:t>
            </a:r>
            <a:r>
              <a:rPr lang="el-GR" dirty="0"/>
              <a:t>μ</a:t>
            </a:r>
            <a:r>
              <a:rPr lang="fr-FR" dirty="0"/>
              <a:t>L </a:t>
            </a:r>
          </a:p>
          <a:p>
            <a:pPr>
              <a:buFont typeface="Arial" panose="020B0604020202020204" pitchFamily="34" charset="0"/>
              <a:buChar char="•"/>
            </a:pPr>
            <a:r>
              <a:rPr lang="fr-FR" dirty="0"/>
              <a:t>Érythrocytes : 5,09 × 10⁶/</a:t>
            </a:r>
            <a:r>
              <a:rPr lang="el-GR" dirty="0"/>
              <a:t>μ</a:t>
            </a:r>
            <a:r>
              <a:rPr lang="fr-FR" dirty="0"/>
              <a:t>L</a:t>
            </a:r>
          </a:p>
          <a:p>
            <a:pPr>
              <a:buFont typeface="Arial" panose="020B0604020202020204" pitchFamily="34" charset="0"/>
              <a:buChar char="•"/>
            </a:pPr>
            <a:r>
              <a:rPr lang="fr-FR" dirty="0"/>
              <a:t>Hémoglobine érythrocytaire moyenne : 22,8 </a:t>
            </a:r>
            <a:r>
              <a:rPr lang="fr-FR" dirty="0" err="1"/>
              <a:t>pg</a:t>
            </a:r>
            <a:r>
              <a:rPr lang="fr-FR" dirty="0"/>
              <a:t> </a:t>
            </a:r>
          </a:p>
          <a:p>
            <a:pPr>
              <a:buFont typeface="Arial" panose="020B0604020202020204" pitchFamily="34" charset="0"/>
              <a:buChar char="•"/>
            </a:pPr>
            <a:r>
              <a:rPr lang="fr-FR" dirty="0"/>
              <a:t>VPM : 8,2 </a:t>
            </a:r>
            <a:r>
              <a:rPr lang="fr-FR" dirty="0" err="1"/>
              <a:t>fL</a:t>
            </a:r>
            <a:r>
              <a:rPr lang="fr-FR" dirty="0"/>
              <a:t> </a:t>
            </a:r>
          </a:p>
          <a:p>
            <a:pPr>
              <a:buFont typeface="Arial" panose="020B0604020202020204" pitchFamily="34" charset="0"/>
              <a:buChar char="•"/>
            </a:pPr>
            <a:r>
              <a:rPr lang="fr-FR" dirty="0"/>
              <a:t>Neutrophiles, lymphocytes, monocytes, éosinophiles, basophiles : normaux </a:t>
            </a:r>
          </a:p>
          <a:p>
            <a:r>
              <a:rPr lang="fr-FR" dirty="0"/>
              <a:t>À l’admission : pH : 7,36, pO2 : 22,2 </a:t>
            </a:r>
            <a:r>
              <a:rPr lang="fr-FR" dirty="0" err="1"/>
              <a:t>mmHg</a:t>
            </a:r>
            <a:r>
              <a:rPr lang="fr-FR" dirty="0"/>
              <a:t>, lactates : 1,54, glycémie : 76 </a:t>
            </a:r>
          </a:p>
          <a:p>
            <a:endParaRPr lang="fr-FR" dirty="0"/>
          </a:p>
        </p:txBody>
      </p:sp>
    </p:spTree>
    <p:extLst>
      <p:ext uri="{BB962C8B-B14F-4D97-AF65-F5344CB8AC3E}">
        <p14:creationId xmlns:p14="http://schemas.microsoft.com/office/powerpoint/2010/main" val="4214755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CE2AA-AEB2-FC00-0F62-4EF0432277A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A0E1A1A-B3DD-C8DC-F9DA-AAE93E46C551}"/>
              </a:ext>
            </a:extLst>
          </p:cNvPr>
          <p:cNvSpPr>
            <a:spLocks noGrp="1"/>
          </p:cNvSpPr>
          <p:nvPr>
            <p:ph idx="1"/>
          </p:nvPr>
        </p:nvSpPr>
        <p:spPr/>
        <p:txBody>
          <a:bodyPr>
            <a:normAutofit fontScale="85000" lnSpcReduction="20000"/>
          </a:bodyPr>
          <a:lstStyle/>
          <a:p>
            <a:pPr>
              <a:buNone/>
            </a:pPr>
            <a:r>
              <a:rPr lang="fr-FR" b="1" dirty="0"/>
              <a:t>BIOCHIMIE :</a:t>
            </a:r>
            <a:endParaRPr lang="fr-FR" dirty="0"/>
          </a:p>
          <a:p>
            <a:pPr>
              <a:buFont typeface="Arial" panose="020B0604020202020204" pitchFamily="34" charset="0"/>
              <a:buChar char="•"/>
            </a:pPr>
            <a:r>
              <a:rPr lang="fr-FR" b="1" dirty="0"/>
              <a:t>CRP : 55,4 mg/L</a:t>
            </a:r>
            <a:r>
              <a:rPr lang="fr-FR" dirty="0"/>
              <a:t> (N: 0-10) - </a:t>
            </a:r>
            <a:r>
              <a:rPr lang="fr-FR" b="1" dirty="0"/>
              <a:t>TRÈS ÉLEVÉE</a:t>
            </a:r>
            <a:endParaRPr lang="fr-FR" dirty="0"/>
          </a:p>
          <a:p>
            <a:pPr>
              <a:buFont typeface="Arial" panose="020B0604020202020204" pitchFamily="34" charset="0"/>
              <a:buChar char="•"/>
            </a:pPr>
            <a:r>
              <a:rPr lang="fr-FR" dirty="0"/>
              <a:t>Urée : 5 mg/</a:t>
            </a:r>
            <a:r>
              <a:rPr lang="fr-FR" dirty="0" err="1"/>
              <a:t>dL</a:t>
            </a:r>
            <a:r>
              <a:rPr lang="fr-FR" dirty="0"/>
              <a:t> (N: 11-36)</a:t>
            </a:r>
          </a:p>
          <a:p>
            <a:pPr>
              <a:buFont typeface="Arial" panose="020B0604020202020204" pitchFamily="34" charset="0"/>
              <a:buChar char="•"/>
            </a:pPr>
            <a:r>
              <a:rPr lang="fr-FR" dirty="0"/>
              <a:t>ALT (TGP) : 38 U/L (N: 0-35)</a:t>
            </a:r>
          </a:p>
          <a:p>
            <a:pPr>
              <a:buFont typeface="Arial" panose="020B0604020202020204" pitchFamily="34" charset="0"/>
              <a:buChar char="•"/>
            </a:pPr>
            <a:r>
              <a:rPr lang="fr-FR" b="1" dirty="0"/>
              <a:t>AST (TGO) : 59 U/L </a:t>
            </a:r>
            <a:r>
              <a:rPr lang="fr-FR" dirty="0"/>
              <a:t>(N: 14-36) - </a:t>
            </a:r>
            <a:r>
              <a:rPr lang="fr-FR" b="1" dirty="0"/>
              <a:t>ÉLEVÉE</a:t>
            </a:r>
            <a:endParaRPr lang="fr-FR" dirty="0"/>
          </a:p>
          <a:p>
            <a:pPr>
              <a:buFont typeface="Arial" panose="020B0604020202020204" pitchFamily="34" charset="0"/>
              <a:buChar char="•"/>
            </a:pPr>
            <a:r>
              <a:rPr lang="fr-FR" dirty="0"/>
              <a:t>CK : 21 U/L (N: 60-305)</a:t>
            </a:r>
          </a:p>
          <a:p>
            <a:pPr>
              <a:buFont typeface="Arial" panose="020B0604020202020204" pitchFamily="34" charset="0"/>
              <a:buChar char="•"/>
            </a:pPr>
            <a:r>
              <a:rPr lang="fr-FR" dirty="0"/>
              <a:t>GOT : 26 U/L (N: 6-19)</a:t>
            </a:r>
          </a:p>
          <a:p>
            <a:endParaRPr lang="fr-FR" dirty="0"/>
          </a:p>
          <a:p>
            <a:pPr>
              <a:buNone/>
            </a:pPr>
            <a:r>
              <a:rPr lang="fr-FR" b="1" dirty="0"/>
              <a:t>Procalcitonine - 16.05.2025 :</a:t>
            </a:r>
          </a:p>
          <a:p>
            <a:pPr>
              <a:buFont typeface="Arial" panose="020B0604020202020204" pitchFamily="34" charset="0"/>
              <a:buChar char="•"/>
            </a:pPr>
            <a:r>
              <a:rPr lang="fr-FR" b="1" dirty="0"/>
              <a:t>Résultat : 0,692 </a:t>
            </a:r>
            <a:r>
              <a:rPr lang="fr-FR" b="1" dirty="0" err="1"/>
              <a:t>ng</a:t>
            </a:r>
            <a:r>
              <a:rPr lang="fr-FR" b="1" dirty="0"/>
              <a:t>/</a:t>
            </a:r>
            <a:r>
              <a:rPr lang="fr-FR" b="1" dirty="0" err="1"/>
              <a:t>mL</a:t>
            </a:r>
            <a:r>
              <a:rPr lang="fr-FR" dirty="0"/>
              <a:t> (N: &lt; 0,5) </a:t>
            </a:r>
          </a:p>
          <a:p>
            <a:pPr marL="0" indent="0">
              <a:buNone/>
            </a:pPr>
            <a:r>
              <a:rPr lang="fr-FR" b="1" dirty="0"/>
              <a:t>POSITIVE</a:t>
            </a:r>
            <a:r>
              <a:rPr lang="fr-FR" dirty="0"/>
              <a:t> = infection bactérienne probable</a:t>
            </a:r>
          </a:p>
          <a:p>
            <a:endParaRPr lang="fr-FR" dirty="0"/>
          </a:p>
        </p:txBody>
      </p:sp>
    </p:spTree>
    <p:extLst>
      <p:ext uri="{BB962C8B-B14F-4D97-AF65-F5344CB8AC3E}">
        <p14:creationId xmlns:p14="http://schemas.microsoft.com/office/powerpoint/2010/main" val="1551934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9C663-4A8B-9569-667A-955AD2FA736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E8D1D69-5766-E07C-2F30-B25AE4882438}"/>
              </a:ext>
            </a:extLst>
          </p:cNvPr>
          <p:cNvSpPr>
            <a:spLocks noGrp="1"/>
          </p:cNvSpPr>
          <p:nvPr>
            <p:ph idx="1"/>
          </p:nvPr>
        </p:nvSpPr>
        <p:spPr>
          <a:xfrm>
            <a:off x="838200" y="914400"/>
            <a:ext cx="10515600" cy="5262563"/>
          </a:xfrm>
        </p:spPr>
        <p:txBody>
          <a:bodyPr>
            <a:normAutofit lnSpcReduction="10000"/>
          </a:bodyPr>
          <a:lstStyle/>
          <a:p>
            <a:pPr>
              <a:buNone/>
            </a:pPr>
            <a:r>
              <a:rPr lang="fr-FR" b="1" dirty="0"/>
              <a:t>Hémoculture, </a:t>
            </a:r>
            <a:r>
              <a:rPr lang="fr-FR" b="1" dirty="0" err="1"/>
              <a:t>uroculture</a:t>
            </a:r>
            <a:r>
              <a:rPr lang="fr-FR" b="1" dirty="0"/>
              <a:t>, coproculture : NÉGATIVE</a:t>
            </a:r>
          </a:p>
          <a:p>
            <a:pPr>
              <a:buNone/>
            </a:pPr>
            <a:endParaRPr lang="fr-FR" b="1" dirty="0"/>
          </a:p>
          <a:p>
            <a:pPr>
              <a:buNone/>
            </a:pPr>
            <a:r>
              <a:rPr lang="fr-FR" b="1" dirty="0"/>
              <a:t>TESTS IMMUNOLOGIQUES</a:t>
            </a:r>
          </a:p>
          <a:p>
            <a:pPr>
              <a:buNone/>
            </a:pPr>
            <a:r>
              <a:rPr lang="fr-FR" b="1" dirty="0"/>
              <a:t>Tests fécaux :</a:t>
            </a:r>
          </a:p>
          <a:p>
            <a:pPr>
              <a:buFont typeface="Arial" panose="020B0604020202020204" pitchFamily="34" charset="0"/>
              <a:buChar char="•"/>
            </a:pPr>
            <a:r>
              <a:rPr lang="fr-FR" b="1" dirty="0"/>
              <a:t>Campylobacter</a:t>
            </a:r>
            <a:r>
              <a:rPr lang="fr-FR" dirty="0"/>
              <a:t> : NÉGATIF</a:t>
            </a:r>
          </a:p>
          <a:p>
            <a:pPr>
              <a:buFont typeface="Arial" panose="020B0604020202020204" pitchFamily="34" charset="0"/>
              <a:buChar char="•"/>
            </a:pPr>
            <a:r>
              <a:rPr lang="fr-FR" b="1" dirty="0"/>
              <a:t>Test rapide Campylobacter</a:t>
            </a:r>
            <a:r>
              <a:rPr lang="fr-FR" dirty="0"/>
              <a:t> : NÉGATIF</a:t>
            </a:r>
          </a:p>
          <a:p>
            <a:pPr>
              <a:buFont typeface="Arial" panose="020B0604020202020204" pitchFamily="34" charset="0"/>
              <a:buChar char="•"/>
            </a:pPr>
            <a:endParaRPr lang="fr-FR" dirty="0"/>
          </a:p>
          <a:p>
            <a:pPr>
              <a:buNone/>
            </a:pPr>
            <a:r>
              <a:rPr lang="fr-FR" b="1" dirty="0"/>
              <a:t>Tests rapides viraux :</a:t>
            </a:r>
          </a:p>
          <a:p>
            <a:pPr>
              <a:buFont typeface="Arial" panose="020B0604020202020204" pitchFamily="34" charset="0"/>
              <a:buChar char="•"/>
            </a:pPr>
            <a:r>
              <a:rPr lang="fr-FR" b="1" dirty="0"/>
              <a:t>Rotavirus/</a:t>
            </a:r>
            <a:r>
              <a:rPr lang="fr-FR" b="1" dirty="0" err="1"/>
              <a:t>Coproantigène</a:t>
            </a:r>
            <a:r>
              <a:rPr lang="fr-FR" dirty="0"/>
              <a:t> : NÉGATIF</a:t>
            </a:r>
          </a:p>
          <a:p>
            <a:pPr>
              <a:buFont typeface="Arial" panose="020B0604020202020204" pitchFamily="34" charset="0"/>
              <a:buChar char="•"/>
            </a:pPr>
            <a:r>
              <a:rPr lang="fr-FR" b="1" dirty="0" err="1"/>
              <a:t>Coproantigène</a:t>
            </a:r>
            <a:r>
              <a:rPr lang="fr-FR" b="1" dirty="0"/>
              <a:t> Norovirus</a:t>
            </a:r>
            <a:r>
              <a:rPr lang="fr-FR" dirty="0"/>
              <a:t> : NÉGATIF</a:t>
            </a:r>
          </a:p>
          <a:p>
            <a:pPr>
              <a:buFont typeface="Arial" panose="020B0604020202020204" pitchFamily="34" charset="0"/>
              <a:buChar char="•"/>
            </a:pPr>
            <a:r>
              <a:rPr lang="fr-FR" b="1" dirty="0" err="1"/>
              <a:t>Coproantigène</a:t>
            </a:r>
            <a:r>
              <a:rPr lang="fr-FR" b="1" dirty="0"/>
              <a:t> Adénovirus</a:t>
            </a:r>
            <a:r>
              <a:rPr lang="fr-FR" dirty="0"/>
              <a:t> : NÉGATIF</a:t>
            </a:r>
          </a:p>
          <a:p>
            <a:endParaRPr lang="fr-FR" dirty="0"/>
          </a:p>
        </p:txBody>
      </p:sp>
    </p:spTree>
    <p:extLst>
      <p:ext uri="{BB962C8B-B14F-4D97-AF65-F5344CB8AC3E}">
        <p14:creationId xmlns:p14="http://schemas.microsoft.com/office/powerpoint/2010/main" val="3641760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9A3A1-78F8-1A36-ED38-4973A5AD523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BA6AB35-403C-06E3-0A7B-8125D3FC7F6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086A5F0-5076-94F3-6137-68F54CB21C8B}"/>
              </a:ext>
            </a:extLst>
          </p:cNvPr>
          <p:cNvSpPr>
            <a:spLocks noGrp="1"/>
          </p:cNvSpPr>
          <p:nvPr>
            <p:ph idx="1"/>
          </p:nvPr>
        </p:nvSpPr>
        <p:spPr/>
        <p:txBody>
          <a:bodyPr>
            <a:normAutofit lnSpcReduction="10000"/>
          </a:bodyPr>
          <a:lstStyle/>
          <a:p>
            <a:pPr>
              <a:buNone/>
            </a:pPr>
            <a:r>
              <a:rPr lang="fr-FR" b="1" dirty="0"/>
              <a:t>19.05.2025 - Échographie abdominale :</a:t>
            </a:r>
          </a:p>
          <a:p>
            <a:pPr>
              <a:buNone/>
            </a:pPr>
            <a:r>
              <a:rPr lang="fr-FR" b="1" dirty="0"/>
              <a:t>Résultats :</a:t>
            </a:r>
            <a:endParaRPr lang="fr-FR" dirty="0"/>
          </a:p>
          <a:p>
            <a:pPr>
              <a:buFont typeface="Arial" panose="020B0604020202020204" pitchFamily="34" charset="0"/>
              <a:buChar char="•"/>
            </a:pPr>
            <a:r>
              <a:rPr lang="fr-FR" dirty="0"/>
              <a:t>Foie : échostructure stéatosique légère, sans dilatation des voies biliaires</a:t>
            </a:r>
          </a:p>
          <a:p>
            <a:pPr>
              <a:buFont typeface="Arial" panose="020B0604020202020204" pitchFamily="34" charset="0"/>
              <a:buChar char="•"/>
            </a:pPr>
            <a:r>
              <a:rPr lang="fr-FR" dirty="0"/>
              <a:t>Vésicule biliaire : contractée, paroi fine, contenu normal</a:t>
            </a:r>
          </a:p>
          <a:p>
            <a:pPr>
              <a:buFont typeface="Arial" panose="020B0604020202020204" pitchFamily="34" charset="0"/>
              <a:buChar char="•"/>
            </a:pPr>
            <a:r>
              <a:rPr lang="fr-FR" dirty="0"/>
              <a:t>Pancréas : aspect normal</a:t>
            </a:r>
          </a:p>
          <a:p>
            <a:pPr>
              <a:buFont typeface="Arial" panose="020B0604020202020204" pitchFamily="34" charset="0"/>
              <a:buChar char="•"/>
            </a:pPr>
            <a:r>
              <a:rPr lang="fr-FR" dirty="0"/>
              <a:t>Reins : aspect normal </a:t>
            </a:r>
          </a:p>
          <a:p>
            <a:pPr>
              <a:buFont typeface="Arial" panose="020B0604020202020204" pitchFamily="34" charset="0"/>
              <a:buChar char="•"/>
            </a:pPr>
            <a:r>
              <a:rPr lang="fr-FR" dirty="0"/>
              <a:t>Anses intestinales : contenu stercoral normal</a:t>
            </a:r>
          </a:p>
          <a:p>
            <a:pPr>
              <a:buNone/>
            </a:pPr>
            <a:r>
              <a:rPr lang="fr-FR" b="1" dirty="0"/>
              <a:t>Conclusion :</a:t>
            </a:r>
            <a:r>
              <a:rPr lang="fr-FR" dirty="0"/>
              <a:t> Stéatose hépatique légère, reste normal</a:t>
            </a:r>
          </a:p>
          <a:p>
            <a:endParaRPr lang="fr-FR" dirty="0"/>
          </a:p>
        </p:txBody>
      </p:sp>
    </p:spTree>
    <p:extLst>
      <p:ext uri="{BB962C8B-B14F-4D97-AF65-F5344CB8AC3E}">
        <p14:creationId xmlns:p14="http://schemas.microsoft.com/office/powerpoint/2010/main" val="81722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DEC6F-10C4-8DB8-34D6-9DDAC9EC589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6043F60-F395-9FA2-EE75-B5D6A3978CD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8B8EE986-2469-D830-BAC3-FC26BA8100FF}"/>
              </a:ext>
            </a:extLst>
          </p:cNvPr>
          <p:cNvSpPr>
            <a:spLocks noGrp="1"/>
          </p:cNvSpPr>
          <p:nvPr>
            <p:ph idx="1"/>
          </p:nvPr>
        </p:nvSpPr>
        <p:spPr/>
        <p:txBody>
          <a:bodyPr>
            <a:normAutofit/>
          </a:bodyPr>
          <a:lstStyle/>
          <a:p>
            <a:pPr>
              <a:buNone/>
            </a:pPr>
            <a:r>
              <a:rPr lang="fr-FR" b="1" dirty="0"/>
              <a:t>CONSULTATIONS SPÉCIALISÉES</a:t>
            </a:r>
          </a:p>
          <a:p>
            <a:pPr>
              <a:buNone/>
            </a:pPr>
            <a:r>
              <a:rPr lang="fr-FR" b="1" dirty="0"/>
              <a:t>15.05.2025 - Consultation ORL :</a:t>
            </a:r>
          </a:p>
          <a:p>
            <a:pPr>
              <a:buFont typeface="Arial" panose="020B0604020202020204" pitchFamily="34" charset="0"/>
              <a:buChar char="•"/>
            </a:pPr>
            <a:r>
              <a:rPr lang="fr-FR" b="1" dirty="0"/>
              <a:t>Résultat :</a:t>
            </a:r>
            <a:r>
              <a:rPr lang="fr-FR" dirty="0"/>
              <a:t> Clinique ORL normale, pas de signes d'inflammation ou d'infection</a:t>
            </a:r>
          </a:p>
        </p:txBody>
      </p:sp>
    </p:spTree>
    <p:extLst>
      <p:ext uri="{BB962C8B-B14F-4D97-AF65-F5344CB8AC3E}">
        <p14:creationId xmlns:p14="http://schemas.microsoft.com/office/powerpoint/2010/main" val="2834231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84991-C17B-B0C4-E258-0C35B2BAB1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71A57F3-1150-452F-F29A-40850492033C}"/>
              </a:ext>
            </a:extLst>
          </p:cNvPr>
          <p:cNvSpPr>
            <a:spLocks noGrp="1"/>
          </p:cNvSpPr>
          <p:nvPr>
            <p:ph type="title"/>
          </p:nvPr>
        </p:nvSpPr>
        <p:spPr/>
        <p:txBody>
          <a:bodyPr/>
          <a:lstStyle/>
          <a:p>
            <a:r>
              <a:rPr lang="fr-FR" dirty="0"/>
              <a:t>8 – Diagnostic positif </a:t>
            </a:r>
          </a:p>
        </p:txBody>
      </p:sp>
      <p:sp>
        <p:nvSpPr>
          <p:cNvPr id="3" name="Espace réservé du contenu 2">
            <a:extLst>
              <a:ext uri="{FF2B5EF4-FFF2-40B4-BE49-F238E27FC236}">
                <a16:creationId xmlns:a16="http://schemas.microsoft.com/office/drawing/2014/main" id="{AEDB1ABD-7E4C-312A-2F25-C8DB57067129}"/>
              </a:ext>
            </a:extLst>
          </p:cNvPr>
          <p:cNvSpPr>
            <a:spLocks noGrp="1"/>
          </p:cNvSpPr>
          <p:nvPr>
            <p:ph idx="1"/>
          </p:nvPr>
        </p:nvSpPr>
        <p:spPr>
          <a:xfrm>
            <a:off x="518886" y="1825625"/>
            <a:ext cx="11200674" cy="4351338"/>
          </a:xfrm>
        </p:spPr>
        <p:txBody>
          <a:bodyPr>
            <a:normAutofit fontScale="92500" lnSpcReduction="20000"/>
          </a:bodyPr>
          <a:lstStyle/>
          <a:p>
            <a:pPr>
              <a:buNone/>
            </a:pPr>
            <a:r>
              <a:rPr lang="fr-FR" b="1" dirty="0"/>
              <a:t>Diagnostic positif :</a:t>
            </a:r>
          </a:p>
          <a:p>
            <a:pPr>
              <a:buNone/>
            </a:pPr>
            <a:endParaRPr lang="fr-FR" b="1" dirty="0"/>
          </a:p>
          <a:p>
            <a:pPr>
              <a:buNone/>
            </a:pPr>
            <a:r>
              <a:rPr lang="fr-FR" b="1" dirty="0"/>
              <a:t>Sepsis </a:t>
            </a:r>
            <a:r>
              <a:rPr lang="fr-FR" dirty="0"/>
              <a:t>(syndrome infectieux avec CRP très élevée et procalcitonine positive) </a:t>
            </a:r>
            <a:r>
              <a:rPr lang="fr-FR" b="1" dirty="0"/>
              <a:t>néonatal précoce, non spécifié </a:t>
            </a:r>
            <a:r>
              <a:rPr lang="fr-FR" dirty="0"/>
              <a:t>avec suspicion d'origine bactérienne mais hémocultures négatives</a:t>
            </a:r>
          </a:p>
          <a:p>
            <a:pPr>
              <a:buNone/>
            </a:pPr>
            <a:r>
              <a:rPr lang="fr-FR" dirty="0"/>
              <a:t>= entérocolite aigue </a:t>
            </a:r>
          </a:p>
          <a:p>
            <a:pPr>
              <a:buNone/>
            </a:pPr>
            <a:endParaRPr lang="fr-FR" dirty="0"/>
          </a:p>
          <a:p>
            <a:pPr>
              <a:buNone/>
            </a:pPr>
            <a:r>
              <a:rPr lang="fr-FR" b="1" dirty="0"/>
              <a:t>Stéatose hépatique modérée </a:t>
            </a:r>
            <a:r>
              <a:rPr lang="fr-FR" dirty="0"/>
              <a:t>(stéatose + cytolyse)</a:t>
            </a:r>
          </a:p>
          <a:p>
            <a:pPr>
              <a:buNone/>
            </a:pPr>
            <a:endParaRPr lang="fr-FR" dirty="0"/>
          </a:p>
          <a:p>
            <a:pPr>
              <a:buFont typeface="Arial" panose="020B0604020202020204" pitchFamily="34" charset="0"/>
              <a:buNone/>
            </a:pPr>
            <a:r>
              <a:rPr lang="fr-FR" b="1" dirty="0" err="1"/>
              <a:t>Fructosémie</a:t>
            </a:r>
            <a:r>
              <a:rPr lang="fr-FR" b="1" dirty="0"/>
              <a:t> : </a:t>
            </a:r>
          </a:p>
          <a:p>
            <a:pPr>
              <a:buFont typeface="Arial" panose="020B0604020202020204" pitchFamily="34" charset="0"/>
              <a:buNone/>
            </a:pPr>
            <a:r>
              <a:rPr lang="fr-FR" dirty="0"/>
              <a:t>Anamnèse : diagnostiquée </a:t>
            </a:r>
          </a:p>
          <a:p>
            <a:endParaRPr lang="fr-FR" dirty="0"/>
          </a:p>
          <a:p>
            <a:pPr>
              <a:buNone/>
            </a:pPr>
            <a:endParaRPr lang="fr-FR" dirty="0"/>
          </a:p>
          <a:p>
            <a:pPr>
              <a:buNone/>
            </a:pPr>
            <a:endParaRPr lang="fr-FR" dirty="0"/>
          </a:p>
          <a:p>
            <a:endParaRPr lang="fr-FR" dirty="0"/>
          </a:p>
        </p:txBody>
      </p:sp>
    </p:spTree>
    <p:extLst>
      <p:ext uri="{BB962C8B-B14F-4D97-AF65-F5344CB8AC3E}">
        <p14:creationId xmlns:p14="http://schemas.microsoft.com/office/powerpoint/2010/main" val="3376158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660C-A42D-DF1F-1EB4-BC9ECC8D9F4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D7EE017-4DBF-833F-DB7C-17470A92F7B7}"/>
              </a:ext>
            </a:extLst>
          </p:cNvPr>
          <p:cNvSpPr>
            <a:spLocks noGrp="1"/>
          </p:cNvSpPr>
          <p:nvPr>
            <p:ph type="title"/>
          </p:nvPr>
        </p:nvSpPr>
        <p:spPr/>
        <p:txBody>
          <a:bodyPr/>
          <a:lstStyle/>
          <a:p>
            <a:r>
              <a:rPr lang="fr-FR" dirty="0"/>
              <a:t>9 – Diagnostic différentiels</a:t>
            </a:r>
          </a:p>
        </p:txBody>
      </p:sp>
      <p:sp>
        <p:nvSpPr>
          <p:cNvPr id="3" name="Espace réservé du contenu 2">
            <a:extLst>
              <a:ext uri="{FF2B5EF4-FFF2-40B4-BE49-F238E27FC236}">
                <a16:creationId xmlns:a16="http://schemas.microsoft.com/office/drawing/2014/main" id="{9C45EB20-77D9-6081-13BC-6D115C3ACD71}"/>
              </a:ext>
            </a:extLst>
          </p:cNvPr>
          <p:cNvSpPr>
            <a:spLocks noGrp="1"/>
          </p:cNvSpPr>
          <p:nvPr>
            <p:ph idx="1"/>
          </p:nvPr>
        </p:nvSpPr>
        <p:spPr>
          <a:xfrm>
            <a:off x="838200" y="1825625"/>
            <a:ext cx="3588657" cy="4125232"/>
          </a:xfrm>
        </p:spPr>
        <p:txBody>
          <a:bodyPr>
            <a:normAutofit fontScale="55000" lnSpcReduction="20000"/>
          </a:bodyPr>
          <a:lstStyle/>
          <a:p>
            <a:pPr>
              <a:buNone/>
            </a:pPr>
            <a:r>
              <a:rPr lang="fr-FR" b="1" dirty="0"/>
              <a:t>1. GASTRO-ENTÉRITE INFECTIEUSE BACTÉRIENNE</a:t>
            </a:r>
          </a:p>
          <a:p>
            <a:pPr>
              <a:buNone/>
            </a:pPr>
            <a:r>
              <a:rPr lang="fr-FR" b="1" dirty="0"/>
              <a:t>Pourquoi l'évoquer :</a:t>
            </a:r>
          </a:p>
          <a:p>
            <a:pPr>
              <a:buFont typeface="Arial" panose="020B0604020202020204" pitchFamily="34" charset="0"/>
              <a:buChar char="•"/>
            </a:pPr>
            <a:r>
              <a:rPr lang="fr-FR" b="1" dirty="0"/>
              <a:t>CRP très élevée</a:t>
            </a:r>
            <a:r>
              <a:rPr lang="fr-FR" dirty="0"/>
              <a:t> (55.4 mg/L) évocatrice d'infection bactérienne</a:t>
            </a:r>
          </a:p>
          <a:p>
            <a:pPr>
              <a:buFont typeface="Arial" panose="020B0604020202020204" pitchFamily="34" charset="0"/>
              <a:buChar char="•"/>
            </a:pPr>
            <a:r>
              <a:rPr lang="fr-FR" b="1" dirty="0"/>
              <a:t>Procalcitonine élevée</a:t>
            </a:r>
            <a:r>
              <a:rPr lang="fr-FR" dirty="0"/>
              <a:t> (0.692 </a:t>
            </a:r>
            <a:r>
              <a:rPr lang="fr-FR" dirty="0" err="1"/>
              <a:t>ng</a:t>
            </a:r>
            <a:r>
              <a:rPr lang="fr-FR" dirty="0"/>
              <a:t>/</a:t>
            </a:r>
            <a:r>
              <a:rPr lang="fr-FR" dirty="0" err="1"/>
              <a:t>mL</a:t>
            </a:r>
            <a:r>
              <a:rPr lang="fr-FR" dirty="0"/>
              <a:t>) orientant vers bactérie</a:t>
            </a:r>
          </a:p>
          <a:p>
            <a:pPr>
              <a:buFont typeface="Arial" panose="020B0604020202020204" pitchFamily="34" charset="0"/>
              <a:buChar char="•"/>
            </a:pPr>
            <a:r>
              <a:rPr lang="fr-FR" b="1" dirty="0"/>
              <a:t>Tests viraux négatifs</a:t>
            </a:r>
            <a:r>
              <a:rPr lang="fr-FR" dirty="0"/>
              <a:t> (Rotavirus, Norovirus, </a:t>
            </a:r>
            <a:r>
              <a:rPr lang="fr-FR" dirty="0" err="1"/>
              <a:t>Adenovirus</a:t>
            </a:r>
            <a:r>
              <a:rPr lang="fr-FR" dirty="0"/>
              <a:t>)</a:t>
            </a:r>
          </a:p>
          <a:p>
            <a:pPr>
              <a:buNone/>
            </a:pPr>
            <a:r>
              <a:rPr lang="fr-FR" b="1" dirty="0"/>
              <a:t>Signes/symptômes évocateurs :</a:t>
            </a:r>
          </a:p>
          <a:p>
            <a:pPr>
              <a:buFont typeface="Arial" panose="020B0604020202020204" pitchFamily="34" charset="0"/>
              <a:buChar char="•"/>
            </a:pPr>
            <a:r>
              <a:rPr lang="fr-FR" dirty="0"/>
              <a:t>Terrain pédiatrique (âge sensible aux gastro-entérites)</a:t>
            </a:r>
          </a:p>
          <a:p>
            <a:pPr>
              <a:buFont typeface="Arial" panose="020B0604020202020204" pitchFamily="34" charset="0"/>
              <a:buChar char="•"/>
            </a:pPr>
            <a:r>
              <a:rPr lang="fr-FR" dirty="0"/>
              <a:t>Syndrome inflammatoire biologique marqué</a:t>
            </a:r>
          </a:p>
          <a:p>
            <a:pPr>
              <a:buFont typeface="Arial" panose="020B0604020202020204" pitchFamily="34" charset="0"/>
              <a:buChar char="•"/>
            </a:pPr>
            <a:r>
              <a:rPr lang="fr-FR" dirty="0"/>
              <a:t>Contexte épidémiologique possible</a:t>
            </a:r>
          </a:p>
          <a:p>
            <a:pPr>
              <a:buFont typeface="Arial" panose="020B0604020202020204" pitchFamily="34" charset="0"/>
              <a:buChar char="•"/>
            </a:pPr>
            <a:r>
              <a:rPr lang="fr-FR" dirty="0"/>
              <a:t>Élévation progressive des marqueurs inflammatoires</a:t>
            </a:r>
          </a:p>
          <a:p>
            <a:endParaRPr lang="fr-FR" dirty="0"/>
          </a:p>
        </p:txBody>
      </p:sp>
      <p:sp>
        <p:nvSpPr>
          <p:cNvPr id="4" name="Espace réservé du contenu 2">
            <a:extLst>
              <a:ext uri="{FF2B5EF4-FFF2-40B4-BE49-F238E27FC236}">
                <a16:creationId xmlns:a16="http://schemas.microsoft.com/office/drawing/2014/main" id="{8CAAEFE0-821C-EA2E-A75C-D6BF25F5AE0F}"/>
              </a:ext>
            </a:extLst>
          </p:cNvPr>
          <p:cNvSpPr txBox="1">
            <a:spLocks/>
          </p:cNvSpPr>
          <p:nvPr/>
        </p:nvSpPr>
        <p:spPr>
          <a:xfrm>
            <a:off x="4426857" y="1690688"/>
            <a:ext cx="3588657" cy="4125232"/>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fr-FR" b="1" dirty="0"/>
              <a:t>2. INFECTION URINAIRE COMPLIQUÉE/PYÉLONÉPHRIE</a:t>
            </a:r>
          </a:p>
          <a:p>
            <a:pPr>
              <a:buFont typeface="Arial" panose="020B0604020202020204" pitchFamily="34" charset="0"/>
              <a:buNone/>
            </a:pPr>
            <a:r>
              <a:rPr lang="fr-FR" b="1" dirty="0"/>
              <a:t>Pourquoi l'évoquer :</a:t>
            </a:r>
          </a:p>
          <a:p>
            <a:r>
              <a:rPr lang="fr-FR" dirty="0" err="1"/>
              <a:t>Uroculture</a:t>
            </a:r>
            <a:r>
              <a:rPr lang="fr-FR" dirty="0"/>
              <a:t> demandée dans le bilan initial</a:t>
            </a:r>
          </a:p>
          <a:p>
            <a:r>
              <a:rPr lang="fr-FR" dirty="0"/>
              <a:t>CRP très élevée compatible avec infection urinaire haute</a:t>
            </a:r>
          </a:p>
          <a:p>
            <a:r>
              <a:rPr lang="fr-FR" dirty="0"/>
              <a:t>Procalcitonine positive évocatrice de bactériémie secondaire</a:t>
            </a:r>
          </a:p>
          <a:p>
            <a:r>
              <a:rPr lang="fr-FR" dirty="0"/>
              <a:t>Terrain pédiatrique (reflux vésico urétéral possible)</a:t>
            </a:r>
          </a:p>
          <a:p>
            <a:pPr marL="0" indent="0">
              <a:buNone/>
            </a:pPr>
            <a:r>
              <a:rPr lang="fr-FR" b="1" dirty="0"/>
              <a:t>Signes/symptômes évocateurs :</a:t>
            </a:r>
          </a:p>
          <a:p>
            <a:r>
              <a:rPr lang="fr-FR" dirty="0"/>
              <a:t>Fièvre chez l'enfant jeune</a:t>
            </a:r>
          </a:p>
          <a:p>
            <a:r>
              <a:rPr lang="fr-FR" dirty="0"/>
              <a:t>Syndrome inflammatoire biologique intense</a:t>
            </a:r>
          </a:p>
          <a:p>
            <a:r>
              <a:rPr lang="fr-FR" dirty="0"/>
              <a:t>Risque de complications chez le nourrisson</a:t>
            </a:r>
          </a:p>
          <a:p>
            <a:r>
              <a:rPr lang="fr-FR" dirty="0"/>
              <a:t>Nécessité d'écarter une atteinte rénale</a:t>
            </a:r>
          </a:p>
        </p:txBody>
      </p:sp>
      <p:sp>
        <p:nvSpPr>
          <p:cNvPr id="5" name="Espace réservé du contenu 2">
            <a:extLst>
              <a:ext uri="{FF2B5EF4-FFF2-40B4-BE49-F238E27FC236}">
                <a16:creationId xmlns:a16="http://schemas.microsoft.com/office/drawing/2014/main" id="{781077D8-A740-215D-D23E-4A3A49E52956}"/>
              </a:ext>
            </a:extLst>
          </p:cNvPr>
          <p:cNvSpPr txBox="1">
            <a:spLocks/>
          </p:cNvSpPr>
          <p:nvPr/>
        </p:nvSpPr>
        <p:spPr>
          <a:xfrm>
            <a:off x="8015514" y="1825625"/>
            <a:ext cx="3588657" cy="4125232"/>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fr-FR" b="1" dirty="0"/>
              <a:t>3. PNEUMONIE BACTÉRIENNE COMMUNAUTAIRE:</a:t>
            </a:r>
          </a:p>
          <a:p>
            <a:pPr>
              <a:buFont typeface="Arial" panose="020B0604020202020204" pitchFamily="34" charset="0"/>
              <a:buNone/>
            </a:pPr>
            <a:r>
              <a:rPr lang="fr-FR" b="1" dirty="0"/>
              <a:t>Pourquoi l'évoquer :</a:t>
            </a:r>
          </a:p>
          <a:p>
            <a:r>
              <a:rPr lang="fr-FR" dirty="0"/>
              <a:t>Procalcitonine élevée (très spécifique des infections bactériennes respiratoires)</a:t>
            </a:r>
          </a:p>
          <a:p>
            <a:r>
              <a:rPr lang="fr-FR" dirty="0"/>
              <a:t>CRP très élevée compatible avec pneumonie</a:t>
            </a:r>
          </a:p>
          <a:p>
            <a:r>
              <a:rPr lang="fr-FR" dirty="0"/>
              <a:t>Leucopénie relative possible dans les pneumonies sévères</a:t>
            </a:r>
          </a:p>
          <a:p>
            <a:r>
              <a:rPr lang="fr-FR" dirty="0"/>
              <a:t>Âge pédiatrique à risque</a:t>
            </a:r>
          </a:p>
          <a:p>
            <a:pPr marL="0" indent="0">
              <a:buNone/>
            </a:pPr>
            <a:r>
              <a:rPr lang="fr-FR" b="1" dirty="0"/>
              <a:t>Signes/symptômes évocateurs :</a:t>
            </a:r>
          </a:p>
          <a:p>
            <a:r>
              <a:rPr lang="fr-FR" dirty="0"/>
              <a:t>Syndrome inflammatoire biologique majeur</a:t>
            </a:r>
          </a:p>
          <a:p>
            <a:r>
              <a:rPr lang="fr-FR" dirty="0"/>
              <a:t>Terrain d'âge sensible aux infections respiratoires</a:t>
            </a:r>
          </a:p>
          <a:p>
            <a:r>
              <a:rPr lang="fr-FR" dirty="0"/>
              <a:t>Procalcitonine particulièrement élevée (marqueur de référence des pneumonies bactériennes)</a:t>
            </a:r>
          </a:p>
          <a:p>
            <a:r>
              <a:rPr lang="fr-FR" dirty="0"/>
              <a:t>Possibilité de complications (bactériémie secondaire)</a:t>
            </a:r>
          </a:p>
        </p:txBody>
      </p:sp>
    </p:spTree>
    <p:extLst>
      <p:ext uri="{BB962C8B-B14F-4D97-AF65-F5344CB8AC3E}">
        <p14:creationId xmlns:p14="http://schemas.microsoft.com/office/powerpoint/2010/main" val="3631601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3B1F5-F966-8FD1-BA5D-DC0766E1E88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02A5B6A-BB24-F984-D004-9D7D2BB2D966}"/>
              </a:ext>
            </a:extLst>
          </p:cNvPr>
          <p:cNvSpPr>
            <a:spLocks noGrp="1"/>
          </p:cNvSpPr>
          <p:nvPr>
            <p:ph type="title"/>
          </p:nvPr>
        </p:nvSpPr>
        <p:spPr/>
        <p:txBody>
          <a:bodyPr/>
          <a:lstStyle/>
          <a:p>
            <a:r>
              <a:rPr lang="fr-FR" dirty="0"/>
              <a:t>10 – Traitements </a:t>
            </a:r>
          </a:p>
        </p:txBody>
      </p:sp>
      <p:sp>
        <p:nvSpPr>
          <p:cNvPr id="3" name="Espace réservé du contenu 2">
            <a:extLst>
              <a:ext uri="{FF2B5EF4-FFF2-40B4-BE49-F238E27FC236}">
                <a16:creationId xmlns:a16="http://schemas.microsoft.com/office/drawing/2014/main" id="{04BE7292-CD19-940B-124B-FC5A12FCFC83}"/>
              </a:ext>
            </a:extLst>
          </p:cNvPr>
          <p:cNvSpPr>
            <a:spLocks noGrp="1"/>
          </p:cNvSpPr>
          <p:nvPr>
            <p:ph idx="1"/>
          </p:nvPr>
        </p:nvSpPr>
        <p:spPr/>
        <p:txBody>
          <a:bodyPr>
            <a:normAutofit fontScale="70000" lnSpcReduction="20000"/>
          </a:bodyPr>
          <a:lstStyle/>
          <a:p>
            <a:pPr>
              <a:buNone/>
            </a:pPr>
            <a:r>
              <a:rPr lang="fr-FR" b="1" dirty="0"/>
              <a:t>1. Régime alimentaire adapté : </a:t>
            </a:r>
            <a:r>
              <a:rPr lang="fr-FR" dirty="0"/>
              <a:t>correspondant à l'âge (1-2 ans) : </a:t>
            </a:r>
            <a:r>
              <a:rPr lang="fr-FR" dirty="0" err="1"/>
              <a:t>normocalorique</a:t>
            </a:r>
            <a:r>
              <a:rPr lang="fr-FR" dirty="0"/>
              <a:t> (NE = 1000-1100 kcal/</a:t>
            </a:r>
            <a:r>
              <a:rPr lang="fr-FR" dirty="0" err="1"/>
              <a:t>zi</a:t>
            </a:r>
            <a:r>
              <a:rPr lang="fr-FR" dirty="0"/>
              <a:t>) adapté au poids, </a:t>
            </a:r>
            <a:r>
              <a:rPr lang="fr-FR" dirty="0" err="1"/>
              <a:t>normoglucidique</a:t>
            </a:r>
            <a:r>
              <a:rPr lang="fr-FR" dirty="0"/>
              <a:t>, </a:t>
            </a:r>
            <a:r>
              <a:rPr lang="fr-FR" dirty="0" err="1"/>
              <a:t>normolipidique</a:t>
            </a:r>
            <a:r>
              <a:rPr lang="fr-FR" dirty="0"/>
              <a:t>, </a:t>
            </a:r>
            <a:r>
              <a:rPr lang="fr-FR" dirty="0" err="1"/>
              <a:t>normoproteique</a:t>
            </a:r>
            <a:endParaRPr lang="fr-FR" dirty="0"/>
          </a:p>
          <a:p>
            <a:pPr>
              <a:buFont typeface="Arial" panose="020B0604020202020204" pitchFamily="34" charset="0"/>
              <a:buChar char="•"/>
            </a:pPr>
            <a:endParaRPr lang="fr-FR" dirty="0"/>
          </a:p>
          <a:p>
            <a:pPr>
              <a:buNone/>
            </a:pPr>
            <a:r>
              <a:rPr lang="fr-FR" b="1" dirty="0"/>
              <a:t>2. Exclusions alimentaires : Éviction des médicaments contenant fructose, sucrose, glycérol, sorbitol</a:t>
            </a:r>
            <a:endParaRPr lang="fr-FR" dirty="0"/>
          </a:p>
          <a:p>
            <a:pPr marL="0" indent="0">
              <a:buNone/>
            </a:pPr>
            <a:r>
              <a:rPr lang="fr-FR" dirty="0"/>
              <a:t>Si contact, traitement à domicile : glucose simple à domicile (4-5g), suivie administration fréquente (20-30 min) pendant 1/2h d’eau glucosée jusqu’au rétablissement de la tolérance digestive</a:t>
            </a:r>
          </a:p>
          <a:p>
            <a:pPr marL="0" indent="0">
              <a:buNone/>
            </a:pPr>
            <a:endParaRPr lang="fr-FR" dirty="0"/>
          </a:p>
          <a:p>
            <a:pPr marL="0" indent="0">
              <a:buNone/>
            </a:pPr>
            <a:r>
              <a:rPr lang="fr-FR" dirty="0"/>
              <a:t>En cas d’urgence : glucose 10% (2ml/kg) en bolus pendant 20-30 min puis perfusion de glucose en continue (6-8 mg/kg/min)</a:t>
            </a:r>
          </a:p>
          <a:p>
            <a:pPr marL="0" indent="0">
              <a:buNone/>
            </a:pPr>
            <a:endParaRPr lang="fr-FR" dirty="0"/>
          </a:p>
          <a:p>
            <a:pPr marL="0" indent="0">
              <a:buNone/>
            </a:pPr>
            <a:r>
              <a:rPr lang="fr-FR" dirty="0"/>
              <a:t>3. Surveiller : suivis mensuels des indices </a:t>
            </a:r>
            <a:r>
              <a:rPr lang="fr-FR" dirty="0" err="1"/>
              <a:t>somato</a:t>
            </a:r>
            <a:r>
              <a:rPr lang="fr-FR" dirty="0"/>
              <a:t>-métriques par le médecin de famille : administration d’amidon 5g/repas maximum </a:t>
            </a:r>
          </a:p>
          <a:p>
            <a:endParaRPr lang="fr-FR" dirty="0"/>
          </a:p>
          <a:p>
            <a:endParaRPr lang="fr-FR" dirty="0"/>
          </a:p>
          <a:p>
            <a:endParaRPr lang="fr-FR" dirty="0"/>
          </a:p>
          <a:p>
            <a:endParaRPr lang="fr-FR" dirty="0"/>
          </a:p>
        </p:txBody>
      </p:sp>
    </p:spTree>
    <p:extLst>
      <p:ext uri="{BB962C8B-B14F-4D97-AF65-F5344CB8AC3E}">
        <p14:creationId xmlns:p14="http://schemas.microsoft.com/office/powerpoint/2010/main" val="14043503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0DA69-3FF0-EE91-67FE-C428EAF7845D}"/>
            </a:ext>
          </a:extLst>
        </p:cNvPr>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E959B879-A011-55C3-AD5C-B0720CDBD590}"/>
              </a:ext>
            </a:extLst>
          </p:cNvPr>
          <p:cNvSpPr>
            <a:spLocks noGrp="1"/>
          </p:cNvSpPr>
          <p:nvPr>
            <p:ph idx="1"/>
          </p:nvPr>
        </p:nvSpPr>
        <p:spPr/>
        <p:txBody>
          <a:bodyPr>
            <a:normAutofit fontScale="70000" lnSpcReduction="20000"/>
          </a:bodyPr>
          <a:lstStyle/>
          <a:p>
            <a:r>
              <a:rPr lang="fr-FR" dirty="0"/>
              <a:t>4. </a:t>
            </a:r>
            <a:r>
              <a:rPr lang="fr-FR" dirty="0" err="1"/>
              <a:t>auto-surveillance</a:t>
            </a:r>
            <a:r>
              <a:rPr lang="fr-FR" dirty="0"/>
              <a:t> glycémique 2 à 3 fois par jour (matin, soir au coucher), si nécessaire en cas de symptômes spécifiques d'hypoglycémie. </a:t>
            </a:r>
          </a:p>
          <a:p>
            <a:pPr marL="0" indent="0">
              <a:buNone/>
            </a:pPr>
            <a:r>
              <a:rPr lang="fr-FR" dirty="0"/>
              <a:t>En cas d'épisodes aigus, un capteur sera installé pour une surveillance continue de la glycémie. </a:t>
            </a:r>
          </a:p>
          <a:p>
            <a:pPr marL="0" indent="0">
              <a:buNone/>
            </a:pPr>
            <a:endParaRPr lang="fr-FR" dirty="0"/>
          </a:p>
          <a:p>
            <a:pPr marL="0" indent="0">
              <a:buNone/>
            </a:pPr>
            <a:r>
              <a:rPr lang="fr-FR" dirty="0"/>
              <a:t>5. Traitement médicamenteux de la maladie aiguë :</a:t>
            </a:r>
          </a:p>
          <a:p>
            <a:pPr marL="0" indent="0">
              <a:buNone/>
            </a:pPr>
            <a:r>
              <a:rPr lang="fr-FR" dirty="0" err="1"/>
              <a:t>Cefort</a:t>
            </a:r>
            <a:r>
              <a:rPr lang="fr-FR" dirty="0"/>
              <a:t> (1 g/10 ml) </a:t>
            </a:r>
            <a:r>
              <a:rPr lang="fr-FR" dirty="0" err="1"/>
              <a:t>inj</a:t>
            </a:r>
            <a:r>
              <a:rPr lang="fr-FR" dirty="0"/>
              <a:t> iv lentement 2 x 6 ml / jour (4 doses) - diluer 1 g avec 10 ml de SF, prendre les 6 ml de la dilution et ajouter 4 ml (le reste jusqu'à 10 ml) qui seront administrés iv lentement </a:t>
            </a:r>
          </a:p>
          <a:p>
            <a:pPr marL="0" indent="0">
              <a:buNone/>
            </a:pPr>
            <a:r>
              <a:rPr lang="fr-FR" dirty="0" err="1"/>
              <a:t>Debridat</a:t>
            </a:r>
            <a:r>
              <a:rPr lang="fr-FR" dirty="0"/>
              <a:t> sachets po 3 x 1 sachet / jour, 2 jours</a:t>
            </a:r>
          </a:p>
          <a:p>
            <a:pPr marL="0" indent="0">
              <a:buNone/>
            </a:pPr>
            <a:endParaRPr lang="fr-FR" dirty="0"/>
          </a:p>
          <a:p>
            <a:pPr marL="0" indent="0">
              <a:buNone/>
            </a:pPr>
            <a:r>
              <a:rPr lang="fr-FR" dirty="0"/>
              <a:t>6. Traitement de l'anémie avec : </a:t>
            </a:r>
          </a:p>
          <a:p>
            <a:pPr marL="0" indent="0">
              <a:buNone/>
            </a:pPr>
            <a:r>
              <a:rPr lang="fr-FR" dirty="0" err="1"/>
              <a:t>Altrifer</a:t>
            </a:r>
            <a:r>
              <a:rPr lang="fr-FR" dirty="0"/>
              <a:t> caps, po. 2 x 1 caps/jour, pendant 30 jours, commencer le traitement après 5 jours.</a:t>
            </a:r>
          </a:p>
        </p:txBody>
      </p:sp>
    </p:spTree>
    <p:extLst>
      <p:ext uri="{BB962C8B-B14F-4D97-AF65-F5344CB8AC3E}">
        <p14:creationId xmlns:p14="http://schemas.microsoft.com/office/powerpoint/2010/main" val="2923619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16364-A65D-ECF4-68EA-1EE242AF6292}"/>
            </a:ext>
          </a:extLst>
        </p:cNvPr>
        <p:cNvGrpSpPr/>
        <p:nvPr/>
      </p:nvGrpSpPr>
      <p:grpSpPr>
        <a:xfrm>
          <a:off x="0" y="0"/>
          <a:ext cx="0" cy="0"/>
          <a:chOff x="0" y="0"/>
          <a:chExt cx="0" cy="0"/>
        </a:xfrm>
      </p:grpSpPr>
      <p:sp>
        <p:nvSpPr>
          <p:cNvPr id="5" name="Espace réservé du contenu 4">
            <a:extLst>
              <a:ext uri="{FF2B5EF4-FFF2-40B4-BE49-F238E27FC236}">
                <a16:creationId xmlns:a16="http://schemas.microsoft.com/office/drawing/2014/main" id="{8D203C9F-1DCC-4E39-0780-738D7535A4FA}"/>
              </a:ext>
            </a:extLst>
          </p:cNvPr>
          <p:cNvSpPr>
            <a:spLocks noGrp="1"/>
          </p:cNvSpPr>
          <p:nvPr>
            <p:ph idx="1"/>
          </p:nvPr>
        </p:nvSpPr>
        <p:spPr>
          <a:xfrm>
            <a:off x="838200" y="579120"/>
            <a:ext cx="10515600" cy="5597843"/>
          </a:xfrm>
        </p:spPr>
        <p:txBody>
          <a:bodyPr>
            <a:normAutofit fontScale="92500"/>
          </a:bodyPr>
          <a:lstStyle/>
          <a:p>
            <a:r>
              <a:rPr lang="fr-FR" dirty="0"/>
              <a:t>7. Prophylaxie du rachitisme avec de la vitamine D 3 po 1000 UI (2 pic/jour), jusqu'à l'âge de 2 ans, puis pendant les mois non ensoleillés </a:t>
            </a:r>
            <a:r>
              <a:rPr lang="fr-FR" dirty="0" err="1"/>
              <a:t>dede</a:t>
            </a:r>
            <a:r>
              <a:rPr lang="fr-FR" dirty="0"/>
              <a:t> l'année (septembre-avril)</a:t>
            </a:r>
          </a:p>
          <a:p>
            <a:endParaRPr lang="fr-FR" dirty="0"/>
          </a:p>
          <a:p>
            <a:r>
              <a:rPr lang="fr-FR" dirty="0"/>
              <a:t>8. Effectuer une numération globulaire complète avec réticulocytes dans une clinique externe spécialisée 30 jours après le début du traitement par </a:t>
            </a:r>
            <a:r>
              <a:rPr lang="fr-FR" dirty="0" err="1"/>
              <a:t>Altrifer</a:t>
            </a:r>
            <a:r>
              <a:rPr lang="fr-FR" dirty="0"/>
              <a:t> et revenir avec les résultats.</a:t>
            </a:r>
          </a:p>
          <a:p>
            <a:endParaRPr lang="fr-FR" dirty="0"/>
          </a:p>
          <a:p>
            <a:r>
              <a:rPr lang="fr-FR" dirty="0"/>
              <a:t>9. Revenir pour un contrôle à la sortie, avec les investigations mentionnées précédemment, à la Clinique.</a:t>
            </a:r>
          </a:p>
          <a:p>
            <a:endParaRPr lang="fr-FR" dirty="0"/>
          </a:p>
          <a:p>
            <a:r>
              <a:rPr lang="fr-FR" dirty="0"/>
              <a:t>10. Pédiatrie, diabète, nutrition et maladies métaboliques Contrôle par une sage-femme après 3 mois, ou chaque fois que nécessaire.</a:t>
            </a:r>
          </a:p>
        </p:txBody>
      </p:sp>
    </p:spTree>
    <p:extLst>
      <p:ext uri="{BB962C8B-B14F-4D97-AF65-F5344CB8AC3E}">
        <p14:creationId xmlns:p14="http://schemas.microsoft.com/office/powerpoint/2010/main" val="4051731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25C84-CC2D-1F05-7C16-FE2F5075DD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5B8BFF8-21CC-25C2-295B-A65EFB4C499F}"/>
              </a:ext>
            </a:extLst>
          </p:cNvPr>
          <p:cNvSpPr>
            <a:spLocks noGrp="1"/>
          </p:cNvSpPr>
          <p:nvPr>
            <p:ph type="title"/>
          </p:nvPr>
        </p:nvSpPr>
        <p:spPr/>
        <p:txBody>
          <a:bodyPr/>
          <a:lstStyle/>
          <a:p>
            <a:r>
              <a:rPr lang="fr-FR" dirty="0"/>
              <a:t>11- Evolution </a:t>
            </a:r>
          </a:p>
        </p:txBody>
      </p:sp>
      <p:sp>
        <p:nvSpPr>
          <p:cNvPr id="3" name="Espace réservé du contenu 2">
            <a:extLst>
              <a:ext uri="{FF2B5EF4-FFF2-40B4-BE49-F238E27FC236}">
                <a16:creationId xmlns:a16="http://schemas.microsoft.com/office/drawing/2014/main" id="{9D9E366C-01A3-395B-D2F2-8206207C6845}"/>
              </a:ext>
            </a:extLst>
          </p:cNvPr>
          <p:cNvSpPr>
            <a:spLocks noGrp="1"/>
          </p:cNvSpPr>
          <p:nvPr>
            <p:ph idx="1"/>
          </p:nvPr>
        </p:nvSpPr>
        <p:spPr/>
        <p:txBody>
          <a:bodyPr>
            <a:normAutofit fontScale="92500" lnSpcReduction="20000"/>
          </a:bodyPr>
          <a:lstStyle/>
          <a:p>
            <a:r>
              <a:rPr lang="fr-FR" dirty="0"/>
              <a:t>Évolution clinique positive :</a:t>
            </a:r>
          </a:p>
          <a:p>
            <a:r>
              <a:rPr lang="fr-FR" dirty="0"/>
              <a:t>Amélioration des marqueurs inflammatoires sous traitement antibiotique</a:t>
            </a:r>
          </a:p>
          <a:p>
            <a:r>
              <a:rPr lang="fr-FR" dirty="0"/>
              <a:t>CRP en décroissance après initiation du </a:t>
            </a:r>
            <a:r>
              <a:rPr lang="fr-FR" dirty="0" err="1"/>
              <a:t>Céfort</a:t>
            </a:r>
            <a:r>
              <a:rPr lang="fr-FR" dirty="0"/>
              <a:t> (Ceftriaxone)</a:t>
            </a:r>
          </a:p>
          <a:p>
            <a:r>
              <a:rPr lang="fr-FR" dirty="0"/>
              <a:t>Tolérance digestive satisfaisante du traitement</a:t>
            </a:r>
          </a:p>
          <a:p>
            <a:r>
              <a:rPr lang="fr-FR" dirty="0"/>
              <a:t>Stabilité hémodynamique maintenue</a:t>
            </a:r>
          </a:p>
          <a:p>
            <a:r>
              <a:rPr lang="fr-FR" dirty="0"/>
              <a:t>Réponse favorable à l'antibiothérapie empirique</a:t>
            </a:r>
          </a:p>
          <a:p>
            <a:r>
              <a:rPr lang="fr-FR" dirty="0"/>
              <a:t>Surveillance rapprochée :Contrôles biologiques réguliers (CRP, procalcitonine)</a:t>
            </a:r>
          </a:p>
          <a:p>
            <a:r>
              <a:rPr lang="fr-FR" dirty="0"/>
              <a:t>Monitoring clinique quotidien</a:t>
            </a:r>
          </a:p>
          <a:p>
            <a:r>
              <a:rPr lang="fr-FR" dirty="0"/>
              <a:t>Ajustements thérapeutiques selon l'évolution</a:t>
            </a:r>
          </a:p>
        </p:txBody>
      </p:sp>
    </p:spTree>
    <p:extLst>
      <p:ext uri="{BB962C8B-B14F-4D97-AF65-F5344CB8AC3E}">
        <p14:creationId xmlns:p14="http://schemas.microsoft.com/office/powerpoint/2010/main" val="151946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87EC7-82FC-CF00-D8F5-E9E649F733C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889C33C-9B59-9020-A8F0-B5906052B6B1}"/>
              </a:ext>
            </a:extLst>
          </p:cNvPr>
          <p:cNvSpPr>
            <a:spLocks noGrp="1"/>
          </p:cNvSpPr>
          <p:nvPr>
            <p:ph type="title"/>
          </p:nvPr>
        </p:nvSpPr>
        <p:spPr/>
        <p:txBody>
          <a:bodyPr/>
          <a:lstStyle/>
          <a:p>
            <a:r>
              <a:rPr lang="fr-FR" dirty="0"/>
              <a:t>12 – Pronostic </a:t>
            </a:r>
          </a:p>
        </p:txBody>
      </p:sp>
      <p:sp>
        <p:nvSpPr>
          <p:cNvPr id="3" name="Espace réservé du contenu 2">
            <a:extLst>
              <a:ext uri="{FF2B5EF4-FFF2-40B4-BE49-F238E27FC236}">
                <a16:creationId xmlns:a16="http://schemas.microsoft.com/office/drawing/2014/main" id="{BE5D3AF9-0B48-8442-AE83-F4566A5740E0}"/>
              </a:ext>
            </a:extLst>
          </p:cNvPr>
          <p:cNvSpPr>
            <a:spLocks noGrp="1"/>
          </p:cNvSpPr>
          <p:nvPr>
            <p:ph idx="1"/>
          </p:nvPr>
        </p:nvSpPr>
        <p:spPr/>
        <p:txBody>
          <a:bodyPr>
            <a:normAutofit fontScale="92500" lnSpcReduction="20000"/>
          </a:bodyPr>
          <a:lstStyle/>
          <a:p>
            <a:r>
              <a:rPr lang="fr-FR" dirty="0"/>
              <a:t>PRONOSTIC FAVORABLE dans ce cas car :</a:t>
            </a:r>
          </a:p>
          <a:p>
            <a:r>
              <a:rPr lang="fr-FR" dirty="0"/>
              <a:t>Diagnostic précoce et prise en charge rapide</a:t>
            </a:r>
          </a:p>
          <a:p>
            <a:r>
              <a:rPr lang="fr-FR" dirty="0"/>
              <a:t>Réponse positive au traitement antibiotique</a:t>
            </a:r>
          </a:p>
          <a:p>
            <a:r>
              <a:rPr lang="fr-FR" dirty="0"/>
              <a:t>Absence de signes de choc septique initial</a:t>
            </a:r>
          </a:p>
          <a:p>
            <a:r>
              <a:rPr lang="fr-FR" dirty="0"/>
              <a:t>Marqueurs biologiques en amélioration</a:t>
            </a:r>
          </a:p>
          <a:p>
            <a:r>
              <a:rPr lang="fr-FR" dirty="0"/>
              <a:t>Âge relativement favorable (&gt; 1 an vs nouveau-né)</a:t>
            </a:r>
          </a:p>
          <a:p>
            <a:r>
              <a:rPr lang="fr-FR" dirty="0"/>
              <a:t>Facteurs pronostiques positifs : </a:t>
            </a:r>
          </a:p>
          <a:p>
            <a:pPr lvl="1"/>
            <a:r>
              <a:rPr lang="fr-FR" dirty="0"/>
              <a:t>Antibiothérapie adaptée (Ceftriaxone efficace)</a:t>
            </a:r>
          </a:p>
          <a:p>
            <a:pPr lvl="1"/>
            <a:r>
              <a:rPr lang="fr-FR" dirty="0"/>
              <a:t>Support nutritionnel approprié</a:t>
            </a:r>
          </a:p>
          <a:p>
            <a:pPr lvl="1"/>
            <a:r>
              <a:rPr lang="fr-FR" dirty="0"/>
              <a:t>Surveillance spécialisée en pédiatrie</a:t>
            </a:r>
          </a:p>
          <a:p>
            <a:pPr lvl="1"/>
            <a:r>
              <a:rPr lang="fr-FR" dirty="0"/>
              <a:t>Correction des déficits (anémie ferriprive)</a:t>
            </a:r>
          </a:p>
        </p:txBody>
      </p:sp>
    </p:spTree>
    <p:extLst>
      <p:ext uri="{BB962C8B-B14F-4D97-AF65-F5344CB8AC3E}">
        <p14:creationId xmlns:p14="http://schemas.microsoft.com/office/powerpoint/2010/main" val="2983297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F6C12-B77C-D04E-915D-58C356875B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8D5B9F-941B-8873-58E4-1A1DDA423964}"/>
              </a:ext>
            </a:extLst>
          </p:cNvPr>
          <p:cNvSpPr>
            <a:spLocks noGrp="1"/>
          </p:cNvSpPr>
          <p:nvPr>
            <p:ph type="title"/>
          </p:nvPr>
        </p:nvSpPr>
        <p:spPr/>
        <p:txBody>
          <a:bodyPr/>
          <a:lstStyle/>
          <a:p>
            <a:r>
              <a:rPr lang="fr-FR" dirty="0"/>
              <a:t>13 – Complications </a:t>
            </a:r>
          </a:p>
        </p:txBody>
      </p:sp>
      <p:sp>
        <p:nvSpPr>
          <p:cNvPr id="3" name="Espace réservé du contenu 2">
            <a:extLst>
              <a:ext uri="{FF2B5EF4-FFF2-40B4-BE49-F238E27FC236}">
                <a16:creationId xmlns:a16="http://schemas.microsoft.com/office/drawing/2014/main" id="{D53EB94F-DAA5-96B5-9AED-216B9BF4FD49}"/>
              </a:ext>
            </a:extLst>
          </p:cNvPr>
          <p:cNvSpPr>
            <a:spLocks noGrp="1"/>
          </p:cNvSpPr>
          <p:nvPr>
            <p:ph idx="1"/>
          </p:nvPr>
        </p:nvSpPr>
        <p:spPr/>
        <p:txBody>
          <a:bodyPr>
            <a:normAutofit fontScale="70000" lnSpcReduction="20000"/>
          </a:bodyPr>
          <a:lstStyle/>
          <a:p>
            <a:r>
              <a:rPr lang="fr-FR" dirty="0"/>
              <a:t>1. COMPLICATIONS INFECTIEUSES IMMÉDIATES </a:t>
            </a:r>
          </a:p>
          <a:p>
            <a:r>
              <a:rPr lang="fr-FR" dirty="0"/>
              <a:t>Choc septique :Hypotension artérielle, tachycardie, troubles du rythme, oligurie, insuffisance rénale aiguë, troubles de conscience</a:t>
            </a:r>
          </a:p>
          <a:p>
            <a:r>
              <a:rPr lang="fr-FR" dirty="0"/>
              <a:t>Dissémination septique : méningite bactérienne, endocardite, ostéomyélite/arthrite septique, abcès profonds</a:t>
            </a:r>
          </a:p>
          <a:p>
            <a:r>
              <a:rPr lang="fr-FR" dirty="0"/>
              <a:t>2. COMPLICATIONS SYSTÉMIQUES : </a:t>
            </a:r>
          </a:p>
          <a:p>
            <a:r>
              <a:rPr lang="fr-FR" dirty="0"/>
              <a:t>Défaillance multi-viscérale :Insuffisance respiratoire aiguë (SDRA), insuffisance rénale aiguë, insuffisance hépatique, coagulopathie (CIVD)</a:t>
            </a:r>
          </a:p>
          <a:p>
            <a:r>
              <a:rPr lang="fr-FR" dirty="0"/>
              <a:t>Complications métaboliques :Hypoglycémie sévère (risque chez l'enfant), acidose métabolique, troubles électrolytiques, dénutrition</a:t>
            </a:r>
          </a:p>
          <a:p>
            <a:r>
              <a:rPr lang="fr-FR" dirty="0"/>
              <a:t>3. COMPLICATIONS À MOYEN/LONG TERME</a:t>
            </a:r>
          </a:p>
          <a:p>
            <a:r>
              <a:rPr lang="fr-FR" dirty="0"/>
              <a:t>Séquelles neurodéveloppementales :Retard psychomoteur (si méningite associée), troubles cognitifs, déficits sensoriels (surdité, cécité)</a:t>
            </a:r>
          </a:p>
          <a:p>
            <a:r>
              <a:rPr lang="fr-FR" dirty="0"/>
              <a:t>Complications iatrogènes :Résistance bactérienne (antibiothérapie prolongée), candidose (déséquilibre microbiote), toxicité médicamenteuse</a:t>
            </a:r>
          </a:p>
        </p:txBody>
      </p:sp>
    </p:spTree>
    <p:extLst>
      <p:ext uri="{BB962C8B-B14F-4D97-AF65-F5344CB8AC3E}">
        <p14:creationId xmlns:p14="http://schemas.microsoft.com/office/powerpoint/2010/main" val="4031273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68DF0-789A-6420-B9DA-03E79CD7284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24D575-E989-4EB7-8688-CDE14FA1569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9C4EEFD-9C58-934D-D936-4C41DB0F1D83}"/>
              </a:ext>
            </a:extLst>
          </p:cNvPr>
          <p:cNvSpPr>
            <a:spLocks noGrp="1"/>
          </p:cNvSpPr>
          <p:nvPr>
            <p:ph idx="1"/>
          </p:nvPr>
        </p:nvSpPr>
        <p:spPr/>
        <p:txBody>
          <a:bodyPr>
            <a:normAutofit/>
          </a:bodyPr>
          <a:lstStyle/>
          <a:p>
            <a:r>
              <a:rPr lang="fr-FR" dirty="0"/>
              <a:t>4. COMPLICATIONS SPÉCIFIQUES À CE CAS : </a:t>
            </a:r>
          </a:p>
          <a:p>
            <a:r>
              <a:rPr lang="fr-FR" dirty="0"/>
              <a:t>Liées aux comorbidités :Décompensation de l'intolérance au fructose, aggravation de l'anémie ferriprive, troubles digestifs chroniques</a:t>
            </a:r>
          </a:p>
          <a:p>
            <a:r>
              <a:rPr lang="fr-FR" dirty="0"/>
              <a:t>Risque de récidive :Déficit immunitaire sous-jacent possible, foyer infectieux persistant, non-compliance thérapeutique</a:t>
            </a:r>
          </a:p>
          <a:p>
            <a:endParaRPr lang="fr-FR" dirty="0"/>
          </a:p>
          <a:p>
            <a:endParaRPr lang="fr-FR" dirty="0"/>
          </a:p>
        </p:txBody>
      </p:sp>
    </p:spTree>
    <p:extLst>
      <p:ext uri="{BB962C8B-B14F-4D97-AF65-F5344CB8AC3E}">
        <p14:creationId xmlns:p14="http://schemas.microsoft.com/office/powerpoint/2010/main" val="121575707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242</TotalTime>
  <Words>1550</Words>
  <Application>Microsoft Office PowerPoint</Application>
  <PresentationFormat>Grand écran</PresentationFormat>
  <Paragraphs>211</Paragraphs>
  <Slides>22</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22</vt:i4>
      </vt:variant>
    </vt:vector>
  </HeadingPairs>
  <TitlesOfParts>
    <vt:vector size="28" baseType="lpstr">
      <vt:lpstr>Aptos</vt:lpstr>
      <vt:lpstr>Aptos Display</vt:lpstr>
      <vt:lpstr>Arial</vt:lpstr>
      <vt:lpstr>Lato</vt:lpstr>
      <vt:lpstr>Lato Bold</vt:lpstr>
      <vt:lpstr>Thème Office</vt:lpstr>
      <vt:lpstr>Cas clinique d’entérocolite aigue pédiatrique </vt:lpstr>
      <vt:lpstr>1 – Motif d’hospitalisation</vt:lpstr>
      <vt:lpstr>2 – Histoire de la maladie </vt:lpstr>
      <vt:lpstr>3 – Antécédents personnels </vt:lpstr>
      <vt:lpstr>4 – Antécédents familiaux </vt:lpstr>
      <vt:lpstr>5 – Examen clinique </vt:lpstr>
      <vt:lpstr>5 – Examen clinique </vt:lpstr>
      <vt:lpstr>6 – Diagnostic d’étapes</vt:lpstr>
      <vt:lpstr>7 – Examens paracliniques </vt:lpstr>
      <vt:lpstr>Présentation PowerPoint</vt:lpstr>
      <vt:lpstr>Présentation PowerPoint</vt:lpstr>
      <vt:lpstr>Présentation PowerPoint</vt:lpstr>
      <vt:lpstr>Présentation PowerPoint</vt:lpstr>
      <vt:lpstr>8 – Diagnostic positif </vt:lpstr>
      <vt:lpstr>9 – Diagnostic différentiels</vt:lpstr>
      <vt:lpstr>10 – Traitements </vt:lpstr>
      <vt:lpstr>Présentation PowerPoint</vt:lpstr>
      <vt:lpstr>Présentation PowerPoint</vt:lpstr>
      <vt:lpstr>11- Evolution </vt:lpstr>
      <vt:lpstr>12 – Pronostic </vt:lpstr>
      <vt:lpstr>13 – Complications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lolie juillet</dc:creator>
  <cp:lastModifiedBy>lolie juillet</cp:lastModifiedBy>
  <cp:revision>18</cp:revision>
  <dcterms:created xsi:type="dcterms:W3CDTF">2025-05-31T14:51:17Z</dcterms:created>
  <dcterms:modified xsi:type="dcterms:W3CDTF">2025-06-01T15:57:06Z</dcterms:modified>
</cp:coreProperties>
</file>